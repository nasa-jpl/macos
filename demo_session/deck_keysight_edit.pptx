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2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2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2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JWST-class drift on the dug dark hole: open loop decays 4.5 decades in a day — the loop holds 2×10⁻⁹</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series starts at the new solution — frame one reproduces the dug floor (1.134 vs 1.133×10⁻⁹, a built-in gate) — and runs a JWST-experience disturbance: a 10 nm/hr correlated drift ramp plus a 0.5 nm-per-step walk, 24 hours at 30-minute frames.</a:t>
            </a:r>
          </a:p>
          <a:p>
            <a:pPr>
              <a:spcAft>
                <a:spcPts val="600"/>
              </a:spcAft>
            </a:pPr>
            <a:r>
              <a:rPr sz="1200" b="0">
                <a:solidFill>
                  <a:srgbClr val="282828"/>
                </a:solidFill>
                <a:latin typeface="Arial"/>
              </a:rPr>
              <a:t>•  Open loop, DMs frozen at the dug state: 1.1×10⁻⁹ → 3.9×10⁻⁵.  The first decade is lost to the first nanometre of drift — at 10⁻⁹, continuous control is not optional.</a:t>
            </a:r>
          </a:p>
          <a:p>
            <a:pPr>
              <a:spcAft>
                <a:spcPts val="600"/>
              </a:spcAft>
            </a:pPr>
            <a:r>
              <a:rPr sz="1200" b="0">
                <a:solidFill>
                  <a:srgbClr val="282828"/>
                </a:solidFill>
                <a:latin typeface="Arial"/>
              </a:rPr>
              <a:t>•  Closed loop: the rigid-body loop senses through the designed metrology and holds the segment state at 1.2 nm against 23 nm of accumulated drift; a guarded EFC hold — one damped step per hour about the dug-state Jacobian, 25 steps taken, none reverted — keeps the dark zone at ~2×10⁻⁹ for the full day.</a:t>
            </a:r>
          </a:p>
          <a:p>
            <a:pPr>
              <a:spcAft>
                <a:spcPts val="600"/>
              </a:spcAft>
            </a:pPr>
            <a:r>
              <a:rPr sz="1200" b="0">
                <a:solidFill>
                  <a:srgbClr val="282828"/>
                </a:solidFill>
                <a:latin typeface="Arial"/>
              </a:rPr>
              <a:t>•  The disturbance interface is the point: the same channels ingest dynamical- and thermal-model time histories — simulating performance in the space environment.</a:t>
            </a:r>
          </a:p>
        </p:txBody>
      </p:sp>
      <p:pic>
        <p:nvPicPr>
          <p:cNvPr id="5" name="Picture 4" descr="fig_cf5b_jwst.png"/>
          <p:cNvPicPr>
            <a:picLocks noChangeAspect="1"/>
          </p:cNvPicPr>
          <p:nvPr/>
        </p:nvPicPr>
        <p:blipFill>
          <a:blip r:embed="rId2"/>
          <a:stretch>
            <a:fillRect/>
          </a:stretch>
        </p:blipFill>
        <p:spPr>
          <a:xfrm>
            <a:off x="7029688" y="1298448"/>
            <a:ext cx="4137183" cy="4012692"/>
          </a:xfrm>
          <a:prstGeom prst="rect">
            <a:avLst/>
          </a:prstGeom>
        </p:spPr>
      </p:pic>
      <p:sp>
        <p:nvSpPr>
          <p:cNvPr id="6" name="TextBox 5"/>
          <p:cNvSpPr txBox="1"/>
          <p:nvPr/>
        </p:nvSpPr>
        <p:spPr>
          <a:xfrm>
            <a:off x="6400800" y="5329428"/>
            <a:ext cx="5394960" cy="559307"/>
          </a:xfrm>
          <a:prstGeom prst="rect">
            <a:avLst/>
          </a:prstGeom>
          <a:noFill/>
        </p:spPr>
        <p:txBody>
          <a:bodyPr wrap="square">
            <a:spAutoFit/>
          </a:bodyPr>
          <a:lstStyle/>
          <a:p>
            <a:pPr algn="ctr">
              <a:spcAft>
                <a:spcPts val="0"/>
              </a:spcAft>
            </a:pPr>
            <a:r>
              <a:rPr sz="1000" b="0">
                <a:solidFill>
                  <a:srgbClr val="6E6E6E"/>
                </a:solidFill>
                <a:latin typeface="Arial"/>
              </a:rPr>
              <a:t>Twenty-four hours under JWST-class drift, both passes starting from the dug dark hole: segment rigid-body state, exit-pupil wavefront,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CF5b stage — d=1.10 deck, G = the ladder's dug-state Jacobian.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65886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6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6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6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6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  The agent proposes; the trusted engine disposes.</a:t>
            </a:r>
          </a:p>
          <a:p>
            <a:pPr>
              <a:spcAft>
                <a:spcPts val="600"/>
              </a:spcAft>
            </a:pPr>
            <a:r>
              <a:rPr sz="16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262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 and the best advice ends up compiled into the tool, as checks and defaults.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