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19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7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B7B70D-9B7B-496E-807A-77D2D6332C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7EBF13A-E3FE-4AE9-8CE4-E09A476D48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C5DB4CB-A7F4-4E60-91EA-EF1F378150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4AD0EB3-2702-4EFB-AEE6-F654F9110D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5E39680-61E1-488F-A51E-258FEDFA92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DCB8C1E-00D8-4199-883B-C0221F6BBF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BEC1D25-DB0C-4855-A774-8B9B2D03E4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DB2B0E8-76E6-4EEA-BE41-13A5BF761A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26DDD70-16D4-4DEC-BBA1-C412762A2E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7AE2154-F03B-4BF6-AC6A-FD65417779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3FD7F99A-1554-4F59-AD64-677A5602C3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E39441-509F-433C-A3D9-666CBA652B6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F1A184-2AAC-48CA-B774-0BBA2ACA43C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951A78-2251-46BC-97D6-B8FA51F8D43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6CC823-600D-4BB2-90E3-5EC42D42F9F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6C815E-DDF7-4521-8B13-3B4AA6367D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44CCDD-FDA3-4680-AA36-9D6A172D1D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96142A-956F-4D08-BC94-02703156926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37CBF3D-A2EE-4FD4-87C6-6D0EC7C1112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64BCA8-6B1C-4870-8524-7100821290B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E844DC-F475-4701-922A-01BD86ED021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C95E62-4F23-4796-8BA1-B698DA95224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26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Four decades of NASA optical modeling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11368440" cy="38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Late 1980s: the engine originates in NASA telescope technology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Used for Star Wars control-system development and NASA SubMM telescope analysis.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1991: Hubble — prescription recovery correctly diagnosed the aberration from flight imagery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Prescription retrieval from image data has served other missions as well.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JWST: integrated observatory modeling and wavefront sensing and control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Testbeds validated the models, and the validated models proved the space system.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TMT, Keck and many space missions: Observatory modeling, including segmented-aperture systems, testbeds, instrument studies.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Validated against testbed and flight data across those programs.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We are now modernizing and extending the capabilities of our modeling to meet new challenges.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elements: Freeforms with aberrations, polarizers, complex masks and apodizers, completely general surfaces added through the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same functionality, streamlined: linear model generation, simulation, multi-path, metrology and edge sensors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capabilities: design layer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Code cleanup: improved robustness, automated testing, updating documentation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One engine, four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" name="Picture 3" descr="fig_ecosystem.png"/>
          <p:cNvPicPr/>
          <p:nvPr/>
        </p:nvPicPr>
        <p:blipFill>
          <a:blip r:embed="rId1"/>
          <a:stretch/>
        </p:blipFill>
        <p:spPr>
          <a:xfrm>
            <a:off x="2419200" y="1298520"/>
            <a:ext cx="7352640" cy="3382920"/>
          </a:xfrm>
          <a:prstGeom prst="rect">
            <a:avLst/>
          </a:prstGeom>
          <a:ln w="0">
            <a:noFill/>
          </a:ln>
        </p:spPr>
      </p:pic>
      <p:sp>
        <p:nvSpPr>
          <p:cNvPr id="75" name="TextBox 4"/>
          <p:cNvSpPr/>
          <p:nvPr/>
        </p:nvSpPr>
        <p:spPr>
          <a:xfrm>
            <a:off x="2057400" y="5029200"/>
            <a:ext cx="9722520" cy="15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Physics lives in the engine: a capability added there is everywhere at once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shared library layer serves the MATLAB and Python toolboxes.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prescription generators and the CODE V converter feed the same Rx language.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CODE V and PROPER provide independent cross-checks.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source tree: github nasa-jpl/macos and /MACOS_resources contain it 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Picture 1" descr="fig_ecosystem.png"/>
          <p:cNvPicPr/>
          <p:nvPr/>
        </p:nvPicPr>
        <p:blipFill>
          <a:blip r:embed="rId2"/>
          <a:stretch/>
        </p:blipFill>
        <p:spPr>
          <a:xfrm>
            <a:off x="2057400" y="1238760"/>
            <a:ext cx="8187480" cy="376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Inside the toolbox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" name="Picture 3" descr="fig_mmacos.png"/>
          <p:cNvPicPr/>
          <p:nvPr/>
        </p:nvPicPr>
        <p:blipFill>
          <a:blip r:embed="rId1"/>
          <a:stretch/>
        </p:blipFill>
        <p:spPr>
          <a:xfrm>
            <a:off x="463320" y="1298520"/>
            <a:ext cx="11264760" cy="4297320"/>
          </a:xfrm>
          <a:prstGeom prst="rect">
            <a:avLst/>
          </a:prstGeom>
          <a:ln w="0">
            <a:noFill/>
          </a:ln>
        </p:spPr>
      </p:pic>
      <p:sp>
        <p:nvSpPr>
          <p:cNvPr id="80" name="TextBox 4"/>
          <p:cNvSpPr/>
          <p:nvPr/>
        </p:nvSpPr>
        <p:spPr>
          <a:xfrm>
            <a:off x="411480" y="559620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Three design challenges, one method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3" name="Table 3"/>
          <p:cNvGraphicFramePr/>
          <p:nvPr/>
        </p:nvGraphicFramePr>
        <p:xfrm>
          <a:off x="411480" y="1298520"/>
          <a:ext cx="11368440" cy="2652480"/>
        </p:xfrm>
        <a:graphic>
          <a:graphicData uri="http://schemas.openxmlformats.org/drawingml/2006/table">
            <a:tbl>
              <a:tblPr/>
              <a:tblGrid>
                <a:gridCol w="2252880"/>
                <a:gridCol w="2246760"/>
                <a:gridCol w="3395880"/>
                <a:gridCol w="3472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4"/>
          <p:cNvSpPr/>
          <p:nvPr/>
        </p:nvSpPr>
        <p:spPr>
          <a:xfrm>
            <a:off x="411480" y="4068000"/>
            <a:ext cx="11368440" cy="20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Objective: meet the challenge, and use the solution to establish a design family.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 solution code for each particular problem, using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another code to rapidly generate adjacent solutions, without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Each challenge left a reusable template behind — the whole study re-runs at new parameters in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solves each problem with its own optimizer and the same degrees of freedom.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separately re-traces the delivered prescriptions to compare design against design under one decoded metric.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Challenges and solution prompts provided by Mike Rodgers (thanks Mike!).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4" descr="pair_r3t_s1_layout.png"/>
          <p:cNvPicPr/>
          <p:nvPr/>
        </p:nvPicPr>
        <p:blipFill>
          <a:blip r:embed="rId1"/>
          <a:stretch/>
        </p:blipFill>
        <p:spPr>
          <a:xfrm>
            <a:off x="5760720" y="1600200"/>
            <a:ext cx="6247080" cy="3126600"/>
          </a:xfrm>
          <a:prstGeom prst="rect">
            <a:avLst/>
          </a:prstGeom>
          <a:ln w="0">
            <a:noFill/>
          </a:ln>
        </p:spPr>
      </p:pic>
      <p:sp>
        <p:nvSpPr>
          <p:cNvPr id="8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411480" y="1298520"/>
            <a:ext cx="5806080" cy="50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hardest of the three: a wide field box far off axis, an exit-beam pointing constraint, and hard clearance requirements between beam and mirrors.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Reproduction first: all five reported design steps rebuild from the delivered lens sequences inside 0.8–1.25× — nothing tuned toward the reported numbers.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study became a template: one parameterized five-stage flow (solve on axis, map the offset, re-solve at the used field, add buildability constraints, add surface freedom) — re-running the whole study at new parameters is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design passes the same gate sequence: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1 · traceability — every solve field reaches the detector (screened before solving)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2 · map validity — all 121 dense-map fields present, none lost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3 · exit-beam direction — the chief within tolerance of the horizontal pin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4 · clearance — the signed beam–mirror floor at or above spec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5 · score — strict RMS WFE against the reported ladder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pinned by regression checks with negative controls (the control reads 2989× the gate)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6413400" y="48006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6629400" y="507708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the numbers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411480" y="12985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An unconstrained solve reads 58.3 nm — with the beam passing through the secondary.  The layout figure caught it; clearance constraints are part of the problem statement.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Picture 4" descr="pair_r3t_s4_layout.png"/>
          <p:cNvPicPr/>
          <p:nvPr/>
        </p:nvPicPr>
        <p:blipFill>
          <a:blip r:embed="rId1"/>
          <a:stretch/>
        </p:blipFill>
        <p:spPr>
          <a:xfrm>
            <a:off x="266400" y="2743200"/>
            <a:ext cx="7065360" cy="3429000"/>
          </a:xfrm>
          <a:prstGeom prst="rect">
            <a:avLst/>
          </a:prstGeom>
          <a:ln w="0">
            <a:noFill/>
          </a:ln>
        </p:spPr>
      </p:pic>
      <p:sp>
        <p:nvSpPr>
          <p:cNvPr id="95" name="TextBox 5"/>
          <p:cNvSpPr/>
          <p:nvPr/>
        </p:nvSpPr>
        <p:spPr>
          <a:xfrm>
            <a:off x="411480" y="61225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6" descr="r3t_s4_map.png"/>
          <p:cNvPicPr/>
          <p:nvPr/>
        </p:nvPicPr>
        <p:blipFill>
          <a:blip r:embed="rId2"/>
          <a:stretch/>
        </p:blipFill>
        <p:spPr>
          <a:xfrm>
            <a:off x="7543440" y="2853720"/>
            <a:ext cx="3109320" cy="2696760"/>
          </a:xfrm>
          <a:prstGeom prst="rect">
            <a:avLst/>
          </a:prstGeom>
          <a:ln w="0">
            <a:noFill/>
          </a:ln>
        </p:spPr>
      </p:pic>
      <p:sp>
        <p:nvSpPr>
          <p:cNvPr id="97" name="TextBox 7"/>
          <p:cNvSpPr/>
          <p:nvPr/>
        </p:nvSpPr>
        <p:spPr>
          <a:xfrm>
            <a:off x="6400800" y="55688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Its field map: 113.6 nm max over the 20°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6400800" y="58345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one design to a design family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411480" y="1298520"/>
            <a:ext cx="1136844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step table is the instrument's field-vs-packaging frontier: every row a finished, checked design; the largest spec-compliant box is 11°×11° at 27.3 nm with a 25.1 mm clearance floor.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Picture 4" descr="pair_t5_walk_k05_layout.png"/>
          <p:cNvPicPr/>
          <p:nvPr/>
        </p:nvPicPr>
        <p:blipFill>
          <a:blip r:embed="rId1"/>
          <a:stretch/>
        </p:blipFill>
        <p:spPr>
          <a:xfrm>
            <a:off x="0" y="2297880"/>
            <a:ext cx="6434640" cy="3874320"/>
          </a:xfrm>
          <a:prstGeom prst="rect">
            <a:avLst/>
          </a:prstGeom>
          <a:ln w="0">
            <a:noFill/>
          </a:ln>
        </p:spPr>
      </p:pic>
      <p:sp>
        <p:nvSpPr>
          <p:cNvPr id="103" name="TextBox 5"/>
          <p:cNvSpPr/>
          <p:nvPr/>
        </p:nvSpPr>
        <p:spPr>
          <a:xfrm>
            <a:off x="411480" y="61837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Picture 6" descr="t5_walk_k03_map.png"/>
          <p:cNvPicPr/>
          <p:nvPr/>
        </p:nvPicPr>
        <p:blipFill>
          <a:blip r:embed="rId2"/>
          <a:stretch/>
        </p:blipFill>
        <p:spPr>
          <a:xfrm>
            <a:off x="7515000" y="2853720"/>
            <a:ext cx="3166560" cy="27882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7"/>
          <p:cNvSpPr/>
          <p:nvPr/>
        </p:nvSpPr>
        <p:spPr>
          <a:xfrm>
            <a:off x="6400800" y="56602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6942600" y="5925960"/>
            <a:ext cx="4708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5355360" y="1263600"/>
            <a:ext cx="6760440" cy="33321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411480" y="1298520"/>
            <a:ext cx="4846320" cy="47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600" spc="-1" strike="noStrike">
                <a:solidFill>
                  <a:srgbClr val="282828"/>
                </a:solidFill>
                <a:latin typeface="Arial"/>
              </a:rPr>
              <a:t>The ask: name a field-box full width, anywhere in 5–15°, for the same instrument class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—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150 mm f/3.3 at the +22.5° offset, same envelope, same clearance rules.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What happens: the frontier states the prediction first; one MATLAB call launches a full-freedom solve, warm-started from the nearest committed design below the ask, and it runs while the talk continues (~15 min).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No AI in this loop: the design knowledge is compiled into the driver — this is the "adjacent solutions, without AI assistance" half of the objective, running live.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What the reveal shows: the field map, the clearance floor and the exit-direction check, beside the stated prediction.  Every ask is a genuine continuation step, never a re-score of a stored design; a repeat run reproduces every printed digit.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5486400" y="1370520"/>
            <a:ext cx="6705360" cy="33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  <a:ea typeface="Courier New"/>
              </a:rPr>
              <a:t>$ cd ~/dev/MACOS_resources/mmacos/templates/10_telescopes/offset_imager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82828"/>
                </a:solidFill>
                <a:latin typeface="Courier New"/>
                <a:ea typeface="Courier New"/>
              </a:rPr>
              <a:t>&gt;&gt; matlab &amp;                    % a fresh MATLAB, just for this solve</a:t>
            </a:r>
            <a:endParaRPr b="0" lang="en-US" sz="10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&gt;&gt; OUT = oi_demo_step(12)     % &lt;-- the room's width goes here (5–15°)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warm start : committed walk step 3  (11 × 11°)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                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...  ~15 min ...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DENSE MAP MAX  : 33.6 nm   predicted ~33.7  (1.00x)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clearance floor: 24.9 mm   exit err 0.012 deg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gates          : exit PASS / clear PASS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b="0" lang="en-US" sz="939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b="0" lang="en-US" sz="939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5814720" y="4772160"/>
            <a:ext cx="5394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room’s width.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8915400" y="5922000"/>
            <a:ext cx="28800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6e6e6e"/>
                </a:solidFill>
                <a:latin typeface="Arial"/>
              </a:rPr>
              <a:t>In the mean time, continuing...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6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2734200"/>
                <a:gridCol w="1870560"/>
                <a:gridCol w="2158560"/>
                <a:gridCol w="2446200"/>
                <a:gridCol w="2158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TextBox 4"/>
          <p:cNvSpPr/>
          <p:nvPr/>
        </p:nvSpPr>
        <p:spPr>
          <a:xfrm>
            <a:off x="411480" y="312480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metric decoded: the reported map subtracts per-field best focus + least-squares tip/tilt; re-scoring the same traces under that convention (third column) lands the re-traced designs at 0.991× / 1.003× / 1.000× of the reported max.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Picture 5" descr="rodgers1_layout_s4_seq.png"/>
          <p:cNvPicPr/>
          <p:nvPr/>
        </p:nvPicPr>
        <p:blipFill>
          <a:blip r:embed="rId1"/>
          <a:stretch/>
        </p:blipFill>
        <p:spPr>
          <a:xfrm>
            <a:off x="7357320" y="3124800"/>
            <a:ext cx="3481560" cy="2056680"/>
          </a:xfrm>
          <a:prstGeom prst="rect">
            <a:avLst/>
          </a:prstGeom>
          <a:ln w="0">
            <a:noFill/>
          </a:ln>
        </p:spPr>
      </p:pic>
      <p:sp>
        <p:nvSpPr>
          <p:cNvPr id="119" name="TextBox 6"/>
          <p:cNvSpPr/>
          <p:nvPr/>
        </p:nvSpPr>
        <p:spPr>
          <a:xfrm>
            <a:off x="6400800" y="52002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6400800" y="546588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411480" y="1298520"/>
            <a:ext cx="580608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Performance matched: all four design variants reproduce the reported wavefront numbers at the decoded reference; the reported 28.7× magnification of the frozen-offset variant measures 28.686×.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4" name="Table 4"/>
          <p:cNvGraphicFramePr/>
          <p:nvPr/>
        </p:nvGraphicFramePr>
        <p:xfrm>
          <a:off x="411480" y="3200400"/>
          <a:ext cx="5806080" cy="1490760"/>
        </p:xfrm>
        <a:graphic>
          <a:graphicData uri="http://schemas.openxmlformats.org/drawingml/2006/table">
            <a:tbl>
              <a:tblPr/>
              <a:tblGrid>
                <a:gridCol w="3915360"/>
                <a:gridCol w="727200"/>
                <a:gridCol w="11631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430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125" name="Picture 5" descr="rodgers2_layout_parent3.png"/>
          <p:cNvPicPr/>
          <p:nvPr/>
        </p:nvPicPr>
        <p:blipFill>
          <a:blip r:embed="rId1"/>
          <a:stretch/>
        </p:blipFill>
        <p:spPr>
          <a:xfrm>
            <a:off x="7392960" y="1298520"/>
            <a:ext cx="3409920" cy="2622960"/>
          </a:xfrm>
          <a:prstGeom prst="rect">
            <a:avLst/>
          </a:prstGeom>
          <a:ln w="0">
            <a:noFill/>
          </a:ln>
        </p:spPr>
      </p:pic>
      <p:sp>
        <p:nvSpPr>
          <p:cNvPr id="126" name="TextBox 6"/>
          <p:cNvSpPr/>
          <p:nvPr/>
        </p:nvSpPr>
        <p:spPr>
          <a:xfrm>
            <a:off x="6400800" y="39402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6400800" y="4370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0" name="Table 3"/>
          <p:cNvGraphicFramePr/>
          <p:nvPr/>
        </p:nvGraphicFramePr>
        <p:xfrm>
          <a:off x="411480" y="1298520"/>
          <a:ext cx="5806080" cy="1399680"/>
        </p:xfrm>
        <a:graphic>
          <a:graphicData uri="http://schemas.openxmlformats.org/drawingml/2006/table">
            <a:tbl>
              <a:tblPr/>
              <a:tblGrid>
                <a:gridCol w="3988080"/>
                <a:gridCol w="799920"/>
                <a:gridCol w="10177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31" name="TextBox 4"/>
          <p:cNvSpPr/>
          <p:nvPr/>
        </p:nvSpPr>
        <p:spPr>
          <a:xfrm>
            <a:off x="411480" y="284508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two qualities pull opposite ways: the fourth mirror's power serves the pupil and costs the image — a factor-39 exchange.  Declining the power (a flat fourth mirror) keeps 266 nm and the three-mirror pupil.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trade, packaged: with the last mirror held behind the primary, the solutions split into two families; pupil distances under 220 mm leave no room for an instrument after the fold — 343 mm admits a 464 mm diameter.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Picture 5" descr="rodgers2_S1_onaxis_pupil.png"/>
          <p:cNvPicPr/>
          <p:nvPr/>
        </p:nvPicPr>
        <p:blipFill>
          <a:blip r:embed="rId1"/>
          <a:stretch/>
        </p:blipFill>
        <p:spPr>
          <a:xfrm>
            <a:off x="228600" y="4350600"/>
            <a:ext cx="6172920" cy="1364400"/>
          </a:xfrm>
          <a:prstGeom prst="rect">
            <a:avLst/>
          </a:prstGeom>
          <a:ln w="0">
            <a:noFill/>
          </a:ln>
        </p:spPr>
      </p:pic>
      <p:sp>
        <p:nvSpPr>
          <p:cNvPr id="133" name="TextBox 6"/>
          <p:cNvSpPr/>
          <p:nvPr/>
        </p:nvSpPr>
        <p:spPr>
          <a:xfrm>
            <a:off x="411480" y="59652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Picture 7" descr="rodgers2_final_folded.png"/>
          <p:cNvPicPr/>
          <p:nvPr/>
        </p:nvPicPr>
        <p:blipFill>
          <a:blip r:embed="rId2"/>
          <a:stretch/>
        </p:blipFill>
        <p:spPr>
          <a:xfrm>
            <a:off x="7972920" y="1298520"/>
            <a:ext cx="2250360" cy="1873800"/>
          </a:xfrm>
          <a:prstGeom prst="rect">
            <a:avLst/>
          </a:prstGeom>
          <a:ln w="0">
            <a:noFill/>
          </a:ln>
        </p:spPr>
      </p:pic>
      <p:sp>
        <p:nvSpPr>
          <p:cNvPr id="135" name="TextBox 8"/>
          <p:cNvSpPr/>
          <p:nvPr/>
        </p:nvSpPr>
        <p:spPr>
          <a:xfrm>
            <a:off x="6400800" y="3190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Picture 9" descr="rodgers2_final_trade.png"/>
          <p:cNvPicPr/>
          <p:nvPr/>
        </p:nvPicPr>
        <p:blipFill>
          <a:blip r:embed="rId3"/>
          <a:stretch/>
        </p:blipFill>
        <p:spPr>
          <a:xfrm>
            <a:off x="8042400" y="3456360"/>
            <a:ext cx="2781720" cy="1904400"/>
          </a:xfrm>
          <a:prstGeom prst="rect">
            <a:avLst/>
          </a:prstGeom>
          <a:ln w="0">
            <a:noFill/>
          </a:ln>
        </p:spPr>
      </p:pic>
      <p:sp>
        <p:nvSpPr>
          <p:cNvPr id="137" name="TextBox 10"/>
          <p:cNvSpPr/>
          <p:nvPr/>
        </p:nvSpPr>
        <p:spPr>
          <a:xfrm>
            <a:off x="7315200" y="5360760"/>
            <a:ext cx="44802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7315200" y="5791680"/>
            <a:ext cx="44802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411480" y="1298520"/>
            <a:ext cx="580608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polarization trick: the two arms carry orthogonal polarizations, so they cannot interfere until projected; an output quarter-wave plate makes them opposite circular, and an analyzer at angle θ then writes fringe phase 2θ.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Four analyzer angles — 0 / 45 / 90 / 135° — are the four phase steps of standard PSI, with nothing in the interferometer moving: the vibration immunity of polarization phase shifting.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factor of two: DM surface height h enters the optical path as 2h at normal incidence; the recovery closes against the injected map with exactly that factor.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Picture 4" descr="demo_beat6_sweep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2517480"/>
          </a:xfrm>
          <a:prstGeom prst="rect">
            <a:avLst/>
          </a:prstGeom>
          <a:ln w="0">
            <a:noFill/>
          </a:ln>
        </p:spPr>
      </p:pic>
      <p:sp>
        <p:nvSpPr>
          <p:cNvPr id="143" name="TextBox 5"/>
          <p:cNvSpPr/>
          <p:nvPr/>
        </p:nvSpPr>
        <p:spPr>
          <a:xfrm>
            <a:off x="6400800" y="3834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6400800" y="4265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411480" y="129852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v1's catch: splitter diattenuation rotates the test arm 7.5° from orthogonal — the gauge reads 11.7% high while fringe contrast moves 0.17% (a 69× blind spot); fixed by re-clocking one waveplate 3.77°, solved in 5 traces.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v2 designs the error out: each arm rides a coating eigenaxis, where a diattenuator cannot rotate it — and the error budget inverts: a waveplate error now costs visible contrast instead of invisible scale.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8" name="Table 4"/>
          <p:cNvGraphicFramePr/>
          <p:nvPr/>
        </p:nvGraphicFramePr>
        <p:xfrm>
          <a:off x="411480" y="4133160"/>
          <a:ext cx="5806080" cy="1709280"/>
        </p:xfrm>
        <a:graphic>
          <a:graphicData uri="http://schemas.openxmlformats.org/drawingml/2006/table">
            <a:tbl>
              <a:tblPr/>
              <a:tblGrid>
                <a:gridCol w="2939040"/>
                <a:gridCol w="872640"/>
                <a:gridCol w="19944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9" name="Picture 5" descr="pair_tg_psi_dm_layout.png"/>
          <p:cNvPicPr/>
          <p:nvPr/>
        </p:nvPicPr>
        <p:blipFill>
          <a:blip r:embed="rId1"/>
          <a:stretch/>
        </p:blipFill>
        <p:spPr>
          <a:xfrm>
            <a:off x="7866720" y="1298520"/>
            <a:ext cx="2462760" cy="1434240"/>
          </a:xfrm>
          <a:prstGeom prst="rect">
            <a:avLst/>
          </a:prstGeom>
          <a:ln w="0">
            <a:noFill/>
          </a:ln>
        </p:spPr>
      </p:pic>
      <p:sp>
        <p:nvSpPr>
          <p:cNvPr id="150" name="TextBox 6"/>
          <p:cNvSpPr/>
          <p:nvPr/>
        </p:nvSpPr>
        <p:spPr>
          <a:xfrm>
            <a:off x="6400800" y="27514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Picture 7" descr="tg_psi_dm_v2_sensitivity.png"/>
          <p:cNvPicPr/>
          <p:nvPr/>
        </p:nvPicPr>
        <p:blipFill>
          <a:blip r:embed="rId2"/>
          <a:stretch/>
        </p:blipFill>
        <p:spPr>
          <a:xfrm>
            <a:off x="7493760" y="3182040"/>
            <a:ext cx="3208320" cy="1297080"/>
          </a:xfrm>
          <a:prstGeom prst="rect">
            <a:avLst/>
          </a:prstGeom>
          <a:ln w="0">
            <a:noFill/>
          </a:ln>
        </p:spPr>
      </p:pic>
      <p:sp>
        <p:nvSpPr>
          <p:cNvPr id="152" name="TextBox 8"/>
          <p:cNvSpPr/>
          <p:nvPr/>
        </p:nvSpPr>
        <p:spPr>
          <a:xfrm>
            <a:off x="6400800" y="449784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9"/>
          <p:cNvSpPr/>
          <p:nvPr/>
        </p:nvSpPr>
        <p:spPr>
          <a:xfrm>
            <a:off x="6400800" y="4928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Live: measuring the deformable mirror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411480" y="1298520"/>
            <a:ext cx="580608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What to watch: the fringes bend exactly over the poked actuator; the sweep walks the fringes with the rig standing still; the recovered map lands beside the injected truth at 0.304 nm rms interior residual.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Nothing takes long enough to lose a room: the longest step is ~5 s; the 36-frame sweep costs 0.036 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" name="Picture 4" descr="demo_beat5_poke.png"/>
          <p:cNvPicPr/>
          <p:nvPr/>
        </p:nvPicPr>
        <p:blipFill>
          <a:blip r:embed="rId1"/>
          <a:stretch/>
        </p:blipFill>
        <p:spPr>
          <a:xfrm>
            <a:off x="6833520" y="1298520"/>
            <a:ext cx="4529160" cy="1736640"/>
          </a:xfrm>
          <a:prstGeom prst="rect">
            <a:avLst/>
          </a:prstGeom>
          <a:ln w="0">
            <a:noFill/>
          </a:ln>
        </p:spPr>
      </p:pic>
      <p:sp>
        <p:nvSpPr>
          <p:cNvPr id="158" name="TextBox 5"/>
          <p:cNvSpPr/>
          <p:nvPr/>
        </p:nvSpPr>
        <p:spPr>
          <a:xfrm>
            <a:off x="6400800" y="30535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Picture 6" descr="tg_psi_dm_recovery.png"/>
          <p:cNvPicPr/>
          <p:nvPr/>
        </p:nvPicPr>
        <p:blipFill>
          <a:blip r:embed="rId2"/>
          <a:stretch/>
        </p:blipFill>
        <p:spPr>
          <a:xfrm>
            <a:off x="6400800" y="3319200"/>
            <a:ext cx="5394600" cy="1453320"/>
          </a:xfrm>
          <a:prstGeom prst="rect">
            <a:avLst/>
          </a:prstGeom>
          <a:ln w="0">
            <a:noFill/>
          </a:ln>
        </p:spPr>
      </p:pic>
      <p:sp>
        <p:nvSpPr>
          <p:cNvPr id="160" name="TextBox 7"/>
          <p:cNvSpPr/>
          <p:nvPr/>
        </p:nvSpPr>
        <p:spPr>
          <a:xfrm>
            <a:off x="6400800" y="47912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recovery beside the injected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8"/>
          <p:cNvSpPr/>
          <p:nvPr/>
        </p:nvSpPr>
        <p:spPr>
          <a:xfrm>
            <a:off x="6400800" y="50569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coronagraph testbed, end to 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full testbed model — off-axis parabolas, focal-plane masks, Lyot stop, two 32×32-actuator deformable mirrors — every mask generated at 8× sub-pixel resolution and binned to the model grid.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Validated externally: a pure-PROPER run reads only the exported planes — no macos anywhere — and reproduces the bare image at correlation 1.000000, forming the same dark zone.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5" name="Table 4"/>
          <p:cNvGraphicFramePr/>
          <p:nvPr/>
        </p:nvGraphicFramePr>
        <p:xfrm>
          <a:off x="411480" y="2804040"/>
          <a:ext cx="5806080" cy="1770480"/>
        </p:xfrm>
        <a:graphic>
          <a:graphicData uri="http://schemas.openxmlformats.org/drawingml/2006/table">
            <a:tbl>
              <a:tblPr/>
              <a:tblGrid>
                <a:gridCol w="3770280"/>
                <a:gridCol w="1163160"/>
                <a:gridCol w="872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6" name="Picture 5" descr="ctb_train_render.png"/>
          <p:cNvPicPr/>
          <p:nvPr/>
        </p:nvPicPr>
        <p:blipFill>
          <a:blip r:embed="rId1"/>
          <a:stretch/>
        </p:blipFill>
        <p:spPr>
          <a:xfrm>
            <a:off x="7891560" y="1298520"/>
            <a:ext cx="2412720" cy="1068480"/>
          </a:xfrm>
          <a:prstGeom prst="rect">
            <a:avLst/>
          </a:prstGeom>
          <a:ln w="0">
            <a:noFill/>
          </a:ln>
        </p:spPr>
      </p:pic>
      <p:sp>
        <p:nvSpPr>
          <p:cNvPr id="167" name="TextBox 6"/>
          <p:cNvSpPr/>
          <p:nvPr/>
        </p:nvSpPr>
        <p:spPr>
          <a:xfrm>
            <a:off x="6400800" y="2385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Picture 7" descr="ctb_mask_compare.png"/>
          <p:cNvPicPr/>
          <p:nvPr/>
        </p:nvPicPr>
        <p:blipFill>
          <a:blip r:embed="rId2"/>
          <a:stretch/>
        </p:blipFill>
        <p:spPr>
          <a:xfrm>
            <a:off x="7274520" y="2816280"/>
            <a:ext cx="3647160" cy="1954800"/>
          </a:xfrm>
          <a:prstGeom prst="rect">
            <a:avLst/>
          </a:prstGeom>
          <a:ln w="0">
            <a:noFill/>
          </a:ln>
        </p:spPr>
      </p:pic>
      <p:sp>
        <p:nvSpPr>
          <p:cNvPr id="169" name="TextBox 8"/>
          <p:cNvSpPr/>
          <p:nvPr/>
        </p:nvSpPr>
        <p:spPr>
          <a:xfrm>
            <a:off x="6400800" y="47898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6400800" y="53859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vortex against the Lyot stop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411480" y="1298520"/>
            <a:ext cx="5806080" cy="15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 mask, one dial: the vortex phase is fixed; only the Lyot stop fraction moves — a genuine depth-for-throughput dial, where each fixed design is a single point.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Readings from the curve: at the apodized-pupil Lyot's operating point, charge 4 is deeper (8.8×10⁻¹¹ vs 2.1×10⁻¹⁰) at more throughput (36% vs 27%) — with no apodizer to fabricate.  At 81% throughput it still holds 8.0×10⁻⁹.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Charge 4 runs ~4× deeper than charge 6 at every stop; the useful dial range is 0.50–0.90 — past 0.90 the rejected-starlight ring arrives inside the stop.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" name="Picture 4" descr="ctb_vortex_lyot_sweep.png"/>
          <p:cNvPicPr/>
          <p:nvPr/>
        </p:nvPicPr>
        <p:blipFill>
          <a:blip r:embed="rId1"/>
          <a:stretch/>
        </p:blipFill>
        <p:spPr>
          <a:xfrm>
            <a:off x="7079400" y="1298520"/>
            <a:ext cx="4037040" cy="2805840"/>
          </a:xfrm>
          <a:prstGeom prst="rect">
            <a:avLst/>
          </a:prstGeom>
          <a:ln w="0">
            <a:noFill/>
          </a:ln>
        </p:spPr>
      </p:pic>
      <p:sp>
        <p:nvSpPr>
          <p:cNvPr id="175" name="TextBox 5"/>
          <p:cNvSpPr/>
          <p:nvPr/>
        </p:nvSpPr>
        <p:spPr>
          <a:xfrm>
            <a:off x="6400800" y="4123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6400800" y="4553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mirrors close the loop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411480" y="1298520"/>
            <a:ext cx="580608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control matrix is measured, not modeled: every actuator poked and propagated through the full masked chain, so the correction solve has no model error to exploit; each iteration re-propagates and scores the measured contrast.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Picture 4" descr="ctb_efc_vortex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1205280"/>
          </a:xfrm>
          <a:prstGeom prst="rect">
            <a:avLst/>
          </a:prstGeom>
          <a:ln w="0">
            <a:noFill/>
          </a:ln>
        </p:spPr>
      </p:pic>
      <p:sp>
        <p:nvSpPr>
          <p:cNvPr id="181" name="TextBox 5"/>
          <p:cNvSpPr/>
          <p:nvPr/>
        </p:nvSpPr>
        <p:spPr>
          <a:xfrm>
            <a:off x="6400800" y="2522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" name="Picture 6" descr="ctb_vortex_bandwidth.png"/>
          <p:cNvPicPr/>
          <p:nvPr/>
        </p:nvPicPr>
        <p:blipFill>
          <a:blip r:embed="rId2"/>
          <a:stretch/>
        </p:blipFill>
        <p:spPr>
          <a:xfrm>
            <a:off x="8012160" y="2953080"/>
            <a:ext cx="2172240" cy="1617120"/>
          </a:xfrm>
          <a:prstGeom prst="rect">
            <a:avLst/>
          </a:prstGeom>
          <a:ln w="0">
            <a:noFill/>
          </a:ln>
        </p:spPr>
      </p:pic>
      <p:sp>
        <p:nvSpPr>
          <p:cNvPr id="183" name="TextBox 7"/>
          <p:cNvSpPr/>
          <p:nvPr/>
        </p:nvSpPr>
        <p:spPr>
          <a:xfrm>
            <a:off x="6400800" y="45889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6400800" y="5019840"/>
            <a:ext cx="5394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the testbed to an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" name="Picture 4" descr="r2_sequence.png"/>
          <p:cNvPicPr/>
          <p:nvPr/>
        </p:nvPicPr>
        <p:blipFill>
          <a:blip r:embed="rId1"/>
          <a:stretch/>
        </p:blipFill>
        <p:spPr>
          <a:xfrm>
            <a:off x="1329120" y="2218320"/>
            <a:ext cx="3971160" cy="1342800"/>
          </a:xfrm>
          <a:prstGeom prst="rect">
            <a:avLst/>
          </a:prstGeom>
          <a:ln w="0">
            <a:noFill/>
          </a:ln>
        </p:spPr>
      </p:pic>
      <p:sp>
        <p:nvSpPr>
          <p:cNvPr id="189" name="TextBox 5"/>
          <p:cNvSpPr/>
          <p:nvPr/>
        </p:nvSpPr>
        <p:spPr>
          <a:xfrm>
            <a:off x="411480" y="35794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Picture 6" descr="r1_seg_d110_shroud.png"/>
          <p:cNvPicPr/>
          <p:nvPr/>
        </p:nvPicPr>
        <p:blipFill>
          <a:blip r:embed="rId2"/>
          <a:stretch/>
        </p:blipFill>
        <p:spPr>
          <a:xfrm>
            <a:off x="7536600" y="2218320"/>
            <a:ext cx="3123000" cy="2257200"/>
          </a:xfrm>
          <a:prstGeom prst="rect">
            <a:avLst/>
          </a:prstGeom>
          <a:ln w="0">
            <a:noFill/>
          </a:ln>
        </p:spPr>
      </p:pic>
      <p:sp>
        <p:nvSpPr>
          <p:cNvPr id="191" name="TextBox 7"/>
          <p:cNvSpPr/>
          <p:nvPr/>
        </p:nvSpPr>
        <p:spPr>
          <a:xfrm>
            <a:off x="6400800" y="44938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8"/>
          <p:cNvSpPr/>
          <p:nvPr/>
        </p:nvSpPr>
        <p:spPr>
          <a:xfrm>
            <a:off x="6400800" y="49248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hex-19 with physical apertures through the same segmentation product;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and edge sensors are designed ON that Jacobian — 114 beams from the launcher stations shown — and the same matrices drive the estimator and the closed loop.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" name="Picture 4" descr="r3_met_view_rx.png"/>
          <p:cNvPicPr/>
          <p:nvPr/>
        </p:nvPicPr>
        <p:blipFill>
          <a:blip r:embed="rId1"/>
          <a:stretch/>
        </p:blipFill>
        <p:spPr>
          <a:xfrm>
            <a:off x="7579080" y="1298520"/>
            <a:ext cx="3038040" cy="1982880"/>
          </a:xfrm>
          <a:prstGeom prst="rect">
            <a:avLst/>
          </a:prstGeom>
          <a:ln w="0">
            <a:noFill/>
          </a:ln>
        </p:spPr>
      </p:pic>
      <p:sp>
        <p:nvSpPr>
          <p:cNvPr id="197" name="TextBox 5"/>
          <p:cNvSpPr/>
          <p:nvPr/>
        </p:nvSpPr>
        <p:spPr>
          <a:xfrm>
            <a:off x="6400800" y="3300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" name="Picture 6" descr="r3_dwdx_channels.png"/>
          <p:cNvPicPr/>
          <p:nvPr/>
        </p:nvPicPr>
        <p:blipFill>
          <a:blip r:embed="rId2"/>
          <a:stretch/>
        </p:blipFill>
        <p:spPr>
          <a:xfrm>
            <a:off x="8314920" y="3730680"/>
            <a:ext cx="1566720" cy="1553760"/>
          </a:xfrm>
          <a:prstGeom prst="rect">
            <a:avLst/>
          </a:prstGeom>
          <a:ln w="0">
            <a:noFill/>
          </a:ln>
        </p:spPr>
      </p:pic>
      <p:sp>
        <p:nvSpPr>
          <p:cNvPr id="199" name="TextBox 7"/>
          <p:cNvSpPr/>
          <p:nvPr/>
        </p:nvSpPr>
        <p:spPr>
          <a:xfrm>
            <a:off x="6400800" y="53031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8"/>
          <p:cNvSpPr/>
          <p:nvPr/>
        </p:nvSpPr>
        <p:spPr>
          <a:xfrm>
            <a:off x="6400800" y="556884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randomly disturbed observatory, simulated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3"/>
          <p:cNvSpPr/>
          <p:nvPr/>
        </p:nvSpPr>
        <p:spPr>
          <a:xfrm>
            <a:off x="411480" y="1298520"/>
            <a:ext cx="580608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Random segment drift is injected; the rigid-body loop senses through the designed metrology, estimates and corrects, while EFC re-solves the dark zone per scored frame — all on one model.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disturbance interface is the point: the same channels are built to ingest dynamical- and thermal-model time histories — simulating performance in the space environment.  Work in progress.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Honest gap, attributed: the segmented-pupil contrast floor sits above the clear-pupil testbed's — the gaps and edges carry it, not the control.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4" descr="r4_series_3nm.png"/>
          <p:cNvPicPr/>
          <p:nvPr/>
        </p:nvPicPr>
        <p:blipFill>
          <a:blip r:embed="rId1"/>
          <a:stretch/>
        </p:blipFill>
        <p:spPr>
          <a:xfrm>
            <a:off x="7589880" y="1298520"/>
            <a:ext cx="3016440" cy="2897280"/>
          </a:xfrm>
          <a:prstGeom prst="rect">
            <a:avLst/>
          </a:prstGeom>
          <a:ln w="0">
            <a:noFill/>
          </a:ln>
        </p:spPr>
      </p:pic>
      <p:sp>
        <p:nvSpPr>
          <p:cNvPr id="205" name="TextBox 5"/>
          <p:cNvSpPr/>
          <p:nvPr/>
        </p:nvSpPr>
        <p:spPr>
          <a:xfrm>
            <a:off x="6400800" y="4214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6"/>
          <p:cNvSpPr/>
          <p:nvPr/>
        </p:nvSpPr>
        <p:spPr>
          <a:xfrm>
            <a:off x="6400800" y="464508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design, revealed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411480" y="1298520"/>
            <a:ext cx="5806080" cy="13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ask: a field-box width, anywhere in 5–15°.  The prediction, stated before the solve: interpolated from the committed frontier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pre-run rehearsal of the default ask (12°): predicted 33.7 nm; solved 33.6 nm — 1.00× — at a 24.9 mm clearance floor, both checks pass, in 15 minutes.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run is deterministic to every printed digit, and every ask is a genuine continuation step — never a re-score of a stored design.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" name="Picture 4" descr="oi_demo_12deg_layout.png"/>
          <p:cNvPicPr/>
          <p:nvPr/>
        </p:nvPicPr>
        <p:blipFill>
          <a:blip r:embed="rId1"/>
          <a:stretch/>
        </p:blipFill>
        <p:spPr>
          <a:xfrm>
            <a:off x="8000280" y="1298520"/>
            <a:ext cx="2196000" cy="1891440"/>
          </a:xfrm>
          <a:prstGeom prst="rect">
            <a:avLst/>
          </a:prstGeom>
          <a:ln w="0">
            <a:noFill/>
          </a:ln>
        </p:spPr>
      </p:pic>
      <p:sp>
        <p:nvSpPr>
          <p:cNvPr id="211" name="TextBox 5"/>
          <p:cNvSpPr/>
          <p:nvPr/>
        </p:nvSpPr>
        <p:spPr>
          <a:xfrm>
            <a:off x="6400800" y="3208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6" descr="oi_demo_12deg_map.png"/>
          <p:cNvPicPr/>
          <p:nvPr/>
        </p:nvPicPr>
        <p:blipFill>
          <a:blip r:embed="rId2"/>
          <a:stretch/>
        </p:blipFill>
        <p:spPr>
          <a:xfrm>
            <a:off x="7950960" y="3639240"/>
            <a:ext cx="2293920" cy="2011320"/>
          </a:xfrm>
          <a:prstGeom prst="rect">
            <a:avLst/>
          </a:prstGeom>
          <a:ln w="0">
            <a:noFill/>
          </a:ln>
        </p:spPr>
      </p:pic>
      <p:sp>
        <p:nvSpPr>
          <p:cNvPr id="213" name="TextBox 7"/>
          <p:cNvSpPr/>
          <p:nvPr/>
        </p:nvSpPr>
        <p:spPr>
          <a:xfrm>
            <a:off x="6400800" y="5650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How is a result verified when the designer is a machine?  Here: regression checks with negative controls, layout figures read against every claim, and corrected signed measures — the checks caught the errors shown today.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Where does the human rule?  Constraint choices, metric definitions, and every outward claim carry a human sign-off; the AI proposes, the record decides.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Is it reproducible?  Every number in this deck rebuilds from committed scripts and committed records — including the design solved during this talk.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Summary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411480" y="1298520"/>
            <a:ext cx="11368440" cy="13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validated engine behind four language surfaces; a MATLAB design layer that took three CODE V benchmark studies from reproduction to extension.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Two things happened live: a telescope designed to the audience's field specification in one warm-started step, and a polarization interferometer measuring a deformable mirror to 0.30 nm.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code is public: github.com/nasa-jpl/macos.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4"/>
          <p:cNvSpPr/>
          <p:nvPr/>
        </p:nvSpPr>
        <p:spPr>
          <a:xfrm>
            <a:off x="411480" y="299376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 Slides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MACOS does today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System-level modeling from design through control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Applications: error budgeting, integrated observatory simulation, wavefront sensing and control for segmented telescopes, coronagraph testbeds and instruments.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linear-model workflow: w = J·x + w₀ — wavefront sensitivity channels per element, per segment, per surface mode; stacked over fields and configurations; element groups move as one.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From model to control: the same sensitivity matrices drive metrology design, estimator synthesis, and closed-loop simulation — one model, one bookkeeping, design to control.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MATLAB toolbox and the design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Drivers: telescope/bench design builders, sensitivity supervisors (rigid-body, alignment, surface-grid), metrology placement, model-vs-model comparison, closed-loop simulators, study orchestrators.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One-call reconstructible studies: every figure in this deck rebuilds from a committed script and committed records.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"/>
          <p:cNvSpPr/>
          <p:nvPr/>
        </p:nvSpPr>
        <p:spPr>
          <a:xfrm>
            <a:off x="6400800" y="1298520"/>
            <a:ext cx="539460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Utilities: trace, wavefront, perturb, pupil find; layout and ray-bundle viewers; Jones pupils, polarization elements; segment grid bases and grid file IO; multi-wavelength composition; spot, intensity, complex field.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design layer: the whole stack is public-domain — a design study needs no proprietary prescription to start from.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5"/>
          <p:cNvSpPr/>
          <p:nvPr/>
        </p:nvSpPr>
        <p:spPr>
          <a:xfrm>
            <a:off x="6400800" y="28040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Validation anchors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trust base, by physics 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35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1526400"/>
                <a:gridCol w="3444480"/>
                <a:gridCol w="63972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TextBox 4"/>
          <p:cNvSpPr/>
          <p:nvPr/>
        </p:nvSpPr>
        <p:spPr>
          <a:xfrm>
            <a:off x="411480" y="3124800"/>
            <a:ext cx="1136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non-vacuity rule: every regression check is shown to fail against the pre-fix engine before it counts as protection.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"/>
          <p:cNvSpPr/>
          <p:nvPr/>
        </p:nvSpPr>
        <p:spPr>
          <a:xfrm>
            <a:off x="411480" y="37969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Suites run per commit; counts as of 2026-08.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adjacent-design rehearsal bundle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40" name="Table 3"/>
          <p:cNvGraphicFramePr/>
          <p:nvPr/>
        </p:nvGraphicFramePr>
        <p:xfrm>
          <a:off x="411480" y="1298520"/>
          <a:ext cx="11368440" cy="1119960"/>
        </p:xfrm>
        <a:graphic>
          <a:graphicData uri="http://schemas.openxmlformats.org/drawingml/2006/table">
            <a:tbl>
              <a:tblPr/>
              <a:tblGrid>
                <a:gridCol w="1120680"/>
                <a:gridCol w="1600920"/>
                <a:gridCol w="1441080"/>
                <a:gridCol w="2401560"/>
                <a:gridCol w="2401560"/>
                <a:gridCol w="960480"/>
                <a:gridCol w="1441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1" name="TextBox 4"/>
          <p:cNvSpPr/>
          <p:nvPr/>
        </p:nvSpPr>
        <p:spPr>
          <a:xfrm>
            <a:off x="411480" y="2565000"/>
            <a:ext cx="1136844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 repeat 12° run reproduces the bundle to every printed digit — the demonstration is deterministic.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Wide asks pass: the committed frontier line understates the envelope (its widest rows stopped early on a wavefront-only criterion while the clearance penalty was still improving).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5"/>
          <p:cNvSpPr/>
          <p:nvPr/>
        </p:nvSpPr>
        <p:spPr>
          <a:xfrm>
            <a:off x="411480" y="36248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Interferometer demonstration backups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pre-rendered image per live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5" name="Picture 3" descr="demo_beat5_poke.png"/>
          <p:cNvPicPr/>
          <p:nvPr/>
        </p:nvPicPr>
        <p:blipFill>
          <a:blip r:embed="rId1"/>
          <a:stretch/>
        </p:blipFill>
        <p:spPr>
          <a:xfrm>
            <a:off x="3771720" y="1298520"/>
            <a:ext cx="4648320" cy="1782360"/>
          </a:xfrm>
          <a:prstGeom prst="rect">
            <a:avLst/>
          </a:prstGeom>
          <a:ln w="0">
            <a:noFill/>
          </a:ln>
        </p:spPr>
      </p:pic>
      <p:sp>
        <p:nvSpPr>
          <p:cNvPr id="246" name="TextBox 4"/>
          <p:cNvSpPr/>
          <p:nvPr/>
        </p:nvSpPr>
        <p:spPr>
          <a:xfrm>
            <a:off x="411480" y="309924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5" descr="demo_beat6_sweep.png"/>
          <p:cNvPicPr/>
          <p:nvPr/>
        </p:nvPicPr>
        <p:blipFill>
          <a:blip r:embed="rId2"/>
          <a:stretch/>
        </p:blipFill>
        <p:spPr>
          <a:xfrm>
            <a:off x="4186080" y="3364920"/>
            <a:ext cx="3818880" cy="1782360"/>
          </a:xfrm>
          <a:prstGeom prst="rect">
            <a:avLst/>
          </a:prstGeom>
          <a:ln w="0">
            <a:noFill/>
          </a:ln>
        </p:spPr>
      </p:pic>
      <p:sp>
        <p:nvSpPr>
          <p:cNvPr id="248" name="TextBox 6"/>
          <p:cNvSpPr/>
          <p:nvPr/>
        </p:nvSpPr>
        <p:spPr>
          <a:xfrm>
            <a:off x="411480" y="516600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" name="Picture 7" descr="demo_beat7_recovery.png"/>
          <p:cNvPicPr/>
          <p:nvPr/>
        </p:nvPicPr>
        <p:blipFill>
          <a:blip r:embed="rId3"/>
          <a:stretch/>
        </p:blipFill>
        <p:spPr>
          <a:xfrm>
            <a:off x="4179600" y="5431680"/>
            <a:ext cx="3832200" cy="1032480"/>
          </a:xfrm>
          <a:prstGeom prst="rect">
            <a:avLst/>
          </a:prstGeom>
          <a:ln w="0">
            <a:noFill/>
          </a:ln>
        </p:spPr>
      </p:pic>
      <p:sp>
        <p:nvSpPr>
          <p:cNvPr id="250" name="TextBox 8"/>
          <p:cNvSpPr/>
          <p:nvPr/>
        </p:nvSpPr>
        <p:spPr>
          <a:xfrm>
            <a:off x="411480" y="648252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7 — the recovery beside the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9"/>
          <p:cNvSpPr/>
          <p:nvPr/>
        </p:nvSpPr>
        <p:spPr>
          <a:xfrm>
            <a:off x="411480" y="6748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specification to design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stage-runner sequence on the smaller worked example: specification → design → segmentation → metrology → comparison → simulation, each stage a committed runner handing its prescription to the next.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A 4 m f/18 telescope (f/1.75 primary) from a closed-form first-order seed; diffraction-limited over ±1′ alone, and the Offner ring-field relay buys the full ±2′ (Strehl floor 0.965, on pure spheres).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Picture 4" descr="rowpair_s1_views.png"/>
          <p:cNvPicPr/>
          <p:nvPr/>
        </p:nvPicPr>
        <p:blipFill>
          <a:blip r:embed="rId1"/>
          <a:stretch/>
        </p:blipFill>
        <p:spPr>
          <a:xfrm>
            <a:off x="6738480" y="1298520"/>
            <a:ext cx="4718880" cy="2056680"/>
          </a:xfrm>
          <a:prstGeom prst="rect">
            <a:avLst/>
          </a:prstGeom>
          <a:ln w="0">
            <a:noFill/>
          </a:ln>
        </p:spPr>
      </p:pic>
      <p:sp>
        <p:nvSpPr>
          <p:cNvPr id="256" name="TextBox 5"/>
          <p:cNvSpPr/>
          <p:nvPr/>
        </p:nvSpPr>
        <p:spPr>
          <a:xfrm>
            <a:off x="6400800" y="33735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" name="Picture 6" descr="s1_wfe_field.png"/>
          <p:cNvPicPr/>
          <p:nvPr/>
        </p:nvPicPr>
        <p:blipFill>
          <a:blip r:embed="rId2"/>
          <a:stretch/>
        </p:blipFill>
        <p:spPr>
          <a:xfrm>
            <a:off x="7993800" y="3639240"/>
            <a:ext cx="2208600" cy="1782360"/>
          </a:xfrm>
          <a:prstGeom prst="rect">
            <a:avLst/>
          </a:prstGeom>
          <a:ln w="0">
            <a:noFill/>
          </a:ln>
        </p:spPr>
      </p:pic>
      <p:sp>
        <p:nvSpPr>
          <p:cNvPr id="258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8"/>
          <p:cNvSpPr/>
          <p:nvPr/>
        </p:nvSpPr>
        <p:spPr>
          <a:xfrm>
            <a:off x="6400800" y="57060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into a pie or hex tiling with physical apertures;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is an optimization on that basis: edge-sensor and beam-launcher layouts scored by the control information they carry, not by symmetry; the winning pattern exports as a reusable preset.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Picture 4" descr="rowpair_s3_views_pie.png"/>
          <p:cNvPicPr/>
          <p:nvPr/>
        </p:nvPicPr>
        <p:blipFill>
          <a:blip r:embed="rId1"/>
          <a:stretch/>
        </p:blipFill>
        <p:spPr>
          <a:xfrm>
            <a:off x="6618240" y="1298520"/>
            <a:ext cx="4959720" cy="1965240"/>
          </a:xfrm>
          <a:prstGeom prst="rect">
            <a:avLst/>
          </a:prstGeom>
          <a:ln w="0">
            <a:noFill/>
          </a:ln>
        </p:spPr>
      </p:pic>
      <p:sp>
        <p:nvSpPr>
          <p:cNvPr id="264" name="TextBox 5"/>
          <p:cNvSpPr/>
          <p:nvPr/>
        </p:nvSpPr>
        <p:spPr>
          <a:xfrm>
            <a:off x="6400800" y="3282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Picture 6" descr="e2e_pie_met_view_rx.png"/>
          <p:cNvPicPr/>
          <p:nvPr/>
        </p:nvPicPr>
        <p:blipFill>
          <a:blip r:embed="rId2"/>
          <a:stretch/>
        </p:blipFill>
        <p:spPr>
          <a:xfrm>
            <a:off x="7662960" y="3547800"/>
            <a:ext cx="2870280" cy="1873800"/>
          </a:xfrm>
          <a:prstGeom prst="rect">
            <a:avLst/>
          </a:prstGeom>
          <a:ln w="0">
            <a:noFill/>
          </a:ln>
        </p:spPr>
      </p:pic>
      <p:sp>
        <p:nvSpPr>
          <p:cNvPr id="266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"/>
          <p:cNvSpPr/>
          <p:nvPr/>
        </p:nvSpPr>
        <p:spPr>
          <a:xfrm>
            <a:off x="6400800" y="5706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comparison and simulation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Picture 4" descr="e2e_compare_p001.png"/>
          <p:cNvPicPr/>
          <p:nvPr/>
        </p:nvPicPr>
        <p:blipFill>
          <a:blip r:embed="rId1"/>
          <a:stretch/>
        </p:blipFill>
        <p:spPr>
          <a:xfrm>
            <a:off x="1466640" y="2218320"/>
            <a:ext cx="3695400" cy="2714400"/>
          </a:xfrm>
          <a:prstGeom prst="rect">
            <a:avLst/>
          </a:prstGeom>
          <a:ln w="0">
            <a:noFill/>
          </a:ln>
        </p:spPr>
      </p:pic>
      <p:sp>
        <p:nvSpPr>
          <p:cNvPr id="272" name="TextBox 5"/>
          <p:cNvSpPr/>
          <p:nvPr/>
        </p:nvSpPr>
        <p:spPr>
          <a:xfrm>
            <a:off x="411480" y="49510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3" name="Picture 6" descr="e2e_sim_t007.png"/>
          <p:cNvPicPr/>
          <p:nvPr/>
        </p:nvPicPr>
        <p:blipFill>
          <a:blip r:embed="rId2"/>
          <a:stretch/>
        </p:blipFill>
        <p:spPr>
          <a:xfrm>
            <a:off x="6784560" y="2218320"/>
            <a:ext cx="4627080" cy="2714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7"/>
          <p:cNvSpPr/>
          <p:nvPr/>
        </p:nvSpPr>
        <p:spPr>
          <a:xfrm>
            <a:off x="6400800" y="4951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6400800" y="5382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2026-08-30T15:02:09Z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