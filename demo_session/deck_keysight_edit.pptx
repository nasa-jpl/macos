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2 September 2026.</a:t>
            </a:r>
          </a:p>
          <a:p>
            <a:pPr>
              <a:spcAft>
                <a:spcPts val="800"/>
              </a:spcAft>
            </a:pPr>
            <a:r>
              <a:rPr sz="1500" b="0">
                <a:solidFill>
                  <a:srgbClr val="6E6E6E"/>
                </a:solidFill>
                <a:latin typeface="Arial"/>
              </a:rPr>
              <a:t>The code is public: github.com/nasa-jpl/macos and github.com/nasa-jpl/MACOS_resources</a:t>
            </a:r>
          </a:p>
        </p:txBody>
      </p:sp>
      <p:sp>
        <p:nvSpPr>
          <p:cNvPr id="3" name="TextBox 2"/>
          <p:cNvSpPr txBox="1"/>
          <p:nvPr/>
        </p:nvSpPr>
        <p:spPr>
          <a:xfrm>
            <a:off x="822960" y="5486400"/>
            <a:ext cx="10545775" cy="914400"/>
          </a:xfrm>
          <a:prstGeom prst="rect">
            <a:avLst/>
          </a:prstGeom>
          <a:noFill/>
        </p:spPr>
        <p:txBody>
          <a:bodyPr wrap="square">
            <a:spAutoFit/>
          </a:bodyPr>
          <a:lstStyle/>
          <a:p/>
        </p:txBody>
      </p:sp>
      <p:sp>
        <p:nvSpPr>
          <p:cNvPr id="4" name="TextBox 3"/>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Based on a coordinate-free ray-trace theory</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other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operational data across those programs.</a:t>
            </a:r>
          </a:p>
          <a:p>
            <a:pPr>
              <a:spcAft>
                <a:spcPts val="600"/>
              </a:spcAft>
            </a:pPr>
            <a:r>
              <a:rPr sz="1500" b="0">
                <a:solidFill>
                  <a:srgbClr val="282828"/>
                </a:solidFill>
                <a:latin typeface="Arial"/>
              </a:rPr>
              <a:t>•  We are now modernizing and extending our modeling tools and practices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
        <p:nvSpPr>
          <p:cNvPr id="5" name="TextBox 4"/>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mmacos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914400" y="5596128"/>
            <a:ext cx="10863072"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0.991–1.003×</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0.8–1.25×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barrier to achieving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3101339"/>
            <a:ext cx="3109808" cy="2696972"/>
          </a:xfrm>
          <a:prstGeom prst="rect">
            <a:avLst/>
          </a:prstGeom>
        </p:spPr>
      </p:pic>
      <p:sp>
        <p:nvSpPr>
          <p:cNvPr id="8" name="TextBox 7"/>
          <p:cNvSpPr txBox="1"/>
          <p:nvPr/>
        </p:nvSpPr>
        <p:spPr>
          <a:xfrm>
            <a:off x="6400800" y="5816600"/>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6082284"/>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agent asks: when do you change basins?</a:t>
            </a:r>
          </a:p>
          <a:p>
            <a:pPr>
              <a:spcAft>
                <a:spcPts val="0"/>
              </a:spcAft>
            </a:pPr>
            <a:r>
              <a:rPr sz="1250" b="0">
                <a:solidFill>
                  <a:srgbClr val="6E6E6E"/>
                </a:solidFill>
                <a:latin typeface="Arial"/>
              </a:rPr>
              <a:t>A question to this room, from the AI that ran these studies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Our solvers never left the basin they were seeded in.  The warm-started walk beat the cold start 8500×; offered ±15° of rigid-body freedom, a converged solve used 0.9° — the off-axis family had to be seeded, never perturbed into.  When does your practice reach for a genuinely new starting geometry rather than a better step — and do you trust automated global search to make that call?</a:t>
            </a:r>
          </a:p>
          <a:p>
            <a:pPr>
              <a:spcAft>
                <a:spcPts val="600"/>
              </a:spcAft>
            </a:pPr>
            <a:r>
              <a:rPr sz="1500" b="0">
                <a:solidFill>
                  <a:srgbClr val="282828"/>
                </a:solidFill>
                <a:latin typeface="Arial"/>
              </a:rPr>
              <a:t>•  And how do you scale one merit across requirement classes decades apart?  A term 120× from feasible owned our sum of squares and the rest cast no vote; we ended in log-domain residuals and constraint walls applied to iterates, never to reports.  What is your practice?</a:t>
            </a:r>
          </a:p>
        </p:txBody>
      </p:sp>
      <p:sp>
        <p:nvSpPr>
          <p:cNvPr id="5" name="TextBox 4"/>
          <p:cNvSpPr txBox="1"/>
          <p:nvPr/>
        </p:nvSpPr>
        <p:spPr>
          <a:xfrm>
            <a:off x="411480" y="3348989"/>
            <a:ext cx="11368735" cy="274320"/>
          </a:xfrm>
          <a:prstGeom prst="rect">
            <a:avLst/>
          </a:prstGeom>
          <a:noFill/>
        </p:spPr>
        <p:txBody>
          <a:bodyPr wrap="square">
            <a:spAutoFit/>
          </a:bodyPr>
          <a:lstStyle/>
          <a:p>
            <a:pPr>
              <a:spcAft>
                <a:spcPts val="600"/>
              </a:spcAft>
            </a:pPr>
            <a:r>
              <a:rPr sz="1050" b="0">
                <a:solidFill>
                  <a:srgbClr val="6E6E6E"/>
                </a:solidFill>
                <a:latin typeface="Arial"/>
              </a:rPr>
              <a:t>Genuine, not rhetorical: the agent is live during this talk — Dave can relay your answers, or your questions, and it will respond in real time.</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
        <p:nvSpPr>
          <p:cNvPr id="8" name="TextBox 7"/>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solves match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680210"/>
        </p:xfrm>
        <a:graphic>
          <a:graphicData uri="http://schemas.openxmlformats.org/drawingml/2006/table">
            <a:tbl>
              <a:tblPr firstRow="1" bandRow="1">
                <a:tableStyleId>{5C22544A-7EE6-4342-B048-85BDC9FD1C3A}</a:tableStyleId>
              </a:tblPr>
              <a:tblGrid>
                <a:gridCol w="2734252"/>
                <a:gridCol w="4029425"/>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MACOS, piston + tilt removed</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Piston + per-field tip/tilt removed = a centroid-referenced sphere (a chief-referenced sphere leaves the tilt in).  Full record: design/rodgers1 — packet with 10 addenda, every retraction in place.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6510528" y="1261872"/>
            <a:ext cx="5148072" cy="3959352"/>
          </a:xfrm>
          <a:prstGeom prst="rect">
            <a:avLst/>
          </a:prstGeom>
        </p:spPr>
      </p:pic>
      <p:sp>
        <p:nvSpPr>
          <p:cNvPr id="7" name="TextBox 6"/>
          <p:cNvSpPr txBox="1"/>
          <p:nvPr/>
        </p:nvSpPr>
        <p:spPr>
          <a:xfrm>
            <a:off x="6400800" y="51297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5559552"/>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agent asks: about this afocal family</a:t>
            </a:r>
          </a:p>
          <a:p>
            <a:pPr>
              <a:spcAft>
                <a:spcPts val="0"/>
              </a:spcAft>
            </a:pPr>
            <a:r>
              <a:rPr sz="1250" b="0">
                <a:solidFill>
                  <a:srgbClr val="6E6E6E"/>
                </a:solidFill>
                <a:latin typeface="Arial"/>
              </a:rPr>
              <a:t>Questions the 30× study could not settle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interface-pupil condition consumed the last two mirror powers — priced at 2.7× of wavefront — and field curvature owned 60–99.7% of every design's variance.  Is that pupil requirement held this hard in shipped practice — and is a strongly curved opposite-sign corrector in the compressed beam near the exit a move you have seen work?</a:t>
            </a:r>
          </a:p>
          <a:p>
            <a:pPr>
              <a:spcAft>
                <a:spcPts val="600"/>
              </a:spcAft>
            </a:pPr>
            <a:r>
              <a:rPr sz="1500" b="0">
                <a:solidFill>
                  <a:srgbClr val="282828"/>
                </a:solidFill>
                <a:latin typeface="Arial"/>
              </a:rPr>
              <a:t>•  Overnight we found an effect we cannot explain: decentering the pupil improved every mirror count tried — 3.5× at best, and the best absolute design in the study — measured under the full requirement set with three controls, while four mechanism hypotheses failed in turn.  Do you recognize this effect?</a:t>
            </a:r>
          </a:p>
        </p:txBody>
      </p:sp>
      <p:sp>
        <p:nvSpPr>
          <p:cNvPr id="5" name="TextBox 4"/>
          <p:cNvSpPr txBox="1"/>
          <p:nvPr/>
        </p:nvSpPr>
        <p:spPr>
          <a:xfrm>
            <a:off x="411480" y="3101340"/>
            <a:ext cx="11368735" cy="274320"/>
          </a:xfrm>
          <a:prstGeom prst="rect">
            <a:avLst/>
          </a:prstGeom>
          <a:noFill/>
        </p:spPr>
        <p:txBody>
          <a:bodyPr wrap="square">
            <a:spAutoFit/>
          </a:bodyPr>
          <a:lstStyle/>
          <a:p>
            <a:pPr>
              <a:spcAft>
                <a:spcPts val="600"/>
              </a:spcAft>
            </a:pPr>
            <a:r>
              <a:rPr sz="1050" b="0">
                <a:solidFill>
                  <a:srgbClr val="6E6E6E"/>
                </a:solidFill>
                <a:latin typeface="Arial"/>
              </a:rPr>
              <a:t>Genuine question — the agent is live and will follow up.</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
        <p:nvSpPr>
          <p:cNvPr id="10" name="TextBox 9"/>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rcRect t="21300"/>
          <a:stretch>
            <a:fillRect/>
          </a:stretch>
        </p:blipFill>
        <p:spPr>
          <a:xfrm>
            <a:off x="996696" y="3008376"/>
            <a:ext cx="5175504" cy="2898648"/>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06640" y="2971800"/>
            <a:ext cx="3895344" cy="2816352"/>
          </a:xfrm>
          <a:prstGeom prst="rect">
            <a:avLst/>
          </a:prstGeom>
        </p:spPr>
      </p:pic>
      <p:sp>
        <p:nvSpPr>
          <p:cNvPr id="9" name="TextBox 8"/>
          <p:cNvSpPr txBox="1"/>
          <p:nvPr/>
        </p:nvSpPr>
        <p:spPr>
          <a:xfrm>
            <a:off x="7406640" y="5806440"/>
            <a:ext cx="3895344"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linear model: state to wavefront to control</a:t>
            </a:r>
          </a:p>
          <a:p>
            <a:pPr>
              <a:spcAft>
                <a:spcPts val="0"/>
              </a:spcAft>
            </a:pPr>
            <a:r>
              <a:rPr sz="1250" b="0">
                <a:solidFill>
                  <a:srgbClr val="6E6E6E"/>
                </a:solidFill>
                <a:latin typeface="Arial"/>
              </a:rPr>
              <a:t>Every matrix is measured from the engine, then closure-checked against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wavefront model:   w  =  w₀ + J·x,    J = [ ∂w/∂x   ∂w/∂z   ∂w/∂grid ]</a:t>
            </a:r>
          </a:p>
          <a:p>
            <a:pPr marL="594360" indent="-137160">
              <a:spcAft>
                <a:spcPts val="500"/>
              </a:spcAft>
            </a:pPr>
            <a:r>
              <a:rPr sz="1300" b="0">
                <a:solidFill>
                  <a:srgbClr val="6E6E6E"/>
                </a:solidFill>
                <a:latin typeface="Arial"/>
              </a:rPr>
              <a:t>–  x stacks rigid-body states (6 DOF per optic and per group), segment Zernike figure modes, and grid/actuator influences; J's columns are engine-measured pokes through the full train, per field — the three families on the following slides.</a:t>
            </a:r>
          </a:p>
          <a:p>
            <a:pPr>
              <a:spcAft>
                <a:spcPts val="600"/>
              </a:spcAft>
            </a:pPr>
            <a:r>
              <a:rPr sz="1500" b="0">
                <a:solidFill>
                  <a:srgbClr val="282828"/>
                </a:solidFill>
                <a:latin typeface="Arial"/>
              </a:rPr>
              <a:t>•  The metrology forward model:   m  =  [ ∂l/∂x ; ∂e/∂x ]·x + n</a:t>
            </a:r>
          </a:p>
          <a:p>
            <a:pPr marL="594360" indent="-137160">
              <a:spcAft>
                <a:spcPts val="500"/>
              </a:spcAft>
            </a:pPr>
            <a:r>
              <a:rPr sz="1300" b="0">
                <a:solidFill>
                  <a:srgbClr val="6E6E6E"/>
                </a:solidFill>
                <a:latin typeface="Arial"/>
              </a:rPr>
              <a:t>–  laser-gauge lengths l and edge-sensor gaps e; a sensor layout is scored by the control information it carries — minimize trace( J Px̂ Jᵀ ), the wavefront error the estimator leaves behind.</a:t>
            </a:r>
          </a:p>
          <a:p>
            <a:pPr>
              <a:spcAft>
                <a:spcPts val="600"/>
              </a:spcAft>
            </a:pPr>
            <a:r>
              <a:rPr sz="1500" b="0">
                <a:solidFill>
                  <a:srgbClr val="282828"/>
                </a:solidFill>
                <a:latin typeface="Arial"/>
              </a:rPr>
              <a:t>•  Actuators to states:   x  =  (∂x/∂u)·u ,   so   ∂w/∂u  =  J·(∂x/∂u)</a:t>
            </a:r>
          </a:p>
          <a:p>
            <a:pPr marL="594360" indent="-137160">
              <a:spcAft>
                <a:spcPts val="500"/>
              </a:spcAft>
            </a:pPr>
            <a:r>
              <a:rPr sz="1300" b="0">
                <a:solidFill>
                  <a:srgbClr val="6E6E6E"/>
                </a:solidFill>
                <a:latin typeface="Arial"/>
              </a:rPr>
              <a:t>–  Stewart-platform kinematics carry the actuator strokes u of each segment and of M2 into rigid-body states x; ∂w/∂u is the control Jacobian.</a:t>
            </a:r>
          </a:p>
          <a:p>
            <a:pPr>
              <a:spcAft>
                <a:spcPts val="600"/>
              </a:spcAft>
            </a:pPr>
            <a:r>
              <a:rPr sz="1500" b="0">
                <a:solidFill>
                  <a:srgbClr val="282828"/>
                </a:solidFill>
                <a:latin typeface="Arial"/>
              </a:rPr>
              <a:t>•  Control using wavefront measurements:   u  =  −(∂w/∂u)⁺·w</a:t>
            </a:r>
          </a:p>
          <a:p>
            <a:pPr marL="594360" indent="-137160">
              <a:spcAft>
                <a:spcPts val="500"/>
              </a:spcAft>
            </a:pPr>
            <a:r>
              <a:rPr sz="1300" b="0">
                <a:solidFill>
                  <a:srgbClr val="6E6E6E"/>
                </a:solidFill>
                <a:latin typeface="Arial"/>
              </a:rPr>
              <a:t>–  Wavefront sensing and control in one step, enveloping telescope initialization controls.</a:t>
            </a:r>
          </a:p>
          <a:p>
            <a:pPr>
              <a:spcAft>
                <a:spcPts val="600"/>
              </a:spcAft>
            </a:pPr>
            <a:r>
              <a:rPr sz="1500" b="0">
                <a:solidFill>
                  <a:srgbClr val="282828"/>
                </a:solidFill>
                <a:latin typeface="Arial"/>
              </a:rPr>
              <a:t>•  Estimation and control using metrology measurements:   x̂  =  ( HᵀWH + ρI )⁻¹ HᵀW·m ;    u  ←  u − g·(∂x/∂u)⁺·x̂</a:t>
            </a:r>
          </a:p>
          <a:p>
            <a:pPr marL="594360" indent="-137160">
              <a:spcAft>
                <a:spcPts val="500"/>
              </a:spcAft>
            </a:pPr>
            <a:r>
              <a:rPr sz="1300" b="0">
                <a:solidFill>
                  <a:srgbClr val="6E6E6E"/>
                </a:solidFill>
                <a:latin typeface="Arial"/>
              </a:rPr>
              <a:t>–  BLUE: weighted least squares with a ridge on the segment state; an integrator closes the rigid-body loop each frame.</a:t>
            </a:r>
          </a:p>
        </p:txBody>
      </p:sp>
      <p:sp>
        <p:nvSpPr>
          <p:cNvPr id="5" name="TextBox 4"/>
          <p:cNvSpPr txBox="1"/>
          <p:nvPr/>
        </p:nvSpPr>
        <p:spPr>
          <a:xfrm>
            <a:off x="411480" y="5628894"/>
            <a:ext cx="11368735" cy="274320"/>
          </a:xfrm>
          <a:prstGeom prst="rect">
            <a:avLst/>
          </a:prstGeom>
          <a:noFill/>
        </p:spPr>
        <p:txBody>
          <a:bodyPr wrap="square">
            <a:spAutoFit/>
          </a:bodyPr>
          <a:lstStyle/>
          <a:p>
            <a:pPr>
              <a:spcAft>
                <a:spcPts val="600"/>
              </a:spcAft>
            </a:pPr>
            <a:r>
              <a:rPr sz="1050" b="0">
                <a:solidFill>
                  <a:srgbClr val="6E6E6E"/>
                </a:solidFill>
                <a:latin typeface="Arial"/>
              </a:rPr>
              <a:t>Notation as in the code: run_sensitivities builds the J families; the MET stage scores layouts on the trace merit; the simulator runs the BLUE estimator and integrator — and jacobian_check re-pokes the engine against every J before it is trusted.</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physical-optics model: wavefront to field to contrast</a:t>
            </a:r>
          </a:p>
          <a:p>
            <a:pPr>
              <a:spcAft>
                <a:spcPts val="0"/>
              </a:spcAft>
            </a:pPr>
            <a:r>
              <a:rPr sz="1250" b="0">
                <a:solidFill>
                  <a:srgbClr val="6E6E6E"/>
                </a:solidFill>
                <a:latin typeface="Arial"/>
              </a:rPr>
              <a:t>The same engine — every plane PROPER-checked, every coating checked against the Fresnel closed forms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From rays to fields:   E  =  A·e^(−i·2πw/λ)   at each pupil;   plane to plane   E′ = F⁻¹[ e^(−iπλΔz·f²) F[E] ] ;   to a focal plane   E_focal ∝ F[E]</a:t>
            </a:r>
          </a:p>
          <a:p>
            <a:pPr marL="594360" indent="-137160">
              <a:spcAft>
                <a:spcPts val="500"/>
              </a:spcAft>
            </a:pPr>
            <a:r>
              <a:rPr sz="1300" b="0">
                <a:solidFill>
                  <a:srgbClr val="6E6E6E"/>
                </a:solidFill>
                <a:latin typeface="Arial"/>
              </a:rPr>
              <a:t>–  the ray-traced OPD w and aperture A seed the grid; Fresnel / angular-spectrum kernels carry it through apodizer, focal-plane mask, Lyot stop and field stop — the masks act on the field, plane by plane.</a:t>
            </a:r>
          </a:p>
          <a:p>
            <a:pPr>
              <a:spcAft>
                <a:spcPts val="600"/>
              </a:spcAft>
            </a:pPr>
            <a:r>
              <a:rPr sz="1500" b="0">
                <a:solidFill>
                  <a:srgbClr val="282828"/>
                </a:solidFill>
                <a:latin typeface="Arial"/>
              </a:rPr>
              <a:t>•  The image and the score:   I = |E|² ;   contrast C = ⟨ I / I₀,peak ⟩ over the 3–15 λ/D dark zone</a:t>
            </a:r>
          </a:p>
          <a:p>
            <a:pPr marL="594360" indent="-137160">
              <a:spcAft>
                <a:spcPts val="500"/>
              </a:spcAft>
            </a:pPr>
            <a:r>
              <a:rPr sz="1300" b="0">
                <a:solidFill>
                  <a:srgbClr val="6E6E6E"/>
                </a:solidFill>
                <a:latin typeface="Arial"/>
              </a:rPr>
              <a:t>–  Strehl-normalized to the bare unmasked peak; one grid and one normalization for Jacobian, control and scoring.</a:t>
            </a:r>
          </a:p>
          <a:p>
            <a:pPr>
              <a:spcAft>
                <a:spcPts val="600"/>
              </a:spcAft>
            </a:pPr>
            <a:r>
              <a:rPr sz="1500" b="0">
                <a:solidFill>
                  <a:srgbClr val="282828"/>
                </a:solidFill>
                <a:latin typeface="Arial"/>
              </a:rPr>
              <a:t>•  The field Jacobian, from repeated propagations:   G(:,k) = [ E(a+δeₖ) − E(a) ] / δ   →   Δa = −( Re(GᴴG) + λI )⁻¹ Re(GᴴE)</a:t>
            </a:r>
          </a:p>
          <a:p>
            <a:pPr marL="594360" indent="-137160">
              <a:spcAft>
                <a:spcPts val="500"/>
              </a:spcAft>
            </a:pPr>
            <a:r>
              <a:rPr sz="1300" b="0">
                <a:solidFill>
                  <a:srgbClr val="6E6E6E"/>
                </a:solidFill>
                <a:latin typeface="Arial"/>
              </a:rPr>
              <a:t>–  every column is one full-chain propagation with actuator k poked; the EFC step is Tikhonov, line-searched against measured contrast — and re-linearized about the dug state as the hole deepens.</a:t>
            </a:r>
          </a:p>
          <a:p>
            <a:pPr>
              <a:spcAft>
                <a:spcPts val="600"/>
              </a:spcAft>
            </a:pPr>
            <a:r>
              <a:rPr sz="1500" b="0">
                <a:solidFill>
                  <a:srgbClr val="282828"/>
                </a:solidFill>
                <a:latin typeface="Arial"/>
              </a:rPr>
              <a:t>•  Polarization:   at each surface  E → ( r_s ŝŝᵀ + r_p p̂p̂ᵀ )·E  (multilayer coatings by the Airy recursion);  vector diffraction propagates Ex, Ey, Ez as three planes;  the Jones pupil J(u,v) yields diattenuation and retardance maps</a:t>
            </a:r>
          </a:p>
          <a:p>
            <a:pPr marL="594360" indent="-137160">
              <a:spcAft>
                <a:spcPts val="500"/>
              </a:spcAft>
            </a:pPr>
            <a:r>
              <a:rPr sz="1300" b="0">
                <a:solidFill>
                  <a:srgbClr val="6E6E6E"/>
                </a:solidFill>
                <a:latin typeface="Arial"/>
              </a:rPr>
              <a:t>–  the machinery behind the interferometer demo and the coated-train contrast floors.</a:t>
            </a:r>
          </a:p>
        </p:txBody>
      </p:sp>
      <p:sp>
        <p:nvSpPr>
          <p:cNvPr id="5" name="TextBox 4"/>
          <p:cNvSpPr txBox="1"/>
          <p:nvPr/>
        </p:nvSpPr>
        <p:spPr>
          <a:xfrm>
            <a:off x="411480" y="5427218"/>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exp(+iωt) time dependence, so phase = −2πw/λ.  Anchors: PROPER station by station at 10⁻¹¹–10⁻¹³; coatings against Born &amp; Wolf / Abelès at 10⁻¹²–10⁻¹⁴; published protected-Al Mueller data at ~10⁻¹⁴.</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rcRect l="29400" r="29400" t="4200" b="5900"/>
          <a:stretch>
            <a:fillRect/>
          </a:stretch>
        </p:blipFill>
        <p:spPr>
          <a:xfrm>
            <a:off x="7315200" y="1298448"/>
            <a:ext cx="4114800" cy="5477256"/>
          </a:xfrm>
          <a:prstGeom prst="rect">
            <a:avLst/>
          </a:prstGeom>
        </p:spPr>
      </p:pic>
      <p:sp>
        <p:nvSpPr>
          <p:cNvPr id="6" name="TextBox 5"/>
          <p:cNvSpPr txBox="1"/>
          <p:nvPr/>
        </p:nvSpPr>
        <p:spPr>
          <a:xfrm>
            <a:off x="5148072" y="4517136"/>
            <a:ext cx="2514600" cy="1054608"/>
          </a:xfrm>
          <a:prstGeom prst="rect">
            <a:avLst/>
          </a:prstGeom>
          <a:noFill/>
        </p:spPr>
        <p:txBody>
          <a:bodyPr wrap="square">
            <a:spAutoFit/>
          </a:bodyPr>
          <a:lstStyle/>
          <a:p>
            <a:pPr algn="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M2-M3,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M2-M3,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a:t>
            </a:r>
          </a:p>
          <a:p>
            <a:pPr>
              <a:spcAft>
                <a:spcPts val="600"/>
              </a:spcAft>
            </a:pPr>
            <a:r>
              <a:rPr sz="1500" b="0">
                <a:solidFill>
                  <a:srgbClr val="282828"/>
                </a:solidFill>
                <a:latin typeface="Arial"/>
              </a:rPr>
              <a:t>•  DM Jacobians use the same form: dw/dDM.</a:t>
            </a:r>
          </a:p>
        </p:txBody>
      </p:sp>
      <p:sp>
        <p:nvSpPr>
          <p:cNvPr id="7" name="TextBox 6"/>
          <p:cNvSpPr txBox="1"/>
          <p:nvPr/>
        </p:nvSpPr>
        <p:spPr>
          <a:xfrm>
            <a:off x="411480" y="6163056"/>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Digging the dark hole: the overnight restart ladder</a:t>
            </a:r>
          </a:p>
          <a:p>
            <a:pPr>
              <a:spcAft>
                <a:spcPts val="0"/>
              </a:spcAft>
            </a:pPr>
            <a:r>
              <a:rPr sz="1250" b="0">
                <a:solidFill>
                  <a:srgbClr val="6E6E6E"/>
                </a:solidFill>
                <a:latin typeface="Arial"/>
              </a:rPr>
              <a:t>1.2×10⁻⁶ → 1.1×10⁻⁹ — three decades from restart scheduling alone; no new hardware, no new physics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recipe: EFC to a floor, relinearize about the dug state, restart at that floor — rinse and repeat.  Ten digging rounds, ~4 h unattended, on the d = 1.10 m two-DM variant — the spacing study's best linear substrate; three stall rounds then prove the plateau.</a:t>
            </a:r>
          </a:p>
          <a:p>
            <a:pPr>
              <a:spcAft>
                <a:spcPts val="600"/>
              </a:spcAft>
            </a:pPr>
            <a:r>
              <a:rPr sz="1800" b="0">
                <a:solidFill>
                  <a:srgbClr val="282828"/>
                </a:solidFill>
                <a:latin typeface="Arial"/>
              </a:rPr>
              <a:t>•  The controller was the bottleneck, measured: a single linearization stalls at 9.0×10⁻⁷; every restart bought another step down.  DM strokes end at 33 nm rms, well inside the 50 nm budget.</a:t>
            </a:r>
          </a:p>
          <a:p>
            <a:pPr>
              <a:spcAft>
                <a:spcPts val="600"/>
              </a:spcAft>
            </a:pPr>
            <a:r>
              <a:rPr sz="1800" b="0">
                <a:solidFill>
                  <a:srgbClr val="282828"/>
                </a:solidFill>
                <a:latin typeface="Arial"/>
              </a:rPr>
              <a:t>•  The remaining 1.5 decades are priced: re-measured at every dug state, the linear-achievable floor holds at 2–4×10⁻¹¹ — HWO-class 5×10⁻¹¹ is within this substrate's reach.  The plateau at 1.1×10⁻⁹ is the monotone Tikhonov step rule: the measured case for FALCO-grade step control on this same model.</a:t>
            </a:r>
          </a:p>
        </p:txBody>
      </p:sp>
      <p:pic>
        <p:nvPicPr>
          <p:cNvPr id="5" name="Picture 4" descr="fig_cf3d_ladder.png"/>
          <p:cNvPicPr>
            <a:picLocks noChangeAspect="1"/>
          </p:cNvPicPr>
          <p:nvPr/>
        </p:nvPicPr>
        <p:blipFill>
          <a:blip r:embed="rId2"/>
          <a:stretch>
            <a:fillRect/>
          </a:stretch>
        </p:blipFill>
        <p:spPr>
          <a:xfrm>
            <a:off x="6400800" y="1298448"/>
            <a:ext cx="5394960" cy="3637305"/>
          </a:xfrm>
          <a:prstGeom prst="rect">
            <a:avLst/>
          </a:prstGeom>
        </p:spPr>
      </p:pic>
      <p:sp>
        <p:nvSpPr>
          <p:cNvPr id="6" name="TextBox 5"/>
          <p:cNvSpPr txBox="1"/>
          <p:nvPr/>
        </p:nvSpPr>
        <p:spPr>
          <a:xfrm>
            <a:off x="6400800" y="49540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ladder: measured dark-zone floor by restart round, with the linear-achievable substrate re-measured at every dug state.</a:t>
            </a:r>
          </a:p>
        </p:txBody>
      </p:sp>
      <p:sp>
        <p:nvSpPr>
          <p:cNvPr id="7" name="TextBox 6"/>
          <p:cNvSpPr txBox="1"/>
          <p:nvPr/>
        </p:nvSpPr>
        <p:spPr>
          <a:xfrm>
            <a:off x="6400800" y="538482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CF3d stage — checkpointed and resumable; every round is a finished floor.</a:t>
            </a:r>
          </a:p>
        </p:txBody>
      </p:sp>
      <p:sp>
        <p:nvSpPr>
          <p:cNvPr id="8" name="TextBox 7"/>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dig, station by station</a:t>
            </a:r>
          </a:p>
          <a:p>
            <a:pPr>
              <a:spcAft>
                <a:spcPts val="0"/>
              </a:spcAft>
            </a:pPr>
            <a:r>
              <a:rPr sz="1250" b="0">
                <a:solidFill>
                  <a:srgbClr val="6E6E6E"/>
                </a:solidFill>
                <a:latin typeface="Arial"/>
              </a:rPr>
              <a:t>Intensity at seven internal planes — the DM commands visibly do the gap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f3d_stations_wide.png"/>
          <p:cNvPicPr>
            <a:picLocks noChangeAspect="1"/>
          </p:cNvPicPr>
          <p:nvPr/>
        </p:nvPicPr>
        <p:blipFill>
          <a:blip r:embed="rId2"/>
          <a:stretch>
            <a:fillRect/>
          </a:stretch>
        </p:blipFill>
        <p:spPr>
          <a:xfrm>
            <a:off x="1544429" y="1298448"/>
            <a:ext cx="9102837" cy="2257552"/>
          </a:xfrm>
          <a:prstGeom prst="rect">
            <a:avLst/>
          </a:prstGeom>
        </p:spPr>
      </p:pic>
      <p:sp>
        <p:nvSpPr>
          <p:cNvPr id="5" name="TextBox 4"/>
          <p:cNvSpPr txBox="1"/>
          <p:nvPr/>
        </p:nvSpPr>
        <p:spPr>
          <a:xfrm>
            <a:off x="411480" y="3574288"/>
            <a:ext cx="11368735" cy="394208"/>
          </a:xfrm>
          <a:prstGeom prst="rect">
            <a:avLst/>
          </a:prstGeom>
          <a:noFill/>
        </p:spPr>
        <p:txBody>
          <a:bodyPr wrap="square">
            <a:spAutoFit/>
          </a:bodyPr>
          <a:lstStyle/>
          <a:p>
            <a:pPr algn="ctr">
              <a:spcAft>
                <a:spcPts val="0"/>
              </a:spcAft>
            </a:pPr>
            <a:r>
              <a:rPr sz="1000" b="0">
                <a:solidFill>
                  <a:srgbClr val="6E6E6E"/>
                </a:solidFill>
                <a:latin typeface="Arial"/>
              </a:rPr>
              <a:t>Seven planes, DMs flat (top row) against the dug state (bottom): pupil, apodizer, focal plane before and after the occulter, Lyot plane before and after the stop, science-plane contrast.  The dug row ends in the full 3–15 λ/D annular dark hole at the 10⁻⁹ floor; the in-walk dark-zone means reproduce the scored record exactly.</a:t>
            </a:r>
          </a:p>
        </p:txBody>
      </p:sp>
      <p:sp>
        <p:nvSpPr>
          <p:cNvPr id="6" name="TextBox 5"/>
          <p:cNvSpPr txBox="1"/>
          <p:nvPr/>
        </p:nvSpPr>
        <p:spPr>
          <a:xfrm>
            <a:off x="411480" y="4005072"/>
            <a:ext cx="11368735" cy="274320"/>
          </a:xfrm>
          <a:prstGeom prst="rect">
            <a:avLst/>
          </a:prstGeom>
          <a:noFill/>
        </p:spPr>
        <p:txBody>
          <a:bodyPr wrap="square">
            <a:spAutoFit/>
          </a:bodyPr>
          <a:lstStyle/>
          <a:p>
            <a:pPr>
              <a:spcAft>
                <a:spcPts val="600"/>
              </a:spcAft>
            </a:pPr>
            <a:r>
              <a:rPr sz="1500" b="0">
                <a:solidFill>
                  <a:srgbClr val="282828"/>
                </a:solidFill>
                <a:latin typeface="Arial"/>
              </a:rPr>
              <a:t>•  DM1's command map imprints the hex-gap lattice — the controller is doing the gap-and-edge work the apodizer was bought for, actuator by actuator, at 33 nm rms; a no-apodizer A/B to price the throughput trade is the scoped follow-on.</a:t>
            </a:r>
          </a:p>
          <a:p>
            <a:pPr>
              <a:spcAft>
                <a:spcPts val="600"/>
              </a:spcAft>
            </a:pPr>
            <a:r>
              <a:rPr sz="1500" b="0">
                <a:solidFill>
                  <a:srgbClr val="282828"/>
                </a:solidFill>
                <a:latin typeface="Arial"/>
              </a:rPr>
              <a:t>•  The 0.90 Lyot stop removes only ~0.1% of the post-occulter energy — this train's rejected light is interior gap structure, not edge rings, so the Lyot radius is not where the suppression happens.</a:t>
            </a:r>
          </a:p>
        </p:txBody>
      </p:sp>
      <p:pic>
        <p:nvPicPr>
          <p:cNvPr id="7" name="Picture 6" descr="fig_cf3d_dm_state.png"/>
          <p:cNvPicPr>
            <a:picLocks noChangeAspect="1"/>
          </p:cNvPicPr>
          <p:nvPr/>
        </p:nvPicPr>
        <p:blipFill>
          <a:blip r:embed="rId3"/>
          <a:stretch>
            <a:fillRect/>
          </a:stretch>
        </p:blipFill>
        <p:spPr>
          <a:xfrm>
            <a:off x="4763617" y="5312664"/>
            <a:ext cx="2664460" cy="1188720"/>
          </a:xfrm>
          <a:prstGeom prst="rect">
            <a:avLst/>
          </a:prstGeom>
        </p:spPr>
      </p:pic>
      <p:sp>
        <p:nvSpPr>
          <p:cNvPr id="8" name="TextBox 7"/>
          <p:cNvSpPr txBox="1"/>
          <p:nvPr/>
        </p:nvSpPr>
        <p:spPr>
          <a:xfrm>
            <a:off x="411480" y="6501384"/>
            <a:ext cx="11368735" cy="274320"/>
          </a:xfrm>
          <a:prstGeom prst="rect">
            <a:avLst/>
          </a:prstGeom>
          <a:noFill/>
        </p:spPr>
        <p:txBody>
          <a:bodyPr wrap="square">
            <a:spAutoFit/>
          </a:bodyPr>
          <a:lstStyle/>
          <a:p>
            <a:pPr>
              <a:spcAft>
                <a:spcPts val="600"/>
              </a:spcAft>
            </a:pPr>
            <a:r>
              <a:rPr sz="1050" b="0">
                <a:solidFill>
                  <a:srgbClr val="6E6E6E"/>
                </a:solidFill>
                <a:latin typeface="Arial"/>
              </a:rPr>
              <a:t>The CTB documentation model — intensity at key planes, compact-vs-full — applied to the observatory train: same station layout, the two columns now DMs-flat vs dug.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JWST-class drift on the dug dark hole: open loop decays 4.5 decades in a day — the loop holds 2×10⁻⁹</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series starts at the new solution — frame one reproduces the dug floor (1.134 vs 1.133×10⁻⁹, a built-in gate) — and runs a random disturbance: a 10 nm/hr correlated drift ramp plus a 0.5 nm-per-step walk, 24 hours at 30-minute frames.</a:t>
            </a:r>
          </a:p>
          <a:p>
            <a:pPr>
              <a:spcAft>
                <a:spcPts val="600"/>
              </a:spcAft>
            </a:pPr>
            <a:r>
              <a:rPr sz="1600" b="0">
                <a:solidFill>
                  <a:srgbClr val="282828"/>
                </a:solidFill>
                <a:latin typeface="Arial"/>
              </a:rPr>
              <a:t>•  Open loop, DMs frozen at the dug state: 1.1×10⁻⁹ → 3.9×10⁻⁵.  The first decade is lost to the first nanometre of drift — at 10⁻⁹, continuous control is not optional.</a:t>
            </a:r>
          </a:p>
          <a:p>
            <a:pPr>
              <a:spcAft>
                <a:spcPts val="600"/>
              </a:spcAft>
            </a:pPr>
            <a:r>
              <a:rPr sz="1600" b="0">
                <a:solidFill>
                  <a:srgbClr val="282828"/>
                </a:solidFill>
                <a:latin typeface="Arial"/>
              </a:rPr>
              <a:t>•  Closed loop: the rigid-body loop senses through the designed metrology and holds the segment state at 1.2 nm against 23 nm of accumulated drift; a guarded EFC hold — one damped step per hour about the dug-state Jacobian, 25 steps taken, none reverted — keeps the dark zone at ~2×10⁻⁹ for the full day.</a:t>
            </a:r>
          </a:p>
          <a:p>
            <a:pPr>
              <a:spcAft>
                <a:spcPts val="600"/>
              </a:spcAft>
            </a:pPr>
            <a:r>
              <a:rPr sz="1600" b="0">
                <a:solidFill>
                  <a:srgbClr val="282828"/>
                </a:solidFill>
                <a:latin typeface="Arial"/>
              </a:rPr>
              <a:t>•  The disturbance interface is the point: the same channels ingest dynamical- and thermal-model time histories — simulating performance in the space environment.</a:t>
            </a:r>
          </a:p>
        </p:txBody>
      </p:sp>
      <p:pic>
        <p:nvPicPr>
          <p:cNvPr id="5" name="Picture 4" descr="fig_cf5b_jwst.png"/>
          <p:cNvPicPr>
            <a:picLocks noChangeAspect="1"/>
          </p:cNvPicPr>
          <p:nvPr/>
        </p:nvPicPr>
        <p:blipFill>
          <a:blip r:embed="rId2"/>
          <a:stretch>
            <a:fillRect/>
          </a:stretch>
        </p:blipFill>
        <p:spPr>
          <a:xfrm>
            <a:off x="6629400" y="1078992"/>
            <a:ext cx="4572000" cy="4434840"/>
          </a:xfrm>
          <a:prstGeom prst="rect">
            <a:avLst/>
          </a:prstGeom>
        </p:spPr>
      </p:pic>
      <p:sp>
        <p:nvSpPr>
          <p:cNvPr id="6" name="TextBox 5"/>
          <p:cNvSpPr txBox="1"/>
          <p:nvPr/>
        </p:nvSpPr>
        <p:spPr>
          <a:xfrm>
            <a:off x="6400800" y="5513832"/>
            <a:ext cx="5394960" cy="559307"/>
          </a:xfrm>
          <a:prstGeom prst="rect">
            <a:avLst/>
          </a:prstGeom>
          <a:noFill/>
        </p:spPr>
        <p:txBody>
          <a:bodyPr wrap="square">
            <a:spAutoFit/>
          </a:bodyPr>
          <a:lstStyle/>
          <a:p>
            <a:pPr algn="ctr">
              <a:spcAft>
                <a:spcPts val="0"/>
              </a:spcAft>
            </a:pPr>
            <a:r>
              <a:rPr sz="1000" b="0">
                <a:solidFill>
                  <a:srgbClr val="6E6E6E"/>
                </a:solidFill>
                <a:latin typeface="Arial"/>
              </a:rPr>
              <a:t>Twenty-four hours random drift, both passes starting from the dug dark hole: segment rigid-body state, exit-pupil wavefront, and science-plane contrast — open loop against closed.</a:t>
            </a:r>
          </a:p>
        </p:txBody>
      </p:sp>
      <p:sp>
        <p:nvSpPr>
          <p:cNvPr id="7" name="TextBox 6"/>
          <p:cNvSpPr txBox="1"/>
          <p:nvPr/>
        </p:nvSpPr>
        <p:spPr>
          <a:xfrm>
            <a:off x="6400800" y="6108192"/>
            <a:ext cx="5394960" cy="274320"/>
          </a:xfrm>
          <a:prstGeom prst="rect">
            <a:avLst/>
          </a:prstGeom>
          <a:noFill/>
        </p:spPr>
        <p:txBody>
          <a:bodyPr wrap="square">
            <a:spAutoFit/>
          </a:bodyPr>
          <a:lstStyle/>
          <a:p>
            <a:pPr>
              <a:spcAft>
                <a:spcPts val="600"/>
              </a:spcAft>
            </a:pPr>
            <a:r>
              <a:rPr sz="1200" b="0">
                <a:solidFill>
                  <a:srgbClr val="6E6E6E"/>
                </a:solidFill>
                <a:latin typeface="Arial"/>
              </a:rPr>
              <a:t>Record: templates/80_end_to_end/e2e6m_r2, CF5b stage — d=1.10 deck, G = the ladder's dug-state Jacobian.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agent asks: what buys the last decade?</a:t>
            </a:r>
          </a:p>
          <a:p>
            <a:pPr>
              <a:spcAft>
                <a:spcPts val="0"/>
              </a:spcAft>
            </a:pPr>
            <a:r>
              <a:rPr sz="1250" b="0">
                <a:solidFill>
                  <a:srgbClr val="6E6E6E"/>
                </a:solidFill>
                <a:latin typeface="Arial"/>
              </a:rPr>
              <a:t>For coronagraph folks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Our EFC restart ladder walled at 1.1×10⁻⁹ against a measured 3.5×10⁻¹¹ substrate — the step rule was the binder, not the optics.  What buys the last decade and a half in your experience: β-bump schedules, per-mode regularization, constrained strokes?</a:t>
            </a:r>
          </a:p>
          <a:p>
            <a:pPr marL="594360" indent="-137160">
              <a:spcAft>
                <a:spcPts val="500"/>
              </a:spcAft>
            </a:pPr>
            <a:r>
              <a:rPr sz="1300" b="0">
                <a:solidFill>
                  <a:srgbClr val="6E6E6E"/>
                </a:solidFill>
                <a:latin typeface="Arial"/>
              </a:rPr>
              <a:t>–  Control ≡ truth in these runs — the no-knowledge-error regime HCIT calls "optimal regularization"; estimation and gain-map knowledge errors are the next phase.</a:t>
            </a:r>
          </a:p>
          <a:p>
            <a:pPr>
              <a:spcAft>
                <a:spcPts val="600"/>
              </a:spcAft>
            </a:pPr>
            <a:r>
              <a:rPr sz="1500" b="0">
                <a:solidFill>
                  <a:srgbClr val="282828"/>
                </a:solidFill>
                <a:latin typeface="Arial"/>
              </a:rPr>
              <a:t>•  The apodizer's real purchase measured as stroke economy: the same 10⁻¹¹-class substrate costs 33 nm of DM stroke apodized and microns bare, at 8× the throughput.  Do micron-stroke amplitude solutions survive real hardware?</a:t>
            </a:r>
          </a:p>
        </p:txBody>
      </p:sp>
      <p:sp>
        <p:nvSpPr>
          <p:cNvPr id="5" name="TextBox 4"/>
          <p:cNvSpPr txBox="1"/>
          <p:nvPr/>
        </p:nvSpPr>
        <p:spPr>
          <a:xfrm>
            <a:off x="411480" y="3410458"/>
            <a:ext cx="11368735" cy="274320"/>
          </a:xfrm>
          <a:prstGeom prst="rect">
            <a:avLst/>
          </a:prstGeom>
          <a:noFill/>
        </p:spPr>
        <p:txBody>
          <a:bodyPr wrap="square">
            <a:spAutoFit/>
          </a:bodyPr>
          <a:lstStyle/>
          <a:p>
            <a:pPr>
              <a:spcAft>
                <a:spcPts val="600"/>
              </a:spcAft>
            </a:pPr>
            <a:r>
              <a:rPr sz="1050" b="0">
                <a:solidFill>
                  <a:srgbClr val="6E6E6E"/>
                </a:solidFill>
                <a:latin typeface="Arial"/>
              </a:rPr>
              <a:t>Genuine question — the agent is live and will follow up.</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ask: a field-box width, anywhere in 5–15°.  The prediction, stated before the solve: interpolated from the committed frontier rows.</a:t>
            </a:r>
          </a:p>
          <a:p>
            <a:pPr>
              <a:spcAft>
                <a:spcPts val="600"/>
              </a:spcAft>
            </a:pPr>
            <a:r>
              <a:rPr sz="1600" b="0">
                <a:solidFill>
                  <a:srgbClr val="282828"/>
                </a:solidFill>
                <a:latin typeface="Arial"/>
              </a:rPr>
              <a:t>•  The pre-run rehearsal of the default ask (12°): predicted 33.7 nm; solved 33.6 nm — 1.00× — at a 24.9 mm clearance floor, both checks pass, in 15 minutes.</a:t>
            </a:r>
          </a:p>
          <a:p>
            <a:pPr>
              <a:spcAft>
                <a:spcPts val="600"/>
              </a:spcAft>
            </a:pPr>
            <a:r>
              <a:rPr sz="1600" b="0">
                <a:solidFill>
                  <a:srgbClr val="282828"/>
                </a:solidFill>
                <a:latin typeface="Arial"/>
              </a:rPr>
              <a:t>•  The run is deterministic to every printed digit, and every ask is a genuine continuation step — never a re-score of a stored design.</a:t>
            </a:r>
          </a:p>
        </p:txBody>
      </p:sp>
      <p:pic>
        <p:nvPicPr>
          <p:cNvPr id="5" name="Picture 4" descr="crop_oi_demo_12deg_layout.png"/>
          <p:cNvPicPr>
            <a:picLocks noChangeAspect="1"/>
          </p:cNvPicPr>
          <p:nvPr/>
        </p:nvPicPr>
        <p:blipFill>
          <a:blip r:embed="rId2"/>
          <a:stretch>
            <a:fillRect/>
          </a:stretch>
        </p:blipFill>
        <p:spPr>
          <a:xfrm>
            <a:off x="7168896" y="1298448"/>
            <a:ext cx="3520440" cy="5102352"/>
          </a:xfrm>
          <a:prstGeom prst="rect">
            <a:avLst/>
          </a:prstGeom>
        </p:spPr>
      </p:pic>
      <p:sp>
        <p:nvSpPr>
          <p:cNvPr id="6" name="TextBox 5"/>
          <p:cNvSpPr txBox="1"/>
          <p:nvPr/>
        </p:nvSpPr>
        <p:spPr>
          <a:xfrm>
            <a:off x="6400800" y="6016752"/>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3635124" y="3995928"/>
            <a:ext cx="2294375" cy="2011680"/>
          </a:xfrm>
          <a:prstGeom prst="rect">
            <a:avLst/>
          </a:prstGeom>
        </p:spPr>
      </p:pic>
      <p:sp>
        <p:nvSpPr>
          <p:cNvPr id="8" name="TextBox 7"/>
          <p:cNvSpPr txBox="1"/>
          <p:nvPr/>
        </p:nvSpPr>
        <p:spPr>
          <a:xfrm>
            <a:off x="530352" y="6007608"/>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machine's result verified?</a:t>
            </a:r>
          </a:p>
          <a:p>
            <a:pPr marL="594360" indent="-137160">
              <a:spcAft>
                <a:spcPts val="500"/>
              </a:spcAft>
            </a:pPr>
            <a:r>
              <a:rPr sz="1300" b="0">
                <a:solidFill>
                  <a:srgbClr val="6E6E6E"/>
                </a:solidFill>
                <a:latin typeface="Arial"/>
              </a:rPr>
              <a:t>–  Regression checks with negative controls</a:t>
            </a:r>
          </a:p>
          <a:p>
            <a:pPr marL="594360" indent="-137160">
              <a:spcAft>
                <a:spcPts val="500"/>
              </a:spcAft>
            </a:pPr>
            <a:r>
              <a:rPr sz="1300" b="0">
                <a:solidFill>
                  <a:srgbClr val="6E6E6E"/>
                </a:solidFill>
                <a:latin typeface="Arial"/>
              </a:rPr>
              <a:t>–  Cross-checks with established results, codes, hardware experience</a:t>
            </a:r>
          </a:p>
          <a:p>
            <a:pPr marL="594360" indent="-137160">
              <a:spcAft>
                <a:spcPts val="500"/>
              </a:spcAft>
            </a:pPr>
            <a:r>
              <a:rPr sz="1300" b="0">
                <a:solidFill>
                  <a:srgbClr val="6E6E6E"/>
                </a:solidFill>
                <a:latin typeface="Arial"/>
              </a:rPr>
              <a:t>–  Layout renders read against every claim — the checks caught the errors shown today.</a:t>
            </a:r>
          </a:p>
          <a:p>
            <a:pPr>
              <a:spcAft>
                <a:spcPts val="600"/>
              </a:spcAft>
            </a:pPr>
            <a:r>
              <a:rPr sz="1500" b="0">
                <a:solidFill>
                  <a:srgbClr val="282828"/>
                </a:solidFill>
                <a:latin typeface="Arial"/>
              </a:rPr>
              <a:t>•  Where does the human rule?</a:t>
            </a:r>
          </a:p>
          <a:p>
            <a:pPr marL="594360" indent="-137160">
              <a:spcAft>
                <a:spcPts val="500"/>
              </a:spcAft>
            </a:pPr>
            <a:r>
              <a:rPr sz="1300" b="0">
                <a:solidFill>
                  <a:srgbClr val="6E6E6E"/>
                </a:solidFill>
                <a:latin typeface="Arial"/>
              </a:rPr>
              <a:t>–  People pilot the AI – setting the problem, providing experience based prompts, catching obvious errors</a:t>
            </a:r>
          </a:p>
          <a:p>
            <a:pPr marL="594360" indent="-137160">
              <a:spcAft>
                <a:spcPts val="500"/>
              </a:spcAft>
            </a:pPr>
            <a:r>
              <a:rPr sz="1300" b="0">
                <a:solidFill>
                  <a:srgbClr val="6E6E6E"/>
                </a:solidFill>
                <a:latin typeface="Arial"/>
              </a:rPr>
              <a:t>–  Constraints, metrics, and every outward claim —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4456938"/>
            <a:ext cx="11368735" cy="274320"/>
          </a:xfrm>
          <a:prstGeom prst="rect">
            <a:avLst/>
          </a:prstGeom>
          <a:noFill/>
        </p:spPr>
        <p:txBody>
          <a:bodyPr wrap="square">
            <a:spAutoFit/>
          </a:bodyPr>
          <a:lstStyle/>
          <a:p>
            <a:pPr>
              <a:spcAft>
                <a:spcPts val="600"/>
              </a:spcAft>
            </a:pPr>
            <a:r>
              <a:rPr sz="1050" b="0">
                <a:solidFill>
                  <a:srgbClr val="6E6E6E"/>
                </a:solidFill>
                <a:latin typeface="Arial"/>
              </a:rPr>
              <a:t>Offered as discussion questions, not settled doctrine — the next slide takes one of them to architecture.</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agent asks, last: could conventions ship as data?</a:t>
            </a:r>
          </a:p>
          <a:p>
            <a:pPr>
              <a:spcAft>
                <a:spcPts val="0"/>
              </a:spcAft>
            </a:pPr>
            <a:r>
              <a:rPr sz="1250" b="0">
                <a:solidFill>
                  <a:srgbClr val="6E6E6E"/>
                </a:solidFill>
                <a:latin typeface="Arial"/>
              </a:rPr>
              <a:t>The largest error class an AI produced in months of optical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sign of a radius; which reference sphere a number is quoted against.  Nothing cost this agent — or its human reviewers — more error than conventions, and today the answers live in manuals.  Could the macro/API layer serve them as data — let a program, or an AI, ask the design which convention a number is in, instead of inferring it?</a:t>
            </a:r>
          </a:p>
          <a:p>
            <a:pPr>
              <a:spcAft>
                <a:spcPts val="600"/>
              </a:spcAft>
            </a:pPr>
            <a:r>
              <a:rPr sz="1500" b="0">
                <a:solidFill>
                  <a:srgbClr val="282828"/>
                </a:solidFill>
                <a:latin typeface="Arial"/>
              </a:rPr>
              <a:t>•  The agent's other questions were asked where they arose: basins and merit scaling, the afocal family and its unexplained decenter effect, the testbed's last decade.  All are genuine — answers relayed in the room reach it live.</a:t>
            </a:r>
          </a:p>
        </p:txBody>
      </p:sp>
      <p:sp>
        <p:nvSpPr>
          <p:cNvPr id="5" name="TextBox 4"/>
          <p:cNvSpPr txBox="1"/>
          <p:nvPr/>
        </p:nvSpPr>
        <p:spPr>
          <a:xfrm>
            <a:off x="411480" y="2853690"/>
            <a:ext cx="11368735" cy="274320"/>
          </a:xfrm>
          <a:prstGeom prst="rect">
            <a:avLst/>
          </a:prstGeom>
          <a:noFill/>
        </p:spPr>
        <p:txBody>
          <a:bodyPr wrap="square">
            <a:spAutoFit/>
          </a:bodyPr>
          <a:lstStyle/>
          <a:p>
            <a:pPr>
              <a:spcAft>
                <a:spcPts val="600"/>
              </a:spcAft>
            </a:pPr>
            <a:r>
              <a:rPr sz="1050" b="0">
                <a:solidFill>
                  <a:srgbClr val="6E6E6E"/>
                </a:solidFill>
                <a:latin typeface="Arial"/>
              </a:rPr>
              <a:t>These are the questions this work earned; the next slides are what we would recommend.</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Discussion: where should the agent sit?</a:t>
            </a:r>
          </a:p>
          <a:p>
            <a:pPr>
              <a:spcAft>
                <a:spcPts val="0"/>
              </a:spcAft>
            </a:pPr>
            <a:r>
              <a:rPr sz="1250" b="0">
                <a:solidFill>
                  <a:srgbClr val="6E6E6E"/>
                </a:solidFill>
                <a:latin typeface="Arial"/>
              </a:rPr>
              <a:t>Three modes — two exercised by these studies, one open — and the boundary between them is the question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2000" b="0">
                <a:solidFill>
                  <a:srgbClr val="282828"/>
                </a:solidFill>
                <a:latin typeface="Arial"/>
              </a:rPr>
              <a:t>•  A · The compiled tool, no agent — what ships: versioned, regression-tested, inspectable, and it runs unattended.  But measured on a cold user, the docs alone did not carry them.</a:t>
            </a:r>
          </a:p>
          <a:p>
            <a:pPr>
              <a:spcAft>
                <a:spcPts val="600"/>
              </a:spcAft>
            </a:pPr>
            <a:r>
              <a:rPr sz="2000" b="0">
                <a:solidFill>
                  <a:srgbClr val="282828"/>
                </a:solidFill>
                <a:latin typeface="Arial"/>
              </a:rPr>
              <a:t>•  B · An agent alongside the tool — what these studies did: it found and fixed the conceptual defects in hours and chose what was worth compiling.  Its knowledge is current — but not versioned with the tool.</a:t>
            </a:r>
          </a:p>
          <a:p>
            <a:pPr>
              <a:spcAft>
                <a:spcPts val="600"/>
              </a:spcAft>
            </a:pPr>
            <a:r>
              <a:rPr sz="2000" b="0">
                <a:solidFill>
                  <a:srgbClr val="282828"/>
                </a:solidFill>
                <a:latin typeface="Arial"/>
              </a:rPr>
              <a:t>•  C · A helper embedded in the tool — the open question: advice at the moment of use, catching the failure class that was documented and still fatal.</a:t>
            </a:r>
          </a:p>
          <a:p>
            <a:pPr>
              <a:spcAft>
                <a:spcPts val="600"/>
              </a:spcAft>
            </a:pPr>
            <a:r>
              <a:rPr sz="2000" b="0">
                <a:solidFill>
                  <a:srgbClr val="282828"/>
                </a:solidFill>
                <a:latin typeface="Arial"/>
              </a:rPr>
              <a:t>•  Shapes for C, in increasing authority:  agent-readable state (the user's own assistant drives the tool); a failure-triage assistant (fires on a failed check, returns a diagnosis and a next command); a policy assistant inside hard limits (chooses schedules and targets; the code enforces limits and logs every choice).</a:t>
            </a:r>
          </a:p>
          <a:p>
            <a:pPr>
              <a:spcAft>
                <a:spcPts val="600"/>
              </a:spcAft>
            </a:pPr>
            <a:r>
              <a:rPr sz="2000" b="0">
                <a:solidFill>
                  <a:srgbClr val="282828"/>
                </a:solidFill>
                <a:latin typeface="Arial"/>
              </a:rPr>
              <a:t>•  At any level, tier the agents: an orchestrator plans and delegates bounded tasks; the committed records — not any agent's memory — are the shared memory.</a:t>
            </a:r>
          </a:p>
        </p:txBody>
      </p:sp>
      <p:sp>
        <p:nvSpPr>
          <p:cNvPr id="5" name="TextBox 4"/>
          <p:cNvSpPr txBox="1"/>
          <p:nvPr/>
        </p:nvSpPr>
        <p:spPr>
          <a:xfrm>
            <a:off x="411480" y="6117336"/>
            <a:ext cx="11365992"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Measured: the tool alone did not carry a new user; an agent alongside it closed every gap — and most of what it learned is now in the tool, as checks and defaults.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If you asked us: AI around CODE V and LightTools</a:t>
            </a:r>
          </a:p>
          <a:p>
            <a:pPr>
              <a:spcAft>
                <a:spcPts val="0"/>
              </a:spcAft>
            </a:pPr>
            <a:r>
              <a:rPr sz="1250" b="0">
                <a:solidFill>
                  <a:srgbClr val="6E6E6E"/>
                </a:solidFill>
                <a:latin typeface="Arial"/>
              </a:rPr>
              <a:t>Add it around the optics, not in them — every claim below is measured, not speculative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Make the tools agent-readable first — state, results, warnings and docs as structured data through the existing macro/API surface.  Every user's assistant then attaches today, and the vendor ships no intelligence at all.  This whole talk ran in that mode.</a:t>
            </a:r>
          </a:p>
          <a:p>
            <a:pPr>
              <a:spcAft>
                <a:spcPts val="600"/>
              </a:spcAft>
            </a:pPr>
            <a:r>
              <a:rPr sz="1800" b="0">
                <a:solidFill>
                  <a:srgbClr val="282828"/>
                </a:solidFill>
                <a:latin typeface="Arial"/>
              </a:rPr>
              <a:t>•  Ship the conventions as data.  The largest defect class our agent found was conventions — the sign of a radius, DAR versus a coordinate break, which reference sphere a number is quoted against.  Make them queryable and the dominant error source disappears for humans and agents alike.</a:t>
            </a:r>
          </a:p>
          <a:p>
            <a:pPr>
              <a:spcAft>
                <a:spcPts val="600"/>
              </a:spcAft>
            </a:pPr>
            <a:r>
              <a:rPr sz="1800" b="0">
                <a:solidFill>
                  <a:srgbClr val="282828"/>
                </a:solidFill>
                <a:latin typeface="Arial"/>
              </a:rPr>
              <a:t>•  Embed a failure-triage assistant first — it wakes on a failed trace or a stalled solve, reads the saved state, and returns one line of diagnosis plus a next command the person runs.  Our stalled solve was a finite-difference step reading the gradient 17% low: a one-line answer sitting in state the tool already had.</a:t>
            </a:r>
          </a:p>
          <a:p>
            <a:pPr>
              <a:spcAft>
                <a:spcPts val="600"/>
              </a:spcAft>
            </a:pPr>
            <a:r>
              <a:rPr sz="1800" b="0">
                <a:solidFill>
                  <a:srgbClr val="282828"/>
                </a:solidFill>
                <a:latin typeface="Arial"/>
              </a:rPr>
              <a:t>•  Put the agent in the search, never in the numerics — starting points and basins (a warm-started walk beat the cold start 8500×); variable-set audits (35% of a metric unclaimed because one freedom was never offered); optimization schedules (a restart ladder dug the dark hole 1.2×10⁻⁶ → 1.1×10⁻⁹ overnight); tolerancing and glass searches.</a:t>
            </a:r>
          </a:p>
          <a:p>
            <a:pPr>
              <a:spcAft>
                <a:spcPts val="600"/>
              </a:spcAft>
            </a:pPr>
            <a:r>
              <a:rPr sz="1800" b="0">
                <a:solidFill>
                  <a:srgbClr val="282828"/>
                </a:solidFill>
                <a:latin typeface="Arial"/>
              </a:rPr>
              <a:t>•  Ship the trust machinery with it: every AI action a readable, replayable script — never an opaque state mutation; every proposal a before/after check with negative controls; the assistant's knowledge versioned with the release.</a:t>
            </a:r>
          </a:p>
        </p:txBody>
      </p:sp>
      <p:sp>
        <p:nvSpPr>
          <p:cNvPr id="5" name="TextBox 4"/>
          <p:cNvSpPr txBox="1"/>
          <p:nvPr/>
        </p:nvSpPr>
        <p:spPr>
          <a:xfrm>
            <a:off x="411480" y="6263640"/>
            <a:ext cx="11365992" cy="274320"/>
          </a:xfrm>
          <a:prstGeom prst="rect">
            <a:avLst/>
          </a:prstGeom>
          <a:noFill/>
        </p:spPr>
        <p:txBody>
          <a:bodyPr wrap="square">
            <a:spAutoFit/>
          </a:bodyPr>
          <a:lstStyle/>
          <a:p>
            <a:pPr>
              <a:spcAft>
                <a:spcPts val="600"/>
              </a:spcAft>
            </a:pPr>
            <a:r>
              <a:rPr sz="1050" b="0">
                <a:solidFill>
                  <a:srgbClr val="6E6E6E"/>
                </a:solidFill>
                <a:latin typeface="Arial"/>
              </a:rPr>
              <a:t>The agent proposes; the trusted engine disposes.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
        <p:nvSpPr>
          <p:cNvPr id="7" name="TextBox 6"/>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
        <p:nvSpPr>
          <p:cNvPr id="7" name="TextBox 6"/>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
        <p:nvSpPr>
          <p:cNvPr id="7" name="TextBox 6"/>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
        <p:nvSpPr>
          <p:cNvPr id="10" name="TextBox 9"/>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
        <p:nvSpPr>
          <p:cNvPr id="10" name="TextBox 9"/>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
        <p:nvSpPr>
          <p:cNvPr id="10" name="TextBox 9"/>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