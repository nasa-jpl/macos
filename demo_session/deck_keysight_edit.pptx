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many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flight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matches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2734252"/>
                <a:gridCol w="1870804"/>
                <a:gridCol w="2158620"/>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centroid</a:t>
                      </a:r>
                    </a:p>
                  </a:txBody>
                  <a:tcPr marL="54864" marR="54864" marT="18288" marB="18288">
                    <a:solidFill>
                      <a:srgbClr val="1F4E79"/>
                    </a:solidFill>
                  </a:tcPr>
                </a:tc>
                <a:tc>
                  <a:txBody>
                    <a:bodyPr wrap="square"/>
                    <a:lstStyle/>
                    <a:p>
                      <a:r>
                        <a:rPr sz="1100" b="1">
                          <a:solidFill>
                            <a:srgbClr val="FFFFFF"/>
                          </a:solidFill>
                          <a:latin typeface="Arial"/>
                        </a:rPr>
                        <a:t>(chief)</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(672.9 / 390.9)</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(173.4 / 95.1)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(176.7 / 94.7)</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(115.9 / 56.9)</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(100.5 / 54.4)</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centroid reference primary, chief in parentheses.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tretch>
            <a:fillRect/>
          </a:stretch>
        </p:blipFill>
        <p:spPr>
          <a:xfrm>
            <a:off x="1684384" y="3348989"/>
            <a:ext cx="3260631" cy="2348992"/>
          </a:xfrm>
          <a:prstGeom prst="rect">
            <a:avLst/>
          </a:prstGeom>
        </p:spPr>
      </p:pic>
      <p:sp>
        <p:nvSpPr>
          <p:cNvPr id="6" name="TextBox 5"/>
          <p:cNvSpPr txBox="1"/>
          <p:nvPr/>
        </p:nvSpPr>
        <p:spPr>
          <a:xfrm>
            <a:off x="411480" y="5716269"/>
            <a:ext cx="5806440" cy="394208"/>
          </a:xfrm>
          <a:prstGeom prst="rect">
            <a:avLst/>
          </a:prstGeom>
          <a:noFill/>
        </p:spPr>
        <p:txBody>
          <a:bodyPr wrap="square">
            <a:spAutoFit/>
          </a:bodyPr>
          <a:lstStyle/>
          <a:p>
            <a:pPr algn="ctr">
              <a:spcAft>
                <a:spcPts val="0"/>
              </a:spcAft>
            </a:pPr>
            <a:r>
              <a:rPr sz="100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147053"/>
            <a:ext cx="5806440" cy="274320"/>
          </a:xfrm>
          <a:prstGeom prst="rect">
            <a:avLst/>
          </a:prstGeom>
          <a:noFill/>
        </p:spPr>
        <p:txBody>
          <a:bodyPr wrap="square">
            <a:spAutoFit/>
          </a:bodyPr>
          <a:lstStyle/>
          <a:p>
            <a:pPr>
              <a:spcAft>
                <a:spcPts val="600"/>
              </a:spcAft>
            </a:pPr>
            <a:r>
              <a:rPr sz="105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10184" y="3348989"/>
            <a:ext cx="3376190" cy="2440432"/>
          </a:xfrm>
          <a:prstGeom prst="rect">
            <a:avLst/>
          </a:prstGeom>
        </p:spPr>
      </p:pic>
      <p:sp>
        <p:nvSpPr>
          <p:cNvPr id="9" name="TextBox 8"/>
          <p:cNvSpPr txBox="1"/>
          <p:nvPr/>
        </p:nvSpPr>
        <p:spPr>
          <a:xfrm>
            <a:off x="6400800" y="5807709"/>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2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2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tretch>
            <a:fillRect/>
          </a:stretch>
        </p:blipFill>
        <p:spPr>
          <a:xfrm>
            <a:off x="6400800" y="1298448"/>
            <a:ext cx="5394960" cy="3521514"/>
          </a:xfrm>
          <a:prstGeom prst="rect">
            <a:avLst/>
          </a:prstGeom>
        </p:spPr>
      </p:pic>
      <p:sp>
        <p:nvSpPr>
          <p:cNvPr id="6" name="TextBox 5"/>
          <p:cNvSpPr txBox="1"/>
          <p:nvPr/>
        </p:nvSpPr>
        <p:spPr>
          <a:xfrm>
            <a:off x="6400800" y="4838250"/>
            <a:ext cx="5394960" cy="394208"/>
          </a:xfrm>
          <a:prstGeom prst="rect">
            <a:avLst/>
          </a:prstGeom>
          <a:noFill/>
        </p:spPr>
        <p:txBody>
          <a:bodyPr wrap="square">
            <a:spAutoFit/>
          </a:bodyPr>
          <a:lstStyle/>
          <a:p>
            <a:pPr algn="ctr">
              <a:spcAft>
                <a:spcPts val="0"/>
              </a:spcAft>
            </a:pPr>
            <a:r>
              <a:rPr sz="1000" b="0">
                <a:solidFill>
                  <a:srgbClr val="6E6E6E"/>
                </a:solidFill>
                <a:latin typeface="Arial"/>
              </a:rPr>
              <a:t>The metrology on the observatory: 24 elements, 114 MET beams to the aft launcher station.</a:t>
            </a:r>
          </a:p>
        </p:txBody>
      </p:sp>
      <p:sp>
        <p:nvSpPr>
          <p:cNvPr id="7" name="TextBox 6"/>
          <p:cNvSpPr txBox="1"/>
          <p:nvPr/>
        </p:nvSpPr>
        <p:spPr>
          <a:xfrm>
            <a:off x="6400800" y="5269034"/>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559307"/>
          </a:xfrm>
          <a:prstGeom prst="rect">
            <a:avLst/>
          </a:prstGeom>
          <a:noFill/>
        </p:spPr>
        <p:txBody>
          <a:bodyPr wrap="square">
            <a:spAutoFit/>
          </a:bodyPr>
          <a:lstStyle/>
          <a:p>
            <a:pPr algn="ctr">
              <a:spcAft>
                <a:spcPts val="0"/>
              </a:spcAft>
            </a:pPr>
            <a:r>
              <a:rPr sz="1000" b="0">
                <a:solidFill>
                  <a:srgbClr val="6E6E6E"/>
                </a:solidFill>
                <a:latin typeface="Arial"/>
              </a:rPr>
              <a:t>Two of the 192 channels: the centre segment (E1) and an outer-ring segment (E8), x-rotation.  For each: the channel at the coronagraph's own field (centre — the coronagraph is narrow-field, and its stops vignette the corners), then the same channel on the imaging leg — the full-field instrument — across all five fields (centre + 4 corners).  Piston removed; 1–99% color scale.</a:t>
            </a:r>
          </a:p>
        </p:txBody>
      </p:sp>
      <p:sp>
        <p:nvSpPr>
          <p:cNvPr id="6" name="TextBox 5"/>
          <p:cNvSpPr txBox="1"/>
          <p:nvPr/>
        </p:nvSpPr>
        <p:spPr>
          <a:xfrm>
            <a:off x="411480" y="4645151"/>
            <a:ext cx="11368735" cy="274320"/>
          </a:xfrm>
          <a:prstGeom prst="rect">
            <a:avLst/>
          </a:prstGeom>
          <a:noFill/>
        </p:spPr>
        <p:txBody>
          <a:bodyPr wrap="square">
            <a:spAutoFit/>
          </a:bodyPr>
          <a:lstStyle/>
          <a:p>
            <a:pPr>
              <a:spcAft>
                <a:spcPts val="600"/>
              </a:spcAft>
            </a:pPr>
            <a:r>
              <a:rPr sz="1500" b="0">
                <a:solidFill>
                  <a:srgbClr val="282828"/>
                </a:solidFill>
                <a:latin typeface="Arial"/>
              </a:rPr>
              <a:t>•  192 channels: six rigid-body DOFs for every optic — the 19 segments, both DMs, the 8 OAPs — plus the whole primary as one rigid group, five fields each, stacked into the control Jacobian.  The response lives on the moved segment's footprint and walks with field.  The coronagraph works the centre field only — its stops own the corners; the imaging leg sees the full box.</a:t>
            </a:r>
          </a:p>
        </p:txBody>
      </p:sp>
      <p:sp>
        <p:nvSpPr>
          <p:cNvPr id="7" name="TextBox 6"/>
          <p:cNvSpPr txBox="1"/>
          <p:nvPr/>
        </p:nvSpPr>
        <p:spPr>
          <a:xfrm>
            <a:off x="411480" y="5812535"/>
            <a:ext cx="11368735" cy="274320"/>
          </a:xfrm>
          <a:prstGeom prst="rect">
            <a:avLst/>
          </a:prstGeom>
          <a:noFill/>
        </p:spPr>
        <p:txBody>
          <a:bodyPr wrap="square">
            <a:spAutoFit/>
          </a:bodyPr>
          <a:lstStyle/>
          <a:p>
            <a:pPr>
              <a:spcAft>
                <a:spcPts val="600"/>
              </a:spcAft>
            </a:pPr>
            <a:r>
              <a:rPr sz="1050" b="0">
                <a:solidFill>
                  <a:srgbClr val="6E6E6E"/>
                </a:solidFill>
                <a:latin typeface="Arial"/>
              </a:rPr>
              <a:t>Harvest on r1_seg_prop.in, the deck the simulator propagates; per-field FEX reset; closure gated by jacobian_check.  Record: templates/80_end_to_end/e2e6m_r2.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554629" y="1298448"/>
            <a:ext cx="11082436" cy="2897632"/>
          </a:xfrm>
          <a:prstGeom prst="rect">
            <a:avLst/>
          </a:prstGeom>
        </p:spPr>
      </p:pic>
      <p:sp>
        <p:nvSpPr>
          <p:cNvPr id="5" name="TextBox 4"/>
          <p:cNvSpPr txBox="1"/>
          <p:nvPr/>
        </p:nvSpPr>
        <p:spPr>
          <a:xfrm>
            <a:off x="411480" y="4214367"/>
            <a:ext cx="11368735" cy="394208"/>
          </a:xfrm>
          <a:prstGeom prst="rect">
            <a:avLst/>
          </a:prstGeom>
          <a:noFill/>
        </p:spPr>
        <p:txBody>
          <a:bodyPr wrap="square">
            <a:spAutoFit/>
          </a:bodyPr>
          <a:lstStyle/>
          <a:p>
            <a:pPr algn="ctr">
              <a:spcAft>
                <a:spcPts val="0"/>
              </a:spcAft>
            </a:pPr>
            <a:r>
              <a:rPr sz="1000" b="0">
                <a:solidFill>
                  <a:srgbClr val="6E6E6E"/>
                </a:solidFill>
                <a:latin typeface="Arial"/>
              </a:rPr>
              <a:t>Two of the 152 channels: segments E1 and E8, MonZernike mode 4 — the coronagraph-field channel, then the imaging-leg channel across all five fields.  Piston removed; 1–99% color scale.</a:t>
            </a:r>
          </a:p>
        </p:txBody>
      </p:sp>
      <p:sp>
        <p:nvSpPr>
          <p:cNvPr id="6" name="TextBox 5"/>
          <p:cNvSpPr txBox="1"/>
          <p:nvPr/>
        </p:nvSpPr>
        <p:spPr>
          <a:xfrm>
            <a:off x="411480" y="4645151"/>
            <a:ext cx="11368735" cy="274320"/>
          </a:xfrm>
          <a:prstGeom prst="rect">
            <a:avLst/>
          </a:prstGeom>
          <a:noFill/>
        </p:spPr>
        <p:txBody>
          <a:bodyPr wrap="square">
            <a:spAutoFit/>
          </a:bodyPr>
          <a:lstStyle/>
          <a:p>
            <a:pPr>
              <a:spcAft>
                <a:spcPts val="600"/>
              </a:spcAft>
            </a:pPr>
            <a:r>
              <a:rPr sz="1500" b="0">
                <a:solidFill>
                  <a:srgbClr val="282828"/>
                </a:solidFill>
                <a:latin typeface="Arial"/>
              </a:rPr>
              <a:t>•  152 channels: MonZernike figure modes 4–11 on each of the 19 segments — the low-order surface deformations a segment can carry — five fields each.  Each channel is confined to its own segment; the mode shape is visible at a glance.</a:t>
            </a:r>
          </a:p>
        </p:txBody>
      </p:sp>
      <p:sp>
        <p:nvSpPr>
          <p:cNvPr id="7" name="TextBox 6"/>
          <p:cNvSpPr txBox="1"/>
          <p:nvPr/>
        </p:nvSpPr>
        <p:spPr>
          <a:xfrm>
            <a:off x="411480" y="5317236"/>
            <a:ext cx="11368735" cy="274320"/>
          </a:xfrm>
          <a:prstGeom prst="rect">
            <a:avLst/>
          </a:prstGeom>
          <a:noFill/>
        </p:spPr>
        <p:txBody>
          <a:bodyPr wrap="square">
            <a:spAutoFit/>
          </a:bodyPr>
          <a:lstStyle/>
          <a:p>
            <a:pPr>
              <a:spcAft>
                <a:spcPts val="600"/>
              </a:spcAft>
            </a:pPr>
            <a:r>
              <a:rPr sz="1050" b="0">
                <a:solidFill>
                  <a:srgbClr val="6E6E6E"/>
                </a:solidFill>
                <a:latin typeface="Arial"/>
              </a:rPr>
              <a:t>Same harvest, metric and gates as dw/dx.  Record: templates/80_end_to_end/e2e6m_r2.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segment-influence channels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411480" y="1298448"/>
            <a:ext cx="11368735" cy="3009371"/>
          </a:xfrm>
          <a:prstGeom prst="rect">
            <a:avLst/>
          </a:prstGeom>
        </p:spPr>
      </p:pic>
      <p:sp>
        <p:nvSpPr>
          <p:cNvPr id="5" name="TextBox 4"/>
          <p:cNvSpPr txBox="1"/>
          <p:nvPr/>
        </p:nvSpPr>
        <p:spPr>
          <a:xfrm>
            <a:off x="411480" y="4326107"/>
            <a:ext cx="11368735" cy="229107"/>
          </a:xfrm>
          <a:prstGeom prst="rect">
            <a:avLst/>
          </a:prstGeom>
          <a:noFill/>
        </p:spPr>
        <p:txBody>
          <a:bodyPr wrap="square">
            <a:spAutoFit/>
          </a:bodyPr>
          <a:lstStyle/>
          <a:p>
            <a:pPr algn="ctr">
              <a:spcAft>
                <a:spcPts val="0"/>
              </a:spcAft>
            </a:pPr>
            <a:r>
              <a:rPr sz="1000" b="0">
                <a:solidFill>
                  <a:srgbClr val="6E6E6E"/>
                </a:solidFill>
                <a:latin typeface="Arial"/>
              </a:rPr>
              <a:t>Two of the 114 channels: segments E1 and E8, grid mode 4 — the coronagraph-field channel, then the imaging-leg channel across all five fields.  Piston removed; 1–99% color scale.</a:t>
            </a:r>
          </a:p>
        </p:txBody>
      </p:sp>
      <p:sp>
        <p:nvSpPr>
          <p:cNvPr id="6" name="TextBox 5"/>
          <p:cNvSpPr txBox="1"/>
          <p:nvPr/>
        </p:nvSpPr>
        <p:spPr>
          <a:xfrm>
            <a:off x="411480" y="4591791"/>
            <a:ext cx="11368735" cy="274320"/>
          </a:xfrm>
          <a:prstGeom prst="rect">
            <a:avLst/>
          </a:prstGeom>
          <a:noFill/>
        </p:spPr>
        <p:txBody>
          <a:bodyPr wrap="square">
            <a:spAutoFit/>
          </a:bodyPr>
          <a:lstStyle/>
          <a:p>
            <a:pPr>
              <a:spcAft>
                <a:spcPts val="600"/>
              </a:spcAft>
            </a:pPr>
            <a:r>
              <a:rPr sz="1500" b="0">
                <a:solidFill>
                  <a:srgbClr val="282828"/>
                </a:solidFill>
                <a:latin typeface="Arial"/>
              </a:rPr>
              <a:t>•  114 channels: six grid-basis influence shapes per segment — the interface for measured influence functions and actuator maps, the same machinery the DM Jacobians use.  Together the three families stack into one Jacobian: the control basis the metrology, estimator and closed loop all share.</a:t>
            </a:r>
          </a:p>
        </p:txBody>
      </p:sp>
      <p:sp>
        <p:nvSpPr>
          <p:cNvPr id="7" name="TextBox 6"/>
          <p:cNvSpPr txBox="1"/>
          <p:nvPr/>
        </p:nvSpPr>
        <p:spPr>
          <a:xfrm>
            <a:off x="411480" y="5511525"/>
            <a:ext cx="11368735" cy="274320"/>
          </a:xfrm>
          <a:prstGeom prst="rect">
            <a:avLst/>
          </a:prstGeom>
          <a:noFill/>
        </p:spPr>
        <p:txBody>
          <a:bodyPr wrap="square">
            <a:spAutoFit/>
          </a:bodyPr>
          <a:lstStyle/>
          <a:p>
            <a:pPr>
              <a:spcAft>
                <a:spcPts val="600"/>
              </a:spcAft>
            </a:pPr>
            <a:r>
              <a:rPr sz="1050" b="0">
                <a:solidFill>
                  <a:srgbClr val="6E6E6E"/>
                </a:solidFill>
                <a:latin typeface="Arial"/>
              </a:rPr>
              <a:t>Same harvest, metric and gates as dw/dx.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