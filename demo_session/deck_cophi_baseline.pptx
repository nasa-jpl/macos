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same scoring:</a:t>
            </a:r>
            <a:r>
              <a:rPr sz="1200" b="0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 t="3660" b="2840"/>
          <a:stretch>
            <a:fillRect/>
          </a:stretch>
        </p:blipFill>
        <p:spPr>
          <a:xfrm>
            <a:off x="914400" y="1408176"/>
            <a:ext cx="999439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37160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103120"/>
            <a:ext cx="4343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7).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828"/>
                <a:gridCol w="1533107"/>
                <a:gridCol w="6094103"/>
                <a:gridCol w="20696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9); LO/test ~1, contrast 0.98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13)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14); the record's loop at the camera's cadence; two colors from cold (slides 16–17)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424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Ruling:</a:t>
            </a:r>
            <a:r>
              <a:rPr sz="1400" b="0">
                <a:solidFill>
                  <a:srgbClr val="282828"/>
                </a:solidFill>
                <a:latin typeface="Arial"/>
              </a:rPr>
              <a:t> every mode we care about (EFC probes included) runs at full actuator resolution — so the second implementation is a per-pixel demodulating reading at ≥ 1 element per actuator, assumed to exist.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Lock-in</a:t>
            </a:r>
            <a:r>
              <a:rPr sz="1400" b="0">
                <a:solidFill>
                  <a:srgbClr val="282828"/>
                </a:solidFill>
                <a:latin typeface="Arial"/>
              </a:rPr>
              <a:t> = synchronous detection inside each pixel: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photocurrent is multiplied by the beat reference and by its 90°-shifted copy, and integrated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stores are I = I₀γ cos φ (in-phase) and Q = I₀γ sin φ (quadrature) — not intensities; φ = atan2(Q, I)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DC term never reaches the well; I and Q leave at the frame rate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400" b="0">
                <a:solidFill>
                  <a:srgbClr val="282828"/>
                </a:solidFill>
                <a:latin typeface="Arial"/>
              </a:rPr>
              <a:t> Heliotis heliCam C4 / C4M — 542 × 512 (1024 × 1102), lock-in 1–250 kHz, 500 ke⁻ well, 2 × 10-bit I/Q, external reference; one vendor, four generations.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also ranked: 128² CMOS at 20–40 kfps, time-of-flight demodulators, digital-pixel ROICs, coherent photonic arrays; not fit: SPAD / Geiger arrays (count-rate ceilings)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8" cy="3817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5745"/>
                <a:gridCol w="840420"/>
                <a:gridCol w="3388793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(in-phase / quadrature)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57.9 / 61.1 pm per 1 ms sample, mirror / lens (63 / 66 at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lens; 4.0 / 4.4 at 100 e⁻ read); ×1.23 in time for the two-tap square wave;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at 2.5 × 10⁹); analytic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0624" y="484632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lock-in is ~12× the Photonfocus and ~110× Feng's baseline.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 well-free device (continuous, or I/Q ≥ 10 kHz) at 2.5 × 10⁹ e⁻/s per element: ~18 pm per sample, ~0.34 s per pm — 10× better again; that is what the vendor question decides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Questions for the vendor:</a:t>
            </a:r>
            <a:r>
              <a:rPr sz="1400" b="0">
                <a:solidFill>
                  <a:srgbClr val="282828"/>
                </a:solidFill>
                <a:latin typeface="Arial"/>
              </a:rPr>
              <a:t> phase noise per pixel vs flux at t_c = 100 ms, and whether the full well bounds each internal 1 MSa/s sample or the 5.6 kSa/s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the lock-in detector works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pixel sorts its photoelectrons into two storage nodes by a square-wave reference at the beat frequency; the node difference IS the lock-in product, formed before any readout — Feng's four-step inside the pixel, integrated over thousands of cycles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id.png"/>
          <p:cNvPicPr>
            <a:picLocks noChangeAspect="1"/>
          </p:cNvPicPr>
          <p:nvPr/>
        </p:nvPicPr>
        <p:blipFill>
          <a:blip r:embed="rId2"/>
          <a:srcRect l="840" t="3790" b="4730"/>
          <a:stretch>
            <a:fillRect/>
          </a:stretch>
        </p:blipFill>
        <p:spPr>
          <a:xfrm>
            <a:off x="411480" y="1188720"/>
            <a:ext cx="11365992" cy="46817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870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reference:</a:t>
            </a:r>
            <a:r>
              <a:rPr sz="1200" b="0">
                <a:solidFill>
                  <a:srgbClr val="282828"/>
                </a:solidFill>
                <a:latin typeface="Arial"/>
              </a:rPr>
              <a:t> a square wave at the beat f_b = |f₁ − f₂| (5 kHz), locked to the AOMs through the Rb clock, fed to the camera's reference input — one clock; software does only atan2(Q, 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870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frame 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N cycles per sample, not a quarter cycle; the DC cancels in the difference (does it fill the nodes? vendor question 2); the square wave costs ×1.11 in σ (eq. 6).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6565392"/>
            <a:ext cx="7452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make_cophi_lid_fig.py; the pixel is CSEM's demodulation pixel (Lange &amp; Seitz 2001), the heliCam's "dual-phase lock-in".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laser, fibers, LO and bench; the beat moves to 5 kHz and goes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 t="3010" b="2600"/>
          <a:stretch>
            <a:fillRect/>
          </a:stretch>
        </p:blipFill>
        <p:spPr>
          <a:xfrm>
            <a:off x="740664" y="1106424"/>
            <a:ext cx="10296144" cy="5614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720" y="1115568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trigger chain becomes the 5 kHz reference to the pixels' gates; the camera is one pixel's chain (slide 6) ending in the sensor's ADCs — digital I/Q out to a GigE receiver; atan2(Q, I) per sample.  Fiber, LO, loop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2103120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661111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pixel chain's inputs and outputs are slide 6's.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1152144"/>
            <a:ext cx="11585448" cy="36484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57200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phase is kept (referred to the bucket center ᾱ_k); the amplitude shrinks by sinc(π/4) = </a:t>
            </a:r>
            <a:r>
              <a:rPr sz="1050" b="1">
                <a:solidFill>
                  <a:srgbClr val="6E6E6E"/>
                </a:solidFill>
                <a:latin typeface="Arial"/>
              </a:rPr>
              <a:t>0.900</a:t>
            </a:r>
            <a:r>
              <a:rPr sz="1050" b="0">
                <a:solidFill>
                  <a:srgbClr val="6E6E6E"/>
                </a:solidFill>
                <a:latin typeface="Arial"/>
              </a:rPr>
              <a:t>; nothing else changes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Phase (3):</a:t>
            </a:r>
            <a:r>
              <a:rPr sz="1200" b="0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for N = 4 it is Feng's atan2 exactly (his sign is for cos(φ + 2πft))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5720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more buckets do not cure it: an 8-bucket fit with the same step error is 1.43× worse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knowing the steps does: the fit at the true ᾱ_k is exact, and a Rb-clocked scan knows them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fiber walk or trigger jitter within a scan passes through at 0.13 of its size, with 4 or 8 buckets alike — no algorithmic 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30224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fiber tip and collimator, its powered face at the reference flat's seat, on both rigs; it registers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l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5806440" cy="1906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222834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Lens rig from above: source arm red (fiber tip at left, collimator L1); LO leg purple, from its fiber tip (right) through the LO collimator at the reference flat's seat to the beamsplitter; test arm to the DM blue;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1871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 collimator's own wavefront, frozen into the null as the IFO freezes its reference; its motion is the LO-drift row (slide 14)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</a:p>
        </p:txBody>
      </p:sp>
      <p:pic>
        <p:nvPicPr>
          <p:cNvPr id="7" name="Picture 6" descr="cophi_layout_o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353" y="1298448"/>
            <a:ext cx="4591853" cy="2183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50062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Mirror rig from above: source arm red; LO leg purple, from its fiber tip (right) through the LO collimator at the reference flat's seat to the beamsplitter; test arm to the DM blue; camera leg green (OAP1 collimates, OAP2 focuses)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for any traced LO: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tail places the detector field by ray index, not camera position (null 681 nm by index, 0.45 nm by position) — the LO is placed by position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plain mirror train had kept a source trim solved with the polarizer plate: OAP1 fed off focus (84 nm defocus) — now trimmed to zero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and Feng's plain splitter read the same picometers (the camera is well-bound); the polarizing train costs light only (throughput 0.271 vs 0.408, ×1.5 laser).  The plain splitter is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layouts = bench_{lens,oap}_vlayout.png, the engine's own renders),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every real camera on the table samples finer (5–21 px per actuator, slide 11); what resolution buys and costs is slide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65937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888"/>
                <a:gridCol w="1313974"/>
                <a:gridCol w="1771009"/>
                <a:gridCol w="1771009"/>
                <a:gridCol w="3027854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sz="1500" b="0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measured (slide 19): 1 px per actuator fails the single-actuator row, 1.5–2 px holds at 1.6–2× the time, 3.3 and 4 are the same — 5 px per actuator is the floor on this table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nothing coarser is modeled (ruling: every mode of interest is commanded at full actuator resolution)</a:t>
            </a:r>
          </a:p>
          <a:p>
            <a:pPr marL="0" indent="0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3450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sz="1200" b="0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653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3.4 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509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792"/>
                <a:gridCol w="936580"/>
                <a:gridCol w="805130"/>
                <a:gridCol w="377918"/>
                <a:gridCol w="1232342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5388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raw single-actuator noise is mostly a common piston (165 vs 76 pm) — unobservable and inert on a DM; the composite deck puts every gauge on this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29844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15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the baseline's and the C-RED's read noise are assumed (not in Feng's deck; the survey's value unconfirmed)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15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a hold loop never needs SNR 10 in one measurement: it integrates readings (next slide)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sz="1150" b="0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sz="115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150" b="0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3583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0.125 s (3.09 pm, fiber term inert);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27"/>
                <a:gridCol w="32774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 drift is not separable from DM drift: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sz="1050" b="0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Fiber phase errors are not observable: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budget at the photon floor (mirror rig): </a:t>
            </a:r>
            <a:r>
              <a:rPr sz="1050" b="1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050" b="0">
                <a:solidFill>
                  <a:srgbClr val="6E6E6E"/>
                </a:solidFill>
                <a:latin typeface="Arial"/>
              </a:rPr>
              <a:t> — co-routed, thermally tied, or servoed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with the lock-in camera the walk is a per-sample piston: inert (record)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loop averages across cycles at gain g (steady state σ_n √(g/(2 − g)), plus M readings per cycle); in the loop the one-step and converged estimators agree to 0.1 pm on every row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 vs cycle time: what the fast cycle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At a fixed cycle time a sensor averages (cycle time ÷ seconds per pm) readings, so the hold floor is √(s_pm / T) × 0.577: the lock-in's 3.4 s per pm is 115× fewer than Feng's camera — 10.7× less noise at any cycle time; the loop records sit on the budget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hold_vs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005" y="1298448"/>
            <a:ext cx="8557685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vs loop cycle time, every sensor on the table (budget lines; circles = the mirror-rig loop records).  Right: with the record's thermal ramp (0.31 pm/s), whose lag grows with the cycle — each sensor has an optimum cycle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At 1.6 s cycles:</a:t>
            </a:r>
            <a:r>
              <a:rPr sz="1200" b="0">
                <a:solidFill>
                  <a:srgbClr val="282828"/>
                </a:solidFill>
                <a:latin typeface="Arial"/>
              </a:rPr>
              <a:t> Feng's camera 9.0 pm, Photonfocus 2.7, lock-in 0.84 (well-free 0.27); IFO 5.8, vector ZWFS 10.4 (on their polarization cameras).  Records match the law to 8 %.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852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drift rate the cycle has an optimum</a:t>
            </a:r>
            <a:r>
              <a:rPr sz="1200" b="0">
                <a:solidFill>
                  <a:srgbClr val="282828"/>
                </a:solidFill>
                <a:latin typeface="Arial"/>
              </a:rPr>
              <a:t> (right): Feng's camera 6.0 pm at 5.5 s, Photonfocus 2.7 at 2.5 s, lock-in 1.2 at 1.1 s, well-free 0.57 at 0.5 s — the fast reading holds a drift at the picometer where the slow cameras cannot.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25449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cophi_hold_vs_cycle (runs/figs_hold_vs_cycle/); seconds per pm from the records (stages noise / format / lockin; camI_oap, camS_oap); the lag from stage loop's thermal row.  A budget, no new runs.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t="3060" b="2370"/>
          <a:stretch>
            <a:fillRect/>
          </a:stretch>
        </p:blipFill>
        <p:spPr>
          <a:xfrm>
            <a:off x="731520" y="2286000"/>
            <a:ext cx="1097280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5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2880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zero wrong orders to 480 nm rms, both cameras</a:t>
            </a:r>
            <a:r>
              <a:rPr sz="1050" b="0">
                <a:solidFill>
                  <a:srgbClr val="6E6E6E"/>
                </a:solidFill>
                <a:latin typeface="Arial"/>
              </a:rPr>
              <a:t> (0.15 / 0.10 nm per pixel); one color is 74 % wrong at 480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any Δλ from 1 to ~100 nm works (the fine requirement at Δλ = 20 nm is 1.7 nm against ~0.1 nm per pixel): one rung of the synthetic-wavelength ladder is enough here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reference at a time, so the two colors alternate on I/Q samples (2 ms per pair) — zero wrong orders to 480 nm rms, 0.12 nm per pixel; temporal unwrapping at 1 kHz tolerates 158 µm/s.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418"/>
                <a:gridCol w="2001883"/>
                <a:gridCol w="2432669"/>
                <a:gridCol w="1216334"/>
                <a:gridCol w="1799161"/>
                <a:gridCol w="239826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much resolution? IFO, vector ZWFS, HET — the sweep's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Camera pixels per actuator swept at 1 / 1.5 / 2 / 3.3 / 4 for all six readings, the matrix measured through the resampled reading: 1 px fails the single-actuator row, 1.5–2 px cost 1.6–2× the time, above 3.3 nothing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ressweep_compo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478" y="1298448"/>
            <a:ext cx="6678737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at each sensor's own loop cycle; right: averaging time to 1 pm per actuator — both vs camera pixels per actuator pitch, one line per reading; shaded = the single-actuator row fails; hollow = the ZWFS on a point-sampled grid, not camera pixels.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 px per actuator fails every reading the same way:</a:t>
            </a:r>
            <a:r>
              <a:rPr sz="1200" b="0">
                <a:solidFill>
                  <a:srgbClr val="282828"/>
                </a:solidFill>
                <a:latin typeface="Arial"/>
              </a:rPr>
              <a:t> single-actuator floor 13–32 pm (from 1.2–2.6), converged gain off 0.4–0.5 %; the "wrong actuator" never happens — the fit degrades, it does not swap.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1.5–2 px holds but pays in time:</a:t>
            </a:r>
            <a:r>
              <a:rPr sz="1200" b="0">
                <a:solidFill>
                  <a:srgbClr val="282828"/>
                </a:solidFill>
                <a:latin typeface="Arial"/>
              </a:rPr>
              <a:t> HET 69–74 s per pm against 36 at 3.3 (Photonfocus); IFO 266–302 against 161; vector ZWFS 1040–1150 against 639 — 1.6–2×, because a coarser pixel INTEGRATES the fringe (the point-sampled ZWFS at 1.65, hollow, costs nothing).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Above 3.3 px nothing changes</a:t>
            </a:r>
            <a:r>
              <a:rPr sz="1200" b="0">
                <a:solidFill>
                  <a:srgbClr val="282828"/>
                </a:solidFill>
                <a:latin typeface="Arial"/>
              </a:rPr>
              <a:t> (4 = 3.3 to the digit); the records at 3.3 stand.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registration: a ±0.1-pitch shift after calibration costs gain 0.95 and a 16–18 pm floor at EVERY sampling ≥ 1.5 — the camera must stay registered to ~0.03 pitch, whatever the pixel count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lock-in's advantage survives the sweep:</a:t>
            </a:r>
            <a:r>
              <a:rPr sz="1200" b="0">
                <a:solidFill>
                  <a:srgbClr val="282828"/>
                </a:solidFill>
                <a:latin typeface="Arial"/>
              </a:rPr>
              <a:t> 3.4 / 5.4 / 6.3 s per pm at 3.3 / 2 / 1.5 px, holding 3.1 / 4.0 / 4.3 pm at 0.125 s cycles — 10× the Photonfocus at every sampling.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ressweep_run / ressweep_zrun / ressweep_figs (cophi_dm96/runs/ressweep_*, TO 2026-10-13); mechanism dmg_camres (frames box-integrated onto camera pixels, the matrix measured through them); gate tResolutionSweep 7/7.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2233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370487"/>
                <a:gridCol w="1268851"/>
                <a:gridCol w="1817116"/>
                <a:gridCol w="180458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sz="1100" b="0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sz="1100" b="1">
                <a:solidFill>
                  <a:srgbClr val="282828"/>
                </a:solidFill>
                <a:latin typeface="Arial"/>
              </a:rPr>
              <a:t>the lock-in the fastest on the table (0.125 s)</a:t>
            </a:r>
            <a:r>
              <a:rPr sz="1100" b="0">
                <a:solidFill>
                  <a:srgbClr val="282828"/>
                </a:solidFill>
                <a:latin typeface="Arial"/>
              </a:rPr>
              <a:t> if its well is as surveyed.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sz="1100" b="0">
                <a:solidFill>
                  <a:srgbClr val="282828"/>
                </a:solidFill>
                <a:latin typeface="Arial"/>
              </a:rPr>
              <a:t> COPHI in either form.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a flight DM:</a:t>
            </a:r>
            <a:r>
              <a:rPr sz="11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20–500×).  </a:t>
            </a:r>
            <a:r>
              <a:rPr sz="11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100" b="0">
                <a:solidFill>
                  <a:srgbClr val="282828"/>
                </a:solidFill>
                <a:latin typeface="Arial"/>
              </a:rPr>
              <a:t> — Zernike for the hold, COPHI's two-color read for capture and commissioning — stays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98627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its speed is set by the camera's frame rate, with the lock-in detector the clear winner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Add COPHI to the DM Gauge plan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and the piston-free photon metric for every gauge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Consider a swappable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current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the lock-in camera faster yet.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the survey against the vendor sheets before a part is named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form:</a:t>
            </a:r>
            <a:r>
              <a:rPr sz="1200" b="0">
                <a:solidFill>
                  <a:srgbClr val="282828"/>
                </a:solidFill>
                <a:latin typeface="Arial"/>
              </a:rPr>
              <a:t> 3.4 s per pm as surveyed, 0.125 s cycles.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all performance specs with the vendor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Implement 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polarization-camera timings through the noise hook (slide 18); the lock-in's demodulation form from the vendor (two-tap square-wave assumed).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tail's chromatic refocus at Δλ = 20 nm (dispersive glass in the model); the LO referenced against the test arm's own flat; parts counts and TRL for all five gauges; Kent's ZWFS reconstruction.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2004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26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70826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457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975"/>
                <a:gridCol w="4340789"/>
                <a:gridCol w="533297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023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