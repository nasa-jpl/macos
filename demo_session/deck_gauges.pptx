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jobs, and how each is scored</a:t>
            </a:r>
          </a:p>
          <a:p>
            <a:pPr>
              <a:spcAft>
                <a:spcPts val="0"/>
              </a:spcAft>
            </a:pPr>
            <a:r>
              <a:rPr sz="1250" b="0">
                <a:solidFill>
                  <a:srgbClr val="6E6E6E"/>
                </a:solidFill>
                <a:latin typeface="Arial"/>
              </a:rPr>
              <a:t>Hold the surface to picometers in a servo; capture its post-launch shape, 100-200 nm of wavefront, and bring it into the servo's reach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The working surface during every test is a random 30 nm rms shape, not a flat: the gauge never operates at null.</a:t>
            </a:r>
          </a:p>
          <a:p>
            <a:pPr>
              <a:spcAft>
                <a:spcPts val="600"/>
              </a:spcAft>
            </a:pPr>
            <a:r>
              <a:rPr sz="1200" b="0">
                <a:solidFill>
                  <a:srgbClr val="282828"/>
                </a:solidFill>
                <a:latin typeface="Arial"/>
              </a:rPr>
              <a:t>•  Hold: a change of 10 nm on one actuator, or 1 nm on 47 actuators, or a dense random 10 nm pattern, read on the 30 nm surface with the response matrix measured on it.  Then the servo: the light per cycle that holds 3 pm rms.</a:t>
            </a:r>
          </a:p>
          <a:p>
            <a:pPr>
              <a:spcAft>
                <a:spcPts val="600"/>
              </a:spcAft>
            </a:pPr>
            <a:r>
              <a:rPr sz="1200" b="0">
                <a:solidFill>
                  <a:srgbClr val="282828"/>
                </a:solidFill>
                <a:latin typeface="Arial"/>
              </a:rPr>
              <a:t>•  Capture: the largest starting surface the servo brings to 3 pm; every phase reading wraps at ±158 nm of surface (±π at 632.8 nm, double pass), so this is a wrapping problem before it is a noise problem.</a:t>
            </a:r>
          </a:p>
        </p:txBody>
      </p:sp>
      <p:graphicFrame>
        <p:nvGraphicFramePr>
          <p:cNvPr id="5" name="Table 4"/>
          <p:cNvGraphicFramePr>
            <a:graphicFrameLocks noGrp="1"/>
          </p:cNvGraphicFramePr>
          <p:nvPr/>
        </p:nvGraphicFramePr>
        <p:xfrm>
          <a:off x="6400800" y="1298448"/>
          <a:ext cx="5394959" cy="252603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434340">
                <a:tc>
                  <a:txBody>
                    <a:bodyPr wrap="square"/>
                    <a:lstStyle/>
                    <a:p>
                      <a:r>
                        <a:rPr sz="1000" b="0">
                          <a:solidFill>
                            <a:srgbClr val="282828"/>
                          </a:solidFill>
                          <a:latin typeface="Arial"/>
                        </a:rPr>
                        <a:t>hold, one number</a:t>
                      </a:r>
                    </a:p>
                  </a:txBody>
                  <a:tcPr marL="54864" marR="54864" marT="18288" marB="18288">
                    <a:solidFill>
                      <a:srgbClr val="ECF1F6"/>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ECF1F6"/>
                    </a:solidFill>
                  </a:tcPr>
                </a:tc>
              </a:tr>
            </a:tbl>
          </a:graphicData>
        </a:graphic>
      </p:graphicFrame>
      <p:sp>
        <p:nvSpPr>
          <p:cNvPr id="6" name="TextBox 5"/>
          <p:cNvSpPr txBox="1"/>
          <p:nvPr/>
        </p:nvSpPr>
        <p:spPr>
          <a:xfrm>
            <a:off x="6400800" y="3970781"/>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59675" y="1298448"/>
            <a:ext cx="5872343"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