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3 Introduction: the three jobs and how they are scored</a:t>
            </a:r>
          </a:p>
          <a:p>
            <a:pPr>
              <a:spcAft>
                <a:spcPts val="600"/>
              </a:spcAft>
            </a:pPr>
            <a:r>
              <a:rPr sz="1500" b="0">
                <a:solidFill>
                  <a:srgbClr val="282828"/>
                </a:solidFill>
                <a:latin typeface="Arial"/>
              </a:rPr>
              <a:t>•  4 The bench layout</a:t>
            </a:r>
          </a:p>
          <a:p>
            <a:pPr>
              <a:spcAft>
                <a:spcPts val="600"/>
              </a:spcAft>
            </a:pPr>
            <a:r>
              <a:rPr sz="1500" b="0">
                <a:solidFill>
                  <a:srgbClr val="282828"/>
                </a:solidFill>
                <a:latin typeface="Arial"/>
              </a:rPr>
              <a:t>•  6 Parts: the front end and the detector leg</a:t>
            </a:r>
          </a:p>
          <a:p>
            <a:pPr>
              <a:spcAft>
                <a:spcPts val="600"/>
              </a:spcAft>
            </a:pPr>
            <a:r>
              <a:rPr sz="1500" b="0">
                <a:solidFill>
                  <a:srgbClr val="282828"/>
                </a:solidFill>
                <a:latin typeface="Arial"/>
              </a:rPr>
              <a:t>•  8 Parts: the interferometer and the sensors</a:t>
            </a:r>
          </a:p>
          <a:p>
            <a:pPr>
              <a:spcAft>
                <a:spcPts val="600"/>
              </a:spcAft>
            </a:pPr>
            <a:r>
              <a:rPr sz="1500" b="0">
                <a:solidFill>
                  <a:srgbClr val="282828"/>
                </a:solidFill>
                <a:latin typeface="Arial"/>
              </a:rPr>
              <a:t>•  10 Twyman-Green interferometer</a:t>
            </a:r>
          </a:p>
          <a:p>
            <a:pPr>
              <a:spcAft>
                <a:spcPts val="600"/>
              </a:spcAft>
            </a:pPr>
            <a:r>
              <a:rPr sz="1500" b="0">
                <a:solidFill>
                  <a:srgbClr val="282828"/>
                </a:solidFill>
                <a:latin typeface="Arial"/>
              </a:rPr>
              <a:t>•  17 Zernike sensor</a:t>
            </a:r>
          </a:p>
          <a:p>
            <a:pPr>
              <a:spcAft>
                <a:spcPts val="600"/>
              </a:spcAft>
            </a:pPr>
            <a:r>
              <a:rPr sz="1500" b="0">
                <a:solidFill>
                  <a:srgbClr val="282828"/>
                </a:solidFill>
                <a:latin typeface="Arial"/>
              </a:rPr>
              <a:t>•  19 Vector Zernike sensor</a:t>
            </a:r>
          </a:p>
          <a:p>
            <a:pPr>
              <a:spcAft>
                <a:spcPts val="600"/>
              </a:spcAft>
            </a:pPr>
            <a:r>
              <a:rPr sz="1500" b="0">
                <a:solidFill>
                  <a:srgbClr val="282828"/>
                </a:solidFill>
                <a:latin typeface="Arial"/>
              </a:rPr>
              <a:t>•  22 Point-diffraction sensor</a:t>
            </a:r>
          </a:p>
          <a:p>
            <a:pPr>
              <a:spcAft>
                <a:spcPts val="600"/>
              </a:spcAft>
            </a:pPr>
            <a:r>
              <a:rPr sz="1500" b="0">
                <a:solidFill>
                  <a:srgbClr val="282828"/>
                </a:solidFill>
                <a:latin typeface="Arial"/>
              </a:rPr>
              <a:t>•  25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31 Lenses versus off-axis parabolas</a:t>
            </a:r>
          </a:p>
          <a:p>
            <a:pPr>
              <a:spcAft>
                <a:spcPts val="600"/>
              </a:spcAft>
            </a:pPr>
            <a:r>
              <a:rPr sz="1200" b="0">
                <a:solidFill>
                  <a:srgbClr val="282828"/>
                </a:solidFill>
                <a:latin typeface="Arial"/>
              </a:rPr>
              <a:t>•  32 The reflective front end and its performance</a:t>
            </a:r>
          </a:p>
          <a:p>
            <a:pPr>
              <a:spcAft>
                <a:spcPts val="600"/>
              </a:spcAft>
            </a:pPr>
            <a:r>
              <a:rPr sz="1200" b="0">
                <a:solidFill>
                  <a:srgbClr val="282828"/>
                </a:solidFill>
                <a:latin typeface="Arial"/>
              </a:rPr>
              <a:t>•  34 Comparison and recommendation</a:t>
            </a:r>
          </a:p>
          <a:p>
            <a:pPr>
              <a:spcAft>
                <a:spcPts val="600"/>
              </a:spcAft>
            </a:pPr>
            <a:r>
              <a:rPr sz="1200" b="0">
                <a:solidFill>
                  <a:srgbClr val="282828"/>
                </a:solidFill>
                <a:latin typeface="Arial"/>
              </a:rPr>
              <a:t>•  37 Measuring the complex amplitude</a:t>
            </a:r>
          </a:p>
          <a:p>
            <a:pPr>
              <a:spcAft>
                <a:spcPts val="600"/>
              </a:spcAft>
            </a:pPr>
            <a:r>
              <a:rPr sz="1200" b="0">
                <a:solidFill>
                  <a:srgbClr val="282828"/>
                </a:solidFill>
                <a:latin typeface="Arial"/>
              </a:rPr>
              <a:t>•  38 Summary and future work</a:t>
            </a:r>
          </a:p>
          <a:p>
            <a:pPr>
              <a:spcAft>
                <a:spcPts val="600"/>
              </a:spcAft>
            </a:pPr>
            <a:r>
              <a:rPr sz="1200" b="0">
                <a:solidFill>
                  <a:srgbClr val="282828"/>
                </a:solidFill>
                <a:latin typeface="Arial"/>
              </a:rPr>
              <a:t>•  44 Run it yourself</a:t>
            </a:r>
          </a:p>
          <a:p>
            <a:pPr>
              <a:spcAft>
                <a:spcPts val="600"/>
              </a:spcAft>
            </a:pPr>
            <a:r>
              <a:rPr sz="1200" b="0">
                <a:solidFill>
                  <a:srgbClr val="282828"/>
                </a:solidFill>
                <a:latin typeface="Arial"/>
              </a:rPr>
              <a:t>•  45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MgF2,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77765"/>
        </p:xfrm>
        <a:graphic>
          <a:graphicData uri="http://schemas.openxmlformats.org/drawingml/2006/table">
            <a:tbl>
              <a:tblPr firstRow="1" bandRow="1">
                <a:tableStyleId>{5C22544A-7EE6-4342-B048-85BDC9FD1C3A}</a:tableStyleId>
              </a:tblPr>
              <a:tblGrid>
                <a:gridCol w="2252980"/>
                <a:gridCol w="3029232"/>
                <a:gridCol w="2547765"/>
                <a:gridCol w="762323"/>
                <a:gridCol w="509524"/>
                <a:gridCol w="2266909"/>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845820">
                <a:tc>
                  <a:txBody>
                    <a:bodyPr wrap="square"/>
                    <a:lstStyle/>
                    <a:p>
                      <a:r>
                        <a:rPr sz="1100" b="0">
                          <a:solidFill>
                            <a:srgbClr val="282828"/>
                          </a:solidFill>
                          <a:latin typeface="Arial"/>
                        </a:rPr>
                        <a:t>vector Zernike,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vector Zernike,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r h="845820">
                <a:tc>
                  <a:txBody>
                    <a:bodyPr wrap="square"/>
                    <a:lstStyle/>
                    <a:p>
                      <a:r>
                        <a:rPr sz="1100" b="0">
                          <a:solidFill>
                            <a:srgbClr val="282828"/>
                          </a:solidFill>
                          <a:latin typeface="Arial"/>
                        </a:rPr>
                        <a:t>P/SRI (backup)</a:t>
                      </a:r>
                    </a:p>
                  </a:txBody>
                  <a:tcPr marL="54864" marR="54864" marT="18288" marB="18288">
                    <a:solidFill>
                      <a:srgbClr val="ECF1F6"/>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ECF1F6"/>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ECF1F6"/>
                    </a:solidFill>
                  </a:tcPr>
                </a:tc>
                <a:tc>
                  <a:txBody>
                    <a:bodyPr wrap="square"/>
                    <a:lstStyle/>
                    <a:p>
                      <a:r>
                        <a:rPr sz="1100" b="0">
                          <a:solidFill>
                            <a:srgbClr val="282828"/>
                          </a:solidFill>
                          <a:latin typeface="Arial"/>
                        </a:rPr>
                        <a:t>AR; protected-metal folds</a:t>
                      </a:r>
                    </a:p>
                  </a:txBody>
                  <a:tcPr marL="54864" marR="54864" marT="18288" marB="18288">
                    <a:solidFill>
                      <a:srgbClr val="ECF1F6"/>
                    </a:solidFill>
                  </a:tcPr>
                </a:tc>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own camera.  The Zernike, vector and pinhole plates share one substrate on the seat.  Full parts tables with vendors' classes are in each lane's README.  What the photonic reference is, and is not, in these numbers: the P/SRI arm's reference is modeled as the recollimated LP01 mode of a single-mode fiber, with the pickoff fraction, the coupling into the mode, and a miscalibration of the phase steps all priced.  The waveguide itself is not a traced element and the thermo-optic shifter is an ideal phase per frame, so the photonic option is costed as an ideal device on a real mode: its own loss, dispersion and thermal drift are the next thing to model, not something already in these numbers.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On the 30 nm surface, matrix measured on it: 10 nm on one actuator 0.991 / 2 pm / SNR 6076; 1 nm on 52 sites 0.990 / 1 pm; dense 10 nm 0.990, 168 pm.</a:t>
            </a:r>
          </a:p>
          <a:p>
            <a:pPr>
              <a:spcAft>
                <a:spcPts val="600"/>
              </a:spcAft>
            </a:pPr>
            <a:r>
              <a:rPr sz="15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third of a pitch at the edge on lenses and most of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402336" y="5193792"/>
            <a:ext cx="64008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314450"/>
        </p:xfrm>
        <a:graphic>
          <a:graphicData uri="http://schemas.openxmlformats.org/drawingml/2006/table">
            <a:tbl>
              <a:tblPr firstRow="1" bandRow="1">
                <a:tableStyleId>{5C22544A-7EE6-4342-B048-85BDC9FD1C3A}</a:tableStyleId>
              </a:tblPr>
              <a:tblGrid>
                <a:gridCol w="3159202"/>
                <a:gridCol w="1098853"/>
                <a:gridCol w="1136903"/>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0.13 / 0.30</a:t>
                      </a:r>
                    </a:p>
                  </a:txBody>
                  <a:tcPr marL="54864" marR="54864" marT="18288" marB="18288">
                    <a:solidFill>
                      <a:srgbClr val="FFFFFF"/>
                    </a:solidFill>
                  </a:tcPr>
                </a:tc>
                <a:tc>
                  <a:txBody>
                    <a:bodyPr wrap="square"/>
                    <a:lstStyle/>
                    <a:p>
                      <a:r>
                        <a:rPr sz="1000" b="0">
                          <a:solidFill>
                            <a:srgbClr val="282828"/>
                          </a:solidFill>
                          <a:latin typeface="Arial"/>
                        </a:rPr>
                        <a:t>0.45 / 0.85</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0.023 / 0.060</a:t>
                      </a:r>
                    </a:p>
                  </a:txBody>
                  <a:tcPr marL="54864" marR="54864" marT="18288" marB="18288">
                    <a:solidFill>
                      <a:srgbClr val="ECF1F6"/>
                    </a:solidFill>
                  </a:tcPr>
                </a:tc>
                <a:tc>
                  <a:txBody>
                    <a:bodyPr wrap="square"/>
                    <a:lstStyle/>
                    <a:p>
                      <a:r>
                        <a:rPr sz="1000" b="0">
                          <a:solidFill>
                            <a:srgbClr val="282828"/>
                          </a:solidFill>
                          <a:latin typeface="Arial"/>
                        </a:rPr>
                        <a:t>0.032 / 0.093</a:t>
                      </a:r>
                    </a:p>
                  </a:txBody>
                  <a:tcPr marL="54864" marR="54864" marT="18288" marB="18288">
                    <a:solidFill>
                      <a:srgbClr val="ECF1F6"/>
                    </a:solidFill>
                  </a:tcPr>
                </a:tc>
              </a:tr>
              <a:tr h="262890">
                <a:tc>
                  <a:txBody>
                    <a:bodyPr wrap="square"/>
                    <a:lstStyle/>
                    <a:p>
                      <a:r>
                        <a:rPr sz="1000" b="0">
                          <a:solidFill>
                            <a:srgbClr val="282828"/>
                          </a:solidFill>
                          <a:latin typeface="Arial"/>
                        </a:rPr>
                        <a:t>image surface: defocus / tilt (mm of sag)</a:t>
                      </a:r>
                    </a:p>
                  </a:txBody>
                  <a:tcPr marL="54864" marR="54864" marT="18288" marB="18288">
                    <a:solidFill>
                      <a:srgbClr val="FFFFFF"/>
                    </a:solidFill>
                  </a:tcPr>
                </a:tc>
                <a:tc>
                  <a:txBody>
                    <a:bodyPr wrap="square"/>
                    <a:lstStyle/>
                    <a:p>
                      <a:r>
                        <a:rPr sz="1000" b="0">
                          <a:solidFill>
                            <a:srgbClr val="282828"/>
                          </a:solidFill>
                          <a:latin typeface="Arial"/>
                        </a:rPr>
                        <a:t>3.8 / 0.0</a:t>
                      </a:r>
                    </a:p>
                  </a:txBody>
                  <a:tcPr marL="54864" marR="54864" marT="18288" marB="18288">
                    <a:solidFill>
                      <a:srgbClr val="FFFFFF"/>
                    </a:solidFill>
                  </a:tcPr>
                </a:tc>
                <a:tc>
                  <a:txBody>
                    <a:bodyPr wrap="square"/>
                    <a:lstStyle/>
                    <a:p>
                      <a:r>
                        <a:rPr sz="1000" b="0">
                          <a:solidFill>
                            <a:srgbClr val="282828"/>
                          </a:solidFill>
                          <a:latin typeface="Arial"/>
                        </a:rPr>
                        <a:t>-0.5 / 0.45</a:t>
                      </a:r>
                    </a:p>
                  </a:txBody>
                  <a:tcPr marL="54864" marR="54864" marT="18288" marB="18288">
                    <a:solidFill>
                      <a:srgbClr val="FFFFFF"/>
                    </a:solidFill>
                  </a:tcPr>
                </a:tc>
              </a:tr>
              <a:tr h="26289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0.16 / 0.16 λF/D</a:t>
                      </a:r>
                    </a:p>
                  </a:txBody>
                  <a:tcPr marL="54864" marR="54864" marT="18288" marB="18288">
                    <a:solidFill>
                      <a:srgbClr val="ECF1F6"/>
                    </a:solidFill>
                  </a:tcPr>
                </a:tc>
                <a:tc>
                  <a:txBody>
                    <a:bodyPr wrap="square"/>
                    <a:lstStyle/>
                    <a:p>
                      <a:r>
                        <a:rPr sz="1000" b="0">
                          <a:solidFill>
                            <a:srgbClr val="282828"/>
                          </a:solidFill>
                          <a:latin typeface="Arial"/>
                        </a:rPr>
                        <a:t>0.00 / 2.3 λF/D</a:t>
                      </a:r>
                    </a:p>
                  </a:txBody>
                  <a:tcPr marL="54864" marR="54864" marT="18288" marB="18288">
                    <a:solidFill>
                      <a:srgbClr val="ECF1F6"/>
                    </a:solidFill>
                  </a:tcPr>
                </a:tc>
              </a:tr>
            </a:tbl>
          </a:graphicData>
        </a:graphic>
      </p:graphicFrame>
      <p:sp>
        <p:nvSpPr>
          <p:cNvPr id="7" name="TextBox 6"/>
          <p:cNvSpPr txBox="1"/>
          <p:nvPr/>
        </p:nvSpPr>
        <p:spPr>
          <a:xfrm>
            <a:off x="6400800" y="2759202"/>
            <a:ext cx="5394960" cy="274320"/>
          </a:xfrm>
          <a:prstGeom prst="rect">
            <a:avLst/>
          </a:prstGeom>
          <a:noFill/>
        </p:spPr>
        <p:txBody>
          <a:bodyPr wrap="square">
            <a:spAutoFit/>
          </a:bodyPr>
          <a:lstStyle/>
          <a:p>
            <a:pPr>
              <a:spcAft>
                <a:spcPts val="600"/>
              </a:spcAft>
            </a:pPr>
            <a:r>
              <a:rPr sz="1400" b="0">
                <a:solidFill>
                  <a:srgbClr val="282828"/>
                </a:solidFill>
                <a:latin typeface="Arial"/>
              </a:rPr>
              <a:t>•  Method: the DM declared the stop; the field a tilt about it (a spatial frequency on its surface); two traces a small field step apart cross at each zone's image at the camera; scored in DM millimeters against the 1 mm pitch and the 0.4 mm pixel.</a:t>
            </a:r>
          </a:p>
          <a:p>
            <a:pPr>
              <a:spcAft>
                <a:spcPts val="600"/>
              </a:spcAft>
            </a:pPr>
            <a:r>
              <a:rPr sz="1400" b="0">
                <a:solidFill>
                  <a:srgbClr val="282828"/>
                </a:solidFill>
                <a:latin typeface="Arial"/>
              </a:rPr>
              <a:t>•  The mirror rig's focus is perfect on axis and coma-limited off it (2.3 λF/D at the actuator-band tilt); not a pupil-image or mask-sensor cost, a number to know for any off-axis reading at the seat.</a:t>
            </a:r>
          </a:p>
        </p:txBody>
      </p:sp>
      <p:sp>
        <p:nvSpPr>
          <p:cNvPr id="8" name="TextBox 7"/>
          <p:cNvSpPr txBox="1"/>
          <p:nvPr/>
        </p:nvSpPr>
        <p:spPr>
          <a:xfrm>
            <a:off x="6400800" y="5184648"/>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pupilq_lens, pupilq_oap (tg96_pupilq, model 512); tg_psi_dm96_oap/REPORT_bench_realism.md section 6.  Requested by Fang Shi.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8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is observable; the lens rig's camera is not at the pupil image, and 4 mm fixes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1223010"/>
        </p:xfrm>
        <a:graphic>
          <a:graphicData uri="http://schemas.openxmlformats.org/drawingml/2006/table">
            <a:tbl>
              <a:tblPr firstRow="1" bandRow="1">
                <a:tableStyleId>{5C22544A-7EE6-4342-B048-85BDC9FD1C3A}</a:tableStyleId>
              </a:tblPr>
              <a:tblGrid>
                <a:gridCol w="2045023"/>
                <a:gridCol w="542544"/>
                <a:gridCol w="476504"/>
                <a:gridCol w="476504"/>
                <a:gridCol w="1168584"/>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 camera as built</a:t>
                      </a:r>
                    </a:p>
                  </a:txBody>
                  <a:tcPr marL="54864" marR="54864" marT="18288" marB="18288">
                    <a:solidFill>
                      <a:srgbClr val="FFFFFF"/>
                    </a:solidFill>
                  </a:tcPr>
                </a:tc>
                <a:tc>
                  <a:txBody>
                    <a:bodyPr wrap="square"/>
                    <a:lstStyle/>
                    <a:p>
                      <a:r>
                        <a:rPr sz="1000" b="0">
                          <a:solidFill>
                            <a:srgbClr val="282828"/>
                          </a:solidFill>
                          <a:latin typeface="Arial"/>
                        </a:rPr>
                        <a:t>0.990</a:t>
                      </a:r>
                    </a:p>
                  </a:txBody>
                  <a:tcPr marL="54864" marR="54864" marT="18288" marB="18288">
                    <a:solidFill>
                      <a:srgbClr val="FFFFFF"/>
                    </a:solidFill>
                  </a:tcPr>
                </a:tc>
                <a:tc>
                  <a:txBody>
                    <a:bodyPr wrap="square"/>
                    <a:lstStyle/>
                    <a:p>
                      <a:r>
                        <a:rPr sz="1000" b="0">
                          <a:solidFill>
                            <a:srgbClr val="282828"/>
                          </a:solidFill>
                          <a:latin typeface="Arial"/>
                        </a:rPr>
                        <a:t>0.973</a:t>
                      </a:r>
                    </a:p>
                  </a:txBody>
                  <a:tcPr marL="54864" marR="54864" marT="18288" marB="18288">
                    <a:solidFill>
                      <a:srgbClr val="FFFFFF"/>
                    </a:solidFill>
                  </a:tcPr>
                </a:tc>
                <a:tc>
                  <a:txBody>
                    <a:bodyPr wrap="square"/>
                    <a:lstStyle/>
                    <a:p>
                      <a:r>
                        <a:rPr sz="1000" b="0">
                          <a:solidFill>
                            <a:srgbClr val="282828"/>
                          </a:solidFill>
                          <a:latin typeface="Arial"/>
                        </a:rPr>
                        <a:t>0.954</a:t>
                      </a:r>
                    </a:p>
                  </a:txBody>
                  <a:tcPr marL="54864" marR="54864" marT="18288" marB="18288">
                    <a:solidFill>
                      <a:srgbClr val="FFFFFF"/>
                    </a:solidFill>
                  </a:tcPr>
                </a:tc>
                <a:tc>
                  <a:txBody>
                    <a:bodyPr wrap="square"/>
                    <a:lstStyle/>
                    <a:p>
                      <a:r>
                        <a:rPr sz="1000" b="0">
                          <a:solidFill>
                            <a:srgbClr val="282828"/>
                          </a:solidFill>
                          <a:latin typeface="Arial"/>
                        </a:rPr>
                        <a:t>1.2 nm</a:t>
                      </a:r>
                    </a:p>
                  </a:txBody>
                  <a:tcPr marL="54864" marR="54864" marT="18288" marB="18288">
                    <a:solidFill>
                      <a:srgbClr val="FFFFFF"/>
                    </a:solidFill>
                  </a:tcPr>
                </a:tc>
              </a:tr>
              <a:tr h="262890">
                <a:tc>
                  <a:txBody>
                    <a:bodyPr wrap="square"/>
                    <a:lstStyle/>
                    <a:p>
                      <a:r>
                        <a:rPr sz="1000" b="0">
                          <a:solidFill>
                            <a:srgbClr val="282828"/>
                          </a:solidFill>
                          <a:latin typeface="Arial"/>
                        </a:rPr>
                        <a:t>lens rig, camera +4.3 mm</a:t>
                      </a:r>
                    </a:p>
                  </a:txBody>
                  <a:tcPr marL="54864" marR="54864" marT="18288" marB="18288">
                    <a:solidFill>
                      <a:srgbClr val="ECF1F6"/>
                    </a:solidFill>
                  </a:tcPr>
                </a:tc>
                <a:tc>
                  <a:txBody>
                    <a:bodyPr wrap="square"/>
                    <a:lstStyle/>
                    <a:p>
                      <a:r>
                        <a:rPr sz="1000" b="0">
                          <a:solidFill>
                            <a:srgbClr val="282828"/>
                          </a:solidFill>
                          <a:latin typeface="Arial"/>
                        </a:rPr>
                        <a:t>0.997</a:t>
                      </a:r>
                    </a:p>
                  </a:txBody>
                  <a:tcPr marL="54864" marR="54864" marT="18288" marB="18288">
                    <a:solidFill>
                      <a:srgbClr val="ECF1F6"/>
                    </a:solidFill>
                  </a:tcPr>
                </a:tc>
                <a:tc>
                  <a:txBody>
                    <a:bodyPr wrap="square"/>
                    <a:lstStyle/>
                    <a:p>
                      <a:r>
                        <a:rPr sz="1000" b="0">
                          <a:solidFill>
                            <a:srgbClr val="282828"/>
                          </a:solidFill>
                          <a:latin typeface="Arial"/>
                        </a:rPr>
                        <a:t>0.998</a:t>
                      </a:r>
                    </a:p>
                  </a:txBody>
                  <a:tcPr marL="54864" marR="54864" marT="18288" marB="18288">
                    <a:solidFill>
                      <a:srgbClr val="ECF1F6"/>
                    </a:solidFill>
                  </a:tcPr>
                </a:tc>
                <a:tc>
                  <a:txBody>
                    <a:bodyPr wrap="square"/>
                    <a:lstStyle/>
                    <a:p>
                      <a:r>
                        <a:rPr sz="1000" b="0">
                          <a:solidFill>
                            <a:srgbClr val="282828"/>
                          </a:solidFill>
                          <a:latin typeface="Arial"/>
                        </a:rPr>
                        <a:t>0.993</a:t>
                      </a:r>
                    </a:p>
                  </a:txBody>
                  <a:tcPr marL="54864" marR="54864" marT="18288" marB="18288">
                    <a:solidFill>
                      <a:srgbClr val="ECF1F6"/>
                    </a:solidFill>
                  </a:tcPr>
                </a:tc>
                <a:tc>
                  <a:txBody>
                    <a:bodyPr wrap="square"/>
                    <a:lstStyle/>
                    <a:p>
                      <a:r>
                        <a:rPr sz="1000" b="0">
                          <a:solidFill>
                            <a:srgbClr val="282828"/>
                          </a:solidFill>
                          <a:latin typeface="Arial"/>
                        </a:rPr>
                        <a:t>0.4 nm</a:t>
                      </a:r>
                    </a:p>
                  </a:txBody>
                  <a:tcPr marL="54864" marR="54864" marT="18288" marB="18288">
                    <a:solidFill>
                      <a:srgbClr val="ECF1F6"/>
                    </a:solidFill>
                  </a:tcPr>
                </a:tc>
              </a:tr>
              <a:tr h="262890">
                <a:tc>
                  <a:txBody>
                    <a:bodyPr wrap="square"/>
                    <a:lstStyle/>
                    <a:p>
                      <a:r>
                        <a:rPr sz="1000" b="0">
                          <a:solidFill>
                            <a:srgbClr val="282828"/>
                          </a:solidFill>
                          <a:latin typeface="Arial"/>
                        </a:rPr>
                        <a:t>mirror rig, as built</a:t>
                      </a:r>
                    </a:p>
                  </a:txBody>
                  <a:tcPr marL="54864" marR="54864" marT="18288" marB="18288">
                    <a:solidFill>
                      <a:srgbClr val="FFFFFF"/>
                    </a:solidFill>
                  </a:tcPr>
                </a:tc>
                <a:tc>
                  <a:txBody>
                    <a:bodyPr wrap="square"/>
                    <a:lstStyle/>
                    <a:p>
                      <a:r>
                        <a:rPr sz="1000" b="0">
                          <a:solidFill>
                            <a:srgbClr val="282828"/>
                          </a:solidFill>
                          <a:latin typeface="Arial"/>
                        </a:rPr>
                        <a:t>1.000</a:t>
                      </a:r>
                    </a:p>
                  </a:txBody>
                  <a:tcPr marL="54864" marR="54864" marT="18288" marB="18288">
                    <a:solidFill>
                      <a:srgbClr val="FFFFFF"/>
                    </a:solidFill>
                  </a:tcPr>
                </a:tc>
                <a:tc>
                  <a:txBody>
                    <a:bodyPr wrap="square"/>
                    <a:lstStyle/>
                    <a:p>
                      <a:r>
                        <a:rPr sz="1000" b="0">
                          <a:solidFill>
                            <a:srgbClr val="282828"/>
                          </a:solidFill>
                          <a:latin typeface="Arial"/>
                        </a:rPr>
                        <a:t>0.999</a:t>
                      </a:r>
                    </a:p>
                  </a:txBody>
                  <a:tcPr marL="54864" marR="54864" marT="18288" marB="18288">
                    <a:solidFill>
                      <a:srgbClr val="FFFFFF"/>
                    </a:solidFill>
                  </a:tcPr>
                </a:tc>
                <a:tc>
                  <a:txBody>
                    <a:bodyPr wrap="square"/>
                    <a:lstStyle/>
                    <a:p>
                      <a:r>
                        <a:rPr sz="1000" b="0">
                          <a:solidFill>
                            <a:srgbClr val="282828"/>
                          </a:solidFill>
                          <a:latin typeface="Arial"/>
                        </a:rPr>
                        <a:t>0.997</a:t>
                      </a:r>
                    </a:p>
                  </a:txBody>
                  <a:tcPr marL="54864" marR="54864" marT="18288" marB="18288">
                    <a:solidFill>
                      <a:srgbClr val="FFFFFF"/>
                    </a:solidFill>
                  </a:tcPr>
                </a:tc>
                <a:tc>
                  <a:txBody>
                    <a:bodyPr wrap="square"/>
                    <a:lstStyle/>
                    <a:p>
                      <a:r>
                        <a:rPr sz="1000" b="0">
                          <a:solidFill>
                            <a:srgbClr val="282828"/>
                          </a:solidFill>
                          <a:latin typeface="Arial"/>
                        </a:rPr>
                        <a:t>0.2 nm</a:t>
                      </a:r>
                    </a:p>
                  </a:txBody>
                  <a:tcPr marL="54864" marR="54864" marT="18288" marB="18288">
                    <a:solidFill>
                      <a:srgbClr val="FFFFFF"/>
                    </a:solidFill>
                  </a:tcPr>
                </a:tc>
              </a:tr>
            </a:tbl>
          </a:graphicData>
        </a:graphic>
      </p:graphicFrame>
      <p:sp>
        <p:nvSpPr>
          <p:cNvPr id="7" name="TextBox 6"/>
          <p:cNvSpPr txBox="1"/>
          <p:nvPr/>
        </p:nvSpPr>
        <p:spPr>
          <a:xfrm>
            <a:off x="7086600" y="2496312"/>
            <a:ext cx="4709160" cy="274320"/>
          </a:xfrm>
          <a:prstGeom prst="rect">
            <a:avLst/>
          </a:prstGeom>
          <a:noFill/>
        </p:spPr>
        <p:txBody>
          <a:bodyPr wrap="square">
            <a:spAutoFit/>
          </a:bodyPr>
          <a:lstStyle/>
          <a:p>
            <a:pPr>
              <a:spcAft>
                <a:spcPts val="600"/>
              </a:spcAft>
            </a:pPr>
            <a:r>
              <a:rPr sz="115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The image is a bowl the camera sits ahead of on the lens rig: 2.6 mm on axis, 6 mm at the edge (the tail was tuned on the flat-mirror null, which cannot see pupil defocus).  The mirror rig's thin-lens seat is within 1.3 mm of its image.</a:t>
            </a:r>
          </a:p>
          <a:p>
            <a:pPr>
              <a:spcAft>
                <a:spcPts val="600"/>
              </a:spcAft>
            </a:pPr>
            <a:r>
              <a:rPr sz="115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7086600" y="5330952"/>
            <a:ext cx="4709160" cy="274320"/>
          </a:xfrm>
          <a:prstGeom prst="rect">
            <a:avLst/>
          </a:prstGeom>
          <a:noFill/>
        </p:spPr>
        <p:txBody>
          <a:bodyPr wrap="square">
            <a:spAutoFit/>
          </a:bodyPr>
          <a:lstStyle/>
          <a:p>
            <a:pPr>
              <a:spcAft>
                <a:spcPts val="600"/>
              </a:spcAft>
            </a:pPr>
            <a:r>
              <a:rPr sz="1050" b="0">
                <a:solidFill>
                  <a:srgbClr val="6E6E6E"/>
                </a:solidFill>
                <a:latin typeface="Arial"/>
              </a:rPr>
              <a:t>Run tags pupilsim_lens, pupilsim_oap (tg96_pupilsim;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On the 30 nm surface, matrix measured on it: 10 nm on one actuator 0.989 / 5 pm / SNR 2160; 1 nm on 47 sites 0.999 / 4 pm; dense 10 nm 0.984, 0.68 nm.</a:t>
            </a:r>
          </a:p>
          <a:p>
            <a:pPr>
              <a:spcAft>
                <a:spcPts val="600"/>
              </a:spcAft>
            </a:pPr>
            <a:r>
              <a:rPr sz="15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5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5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5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The interferometer needs no recalibration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5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5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754880"/>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143000" y="1554480"/>
            <a:ext cx="4343400" cy="3931920"/>
          </a:xfrm>
          <a:prstGeom prst="rect">
            <a:avLst/>
          </a:prstGeom>
        </p:spPr>
      </p:pic>
      <p:sp>
        <p:nvSpPr>
          <p:cNvPr id="5" name="TextBox 4"/>
          <p:cNvSpPr txBox="1"/>
          <p:nvPr/>
        </p:nvSpPr>
        <p:spPr>
          <a:xfrm>
            <a:off x="411480" y="5696712"/>
            <a:ext cx="4343400" cy="10546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374904" y="5212080"/>
            <a:ext cx="11368735" cy="274320"/>
          </a:xfrm>
          <a:prstGeom prst="rect">
            <a:avLst/>
          </a:prstGeom>
          <a:noFill/>
        </p:spPr>
        <p:txBody>
          <a:bodyPr wrap="square">
            <a:spAutoFit/>
          </a:bodyPr>
          <a:lstStyle/>
          <a:p>
            <a:pPr>
              <a:spcAft>
                <a:spcPts val="600"/>
              </a:spcAft>
            </a:pPr>
            <a:r>
              <a:rPr sz="12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2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32764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5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5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Redesign the lenses as multi-element assemblies.</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Package A passed on both rigs (TO, 2026-09-17 13:30): collimated, re-tuned on the reading, re-emitted.  Nyquist gain 1.0000 (lens) / 0.9994 (mirrors) worst; the 30 nm surface recovered to 42 pm (lens, 29× the record's tuned tail) and 92 pm (mirrors); single pokes 0.9998 peak; the lens rig's amplitude cross-talk 0.005 (was a third); certified at twice the sampling the tunes ran at.  Distortion is a mapping, not a gate.</a:t>
            </a:r>
          </a:p>
        </p:txBody>
      </p:sp>
      <p:sp>
        <p:nvSpPr>
          <p:cNvPr id="6" name="TextBox 5"/>
          <p:cNvSpPr txBox="1"/>
          <p:nvPr/>
        </p:nvSpPr>
        <p:spPr>
          <a:xfrm>
            <a:off x="6400800" y="5462015"/>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Package B (the engine's plane-to-plane chain) and C (the runs) follow; the Mac carries C's mirror side.  Plan: BRIEF_to_tg_redo.md (packages A0, A, B, C); tools tg96_pupilsim, tg96_pupil_options, tg96_pupil_s2s.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3a-3b, 2026-09-17): the interferometer's rows</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31745"/>
        </p:xfrm>
        <a:graphic>
          <a:graphicData uri="http://schemas.openxmlformats.org/drawingml/2006/table">
            <a:tbl>
              <a:tblPr firstRow="1" bandRow="1">
                <a:tableStyleId>{5C22544A-7EE6-4342-B048-85BDC9FD1C3A}</a:tableStyleId>
              </a:tblPr>
              <a:tblGrid>
                <a:gridCol w="1822924"/>
                <a:gridCol w="1608462"/>
                <a:gridCol w="2398268"/>
                <a:gridCol w="1465488"/>
                <a:gridCol w="2107692"/>
                <a:gridCol w="1965899"/>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59.3 nm</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468630">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1.004 / 1.4 pm / 7741</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468630">
                <a:tc>
                  <a:txBody>
                    <a:bodyPr wrap="square"/>
                    <a:lstStyle/>
                    <a:p>
                      <a:r>
                        <a:rPr sz="1100" b="0">
                          <a:solidFill>
                            <a:srgbClr val="282828"/>
                          </a:solidFill>
                          <a:latin typeface="Arial"/>
                        </a:rPr>
                        <a:t>1 nm on the grid (112-120 sites)</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0.993 / 10 pm / 246</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0.981 / 4.4 pm / 310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657225">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bl>
          </a:graphicData>
        </a:graphic>
      </p:graphicFrame>
      <p:sp>
        <p:nvSpPr>
          <p:cNvPr id="5" name="TextBox 4"/>
          <p:cNvSpPr txBox="1"/>
          <p:nvPr/>
        </p:nvSpPr>
        <p:spPr>
          <a:xfrm>
            <a:off x="411480" y="3976497"/>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redo bench restores the lens rig's grid row (0.754 to 0.993) and leaves a 59 nm null; the mirror rig is unchanged by design.  The null that remains on both rigs is the mask plate's spherical aberration in the F/4.2 beam (a 2 mm plate: about 0.1 wave rms), a fixed pattern the reference frame removes and the reading-tuned tail does not chase; TO's null decomposition prices it.</a:t>
            </a:r>
          </a:p>
        </p:txBody>
      </p:sp>
      <p:sp>
        <p:nvSpPr>
          <p:cNvPr id="6" name="TextBox 5"/>
          <p:cNvSpPr txBox="1"/>
          <p:nvPr/>
        </p:nvSpPr>
        <p:spPr>
          <a:xfrm>
            <a:off x="411480" y="6522339"/>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(cycle 3a); redo96_lens, redo96_oap (cycle 3b); the Mac, 2026-09-17.  The pupil image and the sensors on these same decks are on the next slide.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same decks — the pupil image and the sensors</a:t>
            </a:r>
          </a:p>
          <a:p>
            <a:pPr>
              <a:spcAft>
                <a:spcPts val="0"/>
              </a:spcAft>
            </a:pPr>
            <a:r>
              <a:rPr sz="1250" b="0">
                <a:solidFill>
                  <a:srgbClr val="6E6E6E"/>
                </a:solidFill>
                <a:latin typeface="Arial"/>
              </a:rPr>
              <a:t>The imaging is not what limits either rig on the seed tail with the substrates in, and the mask plate costs the sensors a little capture and no gain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720340"/>
        </p:xfrm>
        <a:graphic>
          <a:graphicData uri="http://schemas.openxmlformats.org/drawingml/2006/table">
            <a:tbl>
              <a:tblPr firstRow="1" bandRow="1">
                <a:tableStyleId>{5C22544A-7EE6-4342-B048-85BDC9FD1C3A}</a:tableStyleId>
              </a:tblPr>
              <a:tblGrid>
                <a:gridCol w="3345345"/>
                <a:gridCol w="1223906"/>
                <a:gridCol w="1740667"/>
                <a:gridCol w="2203032"/>
                <a:gridCol w="1359896"/>
                <a:gridCol w="1495886"/>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11.3 mm (384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11.1 mm</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657225">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flat to 0.001 mm / 1.0000 / 0.04 mm / 0.04 nm (TO's gate record)</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tilt 0.43, defocus −0.45 / 0.9994 / 0.72 / 0.09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r>
              <a:tr h="657225">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identical (the sensor bench is the same)</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identical</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Run tags pupilsim_sub96_lens, pupilsim_sub96_oap, sub96_oapsens (cycle 3a); redo96_oapsens (3b); the Mac, 2026-09-17.  The interferometer's rows on these decks are on the previous slide.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