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3 Introduction: the three jobs and how they are scored</a:t>
            </a:r>
          </a:p>
          <a:p>
            <a:pPr>
              <a:spcAft>
                <a:spcPts val="600"/>
              </a:spcAft>
            </a:pPr>
            <a:r>
              <a:rPr sz="1500" b="0">
                <a:solidFill>
                  <a:srgbClr val="282828"/>
                </a:solidFill>
                <a:latin typeface="Arial"/>
              </a:rPr>
              <a:t>•  4 The bench layout</a:t>
            </a:r>
          </a:p>
          <a:p>
            <a:pPr>
              <a:spcAft>
                <a:spcPts val="600"/>
              </a:spcAft>
            </a:pPr>
            <a:r>
              <a:rPr sz="1500" b="0">
                <a:solidFill>
                  <a:srgbClr val="282828"/>
                </a:solidFill>
                <a:latin typeface="Arial"/>
              </a:rPr>
              <a:t>•  6 Parts: the front end and the detector leg</a:t>
            </a:r>
          </a:p>
          <a:p>
            <a:pPr>
              <a:spcAft>
                <a:spcPts val="600"/>
              </a:spcAft>
            </a:pPr>
            <a:r>
              <a:rPr sz="1500" b="0">
                <a:solidFill>
                  <a:srgbClr val="282828"/>
                </a:solidFill>
                <a:latin typeface="Arial"/>
              </a:rPr>
              <a:t>•  8 Parts: the interferometer and the sensors</a:t>
            </a:r>
          </a:p>
          <a:p>
            <a:pPr>
              <a:spcAft>
                <a:spcPts val="600"/>
              </a:spcAft>
            </a:pPr>
            <a:r>
              <a:rPr sz="1500" b="0">
                <a:solidFill>
                  <a:srgbClr val="282828"/>
                </a:solidFill>
                <a:latin typeface="Arial"/>
              </a:rPr>
              <a:t>•  10 Twyman-Green interferometer</a:t>
            </a:r>
          </a:p>
          <a:p>
            <a:pPr>
              <a:spcAft>
                <a:spcPts val="600"/>
              </a:spcAft>
            </a:pPr>
            <a:r>
              <a:rPr sz="1500" b="0">
                <a:solidFill>
                  <a:srgbClr val="282828"/>
                </a:solidFill>
                <a:latin typeface="Arial"/>
              </a:rPr>
              <a:t>•  17 Zernike sensor</a:t>
            </a:r>
          </a:p>
          <a:p>
            <a:pPr>
              <a:spcAft>
                <a:spcPts val="600"/>
              </a:spcAft>
            </a:pPr>
            <a:r>
              <a:rPr sz="1500" b="0">
                <a:solidFill>
                  <a:srgbClr val="282828"/>
                </a:solidFill>
                <a:latin typeface="Arial"/>
              </a:rPr>
              <a:t>•  19 Vector Zernike sensor</a:t>
            </a:r>
          </a:p>
          <a:p>
            <a:pPr>
              <a:spcAft>
                <a:spcPts val="600"/>
              </a:spcAft>
            </a:pPr>
            <a:r>
              <a:rPr sz="1500" b="0">
                <a:solidFill>
                  <a:srgbClr val="282828"/>
                </a:solidFill>
                <a:latin typeface="Arial"/>
              </a:rPr>
              <a:t>•  22 Point-diffraction sensor</a:t>
            </a:r>
          </a:p>
          <a:p>
            <a:pPr>
              <a:spcAft>
                <a:spcPts val="600"/>
              </a:spcAft>
            </a:pPr>
            <a:r>
              <a:rPr sz="1500" b="0">
                <a:solidFill>
                  <a:srgbClr val="282828"/>
                </a:solidFill>
                <a:latin typeface="Arial"/>
              </a:rPr>
              <a:t>•  25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31 Lenses versus off-axis parabolas</a:t>
            </a:r>
          </a:p>
          <a:p>
            <a:pPr>
              <a:spcAft>
                <a:spcPts val="600"/>
              </a:spcAft>
            </a:pPr>
            <a:r>
              <a:rPr sz="1200" b="0">
                <a:solidFill>
                  <a:srgbClr val="282828"/>
                </a:solidFill>
                <a:latin typeface="Arial"/>
              </a:rPr>
              <a:t>•  32 The reflective front end and its performance</a:t>
            </a:r>
          </a:p>
          <a:p>
            <a:pPr>
              <a:spcAft>
                <a:spcPts val="600"/>
              </a:spcAft>
            </a:pPr>
            <a:r>
              <a:rPr sz="1200" b="0">
                <a:solidFill>
                  <a:srgbClr val="282828"/>
                </a:solidFill>
                <a:latin typeface="Arial"/>
              </a:rPr>
              <a:t>•  34 Comparison and recommendation</a:t>
            </a:r>
          </a:p>
          <a:p>
            <a:pPr>
              <a:spcAft>
                <a:spcPts val="600"/>
              </a:spcAft>
            </a:pPr>
            <a:r>
              <a:rPr sz="1200" b="0">
                <a:solidFill>
                  <a:srgbClr val="282828"/>
                </a:solidFill>
                <a:latin typeface="Arial"/>
              </a:rPr>
              <a:t>•  37 Measuring the complex amplitude</a:t>
            </a:r>
          </a:p>
          <a:p>
            <a:pPr>
              <a:spcAft>
                <a:spcPts val="600"/>
              </a:spcAft>
            </a:pPr>
            <a:r>
              <a:rPr sz="1200" b="0">
                <a:solidFill>
                  <a:srgbClr val="282828"/>
                </a:solidFill>
                <a:latin typeface="Arial"/>
              </a:rPr>
              <a:t>•  38 Summary and future work</a:t>
            </a:r>
          </a:p>
          <a:p>
            <a:pPr>
              <a:spcAft>
                <a:spcPts val="600"/>
              </a:spcAft>
            </a:pPr>
            <a:r>
              <a:rPr sz="1200" b="0">
                <a:solidFill>
                  <a:srgbClr val="282828"/>
                </a:solidFill>
                <a:latin typeface="Arial"/>
              </a:rPr>
              <a:t>•  44 Run it yourself</a:t>
            </a:r>
          </a:p>
          <a:p>
            <a:pPr>
              <a:spcAft>
                <a:spcPts val="600"/>
              </a:spcAft>
            </a:pPr>
            <a:r>
              <a:rPr sz="1200" b="0">
                <a:solidFill>
                  <a:srgbClr val="282828"/>
                </a:solidFill>
                <a:latin typeface="Arial"/>
              </a:rPr>
              <a:t>•  45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on the redo bench, Mac cycle 3c, 2026-09-18).  The lens rig's figure exists but its residual panel reads 51 nm against the engine — a fold, not the pupil-image bowl the earlier hypothesis blamed: the bowl is gone and the residual barely moved (62 → 51 nm).  Under investigation, so it is not shown.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402336" y="5193792"/>
            <a:ext cx="64008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The imaging supports picometer measurement on both rigs: carried through to a reading, it costs 42 pm (lenses) and 92 pm (mirrors) on a 30 nm working surface — 0.1 % and 0.3 % of the figure — rising to 0.5 % and 0.9 % in the top spatial band.  It holds because the response matrix is MEASURED: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Method: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What package A did here: the lens rig's image went flat (0.5 µm of defocus against 3.8 mm) and its distortion fell 2.8×; the mirror rig's went the other way (edge 0.85 → 1.19 mm), the OAP pair's mapping, and why the distortion gate was withdrawn.</a:t>
            </a:r>
          </a:p>
          <a:p>
            <a:pPr>
              <a:spcAft>
                <a:spcPts val="600"/>
              </a:spcAft>
            </a:pPr>
            <a:r>
              <a:rPr sz="1200" b="0">
                <a:solidFill>
                  <a:srgbClr val="282828"/>
                </a:solidFill>
                <a:latin typeface="Arial"/>
              </a:rPr>
              <a:t>•  The mirror rig's focus is perfect on axis and coma-limited off it (2.2 λF/D at the actuator-band tilt); not a pupil-image cost, a number to know for any off-axis reading at the seat.</a:t>
            </a:r>
          </a:p>
        </p:txBody>
      </p:sp>
      <p:sp>
        <p:nvSpPr>
          <p:cNvPr id="8" name="TextBox 7"/>
          <p:cNvSpPr txBox="1"/>
          <p:nvPr/>
        </p:nvSpPr>
        <p:spPr>
          <a:xfrm>
            <a:off x="6400800" y="5715000"/>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Blur grew on both rigs against the record because the beam now fills the DM: it lit 77 / 82 mm of 96, leaving the edge zones, where the walk is largest, out of that average.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and on the redo bench the camera sits AT the pupil image on both rigs — the detector move the record needed is gone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1394460"/>
        </p:xfrm>
        <a:graphic>
          <a:graphicData uri="http://schemas.openxmlformats.org/drawingml/2006/table">
            <a:tbl>
              <a:tblPr firstRow="1" bandRow="1">
                <a:tableStyleId>{5C22544A-7EE6-4342-B048-85BDC9FD1C3A}</a:tableStyleId>
              </a:tblPr>
              <a:tblGrid>
                <a:gridCol w="2147731"/>
                <a:gridCol w="542544"/>
                <a:gridCol w="542544"/>
                <a:gridCol w="542544"/>
                <a:gridCol w="933796"/>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redo bench</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 redo bench</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r h="434340">
                <a:tc>
                  <a:txBody>
                    <a:bodyPr wrap="square"/>
                    <a:lstStyle/>
                    <a:p>
                      <a:r>
                        <a:rPr sz="1000" b="0">
                          <a:solidFill>
                            <a:srgbClr val="282828"/>
                          </a:solidFill>
                          <a:latin typeface="Arial"/>
                        </a:rPr>
                        <a:t>lens rig, the record's tuned tail (superseded)</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bl>
          </a:graphicData>
        </a:graphic>
      </p:graphicFrame>
      <p:sp>
        <p:nvSpPr>
          <p:cNvPr id="7" name="TextBox 6"/>
          <p:cNvSpPr txBox="1"/>
          <p:nvPr/>
        </p:nvSpPr>
        <p:spPr>
          <a:xfrm>
            <a:off x="7086600" y="2496312"/>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bowl is gone.  On the record's tuned tail the image was a surface the camera sat 2.6 mm ahead of on axis and 6 at the edge, because that tail was tuned on the flat-mirror null, which cannot see pupil defocus.  On the redo bench the best detector move is −0.00 mm: there is nothing left to correct, and the band-edge phase is 0.000 rad rms on lenses, 0.013 on mirrors.</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redo decks = package A's gate record, 2026-09-17; run it yourself: tg96_pupil_batch.sh both).  The superseded row is the record's tuned tail, kept so the gain is legible; REPORT_bench_realism.md section 7.  The engine's own plane-to-plane check through reference surfaces is built and needs the station-to-station form (in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1143000" y="1554480"/>
            <a:ext cx="4343400" cy="3931920"/>
          </a:xfrm>
          <a:prstGeom prst="rect">
            <a:avLst/>
          </a:prstGeom>
        </p:spPr>
      </p:pic>
      <p:sp>
        <p:nvSpPr>
          <p:cNvPr id="5" name="TextBox 4"/>
          <p:cNvSpPr txBox="1"/>
          <p:nvPr/>
        </p:nvSpPr>
        <p:spPr>
          <a:xfrm>
            <a:off x="411480" y="5696712"/>
            <a:ext cx="4343400" cy="10546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1133856"/>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