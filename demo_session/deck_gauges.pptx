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Introduction: the three jobs and how they are scored</a:t>
            </a:r>
          </a:p>
          <a:p>
            <a:pPr>
              <a:spcAft>
                <a:spcPts val="600"/>
              </a:spcAft>
            </a:pPr>
            <a:r>
              <a:rPr sz="1200" b="0">
                <a:solidFill>
                  <a:srgbClr val="282828"/>
                </a:solidFill>
                <a:latin typeface="Arial"/>
              </a:rPr>
              <a:t>•  4 The bench layout</a:t>
            </a:r>
          </a:p>
          <a:p>
            <a:pPr>
              <a:spcAft>
                <a:spcPts val="600"/>
              </a:spcAft>
            </a:pPr>
            <a:r>
              <a:rPr sz="1200" b="0">
                <a:solidFill>
                  <a:srgbClr val="282828"/>
                </a:solidFill>
                <a:latin typeface="Arial"/>
              </a:rPr>
              <a:t>•  6 Parts</a:t>
            </a:r>
          </a:p>
          <a:p>
            <a:pPr>
              <a:spcAft>
                <a:spcPts val="600"/>
              </a:spcAft>
            </a:pPr>
            <a:r>
              <a:rPr sz="1200" b="0">
                <a:solidFill>
                  <a:srgbClr val="282828"/>
                </a:solidFill>
                <a:latin typeface="Arial"/>
              </a:rPr>
              <a:t>•  9 Twyman-Green interferometer</a:t>
            </a:r>
          </a:p>
          <a:p>
            <a:pPr>
              <a:spcAft>
                <a:spcPts val="600"/>
              </a:spcAft>
            </a:pPr>
            <a:r>
              <a:rPr sz="1200" b="0">
                <a:solidFill>
                  <a:srgbClr val="282828"/>
                </a:solidFill>
                <a:latin typeface="Arial"/>
              </a:rPr>
              <a:t>•  16 Zernike sensor</a:t>
            </a:r>
          </a:p>
          <a:p>
            <a:pPr>
              <a:spcAft>
                <a:spcPts val="600"/>
              </a:spcAft>
            </a:pPr>
            <a:r>
              <a:rPr sz="1200" b="0">
                <a:solidFill>
                  <a:srgbClr val="282828"/>
                </a:solidFill>
                <a:latin typeface="Arial"/>
              </a:rPr>
              <a:t>•  18 Vector Zernike sensor</a:t>
            </a:r>
          </a:p>
          <a:p>
            <a:pPr>
              <a:spcAft>
                <a:spcPts val="600"/>
              </a:spcAft>
            </a:pPr>
            <a:r>
              <a:rPr sz="1200" b="0">
                <a:solidFill>
                  <a:srgbClr val="282828"/>
                </a:solidFill>
                <a:latin typeface="Arial"/>
              </a:rPr>
              <a:t>•  21 Point-diffraction sensor</a:t>
            </a:r>
          </a:p>
          <a:p>
            <a:pPr>
              <a:spcAft>
                <a:spcPts val="600"/>
              </a:spcAft>
            </a:pPr>
            <a:r>
              <a:rPr sz="1200" b="0">
                <a:solidFill>
                  <a:srgbClr val="282828"/>
                </a:solidFill>
                <a:latin typeface="Arial"/>
              </a:rPr>
              <a:t>•  24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30 Lenses versus off-axis parabolas</a:t>
            </a:r>
          </a:p>
          <a:p>
            <a:pPr>
              <a:spcAft>
                <a:spcPts val="600"/>
              </a:spcAft>
            </a:pPr>
            <a:r>
              <a:rPr sz="1200" b="0">
                <a:solidFill>
                  <a:srgbClr val="282828"/>
                </a:solidFill>
                <a:latin typeface="Arial"/>
              </a:rPr>
              <a:t>•  31 The reflective front end and its performance</a:t>
            </a:r>
          </a:p>
          <a:p>
            <a:pPr>
              <a:spcAft>
                <a:spcPts val="600"/>
              </a:spcAft>
            </a:pPr>
            <a:r>
              <a:rPr sz="1200" b="0">
                <a:solidFill>
                  <a:srgbClr val="282828"/>
                </a:solidFill>
                <a:latin typeface="Arial"/>
              </a:rPr>
              <a:t>•  33 Comparison and recommendation</a:t>
            </a:r>
          </a:p>
          <a:p>
            <a:pPr>
              <a:spcAft>
                <a:spcPts val="600"/>
              </a:spcAft>
            </a:pPr>
            <a:r>
              <a:rPr sz="1200" b="0">
                <a:solidFill>
                  <a:srgbClr val="282828"/>
                </a:solidFill>
                <a:latin typeface="Arial"/>
              </a:rPr>
              <a:t>•  36 Measuring the complex amplitude</a:t>
            </a:r>
          </a:p>
          <a:p>
            <a:pPr>
              <a:spcAft>
                <a:spcPts val="600"/>
              </a:spcAft>
            </a:pPr>
            <a:r>
              <a:rPr sz="1200" b="0">
                <a:solidFill>
                  <a:srgbClr val="282828"/>
                </a:solidFill>
                <a:latin typeface="Arial"/>
              </a:rPr>
              <a:t>•  37 Summary and future work</a:t>
            </a:r>
          </a:p>
          <a:p>
            <a:pPr>
              <a:spcAft>
                <a:spcPts val="600"/>
              </a:spcAft>
            </a:pPr>
            <a:r>
              <a:rPr sz="1200" b="0">
                <a:solidFill>
                  <a:srgbClr val="282828"/>
                </a:solidFill>
                <a:latin typeface="Arial"/>
              </a:rPr>
              <a:t>•  43 Run it yourself</a:t>
            </a:r>
          </a:p>
          <a:p>
            <a:pPr>
              <a:spcAft>
                <a:spcPts val="600"/>
              </a:spcAft>
            </a:pPr>
            <a:r>
              <a:rPr sz="1200" b="0">
                <a:solidFill>
                  <a:srgbClr val="282828"/>
                </a:solidFill>
                <a:latin typeface="Arial"/>
              </a:rPr>
              <a:t>•  44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50595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leg,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5532120"/>
        </p:xfrm>
        <a:graphic>
          <a:graphicData uri="http://schemas.openxmlformats.org/drawingml/2006/table">
            <a:tbl>
              <a:tblPr firstRow="1" bandRow="1">
                <a:tableStyleId>{5C22544A-7EE6-4342-B048-85BDC9FD1C3A}</a:tableStyleId>
              </a:tblPr>
              <a:tblGrid>
                <a:gridCol w="1962404"/>
                <a:gridCol w="4818338"/>
                <a:gridCol w="2180336"/>
                <a:gridCol w="509524"/>
                <a:gridCol w="1898133"/>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657225">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10 mm thick: shifts the transmitted beam 1.39 mm, the flat null 0.13 → 20 nm, the reading attenuated 13% (floor, not gain; rows hold)</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46863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657225">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657225">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 at the seed station 10.8 mm past the focus (slide 15)</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ECF1F6"/>
                    </a:solidFill>
                  </a:tcPr>
                </a:tc>
              </a:tr>
              <a:tr h="468630">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binned 4 to 377 px across the 9.8 mm image; or a 24 µm-pixel camera unbinned (408)</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468630">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6976872"/>
            <a:ext cx="11368735" cy="274320"/>
          </a:xfrm>
          <a:prstGeom prst="rect">
            <a:avLst/>
          </a:prstGeom>
          <a:noFill/>
        </p:spPr>
        <p:txBody>
          <a:bodyPr wrap="square">
            <a:spAutoFit/>
          </a:bodyPr>
          <a:lstStyle/>
          <a:p>
            <a:pPr>
              <a:spcAft>
                <a:spcPts val="600"/>
              </a:spcAft>
            </a:pPr>
            <a:r>
              <a:rPr sz="1050" b="0">
                <a:solidFill>
                  <a:srgbClr val="6E6E6E"/>
                </a:solidFill>
                <a:latin typeface="Arial"/>
              </a:rPr>
              <a:t>The detector leg (focuser, mask seat, field lens, camera) is focused once and shared; only the mask seat's contents and what follows the field lens change between configurations.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noap_stations.png"/>
          <p:cNvPicPr>
            <a:picLocks noChangeAspect="1"/>
          </p:cNvPicPr>
          <p:nvPr/>
        </p:nvPicPr>
        <p:blipFill>
          <a:blip r:embed="rId2"/>
          <a:stretch>
            <a:fillRect/>
          </a:stretch>
        </p:blipFill>
        <p:spPr>
          <a:xfrm>
            <a:off x="2026767" y="1298448"/>
            <a:ext cx="8138160"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stnoap (the redesigned mirror rig, seed detector leg; bit-identical to the servo run's figure).  The lens rig's figure exists but its residual panel reads 62 nm against the engine, a misregistration under investigation, so it is not shown.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third of a pitch at the edge on lenses and most of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_lens_pupil.png"/>
          <p:cNvPicPr>
            <a:picLocks noChangeAspect="1"/>
          </p:cNvPicPr>
          <p:nvPr/>
        </p:nvPicPr>
        <p:blipFill>
          <a:blip r:embed="rId2"/>
          <a:stretch>
            <a:fillRect/>
          </a:stretch>
        </p:blipFill>
        <p:spPr>
          <a:xfrm>
            <a:off x="1366701" y="1298448"/>
            <a:ext cx="3895997" cy="1818132"/>
          </a:xfrm>
          <a:prstGeom prst="rect">
            <a:avLst/>
          </a:prstGeom>
        </p:spPr>
      </p:pic>
      <p:sp>
        <p:nvSpPr>
          <p:cNvPr id="5" name="TextBox 4"/>
          <p:cNvSpPr txBox="1"/>
          <p:nvPr/>
        </p:nvSpPr>
        <p:spPr>
          <a:xfrm>
            <a:off x="411480" y="3134868"/>
            <a:ext cx="580644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314450"/>
        </p:xfrm>
        <a:graphic>
          <a:graphicData uri="http://schemas.openxmlformats.org/drawingml/2006/table">
            <a:tbl>
              <a:tblPr firstRow="1" bandRow="1">
                <a:tableStyleId>{5C22544A-7EE6-4342-B048-85BDC9FD1C3A}</a:tableStyleId>
              </a:tblPr>
              <a:tblGrid>
                <a:gridCol w="3159202"/>
                <a:gridCol w="1098853"/>
                <a:gridCol w="1136903"/>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0.13 / 0.30</a:t>
                      </a:r>
                    </a:p>
                  </a:txBody>
                  <a:tcPr marL="54864" marR="54864" marT="18288" marB="18288">
                    <a:solidFill>
                      <a:srgbClr val="FFFFFF"/>
                    </a:solidFill>
                  </a:tcPr>
                </a:tc>
                <a:tc>
                  <a:txBody>
                    <a:bodyPr wrap="square"/>
                    <a:lstStyle/>
                    <a:p>
                      <a:r>
                        <a:rPr sz="1000" b="0">
                          <a:solidFill>
                            <a:srgbClr val="282828"/>
                          </a:solidFill>
                          <a:latin typeface="Arial"/>
                        </a:rPr>
                        <a:t>0.45 / 0.85</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0.023 / 0.060</a:t>
                      </a:r>
                    </a:p>
                  </a:txBody>
                  <a:tcPr marL="54864" marR="54864" marT="18288" marB="18288">
                    <a:solidFill>
                      <a:srgbClr val="ECF1F6"/>
                    </a:solidFill>
                  </a:tcPr>
                </a:tc>
                <a:tc>
                  <a:txBody>
                    <a:bodyPr wrap="square"/>
                    <a:lstStyle/>
                    <a:p>
                      <a:r>
                        <a:rPr sz="1000" b="0">
                          <a:solidFill>
                            <a:srgbClr val="282828"/>
                          </a:solidFill>
                          <a:latin typeface="Arial"/>
                        </a:rPr>
                        <a:t>0.032 / 0.093</a:t>
                      </a:r>
                    </a:p>
                  </a:txBody>
                  <a:tcPr marL="54864" marR="54864" marT="18288" marB="18288">
                    <a:solidFill>
                      <a:srgbClr val="ECF1F6"/>
                    </a:solidFill>
                  </a:tcPr>
                </a:tc>
              </a:tr>
              <a:tr h="262890">
                <a:tc>
                  <a:txBody>
                    <a:bodyPr wrap="square"/>
                    <a:lstStyle/>
                    <a:p>
                      <a:r>
                        <a:rPr sz="1000" b="0">
                          <a:solidFill>
                            <a:srgbClr val="282828"/>
                          </a:solidFill>
                          <a:latin typeface="Arial"/>
                        </a:rPr>
                        <a:t>image surface: defocus / tilt (mm of sag)</a:t>
                      </a:r>
                    </a:p>
                  </a:txBody>
                  <a:tcPr marL="54864" marR="54864" marT="18288" marB="18288">
                    <a:solidFill>
                      <a:srgbClr val="FFFFFF"/>
                    </a:solidFill>
                  </a:tcPr>
                </a:tc>
                <a:tc>
                  <a:txBody>
                    <a:bodyPr wrap="square"/>
                    <a:lstStyle/>
                    <a:p>
                      <a:r>
                        <a:rPr sz="1000" b="0">
                          <a:solidFill>
                            <a:srgbClr val="282828"/>
                          </a:solidFill>
                          <a:latin typeface="Arial"/>
                        </a:rPr>
                        <a:t>3.8 / 0.0</a:t>
                      </a:r>
                    </a:p>
                  </a:txBody>
                  <a:tcPr marL="54864" marR="54864" marT="18288" marB="18288">
                    <a:solidFill>
                      <a:srgbClr val="FFFFFF"/>
                    </a:solidFill>
                  </a:tcPr>
                </a:tc>
                <a:tc>
                  <a:txBody>
                    <a:bodyPr wrap="square"/>
                    <a:lstStyle/>
                    <a:p>
                      <a:r>
                        <a:rPr sz="1000" b="0">
                          <a:solidFill>
                            <a:srgbClr val="282828"/>
                          </a:solidFill>
                          <a:latin typeface="Arial"/>
                        </a:rPr>
                        <a:t>-0.5 / 0.45</a:t>
                      </a:r>
                    </a:p>
                  </a:txBody>
                  <a:tcPr marL="54864" marR="54864" marT="18288" marB="18288">
                    <a:solidFill>
                      <a:srgbClr val="FFFFFF"/>
                    </a:solidFill>
                  </a:tcPr>
                </a:tc>
              </a:tr>
              <a:tr h="26289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0.16 / 0.16 λF/D</a:t>
                      </a:r>
                    </a:p>
                  </a:txBody>
                  <a:tcPr marL="54864" marR="54864" marT="18288" marB="18288">
                    <a:solidFill>
                      <a:srgbClr val="ECF1F6"/>
                    </a:solidFill>
                  </a:tcPr>
                </a:tc>
                <a:tc>
                  <a:txBody>
                    <a:bodyPr wrap="square"/>
                    <a:lstStyle/>
                    <a:p>
                      <a:r>
                        <a:rPr sz="1000" b="0">
                          <a:solidFill>
                            <a:srgbClr val="282828"/>
                          </a:solidFill>
                          <a:latin typeface="Arial"/>
                        </a:rPr>
                        <a:t>0.00 / 2.3 λF/D</a:t>
                      </a:r>
                    </a:p>
                  </a:txBody>
                  <a:tcPr marL="54864" marR="54864" marT="18288" marB="18288">
                    <a:solidFill>
                      <a:srgbClr val="ECF1F6"/>
                    </a:solidFill>
                  </a:tcPr>
                </a:tc>
              </a:tr>
            </a:tbl>
          </a:graphicData>
        </a:graphic>
      </p:graphicFrame>
      <p:sp>
        <p:nvSpPr>
          <p:cNvPr id="7" name="TextBox 6"/>
          <p:cNvSpPr txBox="1"/>
          <p:nvPr/>
        </p:nvSpPr>
        <p:spPr>
          <a:xfrm>
            <a:off x="6400800" y="2759202"/>
            <a:ext cx="5394960" cy="274320"/>
          </a:xfrm>
          <a:prstGeom prst="rect">
            <a:avLst/>
          </a:prstGeom>
          <a:noFill/>
        </p:spPr>
        <p:txBody>
          <a:bodyPr wrap="square">
            <a:spAutoFit/>
          </a:bodyPr>
          <a:lstStyle/>
          <a:p>
            <a:pPr>
              <a:spcAft>
                <a:spcPts val="600"/>
              </a:spcAft>
            </a:pPr>
            <a:r>
              <a:rPr sz="1200" b="0">
                <a:solidFill>
                  <a:srgbClr val="282828"/>
                </a:solidFill>
                <a:latin typeface="Arial"/>
              </a:rPr>
              <a:t>•  Method: the DM declared the stop; the field a tilt about it (a spatial frequency on its surface); two traces a small field step apart cross at each zone's image at the camera; scored in DM millimeters against the 1 mm pitch and the 0.4 mm pixel.</a:t>
            </a:r>
          </a:p>
          <a:p>
            <a:pPr>
              <a:spcAft>
                <a:spcPts val="600"/>
              </a:spcAft>
            </a:pPr>
            <a:r>
              <a:rPr sz="1200" b="0">
                <a:solidFill>
                  <a:srgbClr val="282828"/>
                </a:solidFill>
                <a:latin typeface="Arial"/>
              </a:rPr>
              <a:t>•  The mirror rig's focus is perfect on axis and coma-limited off it (2.3 λF/D at the actuator-band tilt); not a pupil-image or mask-sensor cost, a number to know for any off-axis reading at the seat.</a:t>
            </a:r>
          </a:p>
        </p:txBody>
      </p:sp>
      <p:sp>
        <p:nvSpPr>
          <p:cNvPr id="8" name="TextBox 7"/>
          <p:cNvSpPr txBox="1"/>
          <p:nvPr/>
        </p:nvSpPr>
        <p:spPr>
          <a:xfrm>
            <a:off x="6400800" y="4463034"/>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pupilq_lens, pupilq_oap (tg96_pupilq, model 512); tg_psi_dm96_oap/REPORT_bench_realism.md section 6.  Requested by Fang Shi.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5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5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5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486765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is observable; the lens rig's camera is not at the pupil image, and 4 mm fixes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lens_gain.png"/>
          <p:cNvPicPr>
            <a:picLocks noChangeAspect="1"/>
          </p:cNvPicPr>
          <p:nvPr/>
        </p:nvPicPr>
        <p:blipFill>
          <a:blip r:embed="rId2"/>
          <a:stretch>
            <a:fillRect/>
          </a:stretch>
        </p:blipFill>
        <p:spPr>
          <a:xfrm>
            <a:off x="411480" y="1298448"/>
            <a:ext cx="5806440" cy="1935479"/>
          </a:xfrm>
          <a:prstGeom prst="rect">
            <a:avLst/>
          </a:prstGeom>
        </p:spPr>
      </p:pic>
      <p:sp>
        <p:nvSpPr>
          <p:cNvPr id="5" name="TextBox 4"/>
          <p:cNvSpPr txBox="1"/>
          <p:nvPr/>
        </p:nvSpPr>
        <p:spPr>
          <a:xfrm>
            <a:off x="411480" y="3252215"/>
            <a:ext cx="5806440"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6400800" y="1298448"/>
          <a:ext cx="5394959" cy="1051560"/>
        </p:xfrm>
        <a:graphic>
          <a:graphicData uri="http://schemas.openxmlformats.org/drawingml/2006/table">
            <a:tbl>
              <a:tblPr firstRow="1" bandRow="1">
                <a:tableStyleId>{5C22544A-7EE6-4342-B048-85BDC9FD1C3A}</a:tableStyleId>
              </a:tblPr>
              <a:tblGrid>
                <a:gridCol w="2481441"/>
                <a:gridCol w="542544"/>
                <a:gridCol w="476504"/>
                <a:gridCol w="476504"/>
                <a:gridCol w="1417966"/>
              </a:tblGrid>
              <a:tr h="26289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 camera as built</a:t>
                      </a:r>
                    </a:p>
                  </a:txBody>
                  <a:tcPr marL="54864" marR="54864" marT="18288" marB="18288">
                    <a:solidFill>
                      <a:srgbClr val="FFFFFF"/>
                    </a:solidFill>
                  </a:tcPr>
                </a:tc>
                <a:tc>
                  <a:txBody>
                    <a:bodyPr wrap="square"/>
                    <a:lstStyle/>
                    <a:p>
                      <a:r>
                        <a:rPr sz="1000" b="0">
                          <a:solidFill>
                            <a:srgbClr val="282828"/>
                          </a:solidFill>
                          <a:latin typeface="Arial"/>
                        </a:rPr>
                        <a:t>0.990</a:t>
                      </a:r>
                    </a:p>
                  </a:txBody>
                  <a:tcPr marL="54864" marR="54864" marT="18288" marB="18288">
                    <a:solidFill>
                      <a:srgbClr val="FFFFFF"/>
                    </a:solidFill>
                  </a:tcPr>
                </a:tc>
                <a:tc>
                  <a:txBody>
                    <a:bodyPr wrap="square"/>
                    <a:lstStyle/>
                    <a:p>
                      <a:r>
                        <a:rPr sz="1000" b="0">
                          <a:solidFill>
                            <a:srgbClr val="282828"/>
                          </a:solidFill>
                          <a:latin typeface="Arial"/>
                        </a:rPr>
                        <a:t>0.973</a:t>
                      </a:r>
                    </a:p>
                  </a:txBody>
                  <a:tcPr marL="54864" marR="54864" marT="18288" marB="18288">
                    <a:solidFill>
                      <a:srgbClr val="FFFFFF"/>
                    </a:solidFill>
                  </a:tcPr>
                </a:tc>
                <a:tc>
                  <a:txBody>
                    <a:bodyPr wrap="square"/>
                    <a:lstStyle/>
                    <a:p>
                      <a:r>
                        <a:rPr sz="1000" b="0">
                          <a:solidFill>
                            <a:srgbClr val="282828"/>
                          </a:solidFill>
                          <a:latin typeface="Arial"/>
                        </a:rPr>
                        <a:t>0.954</a:t>
                      </a:r>
                    </a:p>
                  </a:txBody>
                  <a:tcPr marL="54864" marR="54864" marT="18288" marB="18288">
                    <a:solidFill>
                      <a:srgbClr val="FFFFFF"/>
                    </a:solidFill>
                  </a:tcPr>
                </a:tc>
                <a:tc>
                  <a:txBody>
                    <a:bodyPr wrap="square"/>
                    <a:lstStyle/>
                    <a:p>
                      <a:r>
                        <a:rPr sz="1000" b="0">
                          <a:solidFill>
                            <a:srgbClr val="282828"/>
                          </a:solidFill>
                          <a:latin typeface="Arial"/>
                        </a:rPr>
                        <a:t>1.2 nm</a:t>
                      </a:r>
                    </a:p>
                  </a:txBody>
                  <a:tcPr marL="54864" marR="54864" marT="18288" marB="18288">
                    <a:solidFill>
                      <a:srgbClr val="FFFFFF"/>
                    </a:solidFill>
                  </a:tcPr>
                </a:tc>
              </a:tr>
              <a:tr h="262890">
                <a:tc>
                  <a:txBody>
                    <a:bodyPr wrap="square"/>
                    <a:lstStyle/>
                    <a:p>
                      <a:r>
                        <a:rPr sz="1000" b="0">
                          <a:solidFill>
                            <a:srgbClr val="282828"/>
                          </a:solidFill>
                          <a:latin typeface="Arial"/>
                        </a:rPr>
                        <a:t>lens rig, camera +4.3 mm</a:t>
                      </a:r>
                    </a:p>
                  </a:txBody>
                  <a:tcPr marL="54864" marR="54864" marT="18288" marB="18288">
                    <a:solidFill>
                      <a:srgbClr val="ECF1F6"/>
                    </a:solidFill>
                  </a:tcPr>
                </a:tc>
                <a:tc>
                  <a:txBody>
                    <a:bodyPr wrap="square"/>
                    <a:lstStyle/>
                    <a:p>
                      <a:r>
                        <a:rPr sz="1000" b="0">
                          <a:solidFill>
                            <a:srgbClr val="282828"/>
                          </a:solidFill>
                          <a:latin typeface="Arial"/>
                        </a:rPr>
                        <a:t>0.997</a:t>
                      </a:r>
                    </a:p>
                  </a:txBody>
                  <a:tcPr marL="54864" marR="54864" marT="18288" marB="18288">
                    <a:solidFill>
                      <a:srgbClr val="ECF1F6"/>
                    </a:solidFill>
                  </a:tcPr>
                </a:tc>
                <a:tc>
                  <a:txBody>
                    <a:bodyPr wrap="square"/>
                    <a:lstStyle/>
                    <a:p>
                      <a:r>
                        <a:rPr sz="1000" b="0">
                          <a:solidFill>
                            <a:srgbClr val="282828"/>
                          </a:solidFill>
                          <a:latin typeface="Arial"/>
                        </a:rPr>
                        <a:t>0.998</a:t>
                      </a:r>
                    </a:p>
                  </a:txBody>
                  <a:tcPr marL="54864" marR="54864" marT="18288" marB="18288">
                    <a:solidFill>
                      <a:srgbClr val="ECF1F6"/>
                    </a:solidFill>
                  </a:tcPr>
                </a:tc>
                <a:tc>
                  <a:txBody>
                    <a:bodyPr wrap="square"/>
                    <a:lstStyle/>
                    <a:p>
                      <a:r>
                        <a:rPr sz="1000" b="0">
                          <a:solidFill>
                            <a:srgbClr val="282828"/>
                          </a:solidFill>
                          <a:latin typeface="Arial"/>
                        </a:rPr>
                        <a:t>0.993</a:t>
                      </a:r>
                    </a:p>
                  </a:txBody>
                  <a:tcPr marL="54864" marR="54864" marT="18288" marB="18288">
                    <a:solidFill>
                      <a:srgbClr val="ECF1F6"/>
                    </a:solidFill>
                  </a:tcPr>
                </a:tc>
                <a:tc>
                  <a:txBody>
                    <a:bodyPr wrap="square"/>
                    <a:lstStyle/>
                    <a:p>
                      <a:r>
                        <a:rPr sz="1000" b="0">
                          <a:solidFill>
                            <a:srgbClr val="282828"/>
                          </a:solidFill>
                          <a:latin typeface="Arial"/>
                        </a:rPr>
                        <a:t>0.4 nm</a:t>
                      </a:r>
                    </a:p>
                  </a:txBody>
                  <a:tcPr marL="54864" marR="54864" marT="18288" marB="18288">
                    <a:solidFill>
                      <a:srgbClr val="ECF1F6"/>
                    </a:solidFill>
                  </a:tcPr>
                </a:tc>
              </a:tr>
              <a:tr h="262890">
                <a:tc>
                  <a:txBody>
                    <a:bodyPr wrap="square"/>
                    <a:lstStyle/>
                    <a:p>
                      <a:r>
                        <a:rPr sz="1000" b="0">
                          <a:solidFill>
                            <a:srgbClr val="282828"/>
                          </a:solidFill>
                          <a:latin typeface="Arial"/>
                        </a:rPr>
                        <a:t>mirror rig, as built</a:t>
                      </a:r>
                    </a:p>
                  </a:txBody>
                  <a:tcPr marL="54864" marR="54864" marT="18288" marB="18288">
                    <a:solidFill>
                      <a:srgbClr val="FFFFFF"/>
                    </a:solidFill>
                  </a:tcPr>
                </a:tc>
                <a:tc>
                  <a:txBody>
                    <a:bodyPr wrap="square"/>
                    <a:lstStyle/>
                    <a:p>
                      <a:r>
                        <a:rPr sz="1000" b="0">
                          <a:solidFill>
                            <a:srgbClr val="282828"/>
                          </a:solidFill>
                          <a:latin typeface="Arial"/>
                        </a:rPr>
                        <a:t>1.000</a:t>
                      </a:r>
                    </a:p>
                  </a:txBody>
                  <a:tcPr marL="54864" marR="54864" marT="18288" marB="18288">
                    <a:solidFill>
                      <a:srgbClr val="FFFFFF"/>
                    </a:solidFill>
                  </a:tcPr>
                </a:tc>
                <a:tc>
                  <a:txBody>
                    <a:bodyPr wrap="square"/>
                    <a:lstStyle/>
                    <a:p>
                      <a:r>
                        <a:rPr sz="1000" b="0">
                          <a:solidFill>
                            <a:srgbClr val="282828"/>
                          </a:solidFill>
                          <a:latin typeface="Arial"/>
                        </a:rPr>
                        <a:t>0.999</a:t>
                      </a:r>
                    </a:p>
                  </a:txBody>
                  <a:tcPr marL="54864" marR="54864" marT="18288" marB="18288">
                    <a:solidFill>
                      <a:srgbClr val="FFFFFF"/>
                    </a:solidFill>
                  </a:tcPr>
                </a:tc>
                <a:tc>
                  <a:txBody>
                    <a:bodyPr wrap="square"/>
                    <a:lstStyle/>
                    <a:p>
                      <a:r>
                        <a:rPr sz="1000" b="0">
                          <a:solidFill>
                            <a:srgbClr val="282828"/>
                          </a:solidFill>
                          <a:latin typeface="Arial"/>
                        </a:rPr>
                        <a:t>0.997</a:t>
                      </a:r>
                    </a:p>
                  </a:txBody>
                  <a:tcPr marL="54864" marR="54864" marT="18288" marB="18288">
                    <a:solidFill>
                      <a:srgbClr val="FFFFFF"/>
                    </a:solidFill>
                  </a:tcPr>
                </a:tc>
                <a:tc>
                  <a:txBody>
                    <a:bodyPr wrap="square"/>
                    <a:lstStyle/>
                    <a:p>
                      <a:r>
                        <a:rPr sz="1000" b="0">
                          <a:solidFill>
                            <a:srgbClr val="282828"/>
                          </a:solidFill>
                          <a:latin typeface="Arial"/>
                        </a:rPr>
                        <a:t>0.2 nm</a:t>
                      </a:r>
                    </a:p>
                  </a:txBody>
                  <a:tcPr marL="54864" marR="54864" marT="18288" marB="18288">
                    <a:solidFill>
                      <a:srgbClr val="FFFFFF"/>
                    </a:solidFill>
                  </a:tcPr>
                </a:tc>
              </a:tr>
            </a:tbl>
          </a:graphicData>
        </a:graphic>
      </p:graphicFrame>
      <p:sp>
        <p:nvSpPr>
          <p:cNvPr id="7" name="TextBox 6"/>
          <p:cNvSpPr txBox="1"/>
          <p:nvPr/>
        </p:nvSpPr>
        <p:spPr>
          <a:xfrm>
            <a:off x="6400800" y="2496312"/>
            <a:ext cx="5394960" cy="274320"/>
          </a:xfrm>
          <a:prstGeom prst="rect">
            <a:avLst/>
          </a:prstGeom>
          <a:noFill/>
        </p:spPr>
        <p:txBody>
          <a:bodyPr wrap="square">
            <a:spAutoFit/>
          </a:bodyPr>
          <a:lstStyle/>
          <a:p>
            <a:pPr>
              <a:spcAft>
                <a:spcPts val="600"/>
              </a:spcAft>
            </a:pPr>
            <a:r>
              <a:rPr sz="120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200" b="0">
                <a:solidFill>
                  <a:srgbClr val="282828"/>
                </a:solidFill>
                <a:latin typeface="Arial"/>
              </a:rPr>
              <a:t>•  The image is a bowl the camera sits ahead of on the lens rig: 2.6 mm on axis, 6 mm at the edge (the tail was tuned on the flat-mirror null, which cannot see pupil defocus).  The mirror rig's thin-lens seat is within 1.3 mm of its image.</a:t>
            </a:r>
          </a:p>
          <a:p>
            <a:pPr>
              <a:spcAft>
                <a:spcPts val="600"/>
              </a:spcAft>
            </a:pPr>
            <a:r>
              <a:rPr sz="120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6400800" y="533095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pupilsim_lens, pupilsim_oap (tg96_pupilsim;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2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376672"/>
            <a:ext cx="11368735" cy="274320"/>
          </a:xfrm>
          <a:prstGeom prst="rect">
            <a:avLst/>
          </a:prstGeom>
          <a:noFill/>
        </p:spPr>
        <p:txBody>
          <a:bodyPr wrap="square">
            <a:spAutoFit/>
          </a:bodyPr>
          <a:lstStyle/>
          <a:p>
            <a:pPr>
              <a:spcAft>
                <a:spcPts val="600"/>
              </a:spcAft>
            </a:pPr>
            <a:r>
              <a:rPr sz="15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5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74272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Package A passed on both rigs (TO, 2026-09-17 13:30): collimated, re-tuned on the reading, re-emitted.  Nyquist gain 1.0000 (lens) / 0.9994 (mirrors) worst; the 30 nm surface recovered to 42 pm (lens, 29× the record's tuned tail) and 92 pm (mirrors); single pokes 0.9998 peak; the lens rig's amplitude cross-talk 0.005 (was a third); certified at twice the sampling the tunes ran at.  Distortion is a mapping, not a gate.</a:t>
            </a:r>
          </a:p>
        </p:txBody>
      </p:sp>
      <p:sp>
        <p:nvSpPr>
          <p:cNvPr id="6" name="TextBox 5"/>
          <p:cNvSpPr txBox="1"/>
          <p:nvPr/>
        </p:nvSpPr>
        <p:spPr>
          <a:xfrm>
            <a:off x="6400800" y="5462015"/>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Package B (the engine's plane-to-plane chain) and C (the runs) follow; the Mac carries C's mirror side.  Plan: BRIEF_to_tg_redo.md (packages A0, A, B, C); tools tg96_pupilsim, tg96_pupil_options, tg96_pupil_s2s.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substrates in, the full beam, the seed tail (Mac cycle 3a, 2026-09-17)</a:t>
            </a:r>
          </a:p>
          <a:p>
            <a:pPr>
              <a:spcAft>
                <a:spcPts val="0"/>
              </a:spcAft>
            </a:pPr>
            <a:r>
              <a:rPr sz="1250" b="0">
                <a:solidFill>
                  <a:srgbClr val="6E6E6E"/>
                </a:solidFill>
                <a:latin typeface="Arial"/>
              </a:rPr>
              <a:t>On the bench as it will be built but before the collimator fix, the mirror rig reads; the lens rig's flat null grows to 92 nm on the record's misfed collimator and the multi-site row breaks, which is the redo's package A in one number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651885"/>
        </p:xfrm>
        <a:graphic>
          <a:graphicData uri="http://schemas.openxmlformats.org/drawingml/2006/table">
            <a:tbl>
              <a:tblPr firstRow="1" bandRow="1">
                <a:tableStyleId>{5C22544A-7EE6-4342-B048-85BDC9FD1C3A}</a:tableStyleId>
              </a:tblPr>
              <a:tblGrid>
                <a:gridCol w="4599850"/>
                <a:gridCol w="1682871"/>
                <a:gridCol w="3029169"/>
                <a:gridCol w="2056843"/>
              </a:tblGrid>
              <a:tr h="468630">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a:t>
                      </a:r>
                    </a:p>
                  </a:txBody>
                  <a:tcPr marL="54864" marR="54864" marT="18288" marB="18288">
                    <a:solidFill>
                      <a:srgbClr val="1F4E79"/>
                    </a:solidFill>
                  </a:tcPr>
                </a:tc>
                <a:tc>
                  <a:txBody>
                    <a:bodyPr wrap="square"/>
                    <a:lstStyle/>
                    <a:p>
                      <a:r>
                        <a:rPr sz="1100" b="1">
                          <a:solidFill>
                            <a:srgbClr val="FFFFFF"/>
                          </a:solidFill>
                          <a:latin typeface="Arial"/>
                        </a:rPr>
                        <a:t>mirror rig, seed tail, substrates in</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flat-mirror null</a:t>
                      </a:r>
                    </a:p>
                  </a:txBody>
                  <a:tcPr marL="54864" marR="54864" marT="18288" marB="18288">
                    <a:solidFill>
                      <a:srgbClr val="FFFFFF"/>
                    </a:solidFill>
                  </a:tcPr>
                </a:tc>
                <a:tc>
                  <a:txBody>
                    <a:bodyPr wrap="square"/>
                    <a:lstStyle/>
                    <a:p>
                      <a:r>
                        <a:rPr sz="1100" b="0">
                          <a:solidFill>
                            <a:srgbClr val="282828"/>
                          </a:solidFill>
                          <a:latin typeface="Arial"/>
                        </a:rPr>
                        <a:t>92.4 nm rms</a:t>
                      </a:r>
                    </a:p>
                  </a:txBody>
                  <a:tcPr marL="54864" marR="54864" marT="18288" marB="18288">
                    <a:solidFill>
                      <a:srgbClr val="FFFFFF"/>
                    </a:solidFill>
                  </a:tcPr>
                </a:tc>
                <a:tc>
                  <a:txBody>
                    <a:bodyPr wrap="square"/>
                    <a:lstStyle/>
                    <a:p>
                      <a:r>
                        <a:rPr sz="1100" b="0">
                          <a:solidFill>
                            <a:srgbClr val="282828"/>
                          </a:solidFill>
                          <a:latin typeface="Arial"/>
                        </a:rPr>
                        <a:t>26.3 nm</a:t>
                      </a:r>
                    </a:p>
                  </a:txBody>
                  <a:tcPr marL="54864" marR="54864" marT="18288" marB="18288">
                    <a:solidFill>
                      <a:srgbClr val="FFFFFF"/>
                    </a:solidFill>
                  </a:tcPr>
                </a:tc>
                <a:tc>
                  <a:txBody>
                    <a:bodyPr wrap="square"/>
                    <a:lstStyle/>
                    <a:p>
                      <a:r>
                        <a:rPr sz="1100" b="0">
                          <a:solidFill>
                            <a:srgbClr val="282828"/>
                          </a:solidFill>
                          <a:latin typeface="Arial"/>
                        </a:rPr>
                        <a:t>0.13 nm lens / 0.03 mirrors</a:t>
                      </a:r>
                    </a:p>
                  </a:txBody>
                  <a:tcPr marL="54864" marR="54864" marT="18288" marB="18288">
                    <a:solidFill>
                      <a:srgbClr val="FFFFFF"/>
                    </a:solidFill>
                  </a:tcPr>
                </a:tc>
              </a:tr>
              <a:tr h="468630">
                <a:tc>
                  <a:txBody>
                    <a:bodyPr wrap="square"/>
                    <a:lstStyle/>
                    <a:p>
                      <a:r>
                        <a:rPr sz="1100" b="0">
                          <a:solidFill>
                            <a:srgbClr val="282828"/>
                          </a:solidFill>
                          <a:latin typeface="Arial"/>
                        </a:rPr>
                        <a:t>10 nm on one actuator: gain / error / SNR</a:t>
                      </a:r>
                    </a:p>
                  </a:txBody>
                  <a:tcPr marL="54864" marR="54864" marT="18288" marB="18288">
                    <a:solidFill>
                      <a:srgbClr val="ECF1F6"/>
                    </a:solidFill>
                  </a:tcPr>
                </a:tc>
                <a:tc>
                  <a:txBody>
                    <a:bodyPr wrap="square"/>
                    <a:lstStyle/>
                    <a:p>
                      <a:r>
                        <a:rPr sz="1100" b="0">
                          <a:solidFill>
                            <a:srgbClr val="282828"/>
                          </a:solidFill>
                          <a:latin typeface="Arial"/>
                        </a:rPr>
                        <a:t>1.003 / 1 pm / 10645</a:t>
                      </a:r>
                    </a:p>
                  </a:txBody>
                  <a:tcPr marL="54864" marR="54864" marT="18288" marB="18288">
                    <a:solidFill>
                      <a:srgbClr val="ECF1F6"/>
                    </a:solidFill>
                  </a:tcPr>
                </a:tc>
                <a:tc>
                  <a:txBody>
                    <a:bodyPr wrap="square"/>
                    <a:lstStyle/>
                    <a:p>
                      <a:r>
                        <a:rPr sz="1100" b="0">
                          <a:solidFill>
                            <a:srgbClr val="282828"/>
                          </a:solidFill>
                          <a:latin typeface="Arial"/>
                        </a:rPr>
                        <a:t>0.986 / 2.2 pm / 6472</a:t>
                      </a:r>
                    </a:p>
                  </a:txBody>
                  <a:tcPr marL="54864" marR="54864" marT="18288" marB="18288">
                    <a:solidFill>
                      <a:srgbClr val="ECF1F6"/>
                    </a:solidFill>
                  </a:tcPr>
                </a:tc>
                <a:tc>
                  <a:txBody>
                    <a:bodyPr wrap="square"/>
                    <a:lstStyle/>
                    <a:p>
                      <a:r>
                        <a:rPr sz="1100" b="0">
                          <a:solidFill>
                            <a:srgbClr val="282828"/>
                          </a:solidFill>
                          <a:latin typeface="Arial"/>
                        </a:rPr>
                        <a:t>0.992 / 2.2 pm (lens), 0.992 / 2.4 (mirrors)</a:t>
                      </a:r>
                    </a:p>
                  </a:txBody>
                  <a:tcPr marL="54864" marR="54864" marT="18288" marB="18288">
                    <a:solidFill>
                      <a:srgbClr val="ECF1F6"/>
                    </a:solidFill>
                  </a:tcPr>
                </a:tc>
              </a:tr>
              <a:tr h="280035">
                <a:tc>
                  <a:txBody>
                    <a:bodyPr wrap="square"/>
                    <a:lstStyle/>
                    <a:p>
                      <a:r>
                        <a:rPr sz="1100" b="0">
                          <a:solidFill>
                            <a:srgbClr val="282828"/>
                          </a:solidFill>
                          <a:latin typeface="Arial"/>
                        </a:rPr>
                        <a:t>1 nm on a 112-site grid</a:t>
                      </a:r>
                    </a:p>
                  </a:txBody>
                  <a:tcPr marL="54864" marR="54864" marT="18288" marB="18288">
                    <a:solidFill>
                      <a:srgbClr val="FFFFFF"/>
                    </a:solidFill>
                  </a:tcPr>
                </a:tc>
                <a:tc>
                  <a:txBody>
                    <a:bodyPr wrap="square"/>
                    <a:lstStyle/>
                    <a:p>
                      <a:r>
                        <a:rPr sz="1100" b="0">
                          <a:solidFill>
                            <a:srgbClr val="282828"/>
                          </a:solidFill>
                          <a:latin typeface="Arial"/>
                        </a:rPr>
                        <a:t>0.754 / 61.5 pm / 135</a:t>
                      </a:r>
                    </a:p>
                  </a:txBody>
                  <a:tcPr marL="54864" marR="54864" marT="18288" marB="18288">
                    <a:solidFill>
                      <a:srgbClr val="FFFFFF"/>
                    </a:solidFill>
                  </a:tcPr>
                </a:tc>
                <a:tc>
                  <a:txBody>
                    <a:bodyPr wrap="square"/>
                    <a:lstStyle/>
                    <a:p>
                      <a:r>
                        <a:rPr sz="1100" b="0">
                          <a:solidFill>
                            <a:srgbClr val="282828"/>
                          </a:solidFill>
                          <a:latin typeface="Arial"/>
                        </a:rPr>
                        <a:t>0.981 / 4.5 pm / 309</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r>
              <a:tr h="468630">
                <a:tc>
                  <a:txBody>
                    <a:bodyPr wrap="square"/>
                    <a:lstStyle/>
                    <a:p>
                      <a:r>
                        <a:rPr sz="1100" b="0">
                          <a:solidFill>
                            <a:srgbClr val="282828"/>
                          </a:solidFill>
                          <a:latin typeface="Arial"/>
                        </a:rPr>
                        <a:t>capture to 10%, single site / grid</a:t>
                      </a:r>
                    </a:p>
                  </a:txBody>
                  <a:tcPr marL="54864" marR="54864" marT="18288" marB="18288">
                    <a:solidFill>
                      <a:srgbClr val="ECF1F6"/>
                    </a:solidFill>
                  </a:tcPr>
                </a:tc>
                <a:tc>
                  <a:txBody>
                    <a:bodyPr wrap="square"/>
                    <a:lstStyle/>
                    <a:p>
                      <a:r>
                        <a:rPr sz="1100" b="0">
                          <a:solidFill>
                            <a:srgbClr val="282828"/>
                          </a:solidFill>
                          <a:latin typeface="Arial"/>
                        </a:rPr>
                        <a:t>480 nm and beyond / outside at the first rung</a:t>
                      </a:r>
                    </a:p>
                  </a:txBody>
                  <a:tcPr marL="54864" marR="54864" marT="18288" marB="18288">
                    <a:solidFill>
                      <a:srgbClr val="ECF1F6"/>
                    </a:solidFill>
                  </a:tcPr>
                </a:tc>
                <a:tc>
                  <a:txBody>
                    <a:bodyPr wrap="square"/>
                    <a:lstStyle/>
                    <a:p>
                      <a:r>
                        <a:rPr sz="1100" b="0">
                          <a:solidFill>
                            <a:srgbClr val="282828"/>
                          </a:solidFill>
                          <a:latin typeface="Arial"/>
                        </a:rPr>
                        <a:t>480 and beyond / 480 and beyond</a:t>
                      </a:r>
                    </a:p>
                  </a:txBody>
                  <a:tcPr marL="54864" marR="54864" marT="18288" marB="18288">
                    <a:solidFill>
                      <a:srgbClr val="ECF1F6"/>
                    </a:solidFill>
                  </a:tcPr>
                </a:tc>
                <a:tc>
                  <a:txBody>
                    <a:bodyPr wrap="square"/>
                    <a:lstStyle/>
                    <a:p>
                      <a:r>
                        <a:rPr sz="1100" b="0">
                          <a:solidFill>
                            <a:srgbClr val="282828"/>
                          </a:solidFill>
                          <a:latin typeface="Arial"/>
                        </a:rPr>
                        <a:t>322 / 480 and beyond</a:t>
                      </a:r>
                    </a:p>
                  </a:txBody>
                  <a:tcPr marL="54864" marR="54864" marT="18288" marB="18288">
                    <a:solidFill>
                      <a:srgbClr val="ECF1F6"/>
                    </a:solidFill>
                  </a:tcPr>
                </a:tc>
              </a:tr>
              <a:tr h="280035">
                <a:tc>
                  <a:txBody>
                    <a:bodyPr wrap="square"/>
                    <a:lstStyle/>
                    <a:p>
                      <a:r>
                        <a:rPr sz="1100" b="0">
                          <a:solidFill>
                            <a:srgbClr val="282828"/>
                          </a:solidFill>
                          <a:latin typeface="Arial"/>
                        </a:rPr>
                        <a:t>pupil image on the 96 mm beam</a:t>
                      </a:r>
                    </a:p>
                  </a:txBody>
                  <a:tcPr marL="54864" marR="54864" marT="18288" marB="18288">
                    <a:solidFill>
                      <a:srgbClr val="FFFFFF"/>
                    </a:solidFill>
                  </a:tcPr>
                </a:tc>
                <a:tc>
                  <a:txBody>
                    <a:bodyPr wrap="square"/>
                    <a:lstStyle/>
                    <a:p>
                      <a:r>
                        <a:rPr sz="1100" b="0">
                          <a:solidFill>
                            <a:srgbClr val="282828"/>
                          </a:solidFill>
                          <a:latin typeface="Arial"/>
                        </a:rPr>
                        <a:t>9.5 mm (341 px)</a:t>
                      </a:r>
                    </a:p>
                  </a:txBody>
                  <a:tcPr marL="54864" marR="54864" marT="18288" marB="18288">
                    <a:solidFill>
                      <a:srgbClr val="FFFFFF"/>
                    </a:solidFill>
                  </a:tcPr>
                </a:tc>
                <a:tc>
                  <a:txBody>
                    <a:bodyPr wrap="square"/>
                    <a:lstStyle/>
                    <a:p>
                      <a:r>
                        <a:rPr sz="1100" b="0">
                          <a:solidFill>
                            <a:srgbClr val="282828"/>
                          </a:solidFill>
                          <a:latin typeface="Arial"/>
                        </a:rPr>
                        <a:t>11.1 mm (384 px)</a:t>
                      </a:r>
                    </a:p>
                  </a:txBody>
                  <a:tcPr marL="54864" marR="54864" marT="18288" marB="18288">
                    <a:solidFill>
                      <a:srgbClr val="FFFFFF"/>
                    </a:solidFill>
                  </a:tcPr>
                </a:tc>
                <a:tc>
                  <a:txBody>
                    <a:bodyPr wrap="square"/>
                    <a:lstStyle/>
                    <a:p>
                      <a:r>
                        <a:rPr sz="1100" b="0">
                          <a:solidFill>
                            <a:srgbClr val="282828"/>
                          </a:solidFill>
                          <a:latin typeface="Arial"/>
                        </a:rPr>
                        <a:t>7.8 / 8.0 mm</a:t>
                      </a:r>
                    </a:p>
                  </a:txBody>
                  <a:tcPr marL="54864" marR="54864" marT="18288" marB="18288">
                    <a:solidFill>
                      <a:srgbClr val="FFFFFF"/>
                    </a:solidFill>
                  </a:tcPr>
                </a:tc>
              </a:tr>
              <a:tr h="468630">
                <a:tc>
                  <a:txBody>
                    <a:bodyPr wrap="square"/>
                    <a:lstStyle/>
                    <a:p>
                      <a:r>
                        <a:rPr sz="1100" b="0">
                          <a:solidFill>
                            <a:srgbClr val="282828"/>
                          </a:solidFill>
                          <a:latin typeface="Arial"/>
                        </a:rPr>
                        <a:t>pupil imaging on these decks (tg96_pupilsim): image surface vs the camera / Nyquist gain / distortion / 30 nm surface error</a:t>
                      </a:r>
                    </a:p>
                  </a:txBody>
                  <a:tcPr marL="54864" marR="54864" marT="18288" marB="18288">
                    <a:solidFill>
                      <a:srgbClr val="ECF1F6"/>
                    </a:solidFill>
                  </a:tcPr>
                </a:tc>
                <a:tc>
                  <a:txBody>
                    <a:bodyPr wrap="square"/>
                    <a:lstStyle/>
                    <a:p>
                      <a:r>
                        <a:rPr sz="1100" b="0">
                          <a:solidFill>
                            <a:srgbClr val="282828"/>
                          </a:solidFill>
                          <a:latin typeface="Arial"/>
                        </a:rPr>
                        <a:t>within ±0.3 mm / 0.9999 / 0.008 mm / 0.08 nm</a:t>
                      </a:r>
                    </a:p>
                  </a:txBody>
                  <a:tcPr marL="54864" marR="54864" marT="18288" marB="18288">
                    <a:solidFill>
                      <a:srgbClr val="ECF1F6"/>
                    </a:solidFill>
                  </a:tcPr>
                </a:tc>
                <a:tc>
                  <a:txBody>
                    <a:bodyPr wrap="square"/>
                    <a:lstStyle/>
                    <a:p>
                      <a:r>
                        <a:rPr sz="1100" b="0">
                          <a:solidFill>
                            <a:srgbClr val="282828"/>
                          </a:solidFill>
                          <a:latin typeface="Arial"/>
                        </a:rPr>
                        <a:t>within −0.6 to +0.4 mm / 0.9996 / 0.72 mm (the parabola pair's mapping) / 0.10 nm</a:t>
                      </a:r>
                    </a:p>
                  </a:txBody>
                  <a:tcPr marL="54864" marR="54864" marT="18288" marB="18288">
                    <a:solidFill>
                      <a:srgbClr val="ECF1F6"/>
                    </a:solidFill>
                  </a:tcPr>
                </a:tc>
                <a:tc>
                  <a:txBody>
                    <a:bodyPr wrap="square"/>
                    <a:lstStyle/>
                    <a:p>
                      <a:r>
                        <a:rPr sz="1100" b="0">
                          <a:solidFill>
                            <a:srgbClr val="282828"/>
                          </a:solidFill>
                          <a:latin typeface="Arial"/>
                        </a:rPr>
                        <a:t>tuned tail: 2.6 to 6 mm / 0.954 / 0.27 mm / 1.2 nm</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at 385 px, substrates in: stepped-Zernike rows, single / grid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0.993 / 5 pm; 0.995 / 4 pm</a:t>
                      </a:r>
                    </a:p>
                  </a:txBody>
                  <a:tcPr marL="54864" marR="54864" marT="18288" marB="18288">
                    <a:solidFill>
                      <a:srgbClr val="FFFFFF"/>
                    </a:solidFill>
                  </a:tcPr>
                </a:tc>
                <a:tc>
                  <a:txBody>
                    <a:bodyPr wrap="square"/>
                    <a:lstStyle/>
                    <a:p>
                      <a:r>
                        <a:rPr sz="1100" b="0">
                          <a:solidFill>
                            <a:srgbClr val="282828"/>
                          </a:solidFill>
                          <a:latin typeface="Arial"/>
                        </a:rPr>
                        <a:t>0.991 / 4; 0.999 / 4 (no substrates)</a:t>
                      </a:r>
                    </a:p>
                  </a:txBody>
                  <a:tcPr marL="54864" marR="54864" marT="18288" marB="18288">
                    <a:solidFill>
                      <a:srgbClr val="FFFFFF"/>
                    </a:solidFill>
                  </a:tcPr>
                </a:tc>
              </a:tr>
              <a:tr h="468630">
                <a:tc>
                  <a:txBody>
                    <a:bodyPr wrap="square"/>
                    <a:lstStyle/>
                    <a:p>
                      <a:r>
                        <a:rPr sz="1100" b="0">
                          <a:solidFill>
                            <a:srgbClr val="282828"/>
                          </a:solidFill>
                          <a:latin typeface="Arial"/>
                        </a:rPr>
                        <a:t>the sensors' capture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c>
                  <a:txBody>
                    <a:bodyPr wrap="square"/>
                    <a:lstStyle/>
                    <a:p>
                      <a:r>
                        <a:rPr sz="1100" b="0">
                          <a:solidFill>
                            <a:srgbClr val="282828"/>
                          </a:solidFill>
                          <a:latin typeface="Arial"/>
                        </a:rPr>
                        <a:t>36 / 59 / 52 nm (no substrates)</a:t>
                      </a:r>
                    </a:p>
                  </a:txBody>
                  <a:tcPr marL="54864" marR="54864" marT="18288" marB="18288">
                    <a:solidFill>
                      <a:srgbClr val="ECF1F6"/>
                    </a:solidFill>
                  </a:tcPr>
                </a:tc>
              </a:tr>
            </a:tbl>
          </a:graphicData>
        </a:graphic>
      </p:graphicFrame>
      <p:sp>
        <p:nvSpPr>
          <p:cNvPr id="5" name="TextBox 4"/>
          <p:cNvSpPr txBox="1"/>
          <p:nvPr/>
        </p:nvSpPr>
        <p:spPr>
          <a:xfrm>
            <a:off x="411480" y="5096637"/>
            <a:ext cx="11368735" cy="274320"/>
          </a:xfrm>
          <a:prstGeom prst="rect">
            <a:avLst/>
          </a:prstGeom>
          <a:noFill/>
        </p:spPr>
        <p:txBody>
          <a:bodyPr wrap="square">
            <a:spAutoFit/>
          </a:bodyPr>
          <a:lstStyle/>
          <a:p>
            <a:pPr>
              <a:spcAft>
                <a:spcPts val="600"/>
              </a:spcAft>
            </a:pPr>
            <a:r>
              <a:rPr sz="1500" b="0">
                <a:solidFill>
                  <a:srgbClr val="282828"/>
                </a:solidFill>
                <a:latin typeface="Arial"/>
              </a:rPr>
              <a:t>•  Read it as the redo's justification: with the 10 mm plates and the 2 mm windows in, the seed tail's null on the lens rig's misfed collimator reaches 92 nm, a third of a wave of wavefront, and the 112-site row at 1 nm falls to 0.75 through the fold, while one actuator still reads to 1 pm.  Package A (the collimator at its focus, the tail tuned on the reading) is what restores it; the mirror rig, already fed at its focus, holds its rows at 0.98 to 0.99 with a 26 nm fixed-pattern null the reference frame removes.</a:t>
            </a:r>
          </a:p>
          <a:p>
            <a:pPr>
              <a:spcAft>
                <a:spcPts val="600"/>
              </a:spcAft>
            </a:pPr>
            <a:r>
              <a:rPr sz="1500" b="0">
                <a:solidFill>
                  <a:srgbClr val="282828"/>
                </a:solidFill>
                <a:latin typeface="Arial"/>
              </a:rPr>
              <a:t>•  The pupil image is not what limits either rig: on the seed tail with the substrates in, the DM images within a third of a millimeter of the camera on lenses (0.9999 at the actuator Nyquist, 0.08 nm on the working surface) and within 0.6 mm on mirrors; the lens rig's 92 nm null is the plate's spherical aberration and the misfed collimator, not the imaging.  The mask plate costs the sensors a little capture (vector 59 to 51 nm, pinhole 52 to 42) and no gain.</a:t>
            </a:r>
          </a:p>
          <a:p>
            <a:pPr>
              <a:spcAft>
                <a:spcPts val="600"/>
              </a:spcAft>
            </a:pPr>
            <a:r>
              <a:rPr sz="1500" b="0">
                <a:solidFill>
                  <a:srgbClr val="282828"/>
                </a:solidFill>
                <a:latin typeface="Arial"/>
              </a:rPr>
              <a:t>•  One clearance line moved: with the thicker plates and the larger beam the compensator sits 16 mm from the source beam against the 25 mm rule; it moves down the DM leg in the redo.</a:t>
            </a:r>
          </a:p>
        </p:txBody>
      </p:sp>
      <p:sp>
        <p:nvSpPr>
          <p:cNvPr id="6" name="TextBox 5"/>
          <p:cNvSpPr txBox="1"/>
          <p:nvPr/>
        </p:nvSpPr>
        <p:spPr>
          <a:xfrm>
            <a:off x="411480" y="8277987"/>
            <a:ext cx="11368735" cy="274320"/>
          </a:xfrm>
          <a:prstGeom prst="rect">
            <a:avLst/>
          </a:prstGeom>
          <a:noFill/>
        </p:spPr>
        <p:txBody>
          <a:bodyPr wrap="square">
            <a:spAutoFit/>
          </a:bodyPr>
          <a:lstStyle/>
          <a:p>
            <a:pPr>
              <a:spcAft>
                <a:spcPts val="600"/>
              </a:spcAft>
            </a:pPr>
            <a:r>
              <a:rPr sz="1050" b="0">
                <a:solidFill>
                  <a:srgbClr val="6E6E6E"/>
                </a:solidFill>
                <a:latin typeface="Arial"/>
              </a:rPr>
              <a:t>Run tags sub96_lens, sub96_oap, pupilsim_sub96_lens, pupilsim_sub96_oap, sub96_oapsens (the Mac, RUNBOOK_mac_cycle3a, 2026-09-17).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