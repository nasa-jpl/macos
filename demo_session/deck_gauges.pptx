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  The reflective front end has been redesigned on it (2026-09-15) and its rows are being re-measured; the lenses-versus-mirrors comparison is provisional.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the light per cycle that holds 3 pm rms,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4061668" y="1298448"/>
            <a:ext cx="4068357" cy="2348992"/>
          </a:xfrm>
          <a:prstGeom prst="rect">
            <a:avLst/>
          </a:prstGeom>
        </p:spPr>
      </p:pic>
      <p:sp>
        <p:nvSpPr>
          <p:cNvPr id="5" name="TextBox 4"/>
          <p:cNvSpPr txBox="1"/>
          <p:nvPr/>
        </p:nvSpPr>
        <p:spPr>
          <a:xfrm>
            <a:off x="411480" y="366572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at the 22.5° splitter: source at left, collimator L1, the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4096511"/>
          <a:ext cx="5806439" cy="1965960"/>
        </p:xfrm>
        <a:graphic>
          <a:graphicData uri="http://schemas.openxmlformats.org/drawingml/2006/table">
            <a:tbl>
              <a:tblPr firstRow="1" bandRow="1">
                <a:tableStyleId>{5C22544A-7EE6-4342-B048-85BDC9FD1C3A}</a:tableStyleId>
              </a:tblPr>
              <a:tblGrid>
                <a:gridCol w="662479"/>
                <a:gridCol w="514396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 modeled 5 mm center, 2 mm edge, to be a real 103 mm singlet</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22.5° incidence (the record's 7° does not clear the node: next slide), 50/50; compensator matched; modeled 2.6 mm thick, to be 10 mm</a:t>
                      </a:r>
                    </a:p>
                  </a:txBody>
                  <a:tcPr marL="54864" marR="54864" marT="18288" marB="18288">
                    <a:solidFill>
                      <a:srgbClr val="FFFFFF"/>
                    </a:solidFill>
                  </a:tcPr>
                </a:tc>
              </a:tr>
              <a:tr h="468630">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4096511"/>
          <a:ext cx="5394960" cy="165735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 modeled 8 mm center, to be real</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43434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pupil image 9.4 mm: a 6.5 µm sCMOS puts 1450 pixels across it, binned 4 to the modeled 385 (5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590016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  The drawings are to scale: the model's parts are the 56 mm rig's scaled up, thinner than 103 mm optics can be built; the next model round gives every part its real thickness.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tail,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962404"/>
                <a:gridCol w="3763129"/>
                <a:gridCol w="2180336"/>
                <a:gridCol w="509524"/>
                <a:gridCol w="295334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modeled 2.6 mm, to be 10 mm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46863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46863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(9.4 mm)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binned 4 to 385 pixels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The tail (focuser, mask seat, field lens, camera) is tuned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rows and the servo use the calibrated estimate.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the rows on the same surface read 0.9935 / 4 pm through the matrix.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rows are being re-measured.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mask seat is diffraction-limited at zero trim, and its untuned tail nulls 4.6× better than the lens rig's tuned one; the rows are running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263140"/>
        </p:xfrm>
        <a:graphic>
          <a:graphicData uri="http://schemas.openxmlformats.org/drawingml/2006/table">
            <a:tbl>
              <a:tblPr firstRow="1" bandRow="1">
                <a:tableStyleId>{5C22544A-7EE6-4342-B048-85BDC9FD1C3A}</a:tableStyleId>
              </a:tblPr>
              <a:tblGrid>
                <a:gridCol w="1940292"/>
                <a:gridCol w="1656347"/>
                <a:gridCol w="1798320"/>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flat-mirror null, tail as tuned / untuned</a:t>
                      </a:r>
                    </a:p>
                  </a:txBody>
                  <a:tcPr marL="54864" marR="54864" marT="18288" marB="18288">
                    <a:solidFill>
                      <a:srgbClr val="FFFFFF"/>
                    </a:solidFill>
                  </a:tcPr>
                </a:tc>
                <a:tc>
                  <a:txBody>
                    <a:bodyPr wrap="square"/>
                    <a:lstStyle/>
                    <a:p>
                      <a:r>
                        <a:rPr sz="1000" b="0">
                          <a:solidFill>
                            <a:srgbClr val="282828"/>
                          </a:solidFill>
                          <a:latin typeface="Arial"/>
                        </a:rPr>
                        <a:t>12.9 nm tuned</a:t>
                      </a:r>
                    </a:p>
                  </a:txBody>
                  <a:tcPr marL="54864" marR="54864" marT="18288" marB="18288">
                    <a:solidFill>
                      <a:srgbClr val="FFFFFF"/>
                    </a:solidFill>
                  </a:tcPr>
                </a:tc>
                <a:tc>
                  <a:txBody>
                    <a:bodyPr wrap="square"/>
                    <a:lstStyle/>
                    <a:p>
                      <a:r>
                        <a:rPr sz="1000" b="0">
                          <a:solidFill>
                            <a:srgbClr val="282828"/>
                          </a:solidFill>
                          <a:latin typeface="Arial"/>
                        </a:rPr>
                        <a:t>0.029 nm untuned (lens rig 0.13 tuned)</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a:p>
            <a:pPr>
              <a:spcAft>
                <a:spcPts val="600"/>
              </a:spcAft>
            </a:pPr>
            <a:r>
              <a:rPr sz="1200" b="0">
                <a:solidFill>
                  <a:srgbClr val="282828"/>
                </a:solidFill>
                <a:latin typeface="Arial"/>
              </a:rPr>
              <a:t>•  Open: the interferometer's rows, servo and descent, and the three sensors on this rig, are running (TO).  Their numbers replace the record's on the previous slide when they land.</a:t>
            </a:r>
          </a:p>
        </p:txBody>
      </p:sp>
      <p:sp>
        <p:nvSpPr>
          <p:cNvPr id="8" name="TextBox 7"/>
          <p:cNvSpPr txBox="1"/>
          <p:nvPr/>
        </p:nvSpPr>
        <p:spPr>
          <a:xfrm>
            <a:off x="6400800" y="6344412"/>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loss, loss_src, conj, zseat, oap22d, oapdraw3, oap22d_tail; tg_psi_dm96_oap/REPORT_reflective.md (TO, 2026-09-15).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on the record; the redesigned mirror rig (fed at its focus, 22.5°) removes what walled the servo and broke the pinhole, and its rows are running.  If they match the lens rig's, the mirrors are the budget choice with no penalty.</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436880"/>
                <a:gridCol w="2856711"/>
                <a:gridCol w="2512848"/>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tail tune;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65722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2946123"/>
                <a:gridCol w="3371045"/>
                <a:gridCol w="35976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tail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tail</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(the 22.5° bench).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937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