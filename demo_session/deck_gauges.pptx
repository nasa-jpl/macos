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4" cy="2440305"/>
        </p:xfrm>
        <a:graphic>
          <a:graphicData uri="http://schemas.openxmlformats.org/drawingml/2006/table">
            <a:tbl>
              <a:tblPr firstRow="1" bandRow="1">
                <a:tableStyleId>{5C22544A-7EE6-4342-B048-85BDC9FD1C3A}</a:tableStyleId>
              </a:tblPr>
              <a:tblGrid>
                <a:gridCol w="1235964"/>
                <a:gridCol w="3898704"/>
                <a:gridCol w="6234066"/>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845820">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reading folds over at 120 nm of surface where the lens rig's does at 240, and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17361"/>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2285"/>
        </p:xfrm>
        <a:graphic>
          <a:graphicData uri="http://schemas.openxmlformats.org/drawingml/2006/table">
            <a:tbl>
              <a:tblPr firstRow="1" bandRow="1">
                <a:tableStyleId>{5C22544A-7EE6-4342-B048-85BDC9FD1C3A}</a:tableStyleId>
              </a:tblPr>
              <a:tblGrid>
                <a:gridCol w="1962404"/>
                <a:gridCol w="5406970"/>
                <a:gridCol w="2180336"/>
                <a:gridCol w="509524"/>
                <a:gridCol w="1309500"/>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84582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so the interferometer's flat null rises from 0.13 to 20 nm (its differential rows are being re-measured;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657225">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657225">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84582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84582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8297037"/>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apifol2_stations.png"/>
          <p:cNvPicPr>
            <a:picLocks noChangeAspect="1"/>
          </p:cNvPicPr>
          <p:nvPr/>
        </p:nvPicPr>
        <p:blipFill>
          <a:blip r:embed="rId2"/>
          <a:stretch>
            <a:fillRect/>
          </a:stretch>
        </p:blipFill>
        <p:spPr>
          <a:xfrm>
            <a:off x="2231570" y="1298448"/>
            <a:ext cx="7728554"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oapifol2 (seed detector leg, record resolution); the lens rig's figure is being regenerated at the same width.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721163"/>
                <a:gridCol w="7020533"/>
                <a:gridCol w="262703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0.99 / 2 pm to 60 nm; the raw reading folds at 120 nm (lens rig at 240): two wrapped maps subtracted, an arithmetic of the ladder, not a limit of the bench</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617470"/>
        </p:xfrm>
        <a:graphic>
          <a:graphicData uri="http://schemas.openxmlformats.org/drawingml/2006/table">
            <a:tbl>
              <a:tblPr firstRow="1" bandRow="1">
                <a:tableStyleId>{5C22544A-7EE6-4342-B048-85BDC9FD1C3A}</a:tableStyleId>
              </a:tblPr>
              <a:tblGrid>
                <a:gridCol w="2148382"/>
                <a:gridCol w="1683867"/>
                <a:gridCol w="1974189"/>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346329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5.4e12</a:t>
                      </a:r>
                    </a:p>
                  </a:txBody>
                  <a:tcPr marL="54864" marR="54864" marT="18288" marB="18288">
                    <a:solidFill>
                      <a:srgbClr val="FFFFFF"/>
                    </a:solidFill>
                  </a:tcPr>
                </a:tc>
                <a:tc>
                  <a:txBody>
                    <a:bodyPr wrap="square"/>
                    <a:lstStyle/>
                    <a:p>
                      <a:r>
                        <a:rPr sz="1100" b="0">
                          <a:solidFill>
                            <a:srgbClr val="282828"/>
                          </a:solidFill>
                          <a:latin typeface="Arial"/>
                        </a:rPr>
                        <a:t>1.7e13</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c>
                  <a:txBody>
                    <a:bodyPr wrap="square"/>
                    <a:lstStyle/>
                    <a:p>
                      <a:r>
                        <a:rPr sz="1100" b="0">
                          <a:solidFill>
                            <a:srgbClr val="282828"/>
                          </a:solidFill>
                          <a:latin typeface="Arial"/>
                        </a:rPr>
                        <a:t>never (4.1 pm floor)</a:t>
                      </a:r>
                    </a:p>
                  </a:txBody>
                  <a:tcPr marL="54864" marR="54864" marT="18288" marB="18288">
                    <a:solidFill>
                      <a:srgbClr val="ECF1F6"/>
                    </a:solidFill>
                  </a:tcPr>
                </a:tc>
                <a:tc>
                  <a:txBody>
                    <a:bodyPr wrap="square"/>
                    <a:lstStyle/>
                    <a:p>
                      <a:r>
                        <a:rPr sz="1100" b="0">
                          <a:solidFill>
                            <a:srgbClr val="282828"/>
                          </a:solidFill>
                          <a:latin typeface="Arial"/>
                        </a:rPr>
                        <a:t>39 pm</a:t>
                      </a:r>
                    </a:p>
                  </a:txBody>
                  <a:tcPr marL="54864" marR="54864" marT="18288" marB="18288">
                    <a:solidFill>
                      <a:srgbClr val="ECF1F6"/>
                    </a:solidFill>
                  </a:tcPr>
                </a:tc>
                <a:tc>
                  <a:txBody>
                    <a:bodyPr wrap="square"/>
                    <a:lstStyle/>
                    <a:p>
                      <a:r>
                        <a:rPr sz="1100" b="0">
                          <a:solidFill>
                            <a:srgbClr val="282828"/>
                          </a:solidFill>
                          <a:latin typeface="Arial"/>
                        </a:rPr>
                        <a:t>276 pm (27.6%)</a:t>
                      </a:r>
                    </a:p>
                  </a:txBody>
                  <a:tcPr marL="54864" marR="54864" marT="18288" marB="18288">
                    <a:solidFill>
                      <a:srgbClr val="ECF1F6"/>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240280"/>
        </p:xfrm>
        <a:graphic>
          <a:graphicData uri="http://schemas.openxmlformats.org/drawingml/2006/table">
            <a:tbl>
              <a:tblPr firstRow="1" bandRow="1">
                <a:tableStyleId>{5C22544A-7EE6-4342-B048-85BDC9FD1C3A}</a:tableStyleId>
              </a:tblPr>
              <a:tblGrid>
                <a:gridCol w="3830648"/>
                <a:gridCol w="1889760"/>
                <a:gridCol w="3395347"/>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stalls from 60 nm</a:t>
                      </a:r>
                    </a:p>
                  </a:txBody>
                  <a:tcPr marL="54864" marR="54864" marT="18288" marB="18288">
                    <a:solidFill>
                      <a:srgbClr val="FFFFFF"/>
                    </a:solidFill>
                  </a:tcPr>
                </a:tc>
                <a:tc>
                  <a:txBody>
                    <a:bodyPr wrap="square"/>
                    <a:lstStyle/>
                    <a:p>
                      <a:r>
                        <a:rPr sz="1100" b="0">
                          <a:solidFill>
                            <a:srgbClr val="282828"/>
                          </a:solidFill>
                          <a:latin typeface="Arial"/>
                        </a:rPr>
                        <a:t>3 pm from 200 nm in 19 cycles</a:t>
                      </a:r>
                    </a:p>
                  </a:txBody>
                  <a:tcPr marL="54864" marR="54864" marT="18288" marB="18288">
                    <a:solidFill>
                      <a:srgbClr val="FFFFFF"/>
                    </a:solidFill>
                  </a:tcPr>
                </a:tc>
                <a:tc>
                  <a:txBody>
                    <a:bodyPr wrap="square"/>
                    <a:lstStyle/>
                    <a:p>
                      <a:r>
                        <a:rPr sz="1100" b="0">
                          <a:solidFill>
                            <a:srgbClr val="282828"/>
                          </a:solidFill>
                          <a:latin typeface="Arial"/>
                        </a:rPr>
                        <a:t>3 pm from 300 nm in 43 cycles</a:t>
                      </a:r>
                    </a:p>
                  </a:txBody>
                  <a:tcPr marL="54864" marR="54864" marT="18288" marB="18288">
                    <a:solidFill>
                      <a:srgbClr val="FFFFFF"/>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ECF1F6"/>
                    </a:solidFill>
                  </a:tcPr>
                </a:tc>
                <a:tc>
                  <a:txBody>
                    <a:bodyPr wrap="square"/>
                    <a:lstStyle/>
                    <a:p>
                      <a:r>
                        <a:rPr sz="1100" b="0">
                          <a:solidFill>
                            <a:srgbClr val="282828"/>
                          </a:solidFill>
                          <a:latin typeface="Arial"/>
                        </a:rPr>
                        <a:t>19.6 pm, fails</a:t>
                      </a:r>
                    </a:p>
                  </a:txBody>
                  <a:tcPr marL="54864" marR="54864" marT="18288" marB="18288">
                    <a:solidFill>
                      <a:srgbClr val="ECF1F6"/>
                    </a:solidFill>
                  </a:tcPr>
                </a:tc>
                <a:tc>
                  <a:txBody>
                    <a:bodyPr wrap="square"/>
                    <a:lstStyle/>
                    <a:p>
                      <a:r>
                        <a:rPr sz="1100" b="0">
                          <a:solidFill>
                            <a:srgbClr val="282828"/>
                          </a:solidFill>
                          <a:latin typeface="Arial"/>
                        </a:rPr>
                        <a:t>634 pm raw; 0.054 pm calibrated: passes</a:t>
                      </a:r>
                    </a:p>
                  </a:txBody>
                  <a:tcPr marL="54864" marR="54864" marT="18288" marB="18288">
                    <a:solidFill>
                      <a:srgbClr val="ECF1F6"/>
                    </a:solidFill>
                  </a:tcPr>
                </a:tc>
                <a:tc>
                  <a:txBody>
                    <a:bodyPr wrap="square"/>
                    <a:lstStyle/>
                    <a:p>
                      <a:r>
                        <a:rPr sz="1100" b="0">
                          <a:solidFill>
                            <a:srgbClr val="282828"/>
                          </a:solidFill>
                          <a:latin typeface="Arial"/>
                        </a:rPr>
                        <a:t>0.05 pm</a:t>
                      </a:r>
                    </a:p>
                  </a:txBody>
                  <a:tcPr marL="54864" marR="54864" marT="18288" marB="18288">
                    <a:solidFill>
                      <a:srgbClr val="ECF1F6"/>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FFFFFF"/>
                    </a:solidFill>
                  </a:tcPr>
                </a:tc>
                <a:tc>
                  <a:txBody>
                    <a:bodyPr wrap="square"/>
                    <a:lstStyle/>
                    <a:p>
                      <a:r>
                        <a:rPr sz="1100" b="0">
                          <a:solidFill>
                            <a:srgbClr val="282828"/>
                          </a:solidFill>
                          <a:latin typeface="Arial"/>
                        </a:rPr>
                        <a:t>94 pm, fails</a:t>
                      </a:r>
                    </a:p>
                  </a:txBody>
                  <a:tcPr marL="54864" marR="54864" marT="18288" marB="18288">
                    <a:solidFill>
                      <a:srgbClr val="FFFFFF"/>
                    </a:solidFill>
                  </a:tcPr>
                </a:tc>
                <a:tc>
                  <a:txBody>
                    <a:bodyPr wrap="square"/>
                    <a:lstStyle/>
                    <a:p>
                      <a:r>
                        <a:rPr sz="1100" b="0">
                          <a:solidFill>
                            <a:srgbClr val="282828"/>
                          </a:solidFill>
                          <a:latin typeface="Arial"/>
                        </a:rPr>
                        <a:t>0.27 pm: passes</a:t>
                      </a:r>
                    </a:p>
                  </a:txBody>
                  <a:tcPr marL="54864" marR="54864" marT="18288" marB="18288">
                    <a:solidFill>
                      <a:srgbClr val="FFFFFF"/>
                    </a:solidFill>
                  </a:tcPr>
                </a:tc>
                <a:tc>
                  <a:txBody>
                    <a:bodyPr wrap="square"/>
                    <a:lstStyle/>
                    <a:p>
                      <a:r>
                        <a:rPr sz="1100" b="0">
                          <a:solidFill>
                            <a:srgbClr val="282828"/>
                          </a:solidFill>
                          <a:latin typeface="Arial"/>
                        </a:rPr>
                        <a:t>1.9 pm</a:t>
                      </a:r>
                    </a:p>
                  </a:txBody>
                  <a:tcPr marL="54864" marR="54864" marT="18288" marB="18288">
                    <a:solidFill>
                      <a:srgbClr val="FFFFFF"/>
                    </a:solidFill>
                  </a:tcPr>
                </a:tc>
              </a:tr>
            </a:tbl>
          </a:graphicData>
        </a:graphic>
      </p:graphicFrame>
      <p:sp>
        <p:nvSpPr>
          <p:cNvPr id="5" name="TextBox 4"/>
          <p:cNvSpPr txBox="1"/>
          <p:nvPr/>
        </p:nvSpPr>
        <p:spPr>
          <a:xfrm>
            <a:off x="411480" y="368503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Open: the raw interferometer reading folds at 120 nm of surface on this rig and at 240 on the lens rig, which is the ladder subtracting two wrapped maps rather than a bench limit; both rigs capture with unwrapping.  The detector leg here is the geometric seed (the tuner's objective prefers a leg that does not read: a known defect, being fixed).</a:t>
            </a:r>
          </a:p>
        </p:txBody>
      </p:sp>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tg_psi_dm96_oap/REPORT_reflective.md (TO, 2026-09-16).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(1.7e13 vs 2.0e13 photons per cycle)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98906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