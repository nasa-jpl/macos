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16 Zernike sensor</a:t>
            </a:r>
          </a:p>
          <a:p>
            <a:pPr>
              <a:spcAft>
                <a:spcPts val="600"/>
              </a:spcAft>
            </a:pPr>
            <a:r>
              <a:rPr sz="1200" b="0">
                <a:solidFill>
                  <a:srgbClr val="282828"/>
                </a:solidFill>
                <a:latin typeface="Arial"/>
              </a:rPr>
              <a:t>•  18 Vector Zernike sensor</a:t>
            </a:r>
          </a:p>
          <a:p>
            <a:pPr>
              <a:spcAft>
                <a:spcPts val="600"/>
              </a:spcAft>
            </a:pPr>
            <a:r>
              <a:rPr sz="1200" b="0">
                <a:solidFill>
                  <a:srgbClr val="282828"/>
                </a:solidFill>
                <a:latin typeface="Arial"/>
              </a:rPr>
              <a:t>•  21 Point-diffraction sensor</a:t>
            </a:r>
          </a:p>
          <a:p>
            <a:pPr>
              <a:spcAft>
                <a:spcPts val="600"/>
              </a:spcAft>
            </a:pPr>
            <a:r>
              <a:rPr sz="1200" b="0">
                <a:solidFill>
                  <a:srgbClr val="282828"/>
                </a:solidFill>
                <a:latin typeface="Arial"/>
              </a:rPr>
              <a:t>•  24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30 Lenses versus off-axis parabolas</a:t>
            </a:r>
          </a:p>
          <a:p>
            <a:pPr>
              <a:spcAft>
                <a:spcPts val="600"/>
              </a:spcAft>
            </a:pPr>
            <a:r>
              <a:rPr sz="1200" b="0">
                <a:solidFill>
                  <a:srgbClr val="282828"/>
                </a:solidFill>
                <a:latin typeface="Arial"/>
              </a:rPr>
              <a:t>•  31 The reflective front end and its performance</a:t>
            </a:r>
          </a:p>
          <a:p>
            <a:pPr>
              <a:spcAft>
                <a:spcPts val="600"/>
              </a:spcAft>
            </a:pPr>
            <a:r>
              <a:rPr sz="1200" b="0">
                <a:solidFill>
                  <a:srgbClr val="282828"/>
                </a:solidFill>
                <a:latin typeface="Arial"/>
              </a:rPr>
              <a:t>•  33 Comparison and recommendation</a:t>
            </a:r>
          </a:p>
          <a:p>
            <a:pPr>
              <a:spcAft>
                <a:spcPts val="600"/>
              </a:spcAft>
            </a:pPr>
            <a:r>
              <a:rPr sz="1200" b="0">
                <a:solidFill>
                  <a:srgbClr val="282828"/>
                </a:solidFill>
                <a:latin typeface="Arial"/>
              </a:rPr>
              <a:t>•  36 Complex amplitude</a:t>
            </a:r>
          </a:p>
          <a:p>
            <a:pPr>
              <a:spcAft>
                <a:spcPts val="600"/>
              </a:spcAft>
            </a:pPr>
            <a:r>
              <a:rPr sz="1200" b="0">
                <a:solidFill>
                  <a:srgbClr val="282828"/>
                </a:solidFill>
                <a:latin typeface="Arial"/>
              </a:rPr>
              <a:t>•  37 Summary and future work</a:t>
            </a:r>
          </a:p>
          <a:p>
            <a:pPr>
              <a:spcAft>
                <a:spcPts val="600"/>
              </a:spcAft>
            </a:pPr>
            <a:r>
              <a:rPr sz="1200" b="0">
                <a:solidFill>
                  <a:srgbClr val="282828"/>
                </a:solidFill>
                <a:latin typeface="Arial"/>
              </a:rPr>
              <a:t>•  42 Run it yourself</a:t>
            </a:r>
          </a:p>
          <a:p>
            <a:pPr>
              <a:spcAft>
                <a:spcPts val="600"/>
              </a:spcAft>
            </a:pPr>
            <a:r>
              <a:rPr sz="1200" b="0">
                <a:solidFill>
                  <a:srgbClr val="282828"/>
                </a:solidFill>
                <a:latin typeface="Arial"/>
              </a:rPr>
              <a:t>•  43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8549640"/>
        </p:xfrm>
        <a:graphic>
          <a:graphicData uri="http://schemas.openxmlformats.org/drawingml/2006/table">
            <a:tbl>
              <a:tblPr firstRow="1" bandRow="1">
                <a:tableStyleId>{5C22544A-7EE6-4342-B048-85BDC9FD1C3A}</a:tableStyleId>
              </a:tblPr>
              <a:tblGrid>
                <a:gridCol w="1962404"/>
                <a:gridCol w="5700809"/>
                <a:gridCol w="2180336"/>
                <a:gridCol w="509524"/>
                <a:gridCol w="101566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84582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103441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84582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84582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84582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103441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103441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657225">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657225">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999439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520315"/>
        </p:xfrm>
        <a:graphic>
          <a:graphicData uri="http://schemas.openxmlformats.org/drawingml/2006/table">
            <a:tbl>
              <a:tblPr firstRow="1" bandRow="1">
                <a:tableStyleId>{5C22544A-7EE6-4342-B048-85BDC9FD1C3A}</a:tableStyleId>
              </a:tblPr>
              <a:tblGrid>
                <a:gridCol w="4350344"/>
                <a:gridCol w="1889760"/>
                <a:gridCol w="2875651"/>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01560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tg_psi_dm96_oap/REPORT_reflective.md (TO, 2026-09-16).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