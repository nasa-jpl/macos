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12 Zernike sensor</a:t>
            </a:r>
          </a:p>
          <a:p>
            <a:pPr>
              <a:spcAft>
                <a:spcPts val="600"/>
              </a:spcAft>
            </a:pPr>
            <a:r>
              <a:rPr sz="1200" b="0">
                <a:solidFill>
                  <a:srgbClr val="282828"/>
                </a:solidFill>
                <a:latin typeface="Arial"/>
              </a:rPr>
              <a:t>•  14 Vector Zernike sensor</a:t>
            </a:r>
          </a:p>
          <a:p>
            <a:pPr>
              <a:spcAft>
                <a:spcPts val="600"/>
              </a:spcAft>
            </a:pPr>
            <a:r>
              <a:rPr sz="1200" b="0">
                <a:solidFill>
                  <a:srgbClr val="282828"/>
                </a:solidFill>
                <a:latin typeface="Arial"/>
              </a:rPr>
              <a:t>•  17 Point-diffraction sensor</a:t>
            </a:r>
          </a:p>
          <a:p>
            <a:pPr>
              <a:spcAft>
                <a:spcPts val="600"/>
              </a:spcAft>
            </a:pPr>
            <a:r>
              <a:rPr sz="1200" b="0">
                <a:solidFill>
                  <a:srgbClr val="282828"/>
                </a:solidFill>
                <a:latin typeface="Arial"/>
              </a:rPr>
              <a:t>•  20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26 Lenses versus off-axis parabolas</a:t>
            </a:r>
          </a:p>
          <a:p>
            <a:pPr>
              <a:spcAft>
                <a:spcPts val="600"/>
              </a:spcAft>
            </a:pPr>
            <a:r>
              <a:rPr sz="1200" b="0">
                <a:solidFill>
                  <a:srgbClr val="282828"/>
                </a:solidFill>
                <a:latin typeface="Arial"/>
              </a:rPr>
              <a:t>•  27 The reflective front end and its performance</a:t>
            </a:r>
          </a:p>
          <a:p>
            <a:pPr>
              <a:spcAft>
                <a:spcPts val="600"/>
              </a:spcAft>
            </a:pPr>
            <a:r>
              <a:rPr sz="1200" b="0">
                <a:solidFill>
                  <a:srgbClr val="282828"/>
                </a:solidFill>
                <a:latin typeface="Arial"/>
              </a:rPr>
              <a:t>•  29 Comparison and recommendation</a:t>
            </a:r>
          </a:p>
          <a:p>
            <a:pPr>
              <a:spcAft>
                <a:spcPts val="600"/>
              </a:spcAft>
            </a:pPr>
            <a:r>
              <a:rPr sz="1200" b="0">
                <a:solidFill>
                  <a:srgbClr val="282828"/>
                </a:solidFill>
                <a:latin typeface="Arial"/>
              </a:rPr>
              <a:t>•  32 Complex amplitude</a:t>
            </a:r>
          </a:p>
          <a:p>
            <a:pPr>
              <a:spcAft>
                <a:spcPts val="600"/>
              </a:spcAft>
            </a:pPr>
            <a:r>
              <a:rPr sz="1200" b="0">
                <a:solidFill>
                  <a:srgbClr val="282828"/>
                </a:solidFill>
                <a:latin typeface="Arial"/>
              </a:rPr>
              <a:t>•  33 Summary and future work</a:t>
            </a:r>
          </a:p>
          <a:p>
            <a:pPr>
              <a:spcAft>
                <a:spcPts val="600"/>
              </a:spcAft>
            </a:pPr>
            <a:r>
              <a:rPr sz="1200" b="0">
                <a:solidFill>
                  <a:srgbClr val="282828"/>
                </a:solidFill>
                <a:latin typeface="Arial"/>
              </a:rPr>
              <a:t>•  38 Run it yourself</a:t>
            </a:r>
          </a:p>
          <a:p>
            <a:pPr>
              <a:spcAft>
                <a:spcPts val="600"/>
              </a:spcAft>
            </a:pPr>
            <a:r>
              <a:rPr sz="1200" b="0">
                <a:solidFill>
                  <a:srgbClr val="282828"/>
                </a:solidFill>
                <a:latin typeface="Arial"/>
              </a:rPr>
              <a:t>•  39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4350344"/>
                <a:gridCol w="1889760"/>
                <a:gridCol w="2875651"/>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01560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tg_psi_dm96_oap/REPORT_reflective.md (TO, 2026-09-16).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