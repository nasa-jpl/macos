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two jobs: hold the surface in a servo, and capture its shape after launch.</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  Bench geometry under revision (2026-09-15): the record's 7° splitter is not buildable; the splitter goes to 22.5° (ruled 2026-09-15; the layouts show it), and the substrates, part thicknesses and camera are being added to the model.</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mirror: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200" b="0">
                <a:solidFill>
                  <a:srgbClr val="282828"/>
                </a:solidFill>
                <a:latin typeface="Arial"/>
              </a:rPr>
              <a:t>•  Job 1, measure: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200" b="0">
                <a:solidFill>
                  <a:srgbClr val="282828"/>
                </a:solidFill>
                <a:latin typeface="Arial"/>
              </a:rPr>
              <a:t>•  Job 2, capture: bring the largest possible starting surface, 100-200 nm of wavefront, down to the servo's floor; every phase reading wraps at ±158 nm of surface (±π at 632.8 nm, double pass), so this is a wrapping problem before it is a noise problem.</a:t>
            </a:r>
          </a:p>
          <a:p>
            <a:pPr>
              <a:spcAft>
                <a:spcPts val="600"/>
              </a:spcAft>
            </a:pPr>
            <a:r>
              <a:rPr sz="1200" b="0">
                <a:solidFill>
                  <a:srgbClr val="282828"/>
                </a:solidFill>
                <a:latin typeface="Arial"/>
              </a:rPr>
              <a:t>•  Job 3, hold: the servo at picometers: the light per cycle that holds 3 pm rms,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4061668" y="1298448"/>
            <a:ext cx="4068357" cy="2348992"/>
          </a:xfrm>
          <a:prstGeom prst="rect">
            <a:avLst/>
          </a:prstGeom>
        </p:spPr>
      </p:pic>
      <p:sp>
        <p:nvSpPr>
          <p:cNvPr id="5" name="TextBox 4"/>
          <p:cNvSpPr txBox="1"/>
          <p:nvPr/>
        </p:nvSpPr>
        <p:spPr>
          <a:xfrm>
            <a:off x="411480" y="366572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shared front end as traced by the engine, seen from above, at the 22.5° splitter: source at left, collimator L1, the splitter, the 96 mm mirror on its 700 mm leg (blue), the reference arm and its flat (orange, the interferometer only), the focuser L2 toward the internal focus.  The mask seat at that focus is where the four sensing methods differ.</a:t>
            </a:r>
          </a:p>
        </p:txBody>
      </p:sp>
      <p:graphicFrame>
        <p:nvGraphicFramePr>
          <p:cNvPr id="6" name="Table 5"/>
          <p:cNvGraphicFramePr>
            <a:graphicFrameLocks noGrp="1"/>
          </p:cNvGraphicFramePr>
          <p:nvPr/>
        </p:nvGraphicFramePr>
        <p:xfrm>
          <a:off x="411480" y="4096511"/>
          <a:ext cx="5806439" cy="1965960"/>
        </p:xfrm>
        <a:graphic>
          <a:graphicData uri="http://schemas.openxmlformats.org/drawingml/2006/table">
            <a:tbl>
              <a:tblPr firstRow="1" bandRow="1">
                <a:tableStyleId>{5C22544A-7EE6-4342-B048-85BDC9FD1C3A}</a:tableStyleId>
              </a:tblPr>
              <a:tblGrid>
                <a:gridCol w="662479"/>
                <a:gridCol w="5143960"/>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280035">
                <a:tc>
                  <a:txBody>
                    <a:bodyPr wrap="square"/>
                    <a:lstStyle/>
                    <a:p>
                      <a:r>
                        <a:rPr sz="1100" b="0">
                          <a:solidFill>
                            <a:srgbClr val="282828"/>
                          </a:solidFill>
                          <a:latin typeface="Arial"/>
                        </a:rPr>
                        <a:t>source</a:t>
                      </a:r>
                    </a:p>
                  </a:txBody>
                  <a:tcPr marL="54864" marR="54864" marT="18288" marB="18288">
                    <a:solidFill>
                      <a:srgbClr val="FFFFFF"/>
                    </a:solidFill>
                  </a:tcPr>
                </a:tc>
                <a:tc>
                  <a:txBody>
                    <a:bodyPr wrap="square"/>
                    <a:lstStyle/>
                    <a:p>
                      <a:r>
                        <a:rPr sz="1100" b="0">
                          <a:solidFill>
                            <a:srgbClr val="282828"/>
                          </a:solidFill>
                          <a:latin typeface="Arial"/>
                        </a:rPr>
                        <a:t>HeNe 632.8 nm, filtered, 51 mm beam radius</a:t>
                      </a:r>
                    </a:p>
                  </a:txBody>
                  <a:tcPr marL="54864" marR="54864" marT="18288" marB="18288">
                    <a:solidFill>
                      <a:srgbClr val="FFFFFF"/>
                    </a:solidFill>
                  </a:tcPr>
                </a:tc>
              </a:tr>
              <a:tr h="468630">
                <a:tc>
                  <a:txBody>
                    <a:bodyPr wrap="square"/>
                    <a:lstStyle/>
                    <a:p>
                      <a:r>
                        <a:rPr sz="1100" b="0">
                          <a:solidFill>
                            <a:srgbClr val="282828"/>
                          </a:solidFill>
                          <a:latin typeface="Arial"/>
                        </a:rPr>
                        <a:t>collimator L1</a:t>
                      </a:r>
                    </a:p>
                  </a:txBody>
                  <a:tcPr marL="54864" marR="54864" marT="18288" marB="18288">
                    <a:solidFill>
                      <a:srgbClr val="ECF1F6"/>
                    </a:solidFill>
                  </a:tcPr>
                </a:tc>
                <a:tc>
                  <a:txBody>
                    <a:bodyPr wrap="square"/>
                    <a:lstStyle/>
                    <a:p>
                      <a:r>
                        <a:rPr sz="1100" b="0">
                          <a:solidFill>
                            <a:srgbClr val="282828"/>
                          </a:solidFill>
                          <a:latin typeface="Arial"/>
                        </a:rPr>
                        <a:t>f 857 mm, 103 mm, coated; modeled 5 mm center, 2 mm edge, to be a real 103 mm singlet</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22.5° incidence (the record's 7° does not clear the node: next slide), 50/50; compensator matched; modeled 2.6 mm thick, to be 10 mm</a:t>
                      </a:r>
                    </a:p>
                  </a:txBody>
                  <a:tcPr marL="54864" marR="54864" marT="18288" marB="18288">
                    <a:solidFill>
                      <a:srgbClr val="FFFFFF"/>
                    </a:solidFill>
                  </a:tcPr>
                </a:tc>
              </a:tr>
              <a:tr h="468630">
                <a:tc>
                  <a:txBody>
                    <a:bodyPr wrap="square"/>
                    <a:lstStyle/>
                    <a:p>
                      <a:r>
                        <a:rPr sz="1100" b="0">
                          <a:solidFill>
                            <a:srgbClr val="282828"/>
                          </a:solidFill>
                          <a:latin typeface="Arial"/>
                        </a:rPr>
                        <a:t>deformable mirror</a:t>
                      </a:r>
                    </a:p>
                  </a:txBody>
                  <a:tcPr marL="54864" marR="54864" marT="18288" marB="18288">
                    <a:solidFill>
                      <a:srgbClr val="ECF1F6"/>
                    </a:solidFill>
                  </a:tcPr>
                </a:tc>
                <a:tc>
                  <a:txBody>
                    <a:bodyPr wrap="square"/>
                    <a:lstStyle/>
                    <a:p>
                      <a:r>
                        <a:rPr sz="1100" b="0">
                          <a:solidFill>
                            <a:srgbClr val="282828"/>
                          </a:solidFill>
                          <a:latin typeface="Arial"/>
                        </a:rPr>
                        <a:t>96×96, 1 mm pitch, 96 mm, 700 mm leg</a:t>
                      </a:r>
                    </a:p>
                  </a:txBody>
                  <a:tcPr marL="54864" marR="54864" marT="18288" marB="18288">
                    <a:solidFill>
                      <a:srgbClr val="ECF1F6"/>
                    </a:solidFill>
                  </a:tcPr>
                </a:tc>
              </a:tr>
            </a:tbl>
          </a:graphicData>
        </a:graphic>
      </p:graphicFrame>
      <p:graphicFrame>
        <p:nvGraphicFramePr>
          <p:cNvPr id="7" name="Table 6"/>
          <p:cNvGraphicFramePr>
            <a:graphicFrameLocks noGrp="1"/>
          </p:cNvGraphicFramePr>
          <p:nvPr/>
        </p:nvGraphicFramePr>
        <p:xfrm>
          <a:off x="6400800" y="4096511"/>
          <a:ext cx="5394960" cy="1657350"/>
        </p:xfrm>
        <a:graphic>
          <a:graphicData uri="http://schemas.openxmlformats.org/drawingml/2006/table">
            <a:tbl>
              <a:tblPr firstRow="1" bandRow="1">
                <a:tableStyleId>{5C22544A-7EE6-4342-B048-85BDC9FD1C3A}</a:tableStyleId>
              </a:tblPr>
              <a:tblGrid>
                <a:gridCol w="806704"/>
                <a:gridCol w="4588256"/>
              </a:tblGrid>
              <a:tr h="262890">
                <a:tc>
                  <a:txBody>
                    <a:bodyPr wrap="square"/>
                    <a:lstStyle/>
                    <a:p>
                      <a:r>
                        <a:rPr sz="1000" b="1">
                          <a:solidFill>
                            <a:srgbClr val="FFFFFF"/>
                          </a:solidFill>
                          <a:latin typeface="Arial"/>
                        </a:rPr>
                        <a:t>part</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focuser L2</a:t>
                      </a:r>
                    </a:p>
                  </a:txBody>
                  <a:tcPr marL="54864" marR="54864" marT="18288" marB="18288">
                    <a:solidFill>
                      <a:srgbClr val="FFFFFF"/>
                    </a:solidFill>
                  </a:tcPr>
                </a:tc>
                <a:tc>
                  <a:txBody>
                    <a:bodyPr wrap="square"/>
                    <a:lstStyle/>
                    <a:p>
                      <a:r>
                        <a:rPr sz="1000" b="0">
                          <a:solidFill>
                            <a:srgbClr val="282828"/>
                          </a:solidFill>
                          <a:latin typeface="Arial"/>
                        </a:rPr>
                        <a:t>f 429 mm, 103 mm; internal focus at F/4.2; modeled 8 mm center, to be real</a:t>
                      </a:r>
                    </a:p>
                  </a:txBody>
                  <a:tcPr marL="54864" marR="54864" marT="18288" marB="18288">
                    <a:solidFill>
                      <a:srgbClr val="FFFFFF"/>
                    </a:solidFill>
                  </a:tcPr>
                </a:tc>
              </a:tr>
              <a:tr h="262890">
                <a:tc>
                  <a:txBody>
                    <a:bodyPr wrap="square"/>
                    <a:lstStyle/>
                    <a:p>
                      <a:r>
                        <a:rPr sz="1000" b="0">
                          <a:solidFill>
                            <a:srgbClr val="282828"/>
                          </a:solidFill>
                          <a:latin typeface="Arial"/>
                        </a:rPr>
                        <a:t>field lens</a:t>
                      </a:r>
                    </a:p>
                  </a:txBody>
                  <a:tcPr marL="54864" marR="54864" marT="18288" marB="18288">
                    <a:solidFill>
                      <a:srgbClr val="ECF1F6"/>
                    </a:solidFill>
                  </a:tcPr>
                </a:tc>
                <a:tc>
                  <a:txBody>
                    <a:bodyPr wrap="square"/>
                    <a:lstStyle/>
                    <a:p>
                      <a:r>
                        <a:rPr sz="1000" b="0">
                          <a:solidFill>
                            <a:srgbClr val="282828"/>
                          </a:solidFill>
                          <a:latin typeface="Arial"/>
                        </a:rPr>
                        <a:t>f 43 mm, 21 mm; pupil image 9.4 mm, 32 mm behind it</a:t>
                      </a:r>
                    </a:p>
                  </a:txBody>
                  <a:tcPr marL="54864" marR="54864" marT="18288" marB="18288">
                    <a:solidFill>
                      <a:srgbClr val="ECF1F6"/>
                    </a:solidFill>
                  </a:tcPr>
                </a:tc>
              </a:tr>
              <a:tr h="434340">
                <a:tc>
                  <a:txBody>
                    <a:bodyPr wrap="square"/>
                    <a:lstStyle/>
                    <a:p>
                      <a:r>
                        <a:rPr sz="1000" b="0">
                          <a:solidFill>
                            <a:srgbClr val="282828"/>
                          </a:solidFill>
                          <a:latin typeface="Arial"/>
                        </a:rPr>
                        <a:t>camera</a:t>
                      </a:r>
                    </a:p>
                  </a:txBody>
                  <a:tcPr marL="54864" marR="54864" marT="18288" marB="18288">
                    <a:solidFill>
                      <a:srgbClr val="FFFFFF"/>
                    </a:solidFill>
                  </a:tcPr>
                </a:tc>
                <a:tc>
                  <a:txBody>
                    <a:bodyPr wrap="square"/>
                    <a:lstStyle/>
                    <a:p>
                      <a:r>
                        <a:rPr sz="1000" b="0">
                          <a:solidFill>
                            <a:srgbClr val="282828"/>
                          </a:solidFill>
                          <a:latin typeface="Arial"/>
                        </a:rPr>
                        <a:t>pupil image 9.4 mm: a 6.5 µm sCMOS puts 1450 pixels across it, binned 4 to the modeled 385 (5 per actuator)</a:t>
                      </a:r>
                    </a:p>
                  </a:txBody>
                  <a:tcPr marL="54864" marR="54864" marT="18288" marB="18288">
                    <a:solidFill>
                      <a:srgbClr val="FFFFFF"/>
                    </a:solidFill>
                  </a:tcPr>
                </a:tc>
              </a:tr>
              <a:tr h="262890">
                <a:tc>
                  <a:txBody>
                    <a:bodyPr wrap="square"/>
                    <a:lstStyle/>
                    <a:p>
                      <a:r>
                        <a:rPr sz="1000" b="0">
                          <a:solidFill>
                            <a:srgbClr val="282828"/>
                          </a:solidFill>
                          <a:latin typeface="Arial"/>
                        </a:rPr>
                        <a:t>mask seat</a:t>
                      </a:r>
                    </a:p>
                  </a:txBody>
                  <a:tcPr marL="54864" marR="54864" marT="18288" marB="18288">
                    <a:solidFill>
                      <a:srgbClr val="ECF1F6"/>
                    </a:solidFill>
                  </a:tcPr>
                </a:tc>
                <a:tc>
                  <a:txBody>
                    <a:bodyPr wrap="square"/>
                    <a:lstStyle/>
                    <a:p>
                      <a:r>
                        <a:rPr sz="1000" b="0">
                          <a:solidFill>
                            <a:srgbClr val="282828"/>
                          </a:solidFill>
                          <a:latin typeface="Arial"/>
                        </a:rPr>
                        <a:t>one substrate at the internal focus, translated to select the sensor</a:t>
                      </a:r>
                    </a:p>
                  </a:txBody>
                  <a:tcPr marL="54864" marR="54864" marT="18288" marB="18288">
                    <a:solidFill>
                      <a:srgbClr val="ECF1F6"/>
                    </a:solidFill>
                  </a:tcPr>
                </a:tc>
              </a:tr>
            </a:tbl>
          </a:graphicData>
        </a:graphic>
      </p:graphicFrame>
      <p:sp>
        <p:nvSpPr>
          <p:cNvPr id="8" name="TextBox 7"/>
          <p:cNvSpPr txBox="1"/>
          <p:nvPr/>
        </p:nvSpPr>
        <p:spPr>
          <a:xfrm>
            <a:off x="6400800" y="5900166"/>
            <a:ext cx="5394960"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stage, 564 mm leg) is the interferometer's; shuttered, the same bench is every other sensor.  Lenses, not off-axis mirrors: the choice is priced on the lenses-versus-mirrors slide.  The drawings are to scale: the model's parts are the 56 mm rig's scaled up, thinner than 103 mm optics can be built; the next model round gives every part its real thickness.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The record's 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242989" y="1298448"/>
            <a:ext cx="7705716"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the record: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511671"/>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a:t>
            </a:r>
          </a:p>
          <a:p>
            <a:pPr>
              <a:spcAft>
                <a:spcPts val="0"/>
              </a:spcAft>
            </a:pPr>
            <a:r>
              <a:rPr sz="1250" b="0">
                <a:solidFill>
                  <a:srgbClr val="6E6E6E"/>
                </a:solidFill>
                <a:latin typeface="Arial"/>
              </a:rPr>
              <a:t>The front end and the detector tail, from the parameter sheet; thicknesses are the scaled model's and are being made real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66335"/>
        </p:xfrm>
        <a:graphic>
          <a:graphicData uri="http://schemas.openxmlformats.org/drawingml/2006/table">
            <a:tbl>
              <a:tblPr firstRow="1" bandRow="1">
                <a:tableStyleId>{5C22544A-7EE6-4342-B048-85BDC9FD1C3A}</a:tableStyleId>
              </a:tblPr>
              <a:tblGrid>
                <a:gridCol w="1962404"/>
                <a:gridCol w="3763129"/>
                <a:gridCol w="2180336"/>
                <a:gridCol w="509524"/>
                <a:gridCol w="2953341"/>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beam 51 mm radius after L1</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468630">
                <a:tc>
                  <a:txBody>
                    <a:bodyPr wrap="square"/>
                    <a:lstStyle/>
                    <a:p>
                      <a:r>
                        <a:rPr sz="1100" b="0">
                          <a:solidFill>
                            <a:srgbClr val="282828"/>
                          </a:solidFill>
                          <a:latin typeface="Arial"/>
                        </a:rPr>
                        <a:t>collimator L1</a:t>
                      </a:r>
                    </a:p>
                  </a:txBody>
                  <a:tcPr marL="54864" marR="54864" marT="18288" marB="18288">
                    <a:solidFill>
                      <a:srgbClr val="ECF1F6"/>
                    </a:solidFill>
                  </a:tcPr>
                </a:tc>
                <a:tc>
                  <a:txBody>
                    <a:bodyPr wrap="square"/>
                    <a:lstStyle/>
                    <a:p>
                      <a:r>
                        <a:rPr sz="1100" b="0">
                          <a:solidFill>
                            <a:srgbClr val="282828"/>
                          </a:solidFill>
                          <a:latin typeface="Arial"/>
                        </a:rPr>
                        <a:t>f 857 mm, 103 mm, plano-convex conic; modeled 5 mm center, to be a real singlet</a:t>
                      </a:r>
                    </a:p>
                  </a:txBody>
                  <a:tcPr marL="54864" marR="54864" marT="18288" marB="18288">
                    <a:solidFill>
                      <a:srgbClr val="ECF1F6"/>
                    </a:solidFill>
                  </a:tcPr>
                </a:tc>
                <a:tc>
                  <a:txBody>
                    <a:bodyPr wrap="square"/>
                    <a:lstStyle/>
                    <a:p>
                      <a:r>
                        <a:rPr sz="1100" b="0">
                          <a:solidFill>
                            <a:srgbClr val="282828"/>
                          </a:solidFill>
                          <a:latin typeface="Arial"/>
                        </a:rPr>
                        <a:t>anti-reflection</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incidence, 50/50; modeled 2.6 mm, to be 10 mm</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468630">
                <a:tc>
                  <a:txBody>
                    <a:bodyPr wrap="square"/>
                    <a:lstStyle/>
                    <a:p>
                      <a:r>
                        <a:rPr sz="1100" b="0">
                          <a:solidFill>
                            <a:srgbClr val="282828"/>
                          </a:solidFill>
                          <a:latin typeface="Arial"/>
                        </a:rPr>
                        <a:t>focuser L2</a:t>
                      </a:r>
                    </a:p>
                  </a:txBody>
                  <a:tcPr marL="54864" marR="54864" marT="18288" marB="18288">
                    <a:solidFill>
                      <a:srgbClr val="ECF1F6"/>
                    </a:solidFill>
                  </a:tcPr>
                </a:tc>
                <a:tc>
                  <a:txBody>
                    <a:bodyPr wrap="square"/>
                    <a:lstStyle/>
                    <a:p>
                      <a:r>
                        <a:rPr sz="1100" b="0">
                          <a:solidFill>
                            <a:srgbClr val="282828"/>
                          </a:solidFill>
                          <a:latin typeface="Arial"/>
                        </a:rPr>
                        <a:t>f 429 mm, 103 mm, plano-convex conic; modeled 8 mm center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ECF1F6"/>
                    </a:solidFill>
                  </a:tcPr>
                </a:tc>
              </a:tr>
              <a:tr h="468630">
                <a:tc>
                  <a:txBody>
                    <a:bodyPr wrap="square"/>
                    <a:lstStyle/>
                    <a:p>
                      <a:r>
                        <a:rPr sz="1100" b="0">
                          <a:solidFill>
                            <a:srgbClr val="282828"/>
                          </a:solidFill>
                          <a:latin typeface="Arial"/>
                        </a:rPr>
                        <a:t>mask seat</a:t>
                      </a:r>
                    </a:p>
                  </a:txBody>
                  <a:tcPr marL="54864" marR="54864" marT="18288" marB="18288">
                    <a:solidFill>
                      <a:srgbClr val="FFFFFF"/>
                    </a:solidFill>
                  </a:tcPr>
                </a:tc>
                <a:tc>
                  <a:txBody>
                    <a:bodyPr wrap="square"/>
                    <a:lstStyle/>
                    <a:p>
                      <a:r>
                        <a:rPr sz="1100" b="0">
                          <a:solidFill>
                            <a:srgbClr val="282828"/>
                          </a:solidFill>
                          <a:latin typeface="Arial"/>
                        </a:rPr>
                        <a:t>translation stage at the internal focus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FFFFFF"/>
                    </a:solidFill>
                  </a:tcPr>
                </a:tc>
              </a:tr>
              <a:tr h="468630">
                <a:tc>
                  <a:txBody>
                    <a:bodyPr wrap="square"/>
                    <a:lstStyle/>
                    <a:p>
                      <a:r>
                        <a:rPr sz="1100" b="0">
                          <a:solidFill>
                            <a:srgbClr val="282828"/>
                          </a:solidFill>
                          <a:latin typeface="Arial"/>
                        </a:rPr>
                        <a:t>field lens</a:t>
                      </a:r>
                    </a:p>
                  </a:txBody>
                  <a:tcPr marL="54864" marR="54864" marT="18288" marB="18288">
                    <a:solidFill>
                      <a:srgbClr val="ECF1F6"/>
                    </a:solidFill>
                  </a:tcPr>
                </a:tc>
                <a:tc>
                  <a:txBody>
                    <a:bodyPr wrap="square"/>
                    <a:lstStyle/>
                    <a:p>
                      <a:r>
                        <a:rPr sz="1100" b="0">
                          <a:solidFill>
                            <a:srgbClr val="282828"/>
                          </a:solidFill>
                          <a:latin typeface="Arial"/>
                        </a:rPr>
                        <a:t>f 43 mm, 21 mm</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reimages the pupil (9.4 mm) 32 mm behind it</a:t>
                      </a:r>
                    </a:p>
                  </a:txBody>
                  <a:tcPr marL="54864" marR="54864" marT="18288" marB="18288">
                    <a:solidFill>
                      <a:srgbClr val="ECF1F6"/>
                    </a:solidFill>
                  </a:tcPr>
                </a:tc>
              </a:tr>
              <a:tr h="468630">
                <a:tc>
                  <a:txBody>
                    <a:bodyPr wrap="square"/>
                    <a:lstStyle/>
                    <a:p>
                      <a:r>
                        <a:rPr sz="1100" b="0">
                          <a:solidFill>
                            <a:srgbClr val="282828"/>
                          </a:solidFill>
                          <a:latin typeface="Arial"/>
                        </a:rPr>
                        <a:t>camera A</a:t>
                      </a:r>
                    </a:p>
                  </a:txBody>
                  <a:tcPr marL="54864" marR="54864" marT="18288" marB="18288">
                    <a:solidFill>
                      <a:srgbClr val="FFFFFF"/>
                    </a:solidFill>
                  </a:tcPr>
                </a:tc>
                <a:tc>
                  <a:txBody>
                    <a:bodyPr wrap="square"/>
                    <a:lstStyle/>
                    <a:p>
                      <a:r>
                        <a:rPr sz="1100" b="0">
                          <a:solidFill>
                            <a:srgbClr val="282828"/>
                          </a:solidFill>
                          <a:latin typeface="Arial"/>
                        </a:rPr>
                        <a:t>sCMOS 2048×2048, 6.5 µm (13.3 mm), binned 4 to 385 pixels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every configuration's pupil image</a:t>
                      </a:r>
                    </a:p>
                  </a:txBody>
                  <a:tcPr marL="54864" marR="54864" marT="18288" marB="18288">
                    <a:solidFill>
                      <a:srgbClr val="FFFFFF"/>
                    </a:solidFill>
                  </a:tcPr>
                </a:tc>
              </a:tr>
              <a:tr h="468630">
                <a:tc>
                  <a:txBody>
                    <a:bodyPr wrap="square"/>
                    <a:lstStyle/>
                    <a:p>
                      <a:r>
                        <a:rPr sz="1100" b="0">
                          <a:solidFill>
                            <a:srgbClr val="282828"/>
                          </a:solidFill>
                          <a:latin typeface="Arial"/>
                        </a:rPr>
                        <a:t>mounts, bench</a:t>
                      </a:r>
                    </a:p>
                  </a:txBody>
                  <a:tcPr marL="54864" marR="54864" marT="18288" marB="18288">
                    <a:solidFill>
                      <a:srgbClr val="ECF1F6"/>
                    </a:solidFill>
                  </a:tcPr>
                </a:tc>
                <a:tc>
                  <a:txBody>
                    <a:bodyPr wrap="square"/>
                    <a:lstStyle/>
                    <a:p>
                      <a:r>
                        <a:rPr sz="1100" b="0">
                          <a:solidFill>
                            <a:srgbClr val="282828"/>
                          </a:solidFill>
                          <a:latin typeface="Arial"/>
                        </a:rPr>
                        <a:t>2 m × 1 m table; 103 mm mounts on the node parts, 25 mm clearance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the 22.5° layout clears every part</a:t>
                      </a:r>
                    </a:p>
                  </a:txBody>
                  <a:tcPr marL="54864" marR="54864" marT="18288" marB="18288">
                    <a:solidFill>
                      <a:srgbClr val="ECF1F6"/>
                    </a:solidFill>
                  </a:tcPr>
                </a:tc>
              </a:tr>
            </a:tbl>
          </a:graphicData>
        </a:graphic>
      </p:graphicFrame>
      <p:sp>
        <p:nvSpPr>
          <p:cNvPr id="5" name="TextBox 4"/>
          <p:cNvSpPr txBox="1"/>
          <p:nvPr/>
        </p:nvSpPr>
        <p:spPr>
          <a:xfrm>
            <a:off x="411480" y="6411087"/>
            <a:ext cx="11368735" cy="274320"/>
          </a:xfrm>
          <a:prstGeom prst="rect">
            <a:avLst/>
          </a:prstGeom>
          <a:noFill/>
        </p:spPr>
        <p:txBody>
          <a:bodyPr wrap="square">
            <a:spAutoFit/>
          </a:bodyPr>
          <a:lstStyle/>
          <a:p>
            <a:pPr>
              <a:spcAft>
                <a:spcPts val="600"/>
              </a:spcAft>
            </a:pPr>
            <a:r>
              <a:rPr sz="1050" b="0">
                <a:solidFill>
                  <a:srgbClr val="6E6E6E"/>
                </a:solidFill>
                <a:latin typeface="Arial"/>
              </a:rPr>
              <a:t>The tail (focuser, mask seat, field lens, camera) is tuned once and shared; only the mask seat's contents and what follows the field lens change between configurations.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720340"/>
        </p:xfrm>
        <a:graphic>
          <a:graphicData uri="http://schemas.openxmlformats.org/drawingml/2006/table">
            <a:tbl>
              <a:tblPr firstRow="1" bandRow="1">
                <a:tableStyleId>{5C22544A-7EE6-4342-B048-85BDC9FD1C3A}</a:tableStyleId>
              </a:tblPr>
              <a:tblGrid>
                <a:gridCol w="1090676"/>
                <a:gridCol w="2305237"/>
                <a:gridCol w="3052004"/>
                <a:gridCol w="2398268"/>
                <a:gridCol w="509524"/>
                <a:gridCol w="201302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 on a piezo stage</a:t>
                      </a:r>
                    </a:p>
                  </a:txBody>
                  <a:tcPr marL="54864" marR="54864" marT="18288" marB="18288">
                    <a:solidFill>
                      <a:srgbClr val="FFFFFF"/>
                    </a:solidFill>
                  </a:tcPr>
                </a:tc>
                <a:tc>
                  <a:txBody>
                    <a:bodyPr wrap="square"/>
                    <a:lstStyle/>
                    <a:p>
                      <a:r>
                        <a:rPr sz="1100" b="0">
                          <a:solidFill>
                            <a:srgbClr val="282828"/>
                          </a:solidFill>
                          <a:latin typeface="Arial"/>
                        </a:rPr>
                        <a:t>103 mm, λ/20; 564 mm leg; stroke over one wave</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four phase steps in the piezo form</a:t>
                      </a:r>
                    </a:p>
                  </a:txBody>
                  <a:tcPr marL="54864" marR="54864" marT="18288" marB="18288">
                    <a:solidFill>
                      <a:srgbClr val="FFFFFF"/>
                    </a:solidFill>
                  </a:tcPr>
                </a:tc>
              </a:tr>
              <a:tr h="657225">
                <a:tc>
                  <a:txBody>
                    <a:bodyPr wrap="square"/>
                    <a:lstStyle/>
                    <a:p>
                      <a:r>
                        <a:rPr sz="1100" b="0">
                          <a:solidFill>
                            <a:srgbClr val="282828"/>
                          </a:solidFill>
                          <a:latin typeface="Arial"/>
                        </a:rPr>
                        <a:t>snapshot</a:t>
                      </a:r>
                    </a:p>
                  </a:txBody>
                  <a:tcPr marL="54864" marR="54864" marT="18288" marB="18288">
                    <a:solidFill>
                      <a:srgbClr val="ECF1F6"/>
                    </a:solidFill>
                  </a:tcPr>
                </a:tc>
                <a:tc>
                  <a:txBody>
                    <a:bodyPr wrap="square"/>
                    <a:lstStyle/>
                    <a:p>
                      <a:r>
                        <a:rPr sz="1100" b="0">
                          <a:solidFill>
                            <a:srgbClr val="282828"/>
                          </a:solidFill>
                          <a:latin typeface="Arial"/>
                        </a:rPr>
                        <a:t>input polarizer; two arm quarter-wave plates; output quarter-wave plate</a:t>
                      </a:r>
                    </a:p>
                  </a:txBody>
                  <a:tcPr marL="54864" marR="54864" marT="18288" marB="18288">
                    <a:solidFill>
                      <a:srgbClr val="ECF1F6"/>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codes the four channels in polarization</a:t>
                      </a:r>
                    </a:p>
                  </a:txBody>
                  <a:tcPr marL="54864" marR="54864" marT="18288" marB="18288">
                    <a:solidFill>
                      <a:srgbClr val="ECF1F6"/>
                    </a:solidFill>
                  </a:tcPr>
                </a:tc>
              </a:tr>
              <a:tr h="657225">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in place of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3.45 µm 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at once; no rotating stage</a:t>
                      </a:r>
                    </a:p>
                  </a:txBody>
                  <a:tcPr marL="54864" marR="54864" marT="18288" marB="18288">
                    <a:solidFill>
                      <a:srgbClr val="FFFFFF"/>
                    </a:solidFill>
                  </a:tcPr>
                </a:tc>
              </a:tr>
              <a:tr h="468630">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4165091"/>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4131945"/>
        </p:xfrm>
        <a:graphic>
          <a:graphicData uri="http://schemas.openxmlformats.org/drawingml/2006/table">
            <a:tbl>
              <a:tblPr firstRow="1" bandRow="1">
                <a:tableStyleId>{5C22544A-7EE6-4342-B048-85BDC9FD1C3A}</a:tableStyleId>
              </a:tblPr>
              <a:tblGrid>
                <a:gridCol w="1235964"/>
                <a:gridCol w="3561544"/>
                <a:gridCol w="2995471"/>
                <a:gridCol w="896282"/>
                <a:gridCol w="509524"/>
                <a:gridCol w="2169947"/>
              </a:tblGrid>
              <a:tr h="280035">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record's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84582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84582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ECF1F6"/>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ECF1F6"/>
                    </a:solidFill>
                  </a:tcPr>
                </a:tc>
                <a:tc>
                  <a:txBody>
                    <a:bodyPr wrap="square"/>
                    <a:lstStyle/>
                    <a:p>
                      <a:r>
                        <a:rPr sz="1100" b="0">
                          <a:solidFill>
                            <a:srgbClr val="282828"/>
                          </a:solidFill>
                          <a:latin typeface="Arial"/>
                        </a:rPr>
                        <a:t>metal-film attenuator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ECF1F6"/>
                    </a:solidFill>
                  </a:tcPr>
                </a:tc>
              </a:tr>
              <a:tr h="845820">
                <a:tc>
                  <a:txBody>
                    <a:bodyPr wrap="square"/>
                    <a:lstStyle/>
                    <a:p>
                      <a:r>
                        <a:rPr sz="1100" b="0">
                          <a:solidFill>
                            <a:srgbClr val="282828"/>
                          </a:solidFill>
                          <a:latin typeface="Arial"/>
                        </a:rPr>
                        <a:t>P/SRI (backup)</a:t>
                      </a:r>
                    </a:p>
                  </a:txBody>
                  <a:tcPr marL="54864" marR="54864" marT="18288" marB="18288">
                    <a:solidFill>
                      <a:srgbClr val="FFFFFF"/>
                    </a:solidFill>
                  </a:tcPr>
                </a:tc>
                <a:tc>
                  <a:txBody>
                    <a:bodyPr wrap="square"/>
                    <a:lstStyle/>
                    <a:p>
                      <a:r>
                        <a:rPr sz="1100" b="0">
                          <a:solidFill>
                            <a:srgbClr val="282828"/>
                          </a:solidFill>
                          <a:latin typeface="Arial"/>
                        </a:rPr>
                        <a:t>pickoff plate; lens Lr1; pinhole into a single-mode waveguide with a thermo-optic phase shifter; lens Lr2; two folds; compensator; recombiner; camera C</a:t>
                      </a:r>
                    </a:p>
                  </a:txBody>
                  <a:tcPr marL="54864" marR="54864" marT="18288" marB="18288">
                    <a:solidFill>
                      <a:srgbClr val="FFFFFF"/>
                    </a:solidFill>
                  </a:tcPr>
                </a:tc>
                <a:tc>
                  <a:txBody>
                    <a:bodyPr wrap="square"/>
                    <a:lstStyle/>
                    <a:p>
                      <a:r>
                        <a:rPr sz="1100" b="0">
                          <a:solidFill>
                            <a:srgbClr val="282828"/>
                          </a:solidFill>
                          <a:latin typeface="Arial"/>
                        </a:rPr>
                        <a:t>60/40 plate at 45°; f 300 mm F/2.9; 3.7 µm; f 300 mm mirrored; 150 mm flats at 45°; 21.9 mm of glass; 50/50 plate at 45°; sCMOS</a:t>
                      </a:r>
                    </a:p>
                  </a:txBody>
                  <a:tcPr marL="54864" marR="54864" marT="18288" marB="18288">
                    <a:solidFill>
                      <a:srgbClr val="FFFFFF"/>
                    </a:solidFill>
                  </a:tcPr>
                </a:tc>
                <a:tc>
                  <a:txBody>
                    <a:bodyPr wrap="square"/>
                    <a:lstStyle/>
                    <a:p>
                      <a:r>
                        <a:rPr sz="1100" b="0">
                          <a:solidFill>
                            <a:srgbClr val="282828"/>
                          </a:solidFill>
                          <a:latin typeface="Arial"/>
                        </a:rPr>
                        <a:t>AR; protected-metal folds</a:t>
                      </a:r>
                    </a:p>
                  </a:txBody>
                  <a:tcPr marL="54864" marR="54864" marT="18288" marB="18288">
                    <a:solidFill>
                      <a:srgbClr val="FFFFFF"/>
                    </a:solidFill>
                  </a:tcPr>
                </a:tc>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the two-arm form with a reference that does not move with the surface</a:t>
                      </a:r>
                    </a:p>
                  </a:txBody>
                  <a:tcPr marL="54864" marR="54864" marT="18288" marB="18288">
                    <a:solidFill>
                      <a:srgbClr val="FFFFFF"/>
                    </a:solidFill>
                  </a:tcPr>
                </a:tc>
              </a:tr>
            </a:tbl>
          </a:graphicData>
        </a:graphic>
      </p:graphicFrame>
      <p:sp>
        <p:nvSpPr>
          <p:cNvPr id="5" name="TextBox 4"/>
          <p:cNvSpPr txBox="1"/>
          <p:nvPr/>
        </p:nvSpPr>
        <p:spPr>
          <a:xfrm>
            <a:off x="411480" y="5576697"/>
            <a:ext cx="11368735" cy="274320"/>
          </a:xfrm>
          <a:prstGeom prst="rect">
            <a:avLst/>
          </a:prstGeom>
          <a:noFill/>
        </p:spPr>
        <p:txBody>
          <a:bodyPr wrap="square">
            <a:spAutoFit/>
          </a:bodyPr>
          <a:lstStyle/>
          <a:p>
            <a:pPr>
              <a:spcAft>
                <a:spcPts val="600"/>
              </a:spcAft>
            </a:pPr>
            <a:r>
              <a:rPr sz="1050" b="0">
                <a:solidFill>
                  <a:srgbClr val="6E6E6E"/>
                </a:solidFill>
                <a:latin typeface="Arial"/>
              </a:rPr>
              <a:t>The Zernike, vector and pinhole plates share one substrate on the seat.  Full parts tables with vendors' classes are in each lane's README.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200" b="0">
                <a:solidFill>
                  <a:srgbClr val="282828"/>
                </a:solidFill>
                <a:latin typeface="Arial"/>
              </a:rPr>
              <a:t>•  On the 30 nm surface, matrix measured on it: 10 nm on one actuator 0.991 / 2 pm / SNR 6076; 1 nm on 52 sites 0.990 / 1 pm; dense 10 nm 0.990, 168 pm.</a:t>
            </a:r>
          </a:p>
          <a:p>
            <a:pPr>
              <a:spcAft>
                <a:spcPts val="600"/>
              </a:spcAft>
            </a:pPr>
            <a:r>
              <a:rPr sz="1200" b="0">
                <a:solidFill>
                  <a:srgbClr val="282828"/>
                </a:solidFill>
                <a:latin typeface="Arial"/>
              </a:rPr>
              <a:t>•  Servo: 3 pm from 5.5e12 photons per cycle with noise only, 2.0e13 under a 2 pm per-cycle actuator walk; a fixed error of about 9% on a noiseless step, from the four-step's roll-off.</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lens_deck, loop_lens, lens_deck_se2; the three phase-shift forms are priced in backup.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159675" y="1298448"/>
            <a:ext cx="5872343"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200" b="0">
                <a:solidFill>
                  <a:srgbClr val="282828"/>
                </a:solidFill>
                <a:latin typeface="Arial"/>
              </a:rPr>
              <a:t>•  On the 30 nm surface, matrix measured on it: 10 nm on one actuator 0.989 / 5 pm / SNR 2160; 1 nm on 47 sites 0.999 / 4 pm; dense 10 nm 0.984, 0.68 nm.</a:t>
            </a:r>
          </a:p>
          <a:p>
            <a:pPr>
              <a:spcAft>
                <a:spcPts val="600"/>
              </a:spcAft>
            </a:pPr>
            <a:r>
              <a:rPr sz="1200" b="0">
                <a:solidFill>
                  <a:srgbClr val="282828"/>
                </a:solidFill>
                <a:latin typeface="Arial"/>
              </a:rPr>
              <a:t>•  Servo: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record's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200" b="0">
                <a:solidFill>
                  <a:srgbClr val="282828"/>
                </a:solidFill>
                <a:latin typeface="Arial"/>
              </a:rPr>
              <a:t>•  On the 30 nm surface, matrix measured on it: 10 nm on one actuator 0.9935 / 4 pm / SNR 2830; 1 nm on 47 sites 0.9992 / 3 pm; dense 10 nm 0.9999, 0.33 nm — the best line in the comparison.</a:t>
            </a:r>
          </a:p>
          <a:p>
            <a:pPr>
              <a:spcAft>
                <a:spcPts val="600"/>
              </a:spcAft>
            </a:pPr>
            <a:r>
              <a:rPr sz="1200" b="0">
                <a:solidFill>
                  <a:srgbClr val="282828"/>
                </a:solidFill>
                <a:latin typeface="Arial"/>
              </a:rPr>
              <a:t>•  Servo: 3 pm from 1.5e12 photons per cycle noise only, 5.3e12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9.4 mm pupil image; a 6.5 µm sCMOS (13 mm sensor) binned 4</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9.4 mm pupil image 32 mm behind the field lens would need a 17° split for side-by-side images, past a calcite prism's limit.  Run tags v193base, vloop193.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tail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2555258" y="1298448"/>
            <a:ext cx="7081177" cy="3994912"/>
          </a:xfrm>
          <a:prstGeom prst="rect">
            <a:avLst/>
          </a:prstGeom>
        </p:spPr>
      </p:pic>
      <p:sp>
        <p:nvSpPr>
          <p:cNvPr id="5" name="TextBox 4"/>
          <p:cNvSpPr txBox="1"/>
          <p:nvPr/>
        </p:nvSpPr>
        <p:spPr>
          <a:xfrm>
            <a:off x="411480" y="531164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742431"/>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200" b="0">
                <a:solidFill>
                  <a:srgbClr val="282828"/>
                </a:solidFill>
                <a:latin typeface="Arial"/>
              </a:rPr>
              <a:t>•  On the 30 nm surface, matrix measured on it: 10 nm on one actuator 0.9935 / 4 pm / SNR 2790; 1 nm on 47 sites 0.9992 / 3 pm; dense 10 nm 0.9985, 338 pm.</a:t>
            </a:r>
          </a:p>
          <a:p>
            <a:pPr>
              <a:spcAft>
                <a:spcPts val="600"/>
              </a:spcAft>
            </a:pPr>
            <a:r>
              <a:rPr sz="1200" b="0">
                <a:solidFill>
                  <a:srgbClr val="282828"/>
                </a:solidFill>
                <a:latin typeface="Arial"/>
              </a:rPr>
              <a:t>•  Servo: 3 pm from 2.3e12 photons per cycle noise only, 7.0e12 under the walk; no fixed error.  The shutter frame is what lets it read to 480 nm of surface (next slides).</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two-arm form of this sensor (the P/SRI: a pickoff, a reference lens, a 3.7 µm pinhole feeding a single-mode waveguide with a photonic phase shifter, a recombiner) is a capture instrument here; its trade is in backup.  Run tags pdi193fbase, ploop193, pdi193state.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tail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1821277" y="1298448"/>
            <a:ext cx="8549140"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94811"/>
                <a:gridCol w="3452726"/>
                <a:gridCol w="2526385"/>
                <a:gridCol w="2694811"/>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47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0.991 / 2 pm / 6076</a:t>
                      </a:r>
                    </a:p>
                  </a:txBody>
                  <a:tcPr marL="54864" marR="54864" marT="18288" marB="18288">
                    <a:solidFill>
                      <a:srgbClr val="FFFFFF"/>
                    </a:solidFill>
                  </a:tcPr>
                </a:tc>
                <a:tc>
                  <a:txBody>
                    <a:bodyPr wrap="square"/>
                    <a:lstStyle/>
                    <a:p>
                      <a:r>
                        <a:rPr sz="1100" b="0">
                          <a:solidFill>
                            <a:srgbClr val="282828"/>
                          </a:solidFill>
                          <a:latin typeface="Arial"/>
                        </a:rPr>
                        <a:t>0.990 / 1 pm (52 sites)</a:t>
                      </a:r>
                    </a:p>
                  </a:txBody>
                  <a:tcPr marL="54864" marR="54864" marT="18288" marB="18288">
                    <a:solidFill>
                      <a:srgbClr val="FFFFFF"/>
                    </a:solidFill>
                  </a:tcPr>
                </a:tc>
                <a:tc>
                  <a:txBody>
                    <a:bodyPr wrap="square"/>
                    <a:lstStyle/>
                    <a:p>
                      <a:r>
                        <a:rPr sz="1100" b="0">
                          <a:solidFill>
                            <a:srgbClr val="282828"/>
                          </a:solidFill>
                          <a:latin typeface="Arial"/>
                        </a:rPr>
                        <a:t>0.990 / 168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0.996 / 2 pm / 5301</a:t>
                      </a:r>
                    </a:p>
                  </a:txBody>
                  <a:tcPr marL="54864" marR="54864" marT="18288" marB="18288">
                    <a:solidFill>
                      <a:srgbClr val="ECF1F6"/>
                    </a:solidFill>
                  </a:tcPr>
                </a:tc>
                <a:tc>
                  <a:txBody>
                    <a:bodyPr wrap="square"/>
                    <a:lstStyle/>
                    <a:p>
                      <a:r>
                        <a:rPr sz="1100" b="0">
                          <a:solidFill>
                            <a:srgbClr val="282828"/>
                          </a:solidFill>
                          <a:latin typeface="Arial"/>
                        </a:rPr>
                        <a:t>0.958 / 1 pm (52 sites)</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0.989 / 5 pm / 2160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c>
                  <a:txBody>
                    <a:bodyPr wrap="square"/>
                    <a:lstStyle/>
                    <a:p>
                      <a:r>
                        <a:rPr sz="1100" b="0">
                          <a:solidFill>
                            <a:srgbClr val="282828"/>
                          </a:solidFill>
                          <a:latin typeface="Arial"/>
                        </a:rPr>
                        <a:t>0.984 / 0.68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0.9935 / 4 pm / 2830</a:t>
                      </a:r>
                    </a:p>
                  </a:txBody>
                  <a:tcPr marL="54864" marR="54864" marT="18288" marB="18288">
                    <a:solidFill>
                      <a:srgbClr val="ECF1F6"/>
                    </a:solidFill>
                  </a:tcPr>
                </a:tc>
                <a:tc>
                  <a:txBody>
                    <a:bodyPr wrap="square"/>
                    <a:lstStyle/>
                    <a:p>
                      <a:r>
                        <a:rPr sz="1100" b="0">
                          <a:solidFill>
                            <a:srgbClr val="282828"/>
                          </a:solidFill>
                          <a:latin typeface="Arial"/>
                        </a:rPr>
                        <a:t>0.9992 / 3 pm</a:t>
                      </a:r>
                    </a:p>
                  </a:txBody>
                  <a:tcPr marL="54864" marR="54864" marT="18288" marB="18288">
                    <a:solidFill>
                      <a:srgbClr val="ECF1F6"/>
                    </a:solidFill>
                  </a:tcPr>
                </a:tc>
                <a:tc>
                  <a:txBody>
                    <a:bodyPr wrap="square"/>
                    <a:lstStyle/>
                    <a:p>
                      <a:r>
                        <a:rPr sz="1100" b="0">
                          <a:solidFill>
                            <a:srgbClr val="282828"/>
                          </a:solidFill>
                          <a:latin typeface="Arial"/>
                        </a:rPr>
                        <a:t>0.9999 / 0.33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0.9935 / 4 pm / 2790</a:t>
                      </a:r>
                    </a:p>
                  </a:txBody>
                  <a:tcPr marL="54864" marR="54864" marT="18288" marB="18288">
                    <a:solidFill>
                      <a:srgbClr val="FFFFFF"/>
                    </a:solidFill>
                  </a:tcPr>
                </a:tc>
                <a:tc>
                  <a:txBody>
                    <a:bodyPr wrap="square"/>
                    <a:lstStyle/>
                    <a:p>
                      <a:r>
                        <a:rPr sz="1100" b="0">
                          <a:solidFill>
                            <a:srgbClr val="282828"/>
                          </a:solidFill>
                          <a:latin typeface="Arial"/>
                        </a:rPr>
                        <a:t>0.9992 / 3 pm</a:t>
                      </a:r>
                    </a:p>
                  </a:txBody>
                  <a:tcPr marL="54864" marR="54864" marT="18288" marB="18288">
                    <a:solidFill>
                      <a:srgbClr val="FFFFFF"/>
                    </a:solidFill>
                  </a:tcPr>
                </a:tc>
                <a:tc>
                  <a:txBody>
                    <a:bodyPr wrap="square"/>
                    <a:lstStyle/>
                    <a:p>
                      <a:r>
                        <a:rPr sz="1100" b="0">
                          <a:solidFill>
                            <a:srgbClr val="282828"/>
                          </a:solidFill>
                          <a:latin typeface="Arial"/>
                        </a:rPr>
                        <a:t>0.9985 / 338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one-frame Zernike readings lose: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The interferometer's 52-site rows count the sites its pupil lights; the others use 47.  The interferometer's dense-pattern error, 168 pm against 0.33-0.68 nm, is its reference arm: it does not make its reference from the beam.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 oap_deck, matbase, matbase385, v193base, pdi193fbase, pfdeck.  The interferometer rows are at 385 pixels per pupil, the rest at 193; the 385 checks read the same.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708910"/>
        </p:xfrm>
        <a:graphic>
          <a:graphicData uri="http://schemas.openxmlformats.org/drawingml/2006/table">
            <a:tbl>
              <a:tblPr firstRow="1" bandRow="1">
                <a:tableStyleId>{5C22544A-7EE6-4342-B048-85BDC9FD1C3A}</a:tableStyleId>
              </a:tblPr>
              <a:tblGrid>
                <a:gridCol w="1912709"/>
                <a:gridCol w="3893730"/>
              </a:tblGrid>
              <a:tr h="28003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280035">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322 nm single site; 480 and beyond on the grid</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sensors age: their reference is made from the beam's own core, and the core changes with the surface.  Past 100 nm rms (2 rad of phase) the core collapses and the reading goes blind.</a:t>
            </a:r>
          </a:p>
          <a:p>
            <a:pPr>
              <a:spcAft>
                <a:spcPts val="600"/>
              </a:spcAft>
            </a:pPr>
            <a:r>
              <a:rPr sz="1200" b="0">
                <a:solidFill>
                  <a:srgbClr val="282828"/>
                </a:solidFill>
                <a:latin typeface="Arial"/>
              </a:rPr>
              <a:t>•  The shutter frame fixes the pinhole's version of this: measuring the reference by itself each state removes the surface dependence, for one more frame.</a:t>
            </a:r>
          </a:p>
          <a:p>
            <a:pPr>
              <a:spcAft>
                <a:spcPts val="600"/>
              </a:spcAft>
            </a:pPr>
            <a:r>
              <a:rPr sz="1200" b="0">
                <a:solidFill>
                  <a:srgbClr val="282828"/>
                </a:solidFill>
                <a:latin typeface="Arial"/>
              </a:rPr>
              <a:t>•  Re-measuring the matrix on the surface restores every reading's gain to within 5% at 60-160 nm — at a photon price (next slide).</a:t>
            </a:r>
          </a:p>
        </p:txBody>
      </p:sp>
      <p:sp>
        <p:nvSpPr>
          <p:cNvPr id="6" name="TextBox 5"/>
          <p:cNvSpPr txBox="1"/>
          <p:nvPr/>
        </p:nvSpPr>
        <p:spPr>
          <a:xfrm>
            <a:off x="6400800" y="3340608"/>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385 pixels per pupil, 47 sites (52 for the interferometer).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the light for 1 pm then rises 5-40× for the self-referenced sensors and not at all for the P/SRI</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2428875"/>
        </p:xfrm>
        <a:graphic>
          <a:graphicData uri="http://schemas.openxmlformats.org/drawingml/2006/table">
            <a:tbl>
              <a:tblPr firstRow="1" bandRow="1">
                <a:tableStyleId>{5C22544A-7EE6-4342-B048-85BDC9FD1C3A}</a:tableStyleId>
              </a:tblPr>
              <a:tblGrid>
                <a:gridCol w="2035048"/>
                <a:gridCol w="5293733"/>
                <a:gridCol w="4039954"/>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47 sites, matrix re-measured at 60 / 90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0.96 / 25, 0.95 / 21, 0.96 / 17, 0.97 / 13 pm</a:t>
                      </a:r>
                    </a:p>
                  </a:txBody>
                  <a:tcPr marL="54864" marR="54864" marT="18288" marB="18288">
                    <a:solidFill>
                      <a:srgbClr val="FFFFFF"/>
                    </a:solidFill>
                  </a:tcPr>
                </a:tc>
                <a:tc>
                  <a:txBody>
                    <a:bodyPr wrap="square"/>
                    <a:lstStyle/>
                    <a:p>
                      <a:r>
                        <a:rPr sz="1100" b="0">
                          <a:solidFill>
                            <a:srgbClr val="282828"/>
                          </a:solidFill>
                          <a:latin typeface="Arial"/>
                        </a:rPr>
                        <a:t>9.2e13, 1.8e14, 6.2e14, 4.6e14</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0.93 / 59, 0.96 / 29, 0.97 / 22, 0.97 / 20 pm</a:t>
                      </a:r>
                    </a:p>
                  </a:txBody>
                  <a:tcPr marL="54864" marR="54864" marT="18288" marB="18288">
                    <a:solidFill>
                      <a:srgbClr val="ECF1F6"/>
                    </a:solidFill>
                  </a:tcPr>
                </a:tc>
                <a:tc>
                  <a:txBody>
                    <a:bodyPr wrap="square"/>
                    <a:lstStyle/>
                    <a:p>
                      <a:r>
                        <a:rPr sz="1100" b="0">
                          <a:solidFill>
                            <a:srgbClr val="282828"/>
                          </a:solidFill>
                          <a:latin typeface="Arial"/>
                        </a:rPr>
                        <a:t>8.8e13, then 1e15 class</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1.00 / 3, 0.96 / 47, 0.97 / 23, 0.97 / 21 pm</a:t>
                      </a:r>
                    </a:p>
                  </a:txBody>
                  <a:tcPr marL="54864" marR="54864" marT="18288" marB="18288">
                    <a:solidFill>
                      <a:srgbClr val="FFFFFF"/>
                    </a:solidFill>
                  </a:tcPr>
                </a:tc>
                <a:tc>
                  <a:txBody>
                    <a:bodyPr wrap="square"/>
                    <a:lstStyle/>
                    <a:p>
                      <a:r>
                        <a:rPr sz="1100" b="0">
                          <a:solidFill>
                            <a:srgbClr val="282828"/>
                          </a:solidFill>
                          <a:latin typeface="Arial"/>
                        </a:rPr>
                        <a:t>6.1e13, 1.1e14, 2.2e15, 2.4e15</a:t>
                      </a:r>
                    </a:p>
                  </a:txBody>
                  <a:tcPr marL="54864" marR="54864" marT="18288" marB="18288">
                    <a:solidFill>
                      <a:srgbClr val="FFFFFF"/>
                    </a:solidFill>
                  </a:tcPr>
                </a:tc>
              </a:tr>
              <a:tr h="280035">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1.00 / 3, 0.96 / 41, 0.97 / 19, 0.97 / 17 pm</a:t>
                      </a:r>
                    </a:p>
                  </a:txBody>
                  <a:tcPr marL="54864" marR="54864" marT="18288" marB="18288">
                    <a:solidFill>
                      <a:srgbClr val="ECF1F6"/>
                    </a:solidFill>
                  </a:tcPr>
                </a:tc>
                <a:tc>
                  <a:txBody>
                    <a:bodyPr wrap="square"/>
                    <a:lstStyle/>
                    <a:p>
                      <a:r>
                        <a:rPr sz="1100" b="0">
                          <a:solidFill>
                            <a:srgbClr val="282828"/>
                          </a:solidFill>
                          <a:latin typeface="Arial"/>
                        </a:rPr>
                        <a:t>9.8e13, 1.7e14, tens of times more at 120-160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1.000 / 3, 1.001 / 2, 1.001 / 2, 1.002 / 2 pm</a:t>
                      </a:r>
                    </a:p>
                  </a:txBody>
                  <a:tcPr marL="54864" marR="54864" marT="18288" marB="18288">
                    <a:solidFill>
                      <a:srgbClr val="FFFFFF"/>
                    </a:solidFill>
                  </a:tcPr>
                </a:tc>
                <a:tc>
                  <a:txBody>
                    <a:bodyPr wrap="square"/>
                    <a:lstStyle/>
                    <a:p>
                      <a:r>
                        <a:rPr sz="1100" b="0">
                          <a:solidFill>
                            <a:srgbClr val="282828"/>
                          </a:solidFill>
                          <a:latin typeface="Arial"/>
                        </a:rPr>
                        <a:t>3.7e14, 4.1e14, 6.6e14, 3.7e14</a:t>
                      </a:r>
                    </a:p>
                  </a:txBody>
                  <a:tcPr marL="54864" marR="54864" marT="18288" marB="18288">
                    <a:solidFill>
                      <a:srgbClr val="FFFFFF"/>
                    </a:solidFill>
                  </a:tcPr>
                </a:tc>
              </a:tr>
              <a:tr h="280035">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0.99 / 1 pm, correlation 0.9999, flat to 160 nm</a:t>
                      </a:r>
                    </a:p>
                  </a:txBody>
                  <a:tcPr marL="54864" marR="54864" marT="18288" marB="18288">
                    <a:solidFill>
                      <a:srgbClr val="ECF1F6"/>
                    </a:solidFill>
                  </a:tcPr>
                </a:tc>
                <a:tc>
                  <a:txBody>
                    <a:bodyPr wrap="square"/>
                    <a:lstStyle/>
                    <a:p>
                      <a:r>
                        <a:rPr sz="1100" b="0">
                          <a:solidFill>
                            <a:srgbClr val="282828"/>
                          </a:solidFill>
                          <a:latin typeface="Arial"/>
                        </a:rPr>
                        <a:t>2.5e14, stable to 160 nm</a:t>
                      </a:r>
                    </a:p>
                  </a:txBody>
                  <a:tcPr marL="54864" marR="54864" marT="18288" marB="18288">
                    <a:solidFill>
                      <a:srgbClr val="ECF1F6"/>
                    </a:solidFill>
                  </a:tcPr>
                </a:tc>
              </a:tr>
              <a:tr h="280035">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0.958, correlation 0.980 to 160 nm</a:t>
                      </a:r>
                    </a:p>
                  </a:txBody>
                  <a:tcPr marL="54864" marR="54864" marT="18288" marB="18288">
                    <a:solidFill>
                      <a:srgbClr val="FFFFFF"/>
                    </a:solidFill>
                  </a:tcPr>
                </a:tc>
                <a:tc>
                  <a:txBody>
                    <a:bodyPr wrap="square"/>
                    <a:lstStyle/>
                    <a:p>
                      <a:r>
                        <a:rPr sz="1100" b="0">
                          <a:solidFill>
                            <a:srgbClr val="282828"/>
                          </a:solidFill>
                          <a:latin typeface="Arial"/>
                        </a:rPr>
                        <a:t>6.2e14, stable</a:t>
                      </a:r>
                    </a:p>
                  </a:txBody>
                  <a:tcPr marL="54864" marR="54864" marT="18288" marB="18288">
                    <a:solidFill>
                      <a:srgbClr val="FFFFFF"/>
                    </a:solidFill>
                  </a:tcPr>
                </a:tc>
              </a:tr>
            </a:tbl>
          </a:graphicData>
        </a:graphic>
      </p:graphicFrame>
      <p:sp>
        <p:nvSpPr>
          <p:cNvPr id="5" name="TextBox 4"/>
          <p:cNvSpPr txBox="1"/>
          <p:nvPr/>
        </p:nvSpPr>
        <p:spPr>
          <a:xfrm>
            <a:off x="411480" y="3873627"/>
            <a:ext cx="11368735" cy="274320"/>
          </a:xfrm>
          <a:prstGeom prst="rect">
            <a:avLst/>
          </a:prstGeom>
          <a:noFill/>
        </p:spPr>
        <p:txBody>
          <a:bodyPr wrap="square">
            <a:spAutoFit/>
          </a:bodyPr>
          <a:lstStyle/>
          <a:p>
            <a:pPr>
              <a:spcAft>
                <a:spcPts val="600"/>
              </a:spcAft>
            </a:pPr>
            <a:r>
              <a:rPr sz="1500" b="0">
                <a:solidFill>
                  <a:srgbClr val="282828"/>
                </a:solidFill>
                <a:latin typeface="Arial"/>
              </a:rPr>
              <a:t>•  What this says: off null, a self-referenced sensor keeps its accuracy through recalibration but pays in light (2e15 photons is 0.8 mJ, 3 s of a 1 mW laser); the two-arm instruments pay nothing because their reference does not move with the surface.</a:t>
            </a:r>
          </a:p>
        </p:txBody>
      </p:sp>
      <p:sp>
        <p:nvSpPr>
          <p:cNvPr id="6" name="TextBox 5"/>
          <p:cNvSpPr txBox="1"/>
          <p:nvPr/>
        </p:nvSpPr>
        <p:spPr>
          <a:xfrm>
            <a:off x="411480" y="4793361"/>
            <a:ext cx="11368735" cy="274320"/>
          </a:xfrm>
          <a:prstGeom prst="rect">
            <a:avLst/>
          </a:prstGeom>
          <a:noFill/>
        </p:spPr>
        <p:txBody>
          <a:bodyPr wrap="square">
            <a:spAutoFit/>
          </a:bodyPr>
          <a:lstStyle/>
          <a:p>
            <a:pPr>
              <a:spcAft>
                <a:spcPts val="600"/>
              </a:spcAft>
            </a:pPr>
            <a:r>
              <a:rPr sz="1050" b="0">
                <a:solidFill>
                  <a:srgbClr val="6E6E6E"/>
                </a:solidFill>
                <a:latin typeface="Arial"/>
              </a:rPr>
              <a:t>Run tags cap385_b60-b160, cap385p_b60-b160, noise193_b30-b160, noise193p_b30-b160, lens_deck, oap_deck.  Photons are per measurement, all frames summed, 6 noise realizations per point.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flat calibration the sensors need 3-6e13 photons per measurement and the interferometer 1.4-2.5e14; on the working surface the sensors' cost roughly doubles and the two-arm instruments' does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06065"/>
        </p:xfrm>
        <a:graphic>
          <a:graphicData uri="http://schemas.openxmlformats.org/drawingml/2006/table">
            <a:tbl>
              <a:tblPr firstRow="1" bandRow="1">
                <a:tableStyleId>{5C22544A-7EE6-4342-B048-85BDC9FD1C3A}</a:tableStyleId>
              </a:tblPr>
              <a:tblGrid>
                <a:gridCol w="1696263"/>
                <a:gridCol w="1891986"/>
                <a:gridCol w="2218190"/>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flat matrix</a:t>
                      </a:r>
                    </a:p>
                  </a:txBody>
                  <a:tcPr marL="54864" marR="54864" marT="18288" marB="18288">
                    <a:solidFill>
                      <a:srgbClr val="1F4E79"/>
                    </a:solidFill>
                  </a:tcPr>
                </a:tc>
                <a:tc>
                  <a:txBody>
                    <a:bodyPr wrap="square"/>
                    <a:lstStyle/>
                    <a:p>
                      <a:r>
                        <a:rPr sz="1100" b="1">
                          <a:solidFill>
                            <a:srgbClr val="FFFFFF"/>
                          </a:solidFill>
                          <a:latin typeface="Arial"/>
                        </a:rPr>
                        <a:t>on the 30 nm surface, matrix on it</a:t>
                      </a:r>
                    </a:p>
                  </a:txBody>
                  <a:tcPr marL="54864" marR="54864" marT="18288" marB="18288">
                    <a:solidFill>
                      <a:srgbClr val="1F4E79"/>
                    </a:solidFill>
                  </a:tcPr>
                </a:tc>
              </a:tr>
              <a:tr h="28003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3.3e13</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4.7e13</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5.4e13</a:t>
                      </a:r>
                    </a:p>
                  </a:txBody>
                  <a:tcPr marL="54864" marR="54864" marT="18288" marB="18288">
                    <a:solidFill>
                      <a:srgbClr val="FFFFFF"/>
                    </a:solidFill>
                  </a:tcPr>
                </a:tc>
                <a:tc>
                  <a:txBody>
                    <a:bodyPr wrap="square"/>
                    <a:lstStyle/>
                    <a:p>
                      <a:r>
                        <a:rPr sz="1100" b="0">
                          <a:solidFill>
                            <a:srgbClr val="282828"/>
                          </a:solidFill>
                          <a:latin typeface="Arial"/>
                        </a:rPr>
                        <a:t>8.8e13</a:t>
                      </a:r>
                    </a:p>
                  </a:txBody>
                  <a:tcPr marL="54864" marR="54864" marT="18288" marB="18288">
                    <a:solidFill>
                      <a:srgbClr val="FFFFFF"/>
                    </a:solidFill>
                  </a:tcPr>
                </a:tc>
              </a:tr>
              <a:tr h="280035">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5.4e13</a:t>
                      </a:r>
                    </a:p>
                  </a:txBody>
                  <a:tcPr marL="54864" marR="54864" marT="18288" marB="18288">
                    <a:solidFill>
                      <a:srgbClr val="ECF1F6"/>
                    </a:solidFill>
                  </a:tcPr>
                </a:tc>
                <a:tc>
                  <a:txBody>
                    <a:bodyPr wrap="square"/>
                    <a:lstStyle/>
                    <a:p>
                      <a:r>
                        <a:rPr sz="1100" b="0">
                          <a:solidFill>
                            <a:srgbClr val="282828"/>
                          </a:solidFill>
                          <a:latin typeface="Arial"/>
                        </a:rPr>
                        <a:t>9.2e13</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2.0e14</a:t>
                      </a:r>
                    </a:p>
                  </a:txBody>
                  <a:tcPr marL="54864" marR="54864" marT="18288" marB="18288">
                    <a:solidFill>
                      <a:srgbClr val="FFFFFF"/>
                    </a:solidFill>
                  </a:tcPr>
                </a:tc>
                <a:tc>
                  <a:txBody>
                    <a:bodyPr wrap="square"/>
                    <a:lstStyle/>
                    <a:p>
                      <a:r>
                        <a:rPr sz="1100" b="0">
                          <a:solidFill>
                            <a:srgbClr val="282828"/>
                          </a:solidFill>
                          <a:latin typeface="Arial"/>
                        </a:rPr>
                        <a:t>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1.4e14 (servo form)</a:t>
                      </a:r>
                    </a:p>
                  </a:txBody>
                  <a:tcPr marL="54864" marR="54864" marT="18288" marB="18288">
                    <a:solidFill>
                      <a:srgbClr val="ECF1F6"/>
                    </a:solidFill>
                  </a:tcPr>
                </a:tc>
                <a:tc>
                  <a:txBody>
                    <a:bodyPr wrap="square"/>
                    <a:lstStyle/>
                    <a:p>
                      <a:r>
                        <a:rPr sz="1100" b="0">
                          <a:solidFill>
                            <a:srgbClr val="282828"/>
                          </a:solidFill>
                          <a:latin typeface="Arial"/>
                        </a:rPr>
                        <a:t>2.5e14</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4.9e14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bl>
          </a:graphicData>
        </a:graphic>
      </p:graphicFrame>
      <p:pic>
        <p:nvPicPr>
          <p:cNvPr id="5" name="Picture 4" descr="zwfs_rec193full_noise.png"/>
          <p:cNvPicPr>
            <a:picLocks noChangeAspect="1"/>
          </p:cNvPicPr>
          <p:nvPr/>
        </p:nvPicPr>
        <p:blipFill>
          <a:blip r:embed="rId2"/>
          <a:stretch>
            <a:fillRect/>
          </a:stretch>
        </p:blipFill>
        <p:spPr>
          <a:xfrm>
            <a:off x="7845800" y="1298448"/>
            <a:ext cx="2504959"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Zernike reading, with the 1 pm line: the runner's own figure.</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Run tags pdi193f, v193noise, rec193full, noise193_b30, noise193p_b30, pfdeck, loop_lens, lens_deck, oap_deck.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1.5e12 photons per cycle, the pinhole and stepped Zernike from 2.3-2.6e12, the interferometer from 5.5e12 — and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6" cy="3371850"/>
        </p:xfrm>
        <a:graphic>
          <a:graphicData uri="http://schemas.openxmlformats.org/drawingml/2006/table">
            <a:tbl>
              <a:tblPr firstRow="1" bandRow="1">
                <a:tableStyleId>{5C22544A-7EE6-4342-B048-85BDC9FD1C3A}</a:tableStyleId>
              </a:tblPr>
              <a:tblGrid>
                <a:gridCol w="1063150"/>
                <a:gridCol w="654246"/>
                <a:gridCol w="1308493"/>
                <a:gridCol w="1349383"/>
                <a:gridCol w="1431164"/>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1.5e12</a:t>
                      </a:r>
                    </a:p>
                  </a:txBody>
                  <a:tcPr marL="54864" marR="54864" marT="18288" marB="18288">
                    <a:solidFill>
                      <a:srgbClr val="FFFFFF"/>
                    </a:solidFill>
                  </a:tcPr>
                </a:tc>
                <a:tc>
                  <a:txBody>
                    <a:bodyPr wrap="square"/>
                    <a:lstStyle/>
                    <a:p>
                      <a:r>
                        <a:rPr sz="1100" b="0">
                          <a:solidFill>
                            <a:srgbClr val="282828"/>
                          </a:solidFill>
                          <a:latin typeface="Arial"/>
                        </a:rPr>
                        <a:t>5.3e12</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2.3e12</a:t>
                      </a:r>
                    </a:p>
                  </a:txBody>
                  <a:tcPr marL="54864" marR="54864" marT="18288" marB="18288">
                    <a:solidFill>
                      <a:srgbClr val="ECF1F6"/>
                    </a:solidFill>
                  </a:tcPr>
                </a:tc>
                <a:tc>
                  <a:txBody>
                    <a:bodyPr wrap="square"/>
                    <a:lstStyle/>
                    <a:p>
                      <a:r>
                        <a:rPr sz="1100" b="0">
                          <a:solidFill>
                            <a:srgbClr val="282828"/>
                          </a:solidFill>
                          <a:latin typeface="Arial"/>
                        </a:rPr>
                        <a:t>7.0e12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468630">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2.6e12</a:t>
                      </a:r>
                    </a:p>
                  </a:txBody>
                  <a:tcPr marL="54864" marR="54864" marT="18288" marB="18288">
                    <a:solidFill>
                      <a:srgbClr val="FFFFFF"/>
                    </a:solidFill>
                  </a:tcPr>
                </a:tc>
                <a:tc>
                  <a:txBody>
                    <a:bodyPr wrap="square"/>
                    <a:lstStyle/>
                    <a:p>
                      <a:r>
                        <a:rPr sz="1100" b="0">
                          <a:solidFill>
                            <a:srgbClr val="282828"/>
                          </a:solidFill>
                          <a:latin typeface="Arial"/>
                        </a:rPr>
                        <a:t>7.5e12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2.1e12</a:t>
                      </a:r>
                    </a:p>
                  </a:txBody>
                  <a:tcPr marL="54864" marR="54864" marT="18288" marB="18288">
                    <a:solidFill>
                      <a:srgbClr val="ECF1F6"/>
                    </a:solidFill>
                  </a:tcPr>
                </a:tc>
                <a:tc>
                  <a:txBody>
                    <a:bodyPr wrap="square"/>
                    <a:lstStyle/>
                    <a:p>
                      <a:r>
                        <a:rPr sz="1100" b="0">
                          <a:solidFill>
                            <a:srgbClr val="282828"/>
                          </a:solidFill>
                          <a:latin typeface="Arial"/>
                        </a:rPr>
                        <a:t>7.3e12</a:t>
                      </a:r>
                    </a:p>
                  </a:txBody>
                  <a:tcPr marL="54864" marR="54864" marT="18288" marB="18288">
                    <a:solidFill>
                      <a:srgbClr val="ECF1F6"/>
                    </a:solidFill>
                  </a:tcPr>
                </a:tc>
                <a:tc>
                  <a:txBody>
                    <a:bodyPr wrap="square"/>
                    <a:lstStyle/>
                    <a:p>
                      <a:r>
                        <a:rPr sz="1100" b="0">
                          <a:solidFill>
                            <a:srgbClr val="282828"/>
                          </a:solidFill>
                          <a:latin typeface="Arial"/>
                        </a:rPr>
                        <a:t>27.6 pm</a:t>
                      </a:r>
                    </a:p>
                  </a:txBody>
                  <a:tcPr marL="54864" marR="54864" marT="18288" marB="18288">
                    <a:solidFill>
                      <a:srgbClr val="ECF1F6"/>
                    </a:solidFill>
                  </a:tcPr>
                </a:tc>
                <a:tc>
                  <a:txBody>
                    <a:bodyPr wrap="square"/>
                    <a:lstStyle/>
                    <a:p>
                      <a:r>
                        <a:rPr sz="1100" b="0">
                          <a:solidFill>
                            <a:srgbClr val="282828"/>
                          </a:solidFill>
                          <a:latin typeface="Arial"/>
                        </a:rPr>
                        <a:t>1.2 pm, still falling</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5.1e12</a:t>
                      </a:r>
                    </a:p>
                  </a:txBody>
                  <a:tcPr marL="54864" marR="54864" marT="18288" marB="18288">
                    <a:solidFill>
                      <a:srgbClr val="FFFFFF"/>
                    </a:solidFill>
                  </a:tcPr>
                </a:tc>
                <a:tc>
                  <a:txBody>
                    <a:bodyPr wrap="square"/>
                    <a:lstStyle/>
                    <a:p>
                      <a:r>
                        <a:rPr sz="1100" b="0">
                          <a:solidFill>
                            <a:srgbClr val="282828"/>
                          </a:solidFill>
                          <a:latin typeface="Arial"/>
                        </a:rPr>
                        <a:t>1.5e13</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13.1 pm</a:t>
                      </a:r>
                    </a:p>
                  </a:txBody>
                  <a:tcPr marL="54864" marR="54864" marT="18288" marB="18288">
                    <a:solidFill>
                      <a:srgbClr val="ECF1F6"/>
                    </a:solidFill>
                  </a:tcPr>
                </a:tc>
                <a:tc>
                  <a:txBody>
                    <a:bodyPr wrap="square"/>
                    <a:lstStyle/>
                    <a:p>
                      <a:r>
                        <a:rPr sz="1100" b="0">
                          <a:solidFill>
                            <a:srgbClr val="282828"/>
                          </a:solidFill>
                          <a:latin typeface="Arial"/>
                        </a:rPr>
                        <a:t>87 pm (8.6%), rising</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3.4e13</a:t>
                      </a:r>
                    </a:p>
                  </a:txBody>
                  <a:tcPr marL="54864" marR="54864" marT="18288" marB="18288">
                    <a:solidFill>
                      <a:srgbClr val="FFFFFF"/>
                    </a:solidFill>
                  </a:tcPr>
                </a:tc>
                <a:tc>
                  <a:txBody>
                    <a:bodyPr wrap="square"/>
                    <a:lstStyle/>
                    <a:p>
                      <a:r>
                        <a:rPr sz="1100" b="0">
                          <a:solidFill>
                            <a:srgbClr val="282828"/>
                          </a:solidFill>
                          <a:latin typeface="Arial"/>
                        </a:rPr>
                        <a:t>never (4.1 pm floor)</a:t>
                      </a:r>
                    </a:p>
                  </a:txBody>
                  <a:tcPr marL="54864" marR="54864" marT="18288" marB="18288">
                    <a:solidFill>
                      <a:srgbClr val="FFFFFF"/>
                    </a:solidFill>
                  </a:tcPr>
                </a:tc>
                <a:tc>
                  <a:txBody>
                    <a:bodyPr wrap="square"/>
                    <a:lstStyle/>
                    <a:p>
                      <a:r>
                        <a:rPr sz="1100" b="0">
                          <a:solidFill>
                            <a:srgbClr val="282828"/>
                          </a:solidFill>
                          <a:latin typeface="Arial"/>
                        </a:rPr>
                        <a:t>39 pm</a:t>
                      </a:r>
                    </a:p>
                  </a:txBody>
                  <a:tcPr marL="54864" marR="54864" marT="18288" marB="18288">
                    <a:solidFill>
                      <a:srgbClr val="FFFFFF"/>
                    </a:solidFill>
                  </a:tcPr>
                </a:tc>
                <a:tc>
                  <a:txBody>
                    <a:bodyPr wrap="square"/>
                    <a:lstStyle/>
                    <a:p>
                      <a:r>
                        <a:rPr sz="1100" b="0">
                          <a:solidFill>
                            <a:srgbClr val="282828"/>
                          </a:solidFill>
                          <a:latin typeface="Arial"/>
                        </a:rPr>
                        <a:t>276 pm (27.6%)</a:t>
                      </a:r>
                    </a:p>
                  </a:txBody>
                  <a:tcPr marL="54864" marR="54864" marT="18288" marB="18288">
                    <a:solidFill>
                      <a:srgbClr val="FFFFFF"/>
                    </a:solidFill>
                  </a:tcPr>
                </a:tc>
              </a:tr>
            </a:tbl>
          </a:graphicData>
        </a:graphic>
      </p:graphicFrame>
      <p:pic>
        <p:nvPicPr>
          <p:cNvPr id="5" name="Picture 4" descr="crop_zwfs_vloop193_right.png"/>
          <p:cNvPicPr>
            <a:picLocks noChangeAspect="1"/>
          </p:cNvPicPr>
          <p:nvPr/>
        </p:nvPicPr>
        <p:blipFill>
          <a:blip r:embed="rId2"/>
          <a:stretch>
            <a:fillRect/>
          </a:stretch>
        </p:blipFill>
        <p:spPr>
          <a:xfrm>
            <a:off x="8073928" y="1298448"/>
            <a:ext cx="2048703" cy="1726691"/>
          </a:xfrm>
          <a:prstGeom prst="rect">
            <a:avLst/>
          </a:prstGeom>
        </p:spPr>
      </p:pic>
      <p:sp>
        <p:nvSpPr>
          <p:cNvPr id="6" name="TextBox 5"/>
          <p:cNvSpPr txBox="1"/>
          <p:nvPr/>
        </p:nvSpPr>
        <p:spPr>
          <a:xfrm>
            <a:off x="6400800" y="3043428"/>
            <a:ext cx="5394960" cy="559307"/>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(green) and vector (purple) Zernike readings, with no drift, a 2 pm walk, and a 5 pm ramp: the runner's own figure.</a:t>
            </a:r>
          </a:p>
        </p:txBody>
      </p:sp>
      <p:sp>
        <p:nvSpPr>
          <p:cNvPr id="7" name="TextBox 6"/>
          <p:cNvSpPr txBox="1"/>
          <p:nvPr/>
        </p:nvSpPr>
        <p:spPr>
          <a:xfrm>
            <a:off x="6400800" y="3639311"/>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about 10 pm is the loop's lag at this gain, the same for every reading that has no fixed error.  The exact one-frame Zernike reading diverges in the loop.  Run tags vloop193, ploop193, loop193, pfdeck_loop, loop_lens, loop_oap.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560445"/>
        </p:xfrm>
        <a:graphic>
          <a:graphicData uri="http://schemas.openxmlformats.org/drawingml/2006/table">
            <a:tbl>
              <a:tblPr firstRow="1" bandRow="1">
                <a:tableStyleId>{5C22544A-7EE6-4342-B048-85BDC9FD1C3A}</a:tableStyleId>
              </a:tblPr>
              <a:tblGrid>
                <a:gridCol w="1324959"/>
                <a:gridCol w="1130112"/>
                <a:gridCol w="3351368"/>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468630">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300 nm (600 nm WFE)</a:t>
                      </a:r>
                    </a:p>
                  </a:txBody>
                  <a:tcPr marL="54864" marR="54864" marT="18288" marB="18288">
                    <a:solidFill>
                      <a:srgbClr val="ECF1F6"/>
                    </a:solidFill>
                  </a:tcPr>
                </a:tc>
                <a:tc>
                  <a:txBody>
                    <a:bodyPr wrap="square"/>
                    <a:lstStyle/>
                    <a:p>
                      <a:r>
                        <a:rPr sz="1100" b="0">
                          <a:solidFill>
                            <a:srgbClr val="282828"/>
                          </a:solidFill>
                          <a:latin typeface="Arial"/>
                        </a:rPr>
                        <a:t>unwrap alone: 3 pm in 16 / 18 / 21 / 25 / 43 cycles from 60 / 100 / 150 / 200 / 300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none</a:t>
                      </a:r>
                    </a:p>
                  </a:txBody>
                  <a:tcPr marL="54864" marR="54864" marT="18288" marB="18288">
                    <a:solidFill>
                      <a:srgbClr val="FFFFFF"/>
                    </a:solidFill>
                  </a:tcPr>
                </a:tc>
                <a:tc>
                  <a:txBody>
                    <a:bodyPr wrap="square"/>
                    <a:lstStyle/>
                    <a:p>
                      <a:r>
                        <a:rPr sz="1100" b="0">
                          <a:solidFill>
                            <a:srgbClr val="282828"/>
                          </a:solidFill>
                          <a:latin typeface="Arial"/>
                        </a:rPr>
                        <a:t>stalls at 5.9 / 24 / 53 nm from 60 / 150 / 300</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wrap is not the limit for the self-referenced sensors: past 60 nm their differential comes back at 24-28 nm whatever the truth, with zero residues — the focal reference has collapsed, the reading is blind, not folded.</a:t>
            </a:r>
          </a:p>
          <a:p>
            <a:pPr>
              <a:spcAft>
                <a:spcPts val="600"/>
              </a:spcAft>
            </a:pPr>
            <a:r>
              <a:rPr sz="1200" b="0">
                <a:solidFill>
                  <a:srgbClr val="282828"/>
                </a:solidFill>
                <a:latin typeface="Arial"/>
              </a:rPr>
              <a:t>•  Unwrapping alone is not enough for the pinhole or the P/SRI: the calibration measured at the start is wrong by the time the surface has moved; re-measuring it every 10 cycles (3 times in the descent) closes the loop.  Cadence is not the constraint; the cycle count is.</a:t>
            </a:r>
          </a:p>
          <a:p>
            <a:pPr>
              <a:spcAft>
                <a:spcPts val="600"/>
              </a:spcAft>
            </a:pPr>
            <a:r>
              <a:rPr sz="1200" b="0">
                <a:solidFill>
                  <a:srgbClr val="282828"/>
                </a:solidFill>
                <a:latin typeface="Arial"/>
              </a:rPr>
              <a:t>•  The interferometer needs no recalibration because its reference is the flat, not the beam.</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cap_nouw, cap_uw, cap_state_uw_recal, descent193, descent_lens, descent_oap.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in the front end</a:t>
            </a:r>
          </a:p>
          <a:p>
            <a:pPr>
              <a:spcAft>
                <a:spcPts val="0"/>
              </a:spcAft>
            </a:pPr>
            <a:r>
              <a:rPr sz="1250" b="0">
                <a:solidFill>
                  <a:srgbClr val="6E6E6E"/>
                </a:solidFill>
                <a:latin typeface="Arial"/>
              </a:rPr>
              <a:t>The reflective rig is the budget choice; it costs the interferometer its servo and its capture, and it breaks the focus-critical sensors: the mirror fold's coma at the mask seat is 0.8 λF/D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646170"/>
        </p:xfrm>
        <a:graphic>
          <a:graphicData uri="http://schemas.openxmlformats.org/drawingml/2006/table">
            <a:tbl>
              <a:tblPr firstRow="1" bandRow="1">
                <a:tableStyleId>{5C22544A-7EE6-4342-B048-85BDC9FD1C3A}</a:tableStyleId>
              </a:tblPr>
              <a:tblGrid>
                <a:gridCol w="2416966"/>
                <a:gridCol w="1163320"/>
                <a:gridCol w="2226153"/>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(bare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 nm on 52 sites</a:t>
                      </a:r>
                    </a:p>
                  </a:txBody>
                  <a:tcPr marL="54864" marR="54864" marT="18288" marB="18288">
                    <a:solidFill>
                      <a:srgbClr val="FFFFFF"/>
                    </a:solidFill>
                  </a:tcPr>
                </a:tc>
                <a:tc>
                  <a:txBody>
                    <a:bodyPr wrap="square"/>
                    <a:lstStyle/>
                    <a:p>
                      <a:r>
                        <a:rPr sz="1100" b="0">
                          <a:solidFill>
                            <a:srgbClr val="282828"/>
                          </a:solidFill>
                          <a:latin typeface="Arial"/>
                        </a:rPr>
                        <a:t>0.990 / 1 pm</a:t>
                      </a:r>
                    </a:p>
                  </a:txBody>
                  <a:tcPr marL="54864" marR="54864" marT="18288" marB="18288">
                    <a:solidFill>
                      <a:srgbClr val="FFFFFF"/>
                    </a:solidFill>
                  </a:tcPr>
                </a:tc>
                <a:tc>
                  <a:txBody>
                    <a:bodyPr wrap="square"/>
                    <a:lstStyle/>
                    <a:p>
                      <a:r>
                        <a:rPr sz="1100" b="0">
                          <a:solidFill>
                            <a:srgbClr val="282828"/>
                          </a:solidFill>
                          <a:latin typeface="Arial"/>
                        </a:rPr>
                        <a:t>0.958 / 1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10 nm</a:t>
                      </a:r>
                    </a:p>
                  </a:txBody>
                  <a:tcPr marL="54864" marR="54864" marT="18288" marB="18288">
                    <a:solidFill>
                      <a:srgbClr val="ECF1F6"/>
                    </a:solidFill>
                  </a:tcPr>
                </a:tc>
                <a:tc>
                  <a:txBody>
                    <a:bodyPr wrap="square"/>
                    <a:lstStyle/>
                    <a:p>
                      <a:r>
                        <a:rPr sz="1100" b="0">
                          <a:solidFill>
                            <a:srgbClr val="282828"/>
                          </a:solidFill>
                          <a:latin typeface="Arial"/>
                        </a:rPr>
                        <a:t>0.990 / 168 pm</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below 0.06</a:t>
                      </a:r>
                    </a:p>
                  </a:txBody>
                  <a:tcPr marL="54864" marR="54864" marT="18288" marB="18288">
                    <a:solidFill>
                      <a:srgbClr val="FFFFFF"/>
                    </a:solidFill>
                  </a:tcPr>
                </a:tc>
                <a:tc>
                  <a:txBody>
                    <a:bodyPr wrap="square"/>
                    <a:lstStyle/>
                    <a:p>
                      <a:r>
                        <a:rPr sz="1100" b="0">
                          <a:solidFill>
                            <a:srgbClr val="282828"/>
                          </a:solidFill>
                          <a:latin typeface="Arial"/>
                        </a:rPr>
                        <a:t>about 0.18</a:t>
                      </a:r>
                    </a:p>
                  </a:txBody>
                  <a:tcPr marL="54864" marR="54864" marT="18288" marB="18288">
                    <a:solidFill>
                      <a:srgbClr val="FFFFFF"/>
                    </a:solidFill>
                  </a:tcPr>
                </a:tc>
              </a:tr>
              <a:tr h="280035">
                <a:tc>
                  <a:txBody>
                    <a:bodyPr wrap="square"/>
                    <a:lstStyle/>
                    <a:p>
                      <a:r>
                        <a:rPr sz="1100" b="0">
                          <a:solidFill>
                            <a:srgbClr val="282828"/>
                          </a:solidFill>
                          <a:latin typeface="Arial"/>
                        </a:rPr>
                        <a:t>servo, 3 pm under the walk</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never</a:t>
                      </a:r>
                    </a:p>
                  </a:txBody>
                  <a:tcPr marL="54864" marR="54864" marT="18288" marB="18288">
                    <a:solidFill>
                      <a:srgbClr val="ECF1F6"/>
                    </a:solidFill>
                  </a:tcPr>
                </a:tc>
              </a:tr>
              <a:tr h="280035">
                <a:tc>
                  <a:txBody>
                    <a:bodyPr wrap="square"/>
                    <a:lstStyle/>
                    <a:p>
                      <a:r>
                        <a:rPr sz="1100" b="0">
                          <a:solidFill>
                            <a:srgbClr val="282828"/>
                          </a:solidFill>
                          <a:latin typeface="Arial"/>
                        </a:rPr>
                        <a:t>noiseless step, fixed error</a:t>
                      </a:r>
                    </a:p>
                  </a:txBody>
                  <a:tcPr marL="54864" marR="54864" marT="18288" marB="18288">
                    <a:solidFill>
                      <a:srgbClr val="FFFFFF"/>
                    </a:solidFill>
                  </a:tcPr>
                </a:tc>
                <a:tc>
                  <a:txBody>
                    <a:bodyPr wrap="square"/>
                    <a:lstStyle/>
                    <a:p>
                      <a:r>
                        <a:rPr sz="1100" b="0">
                          <a:solidFill>
                            <a:srgbClr val="282828"/>
                          </a:solidFill>
                          <a:latin typeface="Arial"/>
                        </a:rPr>
                        <a:t>8.6%</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r>
              <a:tr h="280035">
                <a:tc>
                  <a:txBody>
                    <a:bodyPr wrap="square"/>
                    <a:lstStyle/>
                    <a:p>
                      <a:r>
                        <a:rPr sz="1100" b="0">
                          <a:solidFill>
                            <a:srgbClr val="282828"/>
                          </a:solidFill>
                          <a:latin typeface="Arial"/>
                        </a:rPr>
                        <a:t>capture from 60-300 nm</a:t>
                      </a:r>
                    </a:p>
                  </a:txBody>
                  <a:tcPr marL="54864" marR="54864" marT="18288" marB="18288">
                    <a:solidFill>
                      <a:srgbClr val="ECF1F6"/>
                    </a:solidFill>
                  </a:tcPr>
                </a:tc>
                <a:tc>
                  <a:txBody>
                    <a:bodyPr wrap="square"/>
                    <a:lstStyle/>
                    <a:p>
                      <a:r>
                        <a:rPr sz="1100" b="0">
                          <a:solidFill>
                            <a:srgbClr val="282828"/>
                          </a:solidFill>
                          <a:latin typeface="Arial"/>
                        </a:rPr>
                        <a:t>converges</a:t>
                      </a:r>
                    </a:p>
                  </a:txBody>
                  <a:tcPr marL="54864" marR="54864" marT="18288" marB="18288">
                    <a:solidFill>
                      <a:srgbClr val="ECF1F6"/>
                    </a:solidFill>
                  </a:tcPr>
                </a:tc>
                <a:tc>
                  <a:txBody>
                    <a:bodyPr wrap="square"/>
                    <a:lstStyle/>
                    <a:p>
                      <a:r>
                        <a:rPr sz="1100" b="0">
                          <a:solidFill>
                            <a:srgbClr val="282828"/>
                          </a:solidFill>
                          <a:latin typeface="Arial"/>
                        </a:rPr>
                        <a:t>stalls</a:t>
                      </a:r>
                    </a:p>
                  </a:txBody>
                  <a:tcPr marL="54864" marR="54864" marT="18288" marB="18288">
                    <a:solidFill>
                      <a:srgbClr val="ECF1F6"/>
                    </a:solidFill>
                  </a:tcPr>
                </a:tc>
              </a:tr>
              <a:tr h="468630">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95-103 nm of null shift</a:t>
                      </a:r>
                    </a:p>
                  </a:txBody>
                  <a:tcPr marL="54864" marR="54864" marT="18288" marB="18288">
                    <a:solidFill>
                      <a:srgbClr val="FFFFFF"/>
                    </a:solidFill>
                  </a:tcPr>
                </a:tc>
              </a:tr>
              <a:tr h="468630">
                <a:tc>
                  <a:txBody>
                    <a:bodyPr wrap="square"/>
                    <a:lstStyle/>
                    <a:p>
                      <a:r>
                        <a:rPr sz="1100" b="0">
                          <a:solidFill>
                            <a:srgbClr val="282828"/>
                          </a:solidFill>
                          <a:latin typeface="Arial"/>
                        </a:rPr>
                        <a:t>Zernike stepped, 10 nm on one actuator</a:t>
                      </a:r>
                    </a:p>
                  </a:txBody>
                  <a:tcPr marL="54864" marR="54864" marT="18288" marB="18288">
                    <a:solidFill>
                      <a:srgbClr val="ECF1F6"/>
                    </a:solidFill>
                  </a:tcPr>
                </a:tc>
                <a:tc>
                  <a:txBody>
                    <a:bodyPr wrap="square"/>
                    <a:lstStyle/>
                    <a:p>
                      <a:r>
                        <a:rPr sz="1100" b="0">
                          <a:solidFill>
                            <a:srgbClr val="282828"/>
                          </a:solidFill>
                          <a:latin typeface="Arial"/>
                        </a:rPr>
                        <a:t>0.989 / 5 pm</a:t>
                      </a:r>
                    </a:p>
                  </a:txBody>
                  <a:tcPr marL="54864" marR="54864" marT="18288" marB="18288">
                    <a:solidFill>
                      <a:srgbClr val="ECF1F6"/>
                    </a:solidFill>
                  </a:tcPr>
                </a:tc>
                <a:tc>
                  <a:txBody>
                    <a:bodyPr wrap="square"/>
                    <a:lstStyle/>
                    <a:p>
                      <a:r>
                        <a:rPr sz="1100" b="0">
                          <a:solidFill>
                            <a:srgbClr val="282828"/>
                          </a:solidFill>
                          <a:latin typeface="Arial"/>
                        </a:rPr>
                        <a:t>1.000 / 4 pm; 47 sites 0.967</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c>
                  <a:txBody>
                    <a:bodyPr wrap="square"/>
                    <a:lstStyle/>
                    <a:p>
                      <a:r>
                        <a:rPr sz="1100" b="0">
                          <a:solidFill>
                            <a:srgbClr val="282828"/>
                          </a:solidFill>
                          <a:latin typeface="Arial"/>
                        </a:rPr>
                        <a:t>19.6 pm: fails its gate</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c>
                  <a:txBody>
                    <a:bodyPr wrap="square"/>
                    <a:lstStyle/>
                    <a:p>
                      <a:r>
                        <a:rPr sz="1100" b="0">
                          <a:solidFill>
                            <a:srgbClr val="282828"/>
                          </a:solidFill>
                          <a:latin typeface="Arial"/>
                        </a:rPr>
                        <a:t>94 pm: fails its gate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mirror rig's fold is in the same plane as the splitter's, and its residual astigmatism and coma leak between the mirror's modes.  Open-loop rows tolerate it; a servo does not.</a:t>
            </a:r>
          </a:p>
          <a:p>
            <a:pPr>
              <a:spcAft>
                <a:spcPts val="600"/>
              </a:spcAft>
            </a:pPr>
            <a:r>
              <a:rPr sz="1200" b="0">
                <a:solidFill>
                  <a:srgbClr val="282828"/>
                </a:solidFill>
                <a:latin typeface="Arial"/>
              </a:rPr>
              <a:t>•  At the mask seat the fold coma blurs the focus to 1.1 λF/D once the seat is refocused (a 6.1 mm trim, the collimator's residual defocus refocused by the focuser).  The more focus-critical the mask feature, the worse: the 2 λF/D dimple survives, the polarized dimple degrades, the pinhole breaks.</a:t>
            </a:r>
          </a:p>
          <a:p>
            <a:pPr>
              <a:spcAft>
                <a:spcPts val="600"/>
              </a:spcAft>
            </a:pPr>
            <a:r>
              <a:rPr sz="1200" b="0">
                <a:solidFill>
                  <a:srgbClr val="282828"/>
                </a:solidFill>
                <a:latin typeface="Arial"/>
              </a:rPr>
              <a:t>•  Coatings do not rescue it: bare and protected aluminum give the same rows; the retardance variation they add is 0.5 mrad, a floor.</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Run tags oap_deck, loop_oap, descent_oap, zoap; the seat-trim solve is in tg_psi_dm96_oap/REPORT_gauge_ifo.md section 4.  Astigmatism scales with the fold angle squared: halving it lengthens the leg 1.33×.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66335"/>
        </p:xfrm>
        <a:graphic>
          <a:graphicData uri="http://schemas.openxmlformats.org/drawingml/2006/table">
            <a:tbl>
              <a:tblPr firstRow="1" bandRow="1">
                <a:tableStyleId>{5C22544A-7EE6-4342-B048-85BDC9FD1C3A}</a:tableStyleId>
              </a:tblPr>
              <a:tblGrid>
                <a:gridCol w="1889760"/>
                <a:gridCol w="2537301"/>
                <a:gridCol w="4404372"/>
                <a:gridCol w="2537301"/>
              </a:tblGrid>
              <a:tr h="468630">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gain +11.7% (plate); 2.1% (cube, naive stack)</a:t>
                      </a:r>
                    </a:p>
                  </a:txBody>
                  <a:tcPr marL="54864" marR="54864" marT="18288" marB="18288">
                    <a:solidFill>
                      <a:srgbClr val="FFFFFF"/>
                    </a:solidFill>
                  </a:tcPr>
                </a:tc>
                <a:tc>
                  <a:txBody>
                    <a:bodyPr wrap="square"/>
                    <a:lstStyle/>
                    <a:p>
                      <a:r>
                        <a:rPr sz="1100" b="0">
                          <a:solidFill>
                            <a:srgbClr val="282828"/>
                          </a:solidFill>
                          <a:latin typeface="Arial"/>
                        </a:rPr>
                        <a:t>analyzer sweep nulls to 1.00000;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280035">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411087"/>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Hold: the polarized dimple is the best reading on every line — 3 pm from 1.5e12 photons per cycle, two frames taken at once, no stepping, no fold, no fixed error, and every systematic we modeled calibrated by the matrix measured through it.  The stepped scalar dimple is the fallback with no polarization optics, at 1.7× the light.</a:t>
            </a:r>
          </a:p>
          <a:p>
            <a:pPr>
              <a:spcAft>
                <a:spcPts val="600"/>
              </a:spcAft>
            </a:pPr>
            <a:r>
              <a:rPr sz="1200" b="0">
                <a:solidFill>
                  <a:srgbClr val="282828"/>
                </a:solidFill>
                <a:latin typeface="Arial"/>
              </a:rPr>
              <a:t>•  Capture: the interferometer takes 100-600 nm of wavefront to 2 pm in tens of cycles with unwrapping alone.  In the common path, the stepped pinhole with a shutter frame captures 200 nm of wavefront with unwrapping and three recalibrations.  A second color is the sensors' own route (future work).</a:t>
            </a:r>
          </a:p>
          <a:p>
            <a:pPr>
              <a:spcAft>
                <a:spcPts val="600"/>
              </a:spcAft>
            </a:pPr>
            <a:r>
              <a:rPr sz="1200" b="0">
                <a:solidFill>
                  <a:srgbClr val="282828"/>
                </a:solidFill>
                <a:latin typeface="Arial"/>
              </a:rPr>
              <a:t>•  Front end: lenses.  The mirror rig's fold coma walls the servo and breaks the pinhole.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bench: one layout with the reference arm shuttered, the mask seat translated, the quarter-wave plate in or out, and the P/SRI arm behind a flip-in plate (the one-bench slide).  Capture with the interferometer, hand off inside the sensor's 60 nm reach, hold with the sensor at a third of the light.</a:t>
            </a:r>
          </a:p>
          <a:p>
            <a:pPr>
              <a:spcAft>
                <a:spcPts val="600"/>
              </a:spcAft>
            </a:pPr>
            <a:r>
              <a:rPr sz="1200" b="0">
                <a:solidFill>
                  <a:srgbClr val="282828"/>
                </a:solidFill>
                <a:latin typeface="Arial"/>
              </a:rPr>
              <a:t>•  What the numbers do not decide: the pinhole and the vector dimple tie on the working surface (0.9935 / 4 pm both); the dimple wins the servo by 1.5×, the pinhole wins capture range for one extra frame.  A bench that carries both costs one substrate.</a:t>
            </a:r>
          </a:p>
        </p:txBody>
      </p:sp>
      <p:sp>
        <p:nvSpPr>
          <p:cNvPr id="6" name="TextBox 5"/>
          <p:cNvSpPr txBox="1"/>
          <p:nvPr/>
        </p:nvSpPr>
        <p:spPr>
          <a:xfrm>
            <a:off x="6400800" y="3398519"/>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vector pair alone cannot: its two images fix the field only up to a mirror image about the reference wave, and at gauge-level phases (a 100 nm poke is 1.9 rad) the true field crosses that line.  Solving both from the pair diverges.</a:t>
            </a:r>
          </a:p>
          <a:p>
            <a:pPr>
              <a:spcAft>
                <a:spcPts val="600"/>
              </a:spcAft>
            </a:pPr>
            <a:r>
              <a:rPr sz="1200" b="0">
                <a:solidFill>
                  <a:srgbClr val="282828"/>
                </a:solidFill>
                <a:latin typeface="Arial"/>
              </a:rPr>
              <a:t>•  The pair plus the state's clear frame reads both exactly: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00800" y="32004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gate G9.  On orbit with starlight, the field's amplitude is what the second mirror's control needs.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Where unwrapping stops: at 4 pixels per actuator a 100-200 nm rms actuator pattern is 0.7-1.4 rad per pixel and unwraps; quilting, print-through or a stuck actuator at more than a wave does not.</a:t>
            </a:r>
          </a:p>
          <a:p>
            <a:pPr>
              <a:spcAft>
                <a:spcPts val="600"/>
              </a:spcAft>
            </a:pPr>
            <a:r>
              <a:rPr sz="1200" b="0">
                <a:solidFill>
                  <a:srgbClr val="282828"/>
                </a:solidFill>
                <a:latin typeface="Arial"/>
              </a:rPr>
              <a:t>•  A second color makes a synthetic wavelength: 632.8 + 700 nm gives 6.6 µm, an unambiguous surface range of 1.6 µm (double pass); 632.8 + 780 nm gives 3.35 µm and 0.84 µm.  The coarse pair captures, the single color holds; the coarse solve is 5-10× noisier.</a:t>
            </a:r>
          </a:p>
          <a:p>
            <a:pPr>
              <a:spcAft>
                <a:spcPts val="600"/>
              </a:spcAft>
            </a:pPr>
            <a:r>
              <a:rPr sz="1200" b="0">
                <a:solidFill>
                  <a:srgbClr val="282828"/>
                </a:solidFill>
                <a:latin typeface="Arial"/>
              </a:rPr>
              <a:t>•  The machinery exists: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Seven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Shack-Hartmann or modulated pyramid as the capture stage: many waves of range, no wrap, far from picometers; hands off to the gauge inside its range.</a:t>
            </a:r>
          </a:p>
          <a:p>
            <a:pPr>
              <a:spcAft>
                <a:spcPts val="600"/>
              </a:spcAft>
            </a:pPr>
            <a:r>
              <a:rPr sz="1500" b="0">
                <a:solidFill>
                  <a:srgbClr val="282828"/>
                </a:solidFill>
                <a:latin typeface="Arial"/>
              </a:rPr>
              <a:t>•  Phase diversity (two defocused pupil images): wide range, common path, iterative; a capture candidate with the existing camera and one translation stage.</a:t>
            </a:r>
          </a:p>
          <a:p>
            <a:pPr>
              <a:spcAft>
                <a:spcPts val="600"/>
              </a:spcAft>
            </a:pPr>
            <a:r>
              <a:rPr sz="1500" b="0">
                <a:solidFill>
                  <a:srgbClr val="282828"/>
                </a:solidFill>
                <a:latin typeface="Arial"/>
              </a:rPr>
              <a:t>•  White-light scanning in the interferometer: an absolute surface with no wrap, slow; a one-time capture tool.</a:t>
            </a:r>
          </a:p>
          <a:p>
            <a:pPr>
              <a:spcAft>
                <a:spcPts val="600"/>
              </a:spcAft>
            </a:pPr>
            <a:r>
              <a:rPr sz="1500" b="0">
                <a:solidFill>
                  <a:srgbClr val="282828"/>
                </a:solidFill>
                <a:latin typeface="Arial"/>
              </a:rPr>
              <a:t>•  A model-based large-figure solve: the mirror's influence functions as the basis of a nonlinear fit to the sensor's frames; the estimator already carries the basis.</a:t>
            </a:r>
          </a:p>
          <a:p>
            <a:pPr>
              <a:spcAft>
                <a:spcPts val="600"/>
              </a:spcAft>
            </a:pPr>
            <a:r>
              <a:rPr sz="1500" b="0">
                <a:solidFill>
                  <a:srgbClr val="282828"/>
                </a:solidFill>
                <a:latin typeface="Arial"/>
              </a:rPr>
              <a:t>•  Vector Zernike with a polarization camera: one camera instead of the cube and two, at a quarter of the pixels per image.</a:t>
            </a:r>
          </a:p>
          <a:p>
            <a:pPr>
              <a:spcAft>
                <a:spcPts val="600"/>
              </a:spcAft>
            </a:pPr>
            <a:r>
              <a:rPr sz="1500" b="0">
                <a:solidFill>
                  <a:srgbClr val="282828"/>
                </a:solidFill>
                <a:latin typeface="Arial"/>
              </a:rPr>
              <a:t>•  Heterodyne or lock-in detection: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Direct actuator metrology (capacitive, optical): a coarse reference the optical gauge is calibrated against.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camera sets the measurement time, not the laser: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Optical surface errors: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Alignment and stability: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More drift in the loop: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The error budget in the JPL form: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436880"/>
                <a:gridCol w="2856711"/>
                <a:gridCol w="2512848"/>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tail tune;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65722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Interferometer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Zernike sensors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Point-diffraction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other gauges on the mirror rig: zwfs_run('bench.optics','oap','bench.coat_oap','bareAl','readings',{'L','S','V','P','PF'},'stages',{'bench','battery','noise','loop'},'mask.v_arm','engine').</a:t>
            </a:r>
          </a:p>
          <a:p>
            <a:pPr>
              <a:spcAft>
                <a:spcPts val="600"/>
              </a:spcAft>
            </a:pPr>
            <a:r>
              <a:rPr sz="1200" b="0">
                <a:solidFill>
                  <a:srgbClr val="282828"/>
                </a:solidFill>
                <a:latin typeface="Arial"/>
              </a:rPr>
              <a:t>•  Where: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Gates: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440305"/>
        </p:xfrm>
        <a:graphic>
          <a:graphicData uri="http://schemas.openxmlformats.org/drawingml/2006/table">
            <a:tbl>
              <a:tblPr firstRow="1" bandRow="1">
                <a:tableStyleId>{5C22544A-7EE6-4342-B048-85BDC9FD1C3A}</a:tableStyleId>
              </a:tblPr>
              <a:tblGrid>
                <a:gridCol w="1671828"/>
                <a:gridCol w="1457338"/>
                <a:gridCol w="1765621"/>
                <a:gridCol w="6473946"/>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657225">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the splitter's diattenuation rotates the test arm 7.5°, gain +11.7%, nulled to 1.00000 by an analyzer sweep and a 3.8° plate clock; cube rig: R_p 2.1% for a naive stack, 0 for the symmetric one, 2.27× the delivered power</a:t>
                      </a:r>
                    </a:p>
                  </a:txBody>
                  <a:tcPr marL="54864" marR="54864" marT="18288" marB="18288">
                    <a:solidFill>
                      <a:srgbClr val="ECF1F6"/>
                    </a:solidFill>
                  </a:tcPr>
                </a:tc>
              </a:tr>
              <a:tr h="657225">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388505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 on the mirror rig</a:t>
            </a:r>
          </a:p>
          <a:p>
            <a:pPr>
              <a:spcAft>
                <a:spcPts val="0"/>
              </a:spcAft>
            </a:pPr>
            <a:r>
              <a:rPr sz="1250" b="0">
                <a:solidFill>
                  <a:srgbClr val="6E6E6E"/>
                </a:solidFill>
                <a:latin typeface="Arial"/>
              </a:rPr>
              <a:t>Open loop it reads; in a servo it does not hold, and from a large start it does not capture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520315"/>
        </p:xfrm>
        <a:graphic>
          <a:graphicData uri="http://schemas.openxmlformats.org/drawingml/2006/table">
            <a:tbl>
              <a:tblPr firstRow="1" bandRow="1">
                <a:tableStyleId>{5C22544A-7EE6-4342-B048-85BDC9FD1C3A}</a:tableStyleId>
              </a:tblPr>
              <a:tblGrid>
                <a:gridCol w="1812430"/>
                <a:gridCol w="1235964"/>
                <a:gridCol w="2758045"/>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a:t>
                      </a:r>
                    </a:p>
                  </a:txBody>
                  <a:tcPr marL="54864" marR="54864" marT="18288" marB="18288">
                    <a:solidFill>
                      <a:srgbClr val="1F4E79"/>
                    </a:solidFill>
                  </a:tcPr>
                </a:tc>
                <a:tc>
                  <a:txBody>
                    <a:bodyPr wrap="square"/>
                    <a:lstStyle/>
                    <a:p>
                      <a:r>
                        <a:rPr sz="1100" b="1">
                          <a:solidFill>
                            <a:srgbClr val="FFFFFF"/>
                          </a:solidFill>
                          <a:latin typeface="Arial"/>
                        </a:rPr>
                        <a:t>mirror rig, bare Al</a:t>
                      </a:r>
                    </a:p>
                  </a:txBody>
                  <a:tcPr marL="54864" marR="54864" marT="18288" marB="18288">
                    <a:solidFill>
                      <a:srgbClr val="1F4E79"/>
                    </a:solidFill>
                  </a:tcPr>
                </a:tc>
              </a:tr>
              <a:tr h="280035">
                <a:tc>
                  <a:txBody>
                    <a:bodyPr wrap="square"/>
                    <a:lstStyle/>
                    <a:p>
                      <a:r>
                        <a:rPr sz="1100" b="0">
                          <a:solidFill>
                            <a:srgbClr val="282828"/>
                          </a:solidFill>
                          <a:latin typeface="Arial"/>
                        </a:rPr>
                        <a:t>single 10 nm, flat</a:t>
                      </a:r>
                    </a:p>
                  </a:txBody>
                  <a:tcPr marL="54864" marR="54864" marT="18288" marB="18288">
                    <a:solidFill>
                      <a:srgbClr val="FFFFFF"/>
                    </a:solidFill>
                  </a:tcPr>
                </a:tc>
                <a:tc>
                  <a:txBody>
                    <a:bodyPr wrap="square"/>
                    <a:lstStyle/>
                    <a:p>
                      <a:r>
                        <a:rPr sz="1100" b="0">
                          <a:solidFill>
                            <a:srgbClr val="282828"/>
                          </a:solidFill>
                          <a:latin typeface="Arial"/>
                        </a:rPr>
                        <a:t>0.9916 / 2.2 pm</a:t>
                      </a:r>
                    </a:p>
                  </a:txBody>
                  <a:tcPr marL="54864" marR="54864" marT="18288" marB="18288">
                    <a:solidFill>
                      <a:srgbClr val="FFFFFF"/>
                    </a:solidFill>
                  </a:tcPr>
                </a:tc>
                <a:tc>
                  <a:txBody>
                    <a:bodyPr wrap="square"/>
                    <a:lstStyle/>
                    <a:p>
                      <a:r>
                        <a:rPr sz="1100" b="0">
                          <a:solidFill>
                            <a:srgbClr val="282828"/>
                          </a:solidFill>
                          <a:latin typeface="Arial"/>
                        </a:rPr>
                        <a:t>0.9950 / 2.1 pm</a:t>
                      </a:r>
                    </a:p>
                  </a:txBody>
                  <a:tcPr marL="54864" marR="54864" marT="18288" marB="18288">
                    <a:solidFill>
                      <a:srgbClr val="FFFFFF"/>
                    </a:solidFill>
                  </a:tcPr>
                </a:tc>
              </a:tr>
              <a:tr h="280035">
                <a:tc>
                  <a:txBody>
                    <a:bodyPr wrap="square"/>
                    <a:lstStyle/>
                    <a:p>
                      <a:r>
                        <a:rPr sz="1100" b="0">
                          <a:solidFill>
                            <a:srgbClr val="282828"/>
                          </a:solidFill>
                          <a:latin typeface="Arial"/>
                        </a:rPr>
                        <a:t>flat-mirror null</a:t>
                      </a:r>
                    </a:p>
                  </a:txBody>
                  <a:tcPr marL="54864" marR="54864" marT="18288" marB="18288">
                    <a:solidFill>
                      <a:srgbClr val="ECF1F6"/>
                    </a:solidFill>
                  </a:tcPr>
                </a:tc>
                <a:tc>
                  <a:txBody>
                    <a:bodyPr wrap="square"/>
                    <a:lstStyle/>
                    <a:p>
                      <a:r>
                        <a:rPr sz="1100" b="0">
                          <a:solidFill>
                            <a:srgbClr val="282828"/>
                          </a:solidFill>
                          <a:latin typeface="Arial"/>
                        </a:rPr>
                        <a:t>0.13 nm</a:t>
                      </a:r>
                    </a:p>
                  </a:txBody>
                  <a:tcPr marL="54864" marR="54864" marT="18288" marB="18288">
                    <a:solidFill>
                      <a:srgbClr val="ECF1F6"/>
                    </a:solidFill>
                  </a:tcPr>
                </a:tc>
                <a:tc>
                  <a:txBody>
                    <a:bodyPr wrap="square"/>
                    <a:lstStyle/>
                    <a:p>
                      <a:r>
                        <a:rPr sz="1100" b="0">
                          <a:solidFill>
                            <a:srgbClr val="282828"/>
                          </a:solidFill>
                          <a:latin typeface="Arial"/>
                        </a:rPr>
                        <a:t>13.1 nm (cancels differentially)</a:t>
                      </a:r>
                    </a:p>
                  </a:txBody>
                  <a:tcPr marL="54864" marR="54864" marT="18288" marB="18288">
                    <a:solidFill>
                      <a:srgbClr val="ECF1F6"/>
                    </a:solidFill>
                  </a:tcPr>
                </a:tc>
              </a:tr>
              <a:tr h="280035">
                <a:tc>
                  <a:txBody>
                    <a:bodyPr wrap="square"/>
                    <a:lstStyle/>
                    <a:p>
                      <a:r>
                        <a:rPr sz="1100" b="0">
                          <a:solidFill>
                            <a:srgbClr val="282828"/>
                          </a:solidFill>
                          <a:latin typeface="Arial"/>
                        </a:rPr>
                        <a:t>modal transfer gain</a:t>
                      </a:r>
                    </a:p>
                  </a:txBody>
                  <a:tcPr marL="54864" marR="54864" marT="18288" marB="18288">
                    <a:solidFill>
                      <a:srgbClr val="FFFFFF"/>
                    </a:solidFill>
                  </a:tcPr>
                </a:tc>
                <a:tc>
                  <a:txBody>
                    <a:bodyPr wrap="square"/>
                    <a:lstStyle/>
                    <a:p>
                      <a:r>
                        <a:rPr sz="1100" b="0">
                          <a:solidFill>
                            <a:srgbClr val="282828"/>
                          </a:solidFill>
                          <a:latin typeface="Arial"/>
                        </a:rPr>
                        <a:t>0.96-0.99</a:t>
                      </a:r>
                    </a:p>
                  </a:txBody>
                  <a:tcPr marL="54864" marR="54864" marT="18288" marB="18288">
                    <a:solidFill>
                      <a:srgbClr val="FFFFFF"/>
                    </a:solidFill>
                  </a:tcPr>
                </a:tc>
                <a:tc>
                  <a:txBody>
                    <a:bodyPr wrap="square"/>
                    <a:lstStyle/>
                    <a:p>
                      <a:r>
                        <a:rPr sz="1100" b="0">
                          <a:solidFill>
                            <a:srgbClr val="282828"/>
                          </a:solidFill>
                          <a:latin typeface="Arial"/>
                        </a:rPr>
                        <a:t>0.63-0.95</a:t>
                      </a:r>
                    </a:p>
                  </a:txBody>
                  <a:tcPr marL="54864" marR="54864" marT="18288" marB="18288">
                    <a:solidFill>
                      <a:srgbClr val="FFFFFF"/>
                    </a:solidFill>
                  </a:tcPr>
                </a:tc>
              </a:tr>
              <a:tr h="280035">
                <a:tc>
                  <a:txBody>
                    <a:bodyPr wrap="square"/>
                    <a:lstStyle/>
                    <a:p>
                      <a:r>
                        <a:rPr sz="1100" b="0">
                          <a:solidFill>
                            <a:srgbClr val="282828"/>
                          </a:solidFill>
                          <a:latin typeface="Arial"/>
                        </a:rPr>
                        <a:t>cross-talk</a:t>
                      </a:r>
                    </a:p>
                  </a:txBody>
                  <a:tcPr marL="54864" marR="54864" marT="18288" marB="18288">
                    <a:solidFill>
                      <a:srgbClr val="ECF1F6"/>
                    </a:solidFill>
                  </a:tcPr>
                </a:tc>
                <a:tc>
                  <a:txBody>
                    <a:bodyPr wrap="square"/>
                    <a:lstStyle/>
                    <a:p>
                      <a:r>
                        <a:rPr sz="1100" b="0">
                          <a:solidFill>
                            <a:srgbClr val="282828"/>
                          </a:solidFill>
                          <a:latin typeface="Arial"/>
                        </a:rPr>
                        <a:t>below 0.06</a:t>
                      </a:r>
                    </a:p>
                  </a:txBody>
                  <a:tcPr marL="54864" marR="54864" marT="18288" marB="18288">
                    <a:solidFill>
                      <a:srgbClr val="ECF1F6"/>
                    </a:solidFill>
                  </a:tcPr>
                </a:tc>
                <a:tc>
                  <a:txBody>
                    <a:bodyPr wrap="square"/>
                    <a:lstStyle/>
                    <a:p>
                      <a:r>
                        <a:rPr sz="1100" b="0">
                          <a:solidFill>
                            <a:srgbClr val="282828"/>
                          </a:solidFill>
                          <a:latin typeface="Arial"/>
                        </a:rPr>
                        <a:t>0.18 (0.42 with an ideal reflector)</a:t>
                      </a:r>
                    </a:p>
                  </a:txBody>
                  <a:tcPr marL="54864" marR="54864" marT="18288" marB="18288">
                    <a:solidFill>
                      <a:srgbClr val="ECF1F6"/>
                    </a:solidFill>
                  </a:tcPr>
                </a:tc>
              </a:tr>
              <a:tr h="280035">
                <a:tc>
                  <a:txBody>
                    <a:bodyPr wrap="square"/>
                    <a:lstStyle/>
                    <a:p>
                      <a:r>
                        <a:rPr sz="1100" b="0">
                          <a:solidFill>
                            <a:srgbClr val="282828"/>
                          </a:solidFill>
                          <a:latin typeface="Arial"/>
                        </a:rPr>
                        <a:t>photons for 1 pm</a:t>
                      </a:r>
                    </a:p>
                  </a:txBody>
                  <a:tcPr marL="54864" marR="54864" marT="18288" marB="18288">
                    <a:solidFill>
                      <a:srgbClr val="FFFFFF"/>
                    </a:solidFill>
                  </a:tcPr>
                </a:tc>
                <a:tc>
                  <a:txBody>
                    <a:bodyPr wrap="square"/>
                    <a:lstStyle/>
                    <a:p>
                      <a:r>
                        <a:rPr sz="1100" b="0">
                          <a:solidFill>
                            <a:srgbClr val="282828"/>
                          </a:solidFill>
                          <a:latin typeface="Arial"/>
                        </a:rPr>
                        <a:t>2.5e14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280035">
                <a:tc>
                  <a:txBody>
                    <a:bodyPr wrap="square"/>
                    <a:lstStyle/>
                    <a:p>
                      <a:r>
                        <a:rPr sz="1100" b="0">
                          <a:solidFill>
                            <a:srgbClr val="282828"/>
                          </a:solidFill>
                          <a:latin typeface="Arial"/>
                        </a:rPr>
                        <a:t>servo, noise only</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3.4e13</a:t>
                      </a:r>
                    </a:p>
                  </a:txBody>
                  <a:tcPr marL="54864" marR="54864" marT="18288" marB="18288">
                    <a:solidFill>
                      <a:srgbClr val="ECF1F6"/>
                    </a:solidFill>
                  </a:tcPr>
                </a:tc>
              </a:tr>
              <a:tr h="280035">
                <a:tc>
                  <a:txBody>
                    <a:bodyPr wrap="square"/>
                    <a:lstStyle/>
                    <a:p>
                      <a:r>
                        <a:rPr sz="1100" b="0">
                          <a:solidFill>
                            <a:srgbClr val="282828"/>
                          </a:solidFill>
                          <a:latin typeface="Arial"/>
                        </a:rPr>
                        <a:t>collimator tilt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 nm null shift, 9.5 nm per µrad</a:t>
                      </a:r>
                    </a:p>
                  </a:txBody>
                  <a:tcPr marL="54864" marR="54864" marT="18288" marB="18288">
                    <a:solidFill>
                      <a:srgbClr val="FFFFFF"/>
                    </a:solidFill>
                  </a:tcPr>
                </a:tc>
              </a:tr>
              <a:tr h="280035">
                <a:tc>
                  <a:txBody>
                    <a:bodyPr wrap="square"/>
                    <a:lstStyle/>
                    <a:p>
                      <a:r>
                        <a:rPr sz="1100" b="0">
                          <a:solidFill>
                            <a:srgbClr val="282828"/>
                          </a:solidFill>
                          <a:latin typeface="Arial"/>
                        </a:rPr>
                        <a:t>focuser tilt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103 nm, 10.3 nm per µrad</a:t>
                      </a:r>
                    </a:p>
                  </a:txBody>
                  <a:tcPr marL="54864" marR="54864" marT="18288" marB="18288">
                    <a:solidFill>
                      <a:srgbClr val="ECF1F6"/>
                    </a:solidFill>
                  </a:tcPr>
                </a:tc>
              </a:tr>
            </a:tbl>
          </a:graphicData>
        </a:graphic>
      </p:graphicFrame>
      <p:pic>
        <p:nvPicPr>
          <p:cNvPr id="5" name="Picture 4" descr="loop_oap_loop.png"/>
          <p:cNvPicPr>
            <a:picLocks noChangeAspect="1"/>
          </p:cNvPicPr>
          <p:nvPr/>
        </p:nvPicPr>
        <p:blipFill>
          <a:blip r:embed="rId2"/>
          <a:stretch>
            <a:fillRect/>
          </a:stretch>
        </p:blipFill>
        <p:spPr>
          <a:xfrm>
            <a:off x="7135590" y="1298448"/>
            <a:ext cx="3925379" cy="1635251"/>
          </a:xfrm>
          <a:prstGeom prst="rect">
            <a:avLst/>
          </a:prstGeom>
        </p:spPr>
      </p:pic>
      <p:sp>
        <p:nvSpPr>
          <p:cNvPr id="6" name="TextBox 5"/>
          <p:cNvSpPr txBox="1"/>
          <p:nvPr/>
        </p:nvSpPr>
        <p:spPr>
          <a:xfrm>
            <a:off x="6400800" y="2951987"/>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servo: residual per cycle at four light levels with the noiseless step, and the hold error against photons for no drift, the walk, and the ramp.  The walk never reaches 3 pm: its cross-talk bias of 3.3 pm adds to the 2.4 pm walk floor.</a:t>
            </a:r>
          </a:p>
        </p:txBody>
      </p:sp>
      <p:sp>
        <p:nvSpPr>
          <p:cNvPr id="7" name="TextBox 6"/>
          <p:cNvSpPr txBox="1"/>
          <p:nvPr/>
        </p:nvSpPr>
        <p:spPr>
          <a:xfrm>
            <a:off x="6400800" y="3547872"/>
            <a:ext cx="5394960" cy="274320"/>
          </a:xfrm>
          <a:prstGeom prst="rect">
            <a:avLst/>
          </a:prstGeom>
          <a:noFill/>
        </p:spPr>
        <p:txBody>
          <a:bodyPr wrap="square">
            <a:spAutoFit/>
          </a:bodyPr>
          <a:lstStyle/>
          <a:p>
            <a:pPr>
              <a:spcAft>
                <a:spcPts val="600"/>
              </a:spcAft>
            </a:pPr>
            <a:r>
              <a:rPr sz="1050" b="0">
                <a:solidFill>
                  <a:srgbClr val="6E6E6E"/>
                </a:solidFill>
                <a:latin typeface="Arial"/>
              </a:rPr>
              <a:t>The mirror rig's own layout (oap_vlayout.png in tg_psi_dm96_oap) folds in the splitter's plane; the engine's seat-trim solve put the mask seat 6.14 mm from the lens default.  Run tags oap_deck, loop_oap, descent_oap; REPORT_oap.md items D3-D7 and B.</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Linear, one frame: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Exact, one frame with a sign prior: a 1 nm step grows to 99 nm in 60 cycles, 10 nm to 178 nm; the actuators whose footprint lies past the fold read with the wrong sign.</a:t>
            </a:r>
          </a:p>
          <a:p>
            <a:pPr>
              <a:spcAft>
                <a:spcPts val="600"/>
              </a:spcAft>
            </a:pPr>
            <a:r>
              <a:rPr sz="1200" b="0">
                <a:solidFill>
                  <a:srgbClr val="282828"/>
                </a:solidFill>
                <a:latin typeface="Arial"/>
              </a:rPr>
              <a:t>•  The fold: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range the small pinhole buys, the shutter frame gives free at the large one's throughput: 1.02 / 1.06 / 1.13 at 120 / 240 / 480 nm.</a:t>
            </a:r>
          </a:p>
          <a:p>
            <a:pPr>
              <a:spcAft>
                <a:spcPts val="600"/>
              </a:spcAft>
            </a:pPr>
            <a:r>
              <a:rPr sz="1200" b="0">
                <a:solidFill>
                  <a:srgbClr val="282828"/>
                </a:solidFill>
                <a:latin typeface="Arial"/>
              </a:rPr>
              <a:t>•  The P/SRI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Five frames beat four: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mirror's drift helps: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The P/SRI's reference arm walking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The paper's camera number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arm: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The analyzer: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 three-number fit on the flat's two images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correction: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Sampling: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Color: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1235964"/>
                <a:gridCol w="862353"/>
                <a:gridCol w="3708122"/>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 (the record)</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What moves: the output plate and analyzer from 17 and 27 mm behind the splitter to 160 and 170 mm, just ahead of the focuser at 207 mm; nothing else, so the tuned tail is untouched.</a:t>
            </a:r>
          </a:p>
          <a:p>
            <a:pPr>
              <a:spcAft>
                <a:spcPts val="600"/>
              </a:spcAft>
            </a:pPr>
            <a:r>
              <a:rPr sz="1200" b="0">
                <a:solidFill>
                  <a:srgbClr val="282828"/>
                </a:solidFill>
                <a:latin typeface="Arial"/>
              </a:rPr>
              <a:t>•  What it costs the sensors: nothing.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364768" y="1298448"/>
            <a:ext cx="3467022"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355974" y="3547872"/>
            <a:ext cx="3484610"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2946123"/>
                <a:gridCol w="3371045"/>
                <a:gridCol w="35976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tail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tail</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Interferometer (tg_psi_dm96_oap/runs): lens_deck, lens_deck_se2, lens_deck_se5, loop_lens, loop_lens_cam, loop_lens_intra, loop_lens_se2, descent_lens, oap_deck, loop_oap, descent_oap, oap_bareAl, oap_coat, oap_jones, zoap.  Report REPORT_gauge_ifo.md (CCMac), with REPORT_oap.md and README.md.</a:t>
            </a:r>
          </a:p>
          <a:p>
            <a:pPr>
              <a:spcAft>
                <a:spcPts val="600"/>
              </a:spcAft>
            </a:pPr>
            <a:r>
              <a:rPr sz="1500" b="0">
                <a:solidFill>
                  <a:srgbClr val="282828"/>
                </a:solidFill>
                <a:latin typeface="Arial"/>
              </a:rPr>
              <a:t>•  Zernike sensors (zwfs_dm96/runs): matbase, matbase385, m2048, m2048_lat, cap385, cap385_b60-b160, noise193_b30-b160, rec193full, loop193, loop385, v193base, v193noise, vloop193, fold_diag, v2g, v2loop, v3arm, v3s, v3loop, an193_ref/cube/q300/q100/az1/bound/clear.  README.md (CCL) and deck_zwfs.md.</a:t>
            </a:r>
          </a:p>
          <a:p>
            <a:pPr>
              <a:spcAft>
                <a:spcPts val="600"/>
              </a:spcAft>
            </a:pPr>
            <a:r>
              <a:rPr sz="1500" b="0">
                <a:solidFill>
                  <a:srgbClr val="282828"/>
                </a:solidFill>
                <a:latin typeface="Arial"/>
              </a:rPr>
              <a:t>•  Point-diffraction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Plan and rulings: macos/BRIEF_gauge_deck.md sections 5-11.  Raw material with every figure's pixel size: demo_session/deck_gauges_material.md.</a:t>
            </a:r>
          </a:p>
          <a:p>
            <a:pPr>
              <a:spcAft>
                <a:spcPts val="600"/>
              </a:spcAft>
            </a:pPr>
            <a:r>
              <a:rPr sz="1500" b="0">
                <a:solidFill>
                  <a:srgbClr val="282828"/>
                </a:solidFill>
                <a:latin typeface="Arial"/>
              </a:rPr>
              <a:t>•  Engine: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