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3 One optical bench to demo 4 surface gauges, in mirror and lens forms</a:t>
            </a:r>
          </a:p>
          <a:p>
            <a:pPr>
              <a:spcAft>
                <a:spcPts val="600"/>
              </a:spcAft>
            </a:pPr>
            <a:r>
              <a:rPr sz="1500" b="0">
                <a:solidFill>
                  <a:srgbClr val="282828"/>
                </a:solidFill>
                <a:latin typeface="Arial"/>
              </a:rPr>
              <a:t>•  4 Introduction: the three jobs and how they are scored</a:t>
            </a:r>
          </a:p>
          <a:p>
            <a:pPr>
              <a:spcAft>
                <a:spcPts val="600"/>
              </a:spcAft>
            </a:pPr>
            <a:r>
              <a:rPr sz="1500" b="0">
                <a:solidFill>
                  <a:srgbClr val="282828"/>
                </a:solidFill>
                <a:latin typeface="Arial"/>
              </a:rPr>
              <a:t>•  5 The bench layout</a:t>
            </a:r>
          </a:p>
          <a:p>
            <a:pPr>
              <a:spcAft>
                <a:spcPts val="600"/>
              </a:spcAft>
            </a:pPr>
            <a:r>
              <a:rPr sz="1500" b="0">
                <a:solidFill>
                  <a:srgbClr val="282828"/>
                </a:solidFill>
                <a:latin typeface="Arial"/>
              </a:rPr>
              <a:t>•  7 Parts: the front end and the detector leg</a:t>
            </a:r>
          </a:p>
          <a:p>
            <a:pPr>
              <a:spcAft>
                <a:spcPts val="600"/>
              </a:spcAft>
            </a:pPr>
            <a:r>
              <a:rPr sz="1500" b="0">
                <a:solidFill>
                  <a:srgbClr val="282828"/>
                </a:solidFill>
                <a:latin typeface="Arial"/>
              </a:rPr>
              <a:t>•  9 Parts: the interferometer and the sensors</a:t>
            </a:r>
          </a:p>
          <a:p>
            <a:pPr>
              <a:spcAft>
                <a:spcPts val="600"/>
              </a:spcAft>
            </a:pPr>
            <a:r>
              <a:rPr sz="1500" b="0">
                <a:solidFill>
                  <a:srgbClr val="282828"/>
                </a:solidFill>
                <a:latin typeface="Arial"/>
              </a:rPr>
              <a:t>•  11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a:p>
            <a:pPr>
              <a:spcAft>
                <a:spcPts val="600"/>
              </a:spcAft>
            </a:pPr>
            <a:r>
              <a:rPr sz="1500" b="0">
                <a:solidFill>
                  <a:srgbClr val="282828"/>
                </a:solidFill>
                <a:latin typeface="Arial"/>
              </a:rPr>
              <a:t>•  31 Lenses versus off-axis parabolas</a:t>
            </a:r>
          </a:p>
          <a:p>
            <a:pPr>
              <a:spcAft>
                <a:spcPts val="600"/>
              </a:spcAft>
            </a:pPr>
            <a:r>
              <a:rPr sz="1500" b="0">
                <a:solidFill>
                  <a:srgbClr val="282828"/>
                </a:solidFill>
                <a:latin typeface="Arial"/>
              </a:rPr>
              <a:t>•  32 The reflective front end</a:t>
            </a:r>
          </a:p>
          <a:p>
            <a:pPr>
              <a:spcAft>
                <a:spcPts val="600"/>
              </a:spcAft>
            </a:pPr>
            <a:r>
              <a:rPr sz="1500" b="0">
                <a:solidFill>
                  <a:srgbClr val="282828"/>
                </a:solidFill>
                <a:latin typeface="Arial"/>
              </a:rPr>
              <a:t>•  33 Comparison and recommendation</a:t>
            </a:r>
          </a:p>
          <a:p>
            <a:pPr>
              <a:spcAft>
                <a:spcPts val="600"/>
              </a:spcAft>
            </a:pPr>
            <a:r>
              <a:rPr sz="1500" b="0">
                <a:solidFill>
                  <a:srgbClr val="282828"/>
                </a:solidFill>
                <a:latin typeface="Arial"/>
              </a:rPr>
              <a:t>•  36 Measuring the complex amplitude</a:t>
            </a:r>
          </a:p>
          <a:p>
            <a:pPr>
              <a:spcAft>
                <a:spcPts val="600"/>
              </a:spcAft>
            </a:pPr>
            <a:r>
              <a:rPr sz="1500" b="0">
                <a:solidFill>
                  <a:srgbClr val="282828"/>
                </a:solidFill>
                <a:latin typeface="Arial"/>
              </a:rPr>
              <a:t>•  37 Summary and future work</a:t>
            </a:r>
          </a:p>
          <a:p>
            <a:pPr>
              <a:spcAft>
                <a:spcPts val="600"/>
              </a:spcAft>
            </a:pPr>
            <a:r>
              <a:rPr sz="1500" b="0">
                <a:solidFill>
                  <a:srgbClr val="282828"/>
                </a:solidFill>
                <a:latin typeface="Arial"/>
              </a:rPr>
              <a:t>•  42 Run it yourself</a:t>
            </a:r>
          </a:p>
          <a:p>
            <a:pPr>
              <a:spcAft>
                <a:spcPts val="600"/>
              </a:spcAft>
            </a:pPr>
            <a:r>
              <a:rPr sz="1500" b="0">
                <a:solidFill>
                  <a:srgbClr val="282828"/>
                </a:solidFill>
                <a:latin typeface="Arial"/>
              </a:rPr>
              <a:t>•  43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57200" y="5989320"/>
            <a:ext cx="11365992"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 run in progress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(lens rig; mirror rig in parentheses):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Servo: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(mirror rig, 385 px): 10 nm on one actuator 0.993 / 5 pm / SNR 1987; 1 nm on 120 sites 0.995 / 4 pm; dense 10 nm 0.978, 0.75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(mirror rig, 385 px): 10 nm on one actuator 1.008 / 2 pm / SNR 6364; 1 nm on 120 sites 1.001 / 4 pm; dense 10 nm 1.0035, 0.44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(mirror rig, 385 px): 10 nm on one actuator 0.995 / 3 pm / SNR 3845; 1 nm on 120 sites 0.998 / 3 pm; dense 10 nm 0.994, 313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dense-pattern error is 0.3-0.75 nm for every reading, the interferometer's included;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2879994"/>
                <a:gridCol w="1347094"/>
                <a:gridCol w="157935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 vector Zernike / Zernike stepped, mirror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8.5e13 / 7.3e13 / 5.8e13</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2.0-2.3e13,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40055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10.2 pm</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90274"/>
                <a:gridCol w="1185822"/>
                <a:gridCol w="323034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(run in progress)</a:t>
                      </a:r>
                    </a:p>
                  </a:txBody>
                  <a:tcPr marL="54864" marR="54864" marT="18288" marB="18288">
                    <a:solidFill>
                      <a:srgbClr val="FFFFFF"/>
                    </a:solidFill>
                  </a:tcPr>
                </a:tc>
                <a:tc>
                  <a:txBody>
                    <a:bodyPr wrap="square"/>
                    <a:lstStyle/>
                    <a:p>
                      <a:r>
                        <a:rPr sz="1100" b="0">
                          <a:solidFill>
                            <a:srgbClr val="282828"/>
                          </a:solidFill>
                          <a:latin typeface="Arial"/>
                        </a:rPr>
                        <a:t>unwrap alone</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capt96_oap (the redesigned mirror rig with the control set inside the DM aperture: 2.98 pm at cycle 60 from 100 and 200 nm, the 30 nm control at 2.97 pm).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read and hold at the same photon cost within 15 %; the mirror rig is achromatic, puts no glass in the beam,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0385"/>
        </p:xfrm>
        <a:graphic>
          <a:graphicData uri="http://schemas.openxmlformats.org/drawingml/2006/table">
            <a:tbl>
              <a:tblPr firstRow="1" bandRow="1">
                <a:tableStyleId>{5C22544A-7EE6-4342-B048-85BDC9FD1C3A}</a:tableStyleId>
              </a:tblPr>
              <a:tblGrid>
                <a:gridCol w="5272838"/>
                <a:gridCol w="2252980"/>
                <a:gridCol w="3842916"/>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2.3e13 / 7.1e13</a:t>
                      </a:r>
                    </a:p>
                  </a:txBody>
                  <a:tcPr marL="54864" marR="54864" marT="18288" marB="18288">
                    <a:solidFill>
                      <a:srgbClr val="ECF1F6"/>
                    </a:solidFill>
                  </a:tcPr>
                </a:tc>
                <a:tc>
                  <a:txBody>
                    <a:bodyPr wrap="square"/>
                    <a:lstStyle/>
                    <a:p>
                      <a:r>
                        <a:rPr sz="1100" b="0">
                          <a:solidFill>
                            <a:srgbClr val="282828"/>
                          </a:solidFill>
                          <a:latin typeface="Arial"/>
                        </a:rPr>
                        <a:t>2.0e13 / 6.6e13</a:t>
                      </a:r>
                    </a:p>
                  </a:txBody>
                  <a:tcPr marL="54864" marR="54864" marT="18288" marB="18288">
                    <a:solidFill>
                      <a:srgbClr val="ECF1F6"/>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c>
                  <a:txBody>
                    <a:bodyPr wrap="square"/>
                    <a:lstStyle/>
                    <a:p>
                      <a:r>
                        <a:rPr sz="1100" b="0">
                          <a:solidFill>
                            <a:srgbClr val="282828"/>
                          </a:solidFill>
                          <a:latin typeface="Arial"/>
                        </a:rPr>
                        <a:t>2.8 pm</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 to 3 pm</a:t>
                      </a:r>
                    </a:p>
                  </a:txBody>
                  <a:tcPr marL="54864" marR="54864" marT="18288" marB="18288">
                    <a:solidFill>
                      <a:srgbClr val="ECF1F6"/>
                    </a:solidFill>
                  </a:tcPr>
                </a:tc>
                <a:tc>
                  <a:txBody>
                    <a:bodyPr wrap="square"/>
                    <a:lstStyle/>
                    <a:p>
                      <a:r>
                        <a:rPr sz="1100" b="0">
                          <a:solidFill>
                            <a:srgbClr val="282828"/>
                          </a:solidFill>
                          <a:latin typeface="Arial"/>
                        </a:rPr>
                        <a:t>(run in progress)</a:t>
                      </a:r>
                    </a:p>
                  </a:txBody>
                  <a:tcPr marL="54864" marR="54864" marT="18288" marB="18288">
                    <a:solidFill>
                      <a:srgbClr val="ECF1F6"/>
                    </a:solidFill>
                  </a:tcPr>
                </a:tc>
                <a:tc>
                  <a:txBody>
                    <a:bodyPr wrap="square"/>
                    <a:lstStyle/>
                    <a:p>
                      <a:r>
                        <a:rPr sz="1100" b="0">
                          <a:solidFill>
                            <a:srgbClr val="282828"/>
                          </a:solidFill>
                          <a:latin typeface="Arial"/>
                        </a:rPr>
                        <a:t>from 100 nm in 19 cycles, from 200 nm in 24</a:t>
                      </a:r>
                    </a:p>
                  </a:txBody>
                  <a:tcPr marL="54864" marR="54864" marT="18288" marB="18288">
                    <a:solidFill>
                      <a:srgbClr val="ECF1F6"/>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FFFFFF"/>
                    </a:solidFill>
                  </a:tcPr>
                </a:tc>
                <a:tc>
                  <a:txBody>
                    <a:bodyPr wrap="square"/>
                    <a:lstStyle/>
                    <a:p>
                      <a:r>
                        <a:rPr sz="1100" b="0">
                          <a:solidFill>
                            <a:srgbClr val="282828"/>
                          </a:solidFill>
                          <a:latin typeface="Arial"/>
                        </a:rPr>
                        <a:t>59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ECF1F6"/>
                    </a:solidFill>
                  </a:tcPr>
                </a:tc>
                <a:tc>
                  <a:txBody>
                    <a:bodyPr wrap="square"/>
                    <a:lstStyle/>
                    <a:p>
                      <a:r>
                        <a:rPr sz="1100" b="0">
                          <a:solidFill>
                            <a:srgbClr val="282828"/>
                          </a:solidFill>
                          <a:latin typeface="Arial"/>
                        </a:rPr>
                        <a:t>(not re-scored on this bench)</a:t>
                      </a:r>
                    </a:p>
                  </a:txBody>
                  <a:tcPr marL="54864" marR="54864" marT="18288" marB="18288">
                    <a:solidFill>
                      <a:srgbClr val="ECF1F6"/>
                    </a:solidFill>
                  </a:tcPr>
                </a:tc>
                <a:tc>
                  <a:txBody>
                    <a:bodyPr wrap="square"/>
                    <a:lstStyle/>
                    <a:p>
                      <a:r>
                        <a:rPr sz="1100" b="0">
                          <a:solidFill>
                            <a:srgbClr val="282828"/>
                          </a:solidFill>
                          <a:latin typeface="Arial"/>
                        </a:rPr>
                        <a:t>0.993 / 5, 1.008 / 2, 0.995 / 3 pm</a:t>
                      </a:r>
                    </a:p>
                  </a:txBody>
                  <a:tcPr marL="54864" marR="54864" marT="18288" marB="18288">
                    <a:solidFill>
                      <a:srgbClr val="ECF1F6"/>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(D4 not yet run on this bench)</a:t>
                      </a:r>
                    </a:p>
                  </a:txBody>
                  <a:tcPr marL="54864" marR="54864" marT="18288" marB="18288">
                    <a:solidFill>
                      <a:srgbClr val="ECF1F6"/>
                    </a:solidFill>
                  </a:tcPr>
                </a:tc>
              </a:tr>
            </a:tbl>
          </a:graphicData>
        </a:graphic>
      </p:graphicFrame>
      <p:sp>
        <p:nvSpPr>
          <p:cNvPr id="5" name="TextBox 4"/>
          <p:cNvSpPr txBox="1"/>
          <p:nvPr/>
        </p:nvSpPr>
        <p:spPr>
          <a:xfrm>
            <a:off x="411480" y="4525137"/>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Both rigs wrap between 60 and 120 nm of surface (a base the four-step cannot follow reads λ/2 ÷ √12 = 91 nm rms); the capture range is set by the unwrapping, not by the front end.</a:t>
            </a:r>
          </a:p>
        </p:txBody>
      </p:sp>
      <p:sp>
        <p:nvSpPr>
          <p:cNvPr id="6" name="TextBox 5"/>
          <p:cNvSpPr txBox="1"/>
          <p:nvPr/>
        </p:nvSpPr>
        <p:spPr>
          <a:xfrm>
            <a:off x="411480" y="608037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cells marked in progress or not yet run are listed on the provenance slide with their run names.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The rule a parabola enforces and a lens hides: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Coatings: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mirror rig matches the lens rig on the rows and the servo (interferometer 2.0e13 vs 2.3e13 photons per cycle noise only, 6.6e13 vs 7.1e13 under the walk) and captures from 200 nm;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