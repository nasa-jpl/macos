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jobs, and how each is scored</a:t>
            </a:r>
          </a:p>
          <a:p>
            <a:pPr>
              <a:spcAft>
                <a:spcPts val="0"/>
              </a:spcAft>
            </a:pPr>
            <a:r>
              <a:rPr sz="1250" b="0">
                <a:solidFill>
                  <a:srgbClr val="6E6E6E"/>
                </a:solidFill>
                <a:latin typeface="Arial"/>
              </a:rPr>
              <a:t>Hold the surface to picometers in a servo; capture its post-launch shape, 100-200 nm of wavefront, and bring it into the servo's reach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The working surface during every test is a random 30 nm rms shape, not a flat: the gauge never operates at null.</a:t>
            </a:r>
          </a:p>
          <a:p>
            <a:pPr>
              <a:spcAft>
                <a:spcPts val="600"/>
              </a:spcAft>
            </a:pPr>
            <a:r>
              <a:rPr sz="1200" b="0">
                <a:solidFill>
                  <a:srgbClr val="282828"/>
                </a:solidFill>
                <a:latin typeface="Arial"/>
              </a:rPr>
              <a:t>•  Hold: a change of 10 nm on one actuator, or 1 nm on 47 actuators, or a dense random 10 nm pattern, read on the 30 nm surface with the response matrix measured on it.  Then the servo: the light per cycle that holds 3 pm rms.</a:t>
            </a:r>
          </a:p>
          <a:p>
            <a:pPr>
              <a:spcAft>
                <a:spcPts val="600"/>
              </a:spcAft>
            </a:pPr>
            <a:r>
              <a:rPr sz="1200" b="0">
                <a:solidFill>
                  <a:srgbClr val="282828"/>
                </a:solidFill>
                <a:latin typeface="Arial"/>
              </a:rPr>
              <a:t>•  Capture: the largest starting surface the servo brings to 3 pm; every phase reading wraps at ±158 nm of surface (±π at 632.8 nm, double pass), so this is a wrapping problem before it is a noise problem.</a:t>
            </a:r>
          </a:p>
        </p:txBody>
      </p:sp>
      <p:graphicFrame>
        <p:nvGraphicFramePr>
          <p:cNvPr id="5" name="Table 4"/>
          <p:cNvGraphicFramePr>
            <a:graphicFrameLocks noGrp="1"/>
          </p:cNvGraphicFramePr>
          <p:nvPr/>
        </p:nvGraphicFramePr>
        <p:xfrm>
          <a:off x="6400800" y="1298448"/>
          <a:ext cx="5394959" cy="252603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434340">
                <a:tc>
                  <a:txBody>
                    <a:bodyPr wrap="square"/>
                    <a:lstStyle/>
                    <a:p>
                      <a:r>
                        <a:rPr sz="1000" b="0">
                          <a:solidFill>
                            <a:srgbClr val="282828"/>
                          </a:solidFill>
                          <a:latin typeface="Arial"/>
                        </a:rPr>
                        <a:t>hold, one number</a:t>
                      </a:r>
                    </a:p>
                  </a:txBody>
                  <a:tcPr marL="54864" marR="54864" marT="18288" marB="18288">
                    <a:solidFill>
                      <a:srgbClr val="ECF1F6"/>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ECF1F6"/>
                    </a:solidFill>
                  </a:tcPr>
                </a:tc>
              </a:tr>
            </a:tbl>
          </a:graphicData>
        </a:graphic>
      </p:graphicFrame>
      <p:sp>
        <p:nvSpPr>
          <p:cNvPr id="6" name="TextBox 5"/>
          <p:cNvSpPr txBox="1"/>
          <p:nvPr/>
        </p:nvSpPr>
        <p:spPr>
          <a:xfrm>
            <a:off x="6400800" y="3970781"/>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7° plate splitter,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ens_vlayout_train.png"/>
          <p:cNvPicPr>
            <a:picLocks noChangeAspect="1"/>
          </p:cNvPicPr>
          <p:nvPr/>
        </p:nvPicPr>
        <p:blipFill>
          <a:blip r:embed="rId2"/>
          <a:stretch>
            <a:fillRect/>
          </a:stretch>
        </p:blipFill>
        <p:spPr>
          <a:xfrm>
            <a:off x="2841221" y="1298448"/>
            <a:ext cx="6509251" cy="1617472"/>
          </a:xfrm>
          <a:prstGeom prst="rect">
            <a:avLst/>
          </a:prstGeom>
        </p:spPr>
      </p:pic>
      <p:sp>
        <p:nvSpPr>
          <p:cNvPr id="5" name="TextBox 4"/>
          <p:cNvSpPr txBox="1"/>
          <p:nvPr/>
        </p:nvSpPr>
        <p:spPr>
          <a:xfrm>
            <a:off x="411480" y="29342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source at left, collimator L1, the 7° plate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3364992"/>
          <a:ext cx="5806439" cy="1400175"/>
        </p:xfrm>
        <a:graphic>
          <a:graphicData uri="http://schemas.openxmlformats.org/drawingml/2006/table">
            <a:tbl>
              <a:tblPr firstRow="1" bandRow="1">
                <a:tableStyleId>{5C22544A-7EE6-4342-B048-85BDC9FD1C3A}</a:tableStyleId>
              </a:tblPr>
              <a:tblGrid>
                <a:gridCol w="1281941"/>
                <a:gridCol w="4524498"/>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280035">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a:t>
                      </a:r>
                    </a:p>
                  </a:txBody>
                  <a:tcPr marL="54864" marR="54864" marT="18288" marB="18288">
                    <a:solidFill>
                      <a:srgbClr val="ECF1F6"/>
                    </a:solidFill>
                  </a:tcPr>
                </a:tc>
              </a:tr>
              <a:tr h="28003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7° incidence, 2.6 mm thick, 50/50; compensator plate matched</a:t>
                      </a:r>
                    </a:p>
                  </a:txBody>
                  <a:tcPr marL="54864" marR="54864" marT="18288" marB="18288">
                    <a:solidFill>
                      <a:srgbClr val="FFFFFF"/>
                    </a:solidFill>
                  </a:tcPr>
                </a:tc>
              </a:tr>
              <a:tr h="280035">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3364992"/>
          <a:ext cx="5394960" cy="13144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26289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385 pixels across the pupil (1 Mpix class), 5 pixels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482574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60" cy="1828800"/>
        </p:xfrm>
        <a:graphic>
          <a:graphicData uri="http://schemas.openxmlformats.org/drawingml/2006/table">
            <a:tbl>
              <a:tblPr firstRow="1" bandRow="1">
                <a:tableStyleId>{5C22544A-7EE6-4342-B048-85BDC9FD1C3A}</a:tableStyleId>
              </a:tblPr>
              <a:tblGrid>
                <a:gridCol w="3596640"/>
                <a:gridCol w="1798320"/>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43434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layout</a:t>
            </a:r>
          </a:p>
          <a:p>
            <a:pPr>
              <a:spcAft>
                <a:spcPts val="0"/>
              </a:spcAft>
            </a:pPr>
            <a:r>
              <a:rPr sz="1250" b="0">
                <a:solidFill>
                  <a:srgbClr val="6E6E6E"/>
                </a:solidFill>
                <a:latin typeface="Arial"/>
              </a:rPr>
              <a:t>The splitter node from above, with the compensator, the recombination, and the snapshot form's polarization optics; the whole train is on the front-end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ens_vlayout_node.png"/>
          <p:cNvPicPr>
            <a:picLocks noChangeAspect="1"/>
          </p:cNvPicPr>
          <p:nvPr/>
        </p:nvPicPr>
        <p:blipFill>
          <a:blip r:embed="rId2"/>
          <a:stretch>
            <a:fillRect/>
          </a:stretch>
        </p:blipFill>
        <p:spPr>
          <a:xfrm>
            <a:off x="2438406" y="1298448"/>
            <a:ext cx="7314882"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reference arm's node, from above, as traced: the input polarizer, the plate splitter and its compensator, the recombination, the output quarter-wave plate and analyzer (snapshot form); test arm blue, reference arm orange.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tg96_run from the emitted deck (lens_vlayout.png in tg_psi_dm96_oap); the detector tail beyond the focuser is the same as the sensors'.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with a 3×3 array of etched spots (one in the beam at a time; the 346 nm etch is a quarter wave at 632.8 nm), on a translation stage.  Nothing else.  Run tags matbase, matbase385, loop193.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912993"/>
                <a:gridCol w="4481966"/>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43434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26289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pupil image</a:t>
                      </a:r>
                    </a:p>
                  </a:txBody>
                  <a:tcPr marL="54864" marR="54864" marT="18288" marB="18288">
                    <a:solidFill>
                      <a:srgbClr val="ECF1F6"/>
                    </a:solidFill>
                  </a:tcPr>
                </a:tc>
              </a:tr>
              <a:tr h="43434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249359"/>
                <a:gridCol w="4145600"/>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