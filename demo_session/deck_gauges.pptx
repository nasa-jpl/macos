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3 Introduction: the three jobs and how they are scored</a:t>
            </a:r>
          </a:p>
          <a:p>
            <a:pPr>
              <a:spcAft>
                <a:spcPts val="600"/>
              </a:spcAft>
            </a:pPr>
            <a:r>
              <a:rPr sz="1500" b="0">
                <a:solidFill>
                  <a:srgbClr val="282828"/>
                </a:solidFill>
                <a:latin typeface="Arial"/>
              </a:rPr>
              <a:t>•  4 The bench layout</a:t>
            </a:r>
          </a:p>
          <a:p>
            <a:pPr>
              <a:spcAft>
                <a:spcPts val="600"/>
              </a:spcAft>
            </a:pPr>
            <a:r>
              <a:rPr sz="1500" b="0">
                <a:solidFill>
                  <a:srgbClr val="282828"/>
                </a:solidFill>
                <a:latin typeface="Arial"/>
              </a:rPr>
              <a:t>•  6 Parts: the front end and the detector leg</a:t>
            </a:r>
          </a:p>
          <a:p>
            <a:pPr>
              <a:spcAft>
                <a:spcPts val="600"/>
              </a:spcAft>
            </a:pPr>
            <a:r>
              <a:rPr sz="1500" b="0">
                <a:solidFill>
                  <a:srgbClr val="282828"/>
                </a:solidFill>
                <a:latin typeface="Arial"/>
              </a:rPr>
              <a:t>•  8 Parts: the interferometer and the sensors</a:t>
            </a:r>
          </a:p>
          <a:p>
            <a:pPr>
              <a:spcAft>
                <a:spcPts val="600"/>
              </a:spcAft>
            </a:pPr>
            <a:r>
              <a:rPr sz="1500" b="0">
                <a:solidFill>
                  <a:srgbClr val="282828"/>
                </a:solidFill>
                <a:latin typeface="Arial"/>
              </a:rPr>
              <a:t>•  10 Twyman-Green interferometer</a:t>
            </a:r>
          </a:p>
          <a:p>
            <a:pPr>
              <a:spcAft>
                <a:spcPts val="600"/>
              </a:spcAft>
            </a:pPr>
            <a:r>
              <a:rPr sz="1500" b="0">
                <a:solidFill>
                  <a:srgbClr val="282828"/>
                </a:solidFill>
                <a:latin typeface="Arial"/>
              </a:rPr>
              <a:t>•  17 Zernike sensor</a:t>
            </a:r>
          </a:p>
          <a:p>
            <a:pPr>
              <a:spcAft>
                <a:spcPts val="600"/>
              </a:spcAft>
            </a:pPr>
            <a:r>
              <a:rPr sz="1500" b="0">
                <a:solidFill>
                  <a:srgbClr val="282828"/>
                </a:solidFill>
                <a:latin typeface="Arial"/>
              </a:rPr>
              <a:t>•  19 Vector Zernike sensor</a:t>
            </a:r>
          </a:p>
          <a:p>
            <a:pPr>
              <a:spcAft>
                <a:spcPts val="600"/>
              </a:spcAft>
            </a:pPr>
            <a:r>
              <a:rPr sz="1500" b="0">
                <a:solidFill>
                  <a:srgbClr val="282828"/>
                </a:solidFill>
                <a:latin typeface="Arial"/>
              </a:rPr>
              <a:t>•  22 Point-diffraction sensor</a:t>
            </a:r>
          </a:p>
          <a:p>
            <a:pPr>
              <a:spcAft>
                <a:spcPts val="600"/>
              </a:spcAft>
            </a:pPr>
            <a:r>
              <a:rPr sz="1500" b="0">
                <a:solidFill>
                  <a:srgbClr val="282828"/>
                </a:solidFill>
                <a:latin typeface="Arial"/>
              </a:rPr>
              <a:t>•  25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31 Lenses versus off-axis parabolas</a:t>
            </a:r>
          </a:p>
          <a:p>
            <a:pPr>
              <a:spcAft>
                <a:spcPts val="600"/>
              </a:spcAft>
            </a:pPr>
            <a:r>
              <a:rPr sz="1200" b="0">
                <a:solidFill>
                  <a:srgbClr val="282828"/>
                </a:solidFill>
                <a:latin typeface="Arial"/>
              </a:rPr>
              <a:t>•  32 The reflective front end and its performance</a:t>
            </a:r>
          </a:p>
          <a:p>
            <a:pPr>
              <a:spcAft>
                <a:spcPts val="600"/>
              </a:spcAft>
            </a:pPr>
            <a:r>
              <a:rPr sz="1200" b="0">
                <a:solidFill>
                  <a:srgbClr val="282828"/>
                </a:solidFill>
                <a:latin typeface="Arial"/>
              </a:rPr>
              <a:t>•  34 Comparison and recommendation</a:t>
            </a:r>
          </a:p>
          <a:p>
            <a:pPr>
              <a:spcAft>
                <a:spcPts val="600"/>
              </a:spcAft>
            </a:pPr>
            <a:r>
              <a:rPr sz="1200" b="0">
                <a:solidFill>
                  <a:srgbClr val="282828"/>
                </a:solidFill>
                <a:latin typeface="Arial"/>
              </a:rPr>
              <a:t>•  37 Measuring the complex amplitude</a:t>
            </a:r>
          </a:p>
          <a:p>
            <a:pPr>
              <a:spcAft>
                <a:spcPts val="600"/>
              </a:spcAft>
            </a:pPr>
            <a:r>
              <a:rPr sz="1200" b="0">
                <a:solidFill>
                  <a:srgbClr val="282828"/>
                </a:solidFill>
                <a:latin typeface="Arial"/>
              </a:rPr>
              <a:t>•  38 Summary and future work</a:t>
            </a:r>
          </a:p>
          <a:p>
            <a:pPr>
              <a:spcAft>
                <a:spcPts val="600"/>
              </a:spcAft>
            </a:pPr>
            <a:r>
              <a:rPr sz="1200" b="0">
                <a:solidFill>
                  <a:srgbClr val="282828"/>
                </a:solidFill>
                <a:latin typeface="Arial"/>
              </a:rPr>
              <a:t>•  44 Run it yourself</a:t>
            </a:r>
          </a:p>
          <a:p>
            <a:pPr>
              <a:spcAft>
                <a:spcPts val="600"/>
              </a:spcAft>
            </a:pPr>
            <a:r>
              <a:rPr sz="1200" b="0">
                <a:solidFill>
                  <a:srgbClr val="282828"/>
                </a:solidFill>
                <a:latin typeface="Arial"/>
              </a:rPr>
              <a:t>•  45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402336" y="5193792"/>
            <a:ext cx="64008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4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4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5184648"/>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1223010"/>
        </p:xfrm>
        <a:graphic>
          <a:graphicData uri="http://schemas.openxmlformats.org/drawingml/2006/table">
            <a:tbl>
              <a:tblPr firstRow="1" bandRow="1">
                <a:tableStyleId>{5C22544A-7EE6-4342-B048-85BDC9FD1C3A}</a:tableStyleId>
              </a:tblPr>
              <a:tblGrid>
                <a:gridCol w="2045023"/>
                <a:gridCol w="542544"/>
                <a:gridCol w="476504"/>
                <a:gridCol w="476504"/>
                <a:gridCol w="1168584"/>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7086600" y="2496312"/>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086600" y="5330952"/>
            <a:ext cx="47091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