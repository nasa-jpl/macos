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being added to the model.  The reflective front end has been redesigned on it (2026-09-15) and its rows are being re-measured; the lenses-versus-mirrors comparison is provisional.</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mirror: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the light per cycle that holds 3 pm rms,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4061668" y="1298448"/>
            <a:ext cx="4068357" cy="2348992"/>
          </a:xfrm>
          <a:prstGeom prst="rect">
            <a:avLst/>
          </a:prstGeom>
        </p:spPr>
      </p:pic>
      <p:sp>
        <p:nvSpPr>
          <p:cNvPr id="5" name="TextBox 4"/>
          <p:cNvSpPr txBox="1"/>
          <p:nvPr/>
        </p:nvSpPr>
        <p:spPr>
          <a:xfrm>
            <a:off x="411480" y="366572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shared front end as traced by the engine, seen from above, at the 22.5° splitter: source at left, collimator L1, the splitter, the 96 mm mirror on its 700 mm leg (blue), the reference arm and its flat (orange, the interferometer only), the focuser L2 toward the internal focus.  The mask seat at that focus is where the four sensing methods differ.</a:t>
            </a:r>
          </a:p>
        </p:txBody>
      </p:sp>
      <p:graphicFrame>
        <p:nvGraphicFramePr>
          <p:cNvPr id="6" name="Table 5"/>
          <p:cNvGraphicFramePr>
            <a:graphicFrameLocks noGrp="1"/>
          </p:cNvGraphicFramePr>
          <p:nvPr/>
        </p:nvGraphicFramePr>
        <p:xfrm>
          <a:off x="411480" y="4096511"/>
          <a:ext cx="5806439" cy="1965960"/>
        </p:xfrm>
        <a:graphic>
          <a:graphicData uri="http://schemas.openxmlformats.org/drawingml/2006/table">
            <a:tbl>
              <a:tblPr firstRow="1" bandRow="1">
                <a:tableStyleId>{5C22544A-7EE6-4342-B048-85BDC9FD1C3A}</a:tableStyleId>
              </a:tblPr>
              <a:tblGrid>
                <a:gridCol w="662479"/>
                <a:gridCol w="5143960"/>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source</a:t>
                      </a:r>
                    </a:p>
                  </a:txBody>
                  <a:tcPr marL="54864" marR="54864" marT="18288" marB="18288">
                    <a:solidFill>
                      <a:srgbClr val="FFFFFF"/>
                    </a:solidFill>
                  </a:tcPr>
                </a:tc>
                <a:tc>
                  <a:txBody>
                    <a:bodyPr wrap="square"/>
                    <a:lstStyle/>
                    <a:p>
                      <a:r>
                        <a:rPr sz="1100" b="0">
                          <a:solidFill>
                            <a:srgbClr val="282828"/>
                          </a:solidFill>
                          <a:latin typeface="Arial"/>
                        </a:rPr>
                        <a:t>HeNe 632.8 nm, filtered, 51 mm beam radius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coated; modeled 5 mm center, 2 mm edge, to be a real 103 mm singlet</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22.5° incidence (the record's 7° does not clear the node: next slide), 50/50; compensator matched; modeled 2.6 mm thick, to be 10 mm</a:t>
                      </a:r>
                    </a:p>
                  </a:txBody>
                  <a:tcPr marL="54864" marR="54864" marT="18288" marB="18288">
                    <a:solidFill>
                      <a:srgbClr val="FFFFFF"/>
                    </a:solidFill>
                  </a:tcPr>
                </a:tc>
              </a:tr>
              <a:tr h="468630">
                <a:tc>
                  <a:txBody>
                    <a:bodyPr wrap="square"/>
                    <a:lstStyle/>
                    <a:p>
                      <a:r>
                        <a:rPr sz="1100" b="0">
                          <a:solidFill>
                            <a:srgbClr val="282828"/>
                          </a:solidFill>
                          <a:latin typeface="Arial"/>
                        </a:rPr>
                        <a:t>deformable mirror</a:t>
                      </a:r>
                    </a:p>
                  </a:txBody>
                  <a:tcPr marL="54864" marR="54864" marT="18288" marB="18288">
                    <a:solidFill>
                      <a:srgbClr val="ECF1F6"/>
                    </a:solidFill>
                  </a:tcPr>
                </a:tc>
                <a:tc>
                  <a:txBody>
                    <a:bodyPr wrap="square"/>
                    <a:lstStyle/>
                    <a:p>
                      <a:r>
                        <a:rPr sz="1100" b="0">
                          <a:solidFill>
                            <a:srgbClr val="282828"/>
                          </a:solidFill>
                          <a:latin typeface="Arial"/>
                        </a:rPr>
                        <a:t>96×96, 1 mm pitch, 96 mm, 700 mm leg</a:t>
                      </a:r>
                    </a:p>
                  </a:txBody>
                  <a:tcPr marL="54864" marR="54864" marT="18288" marB="18288">
                    <a:solidFill>
                      <a:srgbClr val="ECF1F6"/>
                    </a:solidFill>
                  </a:tcPr>
                </a:tc>
              </a:tr>
            </a:tbl>
          </a:graphicData>
        </a:graphic>
      </p:graphicFrame>
      <p:graphicFrame>
        <p:nvGraphicFramePr>
          <p:cNvPr id="7" name="Table 6"/>
          <p:cNvGraphicFramePr>
            <a:graphicFrameLocks noGrp="1"/>
          </p:cNvGraphicFramePr>
          <p:nvPr/>
        </p:nvGraphicFramePr>
        <p:xfrm>
          <a:off x="6400800" y="4096511"/>
          <a:ext cx="5394960" cy="1657350"/>
        </p:xfrm>
        <a:graphic>
          <a:graphicData uri="http://schemas.openxmlformats.org/drawingml/2006/table">
            <a:tbl>
              <a:tblPr firstRow="1" bandRow="1">
                <a:tableStyleId>{5C22544A-7EE6-4342-B048-85BDC9FD1C3A}</a:tableStyleId>
              </a:tblPr>
              <a:tblGrid>
                <a:gridCol w="806704"/>
                <a:gridCol w="4588256"/>
              </a:tblGrid>
              <a:tr h="262890">
                <a:tc>
                  <a:txBody>
                    <a:bodyPr wrap="square"/>
                    <a:lstStyle/>
                    <a:p>
                      <a:r>
                        <a:rPr sz="1000" b="1">
                          <a:solidFill>
                            <a:srgbClr val="FFFFFF"/>
                          </a:solidFill>
                          <a:latin typeface="Arial"/>
                        </a:rPr>
                        <a:t>part</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focuser L2</a:t>
                      </a:r>
                    </a:p>
                  </a:txBody>
                  <a:tcPr marL="54864" marR="54864" marT="18288" marB="18288">
                    <a:solidFill>
                      <a:srgbClr val="FFFFFF"/>
                    </a:solidFill>
                  </a:tcPr>
                </a:tc>
                <a:tc>
                  <a:txBody>
                    <a:bodyPr wrap="square"/>
                    <a:lstStyle/>
                    <a:p>
                      <a:r>
                        <a:rPr sz="1000" b="0">
                          <a:solidFill>
                            <a:srgbClr val="282828"/>
                          </a:solidFill>
                          <a:latin typeface="Arial"/>
                        </a:rPr>
                        <a:t>f 429 mm, 103 mm; internal focus at F/4.2; modeled 8 mm center, to be real</a:t>
                      </a:r>
                    </a:p>
                  </a:txBody>
                  <a:tcPr marL="54864" marR="54864" marT="18288" marB="18288">
                    <a:solidFill>
                      <a:srgbClr val="FFFFFF"/>
                    </a:solidFill>
                  </a:tcPr>
                </a:tc>
              </a:tr>
              <a:tr h="262890">
                <a:tc>
                  <a:txBody>
                    <a:bodyPr wrap="square"/>
                    <a:lstStyle/>
                    <a:p>
                      <a:r>
                        <a:rPr sz="1000" b="0">
                          <a:solidFill>
                            <a:srgbClr val="282828"/>
                          </a:solidFill>
                          <a:latin typeface="Arial"/>
                        </a:rPr>
                        <a:t>field lens</a:t>
                      </a:r>
                    </a:p>
                  </a:txBody>
                  <a:tcPr marL="54864" marR="54864" marT="18288" marB="18288">
                    <a:solidFill>
                      <a:srgbClr val="ECF1F6"/>
                    </a:solidFill>
                  </a:tcPr>
                </a:tc>
                <a:tc>
                  <a:txBody>
                    <a:bodyPr wrap="square"/>
                    <a:lstStyle/>
                    <a:p>
                      <a:r>
                        <a:rPr sz="1000" b="0">
                          <a:solidFill>
                            <a:srgbClr val="282828"/>
                          </a:solidFill>
                          <a:latin typeface="Arial"/>
                        </a:rPr>
                        <a:t>f 43 mm, 21 mm; pupil image 9.4 mm, 32 mm behind it</a:t>
                      </a:r>
                    </a:p>
                  </a:txBody>
                  <a:tcPr marL="54864" marR="54864" marT="18288" marB="18288">
                    <a:solidFill>
                      <a:srgbClr val="ECF1F6"/>
                    </a:solidFill>
                  </a:tcPr>
                </a:tc>
              </a:tr>
              <a:tr h="434340">
                <a:tc>
                  <a:txBody>
                    <a:bodyPr wrap="square"/>
                    <a:lstStyle/>
                    <a:p>
                      <a:r>
                        <a:rPr sz="1000" b="0">
                          <a:solidFill>
                            <a:srgbClr val="282828"/>
                          </a:solidFill>
                          <a:latin typeface="Arial"/>
                        </a:rPr>
                        <a:t>camera</a:t>
                      </a:r>
                    </a:p>
                  </a:txBody>
                  <a:tcPr marL="54864" marR="54864" marT="18288" marB="18288">
                    <a:solidFill>
                      <a:srgbClr val="FFFFFF"/>
                    </a:solidFill>
                  </a:tcPr>
                </a:tc>
                <a:tc>
                  <a:txBody>
                    <a:bodyPr wrap="square"/>
                    <a:lstStyle/>
                    <a:p>
                      <a:r>
                        <a:rPr sz="1000" b="0">
                          <a:solidFill>
                            <a:srgbClr val="282828"/>
                          </a:solidFill>
                          <a:latin typeface="Arial"/>
                        </a:rPr>
                        <a:t>pupil image 9.4 mm: a 6.5 µm sCMOS puts 1450 pixels across it, binned 4 to the modeled 385 (5 per actuator)</a:t>
                      </a:r>
                    </a:p>
                  </a:txBody>
                  <a:tcPr marL="54864" marR="54864" marT="18288" marB="18288">
                    <a:solidFill>
                      <a:srgbClr val="FFFFFF"/>
                    </a:solidFill>
                  </a:tcPr>
                </a:tc>
              </a:tr>
              <a:tr h="262890">
                <a:tc>
                  <a:txBody>
                    <a:bodyPr wrap="square"/>
                    <a:lstStyle/>
                    <a:p>
                      <a:r>
                        <a:rPr sz="1000" b="0">
                          <a:solidFill>
                            <a:srgbClr val="282828"/>
                          </a:solidFill>
                          <a:latin typeface="Arial"/>
                        </a:rPr>
                        <a:t>mask seat</a:t>
                      </a:r>
                    </a:p>
                  </a:txBody>
                  <a:tcPr marL="54864" marR="54864" marT="18288" marB="18288">
                    <a:solidFill>
                      <a:srgbClr val="ECF1F6"/>
                    </a:solidFill>
                  </a:tcPr>
                </a:tc>
                <a:tc>
                  <a:txBody>
                    <a:bodyPr wrap="square"/>
                    <a:lstStyle/>
                    <a:p>
                      <a:r>
                        <a:rPr sz="1000" b="0">
                          <a:solidFill>
                            <a:srgbClr val="282828"/>
                          </a:solidFill>
                          <a:latin typeface="Arial"/>
                        </a:rPr>
                        <a:t>one substrate at the internal focus, translated to select the sensor</a:t>
                      </a:r>
                    </a:p>
                  </a:txBody>
                  <a:tcPr marL="54864" marR="54864" marT="18288" marB="18288">
                    <a:solidFill>
                      <a:srgbClr val="ECF1F6"/>
                    </a:solidFill>
                  </a:tcPr>
                </a:tc>
              </a:tr>
            </a:tbl>
          </a:graphicData>
        </a:graphic>
      </p:graphicFrame>
      <p:sp>
        <p:nvSpPr>
          <p:cNvPr id="8" name="TextBox 7"/>
          <p:cNvSpPr txBox="1"/>
          <p:nvPr/>
        </p:nvSpPr>
        <p:spPr>
          <a:xfrm>
            <a:off x="6400800" y="5900166"/>
            <a:ext cx="5394960"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stage, 564 mm leg) is the interferometer's; shuttered, the same bench is every other sensor.  Lenses, not off-axis mirrors: the choice is priced on the lenses-versus-mirrors slide.  The drawings are to scale: the model's parts are the 56 mm rig's scaled up, thinner than 103 mm optics can be built; the next model round gives every part its real thickness.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tail, from the parameter sheet; thicknesses are the scaled model's and are being made real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6335"/>
        </p:xfrm>
        <a:graphic>
          <a:graphicData uri="http://schemas.openxmlformats.org/drawingml/2006/table">
            <a:tbl>
              <a:tblPr firstRow="1" bandRow="1">
                <a:tableStyleId>{5C22544A-7EE6-4342-B048-85BDC9FD1C3A}</a:tableStyleId>
              </a:tblPr>
              <a:tblGrid>
                <a:gridCol w="1962404"/>
                <a:gridCol w="3763129"/>
                <a:gridCol w="2180336"/>
                <a:gridCol w="509524"/>
                <a:gridCol w="2953341"/>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modeled 2.6 mm, to be 10 mm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468630">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468630">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468630">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pupil (9.4 mm) 32 mm behind it</a:t>
                      </a:r>
                    </a:p>
                  </a:txBody>
                  <a:tcPr marL="54864" marR="54864" marT="18288" marB="18288">
                    <a:solidFill>
                      <a:srgbClr val="ECF1F6"/>
                    </a:solidFill>
                  </a:tcPr>
                </a:tc>
              </a:tr>
              <a:tr h="468630">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(13.3 mm), binned 4 to 385 pixels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468630">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The tail (focuser, mask seat, field lens, camera) is tuned once and shared; only the mask seat's contents and what follows the field lens change between configurations.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rows and the servo use the calibrated estimate.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9.4 mm pupil image; a 6.5 µm sCMOS (13 mm sensor) binned 4</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9.4 mm pupil image 32 mm behind the field lens would need a 17° split for side-by-side images, past a calcite prism's limit.  Run tags v193base, vloop193.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tail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2555258" y="1298448"/>
            <a:ext cx="7081177" cy="3994912"/>
          </a:xfrm>
          <a:prstGeom prst="rect">
            <a:avLst/>
          </a:prstGeom>
        </p:spPr>
      </p:pic>
      <p:sp>
        <p:nvSpPr>
          <p:cNvPr id="5" name="TextBox 4"/>
          <p:cNvSpPr txBox="1"/>
          <p:nvPr/>
        </p:nvSpPr>
        <p:spPr>
          <a:xfrm>
            <a:off x="411480" y="531164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742431"/>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the rows on the same surface read 0.9935 / 4 pm through the matrix.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tail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428875"/>
        </p:xfrm>
        <a:graphic>
          <a:graphicData uri="http://schemas.openxmlformats.org/drawingml/2006/table">
            <a:tbl>
              <a:tblPr firstRow="1" bandRow="1">
                <a:tableStyleId>{5C22544A-7EE6-4342-B048-85BDC9FD1C3A}</a:tableStyleId>
              </a:tblPr>
              <a:tblGrid>
                <a:gridCol w="2035048"/>
                <a:gridCol w="5293733"/>
                <a:gridCol w="403995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bl>
          </a:graphicData>
        </a:graphic>
      </p:graphicFrame>
      <p:sp>
        <p:nvSpPr>
          <p:cNvPr id="5" name="TextBox 4"/>
          <p:cNvSpPr txBox="1"/>
          <p:nvPr/>
        </p:nvSpPr>
        <p:spPr>
          <a:xfrm>
            <a:off x="411480" y="3873627"/>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4793361"/>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06065"/>
        </p:xfrm>
        <a:graphic>
          <a:graphicData uri="http://schemas.openxmlformats.org/drawingml/2006/table">
            <a:tbl>
              <a:tblPr firstRow="1" bandRow="1">
                <a:tableStyleId>{5C22544A-7EE6-4342-B048-85BDC9FD1C3A}</a:tableStyleId>
              </a:tblPr>
              <a:tblGrid>
                <a:gridCol w="1696263"/>
                <a:gridCol w="1891986"/>
                <a:gridCol w="221819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1.5e12 photons per cycle, the pinhole and stepped Zernike from 2.3-2.6e12, the interferometer from 5.5e12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6" cy="3371850"/>
        </p:xfrm>
        <a:graphic>
          <a:graphicData uri="http://schemas.openxmlformats.org/drawingml/2006/table">
            <a:tbl>
              <a:tblPr firstRow="1" bandRow="1">
                <a:tableStyleId>{5C22544A-7EE6-4342-B048-85BDC9FD1C3A}</a:tableStyleId>
              </a:tblPr>
              <a:tblGrid>
                <a:gridCol w="1063150"/>
                <a:gridCol w="654246"/>
                <a:gridCol w="1308493"/>
                <a:gridCol w="1349383"/>
                <a:gridCol w="143116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about 10 pm is the loop's lag at this gain, the same for every reading that has no fixed error.  The exact one-frame Zernike reading diverges in the loop.  Run tags vloop193, ploop193, loop193, pfdeck_loop, loop_lens, loop_oap.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60445"/>
        </p:xfrm>
        <a:graphic>
          <a:graphicData uri="http://schemas.openxmlformats.org/drawingml/2006/table">
            <a:tbl>
              <a:tblPr firstRow="1" bandRow="1">
                <a:tableStyleId>{5C22544A-7EE6-4342-B048-85BDC9FD1C3A}</a:tableStyleId>
              </a:tblPr>
              <a:tblGrid>
                <a:gridCol w="1324959"/>
                <a:gridCol w="1130112"/>
                <a:gridCol w="335136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rows are being re-measured.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mask seat is diffraction-limited at zero trim, and its untuned tail nulls 4.6× better than the lens rig's tuned one; the rows are running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263140"/>
        </p:xfrm>
        <a:graphic>
          <a:graphicData uri="http://schemas.openxmlformats.org/drawingml/2006/table">
            <a:tbl>
              <a:tblPr firstRow="1" bandRow="1">
                <a:tableStyleId>{5C22544A-7EE6-4342-B048-85BDC9FD1C3A}</a:tableStyleId>
              </a:tblPr>
              <a:tblGrid>
                <a:gridCol w="1940292"/>
                <a:gridCol w="1656347"/>
                <a:gridCol w="1798320"/>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flat-mirror null, tail as tuned / untuned</a:t>
                      </a:r>
                    </a:p>
                  </a:txBody>
                  <a:tcPr marL="54864" marR="54864" marT="18288" marB="18288">
                    <a:solidFill>
                      <a:srgbClr val="FFFFFF"/>
                    </a:solidFill>
                  </a:tcPr>
                </a:tc>
                <a:tc>
                  <a:txBody>
                    <a:bodyPr wrap="square"/>
                    <a:lstStyle/>
                    <a:p>
                      <a:r>
                        <a:rPr sz="1000" b="0">
                          <a:solidFill>
                            <a:srgbClr val="282828"/>
                          </a:solidFill>
                          <a:latin typeface="Arial"/>
                        </a:rPr>
                        <a:t>12.9 nm tuned</a:t>
                      </a:r>
                    </a:p>
                  </a:txBody>
                  <a:tcPr marL="54864" marR="54864" marT="18288" marB="18288">
                    <a:solidFill>
                      <a:srgbClr val="FFFFFF"/>
                    </a:solidFill>
                  </a:tcPr>
                </a:tc>
                <a:tc>
                  <a:txBody>
                    <a:bodyPr wrap="square"/>
                    <a:lstStyle/>
                    <a:p>
                      <a:r>
                        <a:rPr sz="1000" b="0">
                          <a:solidFill>
                            <a:srgbClr val="282828"/>
                          </a:solidFill>
                          <a:latin typeface="Arial"/>
                        </a:rPr>
                        <a:t>0.029 nm untuned (lens rig 0.13 tuned)</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a:p>
            <a:pPr>
              <a:spcAft>
                <a:spcPts val="600"/>
              </a:spcAft>
            </a:pPr>
            <a:r>
              <a:rPr sz="1200" b="0">
                <a:solidFill>
                  <a:srgbClr val="282828"/>
                </a:solidFill>
                <a:latin typeface="Arial"/>
              </a:rPr>
              <a:t>•  Open: the interferometer's rows, servo and descent, and the three sensors on this rig, are running (TO).  Their numbers replace the record's on the previous slide when they land.</a:t>
            </a:r>
          </a:p>
        </p:txBody>
      </p:sp>
      <p:sp>
        <p:nvSpPr>
          <p:cNvPr id="8" name="TextBox 7"/>
          <p:cNvSpPr txBox="1"/>
          <p:nvPr/>
        </p:nvSpPr>
        <p:spPr>
          <a:xfrm>
            <a:off x="6400800" y="6344412"/>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loss, loss_src, conj, zseat, oap22d, oapdraw3, oap22d_tail; tg_psi_dm96_oap/REPORT_reflective.md (TO, 2026-09-15).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6335"/>
        </p:xfrm>
        <a:graphic>
          <a:graphicData uri="http://schemas.openxmlformats.org/drawingml/2006/table">
            <a:tbl>
              <a:tblPr firstRow="1" bandRow="1">
                <a:tableStyleId>{5C22544A-7EE6-4342-B048-85BDC9FD1C3A}</a:tableStyleId>
              </a:tblPr>
              <a:tblGrid>
                <a:gridCol w="1889760"/>
                <a:gridCol w="2537301"/>
                <a:gridCol w="4404372"/>
                <a:gridCol w="2537301"/>
              </a:tblGrid>
              <a:tr h="468630">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gain +11.7% (plate); 2.1% (cube, naive stack)</a:t>
                      </a:r>
                    </a:p>
                  </a:txBody>
                  <a:tcPr marL="54864" marR="54864" marT="18288" marB="18288">
                    <a:solidFill>
                      <a:srgbClr val="FFFFFF"/>
                    </a:solidFill>
                  </a:tcPr>
                </a:tc>
                <a:tc>
                  <a:txBody>
                    <a:bodyPr wrap="square"/>
                    <a:lstStyle/>
                    <a:p>
                      <a:r>
                        <a:rPr sz="1100" b="0">
                          <a:solidFill>
                            <a:srgbClr val="282828"/>
                          </a:solidFill>
                          <a:latin typeface="Arial"/>
                        </a:rPr>
                        <a:t>analyzer sweep nulls to 1.00000;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280035">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lenses on the record; the redesigned mirror rig (fed at its focus, 22.5°) removes what walled the servo and broke the pinhole, and its rows are running.  If they match the lens rig's, the mirrors are the budget choice with no penalty.</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gate G9.  On orbit with starlight, the field's amplitude is what the second mirror's control needs.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436880"/>
                <a:gridCol w="2856711"/>
                <a:gridCol w="2512848"/>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tail tune;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65722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440305"/>
        </p:xfrm>
        <a:graphic>
          <a:graphicData uri="http://schemas.openxmlformats.org/drawingml/2006/table">
            <a:tbl>
              <a:tblPr firstRow="1" bandRow="1">
                <a:tableStyleId>{5C22544A-7EE6-4342-B048-85BDC9FD1C3A}</a:tableStyleId>
              </a:tblPr>
              <a:tblGrid>
                <a:gridCol w="1671828"/>
                <a:gridCol w="1457338"/>
                <a:gridCol w="1765621"/>
                <a:gridCol w="6473946"/>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657225">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the splitter's diattenuation rotates the test arm 7.5°, gain +11.7%, nulled to 1.00000 by an analyzer sweep and a 3.8° plate clock; cube rig: R_p 2.1% for a naive stack, 0 for the symmetric one, 2.27× the delivered power</a:t>
                      </a:r>
                    </a:p>
                  </a:txBody>
                  <a:tcPr marL="54864" marR="54864" marT="18288" marB="18288">
                    <a:solidFill>
                      <a:srgbClr val="ECF1F6"/>
                    </a:solidFill>
                  </a:tcPr>
                </a:tc>
              </a:tr>
              <a:tr h="657225">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388505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tuned tail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2946123"/>
                <a:gridCol w="3371045"/>
                <a:gridCol w="35976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tail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tail</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(the 22.5° bench).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649376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