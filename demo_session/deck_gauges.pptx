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being added to the model.</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mirror: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the light per cycle that holds 3 pm rms,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4061668" y="1298448"/>
            <a:ext cx="4068357" cy="2348992"/>
          </a:xfrm>
          <a:prstGeom prst="rect">
            <a:avLst/>
          </a:prstGeom>
        </p:spPr>
      </p:pic>
      <p:sp>
        <p:nvSpPr>
          <p:cNvPr id="5" name="TextBox 4"/>
          <p:cNvSpPr txBox="1"/>
          <p:nvPr/>
        </p:nvSpPr>
        <p:spPr>
          <a:xfrm>
            <a:off x="411480" y="366572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shared front end as traced by the engine, seen from above, at the 22.5° splitter: source at left, collimator L1, the splitter, the 96 mm mirror on its 700 mm leg (blue), the reference arm and its flat (orange, the interferometer only), the focuser L2 toward the internal focus.  The mask seat at that focus is where the four sensing methods differ.</a:t>
            </a:r>
          </a:p>
        </p:txBody>
      </p:sp>
      <p:graphicFrame>
        <p:nvGraphicFramePr>
          <p:cNvPr id="6" name="Table 5"/>
          <p:cNvGraphicFramePr>
            <a:graphicFrameLocks noGrp="1"/>
          </p:cNvGraphicFramePr>
          <p:nvPr/>
        </p:nvGraphicFramePr>
        <p:xfrm>
          <a:off x="411480" y="4096511"/>
          <a:ext cx="5806439" cy="1965960"/>
        </p:xfrm>
        <a:graphic>
          <a:graphicData uri="http://schemas.openxmlformats.org/drawingml/2006/table">
            <a:tbl>
              <a:tblPr firstRow="1" bandRow="1">
                <a:tableStyleId>{5C22544A-7EE6-4342-B048-85BDC9FD1C3A}</a:tableStyleId>
              </a:tblPr>
              <a:tblGrid>
                <a:gridCol w="662479"/>
                <a:gridCol w="5143960"/>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source</a:t>
                      </a:r>
                    </a:p>
                  </a:txBody>
                  <a:tcPr marL="54864" marR="54864" marT="18288" marB="18288">
                    <a:solidFill>
                      <a:srgbClr val="FFFFFF"/>
                    </a:solidFill>
                  </a:tcPr>
                </a:tc>
                <a:tc>
                  <a:txBody>
                    <a:bodyPr wrap="square"/>
                    <a:lstStyle/>
                    <a:p>
                      <a:r>
                        <a:rPr sz="1100" b="0">
                          <a:solidFill>
                            <a:srgbClr val="282828"/>
                          </a:solidFill>
                          <a:latin typeface="Arial"/>
                        </a:rPr>
                        <a:t>HeNe 632.8 nm, filtered, 51 mm beam radius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coated; modeled 5 mm center, 2 mm edge, to be a real 103 mm singlet</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22.5° incidence (the record's 7° does not clear the node: next slide), 50/50; compensator matched; modeled 2.6 mm thick, to be 10 mm</a:t>
                      </a:r>
                    </a:p>
                  </a:txBody>
                  <a:tcPr marL="54864" marR="54864" marT="18288" marB="18288">
                    <a:solidFill>
                      <a:srgbClr val="FFFFFF"/>
                    </a:solidFill>
                  </a:tcPr>
                </a:tc>
              </a:tr>
              <a:tr h="468630">
                <a:tc>
                  <a:txBody>
                    <a:bodyPr wrap="square"/>
                    <a:lstStyle/>
                    <a:p>
                      <a:r>
                        <a:rPr sz="1100" b="0">
                          <a:solidFill>
                            <a:srgbClr val="282828"/>
                          </a:solidFill>
                          <a:latin typeface="Arial"/>
                        </a:rPr>
                        <a:t>deformable mirror</a:t>
                      </a:r>
                    </a:p>
                  </a:txBody>
                  <a:tcPr marL="54864" marR="54864" marT="18288" marB="18288">
                    <a:solidFill>
                      <a:srgbClr val="ECF1F6"/>
                    </a:solidFill>
                  </a:tcPr>
                </a:tc>
                <a:tc>
                  <a:txBody>
                    <a:bodyPr wrap="square"/>
                    <a:lstStyle/>
                    <a:p>
                      <a:r>
                        <a:rPr sz="1100" b="0">
                          <a:solidFill>
                            <a:srgbClr val="282828"/>
                          </a:solidFill>
                          <a:latin typeface="Arial"/>
                        </a:rPr>
                        <a:t>96×96, 1 mm pitch, 96 mm, 700 mm leg</a:t>
                      </a:r>
                    </a:p>
                  </a:txBody>
                  <a:tcPr marL="54864" marR="54864" marT="18288" marB="18288">
                    <a:solidFill>
                      <a:srgbClr val="ECF1F6"/>
                    </a:solidFill>
                  </a:tcPr>
                </a:tc>
              </a:tr>
            </a:tbl>
          </a:graphicData>
        </a:graphic>
      </p:graphicFrame>
      <p:graphicFrame>
        <p:nvGraphicFramePr>
          <p:cNvPr id="7" name="Table 6"/>
          <p:cNvGraphicFramePr>
            <a:graphicFrameLocks noGrp="1"/>
          </p:cNvGraphicFramePr>
          <p:nvPr/>
        </p:nvGraphicFramePr>
        <p:xfrm>
          <a:off x="6400800" y="4096511"/>
          <a:ext cx="5394960" cy="1657350"/>
        </p:xfrm>
        <a:graphic>
          <a:graphicData uri="http://schemas.openxmlformats.org/drawingml/2006/table">
            <a:tbl>
              <a:tblPr firstRow="1" bandRow="1">
                <a:tableStyleId>{5C22544A-7EE6-4342-B048-85BDC9FD1C3A}</a:tableStyleId>
              </a:tblPr>
              <a:tblGrid>
                <a:gridCol w="806704"/>
                <a:gridCol w="4588256"/>
              </a:tblGrid>
              <a:tr h="262890">
                <a:tc>
                  <a:txBody>
                    <a:bodyPr wrap="square"/>
                    <a:lstStyle/>
                    <a:p>
                      <a:r>
                        <a:rPr sz="1000" b="1">
                          <a:solidFill>
                            <a:srgbClr val="FFFFFF"/>
                          </a:solidFill>
                          <a:latin typeface="Arial"/>
                        </a:rPr>
                        <a:t>part</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focuser L2</a:t>
                      </a:r>
                    </a:p>
                  </a:txBody>
                  <a:tcPr marL="54864" marR="54864" marT="18288" marB="18288">
                    <a:solidFill>
                      <a:srgbClr val="FFFFFF"/>
                    </a:solidFill>
                  </a:tcPr>
                </a:tc>
                <a:tc>
                  <a:txBody>
                    <a:bodyPr wrap="square"/>
                    <a:lstStyle/>
                    <a:p>
                      <a:r>
                        <a:rPr sz="1000" b="0">
                          <a:solidFill>
                            <a:srgbClr val="282828"/>
                          </a:solidFill>
                          <a:latin typeface="Arial"/>
                        </a:rPr>
                        <a:t>f 429 mm, 103 mm; internal focus at F/4.2; modeled 8 mm center, to be real</a:t>
                      </a:r>
                    </a:p>
                  </a:txBody>
                  <a:tcPr marL="54864" marR="54864" marT="18288" marB="18288">
                    <a:solidFill>
                      <a:srgbClr val="FFFFFF"/>
                    </a:solidFill>
                  </a:tcPr>
                </a:tc>
              </a:tr>
              <a:tr h="262890">
                <a:tc>
                  <a:txBody>
                    <a:bodyPr wrap="square"/>
                    <a:lstStyle/>
                    <a:p>
                      <a:r>
                        <a:rPr sz="1000" b="0">
                          <a:solidFill>
                            <a:srgbClr val="282828"/>
                          </a:solidFill>
                          <a:latin typeface="Arial"/>
                        </a:rPr>
                        <a:t>field lens</a:t>
                      </a:r>
                    </a:p>
                  </a:txBody>
                  <a:tcPr marL="54864" marR="54864" marT="18288" marB="18288">
                    <a:solidFill>
                      <a:srgbClr val="ECF1F6"/>
                    </a:solidFill>
                  </a:tcPr>
                </a:tc>
                <a:tc>
                  <a:txBody>
                    <a:bodyPr wrap="square"/>
                    <a:lstStyle/>
                    <a:p>
                      <a:r>
                        <a:rPr sz="1000" b="0">
                          <a:solidFill>
                            <a:srgbClr val="282828"/>
                          </a:solidFill>
                          <a:latin typeface="Arial"/>
                        </a:rPr>
                        <a:t>f 43 mm, 21 mm; pupil image 9.4 mm, 32 mm behind it</a:t>
                      </a:r>
                    </a:p>
                  </a:txBody>
                  <a:tcPr marL="54864" marR="54864" marT="18288" marB="18288">
                    <a:solidFill>
                      <a:srgbClr val="ECF1F6"/>
                    </a:solidFill>
                  </a:tcPr>
                </a:tc>
              </a:tr>
              <a:tr h="434340">
                <a:tc>
                  <a:txBody>
                    <a:bodyPr wrap="square"/>
                    <a:lstStyle/>
                    <a:p>
                      <a:r>
                        <a:rPr sz="1000" b="0">
                          <a:solidFill>
                            <a:srgbClr val="282828"/>
                          </a:solidFill>
                          <a:latin typeface="Arial"/>
                        </a:rPr>
                        <a:t>camera</a:t>
                      </a:r>
                    </a:p>
                  </a:txBody>
                  <a:tcPr marL="54864" marR="54864" marT="18288" marB="18288">
                    <a:solidFill>
                      <a:srgbClr val="FFFFFF"/>
                    </a:solidFill>
                  </a:tcPr>
                </a:tc>
                <a:tc>
                  <a:txBody>
                    <a:bodyPr wrap="square"/>
                    <a:lstStyle/>
                    <a:p>
                      <a:r>
                        <a:rPr sz="1000" b="0">
                          <a:solidFill>
                            <a:srgbClr val="282828"/>
                          </a:solidFill>
                          <a:latin typeface="Arial"/>
                        </a:rPr>
                        <a:t>pupil image 9.4 mm: a 6.5 µm sCMOS puts 1450 pixels across it, binned 4 to the modeled 385 (5 per actuator)</a:t>
                      </a:r>
                    </a:p>
                  </a:txBody>
                  <a:tcPr marL="54864" marR="54864" marT="18288" marB="18288">
                    <a:solidFill>
                      <a:srgbClr val="FFFFFF"/>
                    </a:solidFill>
                  </a:tcPr>
                </a:tc>
              </a:tr>
              <a:tr h="262890">
                <a:tc>
                  <a:txBody>
                    <a:bodyPr wrap="square"/>
                    <a:lstStyle/>
                    <a:p>
                      <a:r>
                        <a:rPr sz="1000" b="0">
                          <a:solidFill>
                            <a:srgbClr val="282828"/>
                          </a:solidFill>
                          <a:latin typeface="Arial"/>
                        </a:rPr>
                        <a:t>mask seat</a:t>
                      </a:r>
                    </a:p>
                  </a:txBody>
                  <a:tcPr marL="54864" marR="54864" marT="18288" marB="18288">
                    <a:solidFill>
                      <a:srgbClr val="ECF1F6"/>
                    </a:solidFill>
                  </a:tcPr>
                </a:tc>
                <a:tc>
                  <a:txBody>
                    <a:bodyPr wrap="square"/>
                    <a:lstStyle/>
                    <a:p>
                      <a:r>
                        <a:rPr sz="1000" b="0">
                          <a:solidFill>
                            <a:srgbClr val="282828"/>
                          </a:solidFill>
                          <a:latin typeface="Arial"/>
                        </a:rPr>
                        <a:t>one substrate at the internal focus, translated to select the sensor</a:t>
                      </a:r>
                    </a:p>
                  </a:txBody>
                  <a:tcPr marL="54864" marR="54864" marT="18288" marB="18288">
                    <a:solidFill>
                      <a:srgbClr val="ECF1F6"/>
                    </a:solidFill>
                  </a:tcPr>
                </a:tc>
              </a:tr>
            </a:tbl>
          </a:graphicData>
        </a:graphic>
      </p:graphicFrame>
      <p:sp>
        <p:nvSpPr>
          <p:cNvPr id="8" name="TextBox 7"/>
          <p:cNvSpPr txBox="1"/>
          <p:nvPr/>
        </p:nvSpPr>
        <p:spPr>
          <a:xfrm>
            <a:off x="6400800" y="5900166"/>
            <a:ext cx="5394960"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stage, 564 mm leg) is the interferometer's; shuttered, the same bench is every other sensor.  Lenses, not off-axis mirrors: the choice is priced on the lenses-versus-mirrors slide.  The drawings are to scale: the model's parts are the 56 mm rig's scaled up, thinner than 103 mm optics can be built; the next model round gives every part its real thickness.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tail,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962404"/>
                <a:gridCol w="3763129"/>
                <a:gridCol w="2180336"/>
                <a:gridCol w="509524"/>
                <a:gridCol w="2953341"/>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modeled 2.6 mm, to be 10 mm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46863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468630">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468630">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(9.4 mm) 32 mm behind it</a:t>
                      </a:r>
                    </a:p>
                  </a:txBody>
                  <a:tcPr marL="54864" marR="54864" marT="18288" marB="18288">
                    <a:solidFill>
                      <a:srgbClr val="ECF1F6"/>
                    </a:solidFill>
                  </a:tcPr>
                </a:tc>
              </a:tr>
              <a:tr h="468630">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binned 4 to 385 pixels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468630">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The tail (focuser, mask seat, field lens, camera) is tuned once and shared; only the mask seat's contents and what follows the field lens change between configurations.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59675" y="1298448"/>
            <a:ext cx="5872343"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rows and the servo use the calibrated estimate.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9.4 mm pupil image; a 6.5 µm sCMOS (13 mm sensor) binned 4</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9.4 mm pupil image 32 mm behind the field lens would need a 17° split for side-by-side images, past a calcite prism's limit.  Run tags v193base, vloop193.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tail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2555258" y="1298448"/>
            <a:ext cx="7081177" cy="3994912"/>
          </a:xfrm>
          <a:prstGeom prst="rect">
            <a:avLst/>
          </a:prstGeom>
        </p:spPr>
      </p:pic>
      <p:sp>
        <p:nvSpPr>
          <p:cNvPr id="5" name="TextBox 4"/>
          <p:cNvSpPr txBox="1"/>
          <p:nvPr/>
        </p:nvSpPr>
        <p:spPr>
          <a:xfrm>
            <a:off x="411480" y="531164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742431"/>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the rows on the same surface read 0.9935 / 4 pm through the matrix.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tail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428875"/>
        </p:xfrm>
        <a:graphic>
          <a:graphicData uri="http://schemas.openxmlformats.org/drawingml/2006/table">
            <a:tbl>
              <a:tblPr firstRow="1" bandRow="1">
                <a:tableStyleId>{5C22544A-7EE6-4342-B048-85BDC9FD1C3A}</a:tableStyleId>
              </a:tblPr>
              <a:tblGrid>
                <a:gridCol w="2035048"/>
                <a:gridCol w="5293733"/>
                <a:gridCol w="403995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bl>
          </a:graphicData>
        </a:graphic>
      </p:graphicFrame>
      <p:sp>
        <p:nvSpPr>
          <p:cNvPr id="5" name="TextBox 4"/>
          <p:cNvSpPr txBox="1"/>
          <p:nvPr/>
        </p:nvSpPr>
        <p:spPr>
          <a:xfrm>
            <a:off x="411480" y="3873627"/>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4793361"/>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06065"/>
        </p:xfrm>
        <a:graphic>
          <a:graphicData uri="http://schemas.openxmlformats.org/drawingml/2006/table">
            <a:tbl>
              <a:tblPr firstRow="1" bandRow="1">
                <a:tableStyleId>{5C22544A-7EE6-4342-B048-85BDC9FD1C3A}</a:tableStyleId>
              </a:tblPr>
              <a:tblGrid>
                <a:gridCol w="1696263"/>
                <a:gridCol w="1891986"/>
                <a:gridCol w="221819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1.5e12 photons per cycle, the pinhole and stepped Zernike from 2.3-2.6e12, the interferometer from 5.5e12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6" cy="3371850"/>
        </p:xfrm>
        <a:graphic>
          <a:graphicData uri="http://schemas.openxmlformats.org/drawingml/2006/table">
            <a:tbl>
              <a:tblPr firstRow="1" bandRow="1">
                <a:tableStyleId>{5C22544A-7EE6-4342-B048-85BDC9FD1C3A}</a:tableStyleId>
              </a:tblPr>
              <a:tblGrid>
                <a:gridCol w="1063150"/>
                <a:gridCol w="654246"/>
                <a:gridCol w="1308493"/>
                <a:gridCol w="1349383"/>
                <a:gridCol w="143116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about 10 pm is the loop's lag at this gain, the same for every reading that has no fixed error.  The exact one-frame Zernike reading diverges in the loop.  Run tags vloop193, ploop193, loop193, pfdeck_loop, loop_lens, loop_oap.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60445"/>
        </p:xfrm>
        <a:graphic>
          <a:graphicData uri="http://schemas.openxmlformats.org/drawingml/2006/table">
            <a:tbl>
              <a:tblPr firstRow="1" bandRow="1">
                <a:tableStyleId>{5C22544A-7EE6-4342-B048-85BDC9FD1C3A}</a:tableStyleId>
              </a:tblPr>
              <a:tblGrid>
                <a:gridCol w="1324959"/>
                <a:gridCol w="1130112"/>
                <a:gridCol w="335136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in the front end</a:t>
            </a:r>
          </a:p>
          <a:p>
            <a:pPr>
              <a:spcAft>
                <a:spcPts val="0"/>
              </a:spcAft>
            </a:pPr>
            <a:r>
              <a:rPr sz="1250" b="0">
                <a:solidFill>
                  <a:srgbClr val="6E6E6E"/>
                </a:solidFill>
                <a:latin typeface="Arial"/>
              </a:rPr>
              <a:t>The reflective rig is the budget choice; it costs the interferometer its servo and its capture, and it breaks the focus-critical sensors: the mirror fold's coma at the mask seat is 0.8 λF/D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mirror rig's fold is in the same plane as the splitter's, and its residual astigmatism and coma leak between the mirror's modes.  Open-loop rows tolerate it; a servo does not.</a:t>
            </a:r>
          </a:p>
          <a:p>
            <a:pPr>
              <a:spcAft>
                <a:spcPts val="600"/>
              </a:spcAft>
            </a:pPr>
            <a:r>
              <a:rPr sz="1200" b="0">
                <a:solidFill>
                  <a:srgbClr val="282828"/>
                </a:solidFill>
                <a:latin typeface="Arial"/>
              </a:rPr>
              <a:t>•  At the mask seat the fold coma blurs the focus to 1.1 λF/D once the seat is refocused (a 6.1 mm trim, the collimator's residual defocus refocused by the focuser).  The more focus-critical the mask feature, the worse: the 2 λF/D dimple survives, the polarized dimple degrades, the pinhole breaks.</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the seat-trim solve is in tg_psi_dm96_oap/REPORT_gauge_ifo.md section 4.  Astigmatism scales with the fold angle squared: halving it lengthens the leg 1.33×.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889760"/>
                <a:gridCol w="2537301"/>
                <a:gridCol w="4404372"/>
                <a:gridCol w="2537301"/>
              </a:tblGrid>
              <a:tr h="468630">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gain +11.7% (plate); 2.1% (cube, naive stack)</a:t>
                      </a:r>
                    </a:p>
                  </a:txBody>
                  <a:tcPr marL="54864" marR="54864" marT="18288" marB="18288">
                    <a:solidFill>
                      <a:srgbClr val="FFFFFF"/>
                    </a:solidFill>
                  </a:tcPr>
                </a:tc>
                <a:tc>
                  <a:txBody>
                    <a:bodyPr wrap="square"/>
                    <a:lstStyle/>
                    <a:p>
                      <a:r>
                        <a:rPr sz="1100" b="0">
                          <a:solidFill>
                            <a:srgbClr val="282828"/>
                          </a:solidFill>
                          <a:latin typeface="Arial"/>
                        </a:rPr>
                        <a:t>analyzer sweep nulls to 1.00000;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280035">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lenses.  The mirror rig's fold coma walls the servo and breaks the pinhole.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gate G9.  On orbit with starlight, the field's amplitude is what the second mirror's control needs.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436880"/>
                <a:gridCol w="2856711"/>
                <a:gridCol w="2512848"/>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tail tune;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65722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440305"/>
        </p:xfrm>
        <a:graphic>
          <a:graphicData uri="http://schemas.openxmlformats.org/drawingml/2006/table">
            <a:tbl>
              <a:tblPr firstRow="1" bandRow="1">
                <a:tableStyleId>{5C22544A-7EE6-4342-B048-85BDC9FD1C3A}</a:tableStyleId>
              </a:tblPr>
              <a:tblGrid>
                <a:gridCol w="1671828"/>
                <a:gridCol w="1457338"/>
                <a:gridCol w="1765621"/>
                <a:gridCol w="6473946"/>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657225">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the splitter's diattenuation rotates the test arm 7.5°, gain +11.7%, nulled to 1.00000 by an analyzer sweep and a 3.8° plate clock; cube rig: R_p 2.1% for a naive stack, 0 for the symmetric one, 2.27× the delivered power</a:t>
                      </a:r>
                    </a:p>
                  </a:txBody>
                  <a:tcPr marL="54864" marR="54864" marT="18288" marB="18288">
                    <a:solidFill>
                      <a:srgbClr val="ECF1F6"/>
                    </a:solidFill>
                  </a:tcPr>
                </a:tc>
              </a:tr>
              <a:tr h="657225">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388505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tuned tail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2946123"/>
                <a:gridCol w="3371045"/>
                <a:gridCol w="35976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tail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tail</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Report REPORT_gauge_ifo.md (CCMac), with REPORT_oap.md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