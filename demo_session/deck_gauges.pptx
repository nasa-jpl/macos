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3 One optical bench to demo 4 surface gauges, in mirror and lens forms</a:t>
            </a:r>
          </a:p>
          <a:p>
            <a:pPr>
              <a:spcAft>
                <a:spcPts val="600"/>
              </a:spcAft>
            </a:pPr>
            <a:r>
              <a:rPr sz="1500" b="0">
                <a:solidFill>
                  <a:srgbClr val="282828"/>
                </a:solidFill>
                <a:latin typeface="Arial"/>
              </a:rPr>
              <a:t>•  4 Introduction: the three jobs and how they are scored</a:t>
            </a:r>
          </a:p>
          <a:p>
            <a:pPr>
              <a:spcAft>
                <a:spcPts val="600"/>
              </a:spcAft>
            </a:pPr>
            <a:r>
              <a:rPr sz="1500" b="0">
                <a:solidFill>
                  <a:srgbClr val="282828"/>
                </a:solidFill>
                <a:latin typeface="Arial"/>
              </a:rPr>
              <a:t>•  5 The bench layout</a:t>
            </a:r>
          </a:p>
          <a:p>
            <a:pPr>
              <a:spcAft>
                <a:spcPts val="600"/>
              </a:spcAft>
            </a:pPr>
            <a:r>
              <a:rPr sz="1500" b="0">
                <a:solidFill>
                  <a:srgbClr val="282828"/>
                </a:solidFill>
                <a:latin typeface="Arial"/>
              </a:rPr>
              <a:t>•  7 Parts: the front end and the detector leg</a:t>
            </a:r>
          </a:p>
          <a:p>
            <a:pPr>
              <a:spcAft>
                <a:spcPts val="600"/>
              </a:spcAft>
            </a:pPr>
            <a:r>
              <a:rPr sz="1500" b="0">
                <a:solidFill>
                  <a:srgbClr val="282828"/>
                </a:solidFill>
                <a:latin typeface="Arial"/>
              </a:rPr>
              <a:t>•  9 Parts: the interferometer and the sensors</a:t>
            </a:r>
          </a:p>
          <a:p>
            <a:pPr>
              <a:spcAft>
                <a:spcPts val="600"/>
              </a:spcAft>
            </a:pPr>
            <a:r>
              <a:rPr sz="1500" b="0">
                <a:solidFill>
                  <a:srgbClr val="282828"/>
                </a:solidFill>
                <a:latin typeface="Arial"/>
              </a:rPr>
              <a:t>•  11 Twyman-Green interferometer</a:t>
            </a:r>
          </a:p>
          <a:p>
            <a:pPr>
              <a:spcAft>
                <a:spcPts val="600"/>
              </a:spcAft>
            </a:pPr>
            <a:r>
              <a:rPr sz="1500" b="0">
                <a:solidFill>
                  <a:srgbClr val="282828"/>
                </a:solidFill>
                <a:latin typeface="Arial"/>
              </a:rPr>
              <a:t>•  17 Zernike sensor</a:t>
            </a:r>
          </a:p>
          <a:p>
            <a:pPr>
              <a:spcAft>
                <a:spcPts val="600"/>
              </a:spcAft>
            </a:pPr>
            <a:r>
              <a:rPr sz="1500" b="0">
                <a:solidFill>
                  <a:srgbClr val="282828"/>
                </a:solidFill>
                <a:latin typeface="Arial"/>
              </a:rPr>
              <a:t>•  19 Vector Zernike sensor</a:t>
            </a:r>
          </a:p>
          <a:p>
            <a:pPr>
              <a:spcAft>
                <a:spcPts val="600"/>
              </a:spcAft>
            </a:pPr>
            <a:r>
              <a:rPr sz="1500" b="0">
                <a:solidFill>
                  <a:srgbClr val="282828"/>
                </a:solidFill>
                <a:latin typeface="Arial"/>
              </a:rPr>
              <a:t>•  22 Point-diffraction sensor</a:t>
            </a:r>
          </a:p>
          <a:p>
            <a:pPr>
              <a:spcAft>
                <a:spcPts val="600"/>
              </a:spcAft>
            </a:pPr>
            <a:r>
              <a:rPr sz="1500" b="0">
                <a:solidFill>
                  <a:srgbClr val="282828"/>
                </a:solidFill>
                <a:latin typeface="Arial"/>
              </a:rPr>
              <a:t>•  25 Performance: rows, capture, photons, servo</a:t>
            </a:r>
          </a:p>
          <a:p>
            <a:pPr>
              <a:spcAft>
                <a:spcPts val="600"/>
              </a:spcAft>
            </a:pPr>
            <a:r>
              <a:rPr sz="1500" b="0">
                <a:solidFill>
                  <a:srgbClr val="282828"/>
                </a:solidFill>
                <a:latin typeface="Arial"/>
              </a:rPr>
              <a:t>•  31 Lenses versus off-axis parabolas</a:t>
            </a:r>
          </a:p>
          <a:p>
            <a:pPr>
              <a:spcAft>
                <a:spcPts val="600"/>
              </a:spcAft>
            </a:pPr>
            <a:r>
              <a:rPr sz="1500" b="0">
                <a:solidFill>
                  <a:srgbClr val="282828"/>
                </a:solidFill>
                <a:latin typeface="Arial"/>
              </a:rPr>
              <a:t>•  32 The reflective front end</a:t>
            </a:r>
          </a:p>
          <a:p>
            <a:pPr>
              <a:spcAft>
                <a:spcPts val="600"/>
              </a:spcAft>
            </a:pPr>
            <a:r>
              <a:rPr sz="1500" b="0">
                <a:solidFill>
                  <a:srgbClr val="282828"/>
                </a:solidFill>
                <a:latin typeface="Arial"/>
              </a:rPr>
              <a:t>•  33 Comparison and recommendation</a:t>
            </a:r>
          </a:p>
          <a:p>
            <a:pPr>
              <a:spcAft>
                <a:spcPts val="600"/>
              </a:spcAft>
            </a:pPr>
            <a:r>
              <a:rPr sz="1500" b="0">
                <a:solidFill>
                  <a:srgbClr val="282828"/>
                </a:solidFill>
                <a:latin typeface="Arial"/>
              </a:rPr>
              <a:t>•  36 Measuring the complex amplitude</a:t>
            </a:r>
          </a:p>
          <a:p>
            <a:pPr>
              <a:spcAft>
                <a:spcPts val="600"/>
              </a:spcAft>
            </a:pPr>
            <a:r>
              <a:rPr sz="1500" b="0">
                <a:solidFill>
                  <a:srgbClr val="282828"/>
                </a:solidFill>
                <a:latin typeface="Arial"/>
              </a:rPr>
              <a:t>•  37 Summary and future work</a:t>
            </a:r>
          </a:p>
          <a:p>
            <a:pPr>
              <a:spcAft>
                <a:spcPts val="600"/>
              </a:spcAft>
            </a:pPr>
            <a:r>
              <a:rPr sz="1500" b="0">
                <a:solidFill>
                  <a:srgbClr val="282828"/>
                </a:solidFill>
                <a:latin typeface="Arial"/>
              </a:rPr>
              <a:t>•  42 Run it yourself</a:t>
            </a:r>
          </a:p>
          <a:p>
            <a:pPr>
              <a:spcAft>
                <a:spcPts val="600"/>
              </a:spcAft>
            </a:pPr>
            <a:r>
              <a:rPr sz="1500" b="0">
                <a:solidFill>
                  <a:srgbClr val="282828"/>
                </a:solidFill>
                <a:latin typeface="Arial"/>
              </a:rPr>
              <a:t>•  43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960245"/>
        </p:xfrm>
        <a:graphic>
          <a:graphicData uri="http://schemas.openxmlformats.org/drawingml/2006/table">
            <a:tbl>
              <a:tblPr firstRow="1" bandRow="1">
                <a:tableStyleId>{5C22544A-7EE6-4342-B048-85BDC9FD1C3A}</a:tableStyleId>
              </a:tblPr>
              <a:tblGrid>
                <a:gridCol w="1090676"/>
                <a:gridCol w="7951419"/>
                <a:gridCol w="1163320"/>
                <a:gridCol w="1163320"/>
              </a:tblGrid>
              <a:tr h="280035">
                <a:tc>
                  <a:txBody>
                    <a:bodyPr wrap="square"/>
                    <a:lstStyle/>
                    <a:p>
                      <a:r>
                        <a:rPr sz="1100" b="1">
                          <a:solidFill>
                            <a:srgbClr val="FFFFFF"/>
                          </a:solidFill>
                          <a:latin typeface="Arial"/>
                        </a:rPr>
                        <a:t>the claim</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280035">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the imaging's error in reading a 30 nm working surface, piston and tilt removed</a:t>
                      </a:r>
                    </a:p>
                  </a:txBody>
                  <a:tcPr marL="54864" marR="54864" marT="18288" marB="18288">
                    <a:solidFill>
                      <a:srgbClr val="FFFFFF"/>
                    </a:solidFill>
                  </a:tcPr>
                </a:tc>
                <a:tc>
                  <a:txBody>
                    <a:bodyPr wrap="square"/>
                    <a:lstStyle/>
                    <a:p>
                      <a:r>
                        <a:rPr sz="1100" b="0">
                          <a:solidFill>
                            <a:srgbClr val="282828"/>
                          </a:solidFill>
                          <a:latin typeface="Arial"/>
                        </a:rPr>
                        <a:t>0.13 % (42 pm)</a:t>
                      </a:r>
                    </a:p>
                  </a:txBody>
                  <a:tcPr marL="54864" marR="54864" marT="18288" marB="18288">
                    <a:solidFill>
                      <a:srgbClr val="FFFFFF"/>
                    </a:solidFill>
                  </a:tcPr>
                </a:tc>
                <a:tc>
                  <a:txBody>
                    <a:bodyPr wrap="square"/>
                    <a:lstStyle/>
                    <a:p>
                      <a:r>
                        <a:rPr sz="1100" b="0">
                          <a:solidFill>
                            <a:srgbClr val="282828"/>
                          </a:solidFill>
                          <a:latin typeface="Arial"/>
                        </a:rPr>
                        <a:t>0.29 % (92 pm)</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in the top spatial band (at the actuator Nyquist)</a:t>
                      </a:r>
                    </a:p>
                  </a:txBody>
                  <a:tcPr marL="54864" marR="54864" marT="18288" marB="18288">
                    <a:solidFill>
                      <a:srgbClr val="ECF1F6"/>
                    </a:solidFill>
                  </a:tcPr>
                </a:tc>
                <a:tc>
                  <a:txBody>
                    <a:bodyPr wrap="square"/>
                    <a:lstStyle/>
                    <a:p>
                      <a:r>
                        <a:rPr sz="1100" b="0">
                          <a:solidFill>
                            <a:srgbClr val="282828"/>
                          </a:solidFill>
                          <a:latin typeface="Arial"/>
                        </a:rPr>
                        <a:t>0.5 %</a:t>
                      </a:r>
                    </a:p>
                  </a:txBody>
                  <a:tcPr marL="54864" marR="54864" marT="18288" marB="18288">
                    <a:solidFill>
                      <a:srgbClr val="ECF1F6"/>
                    </a:solidFill>
                  </a:tcPr>
                </a:tc>
                <a:tc>
                  <a:txBody>
                    <a:bodyPr wrap="square"/>
                    <a:lstStyle/>
                    <a:p>
                      <a:r>
                        <a:rPr sz="1100" b="0">
                          <a:solidFill>
                            <a:srgbClr val="282828"/>
                          </a:solidFill>
                          <a:latin typeface="Arial"/>
                        </a:rPr>
                        <a:t>0.9 %</a:t>
                      </a:r>
                    </a:p>
                  </a:txBody>
                  <a:tcPr marL="54864" marR="54864" marT="18288" marB="18288">
                    <a:solidFill>
                      <a:srgbClr val="ECF1F6"/>
                    </a:solidFill>
                  </a:tcPr>
                </a:tc>
              </a:tr>
              <a:tr h="280035">
                <a:tc>
                  <a:txBody>
                    <a:bodyPr wrap="square"/>
                    <a:lstStyle/>
                    <a:p>
                      <a:r>
                        <a:rPr sz="1100" b="0">
                          <a:solidFill>
                            <a:srgbClr val="282828"/>
                          </a:solidFill>
                          <a:latin typeface="Arial"/>
                        </a:rPr>
                        <a:t>precision</a:t>
                      </a:r>
                    </a:p>
                  </a:txBody>
                  <a:tcPr marL="54864" marR="54864" marT="18288" marB="18288">
                    <a:solidFill>
                      <a:srgbClr val="FFFFFF"/>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FFFFFF"/>
                    </a:solidFill>
                  </a:tcPr>
                </a:tc>
                <a:tc>
                  <a:txBody>
                    <a:bodyPr wrap="square"/>
                    <a:lstStyle/>
                    <a:p>
                      <a:r>
                        <a:rPr sz="1100" b="0">
                          <a:solidFill>
                            <a:srgbClr val="282828"/>
                          </a:solidFill>
                          <a:latin typeface="Arial"/>
                        </a:rPr>
                        <a:t>2.3 / 0.7 pm</a:t>
                      </a:r>
                    </a:p>
                  </a:txBody>
                  <a:tcPr marL="54864" marR="54864" marT="18288" marB="18288">
                    <a:solidFill>
                      <a:srgbClr val="FFFFFF"/>
                    </a:solidFill>
                  </a:tcPr>
                </a:tc>
                <a:tc>
                  <a:txBody>
                    <a:bodyPr wrap="square"/>
                    <a:lstStyle/>
                    <a:p>
                      <a:r>
                        <a:rPr sz="1100" b="0">
                          <a:solidFill>
                            <a:srgbClr val="282828"/>
                          </a:solidFill>
                          <a:latin typeface="Arial"/>
                        </a:rPr>
                        <a:t>2.1 / 0.7 pm</a:t>
                      </a:r>
                    </a:p>
                  </a:txBody>
                  <a:tcPr marL="54864" marR="54864" marT="18288" marB="18288">
                    <a:solidFill>
                      <a:srgbClr val="FFFFFF"/>
                    </a:solidFill>
                  </a:tcPr>
                </a:tc>
              </a:tr>
              <a:tr h="280035">
                <a:tc>
                  <a:txBody>
                    <a:bodyPr wrap="square"/>
                    <a:lstStyle/>
                    <a:p>
                      <a:r>
                        <a:rPr sz="1100" b="0">
                          <a:solidFill>
                            <a:srgbClr val="282828"/>
                          </a:solidFill>
                          <a:latin typeface="Arial"/>
                        </a:rPr>
                        <a:t>repeatability</a:t>
                      </a:r>
                    </a:p>
                  </a:txBody>
                  <a:tcPr marL="54864" marR="54864" marT="18288" marB="18288">
                    <a:solidFill>
                      <a:srgbClr val="ECF1F6"/>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ECF1F6"/>
                    </a:solidFill>
                  </a:tcPr>
                </a:tc>
                <a:tc>
                  <a:txBody>
                    <a:bodyPr wrap="square"/>
                    <a:lstStyle/>
                    <a:p>
                      <a:r>
                        <a:rPr sz="1100" b="0">
                          <a:solidFill>
                            <a:srgbClr val="282828"/>
                          </a:solidFill>
                          <a:latin typeface="Arial"/>
                        </a:rPr>
                        <a:t>1.4 / 0.5 pm</a:t>
                      </a:r>
                    </a:p>
                  </a:txBody>
                  <a:tcPr marL="54864" marR="54864" marT="18288" marB="18288">
                    <a:solidFill>
                      <a:srgbClr val="ECF1F6"/>
                    </a:solidFill>
                  </a:tcPr>
                </a:tc>
                <a:tc>
                  <a:txBody>
                    <a:bodyPr wrap="square"/>
                    <a:lstStyle/>
                    <a:p>
                      <a:r>
                        <a:rPr sz="1100" b="0">
                          <a:solidFill>
                            <a:srgbClr val="282828"/>
                          </a:solidFill>
                          <a:latin typeface="Arial"/>
                        </a:rPr>
                        <a:t>1.3 / 0.4 pm</a:t>
                      </a:r>
                    </a:p>
                  </a:txBody>
                  <a:tcPr marL="54864" marR="54864" marT="18288" marB="18288">
                    <a:solidFill>
                      <a:srgbClr val="ECF1F6"/>
                    </a:solidFill>
                  </a:tcPr>
                </a:tc>
              </a:tr>
              <a:tr h="280035">
                <a:tc>
                  <a:txBody>
                    <a:bodyPr wrap="square"/>
                    <a:lstStyle/>
                    <a:p>
                      <a:r>
                        <a:rPr sz="1100" b="0">
                          <a:solidFill>
                            <a:srgbClr val="282828"/>
                          </a:solidFill>
                          <a:latin typeface="Arial"/>
                        </a:rPr>
                        <a:t>hold</a:t>
                      </a:r>
                    </a:p>
                  </a:txBody>
                  <a:tcPr marL="54864" marR="54864" marT="18288" marB="18288">
                    <a:solidFill>
                      <a:srgbClr val="FFFFFF"/>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2.0e13</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ECF1F6"/>
                    </a:solidFill>
                  </a:tcPr>
                </a:tc>
                <a:tc>
                  <a:txBody>
                    <a:bodyPr wrap="square"/>
                    <a:lstStyle/>
                    <a:p>
                      <a:r>
                        <a:rPr sz="1100" b="0">
                          <a:solidFill>
                            <a:srgbClr val="282828"/>
                          </a:solidFill>
                          <a:latin typeface="Arial"/>
                        </a:rPr>
                        <a:t>7.1e13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Picometer measurement is photon-limited, not bench-limited.  One measurement at 1e15 photons — 0.31 mJ, about 1.3 s of a 1 mW laser — repeats to 0.7 pm, and a servo fed at that rate holds under half a picometer.  Both front ends agree to within 10 %.  For scale, Steeves et al. (2020, Optica 7, 1267) demonstrate 1.6 pm in 4.3 s on a real interferometer: ours is photon-limited only, carrying no vibration, thermal drift or detector systematics, so it is the floor this design allows rather than a prediction of the built bench — and agreeing within a factor of two is the check that the model is in the right regime.</a:t>
            </a:r>
          </a:p>
          <a:p>
            <a:pPr>
              <a:spcAft>
                <a:spcPts val="600"/>
              </a:spcAft>
            </a:pPr>
            <a:r>
              <a:rPr sz="1500" b="0">
                <a:solidFill>
                  <a:srgbClr val="282828"/>
                </a:solidFill>
                <a:latin typeface="Arial"/>
              </a:rPr>
              <a:t>•  Accuracy is systematic and proportional — a fraction of the figure read, so 30 nm costs tens of picometers and a 200 nm capture figure costs hundreds.  It holds because the response matrix is measured on the surface, not assumed geometric.</a:t>
            </a:r>
          </a:p>
          <a:p>
            <a:pPr>
              <a:spcAft>
                <a:spcPts val="600"/>
              </a:spcAft>
            </a:pPr>
            <a:r>
              <a:rPr sz="1500" b="0">
                <a:solidFill>
                  <a:srgbClr val="282828"/>
                </a:solidFill>
                <a:latin typeface="Arial"/>
              </a:rPr>
              <a:t>•  One disturbance is not photon-limited: under a 5 pm per cycle thermal ramp the loop lags at about 10 pm however many photons it is given — a cadence and thermal-control requirement, not a sensing one.</a:t>
            </a:r>
          </a:p>
        </p:txBody>
      </p:sp>
      <p:sp>
        <p:nvSpPr>
          <p:cNvPr id="6" name="TextBox 5"/>
          <p:cNvSpPr txBox="1"/>
          <p:nvPr/>
        </p:nvSpPr>
        <p:spPr>
          <a:xfrm>
            <a:off x="457200" y="5989320"/>
            <a:ext cx="11365992" cy="274320"/>
          </a:xfrm>
          <a:prstGeom prst="rect">
            <a:avLst/>
          </a:prstGeom>
          <a:noFill/>
        </p:spPr>
        <p:txBody>
          <a:bodyPr wrap="square">
            <a:spAutoFit/>
          </a:bodyPr>
          <a:lstStyle/>
          <a:p>
            <a:pPr>
              <a:spcAft>
                <a:spcPts val="600"/>
              </a:spcAft>
            </a:pPr>
            <a:r>
              <a:rPr sz="1050" b="0">
                <a:solidFill>
                  <a:srgbClr val="6E6E6E"/>
                </a:solidFill>
                <a:latin typeface="Arial"/>
              </a:rPr>
              <a:t>A 10 nm single-actuator change — what the servo actually corrects — reads against truth to 1.5 pm at gain 1.001 on lenses and 1.8 pm at 0.993 on mirrors.  Every number here is a committed run of the shared model; the run tags are on the provenance slide and each is repeated on the slide that derives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Job 2, capture: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927811" y="1298448"/>
            <a:ext cx="2773776"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 run in progress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redo96_oapsens; the priced comparison is on the lenses-versus-mirrors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MgF2,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On the 30 nm surface, matrix measured on it (lens rig; mirror rig in parentheses): 10 nm on one actuator 1.004 / 1.4 pm / SNR 7741 (0.986 / 2.3 pm / 6044); 1 nm on 120 sites 0.993 / 10 pm (0.981 / 4.4 pm); dense 10 nm 0.9995, 500 pm (0.977, 698 pm).</a:t>
            </a:r>
          </a:p>
          <a:p>
            <a:pPr>
              <a:spcAft>
                <a:spcPts val="600"/>
              </a:spcAft>
            </a:pPr>
            <a:r>
              <a:rPr sz="1500" b="0">
                <a:solidFill>
                  <a:srgbClr val="282828"/>
                </a:solidFill>
                <a:latin typeface="Arial"/>
              </a:rPr>
              <a:t>•  Servo: 3 pm from 2.3e13 photons per cycle with noise only, 7.1e13 under a 2 pm per-cycle actuator walk (mirror rig 2.0e13 / 6.6e13); a noiseless 1 nm step settles to 0.015 pm (2.8 pm on the mirror rig), so no fixed error.</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the three phase-shift forms are priced in backup (lens_deck_se2).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_stations.png"/>
          <p:cNvPicPr>
            <a:picLocks noChangeAspect="1"/>
          </p:cNvPicPr>
          <p:nvPr/>
        </p:nvPicPr>
        <p:blipFill>
          <a:blip r:embed="rId2"/>
          <a:stretch>
            <a:fillRect/>
          </a:stretch>
        </p:blipFill>
        <p:spPr>
          <a:xfrm>
            <a:off x="2028583" y="1298448"/>
            <a:ext cx="8134528"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 (the mirror rig).  The lens rig's figure exists but its absolute residual reads 51 nm against the engine — a fold of the phase, not an imaging error (its differential rows read the same as the mirror rig's); under investigation, so it is not shown.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Pupil image quality supports picometer measurement on both rigs.  Carried through to a reading it costs 0.13 % of the figure on lenses and 0.29 % on mirrors — 42 and 92 pm on a 30 nm working surface — and 0.5 % / 0.9 %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Method: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The lens rig images the DM flat (0.5 µm of defocus across the pupil) and holds its mapping to a seventh of an actuator pitch.  The mirror rig trades mapping for the front end: the OAP pair distorts the image by more than a pitch at the edge, which the measured matrix absorbs and the numbers above already include.</a:t>
            </a:r>
          </a:p>
          <a:p>
            <a:pPr>
              <a:spcAft>
                <a:spcPts val="600"/>
              </a:spcAft>
            </a:pPr>
            <a:r>
              <a:rPr sz="1200" b="0">
                <a:solidFill>
                  <a:srgbClr val="282828"/>
                </a:solidFill>
                <a:latin typeface="Arial"/>
              </a:rPr>
              <a:t>•  The mirror rig's focus is perfect on axis and coma-limited off it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8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The camera is at the pupil image, and the best detector move from here is −0.00 mm: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On the 30 nm surface, matrix measured on it (mirror rig, 385 px): 10 nm on one actuator 0.993 / 5 pm / SNR 1987; 1 nm on 120 sites 0.995 / 4 pm; dense 10 nm 0.978, 0.75 nm.</a:t>
            </a:r>
          </a:p>
          <a:p>
            <a:pPr>
              <a:spcAft>
                <a:spcPts val="600"/>
              </a:spcAft>
            </a:pPr>
            <a:r>
              <a:rPr sz="15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model's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On the 30 nm surface, matrix measured on it (mirror rig, 385 px): 10 nm on one actuator 1.008 / 2 pm / SNR 6364; 1 nm on 120 sites 1.001 / 4 pm; dense 10 nm 1.0035, 0.44 nm — the best line in the comparison.</a:t>
            </a:r>
          </a:p>
          <a:p>
            <a:pPr>
              <a:spcAft>
                <a:spcPts val="600"/>
              </a:spcAft>
            </a:pPr>
            <a:r>
              <a:rPr sz="15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On the 30 nm surface, matrix measured on it (mirror rig, 385 px): 10 nm on one actuator 0.995 / 3 pm / SNR 3845; 1 nm on 120 sites 0.998 / 3 pm; dense 10 nm 0.994, 313 pm.</a:t>
            </a:r>
          </a:p>
          <a:p>
            <a:pPr>
              <a:spcAft>
                <a:spcPts val="600"/>
              </a:spcAft>
            </a:pPr>
            <a:r>
              <a:rPr sz="15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P/SRI is this sensor's two-arm form and differs from it in more than the phase shifter: a 60/40 pickoff, a reference lens, a 3.7 µm pinhole feeding a single-mode waveguide with a thermo-optic shifter, a recombiner and its own camera — a non-common-path reference where the stepped pinhole's reference shares the plate and the leg.  It pays 6× the photons at null and nothing off null; a capture instrument here, its trade in backup.  Run tags pdi193fbase, ploop193, pdi193state.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74996"/>
                <a:gridCol w="3427339"/>
                <a:gridCol w="2591402"/>
                <a:gridCol w="2674996"/>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0.75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0.44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dense-pattern error is 0.3-0.75 nm for every reading, the interferometer's included; the single-actuator and grid rows, which the servo uses, are at 1-10 pm.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5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06065"/>
        </p:xfrm>
        <a:graphic>
          <a:graphicData uri="http://schemas.openxmlformats.org/drawingml/2006/table">
            <a:tbl>
              <a:tblPr firstRow="1" bandRow="1">
                <a:tableStyleId>{5C22544A-7EE6-4342-B048-85BDC9FD1C3A}</a:tableStyleId>
              </a:tblPr>
              <a:tblGrid>
                <a:gridCol w="2879994"/>
                <a:gridCol w="1347094"/>
                <a:gridCol w="157935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 vector Zernike / Zernike stepped, mirror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8.5e13 / 7.3e13 / 5.8e13</a:t>
                      </a:r>
                    </a:p>
                  </a:txBody>
                  <a:tcPr marL="54864" marR="54864" marT="18288" marB="18288">
                    <a:solidFill>
                      <a:srgbClr val="FFFFFF"/>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2.0-2.3e13,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40055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2.3e13</a:t>
                      </a:r>
                    </a:p>
                  </a:txBody>
                  <a:tcPr marL="54864" marR="54864" marT="18288" marB="18288">
                    <a:solidFill>
                      <a:srgbClr val="ECF1F6"/>
                    </a:solidFill>
                  </a:tcPr>
                </a:tc>
                <a:tc>
                  <a:txBody>
                    <a:bodyPr wrap="square"/>
                    <a:lstStyle/>
                    <a:p>
                      <a:r>
                        <a:rPr sz="1100" b="0">
                          <a:solidFill>
                            <a:srgbClr val="282828"/>
                          </a:solidFill>
                          <a:latin typeface="Arial"/>
                        </a:rPr>
                        <a:t>7.1e13</a:t>
                      </a:r>
                    </a:p>
                  </a:txBody>
                  <a:tcPr marL="54864" marR="54864" marT="18288" marB="18288">
                    <a:solidFill>
                      <a:srgbClr val="ECF1F6"/>
                    </a:solidFill>
                  </a:tcPr>
                </a:tc>
                <a:tc>
                  <a:txBody>
                    <a:bodyPr wrap="square"/>
                    <a:lstStyle/>
                    <a:p>
                      <a:r>
                        <a:rPr sz="1100" b="0">
                          <a:solidFill>
                            <a:srgbClr val="282828"/>
                          </a:solidFill>
                          <a:latin typeface="Arial"/>
                        </a:rPr>
                        <a:t>10.2 pm</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60445"/>
        </p:xfrm>
        <a:graphic>
          <a:graphicData uri="http://schemas.openxmlformats.org/drawingml/2006/table">
            <a:tbl>
              <a:tblPr firstRow="1" bandRow="1">
                <a:tableStyleId>{5C22544A-7EE6-4342-B048-85BDC9FD1C3A}</a:tableStyleId>
              </a:tblPr>
              <a:tblGrid>
                <a:gridCol w="1390274"/>
                <a:gridCol w="1185822"/>
                <a:gridCol w="323034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(run in progress)</a:t>
                      </a:r>
                    </a:p>
                  </a:txBody>
                  <a:tcPr marL="54864" marR="54864" marT="18288" marB="18288">
                    <a:solidFill>
                      <a:srgbClr val="FFFFFF"/>
                    </a:solidFill>
                  </a:tcPr>
                </a:tc>
                <a:tc>
                  <a:txBody>
                    <a:bodyPr wrap="square"/>
                    <a:lstStyle/>
                    <a:p>
                      <a:r>
                        <a:rPr sz="1100" b="0">
                          <a:solidFill>
                            <a:srgbClr val="282828"/>
                          </a:solidFill>
                          <a:latin typeface="Arial"/>
                        </a:rPr>
                        <a:t>unwrap alone</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The interferometer needs no recalibration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capt96_oap (the redesigned mirror rig with the control set inside the DM aperture: 2.98 pm at cycle 60 from 100 and 200 nm, the 30 nm control at 2.97 pm).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read and hold at the same photon cost within 15 %; the mirror rig is achromatic, puts no glass in the beam,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80385"/>
        </p:xfrm>
        <a:graphic>
          <a:graphicData uri="http://schemas.openxmlformats.org/drawingml/2006/table">
            <a:tbl>
              <a:tblPr firstRow="1" bandRow="1">
                <a:tableStyleId>{5C22544A-7EE6-4342-B048-85BDC9FD1C3A}</a:tableStyleId>
              </a:tblPr>
              <a:tblGrid>
                <a:gridCol w="5272838"/>
                <a:gridCol w="2252980"/>
                <a:gridCol w="3842916"/>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2.3e13 / 7.1e13</a:t>
                      </a:r>
                    </a:p>
                  </a:txBody>
                  <a:tcPr marL="54864" marR="54864" marT="18288" marB="18288">
                    <a:solidFill>
                      <a:srgbClr val="ECF1F6"/>
                    </a:solidFill>
                  </a:tcPr>
                </a:tc>
                <a:tc>
                  <a:txBody>
                    <a:bodyPr wrap="square"/>
                    <a:lstStyle/>
                    <a:p>
                      <a:r>
                        <a:rPr sz="1100" b="0">
                          <a:solidFill>
                            <a:srgbClr val="282828"/>
                          </a:solidFill>
                          <a:latin typeface="Arial"/>
                        </a:rPr>
                        <a:t>2.0e13 / 6.6e13</a:t>
                      </a:r>
                    </a:p>
                  </a:txBody>
                  <a:tcPr marL="54864" marR="54864" marT="18288" marB="18288">
                    <a:solidFill>
                      <a:srgbClr val="ECF1F6"/>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c>
                  <a:txBody>
                    <a:bodyPr wrap="square"/>
                    <a:lstStyle/>
                    <a:p>
                      <a:r>
                        <a:rPr sz="1100" b="0">
                          <a:solidFill>
                            <a:srgbClr val="282828"/>
                          </a:solidFill>
                          <a:latin typeface="Arial"/>
                        </a:rPr>
                        <a:t>2.8 pm</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 to 3 pm</a:t>
                      </a:r>
                    </a:p>
                  </a:txBody>
                  <a:tcPr marL="54864" marR="54864" marT="18288" marB="18288">
                    <a:solidFill>
                      <a:srgbClr val="ECF1F6"/>
                    </a:solidFill>
                  </a:tcPr>
                </a:tc>
                <a:tc>
                  <a:txBody>
                    <a:bodyPr wrap="square"/>
                    <a:lstStyle/>
                    <a:p>
                      <a:r>
                        <a:rPr sz="1100" b="0">
                          <a:solidFill>
                            <a:srgbClr val="282828"/>
                          </a:solidFill>
                          <a:latin typeface="Arial"/>
                        </a:rPr>
                        <a:t>(run in progress)</a:t>
                      </a:r>
                    </a:p>
                  </a:txBody>
                  <a:tcPr marL="54864" marR="54864" marT="18288" marB="18288">
                    <a:solidFill>
                      <a:srgbClr val="ECF1F6"/>
                    </a:solidFill>
                  </a:tcPr>
                </a:tc>
                <a:tc>
                  <a:txBody>
                    <a:bodyPr wrap="square"/>
                    <a:lstStyle/>
                    <a:p>
                      <a:r>
                        <a:rPr sz="1100" b="0">
                          <a:solidFill>
                            <a:srgbClr val="282828"/>
                          </a:solidFill>
                          <a:latin typeface="Arial"/>
                        </a:rPr>
                        <a:t>from 100 nm in 19 cycles, from 200 nm in 24</a:t>
                      </a:r>
                    </a:p>
                  </a:txBody>
                  <a:tcPr marL="54864" marR="54864" marT="18288" marB="18288">
                    <a:solidFill>
                      <a:srgbClr val="ECF1F6"/>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FFFFFF"/>
                    </a:solidFill>
                  </a:tcPr>
                </a:tc>
                <a:tc>
                  <a:txBody>
                    <a:bodyPr wrap="square"/>
                    <a:lstStyle/>
                    <a:p>
                      <a:r>
                        <a:rPr sz="1100" b="0">
                          <a:solidFill>
                            <a:srgbClr val="282828"/>
                          </a:solidFill>
                          <a:latin typeface="Arial"/>
                        </a:rPr>
                        <a:t>59 nm</a:t>
                      </a:r>
                    </a:p>
                  </a:txBody>
                  <a:tcPr marL="54864" marR="54864" marT="18288" marB="18288">
                    <a:solidFill>
                      <a:srgbClr val="FFFFFF"/>
                    </a:solidFill>
                  </a:tcPr>
                </a:tc>
                <a:tc>
                  <a:txBody>
                    <a:bodyPr wrap="square"/>
                    <a:lstStyle/>
                    <a:p>
                      <a:r>
                        <a:rPr sz="1100" b="0">
                          <a:solidFill>
                            <a:srgbClr val="282828"/>
                          </a:solidFill>
                          <a:latin typeface="Arial"/>
                        </a:rPr>
                        <a:t>26.5 nm</a:t>
                      </a:r>
                    </a:p>
                  </a:txBody>
                  <a:tcPr marL="54864" marR="54864" marT="18288" marB="18288">
                    <a:solidFill>
                      <a:srgbClr val="FFFFFF"/>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ECF1F6"/>
                    </a:solidFill>
                  </a:tcPr>
                </a:tc>
                <a:tc>
                  <a:txBody>
                    <a:bodyPr wrap="square"/>
                    <a:lstStyle/>
                    <a:p>
                      <a:r>
                        <a:rPr sz="1100" b="0">
                          <a:solidFill>
                            <a:srgbClr val="282828"/>
                          </a:solidFill>
                          <a:latin typeface="Arial"/>
                        </a:rPr>
                        <a:t>(not re-scored on this bench)</a:t>
                      </a:r>
                    </a:p>
                  </a:txBody>
                  <a:tcPr marL="54864" marR="54864" marT="18288" marB="18288">
                    <a:solidFill>
                      <a:srgbClr val="ECF1F6"/>
                    </a:solidFill>
                  </a:tcPr>
                </a:tc>
                <a:tc>
                  <a:txBody>
                    <a:bodyPr wrap="square"/>
                    <a:lstStyle/>
                    <a:p>
                      <a:r>
                        <a:rPr sz="1100" b="0">
                          <a:solidFill>
                            <a:srgbClr val="282828"/>
                          </a:solidFill>
                          <a:latin typeface="Arial"/>
                        </a:rPr>
                        <a:t>0.993 / 5, 1.008 / 2, 0.995 / 3 pm</a:t>
                      </a:r>
                    </a:p>
                  </a:txBody>
                  <a:tcPr marL="54864" marR="54864" marT="18288" marB="18288">
                    <a:solidFill>
                      <a:srgbClr val="ECF1F6"/>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(D4 not yet run on this bench)</a:t>
                      </a:r>
                    </a:p>
                  </a:txBody>
                  <a:tcPr marL="54864" marR="54864" marT="18288" marB="18288">
                    <a:solidFill>
                      <a:srgbClr val="ECF1F6"/>
                    </a:solidFill>
                  </a:tcPr>
                </a:tc>
              </a:tr>
            </a:tbl>
          </a:graphicData>
        </a:graphic>
      </p:graphicFrame>
      <p:sp>
        <p:nvSpPr>
          <p:cNvPr id="5" name="TextBox 4"/>
          <p:cNvSpPr txBox="1"/>
          <p:nvPr/>
        </p:nvSpPr>
        <p:spPr>
          <a:xfrm>
            <a:off x="411480" y="4525137"/>
            <a:ext cx="11368735" cy="274320"/>
          </a:xfrm>
          <a:prstGeom prst="rect">
            <a:avLst/>
          </a:prstGeom>
          <a:noFill/>
        </p:spPr>
        <p:txBody>
          <a:bodyPr wrap="square">
            <a:spAutoFit/>
          </a:bodyPr>
          <a:lstStyle/>
          <a:p>
            <a:pPr>
              <a:spcAft>
                <a:spcPts val="600"/>
              </a:spcAft>
            </a:pPr>
            <a:r>
              <a:rPr sz="15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Both rigs wrap between 60 and 120 nm of surface (a base the four-step cannot follow reads λ/2 ÷ √12 = 91 nm rms); the capture range is set by the unwrapping, not by the front end.</a:t>
            </a:r>
          </a:p>
        </p:txBody>
      </p:sp>
      <p:sp>
        <p:nvSpPr>
          <p:cNvPr id="6" name="TextBox 5"/>
          <p:cNvSpPr txBox="1"/>
          <p:nvPr/>
        </p:nvSpPr>
        <p:spPr>
          <a:xfrm>
            <a:off x="411480" y="608037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cells marked in progress or not yet run are listed on the provenance slide with their run names.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The rule a parabola enforces and a lens hides: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Coatings: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203445"/>
                <a:gridCol w="3824849"/>
                <a:gridCol w="3450679"/>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5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Front end: either builds.  The mirror rig matches the lens rig on the rows and the servo (interferometer 2.0e13 vs 2.3e13 photons per cycle noise only, 6.6e13 vs 7.1e13 under the walk) and captures from 200 nm; its sensors pass once calibrated; it buys any color and no glass in the beam, and costs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5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Redesign the lenses as multi-element assemblies.</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 All code and documentation is available from the public nasa-jpl github macos and MACOS_resources repos.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