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3657600" y="3291840"/>
            <a:ext cx="4005072" cy="3172968"/>
          </a:xfrm>
          <a:prstGeom prst="rect">
            <a:avLst/>
          </a:prstGeom>
        </p:spPr>
      </p:pic>
      <p:sp>
        <p:nvSpPr>
          <p:cNvPr id="6" name="TextBox 5"/>
          <p:cNvSpPr txBox="1"/>
          <p:nvPr/>
        </p:nvSpPr>
        <p:spPr>
          <a:xfrm>
            <a:off x="3657600" y="6483096"/>
            <a:ext cx="4005072" cy="5593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  CaF2 still images at the pixel at 80 mm, where silica has fallen to CRF 1.49 px; silica needs 130 mm for the same image.  An 80 mm CaF2 block or a 130 mm silica block is a materials choice the ray trace cannot make.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7367397"/>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at Jim's numbers</a:t>
            </a:r>
          </a:p>
          <a:p>
            <a:pPr>
              <a:spcAft>
                <a:spcPts val="0"/>
              </a:spcAft>
            </a:pPr>
            <a:r>
              <a:rPr sz="1250" b="0">
                <a:solidFill>
                  <a:srgbClr val="6E6E6E"/>
                </a:solidFill>
                <a:latin typeface="Arial"/>
              </a:rPr>
              <a:t>f = 330 mm, 183 mm at F/1.8, 9.4° per 3k module or 4.7° per 1.5k; three forms traced in the engine, none yet packaged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target moved.  Jim's 30 m ground sample from 550 km on 18 µm pixels sets f = 330 mm and 183 mm at F/1.8; the swath is 9.4° cross-track for a 3k module, 4.7° for a 1.5k one, with a telecentric, flat image on the slit.  The EMIT-parameter three-mirror of the earlier beat (f = 126 mm, 24.6°, 67 px at the slit) stands as the layout and end-to-end machinery; the designs below are at the new numbers.</a:t>
            </a:r>
          </a:p>
          <a:p>
            <a:pPr>
              <a:spcAft>
                <a:spcPts val="600"/>
              </a:spcAft>
            </a:pPr>
            <a:r>
              <a:rPr sz="1500" b="0">
                <a:solidFill>
                  <a:srgbClr val="282828"/>
                </a:solidFill>
                <a:latin typeface="Arial"/>
              </a:rPr>
              <a:t>•  The coaxial three-mirror parent (two routes).  The chain's offset solves at 9–10° leave a field-constant residual — the parent's own aberration off its axis — 2 944 nm at best with the clearance gate failing, 6–65 px rms spots in the engine.  The design layer's Korsch TMA with conics solved by the native optimizer at a scanned bias is diffraction-limited on axis (0.008 waves) and holds to ±1.5°: at 1° bias the strip centre is 0.41 px but the imageable half-field is a third of the swath, and the bias cannot be raised to unobscure.  Three conics do not correct 9.4° at F/1.8 on the coaxial form.  The unobscured eccentric section of the same parent (pupil decentered 205 mm, the beam passing below M2 to M3 and a focal plane beside it, no hole, no central obstruction) is the first packaged imaging telescope in the record: three conics hold the 1.5k strip at 8.9 px (4.3 px at the strip centre), every body clear, 1.05 kg of mirror — at a plate scale of 447 mm, not the 330 mm the ground sample asks.  Asked to hold the plate scale too (the optimizer's new per-field image-position rows), the same three conics give up the blur: blur and plate scale compete, and the 3k strip's ends sit at 10 mm on this form.  Both modules need more than conics: aspheres through the native optimizer, or freeform.</a:t>
            </a:r>
          </a:p>
          <a:p>
            <a:pPr>
              <a:spcAft>
                <a:spcPts val="600"/>
              </a:spcAft>
            </a:pPr>
            <a:r>
              <a:rPr sz="1500" b="0">
                <a:solidFill>
                  <a:srgbClr val="282828"/>
                </a:solidFill>
                <a:latin typeface="Arial"/>
              </a:rPr>
              <a:t>•  The two-mirror modified Schwarzschild (the review's form for this regime).  Convex primary, concave secondary, the stop virtual at M2's front focus so the output is telecentric; closed-form first order, exact chain, engine equal to chain on every ray.  On axis — obscured, M1 in the image cone — it images: 1.10 px max rms spot for the 1.5k module (0.59 on axis), 4.26 px for the 3k, each solved on its own strip with M1 and M2 aspheres, the review's own TMS scaled to this focal length sitting at 2.3–4.6 px.  It packages only with the strip 30° off axis: with the clearance operand made smooth (an exact segment-to-disc distance and a softmin over rays, where a sampled minimum had stalled every step) the packaged solves reach 123 px (1.5k, +5.4 mm clear) and 178 px (3k, +4.8 mm) and stall at the wall's knee.  The bound settles it: with the wall switched off, the same 30° layouts still sit at 25 px (3k; and the 1.5k solve ran pathological) — the form, not the solver, is out at this bias.  Verdict: no packaged Schwarzschild images at the pixel at f = 330 mm, F/1.8; no end-to-end row for it.</a:t>
            </a:r>
          </a:p>
        </p:txBody>
      </p:sp>
      <p:pic>
        <p:nvPicPr>
          <p:cNvPr id="5" name="Picture 4" descr="dyson5_tma_step2_views.png"/>
          <p:cNvPicPr>
            <a:picLocks noChangeAspect="1"/>
          </p:cNvPicPr>
          <p:nvPr/>
        </p:nvPicPr>
        <p:blipFill>
          <a:blip r:embed="rId2"/>
          <a:stretch>
            <a:fillRect/>
          </a:stretch>
        </p:blipFill>
        <p:spPr>
          <a:xfrm>
            <a:off x="5426302" y="7946897"/>
            <a:ext cx="1339090" cy="365760"/>
          </a:xfrm>
          <a:prstGeom prst="rect">
            <a:avLst/>
          </a:prstGeom>
        </p:spPr>
      </p:pic>
      <p:sp>
        <p:nvSpPr>
          <p:cNvPr id="6" name="TextBox 5"/>
          <p:cNvSpPr txBox="1"/>
          <p:nvPr/>
        </p:nvSpPr>
        <p:spPr>
          <a:xfrm>
            <a:off x="411480" y="8330945"/>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packaged unobscured section of the TMA parent for the 1.5k module (step 2b, 205 mm decenter, 3° bias, clearance +0.1 mm), YZ and XZ as the design layer renders it — M1 above, M2 below the incoming beam, the intermediate focus, M3, the focal plane beside it.  Right: the same section at 170 mm for the 3k strip, whose ends do not image.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telescope of record: three off-axis aspheres</a:t>
            </a:r>
          </a:p>
          <a:p>
            <a:pPr>
              <a:spcAft>
                <a:spcPts val="0"/>
              </a:spcAft>
            </a:pPr>
            <a:r>
              <a:rPr sz="1250" b="0">
                <a:solidFill>
                  <a:srgbClr val="6E6E6E"/>
                </a:solidFill>
                <a:latin typeface="Arial"/>
              </a:rPr>
              <a:t>Every field admitted, plate scale held, the strip at the pixel end to end: smile 0.51, keystone 0.01, CRF 1.22, SRF 2.20 px; clearance +39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pupil is a first-order condition.  The section's exit pupil must sit near infinity to feed the near-telecentric Dyson (its chiefs cross 14–44 m away; it accepts chiefs within 0.09° of its own).  A Korsch with a real intermediate focus between M2 and M3 can never be telecentric, so the layout was re-posed with M3 in front of that focus (the Cook/EMIT form, tma_layout 'telecentric'): chiefs within 0.5° across the strip, every field admitted, the plate scale calibrated by the parent's f-number.</a:t>
            </a:r>
          </a:p>
          <a:p>
            <a:pPr>
              <a:spcAft>
                <a:spcPts val="600"/>
              </a:spcAft>
            </a:pPr>
            <a:r>
              <a:rPr sz="1200" b="0">
                <a:solidFill>
                  <a:srgbClr val="282828"/>
                </a:solidFill>
                <a:latin typeface="Arial"/>
              </a:rPr>
              <a:t>•  Two levers closed the strip edge, neither a figure term.  The merit: the per-ray transverse spot at the slit with the per-field image positions, in place of the wavefront rms (at F/1.8 with tens of µm of path error the image is far from diffraction-limited, and the wavefront merit flattened the field by trading the centre).  The geometry: M2 and M3 tilt and decenter and the focus as variables, which every earlier solve had frozen from first order.  With both, conics + h⁴/h⁶ with each mirror's own vertex and axis — three off-axis aspheres, no freeform — image the 1.5k strip at 8 / 14 µm as placed at the centre / ±2.3° edge (0.4 / 0.8 px).</a:t>
            </a:r>
          </a:p>
          <a:p>
            <a:pPr>
              <a:spcAft>
                <a:spcPts val="600"/>
              </a:spcAft>
            </a:pPr>
            <a:r>
              <a:rPr sz="1200" b="0">
                <a:solidFill>
                  <a:srgbClr val="282828"/>
                </a:solidFill>
                <a:latin typeface="Arial"/>
              </a:rPr>
              <a:t>•  Through the 130 mm module (4° bias, 190 mm decenter, m₂ = 3.0 parent; the Dyson rolled 180° about the chief): smile 0.51 px, keystone 0.01 px, CRF 1.22 px, SRF 2.20 px, plate 327 / 331 mm, every field admitted; clearance +39 mm telescope-internal, +0.38 mm overall (the Dyson's own package).  Deck dyson5_tA_GM_1k5_bAs.in.</a:t>
            </a:r>
          </a:p>
          <a:p>
            <a:pPr>
              <a:spcAft>
                <a:spcPts val="600"/>
              </a:spcAft>
            </a:pPr>
            <a:r>
              <a:rPr sz="1200" b="0">
                <a:solidFill>
                  <a:srgbClr val="282828"/>
                </a:solidFill>
                <a:latin typeface="Arial"/>
              </a:rPr>
              <a:t>•  The 3k section needs genuine freeform (M2 1.7 mm of departure at 126 mrad) and reaches smile 2.05 / keystone 0.05 / CRF 4.22 / SRF 4.90 px; its figure and geometry work against each other, which points at the stop's position (M2) as the next layout question.</a:t>
            </a:r>
          </a:p>
        </p:txBody>
      </p:sp>
      <p:pic>
        <p:nvPicPr>
          <p:cNvPr id="5" name="Picture 4" descr="dyson5_t5e_tA_B3_1k5_b4d190_B1_maps_rc.png"/>
          <p:cNvPicPr>
            <a:picLocks noChangeAspect="1"/>
          </p:cNvPicPr>
          <p:nvPr/>
        </p:nvPicPr>
        <p:blipFill>
          <a:blip r:embed="rId2"/>
          <a:stretch>
            <a:fillRect/>
          </a:stretch>
        </p:blipFill>
        <p:spPr>
          <a:xfrm>
            <a:off x="6475777" y="1298448"/>
            <a:ext cx="5245004" cy="4670552"/>
          </a:xfrm>
          <a:prstGeom prst="rect">
            <a:avLst/>
          </a:prstGeom>
        </p:spPr>
      </p:pic>
      <p:sp>
        <p:nvSpPr>
          <p:cNvPr id="6" name="TextBox 5"/>
          <p:cNvSpPr txBox="1"/>
          <p:nvPr/>
        </p:nvSpPr>
        <p:spPr>
          <a:xfrm>
            <a:off x="6400800" y="5987288"/>
            <a:ext cx="5394960" cy="724408"/>
          </a:xfrm>
          <a:prstGeom prst="rect">
            <a:avLst/>
          </a:prstGeom>
          <a:noFill/>
        </p:spPr>
        <p:txBody>
          <a:bodyPr wrap="square">
            <a:spAutoFit/>
          </a:bodyPr>
          <a:lstStyle/>
          <a:p>
            <a:pPr algn="ctr">
              <a:spcAft>
                <a:spcPts val="0"/>
              </a:spcAft>
            </a:pPr>
            <a:r>
              <a:rPr sz="1000" b="0">
                <a:solidFill>
                  <a:srgbClr val="6E6E6E"/>
                </a:solidFill>
                <a:latin typeface="Arial"/>
              </a:rPr>
              <a:t>The 1.5k telescope through its Dyson (dyson5_t5e_tA_B3_1k5_b4d190_B1), per slit position and wavelength: the field-angle, keystone and smile maps, the spectral and spatial response widths, and the energy in one pixel.  The response widths rise at the two strip ends and nowhere else.</a:t>
            </a:r>
          </a:p>
        </p:txBody>
      </p:sp>
      <p:sp>
        <p:nvSpPr>
          <p:cNvPr id="7" name="TextBox 6"/>
          <p:cNvSpPr txBox="1"/>
          <p:nvPr/>
        </p:nvSpPr>
        <p:spPr>
          <a:xfrm>
            <a:off x="6400800" y="6748272"/>
            <a:ext cx="5394960" cy="274320"/>
          </a:xfrm>
          <a:prstGeom prst="rect">
            <a:avLst/>
          </a:prstGeom>
          <a:noFill/>
        </p:spPr>
        <p:txBody>
          <a:bodyPr wrap="square">
            <a:spAutoFit/>
          </a:bodyPr>
          <a:lstStyle/>
          <a:p>
            <a:pPr>
              <a:spcAft>
                <a:spcPts val="600"/>
              </a:spcAft>
            </a:pPr>
            <a:r>
              <a:rPr sz="1050" b="0">
                <a:solidFill>
                  <a:srgbClr val="6E6E6E"/>
                </a:solidFill>
                <a:latin typeface="Arial"/>
              </a:rPr>
              <a:t>Maps: the stage-B asphere solve on the wavefront merit (edges 19 px); the solve of record is scored in dyson5_tA_GM_ / dyson5_t5f_GM_ (maps next).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it took to reach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It was not focus or the mirrors' power split: along the strip the along-track focus is flat, the cross-track focus curves 2–4 mm and the two line foci at the edge sit 2.2–5.3 mm apart; no secondary magnification flattens both, and a field lens has no leverage at the slit.</a:t>
            </a:r>
          </a:p>
          <a:p>
            <a:pPr>
              <a:spcAft>
                <a:spcPts val="600"/>
              </a:spcAft>
            </a:pPr>
            <a:r>
              <a:rPr sz="1200" b="0">
                <a:solidFill>
                  <a:srgbClr val="282828"/>
                </a:solidFill>
                <a:latin typeface="Arial"/>
              </a:rPr>
              <a:t>•  Figure terms alone trade the centre for the edge.  Zernike departures on all three mirrors took the 1.5k edge 291 → 170 µm while the centre went 29 → 73 µm; on 3k 1086 → 485 µm for a centre of 68 → 190 µm.  A control with the wavefront merit written per ray gave the same flattening: the merit, not the surfaces, set the trade.</a:t>
            </a:r>
          </a:p>
          <a:p>
            <a:pPr>
              <a:spcAft>
                <a:spcPts val="600"/>
              </a:spcAft>
            </a:pPr>
            <a:r>
              <a:rPr sz="1200" b="0">
                <a:solidFill>
                  <a:srgbClr val="282828"/>
                </a:solidFill>
                <a:latin typeface="Arial"/>
              </a:rPr>
              <a:t>•  The transverse merit and the geometry removed it.  Per-ray spot rows at the slit plus M2/M3 tilt, decenter and focus as variables: 1.5k edge 170 → 13 µm, centre 73 → 6 µm, with the freeform coefficients collapsing to a re-fitted set of off-axis aspheres (surface residual ≤ 17 µm, re-optimised as aspheres: the slide before).  The emission had to be re-solved, not just re-fitted: a 1.7 mrad slope residual is a millimetre of blur over 0.3 m.</a:t>
            </a:r>
          </a:p>
        </p:txBody>
      </p:sp>
      <p:graphicFrame>
        <p:nvGraphicFramePr>
          <p:cNvPr id="5" name="Table 4"/>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2291664"/>
                <a:gridCol w="1336804"/>
                <a:gridCol w="1766491"/>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centre / edge</a:t>
                      </a:r>
                    </a:p>
                  </a:txBody>
                  <a:tcPr marL="54864" marR="54864" marT="18288" marB="18288">
                    <a:solidFill>
                      <a:srgbClr val="1F4E79"/>
                    </a:solidFill>
                  </a:tcPr>
                </a:tc>
                <a:tc>
                  <a:txBody>
                    <a:bodyPr wrap="square"/>
                    <a:lstStyle/>
                    <a:p>
                      <a:r>
                        <a:rPr sz="1000" b="1">
                          <a:solidFill>
                            <a:srgbClr val="FFFFFF"/>
                          </a:solidFill>
                          <a:latin typeface="Arial"/>
                        </a:rPr>
                        <a:t>e2e smile / keystone / CRF / SRF (px)</a:t>
                      </a:r>
                    </a:p>
                  </a:txBody>
                  <a:tcPr marL="54864" marR="54864" marT="18288" marB="18288">
                    <a:solidFill>
                      <a:srgbClr val="1F4E79"/>
                    </a:solidFill>
                  </a:tcPr>
                </a:tc>
              </a:tr>
              <a:tr h="26289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262890">
                <a:tc>
                  <a:txBody>
                    <a:bodyPr wrap="square"/>
                    <a:lstStyle/>
                    <a:p>
                      <a:r>
                        <a:rPr sz="1000" b="0">
                          <a:solidFill>
                            <a:srgbClr val="282828"/>
                          </a:solidFill>
                          <a:latin typeface="Arial"/>
                        </a:rPr>
                        <a:t>same DOFs,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5364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e2e rows through the engine-placed join (identity with the chain join to every printed digit on the aspheric deck).  Solves run to a fixed evaluation budget; none is converged in the optimizer's sense.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the 1.5k module has its telescope of record — three off-axis aspheres at the pixel end to end (CRF 1.22 px, clearance +39 mm).  Next: the 3k module's layout (the stop at M2; an asphere-only solve), a FWHM-faithful instrument merit for the final rung, the field weighting as a project ruling, and the end-to-end row with each module's Dyson as the entry in the comparison for Jim.  Queued in the engine: the fixed-station reference sphere and the asphere + Zernike surface option.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eight engine findings, each with a regression test</a:t>
            </a:r>
          </a:p>
          <a:p>
            <a:pPr>
              <a:spcAft>
                <a:spcPts val="0"/>
              </a:spcAft>
            </a:pPr>
            <a:r>
              <a:rPr sz="1250" b="0">
                <a:solidFill>
                  <a:srgbClr val="6E6E6E"/>
                </a:solidFill>
                <a:latin typeface="Arial"/>
              </a:rPr>
              <a:t>Found by the challenge's checks on 2026-09-30 to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6858000"/>
        </p:xfrm>
        <a:graphic>
          <a:graphicData uri="http://schemas.openxmlformats.org/drawingml/2006/table">
            <a:tbl>
              <a:tblPr firstRow="1" bandRow="1">
                <a:tableStyleId>{5C22544A-7EE6-4342-B048-85BDC9FD1C3A}</a:tableStyleId>
              </a:tblPr>
              <a:tblGrid>
                <a:gridCol w="795984"/>
                <a:gridCol w="3564626"/>
                <a:gridCol w="5364243"/>
                <a:gridCol w="1643881"/>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657225">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657225">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84582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1034415">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whose entrance-pupil reference sits 5 mm ahead of its convex primary scattered every ray but the chief in a one-call trace (93 mm rms), while an element-by-element trace was right — by accident</a:t>
                      </a:r>
                    </a:p>
                  </a:txBody>
                  <a:tcPr marL="54864" marR="54864" marT="18288" marB="18288">
                    <a:solidFill>
                      <a:srgbClr val="ECF1F6"/>
                    </a:solidFill>
                  </a:tcPr>
                </a:tc>
                <a:tc>
                  <a:txBody>
                    <a:bodyPr wrap="square"/>
                    <a:lstStyle/>
                    <a:p>
                      <a:r>
                        <a:rPr sz="1100" b="0">
                          <a:solidFill>
                            <a:srgbClr val="282828"/>
                          </a:solidFill>
                          <a:latin typeface="Arial"/>
                        </a:rPr>
                        <a:t>the root of the conic after a reference is the one whose hit point is nearest the element's reference point (its vertex, or an off-axis section's pole), not the one whose length matches the ray's distance to the vertex (which the ray's height dominated); a restarted trace resets its "previous element" per ray</a:t>
                      </a:r>
                    </a:p>
                  </a:txBody>
                  <a:tcPr marL="54864" marR="54864" marT="18288" marB="18288">
                    <a:solidFill>
                      <a:srgbClr val="ECF1F6"/>
                    </a:solidFill>
                  </a:tcPr>
                </a:tc>
                <a:tc>
                  <a:txBody>
                    <a:bodyPr wrap="square"/>
                    <a:lstStyle/>
                    <a:p>
                      <a:r>
                        <a:rPr sz="1100" b="0">
                          <a:solidFill>
                            <a:srgbClr val="282828"/>
                          </a:solidFill>
                          <a:latin typeface="Arial"/>
                        </a:rPr>
                        <a:t>tTraceRestart (2) on the deck itself; exit-pupil radii unchanged to the bit on four decks</a:t>
                      </a:r>
                    </a:p>
                  </a:txBody>
                  <a:tcPr marL="54864" marR="54864" marT="18288" marB="18288">
                    <a:solidFill>
                      <a:srgbClr val="ECF1F6"/>
                    </a:solidFill>
                  </a:tcPr>
                </a:tc>
              </a:tr>
              <a:tr h="1034415">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the chief's direction and position at an element could not be scored with a spot or wavefront target, one target served every field, and a multi-field beam solve scored the last field alone</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a weight; the ray centroid as the position</a:t>
                      </a:r>
                    </a:p>
                  </a:txBody>
                  <a:tcPr marL="54864" marR="54864" marT="18288" marB="18288">
                    <a:solidFill>
                      <a:srgbClr val="FFFFFF"/>
                    </a:solidFill>
                  </a:tcPr>
                </a:tc>
                <a:tc>
                  <a:txBody>
                    <a:bodyPr wrap="square"/>
                    <a:lstStyle/>
                    <a:p>
                      <a:r>
                        <a:rPr sz="1100" b="0">
                          <a:solidFill>
                            <a:srgbClr val="282828"/>
                          </a:solidFill>
                          <a:latin typeface="Arial"/>
                        </a:rPr>
                        <a:t>tBeamRows (3): telecentric under a spot target, two fields met by one piston, centroid vs chief</a:t>
                      </a:r>
                    </a:p>
                  </a:txBody>
                  <a:tcPr marL="54864" marR="54864" marT="18288" marB="18288">
                    <a:solidFill>
                      <a:srgbClr val="FFFFFF"/>
                    </a:solidFill>
                  </a:tcPr>
                </a:tc>
              </a:tr>
              <a:tr h="103441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8302752"/>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 the same guard for ZernCoef= is queued.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four more findings from the telescope's eccentric section</a:t>
            </a:r>
          </a:p>
          <a:p>
            <a:pPr>
              <a:spcAft>
                <a:spcPts val="0"/>
              </a:spcAft>
            </a:pPr>
            <a:r>
              <a:rPr sz="1250" b="0">
                <a:solidFill>
                  <a:srgbClr val="6E6E6E"/>
                </a:solidFill>
                <a:latin typeface="Arial"/>
              </a:rPr>
              <a:t>Found 2026-10-04 to 10-05, each invisible on a coaxial design,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663315"/>
        </p:xfrm>
        <a:graphic>
          <a:graphicData uri="http://schemas.openxmlformats.org/drawingml/2006/table">
            <a:tbl>
              <a:tblPr firstRow="1" bandRow="1">
                <a:tableStyleId>{5C22544A-7EE6-4342-B048-85BDC9FD1C3A}</a:tableStyleId>
              </a:tblPr>
              <a:tblGrid>
                <a:gridCol w="727756"/>
                <a:gridCol w="4681243"/>
                <a:gridCol w="4405876"/>
                <a:gridCol w="1553858"/>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84582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(sheets 22 mm apart) took the second sheet: 44 mm of extra path, a 10 mm spot tail, every ray reported as passing — 7.8 mm rms wavefront at the focal plane while an outlier-cut spot read 400 µm</a:t>
                      </a:r>
                    </a:p>
                  </a:txBody>
                  <a:tcPr marL="54864" marR="54864" marT="18288" marB="18288">
                    <a:solidFill>
                      <a:srgbClr val="FFFFFF"/>
                    </a:solidFill>
                  </a:tcPr>
                </a:tc>
                <a:tc>
                  <a:txBody>
                    <a:bodyPr wrap="square"/>
                    <a:lstStyle/>
                    <a:p>
                      <a:r>
                        <a:rPr sz="1100" b="0">
                          <a:solidFill>
                            <a:srgbClr val="282828"/>
                          </a:solidFill>
                          <a:latin typeface="Arial"/>
                        </a:rPr>
                        <a:t>the intersection is the root on the sheet the vertex is on (the normal's axial component keeps the sign it has at the vertex); first crossing on a tie; the first crossing alone is wrong, since M2's far sheet sits in the beam</a:t>
                      </a:r>
                    </a:p>
                  </a:txBody>
                  <a:tcPr marL="54864" marR="54864" marT="18288" marB="18288">
                    <a:solidFill>
                      <a:srgbClr val="FFFFFF"/>
                    </a:solidFill>
                  </a:tcPr>
                </a:tc>
                <a:tc>
                  <a:txBody>
                    <a:bodyPr wrap="square"/>
                    <a:lstStyle/>
                    <a:p>
                      <a:r>
                        <a:rPr sz="1100" b="0">
                          <a:solidFill>
                            <a:srgbClr val="282828"/>
                          </a:solidFill>
                          <a:latin typeface="Arial"/>
                        </a:rPr>
                        <a:t>tFwdRoot (5); 406 decks pre/post identical</a:t>
                      </a:r>
                    </a:p>
                  </a:txBody>
                  <a:tcPr marL="54864" marR="54864" marT="18288" marB="18288">
                    <a:solidFill>
                      <a:srgbClr val="FFFFFF"/>
                    </a:solidFill>
                  </a:tcPr>
                </a:tc>
              </a:tr>
              <a:tr h="84582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circle declared for the asphere solve enclosed the nominal field's footprint only; the strip-edge fields lost every ray on M3 and were dropped by the solve (the 9.9999e36 sentinel), which then drove M3's conic blind to them</a:t>
                      </a:r>
                    </a:p>
                  </a:txBody>
                  <a:tcPr marL="54864" marR="54864" marT="18288" marB="18288">
                    <a:solidFill>
                      <a:srgbClr val="ECF1F6"/>
                    </a:solidFill>
                  </a:tcPr>
                </a:tc>
                <a:tc>
                  <a:txBody>
                    <a:bodyPr wrap="square"/>
                    <a:lstStyle/>
                    <a:p>
                      <a:r>
                        <a:rPr sz="1100" b="0">
                          <a:solidFill>
                            <a:srgbClr val="282828"/>
                          </a:solidFill>
                          <a:latin typeface="Arial"/>
                        </a:rPr>
                        <a:t>the circle encloses the footprint over every field of the solve</a:t>
                      </a:r>
                    </a:p>
                  </a:txBody>
                  <a:tcPr marL="54864" marR="54864" marT="18288" marB="18288">
                    <a:solidFill>
                      <a:srgbClr val="ECF1F6"/>
                    </a:solidFill>
                  </a:tcPr>
                </a:tc>
                <a:tc>
                  <a:txBody>
                    <a:bodyPr wrap="square"/>
                    <a:lstStyle/>
                    <a:p>
                      <a:r>
                        <a:rPr sz="1100" b="0">
                          <a:solidFill>
                            <a:srgbClr val="282828"/>
                          </a:solidFill>
                          <a:latin typeface="Arial"/>
                        </a:rPr>
                        <a:t>tAsphHook (3): its first pin was the wavefront of the surviving rays; re-pinned</a:t>
                      </a:r>
                    </a:p>
                  </a:txBody>
                  <a:tcPr marL="54864" marR="54864" marT="18288" marB="18288">
                    <a:solidFill>
                      <a:srgbClr val="ECF1F6"/>
                    </a:solidFill>
                  </a:tcPr>
                </a:tc>
              </a:tr>
              <a:tr h="84582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the exit-pupil finder and the optimizer set the stop on M1 with no offset; on an eccentric section that is the parent vertex, 190 mm from the beam, and the pupil sphere was placed for the wrong beam</a:t>
                      </a:r>
                    </a:p>
                  </a:txBody>
                  <a:tcPr marL="54864" marR="54864" marT="18288" marB="18288">
                    <a:solidFill>
                      <a:srgbClr val="FFFFFF"/>
                    </a:solidFill>
                  </a:tcPr>
                </a:tc>
                <a:tc>
                  <a:txBody>
                    <a:bodyPr wrap="square"/>
                    <a:lstStyle/>
                    <a:p>
                      <a:r>
                        <a:rPr sz="1100" b="0">
                          <a:solidFill>
                            <a:srgbClr val="282828"/>
                          </a:solidFill>
                          <a:latin typeface="Arial"/>
                        </a:rPr>
                        <a:t>the stop at the deck's object-space stop point</a:t>
                      </a:r>
                    </a:p>
                  </a:txBody>
                  <a:tcPr marL="54864" marR="54864" marT="18288" marB="18288">
                    <a:solidFill>
                      <a:srgbClr val="FFFFFF"/>
                    </a:solidFill>
                  </a:tcPr>
                </a:tc>
                <a:tc>
                  <a:txBody>
                    <a:bodyPr wrap="square"/>
                    <a:lstStyle/>
                    <a:p>
                      <a:r>
                        <a:rPr sz="1100" b="0">
                          <a:solidFill>
                            <a:srgbClr val="282828"/>
                          </a:solidFill>
                          <a:latin typeface="Arial"/>
                        </a:rPr>
                        <a:t>tStopApStop (4)</a:t>
                      </a:r>
                    </a:p>
                  </a:txBody>
                  <a:tcPr marL="54864" marR="54864" marT="18288" marB="18288">
                    <a:solidFill>
                      <a:srgbClr val="FFFFFF"/>
                    </a:solidFill>
                  </a:tcPr>
                </a:tc>
              </a:tr>
              <a:tr h="84582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the emitter placed each mirror's Zernike origin at its vertex while the axes were the section pole's, so freeform terms on a section were evaluated 3.8 radii outside the unit disc (1 µm of defocus moved the chief 0.19 mm instead of 0.005)</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c>
                  <a:txBody>
                    <a:bodyPr wrap="square"/>
                    <a:lstStyle/>
                    <a:p>
                      <a:r>
                        <a:rPr sz="1100" b="0">
                          <a:solidFill>
                            <a:srgbClr val="282828"/>
                          </a:solidFill>
                          <a:latin typeface="Arial"/>
                        </a:rPr>
                        <a:t>tFreeformPole (3)</a:t>
                      </a:r>
                    </a:p>
                  </a:txBody>
                  <a:tcPr marL="54864" marR="54864" marT="18288" marB="18288">
                    <a:solidFill>
                      <a:srgbClr val="ECF1F6"/>
                    </a:solidFill>
                  </a:tcPr>
                </a:tc>
              </a:tr>
            </a:tbl>
          </a:graphicData>
        </a:graphic>
      </p:graphicFrame>
      <p:sp>
        <p:nvSpPr>
          <p:cNvPr id="5" name="TextBox 4"/>
          <p:cNvSpPr txBox="1"/>
          <p:nvPr/>
        </p:nvSpPr>
        <p:spPr>
          <a:xfrm>
            <a:off x="411480" y="5108067"/>
            <a:ext cx="11368735" cy="274320"/>
          </a:xfrm>
          <a:prstGeom prst="rect">
            <a:avLst/>
          </a:prstGeom>
          <a:noFill/>
        </p:spPr>
        <p:txBody>
          <a:bodyPr wrap="square">
            <a:spAutoFit/>
          </a:bodyPr>
          <a:lstStyle/>
          <a:p>
            <a:pPr>
              <a:spcAft>
                <a:spcPts val="600"/>
              </a:spcAft>
            </a:pPr>
            <a:r>
              <a:rPr sz="1050" b="0">
                <a:solidFill>
                  <a:srgbClr val="6E6E6E"/>
                </a:solidFill>
                <a:latin typeface="Arial"/>
              </a:rPr>
              <a:t>Every one of the four passed every existing check: the rays "passed", the solve "converged", the deck loaded.  What exposed them was a section whose beam is 190 mm from its parent's vertex — the first design in the record where the vertex and the lit patch are not the same place.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8995410"/>
        </p:xfrm>
        <a:graphic>
          <a:graphicData uri="http://schemas.openxmlformats.org/drawingml/2006/table">
            <a:tbl>
              <a:tblPr firstRow="1" bandRow="1">
                <a:tableStyleId>{5C22544A-7EE6-4342-B048-85BDC9FD1C3A}</a:tableStyleId>
              </a:tblPr>
              <a:tblGrid>
                <a:gridCol w="1828288"/>
                <a:gridCol w="1889760"/>
                <a:gridCol w="2953389"/>
                <a:gridCol w="4697296"/>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280035">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657225">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telescope, three-mirror at Jim's numbers</a:t>
                      </a:r>
                    </a:p>
                  </a:txBody>
                  <a:tcPr marL="54864" marR="54864" marT="18288" marB="18288">
                    <a:solidFill>
                      <a:srgbClr val="FFFFFF"/>
                    </a:solidFill>
                  </a:tcPr>
                </a:tc>
                <a:tc>
                  <a:txBody>
                    <a:bodyPr wrap="square"/>
                    <a:lstStyle/>
                    <a:p>
                      <a:r>
                        <a:rPr sz="1100" b="0">
                          <a:solidFill>
                            <a:srgbClr val="282828"/>
                          </a:solidFill>
                          <a:latin typeface="Arial"/>
                        </a:rPr>
                        <a:t>t3s, t3w, t3o, t3e</a:t>
                      </a:r>
                    </a:p>
                  </a:txBody>
                  <a:tcPr marL="54864" marR="54864" marT="18288" marB="18288">
                    <a:solidFill>
                      <a:srgbClr val="FFFFFF"/>
                    </a:solidFill>
                  </a:tcPr>
                </a:tc>
                <a:tc>
                  <a:txBody>
                    <a:bodyPr wrap="square"/>
                    <a:lstStyle/>
                    <a:p>
                      <a:r>
                        <a:rPr sz="1100" b="0">
                          <a:solidFill>
                            <a:srgbClr val="282828"/>
                          </a:solidFill>
                          <a:latin typeface="Arial"/>
                        </a:rPr>
                        <a:t>dyson5_t3*.txt, BRIEF_dyson5_beat5c.md</a:t>
                      </a:r>
                    </a:p>
                  </a:txBody>
                  <a:tcPr marL="54864" marR="54864" marT="18288" marB="18288">
                    <a:solidFill>
                      <a:srgbClr val="FFFFFF"/>
                    </a:solidFill>
                  </a:tcPr>
                </a:tc>
                <a:tc>
                  <a:txBody>
                    <a:bodyPr wrap="square"/>
                    <a:lstStyle/>
                    <a:p>
                      <a:r>
                        <a:rPr sz="1100" b="0">
                          <a:solidFill>
                            <a:srgbClr val="282828"/>
                          </a:solidFill>
                          <a:latin typeface="Arial"/>
                        </a:rPr>
                        <a:t>tma_screen, the offset solves on telescope_geom.m</a:t>
                      </a:r>
                    </a:p>
                  </a:txBody>
                  <a:tcPr marL="54864" marR="54864" marT="18288" marB="18288">
                    <a:solidFill>
                      <a:srgbClr val="FFFFFF"/>
                    </a:solidFill>
                  </a:tcPr>
                </a:tc>
              </a:tr>
              <a:tr h="468630">
                <a:tc>
                  <a:txBody>
                    <a:bodyPr wrap="square"/>
                    <a:lstStyle/>
                    <a:p>
                      <a:r>
                        <a:rPr sz="1100" b="0">
                          <a:solidFill>
                            <a:srgbClr val="282828"/>
                          </a:solidFill>
                          <a:latin typeface="Arial"/>
                        </a:rPr>
                        <a:t>telescope, modified Schwarzschild</a:t>
                      </a:r>
                    </a:p>
                  </a:txBody>
                  <a:tcPr marL="54864" marR="54864" marT="18288" marB="18288">
                    <a:solidFill>
                      <a:srgbClr val="ECF1F6"/>
                    </a:solidFill>
                  </a:tcPr>
                </a:tc>
                <a:tc>
                  <a:txBody>
                    <a:bodyPr wrap="square"/>
                    <a:lstStyle/>
                    <a:p>
                      <a:r>
                        <a:rPr sz="1100" b="0">
                          <a:solidFill>
                            <a:srgbClr val="282828"/>
                          </a:solidFill>
                          <a:latin typeface="Arial"/>
                        </a:rPr>
                        <a:t>t4</a:t>
                      </a:r>
                    </a:p>
                  </a:txBody>
                  <a:tcPr marL="54864" marR="54864" marT="18288" marB="18288">
                    <a:solidFill>
                      <a:srgbClr val="ECF1F6"/>
                    </a:solidFill>
                  </a:tcPr>
                </a:tc>
                <a:tc>
                  <a:txBody>
                    <a:bodyPr wrap="square"/>
                    <a:lstStyle/>
                    <a:p>
                      <a:r>
                        <a:rPr sz="1100" b="0">
                          <a:solidFill>
                            <a:srgbClr val="282828"/>
                          </a:solidFill>
                          <a:latin typeface="Arial"/>
                        </a:rPr>
                        <a:t>dyson5_t4.txt, dyson5_t4_r2c_.in, _view.png</a:t>
                      </a:r>
                    </a:p>
                  </a:txBody>
                  <a:tcPr marL="54864" marR="54864" marT="18288" marB="18288">
                    <a:solidFill>
                      <a:srgbClr val="ECF1F6"/>
                    </a:solidFill>
                  </a:tcPr>
                </a:tc>
                <a:tc>
                  <a:txBody>
                    <a:bodyPr wrap="square"/>
                    <a:lstStyle/>
                    <a:p>
                      <a:r>
                        <a:rPr sz="1100" b="0">
                          <a:solidFill>
                            <a:srgbClr val="282828"/>
                          </a:solidFill>
                          <a:latin typeface="Arial"/>
                        </a:rPr>
                        <a:t>tms_paraxial.m, tms_firstorder.m, tms_geom.m, tms_clear.m</a:t>
                      </a:r>
                    </a:p>
                  </a:txBody>
                  <a:tcPr marL="54864" marR="54864" marT="18288" marB="18288">
                    <a:solidFill>
                      <a:srgbClr val="ECF1F6"/>
                    </a:solidFill>
                  </a:tcPr>
                </a:tc>
              </a:tr>
              <a:tr h="468630">
                <a:tc>
                  <a:txBody>
                    <a:bodyPr wrap="square"/>
                    <a:lstStyle/>
                    <a:p>
                      <a:r>
                        <a:rPr sz="1100" b="0">
                          <a:solidFill>
                            <a:srgbClr val="282828"/>
                          </a:solidFill>
                          <a:latin typeface="Arial"/>
                        </a:rPr>
                        <a:t>telescope, TMA parent by the design layer</a:t>
                      </a:r>
                    </a:p>
                  </a:txBody>
                  <a:tcPr marL="54864" marR="54864" marT="18288" marB="18288">
                    <a:solidFill>
                      <a:srgbClr val="FFFFFF"/>
                    </a:solidFill>
                  </a:tcPr>
                </a:tc>
                <a:tc>
                  <a:txBody>
                    <a:bodyPr wrap="square"/>
                    <a:lstStyle/>
                    <a:p>
                      <a:r>
                        <a:rPr sz="1100" b="0">
                          <a:solidFill>
                            <a:srgbClr val="282828"/>
                          </a:solidFill>
                          <a:latin typeface="Arial"/>
                        </a:rPr>
                        <a:t>dyson5_tma_step1.m</a:t>
                      </a:r>
                    </a:p>
                  </a:txBody>
                  <a:tcPr marL="54864" marR="54864" marT="18288" marB="18288">
                    <a:solidFill>
                      <a:srgbClr val="FFFFFF"/>
                    </a:solidFill>
                  </a:tcPr>
                </a:tc>
                <a:tc>
                  <a:txBody>
                    <a:bodyPr wrap="square"/>
                    <a:lstStyle/>
                    <a:p>
                      <a:r>
                        <a:rPr sz="1100" b="0">
                          <a:solidFill>
                            <a:srgbClr val="282828"/>
                          </a:solidFill>
                          <a:latin typeface="Arial"/>
                        </a:rPr>
                        <a:t>dyson5_tma_step1.txt, dyson5_tma_step1_layout.png, BRIEF_dyson5_tma.md</a:t>
                      </a:r>
                    </a:p>
                  </a:txBody>
                  <a:tcPr marL="54864" marR="54864" marT="18288" marB="18288">
                    <a:solidFill>
                      <a:srgbClr val="FFFFFF"/>
                    </a:solidFill>
                  </a:tcPr>
                </a:tc>
                <a:tc>
                  <a:txBody>
                    <a:bodyPr wrap="square"/>
                    <a:lstStyle/>
                    <a:p>
                      <a:r>
                        <a:rPr sz="1100" b="0">
                          <a:solidFill>
                            <a:srgbClr val="282828"/>
                          </a:solidFill>
                          <a:latin typeface="Arial"/>
                        </a:rPr>
                        <a:t>macos.design.tma_layout, Telescope, CALIB</a:t>
                      </a:r>
                    </a:p>
                  </a:txBody>
                  <a:tcPr marL="54864" marR="54864" marT="18288" marB="18288">
                    <a:solidFill>
                      <a:srgbClr val="FFFFFF"/>
                    </a:solidFill>
                  </a:tcPr>
                </a:tc>
              </a:tr>
              <a:tr h="468630">
                <a:tc>
                  <a:txBody>
                    <a:bodyPr wrap="square"/>
                    <a:lstStyle/>
                    <a:p>
                      <a:r>
                        <a:rPr sz="1100" b="0">
                          <a:solidFill>
                            <a:srgbClr val="282828"/>
                          </a:solidFill>
                          <a:latin typeface="Arial"/>
                        </a:rPr>
                        <a:t>end to end at Jim's f-number (informative)</a:t>
                      </a:r>
                    </a:p>
                  </a:txBody>
                  <a:tcPr marL="54864" marR="54864" marT="18288" marB="18288">
                    <a:solidFill>
                      <a:srgbClr val="ECF1F6"/>
                    </a:solidFill>
                  </a:tcPr>
                </a:tc>
                <a:tc>
                  <a:txBody>
                    <a:bodyPr wrap="square"/>
                    <a:lstStyle/>
                    <a:p>
                      <a:r>
                        <a:rPr sz="1100" b="0">
                          <a:solidFill>
                            <a:srgbClr val="282828"/>
                          </a:solidFill>
                          <a:latin typeface="Arial"/>
                        </a:rPr>
                        <a:t>t5e</a:t>
                      </a:r>
                    </a:p>
                  </a:txBody>
                  <a:tcPr marL="54864" marR="54864" marT="18288" marB="18288">
                    <a:solidFill>
                      <a:srgbClr val="ECF1F6"/>
                    </a:solidFill>
                  </a:tcPr>
                </a:tc>
                <a:tc>
                  <a:txBody>
                    <a:bodyPr wrap="square"/>
                    <a:lstStyle/>
                    <a:p>
                      <a:r>
                        <a:rPr sz="1100" b="0">
                          <a:solidFill>
                            <a:srgbClr val="282828"/>
                          </a:solidFill>
                          <a:latin typeface="Arial"/>
                        </a:rPr>
                        <a:t>dyson5_t5e_1k5.txt, dyson5_t5e_1k5_e2e.in, dyson5_t5e_1k5_maps.png</a:t>
                      </a:r>
                    </a:p>
                  </a:txBody>
                  <a:tcPr marL="54864" marR="54864" marT="18288" marB="18288">
                    <a:solidFill>
                      <a:srgbClr val="ECF1F6"/>
                    </a:solidFill>
                  </a:tcPr>
                </a:tc>
                <a:tc>
                  <a:txBody>
                    <a:bodyPr wrap="square"/>
                    <a:lstStyle/>
                    <a:p>
                      <a:r>
                        <a:rPr sz="1100" b="0">
                          <a:solidFill>
                            <a:srgbClr val="282828"/>
                          </a:solidFill>
                          <a:latin typeface="Arial"/>
                        </a:rPr>
                        <a:t>tel_deck_geom.m (the exact chain from a Telescope deck), the spectrometer's scorer</a:t>
                      </a:r>
                    </a:p>
                  </a:txBody>
                  <a:tcPr marL="54864" marR="54864" marT="18288" marB="18288">
                    <a:solidFill>
                      <a:srgbClr val="ECF1F6"/>
                    </a:solidFill>
                  </a:tcPr>
                </a:tc>
              </a:tr>
              <a:tr h="657225">
                <a:tc>
                  <a:txBody>
                    <a:bodyPr wrap="square"/>
                    <a:lstStyle/>
                    <a:p>
                      <a:r>
                        <a:rPr sz="1100" b="0">
                          <a:solidFill>
                            <a:srgbClr val="282828"/>
                          </a:solidFill>
                          <a:latin typeface="Arial"/>
                        </a:rPr>
                        <a:t>telescope, telecentric parent: first order, figure, decenter walk</a:t>
                      </a:r>
                    </a:p>
                  </a:txBody>
                  <a:tcPr marL="54864" marR="54864" marT="18288" marB="18288">
                    <a:solidFill>
                      <a:srgbClr val="FFFFFF"/>
                    </a:solidFill>
                  </a:tcPr>
                </a:tc>
                <a:tc>
                  <a:txBody>
                    <a:bodyPr wrap="square"/>
                    <a:lstStyle/>
                    <a:p>
                      <a:r>
                        <a:rPr sz="1100" b="0">
                          <a:solidFill>
                            <a:srgbClr val="282828"/>
                          </a:solidFill>
                          <a:latin typeface="Arial"/>
                        </a:rPr>
                        <a:t>tA (stages A, B, re-run)</a:t>
                      </a:r>
                    </a:p>
                  </a:txBody>
                  <a:tcPr marL="54864" marR="54864" marT="18288" marB="18288">
                    <a:solidFill>
                      <a:srgbClr val="FFFFFF"/>
                    </a:solidFill>
                  </a:tcPr>
                </a:tc>
                <a:tc>
                  <a:txBody>
                    <a:bodyPr wrap="square"/>
                    <a:lstStyle/>
                    <a:p>
                      <a:r>
                        <a:rPr sz="1100" b="0">
                          <a:solidFill>
                            <a:srgbClr val="282828"/>
                          </a:solidFill>
                          <a:latin typeface="Arial"/>
                        </a:rPr>
                        <a:t>dyson5_tA_B3_.txt, dyson5_t5e_tA_B3_.txt/.png, decks per point</a:t>
                      </a:r>
                    </a:p>
                  </a:txBody>
                  <a:tcPr marL="54864" marR="54864" marT="18288" marB="18288">
                    <a:solidFill>
                      <a:srgbClr val="FFFFFF"/>
                    </a:solidFill>
                  </a:tcPr>
                </a:tc>
                <a:tc>
                  <a:txBody>
                    <a:bodyPr wrap="square"/>
                    <a:lstStyle/>
                    <a:p>
                      <a:r>
                        <a:rPr sz="1100" b="0">
                          <a:solidFill>
                            <a:srgbClr val="282828"/>
                          </a:solidFill>
                          <a:latin typeface="Arial"/>
                        </a:rPr>
                        <a:t>tma_layout 'telecentric', Telescope.optimize with aspheres and position rows, spectrometer_clearance (mount once)</a:t>
                      </a:r>
                    </a:p>
                  </a:txBody>
                  <a:tcPr marL="54864" marR="54864" marT="18288" marB="18288">
                    <a:solidFill>
                      <a:srgbClr val="FFFFFF"/>
                    </a:solidFill>
                  </a:tcPr>
                </a:tc>
              </a:tr>
              <a:tr h="657225">
                <a:tc>
                  <a:txBody>
                    <a:bodyPr wrap="square"/>
                    <a:lstStyle/>
                    <a:p>
                      <a:r>
                        <a:rPr sz="1100" b="0">
                          <a:solidFill>
                            <a:srgbClr val="282828"/>
                          </a:solidFill>
                          <a:latin typeface="Arial"/>
                        </a:rPr>
                        <a:t>strip edge: metric, Petzval, freeform steps</a:t>
                      </a:r>
                    </a:p>
                  </a:txBody>
                  <a:tcPr marL="54864" marR="54864" marT="18288" marB="18288">
                    <a:solidFill>
                      <a:srgbClr val="ECF1F6"/>
                    </a:solidFill>
                  </a:tcPr>
                </a:tc>
                <a:tc>
                  <a:txBody>
                    <a:bodyPr wrap="square"/>
                    <a:lstStyle/>
                    <a:p>
                      <a:r>
                        <a:rPr sz="1100" b="0">
                          <a:solidFill>
                            <a:srgbClr val="282828"/>
                          </a:solidFill>
                          <a:latin typeface="Arial"/>
                        </a:rPr>
                        <a:t>tEP, tPZ, tFF</a:t>
                      </a:r>
                    </a:p>
                  </a:txBody>
                  <a:tcPr marL="54864" marR="54864" marT="18288" marB="18288">
                    <a:solidFill>
                      <a:srgbClr val="ECF1F6"/>
                    </a:solidFill>
                  </a:tcPr>
                </a:tc>
                <a:tc>
                  <a:txBody>
                    <a:bodyPr wrap="square"/>
                    <a:lstStyle/>
                    <a:p>
                      <a:r>
                        <a:rPr sz="1100" b="0">
                          <a:solidFill>
                            <a:srgbClr val="282828"/>
                          </a:solidFill>
                          <a:latin typeface="Arial"/>
                        </a:rPr>
                        <a:t>dyson5_tA_EP_cp1/cp2*.txt, dyson5_tA_pz_1k5.txt, dyson5_tA_FF_1k5.txt, BRIEF_to_dyson5.md addenda 42–44</a:t>
                      </a:r>
                    </a:p>
                  </a:txBody>
                  <a:tcPr marL="54864" marR="54864" marT="18288" marB="18288">
                    <a:solidFill>
                      <a:srgbClr val="ECF1F6"/>
                    </a:solidFill>
                  </a:tcPr>
                </a:tc>
                <a:tc>
                  <a:txBody>
                    <a:bodyPr wrap="square"/>
                    <a:lstStyle/>
                    <a:p>
                      <a:r>
                        <a:rPr sz="1100" b="0">
                          <a:solidFill>
                            <a:srgbClr val="282828"/>
                          </a:solidFill>
                          <a:latin typeface="Arial"/>
                        </a:rPr>
                        <a:t>the reference-sphere evaluator and solver (tEP_strict_solve_), the line-focus probe, FreeForm decks with the asphere in the Mon channel and the Zernikes about the pole</a:t>
                      </a:r>
                    </a:p>
                  </a:txBody>
                  <a:tcPr marL="54864" marR="54864" marT="18288" marB="18288">
                    <a:solidFill>
                      <a:srgbClr val="ECF1F6"/>
                    </a:solidFill>
                  </a:tcPr>
                </a:tc>
              </a:tr>
              <a:tr h="657225">
                <a:tc>
                  <a:txBody>
                    <a:bodyPr wrap="square"/>
                    <a:lstStyle/>
                    <a:p>
                      <a:r>
                        <a:rPr sz="1100" b="0">
                          <a:solidFill>
                            <a:srgbClr val="282828"/>
                          </a:solidFill>
                          <a:latin typeface="Arial"/>
                        </a:rPr>
                        <a:t>telescope, TMA unobscured section (step 2/2b, Linux)</a:t>
                      </a:r>
                    </a:p>
                  </a:txBody>
                  <a:tcPr marL="54864" marR="54864" marT="18288" marB="18288">
                    <a:solidFill>
                      <a:srgbClr val="FFFFFF"/>
                    </a:solidFill>
                  </a:tcPr>
                </a:tc>
                <a:tc>
                  <a:txBody>
                    <a:bodyPr wrap="square"/>
                    <a:lstStyle/>
                    <a:p>
                      <a:r>
                        <a:rPr sz="1100" b="0">
                          <a:solidFill>
                            <a:srgbClr val="282828"/>
                          </a:solidFill>
                          <a:latin typeface="Arial"/>
                        </a:rPr>
                        <a:t>dyson5_tma_step2_linux.m</a:t>
                      </a:r>
                    </a:p>
                  </a:txBody>
                  <a:tcPr marL="54864" marR="54864" marT="18288" marB="18288">
                    <a:solidFill>
                      <a:srgbClr val="FFFFFF"/>
                    </a:solidFill>
                  </a:tcPr>
                </a:tc>
                <a:tc>
                  <a:txBody>
                    <a:bodyPr wrap="square"/>
                    <a:lstStyle/>
                    <a:p>
                      <a:r>
                        <a:rPr sz="1100" b="0">
                          <a:solidFill>
                            <a:srgbClr val="282828"/>
                          </a:solidFill>
                          <a:latin typeface="Arial"/>
                        </a:rPr>
                        <a:t>dyson5_tma_step2_linux_d170.txt, _d190.txt, dyson5_tma_step2b_linux_d205.txt, _d205_1k5.in, _layout_*.png</a:t>
                      </a:r>
                    </a:p>
                  </a:txBody>
                  <a:tcPr marL="54864" marR="54864" marT="18288" marB="18288">
                    <a:solidFill>
                      <a:srgbClr val="FFFFFF"/>
                    </a:solidFill>
                  </a:tcPr>
                </a:tc>
                <a:tc>
                  <a:txBody>
                    <a:bodyPr wrap="square"/>
                    <a:lstStyle/>
                    <a:p>
                      <a:r>
                        <a:rPr sz="1100" b="0">
                          <a:solidFill>
                            <a:srgbClr val="282828"/>
                          </a:solidFill>
                          <a:latin typeface="Arial"/>
                        </a:rPr>
                        <a:t>Telescope.set_offaxis, CALIB over the strip with the per-field position rows, check_clipping</a:t>
                      </a:r>
                    </a:p>
                  </a:txBody>
                  <a:tcPr marL="54864" marR="54864" marT="18288" marB="18288">
                    <a:solidFill>
                      <a:srgbClr val="FFFFFF"/>
                    </a:solidFill>
                  </a:tcPr>
                </a:tc>
              </a:tr>
            </a:tbl>
          </a:graphicData>
        </a:graphic>
      </p:graphicFrame>
      <p:sp>
        <p:nvSpPr>
          <p:cNvPr id="5" name="TextBox 4"/>
          <p:cNvSpPr txBox="1"/>
          <p:nvPr/>
        </p:nvSpPr>
        <p:spPr>
          <a:xfrm>
            <a:off x="411480" y="1044016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