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point-diffraction interferometer for the DM gauge</a:t>
            </a:r>
          </a:p>
          <a:p>
            <a:pPr>
              <a:spcAft>
                <a:spcPts val="1400"/>
              </a:spcAft>
            </a:pPr>
            <a:r>
              <a:rPr sz="2200" b="0">
                <a:solidFill>
                  <a:srgbClr val="282828"/>
                </a:solidFill>
                <a:latin typeface="Arial"/>
              </a:rPr>
              <a:t>The same 96 mm bench and the same deformable mirror: a stepped pinhole at the focus, and the phase-shifting self-referenced interferometer with a waveguide reference (Dube et al. 2024), read exactly and compared with the Zernike sensor's stepped and polarized-dimple readings</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both readings built into the sensor runner and gated; the flat-matrix record measured; the fiber-reference record, the 1 λ/D pinhole, the step-scheme trade and the closed-loop rows with a camera-drift knob in progress.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a reference made from the beam's own focal core, kept clean</a:t>
            </a:r>
          </a:p>
          <a:p>
            <a:pPr>
              <a:spcAft>
                <a:spcPts val="0"/>
              </a:spcAft>
            </a:pPr>
            <a:r>
              <a:rPr sz="1250" b="0">
                <a:solidFill>
                  <a:srgbClr val="6E6E6E"/>
                </a:solidFill>
                <a:latin typeface="Arial"/>
              </a:rPr>
              <a:t>A pinhole passes only the core of the spot; what diffracts from it is a smooth wave whose shape barely depends on the aberration that made the spot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Common-path form (P): a pinhole in a partly transmitting plate at the focus.  The core passes the pinhole and spreads over the pupil image as the reference; the rest of the beam passes the plate, attenuated so the two amplitudes match.  Stepping the pinhole's phase gives four frames and a textbook four-step solve: exact, linear, amplitude and phase, no small-phase limit, no sign fold.</a:t>
            </a:r>
          </a:p>
          <a:p>
            <a:pPr>
              <a:spcAft>
                <a:spcPts val="600"/>
              </a:spcAft>
            </a:pPr>
            <a:r>
              <a:rPr sz="1200" b="0">
                <a:solidFill>
                  <a:srgbClr val="282828"/>
                </a:solidFill>
                <a:latin typeface="Arial"/>
              </a:rPr>
              <a:t>•  The Zernike sensor is this instrument with a phase dimple and a clear plate.  At unit plate transmission and the dimple's diameter, the stepped pinhole reading reproduces the sensor's stepped reading to 5×10⁻¹⁵ (check G7).  What the pinhole changes is the reference: smaller and attenuated, so it moves less with the surface.</a:t>
            </a:r>
          </a:p>
          <a:p>
            <a:pPr>
              <a:spcAft>
                <a:spcPts val="600"/>
              </a:spcAft>
            </a:pPr>
            <a:r>
              <a:rPr sz="1200" b="0">
                <a:solidFill>
                  <a:srgbClr val="282828"/>
                </a:solidFill>
                <a:latin typeface="Arial"/>
              </a:rPr>
              <a:t>•  The price is light: the plate transmission squared, 0.72² here; the sensor keeps all of it.</a:t>
            </a:r>
          </a:p>
        </p:txBody>
      </p:sp>
      <p:pic>
        <p:nvPicPr>
          <p:cNvPr id="5" name="Picture 4" descr="pdi_dev3_pdi.png"/>
          <p:cNvPicPr>
            <a:picLocks noChangeAspect="1"/>
          </p:cNvPicPr>
          <p:nvPr/>
        </p:nvPicPr>
        <p:blipFill>
          <a:blip r:embed="rId2"/>
          <a:stretch>
            <a:fillRect/>
          </a:stretch>
        </p:blipFill>
        <p:spPr>
          <a:xfrm>
            <a:off x="7037912" y="1298448"/>
            <a:ext cx="4120734" cy="2402332"/>
          </a:xfrm>
          <a:prstGeom prst="rect">
            <a:avLst/>
          </a:prstGeom>
        </p:spPr>
      </p:pic>
      <p:sp>
        <p:nvSpPr>
          <p:cNvPr id="6" name="TextBox 5"/>
          <p:cNvSpPr txBox="1"/>
          <p:nvPr/>
        </p:nvSpPr>
        <p:spPr>
          <a:xfrm>
            <a:off x="6400800" y="3719068"/>
            <a:ext cx="5394960" cy="889508"/>
          </a:xfrm>
          <a:prstGeom prst="rect">
            <a:avLst/>
          </a:prstGeom>
          <a:noFill/>
        </p:spPr>
        <p:txBody>
          <a:bodyPr wrap="square">
            <a:spAutoFit/>
          </a:bodyPr>
          <a:lstStyle/>
          <a:p>
            <a:pPr algn="ctr">
              <a:spcAft>
                <a:spcPts val="0"/>
              </a:spcAft>
            </a:pPr>
            <a:r>
              <a:rPr sz="1000" b="0">
                <a:solidFill>
                  <a:srgbClr val="6E6E6E"/>
                </a:solidFill>
                <a:latin typeface="Arial"/>
              </a:rPr>
              <a:t>The focal spot on the flat DM with the 2 λ/D pinhole (red), the sensor's dimple (green, the same size) and the waveguide mode's 1/e contour (brown); the reference amplitudes across the pupil image; how much each reference moves under the 30 nm working surface, by pinhole size; the fringe visibility of both readings on the flat.  Dev-resolution run.</a:t>
            </a:r>
          </a:p>
        </p:txBody>
      </p:sp>
      <p:sp>
        <p:nvSpPr>
          <p:cNvPr id="7" name="TextBox 6"/>
          <p:cNvSpPr txBox="1"/>
          <p:nvPr/>
        </p:nvSpPr>
        <p:spPr>
          <a:xfrm>
            <a:off x="6400800" y="4645152"/>
            <a:ext cx="5394960" cy="274320"/>
          </a:xfrm>
          <a:prstGeom prst="rect">
            <a:avLst/>
          </a:prstGeom>
          <a:noFill/>
        </p:spPr>
        <p:txBody>
          <a:bodyPr wrap="square">
            <a:spAutoFit/>
          </a:bodyPr>
          <a:lstStyle/>
          <a:p>
            <a:pPr>
              <a:spcAft>
                <a:spcPts val="600"/>
              </a:spcAft>
            </a:pPr>
            <a:r>
              <a:rPr sz="1050" b="0">
                <a:solidFill>
                  <a:srgbClr val="6E6E6E"/>
                </a:solidFill>
                <a:latin typeface="Arial"/>
              </a:rPr>
              <a:t>Smartt &amp; Steel 1975 (PDI); Medecki, Tejnil, Goldberg, Bokor 1996 (phase-shifting PDI); Naulleau 1999 (EUV PS/PDI, reference accurate to λ/330).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P/SRI: the reference from a single-mode waveguide, stepped in the chip</a:t>
            </a:r>
          </a:p>
          <a:p>
            <a:pPr>
              <a:spcAft>
                <a:spcPts val="0"/>
              </a:spcAft>
            </a:pPr>
            <a:r>
              <a:rPr sz="1250" b="0">
                <a:solidFill>
                  <a:srgbClr val="6E6E6E"/>
                </a:solidFill>
                <a:latin typeface="Arial"/>
              </a:rPr>
              <a:t>Dube et al. 2024 (SPIE 13092-178): a non-common-path interferometer that a coronagraph layout can carry, measuring both phase and amplitude and high-pass filtering the camera's slow drift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Layout: a plate beamsplitter sends 60% of the light to a reference arm that focuses onto a single-mode waveguide in a photonic chip; only the waveguide's mode comes back out — the point-diffraction reference — phase-shifted thermo-optically, recollimated by two OAPs and recombined with the 40% test beam.  Out of band, with a laser and a notch filter in the science channel.</a:t>
            </a:r>
          </a:p>
          <a:p>
            <a:pPr>
              <a:spcAft>
                <a:spcPts val="600"/>
              </a:spcAft>
            </a:pPr>
            <a:r>
              <a:rPr sz="1200" b="0">
                <a:solidFill>
                  <a:srgbClr val="282828"/>
                </a:solidFill>
                <a:latin typeface="Arial"/>
              </a:rPr>
              <a:t>•  Reconstruction: the five-frame Schwider–Hariharan scan; sums with weights that add to zero give the field's cosine and sine per pixel, hence amplitude and phase.  The change between two measurements is taken by complex division, so a 20 pm change on top of a wrapped absolute phase comes back exact (their example: 10⁻¹⁴ nm).</a:t>
            </a:r>
          </a:p>
          <a:p>
            <a:pPr>
              <a:spcAft>
                <a:spcPts val="600"/>
              </a:spcAft>
            </a:pPr>
            <a:r>
              <a:rPr sz="1200" b="0">
                <a:solidFill>
                  <a:srgbClr val="282828"/>
                </a:solidFill>
                <a:latin typeface="Arial"/>
              </a:rPr>
              <a:t>•  Why phase shifting: any camera pattern constant within one scan subtracts; Roman's Zernike sensor is limited by ~1 electron per pixel of camera drift over 12 hours.</a:t>
            </a:r>
          </a:p>
          <a:p>
            <a:pPr>
              <a:spcAft>
                <a:spcPts val="600"/>
              </a:spcAft>
            </a:pPr>
            <a:r>
              <a:rPr sz="1200" b="0">
                <a:solidFill>
                  <a:srgbClr val="282828"/>
                </a:solidFill>
                <a:latin typeface="Arial"/>
              </a:rPr>
              <a:t>•  Modeled here as their code has it: the exact step-index mode (V 2.3, b 0.5, core radius 0.5 λ/D), the coupling of each state's focal field into it, the 60/40 split, the four-step and the five-frame schemes, an optional shutter frame of the reference alone.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moves with the surface, and what does not.  The waveguide fixes the reference's shape; the surface changes only how much light couples in — a scalar.  Under the 30 nm working surface the coupling drops to 0.86 with 0.025 rad of phase (record run); the differential phase divides the scalar out.</a:t>
            </a:r>
          </a:p>
          <a:p>
            <a:pPr>
              <a:spcAft>
                <a:spcPts val="600"/>
              </a:spcAft>
            </a:pPr>
            <a:r>
              <a:rPr sz="1200" b="0">
                <a:solidFill>
                  <a:srgbClr val="282828"/>
                </a:solidFill>
                <a:latin typeface="Arial"/>
              </a:rPr>
              <a:t>•  The pinhole reference by size (record 1, 30 nm surface): shape change 0.10% at 0.5 λ/D, 0.26% at 1, 0.58% at 1.5, 1.06% at 2 (the dimple), 2.6% at 3; the amplitude scale 0.86 at every size — the Strehl ratio.</a:t>
            </a:r>
          </a:p>
          <a:p>
            <a:pPr>
              <a:spcAft>
                <a:spcPts val="600"/>
              </a:spcAft>
            </a:pPr>
            <a:r>
              <a:rPr sz="1200" b="0">
                <a:solidFill>
                  <a:srgbClr val="282828"/>
                </a:solidFill>
                <a:latin typeface="Arial"/>
              </a:rPr>
              <a:t>•  Coupling and light: 59% of the focal light couples into the mode on the flat DM; with the 60/40 split the reference is budget-limited to 73% of the visibility-1 amplitude; visibility 0.86, throughput 0.75.</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Their next steps, stated in the paper: noise, non-common-path drift, detector systematics.  The model here is ideal in the arm; the camera-drift knob (slide 7) is the first of those.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and the scoring: nothing changes but the mask and the solve</a:t>
            </a:r>
          </a:p>
          <a:p>
            <a:pPr>
              <a:spcAft>
                <a:spcPts val="0"/>
              </a:spcAft>
            </a:pPr>
            <a:r>
              <a:rPr sz="1250" b="0">
                <a:solidFill>
                  <a:srgbClr val="6E6E6E"/>
                </a:solidFill>
                <a:latin typeface="Arial"/>
              </a:rPr>
              <a:t>The sensor's test arm, the same tuned tail, the same DM truth, the same actuator-space score and the same closed loop</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Bench: the TG96 test arm alone with the mask seat inside the reference-sphere bracket at the internal focus; the camera at the DM image.  The pinhole plate replaces the dimple plate; the P/SRI adds nothing to the bench — its reference is synthesized from the traced pupil field, exactly as the paper's model does.</a:t>
            </a:r>
          </a:p>
          <a:p>
            <a:pPr>
              <a:spcAft>
                <a:spcPts val="600"/>
              </a:spcAft>
            </a:pPr>
            <a:r>
              <a:rPr sz="1500" b="0">
                <a:solidFill>
                  <a:srgbClr val="282828"/>
                </a:solidFill>
                <a:latin typeface="Arial"/>
              </a:rPr>
              <a:t>•  Checks that run every time (all pass at 10⁻¹⁵ to 10⁻¹⁰): the reference model against the engine's own field; the flat DM reads zero; the 100 nm sparse pokes beyond the sensor's fold come back to 0.3 pm (pinhole) and 0.000 pm (waveguide) against the engine's phase; the pinhole reading at unit transmission equals the stepped Zernike reading.</a:t>
            </a:r>
          </a:p>
          <a:p>
            <a:pPr>
              <a:spcAft>
                <a:spcPts val="600"/>
              </a:spcAft>
            </a:pPr>
            <a:r>
              <a:rPr sz="1500" b="0">
                <a:solidFill>
                  <a:srgbClr val="282828"/>
                </a:solidFill>
                <a:latin typeface="Arial"/>
              </a:rPr>
              <a:t>•  Scored as the sensor is: a change of known actuators on a working surface, before and after, fitted through the measured response matrix (every actuator poked once in sparse grids) in actuator units; gain, floor (pm), SNR; photons per measurement counted at the camera, the throughput printed beside them.</a:t>
            </a:r>
          </a:p>
        </p:txBody>
      </p:sp>
      <p:graphicFrame>
        <p:nvGraphicFramePr>
          <p:cNvPr id="5" name="Table 4"/>
          <p:cNvGraphicFramePr>
            <a:graphicFrameLocks noGrp="1"/>
          </p:cNvGraphicFramePr>
          <p:nvPr/>
        </p:nvGraphicFramePr>
        <p:xfrm>
          <a:off x="411480" y="3984498"/>
          <a:ext cx="11368735" cy="1400175"/>
        </p:xfrm>
        <a:graphic>
          <a:graphicData uri="http://schemas.openxmlformats.org/drawingml/2006/table">
            <a:tbl>
              <a:tblPr firstRow="1" bandRow="1">
                <a:tableStyleId>{5C22544A-7EE6-4342-B048-85BDC9FD1C3A}</a:tableStyleId>
              </a:tblPr>
              <a:tblGrid>
                <a:gridCol w="2035048"/>
                <a:gridCol w="1744472"/>
                <a:gridCol w="6716471"/>
                <a:gridCol w="872744"/>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frames per measurement</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light kept</a:t>
                      </a:r>
                    </a:p>
                  </a:txBody>
                  <a:tcPr marL="54864" marR="54864" marT="18288" marB="18288">
                    <a:solidFill>
                      <a:srgbClr val="1F4E79"/>
                    </a:solidFill>
                  </a:tcPr>
                </a:tc>
              </a:tr>
              <a:tr h="280035">
                <a:tc>
                  <a:txBody>
                    <a:bodyPr wrap="square"/>
                    <a:lstStyle/>
                    <a:p>
                      <a:r>
                        <a:rPr sz="1100" b="0">
                          <a:solidFill>
                            <a:srgbClr val="282828"/>
                          </a:solidFill>
                          <a:latin typeface="Arial"/>
                        </a:rPr>
                        <a:t>Zernike stepped (S)</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the dimple's core, moves with the surface</a:t>
                      </a:r>
                    </a:p>
                  </a:txBody>
                  <a:tcPr marL="54864" marR="54864" marT="18288" marB="18288">
                    <a:solidFill>
                      <a:srgbClr val="FFFFFF"/>
                    </a:solidFill>
                  </a:tcPr>
                </a:tc>
                <a:tc>
                  <a:txBody>
                    <a:bodyPr wrap="square"/>
                    <a:lstStyle/>
                    <a:p>
                      <a:r>
                        <a:rPr sz="1100" b="0">
                          <a:solidFill>
                            <a:srgbClr val="282828"/>
                          </a:solidFill>
                          <a:latin typeface="Arial"/>
                        </a:rPr>
                        <a:t>all</a:t>
                      </a:r>
                    </a:p>
                  </a:txBody>
                  <a:tcPr marL="54864" marR="54864" marT="18288" marB="18288">
                    <a:solidFill>
                      <a:srgbClr val="FFFFFF"/>
                    </a:solidFill>
                  </a:tcPr>
                </a:tc>
              </a:tr>
              <a:tr h="280035">
                <a:tc>
                  <a:txBody>
                    <a:bodyPr wrap="square"/>
                    <a:lstStyle/>
                    <a:p>
                      <a:r>
                        <a:rPr sz="1100" b="0">
                          <a:solidFill>
                            <a:srgbClr val="282828"/>
                          </a:solidFill>
                          <a:latin typeface="Arial"/>
                        </a:rPr>
                        <a:t>Zernike polarized pair (V)</a:t>
                      </a:r>
                    </a:p>
                  </a:txBody>
                  <a:tcPr marL="54864" marR="54864" marT="18288" marB="18288">
                    <a:solidFill>
                      <a:srgbClr val="ECF1F6"/>
                    </a:solidFill>
                  </a:tcPr>
                </a:tc>
                <a:tc>
                  <a:txBody>
                    <a:bodyPr wrap="square"/>
                    <a:lstStyle/>
                    <a:p>
                      <a:r>
                        <a:rPr sz="1100" b="0">
                          <a:solidFill>
                            <a:srgbClr val="282828"/>
                          </a:solidFill>
                          <a:latin typeface="Arial"/>
                        </a:rPr>
                        <a:t>2 at once</a:t>
                      </a:r>
                    </a:p>
                  </a:txBody>
                  <a:tcPr marL="54864" marR="54864" marT="18288" marB="18288">
                    <a:solidFill>
                      <a:srgbClr val="ECF1F6"/>
                    </a:solidFill>
                  </a:tcPr>
                </a:tc>
                <a:tc>
                  <a:txBody>
                    <a:bodyPr wrap="square"/>
                    <a:lstStyle/>
                    <a:p>
                      <a:r>
                        <a:rPr sz="1100" b="0">
                          <a:solidFill>
                            <a:srgbClr val="282828"/>
                          </a:solidFill>
                          <a:latin typeface="Arial"/>
                        </a:rPr>
                        <a:t>the same, re-computed</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r>
              <a:tr h="280035">
                <a:tc>
                  <a:txBody>
                    <a:bodyPr wrap="square"/>
                    <a:lstStyle/>
                    <a:p>
                      <a:r>
                        <a:rPr sz="1100" b="0">
                          <a:solidFill>
                            <a:srgbClr val="282828"/>
                          </a:solidFill>
                          <a:latin typeface="Arial"/>
                        </a:rPr>
                        <a:t>stepped pinhole (P)</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pinhole-diffracted, iterated</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r>
              <a:tr h="280035">
                <a:tc>
                  <a:txBody>
                    <a:bodyPr wrap="square"/>
                    <a:lstStyle/>
                    <a:p>
                      <a:r>
                        <a:rPr sz="1100" b="0">
                          <a:solidFill>
                            <a:srgbClr val="282828"/>
                          </a:solidFill>
                          <a:latin typeface="Arial"/>
                        </a:rPr>
                        <a:t>P/SRI waveguide (PF)</a:t>
                      </a:r>
                    </a:p>
                  </a:txBody>
                  <a:tcPr marL="54864" marR="54864" marT="18288" marB="18288">
                    <a:solidFill>
                      <a:srgbClr val="ECF1F6"/>
                    </a:solidFill>
                  </a:tcPr>
                </a:tc>
                <a:tc>
                  <a:txBody>
                    <a:bodyPr wrap="square"/>
                    <a:lstStyle/>
                    <a:p>
                      <a:r>
                        <a:rPr sz="1100" b="0">
                          <a:solidFill>
                            <a:srgbClr val="282828"/>
                          </a:solidFill>
                          <a:latin typeface="Arial"/>
                        </a:rPr>
                        <a:t>4 (or 5)</a:t>
                      </a:r>
                    </a:p>
                  </a:txBody>
                  <a:tcPr marL="54864" marR="54864" marT="18288" marB="18288">
                    <a:solidFill>
                      <a:srgbClr val="ECF1F6"/>
                    </a:solidFill>
                  </a:tcPr>
                </a:tc>
                <a:tc>
                  <a:txBody>
                    <a:bodyPr wrap="square"/>
                    <a:lstStyle/>
                    <a:p>
                      <a:r>
                        <a:rPr sz="1100" b="0">
                          <a:solidFill>
                            <a:srgbClr val="282828"/>
                          </a:solidFill>
                          <a:latin typeface="Arial"/>
                        </a:rPr>
                        <a:t>the waveguide mode, fixed</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6" name="TextBox 5"/>
          <p:cNvSpPr txBox="1"/>
          <p:nvPr/>
        </p:nvSpPr>
        <p:spPr>
          <a:xfrm>
            <a:off x="411480" y="5530977"/>
            <a:ext cx="11368735" cy="274320"/>
          </a:xfrm>
          <a:prstGeom prst="rect">
            <a:avLst/>
          </a:prstGeom>
          <a:noFill/>
        </p:spPr>
        <p:txBody>
          <a:bodyPr wrap="square">
            <a:spAutoFit/>
          </a:bodyPr>
          <a:lstStyle/>
          <a:p>
            <a:pPr>
              <a:spcAft>
                <a:spcPts val="600"/>
              </a:spcAft>
            </a:pPr>
            <a:r>
              <a:rPr sz="1050" b="0">
                <a:solidFill>
                  <a:srgbClr val="6E6E6E"/>
                </a:solidFill>
                <a:latin typeface="Arial"/>
              </a:rPr>
              <a:t>Photons "per measurement": one DM shape measured once, all frames summed.  Sampling: the pinhole gets the dimple's rule (≥ 6 pixels across at the focus; 3.96 per λ/D at 1024/193, so 1 λ/D needs the 2048 grid).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P/SRI as a buildable bench: two arms, split and recombined, the pinhole and the phase shifter in the reference arm</a:t>
            </a:r>
          </a:p>
          <a:p>
            <a:pPr>
              <a:spcAft>
                <a:spcPts val="0"/>
              </a:spcAft>
            </a:pPr>
            <a:r>
              <a:rPr sz="1250" b="0">
                <a:solidFill>
                  <a:srgbClr val="6E6E6E"/>
                </a:solidFill>
                <a:latin typeface="Arial"/>
              </a:rPr>
              <a:t>Behind the DM return a 45° plate splits the beam; the test arm runs the top and right legs, the reference arm the left and bottom legs through a focusing lens, the pinhole seat and a recollimating lens; a second plate recombines them into the pupil-imaging tail and one camera</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sri_layout.png"/>
          <p:cNvPicPr>
            <a:picLocks noChangeAspect="1"/>
          </p:cNvPicPr>
          <p:nvPr/>
        </p:nvPicPr>
        <p:blipFill>
          <a:blip r:embed="rId2"/>
          <a:stretch>
            <a:fillRect/>
          </a:stretch>
        </p:blipFill>
        <p:spPr>
          <a:xfrm>
            <a:off x="3238558" y="1298448"/>
            <a:ext cx="5714578" cy="3298952"/>
          </a:xfrm>
          <a:prstGeom prst="rect">
            <a:avLst/>
          </a:prstGeom>
        </p:spPr>
      </p:pic>
      <p:sp>
        <p:nvSpPr>
          <p:cNvPr id="5" name="TextBox 4"/>
          <p:cNvSpPr txBox="1"/>
          <p:nvPr/>
        </p:nvSpPr>
        <p:spPr>
          <a:xfrm>
            <a:off x="411480" y="4615688"/>
            <a:ext cx="11368735" cy="724408"/>
          </a:xfrm>
          <a:prstGeom prst="rect">
            <a:avLst/>
          </a:prstGeom>
          <a:noFill/>
        </p:spPr>
        <p:txBody>
          <a:bodyPr wrap="square">
            <a:spAutoFit/>
          </a:bodyPr>
          <a:lstStyle/>
          <a:p>
            <a:pPr algn="ctr">
              <a:spcAft>
                <a:spcPts val="0"/>
              </a:spcAft>
            </a:pPr>
            <a:r>
              <a:rPr sz="1000" b="0">
                <a:solidFill>
                  <a:srgbClr val="6E6E6E"/>
                </a:solidFill>
                <a:latin typeface="Arial"/>
              </a:rPr>
              <a:t>Looking down on the bench (test deck in orange, reference arm in blue; distances in millimeters along the chief ray).  The TG96 front end is unchanged to the recombination plane (12); the splitter BS2 (13) starts the Mach–Zehnder: the test arm to the fold M1 (15, 320 mm), the lens-glass compensator (16–17) and 758 mm down to BS3 (18); the reference arm 120 mm to Lr1 (14), 300 mm to the pinhole seat (17) inside its sphere bracket, 300 mm to Lr2 (20), the fold M3 (22) and the bottom leg to BS3, where it transmits; then L2 (19), the empty seat (21), the relay (22–23) and the camera (24) at the image of the DM.</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macos.design.psri_bench: each arm transmits one plate and reflects off the other's front face (equal plate glass); a 21.9 mm normal-incidence plate in the test arm nulls the reference lenses' glass so the two chief optical paths from the source to the camera are equal to the digit (4453.1 mm); the bottom fold is placed so the exit chiefs coincide (2×10⁻¹³ mm).  Lr1's conic (−0.578) is solved on the traced bench for a 0.1 µm ray blur at the pinhole, which sits at the true focus (+1.10 mm from the thin-lens seat); Lr2 is Lr1's mirror image about the pinhole, so it recollimates the pinhole's wave exactly.  The photonic chip with its thermo-optic phase shifter occupies the pinhole seat; both plates are 60/40 in power.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arms traced</a:t>
            </a:r>
          </a:p>
          <a:p>
            <a:pPr>
              <a:spcAft>
                <a:spcPts val="0"/>
              </a:spcAft>
            </a:pPr>
            <a:r>
              <a:rPr sz="1250" b="0">
                <a:solidFill>
                  <a:srgbClr val="6E6E6E"/>
                </a:solidFill>
                <a:latin typeface="Arial"/>
              </a:rPr>
              <a:t>Test arm (green) and reference arm (blue) through the pinhole focus, recombined at the second plate into the shared tail; every ray of both decks reaches the camera and the two chief rays land on the same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sri_render.png"/>
          <p:cNvPicPr>
            <a:picLocks noChangeAspect="1"/>
          </p:cNvPicPr>
          <p:nvPr/>
        </p:nvPicPr>
        <p:blipFill>
          <a:blip r:embed="rId2"/>
          <a:stretch>
            <a:fillRect/>
          </a:stretch>
        </p:blipFill>
        <p:spPr>
          <a:xfrm>
            <a:off x="1017734" y="1298448"/>
            <a:ext cx="10156227" cy="3555492"/>
          </a:xfrm>
          <a:prstGeom prst="rect">
            <a:avLst/>
          </a:prstGeom>
        </p:spPr>
      </p:pic>
      <p:sp>
        <p:nvSpPr>
          <p:cNvPr id="5" name="TextBox 4"/>
          <p:cNvSpPr txBox="1"/>
          <p:nvPr/>
        </p:nvSpPr>
        <p:spPr>
          <a:xfrm>
            <a:off x="411480" y="487222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rig as traced by the engine, from above the bench and in ISO view (labels are the test deck's): the source and collimator at left, the DM (E7) on its 700 mm leg, the splitter and its compensator, the Mach–Zehnder with the test arm's fold (E15), compensator slab (E16–E17) and recombiner (E18); the reference arm, unlabeled, down the left leg through its focusing lens to the pinhole focus, the recollimating lens and the bottom fold; then the focusing lens (E19), the relay and the camera (E24).</a:t>
            </a:r>
          </a:p>
        </p:txBody>
      </p:sp>
      <p:sp>
        <p:nvSpPr>
          <p:cNvPr id="6" name="TextBox 5"/>
          <p:cNvSpPr txBox="1"/>
          <p:nvPr/>
        </p:nvSpPr>
        <p:spPr>
          <a:xfrm>
            <a:off x="411480" y="5468112"/>
            <a:ext cx="11368735" cy="274320"/>
          </a:xfrm>
          <a:prstGeom prst="rect">
            <a:avLst/>
          </a:prstGeom>
          <a:noFill/>
        </p:spPr>
        <p:txBody>
          <a:bodyPr wrap="square">
            <a:spAutoFit/>
          </a:bodyPr>
          <a:lstStyle/>
          <a:p>
            <a:pPr>
              <a:spcAft>
                <a:spcPts val="600"/>
              </a:spcAft>
            </a:pPr>
            <a:r>
              <a:rPr sz="1050" b="0">
                <a:solidFill>
                  <a:srgbClr val="6E6E6E"/>
                </a:solidFill>
                <a:latin typeface="Arial"/>
              </a:rPr>
              <a:t>Two decks (psri_test.in, psri_ref.in) traced separately, as the Twyman–Green is; both send 3210 of 3210 rays to the camera, chief rays 2×10⁻¹² mm apart, camera planes coincident to 3×10⁻¹³ mm, ray footprints 3.60 and 3.29 mm.  The collimated beam behind the DM carries the front end's 5.8 µm rms collimation residual, which the tuned tail lens cancels for the test arm and the pinhole removes from the reference; with Lr2 mirroring Lr1 the recollimated reference reproduces that wave to 0.5% (5.78 against 5.80 µm, the reversibility check).  The readings on the following slides used a reference synthesized from the test deck's field; running them on this two-deck bench is the next step.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1: on the working surface the three exact readings agree, and the stepped sensor does not</a:t>
            </a:r>
          </a:p>
          <a:p>
            <a:pPr>
              <a:spcAft>
                <a:spcPts val="0"/>
              </a:spcAft>
            </a:pPr>
            <a:r>
              <a:rPr sz="1250" b="0">
                <a:solidFill>
                  <a:srgbClr val="6E6E6E"/>
                </a:solidFill>
                <a:latin typeface="Arial"/>
              </a:rPr>
              <a:t>A 10 nm actuator change on a 30 nm surface reads at 0.93–0.94 for the polarized pair, the pinhole and the waveguide; 0.75 for the stepped dimple (flat-DM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4341698"/>
                <a:gridCol w="1308608"/>
                <a:gridCol w="1308608"/>
                <a:gridCol w="1308608"/>
                <a:gridCol w="3101213"/>
              </a:tblGrid>
              <a:tr h="280035">
                <a:tc>
                  <a:txBody>
                    <a:bodyPr wrap="square"/>
                    <a:lstStyle/>
                    <a:p>
                      <a:r>
                        <a:rPr sz="1100" b="1">
                          <a:solidFill>
                            <a:srgbClr val="FFFFFF"/>
                          </a:solidFill>
                          <a:latin typeface="Arial"/>
                        </a:rPr>
                        <a:t>96×96, calibration on the flat DM (runs/pdi193)</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 (pinhole-shaped reference)</a:t>
                      </a:r>
                    </a:p>
                  </a:txBody>
                  <a:tcPr marL="54864" marR="54864" marT="18288" marB="18288">
                    <a:solidFill>
                      <a:srgbClr val="1F4E79"/>
                    </a:solidFill>
                  </a:tcPr>
                </a:tc>
              </a:tr>
              <a:tr h="280035">
                <a:tc>
                  <a:txBody>
                    <a:bodyPr wrap="square"/>
                    <a:lstStyle/>
                    <a:p>
                      <a:r>
                        <a:rPr sz="1100" b="0">
                          <a:solidFill>
                            <a:srgbClr val="282828"/>
                          </a:solidFill>
                          <a:latin typeface="Arial"/>
                        </a:rPr>
                        <a:t>20 nm on the flat: gain / floor pm</a:t>
                      </a:r>
                    </a:p>
                  </a:txBody>
                  <a:tcPr marL="54864" marR="54864" marT="18288" marB="18288">
                    <a:solidFill>
                      <a:srgbClr val="FFFFFF"/>
                    </a:solidFill>
                  </a:tcPr>
                </a:tc>
                <a:tc>
                  <a:txBody>
                    <a:bodyPr wrap="square"/>
                    <a:lstStyle/>
                    <a:p>
                      <a:r>
                        <a:rPr sz="1100" b="0">
                          <a:solidFill>
                            <a:srgbClr val="282828"/>
                          </a:solidFill>
                          <a:latin typeface="Arial"/>
                        </a:rPr>
                        <a:t>0.996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c>
                  <a:txBody>
                    <a:bodyPr wrap="square"/>
                    <a:lstStyle/>
                    <a:p>
                      <a:r>
                        <a:rPr sz="1100" b="0">
                          <a:solidFill>
                            <a:srgbClr val="282828"/>
                          </a:solidFill>
                          <a:latin typeface="Arial"/>
                        </a:rPr>
                        <a:t>0.994 / 4</a:t>
                      </a:r>
                    </a:p>
                  </a:txBody>
                  <a:tcPr marL="54864" marR="54864" marT="18288" marB="18288">
                    <a:solidFill>
                      <a:srgbClr val="FFFFFF"/>
                    </a:solidFill>
                  </a:tcPr>
                </a:tc>
              </a:tr>
              <a:tr h="280035">
                <a:tc>
                  <a:txBody>
                    <a:bodyPr wrap="square"/>
                    <a:lstStyle/>
                    <a:p>
                      <a:r>
                        <a:rPr sz="1100" b="0">
                          <a:solidFill>
                            <a:srgbClr val="282828"/>
                          </a:solidFill>
                          <a:latin typeface="Arial"/>
                        </a:rPr>
                        <a:t>10 nm on the 30 nm surface: gain / error pm / SNR</a:t>
                      </a:r>
                    </a:p>
                  </a:txBody>
                  <a:tcPr marL="54864" marR="54864" marT="18288" marB="18288">
                    <a:solidFill>
                      <a:srgbClr val="ECF1F6"/>
                    </a:solidFill>
                  </a:tcPr>
                </a:tc>
                <a:tc>
                  <a:txBody>
                    <a:bodyPr wrap="square"/>
                    <a:lstStyle/>
                    <a:p>
                      <a:r>
                        <a:rPr sz="1100" b="0">
                          <a:solidFill>
                            <a:srgbClr val="282828"/>
                          </a:solidFill>
                          <a:latin typeface="Arial"/>
                        </a:rPr>
                        <a:t>0.752 / 47 / 444</a:t>
                      </a:r>
                    </a:p>
                  </a:txBody>
                  <a:tcPr marL="54864" marR="54864" marT="18288" marB="18288">
                    <a:solidFill>
                      <a:srgbClr val="ECF1F6"/>
                    </a:solidFill>
                  </a:tcPr>
                </a:tc>
                <a:tc>
                  <a:txBody>
                    <a:bodyPr wrap="square"/>
                    <a:lstStyle/>
                    <a:p>
                      <a:r>
                        <a:rPr sz="1100" b="0">
                          <a:solidFill>
                            <a:srgbClr val="282828"/>
                          </a:solidFill>
                          <a:latin typeface="Arial"/>
                        </a:rPr>
                        <a:t>0.939 / 25 / 419</a:t>
                      </a:r>
                    </a:p>
                  </a:txBody>
                  <a:tcPr marL="54864" marR="54864" marT="18288" marB="18288">
                    <a:solidFill>
                      <a:srgbClr val="ECF1F6"/>
                    </a:solidFill>
                  </a:tcPr>
                </a:tc>
                <a:tc>
                  <a:txBody>
                    <a:bodyPr wrap="square"/>
                    <a:lstStyle/>
                    <a:p>
                      <a:r>
                        <a:rPr sz="1100" b="0">
                          <a:solidFill>
                            <a:srgbClr val="282828"/>
                          </a:solidFill>
                          <a:latin typeface="Arial"/>
                        </a:rPr>
                        <a:t>0.933 / 25 / 420</a:t>
                      </a:r>
                    </a:p>
                  </a:txBody>
                  <a:tcPr marL="54864" marR="54864" marT="18288" marB="18288">
                    <a:solidFill>
                      <a:srgbClr val="ECF1F6"/>
                    </a:solidFill>
                  </a:tcPr>
                </a:tc>
                <a:tc>
                  <a:txBody>
                    <a:bodyPr wrap="square"/>
                    <a:lstStyle/>
                    <a:p>
                      <a:r>
                        <a:rPr sz="1100" b="0">
                          <a:solidFill>
                            <a:srgbClr val="282828"/>
                          </a:solidFill>
                          <a:latin typeface="Arial"/>
                        </a:rPr>
                        <a:t>0.940 / 25 / 418</a:t>
                      </a:r>
                    </a:p>
                  </a:txBody>
                  <a:tcPr marL="54864" marR="54864" marT="18288" marB="18288">
                    <a:solidFill>
                      <a:srgbClr val="ECF1F6"/>
                    </a:solidFill>
                  </a:tcPr>
                </a:tc>
              </a:tr>
              <a:tr h="280035">
                <a:tc>
                  <a:txBody>
                    <a:bodyPr wrap="square"/>
                    <a:lstStyle/>
                    <a:p>
                      <a:r>
                        <a:rPr sz="1100" b="0">
                          <a:solidFill>
                            <a:srgbClr val="282828"/>
                          </a:solidFill>
                          <a:latin typeface="Arial"/>
                        </a:rPr>
                        <a:t>1 nm on 47 actuators, same surface: gain / SNR</a:t>
                      </a:r>
                    </a:p>
                  </a:txBody>
                  <a:tcPr marL="54864" marR="54864" marT="18288" marB="18288">
                    <a:solidFill>
                      <a:srgbClr val="FFFFFF"/>
                    </a:solidFill>
                  </a:tcPr>
                </a:tc>
                <a:tc>
                  <a:txBody>
                    <a:bodyPr wrap="square"/>
                    <a:lstStyle/>
                    <a:p>
                      <a:r>
                        <a:rPr sz="1100" b="0">
                          <a:solidFill>
                            <a:srgbClr val="282828"/>
                          </a:solidFill>
                          <a:latin typeface="Arial"/>
                        </a:rPr>
                        <a:t>0.829 / 82</a:t>
                      </a:r>
                    </a:p>
                  </a:txBody>
                  <a:tcPr marL="54864" marR="54864" marT="18288" marB="18288">
                    <a:solidFill>
                      <a:srgbClr val="FFFFFF"/>
                    </a:solidFill>
                  </a:tcPr>
                </a:tc>
                <a:tc>
                  <a:txBody>
                    <a:bodyPr wrap="square"/>
                    <a:lstStyle/>
                    <a:p>
                      <a:r>
                        <a:rPr sz="1100" b="0">
                          <a:solidFill>
                            <a:srgbClr val="282828"/>
                          </a:solidFill>
                          <a:latin typeface="Arial"/>
                        </a:rPr>
                        <a:t>0.997 / 83</a:t>
                      </a:r>
                    </a:p>
                  </a:txBody>
                  <a:tcPr marL="54864" marR="54864" marT="18288" marB="18288">
                    <a:solidFill>
                      <a:srgbClr val="FFFFFF"/>
                    </a:solidFill>
                  </a:tcPr>
                </a:tc>
                <a:tc>
                  <a:txBody>
                    <a:bodyPr wrap="square"/>
                    <a:lstStyle/>
                    <a:p>
                      <a:r>
                        <a:rPr sz="1100" b="0">
                          <a:solidFill>
                            <a:srgbClr val="282828"/>
                          </a:solidFill>
                          <a:latin typeface="Arial"/>
                        </a:rPr>
                        <a:t>0.992 / 84</a:t>
                      </a:r>
                    </a:p>
                  </a:txBody>
                  <a:tcPr marL="54864" marR="54864" marT="18288" marB="18288">
                    <a:solidFill>
                      <a:srgbClr val="FFFFFF"/>
                    </a:solidFill>
                  </a:tcPr>
                </a:tc>
                <a:tc>
                  <a:txBody>
                    <a:bodyPr wrap="square"/>
                    <a:lstStyle/>
                    <a:p>
                      <a:r>
                        <a:rPr sz="1100" b="0">
                          <a:solidFill>
                            <a:srgbClr val="282828"/>
                          </a:solidFill>
                          <a:latin typeface="Arial"/>
                        </a:rPr>
                        <a:t>0.998 / 83</a:t>
                      </a:r>
                    </a:p>
                  </a:txBody>
                  <a:tcPr marL="54864" marR="54864" marT="18288" marB="18288">
                    <a:solidFill>
                      <a:srgbClr val="FFFFFF"/>
                    </a:solidFill>
                  </a:tcPr>
                </a:tc>
              </a:tr>
              <a:tr h="280035">
                <a:tc>
                  <a:txBody>
                    <a:bodyPr wrap="square"/>
                    <a:lstStyle/>
                    <a:p>
                      <a:r>
                        <a:rPr sz="1100" b="0">
                          <a:solidFill>
                            <a:srgbClr val="282828"/>
                          </a:solidFill>
                          <a:latin typeface="Arial"/>
                        </a:rPr>
                        <a:t>10 nm random on the same surface: gain / error pm</a:t>
                      </a:r>
                    </a:p>
                  </a:txBody>
                  <a:tcPr marL="54864" marR="54864" marT="18288" marB="18288">
                    <a:solidFill>
                      <a:srgbClr val="ECF1F6"/>
                    </a:solidFill>
                  </a:tcPr>
                </a:tc>
                <a:tc>
                  <a:txBody>
                    <a:bodyPr wrap="square"/>
                    <a:lstStyle/>
                    <a:p>
                      <a:r>
                        <a:rPr sz="1100" b="0">
                          <a:solidFill>
                            <a:srgbClr val="282828"/>
                          </a:solidFill>
                          <a:latin typeface="Arial"/>
                        </a:rPr>
                        <a:t>0.818 / 2119</a:t>
                      </a:r>
                    </a:p>
                  </a:txBody>
                  <a:tcPr marL="54864" marR="54864" marT="18288" marB="18288">
                    <a:solidFill>
                      <a:srgbClr val="ECF1F6"/>
                    </a:solidFill>
                  </a:tcPr>
                </a:tc>
                <a:tc>
                  <a:txBody>
                    <a:bodyPr wrap="square"/>
                    <a:lstStyle/>
                    <a:p>
                      <a:r>
                        <a:rPr sz="1100" b="0">
                          <a:solidFill>
                            <a:srgbClr val="282828"/>
                          </a:solidFill>
                          <a:latin typeface="Arial"/>
                        </a:rPr>
                        <a:t>0.999 / 1072</a:t>
                      </a:r>
                    </a:p>
                  </a:txBody>
                  <a:tcPr marL="54864" marR="54864" marT="18288" marB="18288">
                    <a:solidFill>
                      <a:srgbClr val="ECF1F6"/>
                    </a:solidFill>
                  </a:tcPr>
                </a:tc>
                <a:tc>
                  <a:txBody>
                    <a:bodyPr wrap="square"/>
                    <a:lstStyle/>
                    <a:p>
                      <a:r>
                        <a:rPr sz="1100" b="0">
                          <a:solidFill>
                            <a:srgbClr val="282828"/>
                          </a:solidFill>
                          <a:latin typeface="Arial"/>
                        </a:rPr>
                        <a:t>0.993 / 1069</a:t>
                      </a:r>
                    </a:p>
                  </a:txBody>
                  <a:tcPr marL="54864" marR="54864" marT="18288" marB="18288">
                    <a:solidFill>
                      <a:srgbClr val="ECF1F6"/>
                    </a:solidFill>
                  </a:tcPr>
                </a:tc>
                <a:tc>
                  <a:txBody>
                    <a:bodyPr wrap="square"/>
                    <a:lstStyle/>
                    <a:p>
                      <a:r>
                        <a:rPr sz="1100" b="0">
                          <a:solidFill>
                            <a:srgbClr val="282828"/>
                          </a:solidFill>
                          <a:latin typeface="Arial"/>
                        </a:rPr>
                        <a:t>1.001 / 1073</a:t>
                      </a:r>
                    </a:p>
                  </a:txBody>
                  <a:tcPr marL="54864" marR="54864" marT="18288" marB="18288">
                    <a:solidFill>
                      <a:srgbClr val="ECF1F6"/>
                    </a:solidFill>
                  </a:tcPr>
                </a:tc>
              </a:tr>
              <a:tr h="280035">
                <a:tc>
                  <a:txBody>
                    <a:bodyPr wrap="square"/>
                    <a:lstStyle/>
                    <a:p>
                      <a:r>
                        <a:rPr sz="1100" b="0">
                          <a:solidFill>
                            <a:srgbClr val="282828"/>
                          </a:solidFill>
                          <a:latin typeface="Arial"/>
                        </a:rPr>
                        <a:t>working surface at which the gain drops below 0.8</a:t>
                      </a:r>
                    </a:p>
                  </a:txBody>
                  <a:tcPr marL="54864" marR="54864" marT="18288" marB="18288">
                    <a:solidFill>
                      <a:srgbClr val="FFFFFF"/>
                    </a:solidFill>
                  </a:tcPr>
                </a:tc>
                <a:tc>
                  <a:txBody>
                    <a:bodyPr wrap="square"/>
                    <a:lstStyle/>
                    <a:p>
                      <a:r>
                        <a:rPr sz="1100" b="0">
                          <a:solidFill>
                            <a:srgbClr val="282828"/>
                          </a:solidFill>
                          <a:latin typeface="Arial"/>
                        </a:rPr>
                        <a:t>40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120 nm</a:t>
                      </a:r>
                    </a:p>
                  </a:txBody>
                  <a:tcPr marL="54864" marR="54864" marT="18288" marB="18288">
                    <a:solidFill>
                      <a:srgbClr val="FFFFFF"/>
                    </a:solidFill>
                  </a:tcPr>
                </a:tc>
                <a:tc>
                  <a:txBody>
                    <a:bodyPr wrap="square"/>
                    <a:lstStyle/>
                    <a:p>
                      <a:r>
                        <a:rPr sz="1100" b="0">
                          <a:solidFill>
                            <a:srgbClr val="282828"/>
                          </a:solidFill>
                          <a:latin typeface="Arial"/>
                        </a:rPr>
                        <a:t>&gt; 120 nm (0.77 at 120, 0.55 at 240)</a:t>
                      </a:r>
                    </a:p>
                  </a:txBody>
                  <a:tcPr marL="54864" marR="54864" marT="18288" marB="18288">
                    <a:solidFill>
                      <a:srgbClr val="FFFFFF"/>
                    </a:solidFill>
                  </a:tcPr>
                </a:tc>
              </a:tr>
              <a:tr h="280035">
                <a:tc>
                  <a:txBody>
                    <a:bodyPr wrap="square"/>
                    <a:lstStyle/>
                    <a:p>
                      <a:r>
                        <a:rPr sz="1100" b="0">
                          <a:solidFill>
                            <a:srgbClr val="282828"/>
                          </a:solidFill>
                          <a:latin typeface="Arial"/>
                        </a:rPr>
                        <a:t>photons per measurement for 1 pm (camera)</a:t>
                      </a:r>
                    </a:p>
                  </a:txBody>
                  <a:tcPr marL="54864" marR="54864" marT="18288" marB="18288">
                    <a:solidFill>
                      <a:srgbClr val="ECF1F6"/>
                    </a:solidFill>
                  </a:tcPr>
                </a:tc>
                <a:tc>
                  <a:txBody>
                    <a:bodyPr wrap="square"/>
                    <a:lstStyle/>
                    <a:p>
                      <a:r>
                        <a:rPr sz="1100" b="0">
                          <a:solidFill>
                            <a:srgbClr val="282828"/>
                          </a:solidFill>
                          <a:latin typeface="Arial"/>
                        </a:rPr>
                        <a:t>5.4×10¹³</a:t>
                      </a:r>
                    </a:p>
                  </a:txBody>
                  <a:tcPr marL="54864" marR="54864" marT="18288" marB="18288">
                    <a:solidFill>
                      <a:srgbClr val="ECF1F6"/>
                    </a:solidFill>
                  </a:tcPr>
                </a:tc>
                <a:tc>
                  <a:txBody>
                    <a:bodyPr wrap="square"/>
                    <a:lstStyle/>
                    <a:p>
                      <a:r>
                        <a:rPr sz="1100" b="0">
                          <a:solidFill>
                            <a:srgbClr val="282828"/>
                          </a:solidFill>
                          <a:latin typeface="Arial"/>
                        </a:rPr>
                        <a:t>4.7×10¹³</a:t>
                      </a:r>
                    </a:p>
                  </a:txBody>
                  <a:tcPr marL="54864" marR="54864" marT="18288" marB="18288">
                    <a:solidFill>
                      <a:srgbClr val="ECF1F6"/>
                    </a:solidFill>
                  </a:tcPr>
                </a:tc>
                <a:tc>
                  <a:txBody>
                    <a:bodyPr wrap="square"/>
                    <a:lstStyle/>
                    <a:p>
                      <a:r>
                        <a:rPr sz="1100" b="0">
                          <a:solidFill>
                            <a:srgbClr val="282828"/>
                          </a:solidFill>
                          <a:latin typeface="Arial"/>
                        </a:rPr>
                        <a:t>3.3×10¹³</a:t>
                      </a:r>
                    </a:p>
                  </a:txBody>
                  <a:tcPr marL="54864" marR="54864" marT="18288" marB="18288">
                    <a:solidFill>
                      <a:srgbClr val="ECF1F6"/>
                    </a:solidFill>
                  </a:tcPr>
                </a:tc>
                <a:tc>
                  <a:txBody>
                    <a:bodyPr wrap="square"/>
                    <a:lstStyle/>
                    <a:p>
                      <a:r>
                        <a:rPr sz="1100" b="0">
                          <a:solidFill>
                            <a:srgbClr val="282828"/>
                          </a:solidFill>
                          <a:latin typeface="Arial"/>
                        </a:rPr>
                        <a:t>2.1×10¹⁴</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The pinhole and the waveguide read as the polarized pair does — exact solves — at four sequential frames instead of two simultaneous ones.</a:t>
            </a:r>
          </a:p>
          <a:p>
            <a:pPr>
              <a:spcAft>
                <a:spcPts val="600"/>
              </a:spcAft>
            </a:pPr>
            <a:r>
              <a:rPr sz="1500" b="0">
                <a:solidFill>
                  <a:srgbClr val="282828"/>
                </a:solidFill>
                <a:latin typeface="Arial"/>
              </a:rPr>
              <a:t>•  Per photon the stepped pinhole is the cheapest of the four (1.6× fewer than the stepped dimple): its reference carries more of the modulation.  The apodized first reference of the waveguide reading cost 4×; record 2 re-prices it with the mode's own shape.</a:t>
            </a:r>
          </a:p>
          <a:p>
            <a:pPr>
              <a:spcAft>
                <a:spcPts val="600"/>
              </a:spcAft>
            </a:pPr>
            <a:r>
              <a:rPr sz="1500" b="0">
                <a:solidFill>
                  <a:srgbClr val="282828"/>
                </a:solidFill>
                <a:latin typeface="Arial"/>
              </a:rPr>
              <a:t>•  Range: the pinhole's reference amplitude collapses with the Strehl ratio like the dimple's, so both fold at 120 nm; a reference that does not depend on the surface keeps reading.</a:t>
            </a:r>
          </a:p>
        </p:txBody>
      </p:sp>
      <p:sp>
        <p:nvSpPr>
          <p:cNvPr id="6" name="TextBox 5"/>
          <p:cNvSpPr txBox="1"/>
          <p:nvPr/>
        </p:nvSpPr>
        <p:spPr>
          <a:xfrm>
            <a:off x="411480" y="5595747"/>
            <a:ext cx="11368735" cy="274320"/>
          </a:xfrm>
          <a:prstGeom prst="rect">
            <a:avLst/>
          </a:prstGeom>
          <a:noFill/>
        </p:spPr>
        <p:txBody>
          <a:bodyPr wrap="square">
            <a:spAutoFit/>
          </a:bodyPr>
          <a:lstStyle/>
          <a:p>
            <a:pPr>
              <a:spcAft>
                <a:spcPts val="600"/>
              </a:spcAft>
            </a:pPr>
            <a:r>
              <a:rPr sz="1050" b="0">
                <a:solidFill>
                  <a:srgbClr val="6E6E6E"/>
                </a:solidFill>
                <a:latin typeface="Arial"/>
              </a:rPr>
              <a:t>Flat-DM calibration (the record's first form); the on-surface calibration that took the stepped sensor to 0.99 / 5 pm is record 2's.  Errors in pm over the lit actuators; SNR = recovered change / floor.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 2: calibrated on the working surface, the three exact readings are the same instrument</a:t>
            </a:r>
          </a:p>
          <a:p>
            <a:pPr>
              <a:spcAft>
                <a:spcPts val="0"/>
              </a:spcAft>
            </a:pPr>
            <a:r>
              <a:rPr sz="1250" b="0">
                <a:solidFill>
                  <a:srgbClr val="6E6E6E"/>
                </a:solidFill>
                <a:latin typeface="Arial"/>
              </a:rPr>
              <a:t>A 10 nm change on the 30 nm surface reads 0.9935 with a 4 pm floor for the polarized pair, the pinhole and the waveguide; the waveguide reading has no range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9005"/>
        </p:xfrm>
        <a:graphic>
          <a:graphicData uri="http://schemas.openxmlformats.org/drawingml/2006/table">
            <a:tbl>
              <a:tblPr firstRow="1" bandRow="1">
                <a:tableStyleId>{5C22544A-7EE6-4342-B048-85BDC9FD1C3A}</a:tableStyleId>
              </a:tblPr>
              <a:tblGrid>
                <a:gridCol w="2410861"/>
                <a:gridCol w="848894"/>
                <a:gridCol w="848894"/>
                <a:gridCol w="848894"/>
                <a:gridCol w="848894"/>
              </a:tblGrid>
              <a:tr h="657225">
                <a:tc>
                  <a:txBody>
                    <a:bodyPr wrap="square"/>
                    <a:lstStyle/>
                    <a:p>
                      <a:r>
                        <a:rPr sz="1100" b="1">
                          <a:solidFill>
                            <a:srgbClr val="FFFFFF"/>
                          </a:solidFill>
                          <a:latin typeface="Arial"/>
                        </a:rPr>
                        <a:t>96×96, response matrix measured on the 30 nm surface (runs/pdi193fbase)</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c>
                  <a:txBody>
                    <a:bodyPr wrap="square"/>
                    <a:lstStyle/>
                    <a:p>
                      <a:r>
                        <a:rPr sz="1100" b="1">
                          <a:solidFill>
                            <a:srgbClr val="FFFFFF"/>
                          </a:solidFill>
                          <a:latin typeface="Arial"/>
                        </a:rPr>
                        <a:t>V</a:t>
                      </a:r>
                    </a:p>
                  </a:txBody>
                  <a:tcPr marL="54864" marR="54864" marT="18288" marB="18288">
                    <a:solidFill>
                      <a:srgbClr val="1F4E79"/>
                    </a:solidFill>
                  </a:tcPr>
                </a:tc>
                <a:tc>
                  <a:txBody>
                    <a:bodyPr wrap="square"/>
                    <a:lstStyle/>
                    <a:p>
                      <a:r>
                        <a:rPr sz="1100" b="1">
                          <a:solidFill>
                            <a:srgbClr val="FFFFFF"/>
                          </a:solidFill>
                          <a:latin typeface="Arial"/>
                        </a:rPr>
                        <a:t>P</a:t>
                      </a:r>
                    </a:p>
                  </a:txBody>
                  <a:tcPr marL="54864" marR="54864" marT="18288" marB="18288">
                    <a:solidFill>
                      <a:srgbClr val="1F4E79"/>
                    </a:solidFill>
                  </a:tcPr>
                </a:tc>
                <a:tc>
                  <a:txBody>
                    <a:bodyPr wrap="square"/>
                    <a:lstStyle/>
                    <a:p>
                      <a:r>
                        <a:rPr sz="1100" b="1">
                          <a:solidFill>
                            <a:srgbClr val="FFFFFF"/>
                          </a:solidFill>
                          <a:latin typeface="Arial"/>
                        </a:rPr>
                        <a:t>PF</a:t>
                      </a:r>
                    </a:p>
                  </a:txBody>
                  <a:tcPr marL="54864" marR="54864" marT="18288" marB="18288">
                    <a:solidFill>
                      <a:srgbClr val="1F4E79"/>
                    </a:solidFill>
                  </a:tcPr>
                </a:tc>
              </a:tr>
              <a:tr h="468630">
                <a:tc>
                  <a:txBody>
                    <a:bodyPr wrap="square"/>
                    <a:lstStyle/>
                    <a:p>
                      <a:r>
                        <a:rPr sz="1100" b="0">
                          <a:solidFill>
                            <a:srgbClr val="282828"/>
                          </a:solidFill>
                          <a:latin typeface="Arial"/>
                        </a:rPr>
                        <a:t>10 nm on the surface: gain / floor pm / SNR</a:t>
                      </a:r>
                    </a:p>
                  </a:txBody>
                  <a:tcPr marL="54864" marR="54864" marT="18288" marB="18288">
                    <a:solidFill>
                      <a:srgbClr val="FFFFFF"/>
                    </a:solidFill>
                  </a:tcPr>
                </a:tc>
                <a:tc>
                  <a:txBody>
                    <a:bodyPr wrap="square"/>
                    <a:lstStyle/>
                    <a:p>
                      <a:r>
                        <a:rPr sz="1100" b="0">
                          <a:solidFill>
                            <a:srgbClr val="282828"/>
                          </a:solidFill>
                          <a:latin typeface="Arial"/>
                        </a:rPr>
                        <a:t>0.989 / 5 / 2120</a:t>
                      </a:r>
                    </a:p>
                  </a:txBody>
                  <a:tcPr marL="54864" marR="54864" marT="18288" marB="18288">
                    <a:solidFill>
                      <a:srgbClr val="FFFFFF"/>
                    </a:solidFill>
                  </a:tcPr>
                </a:tc>
                <a:tc>
                  <a:txBody>
                    <a:bodyPr wrap="square"/>
                    <a:lstStyle/>
                    <a:p>
                      <a:r>
                        <a:rPr sz="1100" b="0">
                          <a:solidFill>
                            <a:srgbClr val="282828"/>
                          </a:solidFill>
                          <a:latin typeface="Arial"/>
                        </a:rPr>
                        <a:t>0.994 / 4 / 2835</a:t>
                      </a:r>
                    </a:p>
                  </a:txBody>
                  <a:tcPr marL="54864" marR="54864" marT="18288" marB="18288">
                    <a:solidFill>
                      <a:srgbClr val="FFFFFF"/>
                    </a:solidFill>
                  </a:tcPr>
                </a:tc>
                <a:tc>
                  <a:txBody>
                    <a:bodyPr wrap="square"/>
                    <a:lstStyle/>
                    <a:p>
                      <a:r>
                        <a:rPr sz="1100" b="0">
                          <a:solidFill>
                            <a:srgbClr val="282828"/>
                          </a:solidFill>
                          <a:latin typeface="Arial"/>
                        </a:rPr>
                        <a:t>0.994 / 4 / 2790</a:t>
                      </a:r>
                    </a:p>
                  </a:txBody>
                  <a:tcPr marL="54864" marR="54864" marT="18288" marB="18288">
                    <a:solidFill>
                      <a:srgbClr val="FFFFFF"/>
                    </a:solidFill>
                  </a:tcPr>
                </a:tc>
                <a:tc>
                  <a:txBody>
                    <a:bodyPr wrap="square"/>
                    <a:lstStyle/>
                    <a:p>
                      <a:r>
                        <a:rPr sz="1100" b="0">
                          <a:solidFill>
                            <a:srgbClr val="282828"/>
                          </a:solidFill>
                          <a:latin typeface="Arial"/>
                        </a:rPr>
                        <a:t>0.994 / 4 / 2842</a:t>
                      </a:r>
                    </a:p>
                  </a:txBody>
                  <a:tcPr marL="54864" marR="54864" marT="18288" marB="18288">
                    <a:solidFill>
                      <a:srgbClr val="FFFFFF"/>
                    </a:solidFill>
                  </a:tcPr>
                </a:tc>
              </a:tr>
              <a:tr h="468630">
                <a:tc>
                  <a:txBody>
                    <a:bodyPr wrap="square"/>
                    <a:lstStyle/>
                    <a:p>
                      <a:r>
                        <a:rPr sz="1100" b="0">
                          <a:solidFill>
                            <a:srgbClr val="282828"/>
                          </a:solidFill>
                          <a:latin typeface="Arial"/>
                        </a:rPr>
                        <a:t>1 nm on 47 actuators: gain / floor pm</a:t>
                      </a:r>
                    </a:p>
                  </a:txBody>
                  <a:tcPr marL="54864" marR="54864" marT="18288" marB="18288">
                    <a:solidFill>
                      <a:srgbClr val="ECF1F6"/>
                    </a:solidFill>
                  </a:tcPr>
                </a:tc>
                <a:tc>
                  <a:txBody>
                    <a:bodyPr wrap="square"/>
                    <a:lstStyle/>
                    <a:p>
                      <a:r>
                        <a:rPr sz="1100" b="0">
                          <a:solidFill>
                            <a:srgbClr val="282828"/>
                          </a:solidFill>
                          <a:latin typeface="Arial"/>
                        </a:rPr>
                        <a:t>0.999 / 4</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c>
                  <a:txBody>
                    <a:bodyPr wrap="square"/>
                    <a:lstStyle/>
                    <a:p>
                      <a:r>
                        <a:rPr sz="1100" b="0">
                          <a:solidFill>
                            <a:srgbClr val="282828"/>
                          </a:solidFill>
                          <a:latin typeface="Arial"/>
                        </a:rPr>
                        <a:t>0.999 / 3</a:t>
                      </a:r>
                    </a:p>
                  </a:txBody>
                  <a:tcPr marL="54864" marR="54864" marT="18288" marB="18288">
                    <a:solidFill>
                      <a:srgbClr val="ECF1F6"/>
                    </a:solidFill>
                  </a:tcPr>
                </a:tc>
              </a:tr>
              <a:tr h="280035">
                <a:tc>
                  <a:txBody>
                    <a:bodyPr wrap="square"/>
                    <a:lstStyle/>
                    <a:p>
                      <a:r>
                        <a:rPr sz="1100" b="0">
                          <a:solidFill>
                            <a:srgbClr val="282828"/>
                          </a:solidFill>
                          <a:latin typeface="Arial"/>
                        </a:rPr>
                        <a:t>10 nm random: gain / error pm</a:t>
                      </a:r>
                    </a:p>
                  </a:txBody>
                  <a:tcPr marL="54864" marR="54864" marT="18288" marB="18288">
                    <a:solidFill>
                      <a:srgbClr val="FFFFFF"/>
                    </a:solidFill>
                  </a:tcPr>
                </a:tc>
                <a:tc>
                  <a:txBody>
                    <a:bodyPr wrap="square"/>
                    <a:lstStyle/>
                    <a:p>
                      <a:r>
                        <a:rPr sz="1100" b="0">
                          <a:solidFill>
                            <a:srgbClr val="282828"/>
                          </a:solidFill>
                          <a:latin typeface="Arial"/>
                        </a:rPr>
                        <a:t>0.984 / 681</a:t>
                      </a:r>
                    </a:p>
                  </a:txBody>
                  <a:tcPr marL="54864" marR="54864" marT="18288" marB="18288">
                    <a:solidFill>
                      <a:srgbClr val="FFFFFF"/>
                    </a:solidFill>
                  </a:tcPr>
                </a:tc>
                <a:tc>
                  <a:txBody>
                    <a:bodyPr wrap="square"/>
                    <a:lstStyle/>
                    <a:p>
                      <a:r>
                        <a:rPr sz="1100" b="0">
                          <a:solidFill>
                            <a:srgbClr val="282828"/>
                          </a:solidFill>
                          <a:latin typeface="Arial"/>
                        </a:rPr>
                        <a:t>1.000 / 331</a:t>
                      </a:r>
                    </a:p>
                  </a:txBody>
                  <a:tcPr marL="54864" marR="54864" marT="18288" marB="18288">
                    <a:solidFill>
                      <a:srgbClr val="FFFFFF"/>
                    </a:solidFill>
                  </a:tcPr>
                </a:tc>
                <a:tc>
                  <a:txBody>
                    <a:bodyPr wrap="square"/>
                    <a:lstStyle/>
                    <a:p>
                      <a:r>
                        <a:rPr sz="1100" b="0">
                          <a:solidFill>
                            <a:srgbClr val="282828"/>
                          </a:solidFill>
                          <a:latin typeface="Arial"/>
                        </a:rPr>
                        <a:t>0.999 / 338</a:t>
                      </a:r>
                    </a:p>
                  </a:txBody>
                  <a:tcPr marL="54864" marR="54864" marT="18288" marB="18288">
                    <a:solidFill>
                      <a:srgbClr val="FFFFFF"/>
                    </a:solidFill>
                  </a:tcPr>
                </a:tc>
                <a:tc>
                  <a:txBody>
                    <a:bodyPr wrap="square"/>
                    <a:lstStyle/>
                    <a:p>
                      <a:r>
                        <a:rPr sz="1100" b="0">
                          <a:solidFill>
                            <a:srgbClr val="282828"/>
                          </a:solidFill>
                          <a:latin typeface="Arial"/>
                        </a:rPr>
                        <a:t>1.000 / 330</a:t>
                      </a:r>
                    </a:p>
                  </a:txBody>
                  <a:tcPr marL="54864" marR="54864" marT="18288" marB="18288">
                    <a:solidFill>
                      <a:srgbClr val="FFFFFF"/>
                    </a:solidFill>
                  </a:tcPr>
                </a:tc>
              </a:tr>
              <a:tr h="657225">
                <a:tc>
                  <a:txBody>
                    <a:bodyPr wrap="square"/>
                    <a:lstStyle/>
                    <a:p>
                      <a:r>
                        <a:rPr sz="1100" b="0">
                          <a:solidFill>
                            <a:srgbClr val="282828"/>
                          </a:solidFill>
                          <a:latin typeface="Arial"/>
                        </a:rPr>
                        <a:t>gain at 60 / 120 / 240 / 480 nm rms</a:t>
                      </a:r>
                    </a:p>
                  </a:txBody>
                  <a:tcPr marL="54864" marR="54864" marT="18288" marB="18288">
                    <a:solidFill>
                      <a:srgbClr val="ECF1F6"/>
                    </a:solidFill>
                  </a:tcPr>
                </a:tc>
                <a:tc>
                  <a:txBody>
                    <a:bodyPr wrap="square"/>
                    <a:lstStyle/>
                    <a:p>
                      <a:r>
                        <a:rPr sz="1100" b="0">
                          <a:solidFill>
                            <a:srgbClr val="282828"/>
                          </a:solidFill>
                          <a:latin typeface="Arial"/>
                        </a:rPr>
                        <a:t>0.66 / fold / fold / fold</a:t>
                      </a:r>
                    </a:p>
                  </a:txBody>
                  <a:tcPr marL="54864" marR="54864" marT="18288" marB="18288">
                    <a:solidFill>
                      <a:srgbClr val="ECF1F6"/>
                    </a:solidFill>
                  </a:tcPr>
                </a:tc>
                <a:tc>
                  <a:txBody>
                    <a:bodyPr wrap="square"/>
                    <a:lstStyle/>
                    <a:p>
                      <a:r>
                        <a:rPr sz="1100" b="0">
                          <a:solidFill>
                            <a:srgbClr val="282828"/>
                          </a:solidFill>
                          <a:latin typeface="Arial"/>
                        </a:rPr>
                        <a:t>0.98 / fold / fold / fold</a:t>
                      </a:r>
                    </a:p>
                  </a:txBody>
                  <a:tcPr marL="54864" marR="54864" marT="18288" marB="18288">
                    <a:solidFill>
                      <a:srgbClr val="ECF1F6"/>
                    </a:solidFill>
                  </a:tcPr>
                </a:tc>
                <a:tc>
                  <a:txBody>
                    <a:bodyPr wrap="square"/>
                    <a:lstStyle/>
                    <a:p>
                      <a:r>
                        <a:rPr sz="1100" b="0">
                          <a:solidFill>
                            <a:srgbClr val="282828"/>
                          </a:solidFill>
                          <a:latin typeface="Arial"/>
                        </a:rPr>
                        <a:t>0.94 / fold / fold / fold</a:t>
                      </a:r>
                    </a:p>
                  </a:txBody>
                  <a:tcPr marL="54864" marR="54864" marT="18288" marB="18288">
                    <a:solidFill>
                      <a:srgbClr val="ECF1F6"/>
                    </a:solidFill>
                  </a:tcPr>
                </a:tc>
                <a:tc>
                  <a:txBody>
                    <a:bodyPr wrap="square"/>
                    <a:lstStyle/>
                    <a:p>
                      <a:r>
                        <a:rPr sz="1100" b="0">
                          <a:solidFill>
                            <a:srgbClr val="282828"/>
                          </a:solidFill>
                          <a:latin typeface="Arial"/>
                        </a:rPr>
                        <a:t>1.01 / 1.02 / 1.06 / 1.13</a:t>
                      </a:r>
                    </a:p>
                  </a:txBody>
                  <a:tcPr marL="54864" marR="54864" marT="18288" marB="18288">
                    <a:solidFill>
                      <a:srgbClr val="ECF1F6"/>
                    </a:solidFill>
                  </a:tcPr>
                </a:tc>
              </a:tr>
              <a:tr h="468630">
                <a:tc>
                  <a:txBody>
                    <a:bodyPr wrap="square"/>
                    <a:lstStyle/>
                    <a:p>
                      <a:r>
                        <a:rPr sz="1100" b="0">
                          <a:solidFill>
                            <a:srgbClr val="282828"/>
                          </a:solidFill>
                          <a:latin typeface="Arial"/>
                        </a:rPr>
                        <a:t>photons per measurement for 1 pm, at the camera</a:t>
                      </a:r>
                    </a:p>
                  </a:txBody>
                  <a:tcPr marL="54864" marR="54864" marT="18288" marB="18288">
                    <a:solidFill>
                      <a:srgbClr val="FFFFFF"/>
                    </a:solidFill>
                  </a:tcPr>
                </a:tc>
                <a:tc>
                  <a:txBody>
                    <a:bodyPr wrap="square"/>
                    <a:lstStyle/>
                    <a:p>
                      <a:r>
                        <a:rPr sz="1100" b="0">
                          <a:solidFill>
                            <a:srgbClr val="282828"/>
                          </a:solidFill>
                          <a:latin typeface="Arial"/>
                        </a:rPr>
                        <a:t>5.4×10¹³</a:t>
                      </a:r>
                    </a:p>
                  </a:txBody>
                  <a:tcPr marL="54864" marR="54864" marT="18288" marB="18288">
                    <a:solidFill>
                      <a:srgbClr val="FFFFFF"/>
                    </a:solidFill>
                  </a:tcPr>
                </a:tc>
                <a:tc>
                  <a:txBody>
                    <a:bodyPr wrap="square"/>
                    <a:lstStyle/>
                    <a:p>
                      <a:r>
                        <a:rPr sz="1100" b="0">
                          <a:solidFill>
                            <a:srgbClr val="282828"/>
                          </a:solidFill>
                          <a:latin typeface="Arial"/>
                        </a:rPr>
                        <a:t>4.7×10¹³</a:t>
                      </a:r>
                    </a:p>
                  </a:txBody>
                  <a:tcPr marL="54864" marR="54864" marT="18288" marB="18288">
                    <a:solidFill>
                      <a:srgbClr val="FFFFFF"/>
                    </a:solidFill>
                  </a:tcPr>
                </a:tc>
                <a:tc>
                  <a:txBody>
                    <a:bodyPr wrap="square"/>
                    <a:lstStyle/>
                    <a:p>
                      <a:r>
                        <a:rPr sz="1100" b="0">
                          <a:solidFill>
                            <a:srgbClr val="282828"/>
                          </a:solidFill>
                          <a:latin typeface="Arial"/>
                        </a:rPr>
                        <a:t>3.3×10¹³</a:t>
                      </a:r>
                    </a:p>
                  </a:txBody>
                  <a:tcPr marL="54864" marR="54864" marT="18288" marB="18288">
                    <a:solidFill>
                      <a:srgbClr val="FFFFFF"/>
                    </a:solidFill>
                  </a:tcPr>
                </a:tc>
                <a:tc>
                  <a:txBody>
                    <a:bodyPr wrap="square"/>
                    <a:lstStyle/>
                    <a:p>
                      <a:r>
                        <a:rPr sz="1100" b="0">
                          <a:solidFill>
                            <a:srgbClr val="282828"/>
                          </a:solidFill>
                          <a:latin typeface="Arial"/>
                        </a:rPr>
                        <a:t>1.9×10¹⁴</a:t>
                      </a:r>
                    </a:p>
                  </a:txBody>
                  <a:tcPr marL="54864" marR="54864" marT="18288" marB="18288">
                    <a:solidFill>
                      <a:srgbClr val="FFFFFF"/>
                    </a:solidFill>
                  </a:tcPr>
                </a:tc>
              </a:tr>
              <a:tr h="468630">
                <a:tc>
                  <a:txBody>
                    <a:bodyPr wrap="square"/>
                    <a:lstStyle/>
                    <a:p>
                      <a:r>
                        <a:rPr sz="1100" b="0">
                          <a:solidFill>
                            <a:srgbClr val="282828"/>
                          </a:solidFill>
                          <a:latin typeface="Arial"/>
                        </a:rPr>
                        <a:t>light kept (divide the row above by it for incident photons)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0.75</a:t>
                      </a:r>
                    </a:p>
                  </a:txBody>
                  <a:tcPr marL="54864" marR="54864" marT="18288" marB="18288">
                    <a:solidFill>
                      <a:srgbClr val="ECF1F6"/>
                    </a:solidFill>
                  </a:tcPr>
                </a:tc>
              </a:tr>
            </a:tbl>
          </a:graphicData>
        </a:graphic>
      </p:graphicFrame>
      <p:sp>
        <p:nvSpPr>
          <p:cNvPr id="5" name="TextBox 4"/>
          <p:cNvSpPr txBox="1"/>
          <p:nvPr/>
        </p:nvSpPr>
        <p:spPr>
          <a:xfrm>
            <a:off x="411480" y="4913757"/>
            <a:ext cx="5806440" cy="274320"/>
          </a:xfrm>
          <a:prstGeom prst="rect">
            <a:avLst/>
          </a:prstGeom>
          <a:noFill/>
        </p:spPr>
        <p:txBody>
          <a:bodyPr wrap="square">
            <a:spAutoFit/>
          </a:bodyPr>
          <a:lstStyle/>
          <a:p>
            <a:pPr>
              <a:spcAft>
                <a:spcPts val="600"/>
              </a:spcAft>
            </a:pPr>
            <a:r>
              <a:rPr sz="1200" b="0">
                <a:solidFill>
                  <a:srgbClr val="282828"/>
                </a:solidFill>
                <a:latin typeface="Arial"/>
              </a:rPr>
              <a:t>•  A reference frame per state (the pinhole alone, a fifth frame) makes the pinhole reading the waveguide reading's twin on every row and the ladder: 1.02 / 1.06 / 1.13 at 120 / 240 / 480 nm.  The pinhole's fold was the flat-DM reference-intensity assumption, not the pinhole.</a:t>
            </a:r>
          </a:p>
          <a:p>
            <a:pPr>
              <a:spcAft>
                <a:spcPts val="600"/>
              </a:spcAft>
            </a:pPr>
            <a:r>
              <a:rPr sz="1200" b="0">
                <a:solidFill>
                  <a:srgbClr val="282828"/>
                </a:solidFill>
                <a:latin typeface="Arial"/>
              </a:rPr>
              <a:t>•  A 1 λ/D pinhole (the classical regime; 0.28 plate transmission, 29% of the light, visibility 0.94) has no fold even with that assumption: the same 1.02 / 1.06 / 1.13, the same rows; 2.9×10¹⁴ camera photons per picometer.</a:t>
            </a:r>
          </a:p>
          <a:p>
            <a:pPr>
              <a:spcAft>
                <a:spcPts val="600"/>
              </a:spcAft>
            </a:pPr>
            <a:r>
              <a:rPr sz="1200" b="0">
                <a:solidFill>
                  <a:srgbClr val="282828"/>
                </a:solidFill>
                <a:latin typeface="Arial"/>
              </a:rPr>
              <a:t>•  A 2% step-size error: the absolute reading carries it (0.069 rad rms on the flat under four-step least squares, 1.3×10⁻⁵ under the five-frame Schwider–Hariharan scan; 3.5% error on a 12 nm figure), the differential rows barely notice (single 0.992 / 4 pm against 0.994 / 4): the error is common to both states and cancels in the difference.  The five-frame scan takes the absolute error to 4.9 pm (pinhole) and 2.2 pm (waveguide) and returns the differential rows to the error-free values exactly, for one extra frame.</a:t>
            </a:r>
          </a:p>
        </p:txBody>
      </p:sp>
      <p:pic>
        <p:nvPicPr>
          <p:cNvPr id="6" name="Picture 5" descr="pdi193fbase_pdi.png"/>
          <p:cNvPicPr>
            <a:picLocks noChangeAspect="1"/>
          </p:cNvPicPr>
          <p:nvPr/>
        </p:nvPicPr>
        <p:blipFill>
          <a:blip r:embed="rId2"/>
          <a:stretch>
            <a:fillRect/>
          </a:stretch>
        </p:blipFill>
        <p:spPr>
          <a:xfrm>
            <a:off x="7273183" y="1298448"/>
            <a:ext cx="3650192" cy="2128011"/>
          </a:xfrm>
          <a:prstGeom prst="rect">
            <a:avLst/>
          </a:prstGeom>
        </p:spPr>
      </p:pic>
      <p:sp>
        <p:nvSpPr>
          <p:cNvPr id="7" name="TextBox 6"/>
          <p:cNvSpPr txBox="1"/>
          <p:nvPr/>
        </p:nvSpPr>
        <p:spPr>
          <a:xfrm>
            <a:off x="6400800" y="3444747"/>
            <a:ext cx="5394960" cy="889508"/>
          </a:xfrm>
          <a:prstGeom prst="rect">
            <a:avLst/>
          </a:prstGeom>
          <a:noFill/>
        </p:spPr>
        <p:txBody>
          <a:bodyPr wrap="square">
            <a:spAutoFit/>
          </a:bodyPr>
          <a:lstStyle/>
          <a:p>
            <a:pPr algn="ctr">
              <a:spcAft>
                <a:spcPts val="0"/>
              </a:spcAft>
            </a:pPr>
            <a:r>
              <a:rPr sz="1000" b="0">
                <a:solidFill>
                  <a:srgbClr val="6E6E6E"/>
                </a:solidFill>
                <a:latin typeface="Arial"/>
              </a:rPr>
              <a:t>The record run's own figure: the focal spot with the 2 λ/D pinhole (red), the dimple (green) and the waveguide mode's 1/e contour (brown); the reference amplitudes across the pupil image; the reference's motion under the 30 nm surface by pinhole size (shape, red; amplitude, black; the waveguide's coupling, brown); the fringe visibility of both readings on the flat DM.</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200" b="0">
                <a:solidFill>
                  <a:srgbClr val="282828"/>
                </a:solidFill>
                <a:latin typeface="Arial"/>
              </a:rPr>
              <a:t>•  Range without a fold: the self-referenced readings lose their reference amplitude with the Strehl ratio and fold at 120 nm rms; the waveguide reference is fixed, so the reading holds gain 1.0–1.1 to 480 nm (the floor grows to 1.6 nm because the response matrix was measured at 30 nm).</a:t>
            </a:r>
          </a:p>
          <a:p>
            <a:pPr>
              <a:spcAft>
                <a:spcPts val="600"/>
              </a:spcAft>
            </a:pPr>
            <a:r>
              <a:rPr sz="1200" b="0">
                <a:solidFill>
                  <a:srgbClr val="282828"/>
                </a:solidFill>
                <a:latin typeface="Arial"/>
              </a:rPr>
              <a:t>•  Light: with the paper's 60/40 split the reference arm returns 35% of the light and the test beam keeps 40%; the modulation is a smaller share of the detected flux than the stepped pinhole's, whose reference rides on the same beam — 4× more camera photons per picometer, before the arm's own loss.</a:t>
            </a:r>
          </a:p>
        </p:txBody>
      </p:sp>
      <p:sp>
        <p:nvSpPr>
          <p:cNvPr id="9" name="TextBox 8"/>
          <p:cNvSpPr txBox="1"/>
          <p:nvPr/>
        </p:nvSpPr>
        <p:spPr>
          <a:xfrm>
            <a:off x="6400800" y="6669023"/>
            <a:ext cx="5394960" cy="274320"/>
          </a:xfrm>
          <a:prstGeom prst="rect">
            <a:avLst/>
          </a:prstGeom>
          <a:noFill/>
        </p:spPr>
        <p:txBody>
          <a:bodyPr wrap="square">
            <a:spAutoFit/>
          </a:bodyPr>
          <a:lstStyle/>
          <a:p>
            <a:pPr>
              <a:spcAft>
                <a:spcPts val="600"/>
              </a:spcAft>
            </a:pPr>
            <a:r>
              <a:rPr sz="1050" b="0">
                <a:solidFill>
                  <a:srgbClr val="6E6E6E"/>
                </a:solidFill>
                <a:latin typeface="Arial"/>
              </a:rPr>
              <a:t>Same seeds, same actuator-space scoring, same code as the sensor rows (dm_gauge_lib).  "fold" = gain −0.01: the reading returns nothing.  P at unit transmission and the dimple's size equals S to 5×10⁻¹⁵ (check G7).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 closed loop the stepped pinhole costs the stepped dimple's light, the waveguide three times that, and a drifting camera reaches only the single-frame readings</a:t>
            </a:r>
          </a:p>
          <a:p>
            <a:pPr>
              <a:spcAft>
                <a:spcPts val="0"/>
              </a:spcAft>
            </a:pPr>
            <a:r>
              <a:rPr sz="1250" b="0">
                <a:solidFill>
                  <a:srgbClr val="6E6E6E"/>
                </a:solidFill>
                <a:latin typeface="Arial"/>
              </a:rPr>
              <a:t>Held to 3 pm against a 2 pm walk from 7.0×10¹² photons per cycle (pinhole) and 2.5×10¹³ (waveguide); a camera bias walking 10⁻³ of the signal per cycle puts 10.8 nm on the DM through the linear reading, 89 pm through the pair, nothing through the stepped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loop: the DM held at the working surface at gain 0.5 for 60 cycles through one reading; the differential to the set point's frames fitted through the matrix; scored as the steady-state hold error.  The ZWFS rows on the same seeds: stepped 2.6×10¹² photons per cycle to hold 3 pm against noise, 7.5×10¹² against a 2 pm walk; polarized pair 1.5 / 5.3×10¹².</a:t>
            </a:r>
          </a:p>
          <a:p>
            <a:pPr>
              <a:spcAft>
                <a:spcPts val="600"/>
              </a:spcAft>
            </a:pPr>
            <a:r>
              <a:rPr sz="1200" b="0">
                <a:solidFill>
                  <a:srgbClr val="282828"/>
                </a:solidFill>
                <a:latin typeface="Arial"/>
              </a:rPr>
              <a:t>•  The camera knob: every pixel's offset random-walks, constant within a scan.  Readings whose step weights sum to zero (S, P, PF) subtract it exactly; the single-frame readings and the simultaneous pair see the walk and put it on the DM (the loop's unit test shows both).</a:t>
            </a:r>
          </a:p>
          <a:p>
            <a:pPr>
              <a:spcAft>
                <a:spcPts val="600"/>
              </a:spcAft>
            </a:pPr>
            <a:r>
              <a:rPr sz="1200" b="0">
                <a:solidFill>
                  <a:srgbClr val="282828"/>
                </a:solidFill>
                <a:latin typeface="Arial"/>
              </a:rPr>
              <a:t>•  At the paper's 1 electron per pixel it is invisible to every reading: a lit pixel collects 3×10⁸ photons per frame at 10¹³ per measurement, so an electron is 10⁻⁴ of its shot noise.  The immunity argument belongs to Roman's photon-starved sensor (10² to 10³ per pixel per frame over 12 hours).  The drift is therefore also run as a fraction of the signal, 10⁻³ per cycle.</a:t>
            </a:r>
          </a:p>
          <a:p>
            <a:pPr>
              <a:spcAft>
                <a:spcPts val="600"/>
              </a:spcAft>
            </a:pPr>
            <a:r>
              <a:rPr sz="1200" b="0">
                <a:solidFill>
                  <a:srgbClr val="282828"/>
                </a:solidFill>
                <a:latin typeface="Arial"/>
              </a:rPr>
              <a:t>•  Measured at 10⁻³ of the signal per cycle: the linear reading imprints the walk at 10.8 nm, the polarized pair at 89 pm; the stepped dimple, the stepped pinhole and the waveguide reading hold at their noise-only values to the printed digit (0.15, 0.14, 0.25 pm at 10¹⁵ photons).</a:t>
            </a:r>
          </a:p>
          <a:p>
            <a:pPr>
              <a:spcAft>
                <a:spcPts val="600"/>
              </a:spcAft>
            </a:pPr>
            <a:r>
              <a:rPr sz="1200" b="0">
                <a:solidFill>
                  <a:srgbClr val="282828"/>
                </a:solidFill>
                <a:latin typeface="Arial"/>
              </a:rPr>
              <a:t>•  Within-scan drift (the whole step developing across the frames of each scan): the stepped readings pay for the frame-to-frame part, 5.4 pm (dimple), 5.3 pm (pinhole), 10.7 pm (waveguide) at 10¹⁵ photons, 2000× below the single-frame reading; the scan rate is the hardware lever.</a:t>
            </a:r>
          </a:p>
        </p:txBody>
      </p:sp>
      <p:graphicFrame>
        <p:nvGraphicFramePr>
          <p:cNvPr id="5" name="Table 4"/>
          <p:cNvGraphicFramePr>
            <a:graphicFrameLocks noGrp="1"/>
          </p:cNvGraphicFramePr>
          <p:nvPr/>
        </p:nvGraphicFramePr>
        <p:xfrm>
          <a:off x="6400800" y="1298448"/>
          <a:ext cx="5394955" cy="3291840"/>
        </p:xfrm>
        <a:graphic>
          <a:graphicData uri="http://schemas.openxmlformats.org/drawingml/2006/table">
            <a:tbl>
              <a:tblPr firstRow="1" bandRow="1">
                <a:tableStyleId>{5C22544A-7EE6-4342-B048-85BDC9FD1C3A}</a:tableStyleId>
              </a:tblPr>
              <a:tblGrid>
                <a:gridCol w="464837"/>
                <a:gridCol w="542310"/>
                <a:gridCol w="516486"/>
                <a:gridCol w="1004823"/>
                <a:gridCol w="1239567"/>
                <a:gridCol w="1626932"/>
              </a:tblGrid>
              <a:tr h="6057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3 pm held, noise only</a:t>
                      </a:r>
                    </a:p>
                  </a:txBody>
                  <a:tcPr marL="54864" marR="54864" marT="18288" marB="18288">
                    <a:solidFill>
                      <a:srgbClr val="1F4E79"/>
                    </a:solidFill>
                  </a:tcPr>
                </a:tc>
                <a:tc>
                  <a:txBody>
                    <a:bodyPr wrap="square"/>
                    <a:lstStyle/>
                    <a:p>
                      <a:r>
                        <a:rPr sz="1000" b="1">
                          <a:solidFill>
                            <a:srgbClr val="FFFFFF"/>
                          </a:solidFill>
                          <a:latin typeface="Arial"/>
                        </a:rPr>
                        <a:t>3 pm held, 2 pm walk</a:t>
                      </a:r>
                    </a:p>
                  </a:txBody>
                  <a:tcPr marL="54864" marR="54864" marT="18288" marB="18288">
                    <a:solidFill>
                      <a:srgbClr val="1F4E79"/>
                    </a:solidFill>
                  </a:tcPr>
                </a:tc>
                <a:tc>
                  <a:txBody>
                    <a:bodyPr wrap="square"/>
                    <a:lstStyle/>
                    <a:p>
                      <a:r>
                        <a:rPr sz="1000" b="1">
                          <a:solidFill>
                            <a:srgbClr val="FFFFFF"/>
                          </a:solidFill>
                          <a:latin typeface="Arial"/>
                        </a:rPr>
                        <a:t>thermal floor</a:t>
                      </a:r>
                    </a:p>
                  </a:txBody>
                  <a:tcPr marL="54864" marR="54864" marT="18288" marB="18288">
                    <a:solidFill>
                      <a:srgbClr val="1F4E79"/>
                    </a:solidFill>
                  </a:tcPr>
                </a:tc>
                <a:tc>
                  <a:txBody>
                    <a:bodyPr wrap="square"/>
                    <a:lstStyle/>
                    <a:p>
                      <a:r>
                        <a:rPr sz="1000" b="1">
                          <a:solidFill>
                            <a:srgbClr val="FFFFFF"/>
                          </a:solidFill>
                          <a:latin typeface="Arial"/>
                        </a:rPr>
                        <a:t>camera walk of 1 e per pixel: hold error at 10¹⁵</a:t>
                      </a:r>
                    </a:p>
                  </a:txBody>
                  <a:tcPr marL="54864" marR="54864" marT="18288" marB="18288">
                    <a:solidFill>
                      <a:srgbClr val="1F4E79"/>
                    </a:solidFill>
                  </a:tcPr>
                </a:tc>
                <a:tc>
                  <a:txBody>
                    <a:bodyPr wrap="square"/>
                    <a:lstStyle/>
                    <a:p>
                      <a:r>
                        <a:rPr sz="1000" b="1">
                          <a:solidFill>
                            <a:srgbClr val="FFFFFF"/>
                          </a:solidFill>
                          <a:latin typeface="Arial"/>
                        </a:rPr>
                        <a:t>camera walk of 10⁻³ of the signal per cycle: hold error at 10¹⁵</a:t>
                      </a:r>
                    </a:p>
                  </a:txBody>
                  <a:tcPr marL="54864" marR="54864" marT="18288" marB="18288">
                    <a:solidFill>
                      <a:srgbClr val="1F4E79"/>
                    </a:solidFill>
                  </a:tcPr>
                </a:tc>
              </a:tr>
              <a:tr h="434340">
                <a:tc>
                  <a:txBody>
                    <a:bodyPr wrap="square"/>
                    <a:lstStyle/>
                    <a:p>
                      <a:r>
                        <a:rPr sz="1000" b="0">
                          <a:solidFill>
                            <a:srgbClr val="282828"/>
                          </a:solidFill>
                          <a:latin typeface="Arial"/>
                        </a:rPr>
                        <a:t>stepped dimple S</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c>
                  <a:txBody>
                    <a:bodyPr wrap="square"/>
                    <a:lstStyle/>
                    <a:p>
                      <a:r>
                        <a:rPr sz="1000" b="0">
                          <a:solidFill>
                            <a:srgbClr val="282828"/>
                          </a:solidFill>
                          <a:latin typeface="Arial"/>
                        </a:rPr>
                        <a:t>7.5×10¹²</a:t>
                      </a:r>
                    </a:p>
                  </a:txBody>
                  <a:tcPr marL="54864" marR="54864" marT="18288" marB="18288">
                    <a:solidFill>
                      <a:srgbClr val="FFFFFF"/>
                    </a:solidFill>
                  </a:tcPr>
                </a:tc>
                <a:tc>
                  <a:txBody>
                    <a:bodyPr wrap="square"/>
                    <a:lstStyle/>
                    <a:p>
                      <a:r>
                        <a:rPr sz="1000" b="0">
                          <a:solidFill>
                            <a:srgbClr val="282828"/>
                          </a:solidFill>
                          <a:latin typeface="Arial"/>
                        </a:rPr>
                        <a:t>10.0 pm</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c>
                  <a:txBody>
                    <a:bodyPr wrap="square"/>
                    <a:lstStyle/>
                    <a:p>
                      <a:r>
                        <a:rPr sz="1000" b="0">
                          <a:solidFill>
                            <a:srgbClr val="282828"/>
                          </a:solidFill>
                          <a:latin typeface="Arial"/>
                        </a:rPr>
                        <a:t>0.15 pm (= no drift)</a:t>
                      </a:r>
                    </a:p>
                  </a:txBody>
                  <a:tcPr marL="54864" marR="54864" marT="18288" marB="18288">
                    <a:solidFill>
                      <a:srgbClr val="FFFFFF"/>
                    </a:solidFill>
                  </a:tcPr>
                </a:tc>
              </a:tr>
              <a:tr h="434340">
                <a:tc>
                  <a:txBody>
                    <a:bodyPr wrap="square"/>
                    <a:lstStyle/>
                    <a:p>
                      <a:r>
                        <a:rPr sz="1000" b="0">
                          <a:solidFill>
                            <a:srgbClr val="282828"/>
                          </a:solidFill>
                          <a:latin typeface="Arial"/>
                        </a:rPr>
                        <a:t>polarized pair V</a:t>
                      </a:r>
                    </a:p>
                  </a:txBody>
                  <a:tcPr marL="54864" marR="54864" marT="18288" marB="18288">
                    <a:solidFill>
                      <a:srgbClr val="ECF1F6"/>
                    </a:solidFill>
                  </a:tcPr>
                </a:tc>
                <a:tc>
                  <a:txBody>
                    <a:bodyPr wrap="square"/>
                    <a:lstStyle/>
                    <a:p>
                      <a:r>
                        <a:rPr sz="1000" b="0">
                          <a:solidFill>
                            <a:srgbClr val="282828"/>
                          </a:solidFill>
                          <a:latin typeface="Arial"/>
                        </a:rPr>
                        <a:t>1.5×10¹²</a:t>
                      </a:r>
                    </a:p>
                  </a:txBody>
                  <a:tcPr marL="54864" marR="54864" marT="18288" marB="18288">
                    <a:solidFill>
                      <a:srgbClr val="ECF1F6"/>
                    </a:solidFill>
                  </a:tcPr>
                </a:tc>
                <a:tc>
                  <a:txBody>
                    <a:bodyPr wrap="square"/>
                    <a:lstStyle/>
                    <a:p>
                      <a:r>
                        <a:rPr sz="1000" b="0">
                          <a:solidFill>
                            <a:srgbClr val="282828"/>
                          </a:solidFill>
                          <a:latin typeface="Arial"/>
                        </a:rPr>
                        <a:t>5.3×10¹²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0.12 pm (= no drift)</a:t>
                      </a:r>
                    </a:p>
                  </a:txBody>
                  <a:tcPr marL="54864" marR="54864" marT="18288" marB="18288">
                    <a:solidFill>
                      <a:srgbClr val="ECF1F6"/>
                    </a:solidFill>
                  </a:tcPr>
                </a:tc>
                <a:tc>
                  <a:txBody>
                    <a:bodyPr wrap="square"/>
                    <a:lstStyle/>
                    <a:p>
                      <a:r>
                        <a:rPr sz="1000" b="0">
                          <a:solidFill>
                            <a:srgbClr val="282828"/>
                          </a:solidFill>
                          <a:latin typeface="Arial"/>
                        </a:rPr>
                        <a:t>89 pm</a:t>
                      </a:r>
                    </a:p>
                  </a:txBody>
                  <a:tcPr marL="54864" marR="54864" marT="18288" marB="18288">
                    <a:solidFill>
                      <a:srgbClr val="ECF1F6"/>
                    </a:solidFill>
                  </a:tcPr>
                </a:tc>
              </a:tr>
              <a:tr h="605790">
                <a:tc>
                  <a:txBody>
                    <a:bodyPr wrap="square"/>
                    <a:lstStyle/>
                    <a:p>
                      <a:r>
                        <a:rPr sz="1000" b="0">
                          <a:solidFill>
                            <a:srgbClr val="282828"/>
                          </a:solidFill>
                          <a:latin typeface="Arial"/>
                        </a:rPr>
                        <a:t>linear L (1 frame)</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7.3×10¹²</a:t>
                      </a:r>
                    </a:p>
                  </a:txBody>
                  <a:tcPr marL="54864" marR="54864" marT="18288" marB="18288">
                    <a:solidFill>
                      <a:srgbClr val="FFFFFF"/>
                    </a:solidFill>
                  </a:tcPr>
                </a:tc>
                <a:tc>
                  <a:txBody>
                    <a:bodyPr wrap="square"/>
                    <a:lstStyle/>
                    <a:p>
                      <a:r>
                        <a:rPr sz="1000" b="0">
                          <a:solidFill>
                            <a:srgbClr val="282828"/>
                          </a:solidFill>
                          <a:latin typeface="Arial"/>
                        </a:rPr>
                        <a:t>27.6 pm</a:t>
                      </a:r>
                    </a:p>
                  </a:txBody>
                  <a:tcPr marL="54864" marR="54864" marT="18288" marB="18288">
                    <a:solidFill>
                      <a:srgbClr val="FFFFFF"/>
                    </a:solidFill>
                  </a:tcPr>
                </a:tc>
                <a:tc>
                  <a:txBody>
                    <a:bodyPr wrap="square"/>
                    <a:lstStyle/>
                    <a:p>
                      <a:r>
                        <a:rPr sz="1000" b="0">
                          <a:solidFill>
                            <a:srgbClr val="282828"/>
                          </a:solidFill>
                          <a:latin typeface="Arial"/>
                        </a:rPr>
                        <a:t>0.14 pm (= no drift)</a:t>
                      </a:r>
                    </a:p>
                  </a:txBody>
                  <a:tcPr marL="54864" marR="54864" marT="18288" marB="18288">
                    <a:solidFill>
                      <a:srgbClr val="FFFFFF"/>
                    </a:solidFill>
                  </a:tcPr>
                </a:tc>
                <a:tc>
                  <a:txBody>
                    <a:bodyPr wrap="square"/>
                    <a:lstStyle/>
                    <a:p>
                      <a:r>
                        <a:rPr sz="1000" b="0">
                          <a:solidFill>
                            <a:srgbClr val="282828"/>
                          </a:solidFill>
                          <a:latin typeface="Arial"/>
                        </a:rPr>
                        <a:t>10.8 nm</a:t>
                      </a:r>
                    </a:p>
                  </a:txBody>
                  <a:tcPr marL="54864" marR="54864" marT="18288" marB="18288">
                    <a:solidFill>
                      <a:srgbClr val="FFFFFF"/>
                    </a:solidFill>
                  </a:tcPr>
                </a:tc>
              </a:tr>
              <a:tr h="605790">
                <a:tc>
                  <a:txBody>
                    <a:bodyPr wrap="square"/>
                    <a:lstStyle/>
                    <a:p>
                      <a:r>
                        <a:rPr sz="1000" b="0">
                          <a:solidFill>
                            <a:srgbClr val="282828"/>
                          </a:solidFill>
                          <a:latin typeface="Arial"/>
                        </a:rPr>
                        <a:t>stepped pinhole P</a:t>
                      </a:r>
                    </a:p>
                  </a:txBody>
                  <a:tcPr marL="54864" marR="54864" marT="18288" marB="18288">
                    <a:solidFill>
                      <a:srgbClr val="ECF1F6"/>
                    </a:solidFill>
                  </a:tcPr>
                </a:tc>
                <a:tc>
                  <a:txBody>
                    <a:bodyPr wrap="square"/>
                    <a:lstStyle/>
                    <a:p>
                      <a:r>
                        <a:rPr sz="1000" b="0">
                          <a:solidFill>
                            <a:srgbClr val="282828"/>
                          </a:solidFill>
                          <a:latin typeface="Arial"/>
                        </a:rPr>
                        <a:t>2.3×10¹²</a:t>
                      </a:r>
                    </a:p>
                  </a:txBody>
                  <a:tcPr marL="54864" marR="54864" marT="18288" marB="18288">
                    <a:solidFill>
                      <a:srgbClr val="ECF1F6"/>
                    </a:solidFill>
                  </a:tcPr>
                </a:tc>
                <a:tc>
                  <a:txBody>
                    <a:bodyPr wrap="square"/>
                    <a:lstStyle/>
                    <a:p>
                      <a:r>
                        <a:rPr sz="1000" b="0">
                          <a:solidFill>
                            <a:srgbClr val="282828"/>
                          </a:solidFill>
                          <a:latin typeface="Arial"/>
                        </a:rPr>
                        <a:t>7.0×10¹²</a:t>
                      </a:r>
                    </a:p>
                  </a:txBody>
                  <a:tcPr marL="54864" marR="54864" marT="18288" marB="18288">
                    <a:solidFill>
                      <a:srgbClr val="ECF1F6"/>
                    </a:solidFill>
                  </a:tcPr>
                </a:tc>
                <a:tc>
                  <a:txBody>
                    <a:bodyPr wrap="square"/>
                    <a:lstStyle/>
                    <a:p>
                      <a:r>
                        <a:rPr sz="1000" b="0">
                          <a:solidFill>
                            <a:srgbClr val="282828"/>
                          </a:solidFill>
                          <a:latin typeface="Arial"/>
                        </a:rPr>
                        <a:t>9.9 pm</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c>
                  <a:txBody>
                    <a:bodyPr wrap="square"/>
                    <a:lstStyle/>
                    <a:p>
                      <a:r>
                        <a:rPr sz="1000" b="0">
                          <a:solidFill>
                            <a:srgbClr val="282828"/>
                          </a:solidFill>
                          <a:latin typeface="Arial"/>
                        </a:rPr>
                        <a:t>0.14 pm (= no drift)</a:t>
                      </a:r>
                    </a:p>
                  </a:txBody>
                  <a:tcPr marL="54864" marR="54864" marT="18288" marB="18288">
                    <a:solidFill>
                      <a:srgbClr val="ECF1F6"/>
                    </a:solidFill>
                  </a:tcPr>
                </a:tc>
              </a:tr>
              <a:tr h="605790">
                <a:tc>
                  <a:txBody>
                    <a:bodyPr wrap="square"/>
                    <a:lstStyle/>
                    <a:p>
                      <a:r>
                        <a:rPr sz="1000" b="0">
                          <a:solidFill>
                            <a:srgbClr val="282828"/>
                          </a:solidFill>
                          <a:latin typeface="Arial"/>
                        </a:rPr>
                        <a:t>P/SRI waveguide PF</a:t>
                      </a:r>
                    </a:p>
                  </a:txBody>
                  <a:tcPr marL="54864" marR="54864" marT="18288" marB="18288">
                    <a:solidFill>
                      <a:srgbClr val="FFFFFF"/>
                    </a:solidFill>
                  </a:tcPr>
                </a:tc>
                <a:tc>
                  <a:txBody>
                    <a:bodyPr wrap="square"/>
                    <a:lstStyle/>
                    <a:p>
                      <a:r>
                        <a:rPr sz="1000" b="0">
                          <a:solidFill>
                            <a:srgbClr val="282828"/>
                          </a:solidFill>
                          <a:latin typeface="Arial"/>
                        </a:rPr>
                        <a:t>7.0×10¹²</a:t>
                      </a:r>
                    </a:p>
                  </a:txBody>
                  <a:tcPr marL="54864" marR="54864" marT="18288" marB="18288">
                    <a:solidFill>
                      <a:srgbClr val="FFFFFF"/>
                    </a:solidFill>
                  </a:tcPr>
                </a:tc>
                <a:tc>
                  <a:txBody>
                    <a:bodyPr wrap="square"/>
                    <a:lstStyle/>
                    <a:p>
                      <a:r>
                        <a:rPr sz="1000" b="0">
                          <a:solidFill>
                            <a:srgbClr val="282828"/>
                          </a:solidFill>
                          <a:latin typeface="Arial"/>
                        </a:rPr>
                        <a:t>2.5×10¹³</a:t>
                      </a:r>
                    </a:p>
                  </a:txBody>
                  <a:tcPr marL="54864" marR="54864" marT="18288" marB="18288">
                    <a:solidFill>
                      <a:srgbClr val="FFFFFF"/>
                    </a:solidFill>
                  </a:tcPr>
                </a:tc>
                <a:tc>
                  <a:txBody>
                    <a:bodyPr wrap="square"/>
                    <a:lstStyle/>
                    <a:p>
                      <a:r>
                        <a:rPr sz="1000" b="0">
                          <a:solidFill>
                            <a:srgbClr val="282828"/>
                          </a:solidFill>
                          <a:latin typeface="Arial"/>
                        </a:rPr>
                        <a:t>9.9 pm</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c>
                  <a:txBody>
                    <a:bodyPr wrap="square"/>
                    <a:lstStyle/>
                    <a:p>
                      <a:r>
                        <a:rPr sz="1000" b="0">
                          <a:solidFill>
                            <a:srgbClr val="282828"/>
                          </a:solidFill>
                          <a:latin typeface="Arial"/>
                        </a:rPr>
                        <a:t>0.25 pm (= no drift)</a:t>
                      </a:r>
                    </a:p>
                  </a:txBody>
                  <a:tcPr marL="54864" marR="54864" marT="18288" marB="18288">
                    <a:solidFill>
                      <a:srgbClr val="FFFFFF"/>
                    </a:solidFill>
                  </a:tcPr>
                </a:tc>
              </a:tr>
            </a:tbl>
          </a:graphicData>
        </a:graphic>
      </p:graphicFrame>
      <p:pic>
        <p:nvPicPr>
          <p:cNvPr id="6" name="Picture 5" descr="ploop193_loop.png"/>
          <p:cNvPicPr>
            <a:picLocks noChangeAspect="1"/>
          </p:cNvPicPr>
          <p:nvPr/>
        </p:nvPicPr>
        <p:blipFill>
          <a:blip r:embed="rId2"/>
          <a:stretch>
            <a:fillRect/>
          </a:stretch>
        </p:blipFill>
        <p:spPr>
          <a:xfrm>
            <a:off x="7679864" y="4736592"/>
            <a:ext cx="2836830" cy="1232408"/>
          </a:xfrm>
          <a:prstGeom prst="rect">
            <a:avLst/>
          </a:prstGeom>
        </p:spPr>
      </p:pic>
      <p:sp>
        <p:nvSpPr>
          <p:cNvPr id="7" name="TextBox 6"/>
          <p:cNvSpPr txBox="1"/>
          <p:nvPr/>
        </p:nvSpPr>
        <p:spPr>
          <a:xfrm>
            <a:off x="6400800" y="5987288"/>
            <a:ext cx="5394960"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pinhole (red) and the waveguide reference (brown) under no drift (dotted), the 2 pm random walk (solid) and the 5 pm thermal ramp (dashed); the 3 pm hold level marked.  Right panel of the runner's figure.</a:t>
            </a:r>
          </a:p>
        </p:txBody>
      </p:sp>
      <p:sp>
        <p:nvSpPr>
          <p:cNvPr id="8" name="TextBox 7"/>
          <p:cNvSpPr txBox="1"/>
          <p:nvPr/>
        </p:nvSpPr>
        <p:spPr>
          <a:xfrm>
            <a:off x="6400800" y="6748272"/>
            <a:ext cx="5394960" cy="274320"/>
          </a:xfrm>
          <a:prstGeom prst="rect">
            <a:avLst/>
          </a:prstGeom>
          <a:noFill/>
        </p:spPr>
        <p:txBody>
          <a:bodyPr wrap="square">
            <a:spAutoFit/>
          </a:bodyPr>
          <a:lstStyle/>
          <a:p>
            <a:pPr>
              <a:spcAft>
                <a:spcPts val="600"/>
              </a:spcAft>
            </a:pPr>
            <a:r>
              <a:rPr sz="1050" b="0">
                <a:solidFill>
                  <a:srgbClr val="6E6E6E"/>
                </a:solidFill>
                <a:latin typeface="Arial"/>
              </a:rPr>
              <a:t>dm_gauge_lib/dmg_loop, shared with the interferometer; drift seed 77 on the full actuator grid; matrix measured on the working surface.  Both PDI readings contract at 0.509 per cycle with no fixed error (steps return to 0.000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the sensor runner carries the two point-diffraction readings as options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pdi_params.m returns zwfs_params with the readings S, V, P, PF and the camera-drift loop kind set; pdi_run.m runs zwfs_run on it.  Every pinhole and waveguide setting is a documented knob (P.pdi): pinhole size, plate transmission, phase steps and scheme, shutter frame, reference iterations, split ratio, the waveguide's mode, a step-size error; the loop's camera walk and its within-scan fraction (P.loop).</a:t>
            </a:r>
          </a:p>
        </p:txBody>
      </p:sp>
      <p:graphicFrame>
        <p:nvGraphicFramePr>
          <p:cNvPr id="5" name="Table 4"/>
          <p:cNvGraphicFramePr>
            <a:graphicFrameLocks noGrp="1"/>
          </p:cNvGraphicFramePr>
          <p:nvPr/>
        </p:nvGraphicFramePr>
        <p:xfrm>
          <a:off x="411480" y="2465831"/>
          <a:ext cx="11368734" cy="1960245"/>
        </p:xfrm>
        <a:graphic>
          <a:graphicData uri="http://schemas.openxmlformats.org/drawingml/2006/table">
            <a:tbl>
              <a:tblPr firstRow="1" bandRow="1">
                <a:tableStyleId>{5C22544A-7EE6-4342-B048-85BDC9FD1C3A}</a:tableStyleId>
              </a:tblPr>
              <a:tblGrid>
                <a:gridCol w="6897032"/>
                <a:gridCol w="4471702"/>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pdi_run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pdi_run('battery.calib_surface','base', 'battery.ladder_sites','grid')</a:t>
                      </a:r>
                    </a:p>
                  </a:txBody>
                  <a:tcPr marL="54864" marR="54864" marT="18288" marB="18288">
                    <a:solidFill>
                      <a:srgbClr val="ECF1F6"/>
                    </a:solidFill>
                  </a:tcPr>
                </a:tc>
                <a:tc>
                  <a:txBody>
                    <a:bodyPr wrap="square"/>
                    <a:lstStyle/>
                    <a:p>
                      <a:r>
                        <a:rPr sz="1100" b="0">
                          <a:solidFill>
                            <a:srgbClr val="282828"/>
                          </a:solidFill>
                          <a:latin typeface="Arial"/>
                        </a:rPr>
                        <a:t>calibrated on the working surface</a:t>
                      </a:r>
                    </a:p>
                  </a:txBody>
                  <a:tcPr marL="54864" marR="54864" marT="18288" marB="18288">
                    <a:solidFill>
                      <a:srgbClr val="ECF1F6"/>
                    </a:solidFill>
                  </a:tcPr>
                </a:tc>
              </a:tr>
              <a:tr h="280035">
                <a:tc>
                  <a:txBody>
                    <a:bodyPr wrap="square"/>
                    <a:lstStyle/>
                    <a:p>
                      <a:r>
                        <a:rPr sz="1100" b="0">
                          <a:solidFill>
                            <a:srgbClr val="282828"/>
                          </a:solidFill>
                          <a:latin typeface="Arial"/>
                        </a:rPr>
                        <a:t>pdi_run('pdi.DIA_LAMD',1.0, 'MODEL',2048,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a 1 λ/D pinhole, fully sampled</a:t>
                      </a:r>
                    </a:p>
                  </a:txBody>
                  <a:tcPr marL="54864" marR="54864" marT="18288" marB="18288">
                    <a:solidFill>
                      <a:srgbClr val="FFFFFF"/>
                    </a:solidFill>
                  </a:tcPr>
                </a:tc>
              </a:tr>
              <a:tr h="280035">
                <a:tc>
                  <a:txBody>
                    <a:bodyPr wrap="square"/>
                    <a:lstStyle/>
                    <a:p>
                      <a:r>
                        <a:rPr sz="1100" b="0">
                          <a:solidFill>
                            <a:srgbClr val="282828"/>
                          </a:solidFill>
                          <a:latin typeface="Arial"/>
                        </a:rPr>
                        <a:t>pdi_run('pdi.scheme','sh5', 'pdi.step_err',0.02)</a:t>
                      </a:r>
                    </a:p>
                  </a:txBody>
                  <a:tcPr marL="54864" marR="54864" marT="18288" marB="18288">
                    <a:solidFill>
                      <a:srgbClr val="ECF1F6"/>
                    </a:solidFill>
                  </a:tcPr>
                </a:tc>
                <a:tc>
                  <a:txBody>
                    <a:bodyPr wrap="square"/>
                    <a:lstStyle/>
                    <a:p>
                      <a:r>
                        <a:rPr sz="1100" b="0">
                          <a:solidFill>
                            <a:srgbClr val="282828"/>
                          </a:solidFill>
                          <a:latin typeface="Arial"/>
                        </a:rPr>
                        <a:t>the five-frame scan with a 2% step error</a:t>
                      </a:r>
                    </a:p>
                  </a:txBody>
                  <a:tcPr marL="54864" marR="54864" marT="18288" marB="18288">
                    <a:solidFill>
                      <a:srgbClr val="ECF1F6"/>
                    </a:solidFill>
                  </a:tcPr>
                </a:tc>
              </a:tr>
              <a:tr h="280035">
                <a:tc>
                  <a:txBody>
                    <a:bodyPr wrap="square"/>
                    <a:lstStyle/>
                    <a:p>
                      <a:r>
                        <a:rPr sz="1100" b="0">
                          <a:solidFill>
                            <a:srgbClr val="282828"/>
                          </a:solidFill>
                          <a:latin typeface="Arial"/>
                        </a:rPr>
                        <a:t>pdi_run('stages',{'bench','loop','figs'}, 'loop.drifts',{'cam'})</a:t>
                      </a:r>
                    </a:p>
                  </a:txBody>
                  <a:tcPr marL="54864" marR="54864" marT="18288" marB="18288">
                    <a:solidFill>
                      <a:srgbClr val="FFFFFF"/>
                    </a:solidFill>
                  </a:tcPr>
                </a:tc>
                <a:tc>
                  <a:txBody>
                    <a:bodyPr wrap="square"/>
                    <a:lstStyle/>
                    <a:p>
                      <a:r>
                        <a:rPr sz="1100" b="0">
                          <a:solidFill>
                            <a:srgbClr val="282828"/>
                          </a:solidFill>
                          <a:latin typeface="Arial"/>
                        </a:rPr>
                        <a:t>the camera-drift hold rows</a:t>
                      </a:r>
                    </a:p>
                  </a:txBody>
                  <a:tcPr marL="54864" marR="54864" marT="18288" marB="18288">
                    <a:solidFill>
                      <a:srgbClr val="FFFFFF"/>
                    </a:solidFill>
                  </a:tcPr>
                </a:tc>
              </a:tr>
              <a:tr h="280035">
                <a:tc>
                  <a:txBody>
                    <a:bodyPr wrap="square"/>
                    <a:lstStyle/>
                    <a:p>
                      <a:r>
                        <a:rPr sz="1100" b="0">
                          <a:solidFill>
                            <a:srgbClr val="282828"/>
                          </a:solidFill>
                          <a:latin typeface="Arial"/>
                        </a:rPr>
                        <a:t>./zwfs_batch.sh TAG "pdi_params, the same arguments"</a:t>
                      </a:r>
                    </a:p>
                  </a:txBody>
                  <a:tcPr marL="54864" marR="54864" marT="18288" marB="18288">
                    <a:solidFill>
                      <a:srgbClr val="ECF1F6"/>
                    </a:solidFill>
                  </a:tcPr>
                </a:tc>
                <a:tc>
                  <a:txBody>
                    <a:bodyPr wrap="square"/>
                    <a:lstStyle/>
                    <a:p>
                      <a:r>
                        <a:rPr sz="1100" b="0">
                          <a:solidFill>
                            <a:srgbClr val="282828"/>
                          </a:solidFill>
                          <a:latin typeface="Arial"/>
                        </a:rPr>
                        <a:t>unattended, memory-capped, logged; one engine run at a time</a:t>
                      </a:r>
                    </a:p>
                  </a:txBody>
                  <a:tcPr marL="54864" marR="54864" marT="18288" marB="18288">
                    <a:solidFill>
                      <a:srgbClr val="ECF1F6"/>
                    </a:solidFill>
                  </a:tcPr>
                </a:tc>
              </a:tr>
            </a:tbl>
          </a:graphicData>
        </a:graphic>
      </p:graphicFrame>
      <p:sp>
        <p:nvSpPr>
          <p:cNvPr id="6" name="TextBox 5"/>
          <p:cNvSpPr txBox="1"/>
          <p:nvPr/>
        </p:nvSpPr>
        <p:spPr>
          <a:xfrm>
            <a:off x="411480" y="4572381"/>
            <a:ext cx="11368735" cy="274320"/>
          </a:xfrm>
          <a:prstGeom prst="rect">
            <a:avLst/>
          </a:prstGeom>
          <a:noFill/>
        </p:spPr>
        <p:txBody>
          <a:bodyPr wrap="square">
            <a:spAutoFit/>
          </a:bodyPr>
          <a:lstStyle/>
          <a:p>
            <a:pPr>
              <a:spcAft>
                <a:spcPts val="600"/>
              </a:spcAft>
            </a:pPr>
            <a:r>
              <a:rPr sz="1050" b="0">
                <a:solidFill>
                  <a:srgbClr val="6E6E6E"/>
                </a:solidFill>
                <a:latin typeface="Arial"/>
              </a:rPr>
              <a:t>Records: templates/40_benches/zwfs_dm96/runs/pdi193 (record 1), pdi193f / pdi193fbase / pdi193state / pdi193d1 / pdi193se_* (record 2), ploop193 / pcam193 / pcam193i (loop); README "P / PF"; plan and literature in macos/BRIEF_pdi_campaign.md.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a:t>
            </a:r>
          </a:p>
          <a:p>
            <a:pPr>
              <a:spcAft>
                <a:spcPts val="0"/>
              </a:spcAft>
            </a:pPr>
            <a:r>
              <a:rPr sz="1250" b="0">
                <a:solidFill>
                  <a:srgbClr val="6E6E6E"/>
                </a:solidFill>
                <a:latin typeface="Arial"/>
              </a:rPr>
              <a:t>[R2/CAM] to be stated once record 2 and the loop rows land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stepped pinhole is the stepped Zernike sensor with a smaller, attenuated reference: the same frames and the same algebra (equal to 5×10⁻¹⁵ at unit transmission); it reads exactly where the dimple's four-step does not (0.93 vs 0.75 on the 30 nm surface), for 1.6× fewer camera photons, and pays 18% of the light at the plate.</a:t>
            </a:r>
          </a:p>
          <a:p>
            <a:pPr>
              <a:spcAft>
                <a:spcPts val="600"/>
              </a:spcAft>
            </a:pPr>
            <a:r>
              <a:rPr sz="1500" b="0">
                <a:solidFill>
                  <a:srgbClr val="282828"/>
                </a:solidFill>
                <a:latin typeface="Arial"/>
              </a:rPr>
              <a:t>•  A reference that does not depend on the surface is what extends the range: the waveguide reading keeps reading past the surfaces at which every self-referenced reading folds.</a:t>
            </a:r>
          </a:p>
          <a:p>
            <a:pPr>
              <a:spcAft>
                <a:spcPts val="600"/>
              </a:spcAft>
            </a:pPr>
            <a:r>
              <a:rPr sz="1500" b="0">
                <a:solidFill>
                  <a:srgbClr val="282828"/>
                </a:solidFill>
                <a:latin typeface="Arial"/>
              </a:rPr>
              <a:t>•  [R2] the on-surface calibration, the 1 λ/D pinhole, the scheme trade.</a:t>
            </a:r>
          </a:p>
          <a:p>
            <a:pPr>
              <a:spcAft>
                <a:spcPts val="600"/>
              </a:spcAft>
            </a:pPr>
            <a:r>
              <a:rPr sz="1500" b="0">
                <a:solidFill>
                  <a:srgbClr val="282828"/>
                </a:solidFill>
                <a:latin typeface="Arial"/>
              </a:rPr>
              <a:t>•  A drifting camera reaches only the readings that do not phase-step: at 10⁻³ of the signal per cycle the linear reading puts 10.8 nm on the DM and the polarized pair 89 pm; the stepped dimple, the stepped pinhole and the waveguide reading are unaffected to the printed digit.  At the paper's 1 electron per pixel nothing is affected at these light levels; drift developing within a scan costs the stepped readings 5 to 11 pm, so the scan rate, not the reading, sets that floor.</a:t>
            </a:r>
          </a:p>
          <a:p>
            <a:pPr>
              <a:spcAft>
                <a:spcPts val="600"/>
              </a:spcAft>
            </a:pPr>
            <a:r>
              <a:rPr sz="1500" b="0">
                <a:solidFill>
                  <a:srgbClr val="282828"/>
                </a:solidFill>
                <a:latin typeface="Arial"/>
              </a:rPr>
              <a:t>•  What the model does not yet carry: the reference arm's own drift (non-common path), detector nonlinearity and persistence — the paper's own 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Code: templates/40_benches/dm_gauge_lib/dmg_pdi_gauge.m (both readings, the reference models, the step schemes), dmg_loop.m (the camera drift), zwfs_run.m (readings P / PF, checks G5–G7, the loop's 'cam' kind), zwfs_run_figs.m (the point-diffraction figure), pdi_params.m / pdi_run.m; tests/tDmgLoop.m (10 checks, including the camera immunity).</a:t>
            </a:r>
          </a:p>
          <a:p>
            <a:pPr>
              <a:spcAft>
                <a:spcPts val="600"/>
              </a:spcAft>
            </a:pPr>
            <a:r>
              <a:rPr sz="1500" b="0">
                <a:solidFill>
                  <a:srgbClr val="282828"/>
                </a:solidFill>
                <a:latin typeface="Arial"/>
              </a:rPr>
              <a:t>•  Runs: zwfs_dm96/runs/pdi_dev, pdi_dev2, pdi_dev3 (dev-resolution checks); pdi193 (record 1); pdi193f, pdi193fbase, pdi193state, pdi193d1, pdi193se_ls, pdi193se_sh5 (record 2); ploop193, pcam193, pcam193i (loop).</a:t>
            </a:r>
          </a:p>
          <a:p>
            <a:pPr>
              <a:spcAft>
                <a:spcPts val="600"/>
              </a:spcAft>
            </a:pPr>
            <a:r>
              <a:rPr sz="1500" b="0">
                <a:solidFill>
                  <a:srgbClr val="282828"/>
                </a:solidFill>
                <a:latin typeface="Arial"/>
              </a:rPr>
              <a:t>•  Paper and model: ~/dev/MACOS_sandbox/pSRI/Dube_pSRI.pdf; photonic-sri-simulation (coupleThroughPhotonicChipRecollimate.m, singleModeField.m, PSIAccumulate.m, differentialPSIReconstructAmpPhs.m).</a:t>
            </a:r>
          </a:p>
          <a:p>
            <a:pPr>
              <a:spcAft>
                <a:spcPts val="600"/>
              </a:spcAft>
            </a:pPr>
            <a:r>
              <a:rPr sz="1500" b="0">
                <a:solidFill>
                  <a:srgbClr val="282828"/>
                </a:solidFill>
                <a:latin typeface="Arial"/>
              </a:rPr>
              <a:t>•  Plan and literature: macos/BRIEF_pdi_campaign.md.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