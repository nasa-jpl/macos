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point-diffraction interferometer for the DM gauge</a:t>
            </a:r>
          </a:p>
          <a:p>
            <a:pPr>
              <a:spcAft>
                <a:spcPts val="1400"/>
              </a:spcAft>
            </a:pPr>
            <a:r>
              <a:rPr sz="2200" b="0">
                <a:solidFill>
                  <a:srgbClr val="282828"/>
                </a:solidFill>
                <a:latin typeface="Arial"/>
              </a:rPr>
              <a:t>The same 96 mm bench and the same deformable mirror: a stepped pinhole at the focus, and the phase-shifting self-referenced interferometer with a waveguide reference (Dube et al. 2024), read exactly and compared with the Zernike sensor's stepped and polarized-dimple readings</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both readings built into the sensor runner and gated; the flat-matrix record measured; the fiber-reference record, the 1 λ/D pinhole, the step-scheme trade and the closed-loop rows with a camera-drift knob in progress.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a reference made from the beam's own focal core, kept clean</a:t>
            </a:r>
          </a:p>
          <a:p>
            <a:pPr>
              <a:spcAft>
                <a:spcPts val="0"/>
              </a:spcAft>
            </a:pPr>
            <a:r>
              <a:rPr sz="1250" b="0">
                <a:solidFill>
                  <a:srgbClr val="6E6E6E"/>
                </a:solidFill>
                <a:latin typeface="Arial"/>
              </a:rPr>
              <a:t>A pinhole passes only the core of the spot; what diffracts from it is a smooth wave whose shape barely depends on the aberration that made the spot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Common-path form (P): a pinhole in a partly transmitting plate at the focus.  The core passes the pinhole and spreads over the pupil image as the reference; the rest of the beam passes the plate, attenuated so the two amplitudes match.  Stepping the pinhole's phase gives four frames and a textbook four-step solve: exact, linear, amplitude and phase, no small-phase limit, no sign fold.</a:t>
            </a:r>
          </a:p>
          <a:p>
            <a:pPr>
              <a:spcAft>
                <a:spcPts val="600"/>
              </a:spcAft>
            </a:pPr>
            <a:r>
              <a:rPr sz="1200" b="0">
                <a:solidFill>
                  <a:srgbClr val="282828"/>
                </a:solidFill>
                <a:latin typeface="Arial"/>
              </a:rPr>
              <a:t>•  The Zernike sensor is this instrument with a phase dimple and a clear plate.  At unit plate transmission and the dimple's diameter, the stepped pinhole reading reproduces the sensor's stepped reading to 5×10⁻¹⁵ (check G7).  What the pinhole changes is the reference: smaller and attenuated, so it moves less with the surface.</a:t>
            </a:r>
          </a:p>
          <a:p>
            <a:pPr>
              <a:spcAft>
                <a:spcPts val="600"/>
              </a:spcAft>
            </a:pPr>
            <a:r>
              <a:rPr sz="1200" b="0">
                <a:solidFill>
                  <a:srgbClr val="282828"/>
                </a:solidFill>
                <a:latin typeface="Arial"/>
              </a:rPr>
              <a:t>•  The price is light: the plate transmission squared, 0.72² here; the sensor keeps all of it.</a:t>
            </a:r>
          </a:p>
        </p:txBody>
      </p:sp>
      <p:pic>
        <p:nvPicPr>
          <p:cNvPr id="5" name="Picture 4" descr="pdi_dev3_pdi.png"/>
          <p:cNvPicPr>
            <a:picLocks noChangeAspect="1"/>
          </p:cNvPicPr>
          <p:nvPr/>
        </p:nvPicPr>
        <p:blipFill>
          <a:blip r:embed="rId2"/>
          <a:stretch>
            <a:fillRect/>
          </a:stretch>
        </p:blipFill>
        <p:spPr>
          <a:xfrm>
            <a:off x="7037912" y="1298448"/>
            <a:ext cx="4120734" cy="2402332"/>
          </a:xfrm>
          <a:prstGeom prst="rect">
            <a:avLst/>
          </a:prstGeom>
        </p:spPr>
      </p:pic>
      <p:sp>
        <p:nvSpPr>
          <p:cNvPr id="6" name="TextBox 5"/>
          <p:cNvSpPr txBox="1"/>
          <p:nvPr/>
        </p:nvSpPr>
        <p:spPr>
          <a:xfrm>
            <a:off x="6400800" y="3719068"/>
            <a:ext cx="5394960" cy="889508"/>
          </a:xfrm>
          <a:prstGeom prst="rect">
            <a:avLst/>
          </a:prstGeom>
          <a:noFill/>
        </p:spPr>
        <p:txBody>
          <a:bodyPr wrap="square">
            <a:spAutoFit/>
          </a:bodyPr>
          <a:lstStyle/>
          <a:p>
            <a:pPr algn="ctr">
              <a:spcAft>
                <a:spcPts val="0"/>
              </a:spcAft>
            </a:pPr>
            <a:r>
              <a:rPr sz="1000" b="0">
                <a:solidFill>
                  <a:srgbClr val="6E6E6E"/>
                </a:solidFill>
                <a:latin typeface="Arial"/>
              </a:rPr>
              <a:t>The focal spot on the flat DM with the 2 λ/D pinhole (red), the sensor's dimple (green, the same size) and the waveguide mode's 1/e contour (brown); the reference amplitudes across the pupil image; how much each reference moves under the 30 nm working surface, by pinhole size; the fringe visibility of both readings on the flat.  Dev-resolution run.</a:t>
            </a:r>
          </a:p>
        </p:txBody>
      </p:sp>
      <p:sp>
        <p:nvSpPr>
          <p:cNvPr id="7" name="TextBox 6"/>
          <p:cNvSpPr txBox="1"/>
          <p:nvPr/>
        </p:nvSpPr>
        <p:spPr>
          <a:xfrm>
            <a:off x="6400800" y="4645152"/>
            <a:ext cx="5394960" cy="274320"/>
          </a:xfrm>
          <a:prstGeom prst="rect">
            <a:avLst/>
          </a:prstGeom>
          <a:noFill/>
        </p:spPr>
        <p:txBody>
          <a:bodyPr wrap="square">
            <a:spAutoFit/>
          </a:bodyPr>
          <a:lstStyle/>
          <a:p>
            <a:pPr>
              <a:spcAft>
                <a:spcPts val="600"/>
              </a:spcAft>
            </a:pPr>
            <a:r>
              <a:rPr sz="1050" b="0">
                <a:solidFill>
                  <a:srgbClr val="6E6E6E"/>
                </a:solidFill>
                <a:latin typeface="Arial"/>
              </a:rPr>
              <a:t>Smartt &amp; Steel 1975 (PDI); Medecki, Tejnil, Goldberg, Bokor 1996 (phase-shifting PDI); Naulleau 1999 (EUV PS/PDI, reference accurate to λ/330).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the reference from a single-mode waveguide, stepped in the chip</a:t>
            </a:r>
          </a:p>
          <a:p>
            <a:pPr>
              <a:spcAft>
                <a:spcPts val="0"/>
              </a:spcAft>
            </a:pPr>
            <a:r>
              <a:rPr sz="1250" b="0">
                <a:solidFill>
                  <a:srgbClr val="6E6E6E"/>
                </a:solidFill>
                <a:latin typeface="Arial"/>
              </a:rPr>
              <a:t>Dube et al. 2024 (SPIE 13092-178): a non-common-path interferometer that a coronagraph layout can carry, measuring both phase and amplitude and high-pass filtering the camera's slow drift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Layout: a plate beamsplitter sends 60% of the light to a reference arm that focuses onto a single-mode waveguide in a photonic chip; only the waveguide's mode comes back out — the point-diffraction reference — phase-shifted thermo-optically, recollimated by two OAPs and recombined with the 40% test beam.  Out of band, with a laser and a notch filter in the science channel.</a:t>
            </a:r>
          </a:p>
          <a:p>
            <a:pPr>
              <a:spcAft>
                <a:spcPts val="600"/>
              </a:spcAft>
            </a:pPr>
            <a:r>
              <a:rPr sz="1200" b="0">
                <a:solidFill>
                  <a:srgbClr val="282828"/>
                </a:solidFill>
                <a:latin typeface="Arial"/>
              </a:rPr>
              <a:t>•  Reconstruction: the five-frame Schwider–Hariharan scan; sums with weights that add to zero give the field's cosine and sine per pixel, hence amplitude and phase.  The change between two measurements is taken by complex division, so a 20 pm change on top of a wrapped absolute phase comes back exact (their example: 10⁻¹⁴ nm).</a:t>
            </a:r>
          </a:p>
          <a:p>
            <a:pPr>
              <a:spcAft>
                <a:spcPts val="600"/>
              </a:spcAft>
            </a:pPr>
            <a:r>
              <a:rPr sz="1200" b="0">
                <a:solidFill>
                  <a:srgbClr val="282828"/>
                </a:solidFill>
                <a:latin typeface="Arial"/>
              </a:rPr>
              <a:t>•  Why phase shifting: any camera pattern constant within one scan subtracts; Roman's Zernike sensor is limited by ~1 electron per pixel of camera drift over 12 hours.</a:t>
            </a:r>
          </a:p>
          <a:p>
            <a:pPr>
              <a:spcAft>
                <a:spcPts val="600"/>
              </a:spcAft>
            </a:pPr>
            <a:r>
              <a:rPr sz="1200" b="0">
                <a:solidFill>
                  <a:srgbClr val="282828"/>
                </a:solidFill>
                <a:latin typeface="Arial"/>
              </a:rPr>
              <a:t>•  Modeled here as their code has it: the exact step-index mode (V 2.3, b 0.5, core radius 0.5 λ/D), the coupling of each state's focal field into it, the 60/40 split, the four-step and the five-frame schemes, an optional shutter frame of the reference alone.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moves with the surface, and what does not.  The waveguide fixes the reference's shape; the surface changes only how much light couples in — a scalar.  Under the 30 nm working surface the coupling drops to 0.86 with 0.025 rad of phase (record run); the differential phase divides the scalar out.</a:t>
            </a:r>
          </a:p>
          <a:p>
            <a:pPr>
              <a:spcAft>
                <a:spcPts val="600"/>
              </a:spcAft>
            </a:pPr>
            <a:r>
              <a:rPr sz="1200" b="0">
                <a:solidFill>
                  <a:srgbClr val="282828"/>
                </a:solidFill>
                <a:latin typeface="Arial"/>
              </a:rPr>
              <a:t>•  The pinhole reference by size (record 1, 30 nm surface): shape change 0.10% at 0.5 λ/D, 0.26% at 1, 0.58% at 1.5, 1.06% at 2 (the dimple), 2.6% at 3; the amplitude scale 0.86 at every size — the Strehl ratio.</a:t>
            </a:r>
          </a:p>
          <a:p>
            <a:pPr>
              <a:spcAft>
                <a:spcPts val="600"/>
              </a:spcAft>
            </a:pPr>
            <a:r>
              <a:rPr sz="1200" b="0">
                <a:solidFill>
                  <a:srgbClr val="282828"/>
                </a:solidFill>
                <a:latin typeface="Arial"/>
              </a:rPr>
              <a:t>•  Coupling and light: 59% of the focal light couples into the mode on the flat DM; with the 60/40 split the reference is budget-limited to 73% of the visibility-1 amplitude; visibility 0.86, throughput 0.75.</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Their next steps, stated in the paper: noise, non-common-path drift, detector systematics.  The model here is ideal in the arm; the camera-drift knob (slide 7) is the first of those.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and the scoring: nothing changes but the mask and the solve</a:t>
            </a:r>
          </a:p>
          <a:p>
            <a:pPr>
              <a:spcAft>
                <a:spcPts val="0"/>
              </a:spcAft>
            </a:pPr>
            <a:r>
              <a:rPr sz="1250" b="0">
                <a:solidFill>
                  <a:srgbClr val="6E6E6E"/>
                </a:solidFill>
                <a:latin typeface="Arial"/>
              </a:rPr>
              <a:t>The sensor's test arm, the same tuned tail, the same DM truth, the same actuator-space score and the same closed loop</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Bench: the TG96 test arm alone with the mask seat inside the reference-sphere bracket at the internal focus; the camera at the DM image.  The pinhole plate replaces the dimple plate; the P/SRI adds nothing to the bench — its reference is synthesized from the traced pupil field, exactly as the paper's model does.</a:t>
            </a:r>
          </a:p>
          <a:p>
            <a:pPr>
              <a:spcAft>
                <a:spcPts val="600"/>
              </a:spcAft>
            </a:pPr>
            <a:r>
              <a:rPr sz="1500" b="0">
                <a:solidFill>
                  <a:srgbClr val="282828"/>
                </a:solidFill>
                <a:latin typeface="Arial"/>
              </a:rPr>
              <a:t>•  Checks that run every time (all pass at 10⁻¹⁵ to 10⁻¹⁰): the reference model against the engine's own field; the flat DM reads zero; the 100 nm sparse pokes beyond the sensor's fold come back to 0.3 pm (pinhole) and 0.000 pm (waveguide) against the engine's phase; the pinhole reading at unit transmission equals the stepped Zernike reading.</a:t>
            </a:r>
          </a:p>
          <a:p>
            <a:pPr>
              <a:spcAft>
                <a:spcPts val="600"/>
              </a:spcAft>
            </a:pPr>
            <a:r>
              <a:rPr sz="1500" b="0">
                <a:solidFill>
                  <a:srgbClr val="282828"/>
                </a:solidFill>
                <a:latin typeface="Arial"/>
              </a:rPr>
              <a:t>•  Scored as the sensor is: a change of known actuators on a working surface, before and after, fitted through the measured response matrix (every actuator poked once in sparse grids) in actuator units; gain, floor (pm), SNR; photons per measurement counted at the camera, the throughput printed beside them.</a:t>
            </a:r>
          </a:p>
        </p:txBody>
      </p:sp>
      <p:graphicFrame>
        <p:nvGraphicFramePr>
          <p:cNvPr id="5" name="Table 4"/>
          <p:cNvGraphicFramePr>
            <a:graphicFrameLocks noGrp="1"/>
          </p:cNvGraphicFramePr>
          <p:nvPr/>
        </p:nvGraphicFramePr>
        <p:xfrm>
          <a:off x="411480" y="3984498"/>
          <a:ext cx="11368735" cy="1400175"/>
        </p:xfrm>
        <a:graphic>
          <a:graphicData uri="http://schemas.openxmlformats.org/drawingml/2006/table">
            <a:tbl>
              <a:tblPr firstRow="1" bandRow="1">
                <a:tableStyleId>{5C22544A-7EE6-4342-B048-85BDC9FD1C3A}</a:tableStyleId>
              </a:tblPr>
              <a:tblGrid>
                <a:gridCol w="2035048"/>
                <a:gridCol w="1744472"/>
                <a:gridCol w="6716471"/>
                <a:gridCol w="872744"/>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frames per measurement</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light kept</a:t>
                      </a:r>
                    </a:p>
                  </a:txBody>
                  <a:tcPr marL="54864" marR="54864" marT="18288" marB="18288">
                    <a:solidFill>
                      <a:srgbClr val="1F4E79"/>
                    </a:solidFill>
                  </a:tcPr>
                </a:tc>
              </a:tr>
              <a:tr h="280035">
                <a:tc>
                  <a:txBody>
                    <a:bodyPr wrap="square"/>
                    <a:lstStyle/>
                    <a:p>
                      <a:r>
                        <a:rPr sz="1100" b="0">
                          <a:solidFill>
                            <a:srgbClr val="282828"/>
                          </a:solidFill>
                          <a:latin typeface="Arial"/>
                        </a:rPr>
                        <a:t>Zernike stepped (S)</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the dimple's core, moves with the surface</a:t>
                      </a:r>
                    </a:p>
                  </a:txBody>
                  <a:tcPr marL="54864" marR="54864" marT="18288" marB="18288">
                    <a:solidFill>
                      <a:srgbClr val="FFFFFF"/>
                    </a:solidFill>
                  </a:tcPr>
                </a:tc>
                <a:tc>
                  <a:txBody>
                    <a:bodyPr wrap="square"/>
                    <a:lstStyle/>
                    <a:p>
                      <a:r>
                        <a:rPr sz="1100" b="0">
                          <a:solidFill>
                            <a:srgbClr val="282828"/>
                          </a:solidFill>
                          <a:latin typeface="Arial"/>
                        </a:rPr>
                        <a:t>all</a:t>
                      </a:r>
                    </a:p>
                  </a:txBody>
                  <a:tcPr marL="54864" marR="54864" marT="18288" marB="18288">
                    <a:solidFill>
                      <a:srgbClr val="FFFFFF"/>
                    </a:solidFill>
                  </a:tcPr>
                </a:tc>
              </a:tr>
              <a:tr h="280035">
                <a:tc>
                  <a:txBody>
                    <a:bodyPr wrap="square"/>
                    <a:lstStyle/>
                    <a:p>
                      <a:r>
                        <a:rPr sz="1100" b="0">
                          <a:solidFill>
                            <a:srgbClr val="282828"/>
                          </a:solidFill>
                          <a:latin typeface="Arial"/>
                        </a:rPr>
                        <a:t>Zernike polarized pair (V)</a:t>
                      </a:r>
                    </a:p>
                  </a:txBody>
                  <a:tcPr marL="54864" marR="54864" marT="18288" marB="18288">
                    <a:solidFill>
                      <a:srgbClr val="ECF1F6"/>
                    </a:solidFill>
                  </a:tcPr>
                </a:tc>
                <a:tc>
                  <a:txBody>
                    <a:bodyPr wrap="square"/>
                    <a:lstStyle/>
                    <a:p>
                      <a:r>
                        <a:rPr sz="1100" b="0">
                          <a:solidFill>
                            <a:srgbClr val="282828"/>
                          </a:solidFill>
                          <a:latin typeface="Arial"/>
                        </a:rPr>
                        <a:t>2 at once</a:t>
                      </a:r>
                    </a:p>
                  </a:txBody>
                  <a:tcPr marL="54864" marR="54864" marT="18288" marB="18288">
                    <a:solidFill>
                      <a:srgbClr val="ECF1F6"/>
                    </a:solidFill>
                  </a:tcPr>
                </a:tc>
                <a:tc>
                  <a:txBody>
                    <a:bodyPr wrap="square"/>
                    <a:lstStyle/>
                    <a:p>
                      <a:r>
                        <a:rPr sz="1100" b="0">
                          <a:solidFill>
                            <a:srgbClr val="282828"/>
                          </a:solidFill>
                          <a:latin typeface="Arial"/>
                        </a:rPr>
                        <a:t>the same, re-computed</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r>
              <a:tr h="280035">
                <a:tc>
                  <a:txBody>
                    <a:bodyPr wrap="square"/>
                    <a:lstStyle/>
                    <a:p>
                      <a:r>
                        <a:rPr sz="1100" b="0">
                          <a:solidFill>
                            <a:srgbClr val="282828"/>
                          </a:solidFill>
                          <a:latin typeface="Arial"/>
                        </a:rPr>
                        <a:t>stepped pinhole (P)</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pinhole-diffracted, iterated</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r>
              <a:tr h="280035">
                <a:tc>
                  <a:txBody>
                    <a:bodyPr wrap="square"/>
                    <a:lstStyle/>
                    <a:p>
                      <a:r>
                        <a:rPr sz="1100" b="0">
                          <a:solidFill>
                            <a:srgbClr val="282828"/>
                          </a:solidFill>
                          <a:latin typeface="Arial"/>
                        </a:rPr>
                        <a:t>P/SRI waveguide (PF)</a:t>
                      </a:r>
                    </a:p>
                  </a:txBody>
                  <a:tcPr marL="54864" marR="54864" marT="18288" marB="18288">
                    <a:solidFill>
                      <a:srgbClr val="ECF1F6"/>
                    </a:solidFill>
                  </a:tcPr>
                </a:tc>
                <a:tc>
                  <a:txBody>
                    <a:bodyPr wrap="square"/>
                    <a:lstStyle/>
                    <a:p>
                      <a:r>
                        <a:rPr sz="1100" b="0">
                          <a:solidFill>
                            <a:srgbClr val="282828"/>
                          </a:solidFill>
                          <a:latin typeface="Arial"/>
                        </a:rPr>
                        <a:t>4 (or 5)</a:t>
                      </a:r>
                    </a:p>
                  </a:txBody>
                  <a:tcPr marL="54864" marR="54864" marT="18288" marB="18288">
                    <a:solidFill>
                      <a:srgbClr val="ECF1F6"/>
                    </a:solidFill>
                  </a:tcPr>
                </a:tc>
                <a:tc>
                  <a:txBody>
                    <a:bodyPr wrap="square"/>
                    <a:lstStyle/>
                    <a:p>
                      <a:r>
                        <a:rPr sz="1100" b="0">
                          <a:solidFill>
                            <a:srgbClr val="282828"/>
                          </a:solidFill>
                          <a:latin typeface="Arial"/>
                        </a:rPr>
                        <a:t>the waveguide mode, fixed</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6" name="TextBox 5"/>
          <p:cNvSpPr txBox="1"/>
          <p:nvPr/>
        </p:nvSpPr>
        <p:spPr>
          <a:xfrm>
            <a:off x="411480" y="5530977"/>
            <a:ext cx="11368735" cy="274320"/>
          </a:xfrm>
          <a:prstGeom prst="rect">
            <a:avLst/>
          </a:prstGeom>
          <a:noFill/>
        </p:spPr>
        <p:txBody>
          <a:bodyPr wrap="square">
            <a:spAutoFit/>
          </a:bodyPr>
          <a:lstStyle/>
          <a:p>
            <a:pPr>
              <a:spcAft>
                <a:spcPts val="600"/>
              </a:spcAft>
            </a:pPr>
            <a:r>
              <a:rPr sz="1050" b="0">
                <a:solidFill>
                  <a:srgbClr val="6E6E6E"/>
                </a:solidFill>
                <a:latin typeface="Arial"/>
              </a:rPr>
              <a:t>Photons "per measurement": one DM shape measured once, all frames summed.  Sampling: the pinhole gets the dimple's rule (≥ 6 pixels across at the focus; 3.96 per λ/D at 1024/193, so 1 λ/D needs the 2048 grid).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bench as traced, source to camera</a:t>
            </a:r>
          </a:p>
          <a:p>
            <a:pPr>
              <a:spcAft>
                <a:spcPts val="0"/>
              </a:spcAft>
            </a:pPr>
            <a:r>
              <a:rPr sz="1250" b="0">
                <a:solidFill>
                  <a:srgbClr val="6E6E6E"/>
                </a:solidFill>
                <a:latin typeface="Arial"/>
              </a:rPr>
              <a:t>Collimator 857 mm, 7° splitter, 700 mm leg to the 96 mm DM, focusing lens 429 mm, the mask seat (16) inside the sphere bracket, 42.5 mm relay, camera at the DM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di_layout.png"/>
          <p:cNvPicPr>
            <a:picLocks noChangeAspect="1"/>
          </p:cNvPicPr>
          <p:nvPr/>
        </p:nvPicPr>
        <p:blipFill>
          <a:blip r:embed="rId2"/>
          <a:stretch>
            <a:fillRect/>
          </a:stretch>
        </p:blipFill>
        <p:spPr>
          <a:xfrm>
            <a:off x="639926" y="1298448"/>
            <a:ext cx="10911843" cy="3903472"/>
          </a:xfrm>
          <a:prstGeom prst="rect">
            <a:avLst/>
          </a:prstGeom>
        </p:spPr>
      </p:pic>
      <p:sp>
        <p:nvSpPr>
          <p:cNvPr id="5" name="TextBox 4"/>
          <p:cNvSpPr txBox="1"/>
          <p:nvPr/>
        </p:nvSpPr>
        <p:spPr>
          <a:xfrm>
            <a:off x="411480" y="5220208"/>
            <a:ext cx="11368735" cy="394208"/>
          </a:xfrm>
          <a:prstGeom prst="rect">
            <a:avLst/>
          </a:prstGeom>
          <a:noFill/>
        </p:spPr>
        <p:txBody>
          <a:bodyPr wrap="square">
            <a:spAutoFit/>
          </a:bodyPr>
          <a:lstStyle/>
          <a:p>
            <a:pPr algn="ctr">
              <a:spcAft>
                <a:spcPts val="0"/>
              </a:spcAft>
            </a:pPr>
            <a:r>
              <a:rPr sz="1000" b="0">
                <a:solidFill>
                  <a:srgbClr val="6E6E6E"/>
                </a:solidFill>
                <a:latin typeface="Arial"/>
              </a:rPr>
              <a:t>Looking down on the bench; distances in millimeters along the chief ray in blue.  Source and 21 mm baffle (1), collimator (2, 3), splitter plate at 7° (4 to 6, 10 to 12), the DM (7, radius 51 mm) on its 700 mm leg, focusing lens (13, 14), and the tail to the camera (20), enlarged on the next slide.</a:t>
            </a:r>
          </a:p>
        </p:txBody>
      </p:sp>
      <p:sp>
        <p:nvSpPr>
          <p:cNvPr id="6" name="TextBox 5"/>
          <p:cNvSpPr txBox="1"/>
          <p:nvPr/>
        </p:nvSpPr>
        <p:spPr>
          <a:xfrm>
            <a:off x="411480" y="5650992"/>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sensor's deck, unchanged (tg96 test arm, tuned tail; mask trim −5.58 mm to the true focus); the pinhole plate replaces the dimple plate in seat 16.  The P/SRI's reference arm (a 60/40 plate splitter before the focusing lens, a waveguide chip at a second focus, a recombiner; paper Fig. 3) is not traced: its reference is the waveguide mode's field at the pupil, scaled by the coupling of the traced focal field.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last 130 mm: mask seat, exit sphere, relay lens, camera</a:t>
            </a:r>
          </a:p>
          <a:p>
            <a:pPr>
              <a:spcAft>
                <a:spcPts val="0"/>
              </a:spcAft>
            </a:pPr>
            <a:r>
              <a:rPr sz="1250" b="0">
                <a:solidFill>
                  <a:srgbClr val="6E6E6E"/>
                </a:solidFill>
                <a:latin typeface="Arial"/>
              </a:rPr>
              <a:t>The exit sphere (17) carries the entrance sphere's radius, so the unmasked round trip is the identity; the relay (18, 19) reimages the DM onto the camera (20)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di_layout_tail.png"/>
          <p:cNvPicPr>
            <a:picLocks noChangeAspect="1"/>
          </p:cNvPicPr>
          <p:nvPr/>
        </p:nvPicPr>
        <p:blipFill>
          <a:blip r:embed="rId2"/>
          <a:stretch>
            <a:fillRect/>
          </a:stretch>
        </p:blipFill>
        <p:spPr>
          <a:xfrm>
            <a:off x="2408701" y="1298448"/>
            <a:ext cx="7374293" cy="3903472"/>
          </a:xfrm>
          <a:prstGeom prst="rect">
            <a:avLst/>
          </a:prstGeom>
        </p:spPr>
      </p:pic>
      <p:sp>
        <p:nvSpPr>
          <p:cNvPr id="5" name="TextBox 4"/>
          <p:cNvSpPr txBox="1"/>
          <p:nvPr/>
        </p:nvSpPr>
        <p:spPr>
          <a:xfrm>
            <a:off x="411480" y="52202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tail at 14× the bench scale: focus at the mask seat (16), the exit sphere (17) 23.9 mm behind it, the relay lens (18, 19) 15.9 mm further, and the camera (20) 32.4 mm behind the relay.</a:t>
            </a:r>
          </a:p>
        </p:txBody>
      </p:sp>
      <p:sp>
        <p:nvSpPr>
          <p:cNvPr id="6" name="TextBox 5"/>
          <p:cNvSpPr txBox="1"/>
          <p:nvPr/>
        </p:nvSpPr>
        <p:spPr>
          <a:xfrm>
            <a:off x="411480" y="5650992"/>
            <a:ext cx="11368735" cy="274320"/>
          </a:xfrm>
          <a:prstGeom prst="rect">
            <a:avLst/>
          </a:prstGeom>
          <a:noFill/>
        </p:spPr>
        <p:txBody>
          <a:bodyPr wrap="square">
            <a:spAutoFit/>
          </a:bodyPr>
          <a:lstStyle/>
          <a:p>
            <a:pPr>
              <a:spcAft>
                <a:spcPts val="600"/>
              </a:spcAft>
            </a:pPr>
            <a:r>
              <a:rPr sz="1050" b="0">
                <a:solidFill>
                  <a:srgbClr val="6E6E6E"/>
                </a:solidFill>
                <a:latin typeface="Arial"/>
              </a:rPr>
              <a:t>Seat 16 holds the dimple (Zernike readings), the pinhole plate (P), or nothing (PF).  The focal-plane grid inside the bracket samples the mask at 3.96 pixels per λ/D (1024 grid, 193 rays), 7.9 pixels across the 2 λ/D pinhole.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1: on the working surface the three exact readings agree, and the stepped sensor does not</a:t>
            </a:r>
          </a:p>
          <a:p>
            <a:pPr>
              <a:spcAft>
                <a:spcPts val="0"/>
              </a:spcAft>
            </a:pPr>
            <a:r>
              <a:rPr sz="1250" b="0">
                <a:solidFill>
                  <a:srgbClr val="6E6E6E"/>
                </a:solidFill>
                <a:latin typeface="Arial"/>
              </a:rPr>
              <a:t>A 10 nm actuator change on a 30 nm surface reads at 0.93–0.94 for the polarized pair, the pinhole and the waveguide; 0.75 for the stepped dimple (flat-DM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4341698"/>
                <a:gridCol w="1308608"/>
                <a:gridCol w="1308608"/>
                <a:gridCol w="1308608"/>
                <a:gridCol w="3101213"/>
              </a:tblGrid>
              <a:tr h="280035">
                <a:tc>
                  <a:txBody>
                    <a:bodyPr wrap="square"/>
                    <a:lstStyle/>
                    <a:p>
                      <a:r>
                        <a:rPr sz="1100" b="1">
                          <a:solidFill>
                            <a:srgbClr val="FFFFFF"/>
                          </a:solidFill>
                          <a:latin typeface="Arial"/>
                        </a:rPr>
                        <a:t>96×96, calibration on the flat DM (runs/pdi193)</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 (pinhole-shaped reference)</a:t>
                      </a:r>
                    </a:p>
                  </a:txBody>
                  <a:tcPr marL="54864" marR="54864" marT="18288" marB="18288">
                    <a:solidFill>
                      <a:srgbClr val="1F4E79"/>
                    </a:solidFill>
                  </a:tcPr>
                </a:tc>
              </a:tr>
              <a:tr h="280035">
                <a:tc>
                  <a:txBody>
                    <a:bodyPr wrap="square"/>
                    <a:lstStyle/>
                    <a:p>
                      <a:r>
                        <a:rPr sz="1100" b="0">
                          <a:solidFill>
                            <a:srgbClr val="282828"/>
                          </a:solidFill>
                          <a:latin typeface="Arial"/>
                        </a:rPr>
                        <a:t>20 nm on the flat: gain / floor pm</a:t>
                      </a:r>
                    </a:p>
                  </a:txBody>
                  <a:tcPr marL="54864" marR="54864" marT="18288" marB="18288">
                    <a:solidFill>
                      <a:srgbClr val="FFFFFF"/>
                    </a:solidFill>
                  </a:tcPr>
                </a:tc>
                <a:tc>
                  <a:txBody>
                    <a:bodyPr wrap="square"/>
                    <a:lstStyle/>
                    <a:p>
                      <a:r>
                        <a:rPr sz="1100" b="0">
                          <a:solidFill>
                            <a:srgbClr val="282828"/>
                          </a:solidFill>
                          <a:latin typeface="Arial"/>
                        </a:rPr>
                        <a:t>0.996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r>
              <a:tr h="280035">
                <a:tc>
                  <a:txBody>
                    <a:bodyPr wrap="square"/>
                    <a:lstStyle/>
                    <a:p>
                      <a:r>
                        <a:rPr sz="1100" b="0">
                          <a:solidFill>
                            <a:srgbClr val="282828"/>
                          </a:solidFill>
                          <a:latin typeface="Arial"/>
                        </a:rPr>
                        <a:t>10 nm on the 30 nm surface: gain / error pm / SNR</a:t>
                      </a:r>
                    </a:p>
                  </a:txBody>
                  <a:tcPr marL="54864" marR="54864" marT="18288" marB="18288">
                    <a:solidFill>
                      <a:srgbClr val="ECF1F6"/>
                    </a:solidFill>
                  </a:tcPr>
                </a:tc>
                <a:tc>
                  <a:txBody>
                    <a:bodyPr wrap="square"/>
                    <a:lstStyle/>
                    <a:p>
                      <a:r>
                        <a:rPr sz="1100" b="0">
                          <a:solidFill>
                            <a:srgbClr val="282828"/>
                          </a:solidFill>
                          <a:latin typeface="Arial"/>
                        </a:rPr>
                        <a:t>0.752 / 47 / 444</a:t>
                      </a:r>
                    </a:p>
                  </a:txBody>
                  <a:tcPr marL="54864" marR="54864" marT="18288" marB="18288">
                    <a:solidFill>
                      <a:srgbClr val="ECF1F6"/>
                    </a:solidFill>
                  </a:tcPr>
                </a:tc>
                <a:tc>
                  <a:txBody>
                    <a:bodyPr wrap="square"/>
                    <a:lstStyle/>
                    <a:p>
                      <a:r>
                        <a:rPr sz="1100" b="0">
                          <a:solidFill>
                            <a:srgbClr val="282828"/>
                          </a:solidFill>
                          <a:latin typeface="Arial"/>
                        </a:rPr>
                        <a:t>0.939 / 25 / 419</a:t>
                      </a:r>
                    </a:p>
                  </a:txBody>
                  <a:tcPr marL="54864" marR="54864" marT="18288" marB="18288">
                    <a:solidFill>
                      <a:srgbClr val="ECF1F6"/>
                    </a:solidFill>
                  </a:tcPr>
                </a:tc>
                <a:tc>
                  <a:txBody>
                    <a:bodyPr wrap="square"/>
                    <a:lstStyle/>
                    <a:p>
                      <a:r>
                        <a:rPr sz="1100" b="0">
                          <a:solidFill>
                            <a:srgbClr val="282828"/>
                          </a:solidFill>
                          <a:latin typeface="Arial"/>
                        </a:rPr>
                        <a:t>0.933 / 25 / 420</a:t>
                      </a:r>
                    </a:p>
                  </a:txBody>
                  <a:tcPr marL="54864" marR="54864" marT="18288" marB="18288">
                    <a:solidFill>
                      <a:srgbClr val="ECF1F6"/>
                    </a:solidFill>
                  </a:tcPr>
                </a:tc>
                <a:tc>
                  <a:txBody>
                    <a:bodyPr wrap="square"/>
                    <a:lstStyle/>
                    <a:p>
                      <a:r>
                        <a:rPr sz="1100" b="0">
                          <a:solidFill>
                            <a:srgbClr val="282828"/>
                          </a:solidFill>
                          <a:latin typeface="Arial"/>
                        </a:rPr>
                        <a:t>0.940 / 25 / 418</a:t>
                      </a:r>
                    </a:p>
                  </a:txBody>
                  <a:tcPr marL="54864" marR="54864" marT="18288" marB="18288">
                    <a:solidFill>
                      <a:srgbClr val="ECF1F6"/>
                    </a:solidFill>
                  </a:tcPr>
                </a:tc>
              </a:tr>
              <a:tr h="280035">
                <a:tc>
                  <a:txBody>
                    <a:bodyPr wrap="square"/>
                    <a:lstStyle/>
                    <a:p>
                      <a:r>
                        <a:rPr sz="1100" b="0">
                          <a:solidFill>
                            <a:srgbClr val="282828"/>
                          </a:solidFill>
                          <a:latin typeface="Arial"/>
                        </a:rPr>
                        <a:t>1 nm on 47 actuators, same surface: gain / SNR</a:t>
                      </a:r>
                    </a:p>
                  </a:txBody>
                  <a:tcPr marL="54864" marR="54864" marT="18288" marB="18288">
                    <a:solidFill>
                      <a:srgbClr val="FFFFFF"/>
                    </a:solidFill>
                  </a:tcPr>
                </a:tc>
                <a:tc>
                  <a:txBody>
                    <a:bodyPr wrap="square"/>
                    <a:lstStyle/>
                    <a:p>
                      <a:r>
                        <a:rPr sz="1100" b="0">
                          <a:solidFill>
                            <a:srgbClr val="282828"/>
                          </a:solidFill>
                          <a:latin typeface="Arial"/>
                        </a:rPr>
                        <a:t>0.829 / 82</a:t>
                      </a:r>
                    </a:p>
                  </a:txBody>
                  <a:tcPr marL="54864" marR="54864" marT="18288" marB="18288">
                    <a:solidFill>
                      <a:srgbClr val="FFFFFF"/>
                    </a:solidFill>
                  </a:tcPr>
                </a:tc>
                <a:tc>
                  <a:txBody>
                    <a:bodyPr wrap="square"/>
                    <a:lstStyle/>
                    <a:p>
                      <a:r>
                        <a:rPr sz="1100" b="0">
                          <a:solidFill>
                            <a:srgbClr val="282828"/>
                          </a:solidFill>
                          <a:latin typeface="Arial"/>
                        </a:rPr>
                        <a:t>0.997 / 83</a:t>
                      </a:r>
                    </a:p>
                  </a:txBody>
                  <a:tcPr marL="54864" marR="54864" marT="18288" marB="18288">
                    <a:solidFill>
                      <a:srgbClr val="FFFFFF"/>
                    </a:solidFill>
                  </a:tcPr>
                </a:tc>
                <a:tc>
                  <a:txBody>
                    <a:bodyPr wrap="square"/>
                    <a:lstStyle/>
                    <a:p>
                      <a:r>
                        <a:rPr sz="1100" b="0">
                          <a:solidFill>
                            <a:srgbClr val="282828"/>
                          </a:solidFill>
                          <a:latin typeface="Arial"/>
                        </a:rPr>
                        <a:t>0.992 / 84</a:t>
                      </a:r>
                    </a:p>
                  </a:txBody>
                  <a:tcPr marL="54864" marR="54864" marT="18288" marB="18288">
                    <a:solidFill>
                      <a:srgbClr val="FFFFFF"/>
                    </a:solidFill>
                  </a:tcPr>
                </a:tc>
                <a:tc>
                  <a:txBody>
                    <a:bodyPr wrap="square"/>
                    <a:lstStyle/>
                    <a:p>
                      <a:r>
                        <a:rPr sz="1100" b="0">
                          <a:solidFill>
                            <a:srgbClr val="282828"/>
                          </a:solidFill>
                          <a:latin typeface="Arial"/>
                        </a:rPr>
                        <a:t>0.998 / 83</a:t>
                      </a:r>
                    </a:p>
                  </a:txBody>
                  <a:tcPr marL="54864" marR="54864" marT="18288" marB="18288">
                    <a:solidFill>
                      <a:srgbClr val="FFFFFF"/>
                    </a:solidFill>
                  </a:tcPr>
                </a:tc>
              </a:tr>
              <a:tr h="280035">
                <a:tc>
                  <a:txBody>
                    <a:bodyPr wrap="square"/>
                    <a:lstStyle/>
                    <a:p>
                      <a:r>
                        <a:rPr sz="1100" b="0">
                          <a:solidFill>
                            <a:srgbClr val="282828"/>
                          </a:solidFill>
                          <a:latin typeface="Arial"/>
                        </a:rPr>
                        <a:t>10 nm random on the same surface: gain / error pm</a:t>
                      </a:r>
                    </a:p>
                  </a:txBody>
                  <a:tcPr marL="54864" marR="54864" marT="18288" marB="18288">
                    <a:solidFill>
                      <a:srgbClr val="ECF1F6"/>
                    </a:solidFill>
                  </a:tcPr>
                </a:tc>
                <a:tc>
                  <a:txBody>
                    <a:bodyPr wrap="square"/>
                    <a:lstStyle/>
                    <a:p>
                      <a:r>
                        <a:rPr sz="1100" b="0">
                          <a:solidFill>
                            <a:srgbClr val="282828"/>
                          </a:solidFill>
                          <a:latin typeface="Arial"/>
                        </a:rPr>
                        <a:t>0.818 / 2119</a:t>
                      </a:r>
                    </a:p>
                  </a:txBody>
                  <a:tcPr marL="54864" marR="54864" marT="18288" marB="18288">
                    <a:solidFill>
                      <a:srgbClr val="ECF1F6"/>
                    </a:solidFill>
                  </a:tcPr>
                </a:tc>
                <a:tc>
                  <a:txBody>
                    <a:bodyPr wrap="square"/>
                    <a:lstStyle/>
                    <a:p>
                      <a:r>
                        <a:rPr sz="1100" b="0">
                          <a:solidFill>
                            <a:srgbClr val="282828"/>
                          </a:solidFill>
                          <a:latin typeface="Arial"/>
                        </a:rPr>
                        <a:t>0.999 / 1072</a:t>
                      </a:r>
                    </a:p>
                  </a:txBody>
                  <a:tcPr marL="54864" marR="54864" marT="18288" marB="18288">
                    <a:solidFill>
                      <a:srgbClr val="ECF1F6"/>
                    </a:solidFill>
                  </a:tcPr>
                </a:tc>
                <a:tc>
                  <a:txBody>
                    <a:bodyPr wrap="square"/>
                    <a:lstStyle/>
                    <a:p>
                      <a:r>
                        <a:rPr sz="1100" b="0">
                          <a:solidFill>
                            <a:srgbClr val="282828"/>
                          </a:solidFill>
                          <a:latin typeface="Arial"/>
                        </a:rPr>
                        <a:t>0.993 / 1069</a:t>
                      </a:r>
                    </a:p>
                  </a:txBody>
                  <a:tcPr marL="54864" marR="54864" marT="18288" marB="18288">
                    <a:solidFill>
                      <a:srgbClr val="ECF1F6"/>
                    </a:solidFill>
                  </a:tcPr>
                </a:tc>
                <a:tc>
                  <a:txBody>
                    <a:bodyPr wrap="square"/>
                    <a:lstStyle/>
                    <a:p>
                      <a:r>
                        <a:rPr sz="1100" b="0">
                          <a:solidFill>
                            <a:srgbClr val="282828"/>
                          </a:solidFill>
                          <a:latin typeface="Arial"/>
                        </a:rPr>
                        <a:t>1.001 / 1073</a:t>
                      </a:r>
                    </a:p>
                  </a:txBody>
                  <a:tcPr marL="54864" marR="54864" marT="18288" marB="18288">
                    <a:solidFill>
                      <a:srgbClr val="ECF1F6"/>
                    </a:solidFill>
                  </a:tcPr>
                </a:tc>
              </a:tr>
              <a:tr h="280035">
                <a:tc>
                  <a:txBody>
                    <a:bodyPr wrap="square"/>
                    <a:lstStyle/>
                    <a:p>
                      <a:r>
                        <a:rPr sz="1100" b="0">
                          <a:solidFill>
                            <a:srgbClr val="282828"/>
                          </a:solidFill>
                          <a:latin typeface="Arial"/>
                        </a:rPr>
                        <a:t>working surface at which the gain drops below 0.8</a:t>
                      </a:r>
                    </a:p>
                  </a:txBody>
                  <a:tcPr marL="54864" marR="54864" marT="18288" marB="18288">
                    <a:solidFill>
                      <a:srgbClr val="FFFFFF"/>
                    </a:solidFill>
                  </a:tcPr>
                </a:tc>
                <a:tc>
                  <a:txBody>
                    <a:bodyPr wrap="square"/>
                    <a:lstStyle/>
                    <a:p>
                      <a:r>
                        <a:rPr sz="1100" b="0">
                          <a:solidFill>
                            <a:srgbClr val="282828"/>
                          </a:solidFill>
                          <a:latin typeface="Arial"/>
                        </a:rPr>
                        <a:t>40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&gt; 120 nm (0.77 at 120, 0.55 at 240)</a:t>
                      </a:r>
                    </a:p>
                  </a:txBody>
                  <a:tcPr marL="54864" marR="54864" marT="18288" marB="18288">
                    <a:solidFill>
                      <a:srgbClr val="FFFFFF"/>
                    </a:solidFill>
                  </a:tcPr>
                </a:tc>
              </a:tr>
              <a:tr h="280035">
                <a:tc>
                  <a:txBody>
                    <a:bodyPr wrap="square"/>
                    <a:lstStyle/>
                    <a:p>
                      <a:r>
                        <a:rPr sz="1100" b="0">
                          <a:solidFill>
                            <a:srgbClr val="282828"/>
                          </a:solidFill>
                          <a:latin typeface="Arial"/>
                        </a:rPr>
                        <a:t>photons per measurement for 1 pm (camera)</a:t>
                      </a:r>
                    </a:p>
                  </a:txBody>
                  <a:tcPr marL="54864" marR="54864" marT="18288" marB="18288">
                    <a:solidFill>
                      <a:srgbClr val="ECF1F6"/>
                    </a:solidFill>
                  </a:tcPr>
                </a:tc>
                <a:tc>
                  <a:txBody>
                    <a:bodyPr wrap="square"/>
                    <a:lstStyle/>
                    <a:p>
                      <a:r>
                        <a:rPr sz="1100" b="0">
                          <a:solidFill>
                            <a:srgbClr val="282828"/>
                          </a:solidFill>
                          <a:latin typeface="Arial"/>
                        </a:rPr>
                        <a:t>5.4×10¹³</a:t>
                      </a:r>
                    </a:p>
                  </a:txBody>
                  <a:tcPr marL="54864" marR="54864" marT="18288" marB="18288">
                    <a:solidFill>
                      <a:srgbClr val="ECF1F6"/>
                    </a:solidFill>
                  </a:tcPr>
                </a:tc>
                <a:tc>
                  <a:txBody>
                    <a:bodyPr wrap="square"/>
                    <a:lstStyle/>
                    <a:p>
                      <a:r>
                        <a:rPr sz="1100" b="0">
                          <a:solidFill>
                            <a:srgbClr val="282828"/>
                          </a:solidFill>
                          <a:latin typeface="Arial"/>
                        </a:rPr>
                        <a:t>4.7×10¹³</a:t>
                      </a:r>
                    </a:p>
                  </a:txBody>
                  <a:tcPr marL="54864" marR="54864" marT="18288" marB="18288">
                    <a:solidFill>
                      <a:srgbClr val="ECF1F6"/>
                    </a:solidFill>
                  </a:tcPr>
                </a:tc>
                <a:tc>
                  <a:txBody>
                    <a:bodyPr wrap="square"/>
                    <a:lstStyle/>
                    <a:p>
                      <a:r>
                        <a:rPr sz="1100" b="0">
                          <a:solidFill>
                            <a:srgbClr val="282828"/>
                          </a:solidFill>
                          <a:latin typeface="Arial"/>
                        </a:rPr>
                        <a:t>3.3×10¹³</a:t>
                      </a:r>
                    </a:p>
                  </a:txBody>
                  <a:tcPr marL="54864" marR="54864" marT="18288" marB="18288">
                    <a:solidFill>
                      <a:srgbClr val="ECF1F6"/>
                    </a:solidFill>
                  </a:tcPr>
                </a:tc>
                <a:tc>
                  <a:txBody>
                    <a:bodyPr wrap="square"/>
                    <a:lstStyle/>
                    <a:p>
                      <a:r>
                        <a:rPr sz="1100" b="0">
                          <a:solidFill>
                            <a:srgbClr val="282828"/>
                          </a:solidFill>
                          <a:latin typeface="Arial"/>
                        </a:rPr>
                        <a:t>2.1×10¹⁴</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The pinhole and the waveguide read as the polarized pair does — exact solves — at four sequential frames instead of two simultaneous ones.</a:t>
            </a:r>
          </a:p>
          <a:p>
            <a:pPr>
              <a:spcAft>
                <a:spcPts val="600"/>
              </a:spcAft>
            </a:pPr>
            <a:r>
              <a:rPr sz="1500" b="0">
                <a:solidFill>
                  <a:srgbClr val="282828"/>
                </a:solidFill>
                <a:latin typeface="Arial"/>
              </a:rPr>
              <a:t>•  Per photon the stepped pinhole is the cheapest of the four (1.6× fewer than the stepped dimple): its reference carries more of the modulation.  The apodized first reference of the waveguide reading cost 4×; record 2 re-prices it with the mode's own shape.</a:t>
            </a:r>
          </a:p>
          <a:p>
            <a:pPr>
              <a:spcAft>
                <a:spcPts val="600"/>
              </a:spcAft>
            </a:pPr>
            <a:r>
              <a:rPr sz="1500" b="0">
                <a:solidFill>
                  <a:srgbClr val="282828"/>
                </a:solidFill>
                <a:latin typeface="Arial"/>
              </a:rPr>
              <a:t>•  Range: the pinhole's reference amplitude collapses with the Strehl ratio like the dimple's, so both fold at 120 nm; a reference that does not depend on the surface keeps reading.</a:t>
            </a:r>
          </a:p>
        </p:txBody>
      </p:sp>
      <p:sp>
        <p:nvSpPr>
          <p:cNvPr id="6" name="TextBox 5"/>
          <p:cNvSpPr txBox="1"/>
          <p:nvPr/>
        </p:nvSpPr>
        <p:spPr>
          <a:xfrm>
            <a:off x="411480" y="5595747"/>
            <a:ext cx="11368735" cy="274320"/>
          </a:xfrm>
          <a:prstGeom prst="rect">
            <a:avLst/>
          </a:prstGeom>
          <a:noFill/>
        </p:spPr>
        <p:txBody>
          <a:bodyPr wrap="square">
            <a:spAutoFit/>
          </a:bodyPr>
          <a:lstStyle/>
          <a:p>
            <a:pPr>
              <a:spcAft>
                <a:spcPts val="600"/>
              </a:spcAft>
            </a:pPr>
            <a:r>
              <a:rPr sz="1050" b="0">
                <a:solidFill>
                  <a:srgbClr val="6E6E6E"/>
                </a:solidFill>
                <a:latin typeface="Arial"/>
              </a:rPr>
              <a:t>Flat-DM calibration (the record's first form); the on-surface calibration that took the stepped sensor to 0.99 / 5 pm is record 2's.  Errors in pm over the lit actuators; SNR = recovered change / floor.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2: calibrated on the working surface, the three exact readings are the same instrument</a:t>
            </a:r>
          </a:p>
          <a:p>
            <a:pPr>
              <a:spcAft>
                <a:spcPts val="0"/>
              </a:spcAft>
            </a:pPr>
            <a:r>
              <a:rPr sz="1250" b="0">
                <a:solidFill>
                  <a:srgbClr val="6E6E6E"/>
                </a:solidFill>
                <a:latin typeface="Arial"/>
              </a:rPr>
              <a:t>A 10 nm change on the 30 nm surface reads 0.9935 with a 4 pm floor for the polarized pair, the pinhole and the waveguide; the waveguide reading has no range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9005"/>
        </p:xfrm>
        <a:graphic>
          <a:graphicData uri="http://schemas.openxmlformats.org/drawingml/2006/table">
            <a:tbl>
              <a:tblPr firstRow="1" bandRow="1">
                <a:tableStyleId>{5C22544A-7EE6-4342-B048-85BDC9FD1C3A}</a:tableStyleId>
              </a:tblPr>
              <a:tblGrid>
                <a:gridCol w="2410861"/>
                <a:gridCol w="848894"/>
                <a:gridCol w="848894"/>
                <a:gridCol w="848894"/>
                <a:gridCol w="848894"/>
              </a:tblGrid>
              <a:tr h="657225">
                <a:tc>
                  <a:txBody>
                    <a:bodyPr wrap="square"/>
                    <a:lstStyle/>
                    <a:p>
                      <a:r>
                        <a:rPr sz="1100" b="1">
                          <a:solidFill>
                            <a:srgbClr val="FFFFFF"/>
                          </a:solidFill>
                          <a:latin typeface="Arial"/>
                        </a:rPr>
                        <a:t>96×96, response matrix measured on the 30 nm surface (runs/pdi193fbase)</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a:t>
                      </a:r>
                    </a:p>
                  </a:txBody>
                  <a:tcPr marL="54864" marR="54864" marT="18288" marB="18288">
                    <a:solidFill>
                      <a:srgbClr val="1F4E79"/>
                    </a:solidFill>
                  </a:tcPr>
                </a:tc>
              </a:tr>
              <a:tr h="468630">
                <a:tc>
                  <a:txBody>
                    <a:bodyPr wrap="square"/>
                    <a:lstStyle/>
                    <a:p>
                      <a:r>
                        <a:rPr sz="1100" b="0">
                          <a:solidFill>
                            <a:srgbClr val="282828"/>
                          </a:solidFill>
                          <a:latin typeface="Arial"/>
                        </a:rPr>
                        <a:t>10 nm on the surface: gain / floor pm / SNR</a:t>
                      </a:r>
                    </a:p>
                  </a:txBody>
                  <a:tcPr marL="54864" marR="54864" marT="18288" marB="18288">
                    <a:solidFill>
                      <a:srgbClr val="FFFFFF"/>
                    </a:solidFill>
                  </a:tcPr>
                </a:tc>
                <a:tc>
                  <a:txBody>
                    <a:bodyPr wrap="square"/>
                    <a:lstStyle/>
                    <a:p>
                      <a:r>
                        <a:rPr sz="1100" b="0">
                          <a:solidFill>
                            <a:srgbClr val="282828"/>
                          </a:solidFill>
                          <a:latin typeface="Arial"/>
                        </a:rPr>
                        <a:t>0.989 / 5 / 2120</a:t>
                      </a:r>
                    </a:p>
                  </a:txBody>
                  <a:tcPr marL="54864" marR="54864" marT="18288" marB="18288">
                    <a:solidFill>
                      <a:srgbClr val="FFFFFF"/>
                    </a:solidFill>
                  </a:tcPr>
                </a:tc>
                <a:tc>
                  <a:txBody>
                    <a:bodyPr wrap="square"/>
                    <a:lstStyle/>
                    <a:p>
                      <a:r>
                        <a:rPr sz="1100" b="0">
                          <a:solidFill>
                            <a:srgbClr val="282828"/>
                          </a:solidFill>
                          <a:latin typeface="Arial"/>
                        </a:rPr>
                        <a:t>0.994 / 4 / 2835</a:t>
                      </a:r>
                    </a:p>
                  </a:txBody>
                  <a:tcPr marL="54864" marR="54864" marT="18288" marB="18288">
                    <a:solidFill>
                      <a:srgbClr val="FFFFFF"/>
                    </a:solidFill>
                  </a:tcPr>
                </a:tc>
                <a:tc>
                  <a:txBody>
                    <a:bodyPr wrap="square"/>
                    <a:lstStyle/>
                    <a:p>
                      <a:r>
                        <a:rPr sz="1100" b="0">
                          <a:solidFill>
                            <a:srgbClr val="282828"/>
                          </a:solidFill>
                          <a:latin typeface="Arial"/>
                        </a:rPr>
                        <a:t>0.994 / 4 / 2790</a:t>
                      </a:r>
                    </a:p>
                  </a:txBody>
                  <a:tcPr marL="54864" marR="54864" marT="18288" marB="18288">
                    <a:solidFill>
                      <a:srgbClr val="FFFFFF"/>
                    </a:solidFill>
                  </a:tcPr>
                </a:tc>
                <a:tc>
                  <a:txBody>
                    <a:bodyPr wrap="square"/>
                    <a:lstStyle/>
                    <a:p>
                      <a:r>
                        <a:rPr sz="1100" b="0">
                          <a:solidFill>
                            <a:srgbClr val="282828"/>
                          </a:solidFill>
                          <a:latin typeface="Arial"/>
                        </a:rPr>
                        <a:t>0.994 / 4 / 2842</a:t>
                      </a:r>
                    </a:p>
                  </a:txBody>
                  <a:tcPr marL="54864" marR="54864" marT="18288" marB="18288">
                    <a:solidFill>
                      <a:srgbClr val="FFFFFF"/>
                    </a:solidFill>
                  </a:tcPr>
                </a:tc>
              </a:tr>
              <a:tr h="468630">
                <a:tc>
                  <a:txBody>
                    <a:bodyPr wrap="square"/>
                    <a:lstStyle/>
                    <a:p>
                      <a:r>
                        <a:rPr sz="1100" b="0">
                          <a:solidFill>
                            <a:srgbClr val="282828"/>
                          </a:solidFill>
                          <a:latin typeface="Arial"/>
                        </a:rPr>
                        <a:t>1 nm on 47 actuators: gain / floor pm</a:t>
                      </a:r>
                    </a:p>
                  </a:txBody>
                  <a:tcPr marL="54864" marR="54864" marT="18288" marB="18288">
                    <a:solidFill>
                      <a:srgbClr val="ECF1F6"/>
                    </a:solidFill>
                  </a:tcPr>
                </a:tc>
                <a:tc>
                  <a:txBody>
                    <a:bodyPr wrap="square"/>
                    <a:lstStyle/>
                    <a:p>
                      <a:r>
                        <a:rPr sz="1100" b="0">
                          <a:solidFill>
                            <a:srgbClr val="282828"/>
                          </a:solidFill>
                          <a:latin typeface="Arial"/>
                        </a:rPr>
                        <a:t>0.999 / 4</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r>
              <a:tr h="280035">
                <a:tc>
                  <a:txBody>
                    <a:bodyPr wrap="square"/>
                    <a:lstStyle/>
                    <a:p>
                      <a:r>
                        <a:rPr sz="1100" b="0">
                          <a:solidFill>
                            <a:srgbClr val="282828"/>
                          </a:solidFill>
                          <a:latin typeface="Arial"/>
                        </a:rPr>
                        <a:t>10 nm random: gain / error pm</a:t>
                      </a:r>
                    </a:p>
                  </a:txBody>
                  <a:tcPr marL="54864" marR="54864" marT="18288" marB="18288">
                    <a:solidFill>
                      <a:srgbClr val="FFFFFF"/>
                    </a:solidFill>
                  </a:tcPr>
                </a:tc>
                <a:tc>
                  <a:txBody>
                    <a:bodyPr wrap="square"/>
                    <a:lstStyle/>
                    <a:p>
                      <a:r>
                        <a:rPr sz="1100" b="0">
                          <a:solidFill>
                            <a:srgbClr val="282828"/>
                          </a:solidFill>
                          <a:latin typeface="Arial"/>
                        </a:rPr>
                        <a:t>0.984 / 681</a:t>
                      </a:r>
                    </a:p>
                  </a:txBody>
                  <a:tcPr marL="54864" marR="54864" marT="18288" marB="18288">
                    <a:solidFill>
                      <a:srgbClr val="FFFFFF"/>
                    </a:solidFill>
                  </a:tcPr>
                </a:tc>
                <a:tc>
                  <a:txBody>
                    <a:bodyPr wrap="square"/>
                    <a:lstStyle/>
                    <a:p>
                      <a:r>
                        <a:rPr sz="1100" b="0">
                          <a:solidFill>
                            <a:srgbClr val="282828"/>
                          </a:solidFill>
                          <a:latin typeface="Arial"/>
                        </a:rPr>
                        <a:t>1.000 / 331</a:t>
                      </a:r>
                    </a:p>
                  </a:txBody>
                  <a:tcPr marL="54864" marR="54864" marT="18288" marB="18288">
                    <a:solidFill>
                      <a:srgbClr val="FFFFFF"/>
                    </a:solidFill>
                  </a:tcPr>
                </a:tc>
                <a:tc>
                  <a:txBody>
                    <a:bodyPr wrap="square"/>
                    <a:lstStyle/>
                    <a:p>
                      <a:r>
                        <a:rPr sz="1100" b="0">
                          <a:solidFill>
                            <a:srgbClr val="282828"/>
                          </a:solidFill>
                          <a:latin typeface="Arial"/>
                        </a:rPr>
                        <a:t>0.999 / 338</a:t>
                      </a:r>
                    </a:p>
                  </a:txBody>
                  <a:tcPr marL="54864" marR="54864" marT="18288" marB="18288">
                    <a:solidFill>
                      <a:srgbClr val="FFFFFF"/>
                    </a:solidFill>
                  </a:tcPr>
                </a:tc>
                <a:tc>
                  <a:txBody>
                    <a:bodyPr wrap="square"/>
                    <a:lstStyle/>
                    <a:p>
                      <a:r>
                        <a:rPr sz="1100" b="0">
                          <a:solidFill>
                            <a:srgbClr val="282828"/>
                          </a:solidFill>
                          <a:latin typeface="Arial"/>
                        </a:rPr>
                        <a:t>1.000 / 330</a:t>
                      </a:r>
                    </a:p>
                  </a:txBody>
                  <a:tcPr marL="54864" marR="54864" marT="18288" marB="18288">
                    <a:solidFill>
                      <a:srgbClr val="FFFFFF"/>
                    </a:solidFill>
                  </a:tcPr>
                </a:tc>
              </a:tr>
              <a:tr h="657225">
                <a:tc>
                  <a:txBody>
                    <a:bodyPr wrap="square"/>
                    <a:lstStyle/>
                    <a:p>
                      <a:r>
                        <a:rPr sz="1100" b="0">
                          <a:solidFill>
                            <a:srgbClr val="282828"/>
                          </a:solidFill>
                          <a:latin typeface="Arial"/>
                        </a:rPr>
                        <a:t>gain at 60 / 120 / 240 / 480 nm rms</a:t>
                      </a:r>
                    </a:p>
                  </a:txBody>
                  <a:tcPr marL="54864" marR="54864" marT="18288" marB="18288">
                    <a:solidFill>
                      <a:srgbClr val="ECF1F6"/>
                    </a:solidFill>
                  </a:tcPr>
                </a:tc>
                <a:tc>
                  <a:txBody>
                    <a:bodyPr wrap="square"/>
                    <a:lstStyle/>
                    <a:p>
                      <a:r>
                        <a:rPr sz="1100" b="0">
                          <a:solidFill>
                            <a:srgbClr val="282828"/>
                          </a:solidFill>
                          <a:latin typeface="Arial"/>
                        </a:rPr>
                        <a:t>0.66 / fold / fold / fold</a:t>
                      </a:r>
                    </a:p>
                  </a:txBody>
                  <a:tcPr marL="54864" marR="54864" marT="18288" marB="18288">
                    <a:solidFill>
                      <a:srgbClr val="ECF1F6"/>
                    </a:solidFill>
                  </a:tcPr>
                </a:tc>
                <a:tc>
                  <a:txBody>
                    <a:bodyPr wrap="square"/>
                    <a:lstStyle/>
                    <a:p>
                      <a:r>
                        <a:rPr sz="1100" b="0">
                          <a:solidFill>
                            <a:srgbClr val="282828"/>
                          </a:solidFill>
                          <a:latin typeface="Arial"/>
                        </a:rPr>
                        <a:t>0.98 / fold / fold / fold</a:t>
                      </a:r>
                    </a:p>
                  </a:txBody>
                  <a:tcPr marL="54864" marR="54864" marT="18288" marB="18288">
                    <a:solidFill>
                      <a:srgbClr val="ECF1F6"/>
                    </a:solidFill>
                  </a:tcPr>
                </a:tc>
                <a:tc>
                  <a:txBody>
                    <a:bodyPr wrap="square"/>
                    <a:lstStyle/>
                    <a:p>
                      <a:r>
                        <a:rPr sz="1100" b="0">
                          <a:solidFill>
                            <a:srgbClr val="282828"/>
                          </a:solidFill>
                          <a:latin typeface="Arial"/>
                        </a:rPr>
                        <a:t>0.94 / fold / fold / fold</a:t>
                      </a:r>
                    </a:p>
                  </a:txBody>
                  <a:tcPr marL="54864" marR="54864" marT="18288" marB="18288">
                    <a:solidFill>
                      <a:srgbClr val="ECF1F6"/>
                    </a:solidFill>
                  </a:tcPr>
                </a:tc>
                <a:tc>
                  <a:txBody>
                    <a:bodyPr wrap="square"/>
                    <a:lstStyle/>
                    <a:p>
                      <a:r>
                        <a:rPr sz="1100" b="0">
                          <a:solidFill>
                            <a:srgbClr val="282828"/>
                          </a:solidFill>
                          <a:latin typeface="Arial"/>
                        </a:rPr>
                        <a:t>1.01 / 1.02 / 1.06 / 1.13</a:t>
                      </a:r>
                    </a:p>
                  </a:txBody>
                  <a:tcPr marL="54864" marR="54864" marT="18288" marB="18288">
                    <a:solidFill>
                      <a:srgbClr val="ECF1F6"/>
                    </a:solidFill>
                  </a:tcPr>
                </a:tc>
              </a:tr>
              <a:tr h="468630">
                <a:tc>
                  <a:txBody>
                    <a:bodyPr wrap="square"/>
                    <a:lstStyle/>
                    <a:p>
                      <a:r>
                        <a:rPr sz="1100" b="0">
                          <a:solidFill>
                            <a:srgbClr val="282828"/>
                          </a:solidFill>
                          <a:latin typeface="Arial"/>
                        </a:rPr>
                        <a:t>photons per measurement for 1 pm, at the camera</a:t>
                      </a:r>
                    </a:p>
                  </a:txBody>
                  <a:tcPr marL="54864" marR="54864" marT="18288" marB="18288">
                    <a:solidFill>
                      <a:srgbClr val="FFFFFF"/>
                    </a:solidFill>
                  </a:tcPr>
                </a:tc>
                <a:tc>
                  <a:txBody>
                    <a:bodyPr wrap="square"/>
                    <a:lstStyle/>
                    <a:p>
                      <a:r>
                        <a:rPr sz="1100" b="0">
                          <a:solidFill>
                            <a:srgbClr val="282828"/>
                          </a:solidFill>
                          <a:latin typeface="Arial"/>
                        </a:rPr>
                        <a:t>5.4×10¹³</a:t>
                      </a:r>
                    </a:p>
                  </a:txBody>
                  <a:tcPr marL="54864" marR="54864" marT="18288" marB="18288">
                    <a:solidFill>
                      <a:srgbClr val="FFFFFF"/>
                    </a:solidFill>
                  </a:tcPr>
                </a:tc>
                <a:tc>
                  <a:txBody>
                    <a:bodyPr wrap="square"/>
                    <a:lstStyle/>
                    <a:p>
                      <a:r>
                        <a:rPr sz="1100" b="0">
                          <a:solidFill>
                            <a:srgbClr val="282828"/>
                          </a:solidFill>
                          <a:latin typeface="Arial"/>
                        </a:rPr>
                        <a:t>4.7×10¹³</a:t>
                      </a:r>
                    </a:p>
                  </a:txBody>
                  <a:tcPr marL="54864" marR="54864" marT="18288" marB="18288">
                    <a:solidFill>
                      <a:srgbClr val="FFFFFF"/>
                    </a:solidFill>
                  </a:tcPr>
                </a:tc>
                <a:tc>
                  <a:txBody>
                    <a:bodyPr wrap="square"/>
                    <a:lstStyle/>
                    <a:p>
                      <a:r>
                        <a:rPr sz="1100" b="0">
                          <a:solidFill>
                            <a:srgbClr val="282828"/>
                          </a:solidFill>
                          <a:latin typeface="Arial"/>
                        </a:rPr>
                        <a:t>3.3×10¹³</a:t>
                      </a:r>
                    </a:p>
                  </a:txBody>
                  <a:tcPr marL="54864" marR="54864" marT="18288" marB="18288">
                    <a:solidFill>
                      <a:srgbClr val="FFFFFF"/>
                    </a:solidFill>
                  </a:tcPr>
                </a:tc>
                <a:tc>
                  <a:txBody>
                    <a:bodyPr wrap="square"/>
                    <a:lstStyle/>
                    <a:p>
                      <a:r>
                        <a:rPr sz="1100" b="0">
                          <a:solidFill>
                            <a:srgbClr val="282828"/>
                          </a:solidFill>
                          <a:latin typeface="Arial"/>
                        </a:rPr>
                        <a:t>1.9×10¹⁴</a:t>
                      </a:r>
                    </a:p>
                  </a:txBody>
                  <a:tcPr marL="54864" marR="54864" marT="18288" marB="18288">
                    <a:solidFill>
                      <a:srgbClr val="FFFFFF"/>
                    </a:solidFill>
                  </a:tcPr>
                </a:tc>
              </a:tr>
              <a:tr h="468630">
                <a:tc>
                  <a:txBody>
                    <a:bodyPr wrap="square"/>
                    <a:lstStyle/>
                    <a:p>
                      <a:r>
                        <a:rPr sz="1100" b="0">
                          <a:solidFill>
                            <a:srgbClr val="282828"/>
                          </a:solidFill>
                          <a:latin typeface="Arial"/>
                        </a:rPr>
                        <a:t>light kept (divide the row above by it for incident photons)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5" name="TextBox 4"/>
          <p:cNvSpPr txBox="1"/>
          <p:nvPr/>
        </p:nvSpPr>
        <p:spPr>
          <a:xfrm>
            <a:off x="411480" y="4913757"/>
            <a:ext cx="5806440" cy="274320"/>
          </a:xfrm>
          <a:prstGeom prst="rect">
            <a:avLst/>
          </a:prstGeom>
          <a:noFill/>
        </p:spPr>
        <p:txBody>
          <a:bodyPr wrap="square">
            <a:spAutoFit/>
          </a:bodyPr>
          <a:lstStyle/>
          <a:p>
            <a:pPr>
              <a:spcAft>
                <a:spcPts val="600"/>
              </a:spcAft>
            </a:pPr>
            <a:r>
              <a:rPr sz="1200" b="0">
                <a:solidFill>
                  <a:srgbClr val="282828"/>
                </a:solidFill>
                <a:latin typeface="Arial"/>
              </a:rPr>
              <a:t>•  A reference frame per state (the pinhole alone, a fifth frame) makes the pinhole reading the waveguide reading's twin on every row and the ladder: 1.02 / 1.06 / 1.13 at 120 / 240 / 480 nm.  The pinhole's fold was the flat-DM reference-intensity assumption, not the pinhole.</a:t>
            </a:r>
          </a:p>
          <a:p>
            <a:pPr>
              <a:spcAft>
                <a:spcPts val="600"/>
              </a:spcAft>
            </a:pPr>
            <a:r>
              <a:rPr sz="1200" b="0">
                <a:solidFill>
                  <a:srgbClr val="282828"/>
                </a:solidFill>
                <a:latin typeface="Arial"/>
              </a:rPr>
              <a:t>•  A 1 λ/D pinhole (the classical regime; 0.28 plate transmission, 29% of the light, visibility 0.94) has no fold even with that assumption: the same 1.02 / 1.06 / 1.13, the same rows; 2.9×10¹⁴ camera photons per picometer.</a:t>
            </a:r>
          </a:p>
          <a:p>
            <a:pPr>
              <a:spcAft>
                <a:spcPts val="600"/>
              </a:spcAft>
            </a:pPr>
            <a:r>
              <a:rPr sz="1200" b="0">
                <a:solidFill>
                  <a:srgbClr val="282828"/>
                </a:solidFill>
                <a:latin typeface="Arial"/>
              </a:rPr>
              <a:t>•  A 2% step-size error: the absolute reading carries it (0.069 rad rms on the flat under four-step least squares, 1.3×10⁻⁵ under the five-frame Schwider–Hariharan scan; 3.5% error on a 12 nm figure), the differential rows barely notice (single 0.992 / 4 pm against 0.994 / 4): the error is common to both states and cancels in the difference.  Schwider–Hariharan differential rows: [R2].</a:t>
            </a:r>
          </a:p>
        </p:txBody>
      </p:sp>
      <p:pic>
        <p:nvPicPr>
          <p:cNvPr id="6" name="Picture 5" descr="pdi193fbase_pdi.png"/>
          <p:cNvPicPr>
            <a:picLocks noChangeAspect="1"/>
          </p:cNvPicPr>
          <p:nvPr/>
        </p:nvPicPr>
        <p:blipFill>
          <a:blip r:embed="rId2"/>
          <a:stretch>
            <a:fillRect/>
          </a:stretch>
        </p:blipFill>
        <p:spPr>
          <a:xfrm>
            <a:off x="7273183" y="1298448"/>
            <a:ext cx="3650192" cy="2128011"/>
          </a:xfrm>
          <a:prstGeom prst="rect">
            <a:avLst/>
          </a:prstGeom>
        </p:spPr>
      </p:pic>
      <p:sp>
        <p:nvSpPr>
          <p:cNvPr id="7" name="TextBox 6"/>
          <p:cNvSpPr txBox="1"/>
          <p:nvPr/>
        </p:nvSpPr>
        <p:spPr>
          <a:xfrm>
            <a:off x="6400800" y="3444747"/>
            <a:ext cx="5394960" cy="889508"/>
          </a:xfrm>
          <a:prstGeom prst="rect">
            <a:avLst/>
          </a:prstGeom>
          <a:noFill/>
        </p:spPr>
        <p:txBody>
          <a:bodyPr wrap="square">
            <a:spAutoFit/>
          </a:bodyPr>
          <a:lstStyle/>
          <a:p>
            <a:pPr algn="ctr">
              <a:spcAft>
                <a:spcPts val="0"/>
              </a:spcAft>
            </a:pPr>
            <a:r>
              <a:rPr sz="1000" b="0">
                <a:solidFill>
                  <a:srgbClr val="6E6E6E"/>
                </a:solidFill>
                <a:latin typeface="Arial"/>
              </a:rPr>
              <a:t>The record run's own figure: the focal spot with the 2 λ/D pinhole (red), the dimple (green) and the waveguide mode's 1/e contour (brown); the reference amplitudes across the pupil image; the reference's motion under the 30 nm surface by pinhole size (shape, red; amplitude, black; the waveguide's coupling, brown); the fringe visibility of both readings on the flat DM.</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200" b="0">
                <a:solidFill>
                  <a:srgbClr val="282828"/>
                </a:solidFill>
                <a:latin typeface="Arial"/>
              </a:rPr>
              <a:t>•  Range without a fold: the self-referenced readings lose their reference amplitude with the Strehl ratio and fold at 120 nm rms; the waveguide reference is fixed, so the reading holds gain 1.0–1.1 to 480 nm (the floor grows to 1.6 nm because the response matrix was measured at 30 nm).</a:t>
            </a:r>
          </a:p>
          <a:p>
            <a:pPr>
              <a:spcAft>
                <a:spcPts val="600"/>
              </a:spcAft>
            </a:pPr>
            <a:r>
              <a:rPr sz="1200" b="0">
                <a:solidFill>
                  <a:srgbClr val="282828"/>
                </a:solidFill>
                <a:latin typeface="Arial"/>
              </a:rPr>
              <a:t>•  Light: with the paper's 60/40 split the reference arm returns 35% of the light and the test beam keeps 40%; the modulation is a smaller share of the detected flux than the stepped pinhole's, whose reference rides on the same beam — 4× more camera photons per picometer, before the arm's own loss.</a:t>
            </a:r>
          </a:p>
        </p:txBody>
      </p:sp>
      <p:sp>
        <p:nvSpPr>
          <p:cNvPr id="9" name="TextBox 8"/>
          <p:cNvSpPr txBox="1"/>
          <p:nvPr/>
        </p:nvSpPr>
        <p:spPr>
          <a:xfrm>
            <a:off x="6400800" y="6669023"/>
            <a:ext cx="5394960" cy="274320"/>
          </a:xfrm>
          <a:prstGeom prst="rect">
            <a:avLst/>
          </a:prstGeom>
          <a:noFill/>
        </p:spPr>
        <p:txBody>
          <a:bodyPr wrap="square">
            <a:spAutoFit/>
          </a:bodyPr>
          <a:lstStyle/>
          <a:p>
            <a:pPr>
              <a:spcAft>
                <a:spcPts val="600"/>
              </a:spcAft>
            </a:pPr>
            <a:r>
              <a:rPr sz="1050" b="0">
                <a:solidFill>
                  <a:srgbClr val="6E6E6E"/>
                </a:solidFill>
                <a:latin typeface="Arial"/>
              </a:rPr>
              <a:t>Same seeds, same actuator-space scoring, same code as the sensor rows (dm_gauge_lib).  "fold" = gain −0.01: the reading returns nothing.  P at unit transmission and the dimple's size equals S to 5×10⁻¹⁵ (check G7).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 closed loop the stepped pinhole costs the stepped dimple's light, the waveguide three times that, and a drifting camera reaches only the single-frame readings</a:t>
            </a:r>
          </a:p>
          <a:p>
            <a:pPr>
              <a:spcAft>
                <a:spcPts val="0"/>
              </a:spcAft>
            </a:pPr>
            <a:r>
              <a:rPr sz="1250" b="0">
                <a:solidFill>
                  <a:srgbClr val="6E6E6E"/>
                </a:solidFill>
                <a:latin typeface="Arial"/>
              </a:rPr>
              <a:t>Held to 3 pm against a 2 pm walk from 7.0×10¹² photons per cycle (pinhole) and 2.5×10¹³ (waveguide); a camera bias walking 10⁻³ of the signal per cycle puts 10.8 nm on the DM through the linear reading, 89 pm through the pair, nothing through the stepped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loop: the DM held at the working surface at gain 0.5 for 60 cycles through one reading; the differential to the set point's frames fitted through the matrix; scored as the steady-state hold error.  The ZWFS rows on the same seeds: stepped 2.6×10¹² photons per cycle to hold 3 pm against noise, 7.5×10¹² against a 2 pm walk; polarized pair 1.5 / 5.3×10¹².</a:t>
            </a:r>
          </a:p>
          <a:p>
            <a:pPr>
              <a:spcAft>
                <a:spcPts val="600"/>
              </a:spcAft>
            </a:pPr>
            <a:r>
              <a:rPr sz="1200" b="0">
                <a:solidFill>
                  <a:srgbClr val="282828"/>
                </a:solidFill>
                <a:latin typeface="Arial"/>
              </a:rPr>
              <a:t>•  The camera knob: every pixel's offset random-walks, constant within a scan.  Readings whose step weights sum to zero (S, P, PF) subtract it exactly; the single-frame readings and the simultaneous pair see the walk and put it on the DM (the loop's unit test shows both).</a:t>
            </a:r>
          </a:p>
          <a:p>
            <a:pPr>
              <a:spcAft>
                <a:spcPts val="600"/>
              </a:spcAft>
            </a:pPr>
            <a:r>
              <a:rPr sz="1200" b="0">
                <a:solidFill>
                  <a:srgbClr val="282828"/>
                </a:solidFill>
                <a:latin typeface="Arial"/>
              </a:rPr>
              <a:t>•  At the paper's 1 electron per pixel it is invisible to every reading: a lit pixel collects 3×10⁸ photons per frame at 10¹³ per measurement, so an electron is 10⁻⁴ of its shot noise.  The immunity argument belongs to Roman's photon-starved sensor (10² to 10³ per pixel per frame over 12 hours).  The drift is therefore also run as a fraction of the signal, 10⁻³ per cycle.</a:t>
            </a:r>
          </a:p>
          <a:p>
            <a:pPr>
              <a:spcAft>
                <a:spcPts val="600"/>
              </a:spcAft>
            </a:pPr>
            <a:r>
              <a:rPr sz="1200" b="0">
                <a:solidFill>
                  <a:srgbClr val="282828"/>
                </a:solidFill>
                <a:latin typeface="Arial"/>
              </a:rPr>
              <a:t>•  Measured at 10⁻³ of the signal per cycle: the linear reading imprints the walk at 10.8 nm, the polarized pair at 89 pm; the stepped dimple, the stepped pinhole and the waveguide reading hold at their noise-only values to the printed digit (0.15, 0.14, 0.25 pm at 10¹⁵ photons).</a:t>
            </a:r>
          </a:p>
          <a:p>
            <a:pPr>
              <a:spcAft>
                <a:spcPts val="600"/>
              </a:spcAft>
            </a:pPr>
            <a:r>
              <a:rPr sz="1200" b="0">
                <a:solidFill>
                  <a:srgbClr val="282828"/>
                </a:solidFill>
                <a:latin typeface="Arial"/>
              </a:rPr>
              <a:t>•  Within-scan drift (the whole step developing across the frames): what the zero-sum readings pay: [CAM].</a:t>
            </a:r>
          </a:p>
        </p:txBody>
      </p:sp>
      <p:graphicFrame>
        <p:nvGraphicFramePr>
          <p:cNvPr id="5" name="Table 4"/>
          <p:cNvGraphicFramePr>
            <a:graphicFrameLocks noGrp="1"/>
          </p:cNvGraphicFramePr>
          <p:nvPr/>
        </p:nvGraphicFramePr>
        <p:xfrm>
          <a:off x="6400800" y="1298448"/>
          <a:ext cx="5394955" cy="3291840"/>
        </p:xfrm>
        <a:graphic>
          <a:graphicData uri="http://schemas.openxmlformats.org/drawingml/2006/table">
            <a:tbl>
              <a:tblPr firstRow="1" bandRow="1">
                <a:tableStyleId>{5C22544A-7EE6-4342-B048-85BDC9FD1C3A}</a:tableStyleId>
              </a:tblPr>
              <a:tblGrid>
                <a:gridCol w="464837"/>
                <a:gridCol w="542310"/>
                <a:gridCol w="516486"/>
                <a:gridCol w="1004823"/>
                <a:gridCol w="1239567"/>
                <a:gridCol w="1626932"/>
              </a:tblGrid>
              <a:tr h="6057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3 pm held, noise only</a:t>
                      </a:r>
                    </a:p>
                  </a:txBody>
                  <a:tcPr marL="54864" marR="54864" marT="18288" marB="18288">
                    <a:solidFill>
                      <a:srgbClr val="1F4E79"/>
                    </a:solidFill>
                  </a:tcPr>
                </a:tc>
                <a:tc>
                  <a:txBody>
                    <a:bodyPr wrap="square"/>
                    <a:lstStyle/>
                    <a:p>
                      <a:r>
                        <a:rPr sz="1000" b="1">
                          <a:solidFill>
                            <a:srgbClr val="FFFFFF"/>
                          </a:solidFill>
                          <a:latin typeface="Arial"/>
                        </a:rPr>
                        <a:t>3 pm held, 2 pm walk</a:t>
                      </a:r>
                    </a:p>
                  </a:txBody>
                  <a:tcPr marL="54864" marR="54864" marT="18288" marB="18288">
                    <a:solidFill>
                      <a:srgbClr val="1F4E79"/>
                    </a:solidFill>
                  </a:tcPr>
                </a:tc>
                <a:tc>
                  <a:txBody>
                    <a:bodyPr wrap="square"/>
                    <a:lstStyle/>
                    <a:p>
                      <a:r>
                        <a:rPr sz="1000" b="1">
                          <a:solidFill>
                            <a:srgbClr val="FFFFFF"/>
                          </a:solidFill>
                          <a:latin typeface="Arial"/>
                        </a:rPr>
                        <a:t>thermal floor</a:t>
                      </a:r>
                    </a:p>
                  </a:txBody>
                  <a:tcPr marL="54864" marR="54864" marT="18288" marB="18288">
                    <a:solidFill>
                      <a:srgbClr val="1F4E79"/>
                    </a:solidFill>
                  </a:tcPr>
                </a:tc>
                <a:tc>
                  <a:txBody>
                    <a:bodyPr wrap="square"/>
                    <a:lstStyle/>
                    <a:p>
                      <a:r>
                        <a:rPr sz="1000" b="1">
                          <a:solidFill>
                            <a:srgbClr val="FFFFFF"/>
                          </a:solidFill>
                          <a:latin typeface="Arial"/>
                        </a:rPr>
                        <a:t>camera walk of 1 e per pixel: hold error at 10¹⁵</a:t>
                      </a:r>
                    </a:p>
                  </a:txBody>
                  <a:tcPr marL="54864" marR="54864" marT="18288" marB="18288">
                    <a:solidFill>
                      <a:srgbClr val="1F4E79"/>
                    </a:solidFill>
                  </a:tcPr>
                </a:tc>
                <a:tc>
                  <a:txBody>
                    <a:bodyPr wrap="square"/>
                    <a:lstStyle/>
                    <a:p>
                      <a:r>
                        <a:rPr sz="1000" b="1">
                          <a:solidFill>
                            <a:srgbClr val="FFFFFF"/>
                          </a:solidFill>
                          <a:latin typeface="Arial"/>
                        </a:rPr>
                        <a:t>camera walk of 10⁻³ of the signal per cycle: hold error at 10¹⁵</a:t>
                      </a:r>
                    </a:p>
                  </a:txBody>
                  <a:tcPr marL="54864" marR="54864" marT="18288" marB="18288">
                    <a:solidFill>
                      <a:srgbClr val="1F4E79"/>
                    </a:solidFill>
                  </a:tcPr>
                </a:tc>
              </a:tr>
              <a:tr h="434340">
                <a:tc>
                  <a:txBody>
                    <a:bodyPr wrap="square"/>
                    <a:lstStyle/>
                    <a:p>
                      <a:r>
                        <a:rPr sz="1000" b="0">
                          <a:solidFill>
                            <a:srgbClr val="282828"/>
                          </a:solidFill>
                          <a:latin typeface="Arial"/>
                        </a:rPr>
                        <a:t>stepped dimple S</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7.5×10¹²</a:t>
                      </a:r>
                    </a:p>
                  </a:txBody>
                  <a:tcPr marL="54864" marR="54864" marT="18288" marB="18288">
                    <a:solidFill>
                      <a:srgbClr val="FFFFFF"/>
                    </a:solidFill>
                  </a:tcPr>
                </a:tc>
                <a:tc>
                  <a:txBody>
                    <a:bodyPr wrap="square"/>
                    <a:lstStyle/>
                    <a:p>
                      <a:r>
                        <a:rPr sz="1000" b="0">
                          <a:solidFill>
                            <a:srgbClr val="282828"/>
                          </a:solidFill>
                          <a:latin typeface="Arial"/>
                        </a:rPr>
                        <a:t>10.0 pm</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r>
              <a:tr h="434340">
                <a:tc>
                  <a:txBody>
                    <a:bodyPr wrap="square"/>
                    <a:lstStyle/>
                    <a:p>
                      <a:r>
                        <a:rPr sz="1000" b="0">
                          <a:solidFill>
                            <a:srgbClr val="282828"/>
                          </a:solidFill>
                          <a:latin typeface="Arial"/>
                        </a:rPr>
                        <a:t>polarized pair V</a:t>
                      </a:r>
                    </a:p>
                  </a:txBody>
                  <a:tcPr marL="54864" marR="54864" marT="18288" marB="18288">
                    <a:solidFill>
                      <a:srgbClr val="ECF1F6"/>
                    </a:solidFill>
                  </a:tcPr>
                </a:tc>
                <a:tc>
                  <a:txBody>
                    <a:bodyPr wrap="square"/>
                    <a:lstStyle/>
                    <a:p>
                      <a:r>
                        <a:rPr sz="1000" b="0">
                          <a:solidFill>
                            <a:srgbClr val="282828"/>
                          </a:solidFill>
                          <a:latin typeface="Arial"/>
                        </a:rPr>
                        <a:t>1.5×10¹²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0.12 pm (= no drift)</a:t>
                      </a:r>
                    </a:p>
                  </a:txBody>
                  <a:tcPr marL="54864" marR="54864" marT="18288" marB="18288">
                    <a:solidFill>
                      <a:srgbClr val="ECF1F6"/>
                    </a:solidFill>
                  </a:tcPr>
                </a:tc>
                <a:tc>
                  <a:txBody>
                    <a:bodyPr wrap="square"/>
                    <a:lstStyle/>
                    <a:p>
                      <a:r>
                        <a:rPr sz="1000" b="0">
                          <a:solidFill>
                            <a:srgbClr val="282828"/>
                          </a:solidFill>
                          <a:latin typeface="Arial"/>
                        </a:rPr>
                        <a:t>89 pm</a:t>
                      </a:r>
                    </a:p>
                  </a:txBody>
                  <a:tcPr marL="54864" marR="54864" marT="18288" marB="18288">
                    <a:solidFill>
                      <a:srgbClr val="ECF1F6"/>
                    </a:solidFill>
                  </a:tcPr>
                </a:tc>
              </a:tr>
              <a:tr h="605790">
                <a:tc>
                  <a:txBody>
                    <a:bodyPr wrap="square"/>
                    <a:lstStyle/>
                    <a:p>
                      <a:r>
                        <a:rPr sz="1000" b="0">
                          <a:solidFill>
                            <a:srgbClr val="282828"/>
                          </a:solidFill>
                          <a:latin typeface="Arial"/>
                        </a:rPr>
                        <a:t>linear L (1 frame)</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7.3×10¹²</a:t>
                      </a:r>
                    </a:p>
                  </a:txBody>
                  <a:tcPr marL="54864" marR="54864" marT="18288" marB="18288">
                    <a:solidFill>
                      <a:srgbClr val="FFFFFF"/>
                    </a:solidFill>
                  </a:tcPr>
                </a:tc>
                <a:tc>
                  <a:txBody>
                    <a:bodyPr wrap="square"/>
                    <a:lstStyle/>
                    <a:p>
                      <a:r>
                        <a:rPr sz="1000" b="0">
                          <a:solidFill>
                            <a:srgbClr val="282828"/>
                          </a:solidFill>
                          <a:latin typeface="Arial"/>
                        </a:rPr>
                        <a:t>27.6 pm</a:t>
                      </a:r>
                    </a:p>
                  </a:txBody>
                  <a:tcPr marL="54864" marR="54864" marT="18288" marB="18288">
                    <a:solidFill>
                      <a:srgbClr val="FFFFFF"/>
                    </a:solidFill>
                  </a:tcPr>
                </a:tc>
                <a:tc>
                  <a:txBody>
                    <a:bodyPr wrap="square"/>
                    <a:lstStyle/>
                    <a:p>
                      <a:r>
                        <a:rPr sz="1000" b="0">
                          <a:solidFill>
                            <a:srgbClr val="282828"/>
                          </a:solidFill>
                          <a:latin typeface="Arial"/>
                        </a:rPr>
                        <a:t>0.14 pm (= no drift)</a:t>
                      </a:r>
                    </a:p>
                  </a:txBody>
                  <a:tcPr marL="54864" marR="54864" marT="18288" marB="18288">
                    <a:solidFill>
                      <a:srgbClr val="FFFFFF"/>
                    </a:solidFill>
                  </a:tcPr>
                </a:tc>
                <a:tc>
                  <a:txBody>
                    <a:bodyPr wrap="square"/>
                    <a:lstStyle/>
                    <a:p>
                      <a:r>
                        <a:rPr sz="1000" b="0">
                          <a:solidFill>
                            <a:srgbClr val="282828"/>
                          </a:solidFill>
                          <a:latin typeface="Arial"/>
                        </a:rPr>
                        <a:t>10.8 nm</a:t>
                      </a:r>
                    </a:p>
                  </a:txBody>
                  <a:tcPr marL="54864" marR="54864" marT="18288" marB="18288">
                    <a:solidFill>
                      <a:srgbClr val="FFFFFF"/>
                    </a:solidFill>
                  </a:tcPr>
                </a:tc>
              </a:tr>
              <a:tr h="605790">
                <a:tc>
                  <a:txBody>
                    <a:bodyPr wrap="square"/>
                    <a:lstStyle/>
                    <a:p>
                      <a:r>
                        <a:rPr sz="1000" b="0">
                          <a:solidFill>
                            <a:srgbClr val="282828"/>
                          </a:solidFill>
                          <a:latin typeface="Arial"/>
                        </a:rPr>
                        <a:t>stepped pinhole P</a:t>
                      </a:r>
                    </a:p>
                  </a:txBody>
                  <a:tcPr marL="54864" marR="54864" marT="18288" marB="18288">
                    <a:solidFill>
                      <a:srgbClr val="ECF1F6"/>
                    </a:solidFill>
                  </a:tcPr>
                </a:tc>
                <a:tc>
                  <a:txBody>
                    <a:bodyPr wrap="square"/>
                    <a:lstStyle/>
                    <a:p>
                      <a:r>
                        <a:rPr sz="1000" b="0">
                          <a:solidFill>
                            <a:srgbClr val="282828"/>
                          </a:solidFill>
                          <a:latin typeface="Arial"/>
                        </a:rPr>
                        <a:t>2.3×10¹²</a:t>
                      </a:r>
                    </a:p>
                  </a:txBody>
                  <a:tcPr marL="54864" marR="54864" marT="18288" marB="18288">
                    <a:solidFill>
                      <a:srgbClr val="ECF1F6"/>
                    </a:solidFill>
                  </a:tcPr>
                </a:tc>
                <a:tc>
                  <a:txBody>
                    <a:bodyPr wrap="square"/>
                    <a:lstStyle/>
                    <a:p>
                      <a:r>
                        <a:rPr sz="1000" b="0">
                          <a:solidFill>
                            <a:srgbClr val="282828"/>
                          </a:solidFill>
                          <a:latin typeface="Arial"/>
                        </a:rPr>
                        <a:t>7.0×10¹²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r>
              <a:tr h="605790">
                <a:tc>
                  <a:txBody>
                    <a:bodyPr wrap="square"/>
                    <a:lstStyle/>
                    <a:p>
                      <a:r>
                        <a:rPr sz="1000" b="0">
                          <a:solidFill>
                            <a:srgbClr val="282828"/>
                          </a:solidFill>
                          <a:latin typeface="Arial"/>
                        </a:rPr>
                        <a:t>P/SRI waveguide PF</a:t>
                      </a:r>
                    </a:p>
                  </a:txBody>
                  <a:tcPr marL="54864" marR="54864" marT="18288" marB="18288">
                    <a:solidFill>
                      <a:srgbClr val="FFFFFF"/>
                    </a:solidFill>
                  </a:tcPr>
                </a:tc>
                <a:tc>
                  <a:txBody>
                    <a:bodyPr wrap="square"/>
                    <a:lstStyle/>
                    <a:p>
                      <a:r>
                        <a:rPr sz="1000" b="0">
                          <a:solidFill>
                            <a:srgbClr val="282828"/>
                          </a:solidFill>
                          <a:latin typeface="Arial"/>
                        </a:rPr>
                        <a:t>7.0×10¹²</a:t>
                      </a:r>
                    </a:p>
                  </a:txBody>
                  <a:tcPr marL="54864" marR="54864" marT="18288" marB="18288">
                    <a:solidFill>
                      <a:srgbClr val="FFFFFF"/>
                    </a:solidFill>
                  </a:tcPr>
                </a:tc>
                <a:tc>
                  <a:txBody>
                    <a:bodyPr wrap="square"/>
                    <a:lstStyle/>
                    <a:p>
                      <a:r>
                        <a:rPr sz="1000" b="0">
                          <a:solidFill>
                            <a:srgbClr val="282828"/>
                          </a:solidFill>
                          <a:latin typeface="Arial"/>
                        </a:rPr>
                        <a:t>2.5×10¹³</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r>
            </a:tbl>
          </a:graphicData>
        </a:graphic>
      </p:graphicFrame>
      <p:pic>
        <p:nvPicPr>
          <p:cNvPr id="6" name="Picture 5" descr="ploop193_loop.png"/>
          <p:cNvPicPr>
            <a:picLocks noChangeAspect="1"/>
          </p:cNvPicPr>
          <p:nvPr/>
        </p:nvPicPr>
        <p:blipFill>
          <a:blip r:embed="rId2"/>
          <a:stretch>
            <a:fillRect/>
          </a:stretch>
        </p:blipFill>
        <p:spPr>
          <a:xfrm>
            <a:off x="7679864" y="4736592"/>
            <a:ext cx="2836830" cy="1232408"/>
          </a:xfrm>
          <a:prstGeom prst="rect">
            <a:avLst/>
          </a:prstGeom>
        </p:spPr>
      </p:pic>
      <p:sp>
        <p:nvSpPr>
          <p:cNvPr id="7" name="TextBox 6"/>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pinhole (red) and the waveguide reference (brown) under no drift (dotted), the 2 pm random walk (solid) and the 5 pm thermal ramp (dashed); the 3 pm hold level marked.  Right panel of the runner's figure.</a:t>
            </a:r>
          </a:p>
        </p:txBody>
      </p:sp>
      <p:sp>
        <p:nvSpPr>
          <p:cNvPr id="8" name="TextBox 7"/>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dm_gauge_lib/dmg_loop, shared with the interferometer; drift seed 77 on the full actuator grid; matrix measured on the working surface.  Both PDI readings contract at 0.509 per cycle with no fixed error (steps return to 0.000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the sensor runner carries the two point-diffraction readings as options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pdi_params.m returns zwfs_params with the readings S, V, P, PF and the camera-drift loop kind set; pdi_run.m runs zwfs_run on it.  Every pinhole and waveguide setting is a documented knob (P.pdi): pinhole size, plate transmission, phase steps and scheme, shutter frame, reference iterations, split ratio, the waveguide's mode, a step-size error; the loop's camera walk and its within-scan fraction (P.loop).</a:t>
            </a:r>
          </a:p>
        </p:txBody>
      </p:sp>
      <p:graphicFrame>
        <p:nvGraphicFramePr>
          <p:cNvPr id="5" name="Table 4"/>
          <p:cNvGraphicFramePr>
            <a:graphicFrameLocks noGrp="1"/>
          </p:cNvGraphicFramePr>
          <p:nvPr/>
        </p:nvGraphicFramePr>
        <p:xfrm>
          <a:off x="411480" y="2465831"/>
          <a:ext cx="11368734" cy="1960245"/>
        </p:xfrm>
        <a:graphic>
          <a:graphicData uri="http://schemas.openxmlformats.org/drawingml/2006/table">
            <a:tbl>
              <a:tblPr firstRow="1" bandRow="1">
                <a:tableStyleId>{5C22544A-7EE6-4342-B048-85BDC9FD1C3A}</a:tableStyleId>
              </a:tblPr>
              <a:tblGrid>
                <a:gridCol w="6897032"/>
                <a:gridCol w="4471702"/>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pdi_run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pdi_run('battery.calib_surface','base', 'battery.ladder_sites','grid')</a:t>
                      </a:r>
                    </a:p>
                  </a:txBody>
                  <a:tcPr marL="54864" marR="54864" marT="18288" marB="18288">
                    <a:solidFill>
                      <a:srgbClr val="ECF1F6"/>
                    </a:solidFill>
                  </a:tcPr>
                </a:tc>
                <a:tc>
                  <a:txBody>
                    <a:bodyPr wrap="square"/>
                    <a:lstStyle/>
                    <a:p>
                      <a:r>
                        <a:rPr sz="1100" b="0">
                          <a:solidFill>
                            <a:srgbClr val="282828"/>
                          </a:solidFill>
                          <a:latin typeface="Arial"/>
                        </a:rPr>
                        <a:t>calibrated on the working surface</a:t>
                      </a:r>
                    </a:p>
                  </a:txBody>
                  <a:tcPr marL="54864" marR="54864" marT="18288" marB="18288">
                    <a:solidFill>
                      <a:srgbClr val="ECF1F6"/>
                    </a:solidFill>
                  </a:tcPr>
                </a:tc>
              </a:tr>
              <a:tr h="280035">
                <a:tc>
                  <a:txBody>
                    <a:bodyPr wrap="square"/>
                    <a:lstStyle/>
                    <a:p>
                      <a:r>
                        <a:rPr sz="1100" b="0">
                          <a:solidFill>
                            <a:srgbClr val="282828"/>
                          </a:solidFill>
                          <a:latin typeface="Arial"/>
                        </a:rPr>
                        <a:t>pdi_run('pdi.DIA_LAMD',1.0, 'MODEL',2048,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a 1 λ/D pinhole, fully sampled</a:t>
                      </a:r>
                    </a:p>
                  </a:txBody>
                  <a:tcPr marL="54864" marR="54864" marT="18288" marB="18288">
                    <a:solidFill>
                      <a:srgbClr val="FFFFFF"/>
                    </a:solidFill>
                  </a:tcPr>
                </a:tc>
              </a:tr>
              <a:tr h="280035">
                <a:tc>
                  <a:txBody>
                    <a:bodyPr wrap="square"/>
                    <a:lstStyle/>
                    <a:p>
                      <a:r>
                        <a:rPr sz="1100" b="0">
                          <a:solidFill>
                            <a:srgbClr val="282828"/>
                          </a:solidFill>
                          <a:latin typeface="Arial"/>
                        </a:rPr>
                        <a:t>pdi_run('pdi.scheme','sh5', 'pdi.step_err',0.02)</a:t>
                      </a:r>
                    </a:p>
                  </a:txBody>
                  <a:tcPr marL="54864" marR="54864" marT="18288" marB="18288">
                    <a:solidFill>
                      <a:srgbClr val="ECF1F6"/>
                    </a:solidFill>
                  </a:tcPr>
                </a:tc>
                <a:tc>
                  <a:txBody>
                    <a:bodyPr wrap="square"/>
                    <a:lstStyle/>
                    <a:p>
                      <a:r>
                        <a:rPr sz="1100" b="0">
                          <a:solidFill>
                            <a:srgbClr val="282828"/>
                          </a:solidFill>
                          <a:latin typeface="Arial"/>
                        </a:rPr>
                        <a:t>the five-frame scan with a 2% step error</a:t>
                      </a:r>
                    </a:p>
                  </a:txBody>
                  <a:tcPr marL="54864" marR="54864" marT="18288" marB="18288">
                    <a:solidFill>
                      <a:srgbClr val="ECF1F6"/>
                    </a:solidFill>
                  </a:tcPr>
                </a:tc>
              </a:tr>
              <a:tr h="280035">
                <a:tc>
                  <a:txBody>
                    <a:bodyPr wrap="square"/>
                    <a:lstStyle/>
                    <a:p>
                      <a:r>
                        <a:rPr sz="1100" b="0">
                          <a:solidFill>
                            <a:srgbClr val="282828"/>
                          </a:solidFill>
                          <a:latin typeface="Arial"/>
                        </a:rPr>
                        <a:t>pdi_run('stages',{'bench','loop','figs'}, 'loop.drifts',{'cam'})</a:t>
                      </a:r>
                    </a:p>
                  </a:txBody>
                  <a:tcPr marL="54864" marR="54864" marT="18288" marB="18288">
                    <a:solidFill>
                      <a:srgbClr val="FFFFFF"/>
                    </a:solidFill>
                  </a:tcPr>
                </a:tc>
                <a:tc>
                  <a:txBody>
                    <a:bodyPr wrap="square"/>
                    <a:lstStyle/>
                    <a:p>
                      <a:r>
                        <a:rPr sz="1100" b="0">
                          <a:solidFill>
                            <a:srgbClr val="282828"/>
                          </a:solidFill>
                          <a:latin typeface="Arial"/>
                        </a:rPr>
                        <a:t>the camera-drift hold rows</a:t>
                      </a:r>
                    </a:p>
                  </a:txBody>
                  <a:tcPr marL="54864" marR="54864" marT="18288" marB="18288">
                    <a:solidFill>
                      <a:srgbClr val="FFFFFF"/>
                    </a:solidFill>
                  </a:tcPr>
                </a:tc>
              </a:tr>
              <a:tr h="280035">
                <a:tc>
                  <a:txBody>
                    <a:bodyPr wrap="square"/>
                    <a:lstStyle/>
                    <a:p>
                      <a:r>
                        <a:rPr sz="1100" b="0">
                          <a:solidFill>
                            <a:srgbClr val="282828"/>
                          </a:solidFill>
                          <a:latin typeface="Arial"/>
                        </a:rPr>
                        <a:t>./zwfs_batch.sh TAG "pdi_params, the same arguments"</a:t>
                      </a:r>
                    </a:p>
                  </a:txBody>
                  <a:tcPr marL="54864" marR="54864" marT="18288" marB="18288">
                    <a:solidFill>
                      <a:srgbClr val="ECF1F6"/>
                    </a:solidFill>
                  </a:tcPr>
                </a:tc>
                <a:tc>
                  <a:txBody>
                    <a:bodyPr wrap="square"/>
                    <a:lstStyle/>
                    <a:p>
                      <a:r>
                        <a:rPr sz="1100" b="0">
                          <a:solidFill>
                            <a:srgbClr val="282828"/>
                          </a:solidFill>
                          <a:latin typeface="Arial"/>
                        </a:rPr>
                        <a:t>unattended, memory-capped, logged; one engine run at a time</a:t>
                      </a:r>
                    </a:p>
                  </a:txBody>
                  <a:tcPr marL="54864" marR="54864" marT="18288" marB="18288">
                    <a:solidFill>
                      <a:srgbClr val="ECF1F6"/>
                    </a:solidFill>
                  </a:tcPr>
                </a:tc>
              </a:tr>
            </a:tbl>
          </a:graphicData>
        </a:graphic>
      </p:graphicFrame>
      <p:sp>
        <p:nvSpPr>
          <p:cNvPr id="6" name="TextBox 5"/>
          <p:cNvSpPr txBox="1"/>
          <p:nvPr/>
        </p:nvSpPr>
        <p:spPr>
          <a:xfrm>
            <a:off x="411480" y="4572381"/>
            <a:ext cx="11368735" cy="274320"/>
          </a:xfrm>
          <a:prstGeom prst="rect">
            <a:avLst/>
          </a:prstGeom>
          <a:noFill/>
        </p:spPr>
        <p:txBody>
          <a:bodyPr wrap="square">
            <a:spAutoFit/>
          </a:bodyPr>
          <a:lstStyle/>
          <a:p>
            <a:pPr>
              <a:spcAft>
                <a:spcPts val="600"/>
              </a:spcAft>
            </a:pPr>
            <a:r>
              <a:rPr sz="1050" b="0">
                <a:solidFill>
                  <a:srgbClr val="6E6E6E"/>
                </a:solidFill>
                <a:latin typeface="Arial"/>
              </a:rPr>
              <a:t>Records: templates/40_benches/zwfs_dm96/runs/pdi193 (record 1), pdi193f / pdi193fbase / pdi193state / pdi193d1 / pdi193se_* (record 2), ploop193 / pcam193 / pcam193i (loop); README "P / PF"; plan and literature in macos/BRIEF_pdi_campaign.md.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a:t>
            </a:r>
          </a:p>
          <a:p>
            <a:pPr>
              <a:spcAft>
                <a:spcPts val="0"/>
              </a:spcAft>
            </a:pPr>
            <a:r>
              <a:rPr sz="1250" b="0">
                <a:solidFill>
                  <a:srgbClr val="6E6E6E"/>
                </a:solidFill>
                <a:latin typeface="Arial"/>
              </a:rPr>
              <a:t>[R2/CAM] to be stated once record 2 and the loop rows land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stepped pinhole is the stepped Zernike sensor with a smaller, attenuated reference: the same frames and the same algebra (equal to 5×10⁻¹⁵ at unit transmission); it reads exactly where the dimple's four-step does not (0.93 vs 0.75 on the 30 nm surface), for 1.6× fewer camera photons, and pays 18% of the light at the plate.</a:t>
            </a:r>
          </a:p>
          <a:p>
            <a:pPr>
              <a:spcAft>
                <a:spcPts val="600"/>
              </a:spcAft>
            </a:pPr>
            <a:r>
              <a:rPr sz="1500" b="0">
                <a:solidFill>
                  <a:srgbClr val="282828"/>
                </a:solidFill>
                <a:latin typeface="Arial"/>
              </a:rPr>
              <a:t>•  A reference that does not depend on the surface is what extends the range: the waveguide reading keeps reading past the surfaces at which every self-referenced reading folds.</a:t>
            </a:r>
          </a:p>
          <a:p>
            <a:pPr>
              <a:spcAft>
                <a:spcPts val="600"/>
              </a:spcAft>
            </a:pPr>
            <a:r>
              <a:rPr sz="1500" b="0">
                <a:solidFill>
                  <a:srgbClr val="282828"/>
                </a:solidFill>
                <a:latin typeface="Arial"/>
              </a:rPr>
              <a:t>•  [R2] the on-surface calibration, the 1 λ/D pinhole, the scheme trade.</a:t>
            </a:r>
          </a:p>
          <a:p>
            <a:pPr>
              <a:spcAft>
                <a:spcPts val="600"/>
              </a:spcAft>
            </a:pPr>
            <a:r>
              <a:rPr sz="1500" b="0">
                <a:solidFill>
                  <a:srgbClr val="282828"/>
                </a:solidFill>
                <a:latin typeface="Arial"/>
              </a:rPr>
              <a:t>•  A drifting camera reaches only the readings that do not phase-step: at 10⁻³ of the signal per cycle the linear reading puts 10.8 nm on the DM and the polarized pair 89 pm; the stepped dimple, the stepped pinhole and the waveguide reading are unaffected to the printed digit.  At the paper's 1 electron per pixel nothing is affected at these light levels.  [CAM] what within-scan drift costs the stepped readings.</a:t>
            </a:r>
          </a:p>
          <a:p>
            <a:pPr>
              <a:spcAft>
                <a:spcPts val="600"/>
              </a:spcAft>
            </a:pPr>
            <a:r>
              <a:rPr sz="1500" b="0">
                <a:solidFill>
                  <a:srgbClr val="282828"/>
                </a:solidFill>
                <a:latin typeface="Arial"/>
              </a:rPr>
              <a:t>•  What the model does not yet carry: the reference arm's own drift (non-common path), detector nonlinearity and persistence — the paper's own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Code: templates/40_benches/dm_gauge_lib/dmg_pdi_gauge.m (both readings, the reference models, the step schemes), dmg_loop.m (the camera drift), zwfs_run.m (readings P / PF, checks G5–G7, the loop's 'cam' kind), zwfs_run_figs.m (the point-diffraction figure), pdi_params.m / pdi_run.m; tests/tDmgLoop.m (10 checks, including the camera immunity).</a:t>
            </a:r>
          </a:p>
          <a:p>
            <a:pPr>
              <a:spcAft>
                <a:spcPts val="600"/>
              </a:spcAft>
            </a:pPr>
            <a:r>
              <a:rPr sz="1500" b="0">
                <a:solidFill>
                  <a:srgbClr val="282828"/>
                </a:solidFill>
                <a:latin typeface="Arial"/>
              </a:rPr>
              <a:t>•  Runs: zwfs_dm96/runs/pdi_dev, pdi_dev2, pdi_dev3 (dev-resolution checks); pdi193 (record 1); pdi193f, pdi193fbase, pdi193state, pdi193d1, pdi193se_ls, pdi193se_sh5 (record 2); ploop193, pcam193, pcam193i (loop).</a:t>
            </a:r>
          </a:p>
          <a:p>
            <a:pPr>
              <a:spcAft>
                <a:spcPts val="600"/>
              </a:spcAft>
            </a:pPr>
            <a:r>
              <a:rPr sz="1500" b="0">
                <a:solidFill>
                  <a:srgbClr val="282828"/>
                </a:solidFill>
                <a:latin typeface="Arial"/>
              </a:rPr>
              <a:t>•  Paper and model: ~/dev/MACOS_sandbox/pSRI/Dube_pSRI.pdf; photonic-sri-simulation (coupleThroughPhotonicChipRecollimate.m, singleModeField.m, PSIAccumulate.m, differentialPSIReconstructAmpPhs.m).</a:t>
            </a:r>
          </a:p>
          <a:p>
            <a:pPr>
              <a:spcAft>
                <a:spcPts val="600"/>
              </a:spcAft>
            </a:pPr>
            <a:r>
              <a:rPr sz="1500" b="0">
                <a:solidFill>
                  <a:srgbClr val="282828"/>
                </a:solidFill>
                <a:latin typeface="Arial"/>
              </a:rPr>
              <a:t>•  Plan and literature: macos/BRIEF_pdi_campaign.md.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