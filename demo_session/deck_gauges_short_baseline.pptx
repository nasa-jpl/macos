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driven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178808"/>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a:t>
            </a:r>
          </a:p>
          <a:p>
            <a:pPr>
              <a:spcAft>
                <a:spcPts val="600"/>
              </a:spcAft>
            </a:pPr>
            <a:r>
              <a:rPr sz="1100" b="0">
                <a:solidFill>
                  <a:srgbClr val="282828"/>
                </a:solidFill>
                <a:latin typeface="Arial"/>
              </a:rPr>
              <a:t>•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 a low-order change of the mirror's figure growing at a steady rate, the model's stand-in for a thermal drift of the DM; nothing in the bench or the sensor is given a temperature — the loop lags at rate ÷ (gain × response), about 10 pm, however many photons it is given: a cadence and thermal-control requirement, not a sensing one.</a:t>
            </a:r>
          </a:p>
        </p:txBody>
      </p:sp>
      <p:sp>
        <p:nvSpPr>
          <p:cNvPr id="6" name="TextBox 5"/>
          <p:cNvSpPr txBox="1"/>
          <p:nvPr/>
        </p:nvSpPr>
        <p:spPr>
          <a:xfrm>
            <a:off x="457200" y="630936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Scope: gain / floor rows are single noiseless runs (systematics only); photon rows Monte Carlo, 6–24 realizations per level; servo rows one 60-cycle run per level, rms over the last 30, one drift realization for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749808" y="1216152"/>
            <a:ext cx="4718304" cy="2350008"/>
          </a:xfrm>
          <a:prstGeom prst="rect">
            <a:avLst/>
          </a:prstGeom>
        </p:spPr>
      </p:pic>
      <p:sp>
        <p:nvSpPr>
          <p:cNvPr id="5" name="TextBox 4"/>
          <p:cNvSpPr txBox="1"/>
          <p:nvPr/>
        </p:nvSpPr>
        <p:spPr>
          <a:xfrm>
            <a:off x="228600" y="3419856"/>
            <a:ext cx="594360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focuser L2 toward the internal focus.  The mask seat at that focus is where the sensing methods diverge.</a:t>
            </a:r>
          </a:p>
        </p:txBody>
      </p:sp>
      <p:pic>
        <p:nvPicPr>
          <p:cNvPr id="6" name="Picture 5" descr="crop_lay96_oap_train.png"/>
          <p:cNvPicPr>
            <a:picLocks noChangeAspect="1"/>
          </p:cNvPicPr>
          <p:nvPr/>
        </p:nvPicPr>
        <p:blipFill>
          <a:blip r:embed="rId3"/>
          <a:stretch>
            <a:fillRect/>
          </a:stretch>
        </p:blipFill>
        <p:spPr>
          <a:xfrm>
            <a:off x="7680960" y="1298448"/>
            <a:ext cx="2322576" cy="2121408"/>
          </a:xfrm>
          <a:prstGeom prst="rect">
            <a:avLst/>
          </a:prstGeom>
        </p:spPr>
      </p:pic>
      <p:sp>
        <p:nvSpPr>
          <p:cNvPr id="7" name="TextBox 6"/>
          <p:cNvSpPr txBox="1"/>
          <p:nvPr/>
        </p:nvSpPr>
        <p:spPr>
          <a:xfrm>
            <a:off x="6355080" y="3419856"/>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are on the next slides.</a:t>
            </a:r>
          </a:p>
        </p:txBody>
      </p:sp>
      <p:graphicFrame>
        <p:nvGraphicFramePr>
          <p:cNvPr id="8" name="Table 7"/>
          <p:cNvGraphicFramePr>
            <a:graphicFrameLocks noGrp="1"/>
          </p:cNvGraphicFramePr>
          <p:nvPr/>
        </p:nvGraphicFramePr>
        <p:xfrm>
          <a:off x="438912" y="4005072"/>
          <a:ext cx="11365991" cy="2628900"/>
        </p:xfrm>
        <a:graphic>
          <a:graphicData uri="http://schemas.openxmlformats.org/drawingml/2006/table">
            <a:tbl>
              <a:tblPr firstRow="1" bandRow="1">
                <a:tableStyleId>{5C22544A-7EE6-4342-B048-85BDC9FD1C3A}</a:tableStyleId>
              </a:tblPr>
              <a:tblGrid>
                <a:gridCol w="1235964"/>
                <a:gridCol w="3634574"/>
                <a:gridCol w="649545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Source, collimator and splitter node, then focuser, mask seat, field lens and camera, from the parameter sheet; the substrates are decided (10 mm splitter and compensator, 2 mm plates under every polarizing element, a 2 mm mask plate) and go into every deck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2050"/>
        </p:xfrm>
        <a:graphic>
          <a:graphicData uri="http://schemas.openxmlformats.org/drawingml/2006/table">
            <a:tbl>
              <a:tblPr firstRow="1" bandRow="1">
                <a:tableStyleId>{5C22544A-7EE6-4342-B048-85BDC9FD1C3A}</a:tableStyleId>
              </a:tblPr>
              <a:tblGrid>
                <a:gridCol w="2398268"/>
                <a:gridCol w="4149491"/>
                <a:gridCol w="2325624"/>
                <a:gridCol w="509524"/>
                <a:gridCol w="1985827"/>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−0.583), 5 mm center; OAP1 parent f 757 mm, 551 mm off-axis, 20° fold, 113 mm</a:t>
                      </a:r>
                    </a:p>
                  </a:txBody>
                  <a:tcPr marL="54864" marR="54864" marT="18288" marB="18288">
                    <a:solidFill>
                      <a:srgbClr val="ECF1F6"/>
                    </a:solidFill>
                  </a:tcPr>
                </a:tc>
                <a:tc>
                  <a:txBody>
                    <a:bodyPr wrap="square"/>
                    <a:lstStyle/>
                    <a:p>
                      <a:r>
                        <a:rPr sz="1100" b="0">
                          <a:solidFill>
                            <a:srgbClr val="282828"/>
                          </a:solidFill>
                          <a:latin typeface="Arial"/>
                        </a:rPr>
                        <a:t>L1 AR;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 compensator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flat null 0.13 → 20 nm); a matched plate in the mirror leg</a:t>
                      </a:r>
                    </a:p>
                  </a:txBody>
                  <a:tcPr marL="54864" marR="54864" marT="18288" marB="18288">
                    <a:solidFill>
                      <a:srgbClr val="FFFFFF"/>
                    </a:solidFill>
                  </a:tcPr>
                </a:tc>
                <a:tc>
                  <a:txBody>
                    <a:bodyPr wrap="square"/>
                    <a:lstStyle/>
                    <a:p>
                      <a:r>
                        <a:rPr sz="1100" b="0">
                          <a:solidFill>
                            <a:srgbClr val="282828"/>
                          </a:solidFill>
                          <a:latin typeface="Arial"/>
                        </a:rPr>
                        <a:t>50/50 front, AR back; AR</a:t>
                      </a:r>
                    </a:p>
                  </a:txBody>
                  <a:tcPr marL="54864" marR="54864" marT="18288" marB="18288">
                    <a:solidFill>
                      <a:srgbClr val="FFFFFF"/>
                    </a:solidFill>
                  </a:tcPr>
                </a:tc>
                <a:tc>
                  <a:txBody>
                    <a:bodyPr wrap="square"/>
                    <a:lstStyle/>
                    <a:p>
                      <a:r>
                        <a:rPr sz="1100" b="0">
                          <a:solidFill>
                            <a:srgbClr val="282828"/>
                          </a:solidFill>
                          <a:latin typeface="Arial"/>
                        </a:rPr>
                        <a:t>1 + 1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 balances the glass path</a:t>
                      </a:r>
                    </a:p>
                  </a:txBody>
                  <a:tcPr marL="54864" marR="54864" marT="18288" marB="18288">
                    <a:solidFill>
                      <a:srgbClr val="FFFFFF"/>
                    </a:solidFill>
                  </a:tcPr>
                </a:tc>
              </a:tr>
              <a:tr h="657225">
                <a:tc>
                  <a:txBody>
                    <a:bodyPr wrap="square"/>
                    <a:lstStyle/>
                    <a:p>
                      <a:r>
                        <a:rPr sz="1100" b="0">
                          <a:solidFill>
                            <a:srgbClr val="282828"/>
                          </a:solidFill>
                          <a:latin typeface="Arial"/>
                        </a:rPr>
                        <a:t>deformable mirror; its aperture</a:t>
                      </a:r>
                    </a:p>
                  </a:txBody>
                  <a:tcPr marL="54864" marR="54864" marT="18288" marB="18288">
                    <a:solidFill>
                      <a:srgbClr val="ECF1F6"/>
                    </a:solidFill>
                  </a:tcPr>
                </a:tc>
                <a:tc>
                  <a:txBody>
                    <a:bodyPr wrap="square"/>
                    <a:lstStyle/>
                    <a:p>
                      <a:r>
                        <a:rPr sz="1100" b="0">
                          <a:solidFill>
                            <a:srgbClr val="282828"/>
                          </a:solidFill>
                          <a:latin typeface="Arial"/>
                        </a:rPr>
                        <a:t>96 × 96, 1 mm pitch, 96 mm, 700 mm leg; the 96 mm aperture at the actuator footprint</a:t>
                      </a:r>
                    </a:p>
                  </a:txBody>
                  <a:tcPr marL="54864" marR="54864" marT="18288" marB="18288">
                    <a:solidFill>
                      <a:srgbClr val="ECF1F6"/>
                    </a:solidFill>
                  </a:tcPr>
                </a:tc>
                <a:tc>
                  <a:txBody>
                    <a:bodyPr wrap="square"/>
                    <a:lstStyle/>
                    <a:p>
                      <a:r>
                        <a:rPr sz="1100" b="0">
                          <a:solidFill>
                            <a:srgbClr val="282828"/>
                          </a:solidFill>
                          <a:latin typeface="Arial"/>
                        </a:rPr>
                        <a:t>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test object; the aperture is the stop, so the baffle never is</a:t>
                      </a:r>
                    </a:p>
                  </a:txBody>
                  <a:tcPr marL="54864" marR="54864" marT="18288" marB="18288">
                    <a:solidFill>
                      <a:srgbClr val="ECF1F6"/>
                    </a:solidFill>
                  </a:tcPr>
                </a:tc>
              </a:tr>
              <a:tr h="657225">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(−0.582), 8 mm center; OAP2 parent f 352 mm, 328 mm off-axis, 25° fold, 113 mm</a:t>
                      </a:r>
                    </a:p>
                  </a:txBody>
                  <a:tcPr marL="54864" marR="54864" marT="18288" marB="18288">
                    <a:solidFill>
                      <a:srgbClr val="FFFFFF"/>
                    </a:solidFill>
                  </a:tcPr>
                </a:tc>
                <a:tc>
                  <a:txBody>
                    <a:bodyPr wrap="square"/>
                    <a:lstStyle/>
                    <a:p>
                      <a:r>
                        <a:rPr sz="1100" b="0">
                          <a:solidFill>
                            <a:srgbClr val="282828"/>
                          </a:solidFill>
                          <a:latin typeface="Arial"/>
                        </a:rPr>
                        <a:t>L2 AR;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657225">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 × 2048, 6.5 µm binned 4 to 377 px across the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6416802"/>
            <a:ext cx="11368735" cy="274320"/>
          </a:xfrm>
          <a:prstGeom prst="rect">
            <a:avLst/>
          </a:prstGeom>
          <a:noFill/>
        </p:spPr>
        <p:txBody>
          <a:bodyPr wrap="square">
            <a:spAutoFit/>
          </a:bodyPr>
          <a:lstStyle/>
          <a:p>
            <a:pPr>
              <a:spcAft>
                <a:spcPts val="600"/>
              </a:spcAft>
            </a:pPr>
            <a:r>
              <a:rPr sz="1050" b="0">
                <a:solidFill>
                  <a:srgbClr val="6E6E6E"/>
                </a:solidFill>
                <a:latin typeface="Arial"/>
              </a:rPr>
              <a:t>Bench: 2 m × 1 m table, 103 mm mounts, 25 mm clearance.  Still to decide before ordering: the OAPs' overcoat thickness (a quarter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at 632.8 nm, where it cancels rather than doubles the mirror's polarization term) and the field lens's conic (the seed station's, which images the mirror flat).  Reference-arm and sensor-specific parts: Backup.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200" b="0">
                <a:solidFill>
                  <a:srgbClr val="282828"/>
                </a:solidFill>
                <a:latin typeface="Arial"/>
              </a:rPr>
              <a:t>•  </a:t>
            </a:r>
            <a:r>
              <a:rPr sz="1200" b="1">
                <a:solidFill>
                  <a:srgbClr val="282828"/>
                </a:solidFill>
                <a:latin typeface="Arial"/>
              </a:rPr>
              <a:t>Reads:</a:t>
            </a:r>
            <a:r>
              <a:rPr sz="1200" b="0">
                <a:solidFill>
                  <a:srgbClr val="282828"/>
                </a:solidFill>
                <a:latin typeface="Arial"/>
              </a:rPr>
              <a:t> the test beam from the mirror interferes with a flat's beam; four frames at four phase steps give the phase at every pixel.</a:t>
            </a:r>
          </a:p>
          <a:p>
            <a:pPr>
              <a:spcAft>
                <a:spcPts val="500"/>
              </a:spcAft>
            </a:pPr>
            <a:r>
              <a:rPr sz="1200" b="0">
                <a:solidFill>
                  <a:srgbClr val="282828"/>
                </a:solidFill>
                <a:latin typeface="Arial"/>
              </a:rPr>
              <a:t>•  </a:t>
            </a:r>
            <a:r>
              <a:rPr sz="1200" b="1">
                <a:solidFill>
                  <a:srgbClr val="282828"/>
                </a:solidFill>
                <a:latin typeface="Arial"/>
              </a:rPr>
              <a:t>Frames per measurement: 4.</a:t>
            </a:r>
            <a:r>
              <a:rPr sz="1200" b="0">
                <a:solidFill>
                  <a:srgbClr val="282828"/>
                </a:solidFill>
                <a:latin typeface="Arial"/>
              </a:rPr>
              <a:t>  Snapshot: the input polarizer at 45° and a double-passed quarter-wave plate in each arm return the two arms in orthogonal polarizations; an output quarter-wave plate turns their phase difference into the orientation of a linear state, and a polarization camera (a micro-polarizer array at 0 / 45 / 90 / 135° in 2 × 2 super-pixels) reads the four steps in one exposure.  Piezo: one camera, the flat stepped in time by λ/8 of surface.</a:t>
            </a:r>
          </a:p>
          <a:p>
            <a:pPr>
              <a:spcAft>
                <a:spcPts val="500"/>
              </a:spcAft>
            </a:pPr>
            <a:r>
              <a:rPr sz="1200" b="0">
                <a:solidFill>
                  <a:srgbClr val="282828"/>
                </a:solidFill>
                <a:latin typeface="Arial"/>
              </a:rPr>
              <a:t>•  </a:t>
            </a:r>
            <a:r>
              <a:rPr sz="1200" b="1">
                <a:solidFill>
                  <a:srgbClr val="282828"/>
                </a:solidFill>
                <a:latin typeface="Arial"/>
              </a:rPr>
              <a:t>Reconstruction:</a:t>
            </a:r>
            <a:r>
              <a:rPr sz="1200" b="0">
                <a:solidFill>
                  <a:srgbClr val="282828"/>
                </a:solidFill>
                <a:latin typeface="Arial"/>
              </a:rPr>
              <a:t> the four-step phase per pixel, atan2(I₂ − I₄, I₁ − I₃), wrapped against the flat's null; the map is then fitted by regularized least squares to the response matrix measured through the gauge (one poke per lit actuator, on the working surface), in actuator units, piston removed — the same last step for every gauge in this deck.</a:t>
            </a:r>
          </a:p>
          <a:p>
            <a:pPr>
              <a:spcAft>
                <a:spcPts val="500"/>
              </a:spcAft>
            </a:pPr>
            <a:r>
              <a:rPr sz="1200" b="0">
                <a:solidFill>
                  <a:srgbClr val="282828"/>
                </a:solidFill>
                <a:latin typeface="Arial"/>
              </a:rPr>
              <a:t>•  </a:t>
            </a:r>
            <a:r>
              <a:rPr sz="1200" b="1">
                <a:solidFill>
                  <a:srgbClr val="282828"/>
                </a:solidFill>
                <a:latin typeface="Arial"/>
              </a:rPr>
              <a:t>Gets right:</a:t>
            </a:r>
            <a:r>
              <a:rPr sz="1200" b="0">
                <a:solidFill>
                  <a:srgbClr val="282828"/>
                </a:solidFill>
                <a:latin typeface="Arial"/>
              </a:rPr>
              <a:t> an external reference, so it reads any figure (capture range 480 nm and beyond) and captures from 200 nm of wavefront with unwrapping alone.</a:t>
            </a:r>
          </a:p>
          <a:p>
            <a:pPr>
              <a:spcAft>
                <a:spcPts val="500"/>
              </a:spcAft>
            </a:pPr>
            <a:r>
              <a:rPr sz="1200" b="0">
                <a:solidFill>
                  <a:srgbClr val="282828"/>
                </a:solidFill>
                <a:latin typeface="Arial"/>
              </a:rPr>
              <a:t>•  </a:t>
            </a:r>
            <a:r>
              <a:rPr sz="1200" b="1">
                <a:solidFill>
                  <a:srgbClr val="282828"/>
                </a:solidFill>
                <a:latin typeface="Arial"/>
              </a:rPr>
              <a:t>Gets wrong:</a:t>
            </a:r>
            <a:r>
              <a:rPr sz="12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500"/>
              </a:spcAft>
            </a:pPr>
            <a:r>
              <a:rPr sz="1200" b="0">
                <a:solidFill>
                  <a:srgbClr val="282828"/>
                </a:solidFill>
                <a:latin typeface="Arial"/>
              </a:rPr>
              <a:t>•  </a:t>
            </a:r>
            <a:r>
              <a:rPr sz="1200" b="1">
                <a:solidFill>
                  <a:srgbClr val="282828"/>
                </a:solidFill>
                <a:latin typeface="Arial"/>
              </a:rPr>
              <a:t>Scored, 30 nm surface, matrix on it:</a:t>
            </a:r>
            <a:r>
              <a:rPr sz="12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675120" y="1234440"/>
            <a:ext cx="5120640" cy="2862072"/>
          </a:xfrm>
          <a:prstGeom prst="rect">
            <a:avLst/>
          </a:prstGeom>
        </p:spPr>
      </p:pic>
      <p:sp>
        <p:nvSpPr>
          <p:cNvPr id="6" name="TextBox 5"/>
          <p:cNvSpPr txBox="1"/>
          <p:nvPr/>
        </p:nvSpPr>
        <p:spPr>
          <a:xfrm>
            <a:off x="6309360" y="4306824"/>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4946904"/>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cost, after calibration, is resolution only:</a:t>
            </a:r>
            <a:r>
              <a:rPr sz="1200" b="0">
                <a:solidFill>
                  <a:srgbClr val="282828"/>
                </a:solidFill>
                <a:latin typeface="Arial"/>
              </a:rPr>
              <a:t> the distortion is absorbed by the matrix measured through the camera, and the blur (0.05–0.14 mm against the 1 mm pitch) leaves 0.13 % of the figure on lenses and 0.29 % on mirrors (42 / 92 pm on 30 nm), 0.5 / 0.9 % in the top spatial band.  Adequate for 96 × 96: the blur's transfer at the actuator Nyquist is 0.98 before calibration and 0.9994–1.0000 after.  The limit is the blur: it would halve the transfer at a 0.2–0.4 mm pitch, 250–500 actuators across this aperture (Gaussian estimate).</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four frames give, pixel by pixel, the field's projection on the reference wave (the dimple's core, modeled from the flat) in cosine and sine, hence the phase; then the matrix fit as for every gauge.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two images are the dimple's +90° and −90° readings; their difference and sum give the sine and cosine of the phase per pixel, with the amplitude taken from the pair — no reference amplitude from the flat; then the matrix fit.</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Reconstruction:</a:t>
            </a:r>
            <a:r>
              <a:rPr sz="1100" b="0">
                <a:solidFill>
                  <a:srgbClr val="282828"/>
                </a:solidFill>
                <a:latin typeface="Arial"/>
              </a:rPr>
              <a:t> the five-frame Schwider-Hariharan sums give the phase per pixel against the pinhole's reference, whose amplitude the shutter frame measures state by state; then the matrix fit.</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rcRect t="8640" b="10590"/>
          <a:stretch>
            <a:fillRect/>
          </a:stretch>
        </p:blipFill>
        <p:spPr>
          <a:xfrm>
            <a:off x="2779776" y="1325880"/>
            <a:ext cx="9336024" cy="1280160"/>
          </a:xfrm>
          <a:prstGeom prst="rect">
            <a:avLst/>
          </a:prstGeom>
        </p:spPr>
      </p:pic>
      <p:sp>
        <p:nvSpPr>
          <p:cNvPr id="5" name="TextBox 4"/>
          <p:cNvSpPr txBox="1"/>
          <p:nvPr/>
        </p:nvSpPr>
        <p:spPr>
          <a:xfrm>
            <a:off x="201168" y="1399032"/>
            <a:ext cx="2770632" cy="12197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rcRect t="10420" b="10400"/>
          <a:stretch>
            <a:fillRect/>
          </a:stretch>
        </p:blipFill>
        <p:spPr>
          <a:xfrm>
            <a:off x="2779776" y="2624328"/>
            <a:ext cx="9336024" cy="1289304"/>
          </a:xfrm>
          <a:prstGeom prst="rect">
            <a:avLst/>
          </a:prstGeom>
        </p:spPr>
      </p:pic>
      <p:sp>
        <p:nvSpPr>
          <p:cNvPr id="7" name="TextBox 6"/>
          <p:cNvSpPr txBox="1"/>
          <p:nvPr/>
        </p:nvSpPr>
        <p:spPr>
          <a:xfrm>
            <a:off x="201168" y="2660904"/>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rcRect t="10390" b="11610"/>
          <a:stretch>
            <a:fillRect/>
          </a:stretch>
        </p:blipFill>
        <p:spPr>
          <a:xfrm>
            <a:off x="2779776" y="3950208"/>
            <a:ext cx="9336024" cy="1261872"/>
          </a:xfrm>
          <a:prstGeom prst="rect">
            <a:avLst/>
          </a:prstGeom>
        </p:spPr>
      </p:pic>
      <p:sp>
        <p:nvSpPr>
          <p:cNvPr id="9" name="TextBox 8"/>
          <p:cNvSpPr txBox="1"/>
          <p:nvPr/>
        </p:nvSpPr>
        <p:spPr>
          <a:xfrm>
            <a:off x="201168" y="3959352"/>
            <a:ext cx="2770632" cy="10546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rcRect t="9290" b="12140"/>
          <a:stretch>
            <a:fillRect/>
          </a:stretch>
        </p:blipFill>
        <p:spPr>
          <a:xfrm>
            <a:off x="2779776" y="5248656"/>
            <a:ext cx="9336024" cy="1271016"/>
          </a:xfrm>
          <a:prstGeom prst="rect">
            <a:avLst/>
          </a:prstGeom>
        </p:spPr>
      </p:pic>
      <p:sp>
        <p:nvSpPr>
          <p:cNvPr id="11" name="TextBox 10"/>
          <p:cNvSpPr txBox="1"/>
          <p:nvPr/>
        </p:nvSpPr>
        <p:spPr>
          <a:xfrm>
            <a:off x="201168" y="5285232"/>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537960"/>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one DM command in all four; the 7.1 nm is a gain error the matrix absorbs (backup).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86100"/>
        </p:xfrm>
        <a:graphic>
          <a:graphicData uri="http://schemas.openxmlformats.org/drawingml/2006/table">
            <a:tbl>
              <a:tblPr firstRow="1" bandRow="1">
                <a:tableStyleId>{5C22544A-7EE6-4342-B048-85BDC9FD1C3A}</a:tableStyleId>
              </a:tblPr>
              <a:tblGrid>
                <a:gridCol w="4297226"/>
                <a:gridCol w="2202328"/>
                <a:gridCol w="2398268"/>
                <a:gridCol w="2470912"/>
              </a:tblGrid>
              <a:tr h="468630">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468630">
                <a:tc>
                  <a:txBody>
                    <a:bodyPr wrap="square"/>
                    <a:lstStyle/>
                    <a:p>
                      <a:r>
                        <a:rPr sz="1100" b="0">
                          <a:solidFill>
                            <a:srgbClr val="282828"/>
                          </a:solidFill>
                          <a:latin typeface="Arial"/>
                        </a:rPr>
                        <a:t>Zernike, linear one frame (1): the small-phase formula with the flat's reference</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468630">
                <a:tc>
                  <a:txBody>
                    <a:bodyPr wrap="square"/>
                    <a:lstStyle/>
                    <a:p>
                      <a:r>
                        <a:rPr sz="1100" b="0">
                          <a:solidFill>
                            <a:srgbClr val="282828"/>
                          </a:solidFill>
                          <a:latin typeface="Arial"/>
                        </a:rPr>
                        <a:t>Zernike, exact one frame (1): the exact per-pixel solve, the reference iterated</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750 pm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440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83844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Calibration removes the systematic errors; assessment of those it cannot</a:t>
            </a:r>
          </a:p>
          <a:p>
            <a:pPr>
              <a:spcAft>
                <a:spcPts val="0"/>
              </a:spcAft>
            </a:pPr>
            <a:r>
              <a:rPr sz="1250" b="0">
                <a:solidFill>
                  <a:srgbClr val="6E6E6E"/>
                </a:solidFill>
                <a:latin typeface="Arial"/>
              </a:rPr>
              <a:t>Every systematic we could model is either absorbed by the response matrix — measured through the sensor itself, one poke per actuator, on the working surface —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66335"/>
        </p:xfrm>
        <a:graphic>
          <a:graphicData uri="http://schemas.openxmlformats.org/drawingml/2006/table">
            <a:tbl>
              <a:tblPr firstRow="1" bandRow="1">
                <a:tableStyleId>{5C22544A-7EE6-4342-B048-85BDC9FD1C3A}</a:tableStyleId>
              </a:tblPr>
              <a:tblGrid>
                <a:gridCol w="1889760"/>
                <a:gridCol w="2203445"/>
                <a:gridCol w="3824849"/>
                <a:gridCol w="3450679"/>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response matrix is measured through the sensor on the working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Recommendations and conclusions</a:t>
            </a:r>
          </a:p>
          <a:p>
            <a:pPr>
              <a:spcAft>
                <a:spcPts val="0"/>
              </a:spcAft>
            </a:pPr>
            <a:r>
              <a:rPr sz="1250" b="0">
                <a:solidFill>
                  <a:srgbClr val="6E6E6E"/>
                </a:solidFill>
                <a:latin typeface="Arial"/>
              </a:rPr>
              <a:t>Hold with the vector Zernike sensor; capture with the interferometer, or with the stepped pinhole if a second arm is not wanted; either front end builds;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Hold with the ZWFS.</a:t>
            </a:r>
            <a:r>
              <a:rPr sz="1400" b="0">
                <a:solidFill>
                  <a:srgbClr val="282828"/>
                </a:solidFill>
                <a:latin typeface="Arial"/>
              </a:rPr>
              <a:t>  The polarized dimple is the best reading on every line: 3 pm from 2.2e12 photons per cycle, two frames at once, no stepping, no fold, no fixed error, every modeled systematic calibrated by the matrix measured through it.  Fallback: the stepped scalar dimple, no polarization optics, 1.6× the light.</a:t>
            </a:r>
          </a:p>
          <a:p>
            <a:pPr>
              <a:spcAft>
                <a:spcPts val="600"/>
              </a:spcAft>
            </a:pPr>
            <a:r>
              <a:rPr sz="1400" b="0">
                <a:solidFill>
                  <a:srgbClr val="282828"/>
                </a:solidFill>
                <a:latin typeface="Arial"/>
              </a:rPr>
              <a:t>•  </a:t>
            </a:r>
            <a:r>
              <a:rPr sz="1400" b="1">
                <a:solidFill>
                  <a:srgbClr val="282828"/>
                </a:solidFill>
                <a:latin typeface="Arial"/>
              </a:rPr>
              <a:t>Capture with the IFO or the stepped-pinhole PDI.</a:t>
            </a:r>
            <a:r>
              <a:rPr sz="1400" b="0">
                <a:solidFill>
                  <a:srgbClr val="282828"/>
                </a:solidFill>
                <a:latin typeface="Arial"/>
              </a:rPr>
              <a:t>  The interferometer brings 200–400 nm of wavefront to 3 pm in 19–24 cycles with unwrapping alone; in the common path the stepped pinhole with its shutter frame captures 200 nm with unwrapping and three recalibrations.  A second color is the sensors' own route (future work).</a:t>
            </a:r>
          </a:p>
          <a:p>
            <a:pPr>
              <a:spcAft>
                <a:spcPts val="600"/>
              </a:spcAft>
            </a:pPr>
            <a:r>
              <a:rPr sz="1400" b="0">
                <a:solidFill>
                  <a:srgbClr val="282828"/>
                </a:solidFill>
                <a:latin typeface="Arial"/>
              </a:rPr>
              <a:t>•  </a:t>
            </a:r>
            <a:r>
              <a:rPr sz="1400" b="1">
                <a:solidFill>
                  <a:srgbClr val="282828"/>
                </a:solidFill>
                <a:latin typeface="Arial"/>
              </a:rPr>
              <a:t>Build with either front end.</a:t>
            </a:r>
            <a:r>
              <a:rPr sz="1400" b="0">
                <a:solidFill>
                  <a:srgbClr val="282828"/>
                </a:solidFill>
                <a:latin typeface="Arial"/>
              </a:rPr>
              <a:t>  Mirrors match lenses on every row and in the servo (2.0e13 vs 2.3e13 photons per cycle), read 1 pm for 30 % fewer photons, capture faster, take any color with no glass in the beam; they cost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A testbed for four sensor architectures:</a:t>
            </a:r>
            <a:r>
              <a:rPr sz="1400" b="0">
                <a:solidFill>
                  <a:srgbClr val="282828"/>
                </a:solidFill>
                <a:latin typeface="Arial"/>
              </a:rPr>
              <a:t> one layout — reference arm shuttered, mask seat translated, quarter-wave plate in or out, the P/SRI arm behind a flip-in plate.  Capture with the interferometer, hand off inside the sensor's 60 nm reach, hold with the sensor at a tenth of the light.</a:t>
            </a:r>
          </a:p>
          <a:p>
            <a:pPr>
              <a:spcAft>
                <a:spcPts val="600"/>
              </a:spcAft>
            </a:pPr>
            <a:r>
              <a:rPr sz="1400" b="0">
                <a:solidFill>
                  <a:srgbClr val="282828"/>
                </a:solidFill>
                <a:latin typeface="Arial"/>
              </a:rPr>
              <a:t>•  </a:t>
            </a:r>
            <a:r>
              <a:rPr sz="1400" b="1">
                <a:solidFill>
                  <a:srgbClr val="282828"/>
                </a:solidFill>
                <a:latin typeface="Arial"/>
              </a:rPr>
              <a:t>A validation platform:</a:t>
            </a:r>
            <a:r>
              <a:rPr sz="1400" b="0">
                <a:solidFill>
                  <a:srgbClr val="282828"/>
                </a:solidFill>
                <a:latin typeface="Arial"/>
              </a:rPr>
              <a:t> in air, experience and model validation; in vacuum, DM and sensor performance at TRL 5–6.</a:t>
            </a:r>
          </a:p>
          <a:p>
            <a:pPr>
              <a:spcAft>
                <a:spcPts val="600"/>
              </a:spcAft>
            </a:pPr>
            <a:r>
              <a:rPr sz="1400" b="0">
                <a:solidFill>
                  <a:srgbClr val="282828"/>
                </a:solidFill>
                <a:latin typeface="Arial"/>
              </a:rPr>
              <a:t>•  </a:t>
            </a:r>
            <a:r>
              <a:rPr sz="1400" b="1">
                <a:solidFill>
                  <a:srgbClr val="282828"/>
                </a:solidFill>
                <a:latin typeface="Arial"/>
              </a:rPr>
              <a:t>What the numbers do not decide, experience will:</a:t>
            </a:r>
            <a:r>
              <a:rPr sz="14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 and proves both.</a:t>
            </a:r>
          </a:p>
          <a:p>
            <a:pPr>
              <a:spcAft>
                <a:spcPts val="600"/>
              </a:spcAft>
            </a:pPr>
            <a:r>
              <a:rPr sz="1400" b="0">
                <a:solidFill>
                  <a:srgbClr val="282828"/>
                </a:solidFill>
                <a:latin typeface="Arial"/>
              </a:rPr>
              <a:t>•  </a:t>
            </a:r>
            <a:r>
              <a:rPr sz="1400" b="1">
                <a:solidFill>
                  <a:srgbClr val="282828"/>
                </a:solidFill>
                <a:latin typeface="Arial"/>
              </a:rPr>
              <a:t>Technology still to develop:</a:t>
            </a:r>
            <a:r>
              <a:rPr sz="1400" b="0">
                <a:solidFill>
                  <a:srgbClr val="282828"/>
                </a:solidFill>
                <a:latin typeface="Arial"/>
              </a:rPr>
              <a:t> the geometric-phase metasurface dimple (retardance to 0.1 rad) and the polarization optics behind it (plate at λ/300, cube extinction); the polarization camera's calibration; the piezo step's repeatability (a 2 % step error costs 2.6 % of gain uncalibrated); the stepped pinhole's phase stepping and attenuator (no device physics yet); the P/SRI's photonic chip (coupling, loss, drift); the camera's within-scan drift at 1e-3 of signal; a second color for capture.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Capture beyond one wave with a second color:</a:t>
            </a:r>
            <a:r>
              <a:rPr sz="13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300" b="0">
                <a:solidFill>
                  <a:srgbClr val="282828"/>
                </a:solidFill>
                <a:latin typeface="Arial"/>
              </a:rPr>
              <a:t>•  </a:t>
            </a:r>
            <a:r>
              <a:rPr sz="1300" b="1">
                <a:solidFill>
                  <a:srgbClr val="282828"/>
                </a:solidFill>
                <a:latin typeface="Arial"/>
              </a:rPr>
              <a:t>From this model to as-built performance:</a:t>
            </a:r>
            <a:r>
              <a:rPr sz="13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300" b="0">
                <a:solidFill>
                  <a:srgbClr val="282828"/>
                </a:solidFill>
                <a:latin typeface="Arial"/>
              </a:rPr>
              <a:t>•  </a:t>
            </a:r>
            <a:r>
              <a:rPr sz="1300" b="1">
                <a:solidFill>
                  <a:srgbClr val="282828"/>
                </a:solidFill>
                <a:latin typeface="Arial"/>
              </a:rPr>
              <a:t>Other approaches worth a look:</a:t>
            </a:r>
            <a:r>
              <a:rPr sz="13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a:t>
            </a:r>
            <a:r>
              <a:rPr sz="1300" b="1">
                <a:solidFill>
                  <a:srgbClr val="282828"/>
                </a:solidFill>
                <a:latin typeface="Arial"/>
              </a:rPr>
              <a:t>Interferometer</a:t>
            </a:r>
            <a:r>
              <a:rPr sz="1300" b="0">
                <a:solidFill>
                  <a:srgbClr val="282828"/>
                </a:solidFill>
                <a:latin typeface="Arial"/>
              </a:rPr>
              <a:t> (tg_psi_dm96_oap): tg96_run (lens rig); tg96_run('bench.optics','oap') (mirror rig); batch: ./tg96_batch.sh TAG "'stages',{'bench','loop','figs'}".</a:t>
            </a:r>
          </a:p>
          <a:p>
            <a:pPr>
              <a:spcAft>
                <a:spcPts val="600"/>
              </a:spcAft>
            </a:pPr>
            <a:r>
              <a:rPr sz="1300" b="0">
                <a:solidFill>
                  <a:srgbClr val="282828"/>
                </a:solidFill>
                <a:latin typeface="Arial"/>
              </a:rPr>
              <a:t>•  </a:t>
            </a:r>
            <a:r>
              <a:rPr sz="1300" b="1">
                <a:solidFill>
                  <a:srgbClr val="282828"/>
                </a:solidFill>
                <a:latin typeface="Arial"/>
              </a:rPr>
              <a:t>Pupil image</a:t>
            </a:r>
            <a:r>
              <a:rPr sz="1300" b="0">
                <a:solidFill>
                  <a:srgbClr val="282828"/>
                </a:solidFill>
                <a:latin typeface="Arial"/>
              </a:rPr>
              <a:t> (tg_psi_dm96_oap): tg96_pupilq('rig','lens'), tg96_pupilsim('rig','oap'); both tools, both rigs: ./tg96_pupil_batch.sh both.</a:t>
            </a:r>
          </a:p>
          <a:p>
            <a:pPr>
              <a:spcAft>
                <a:spcPts val="600"/>
              </a:spcAft>
            </a:pPr>
            <a:r>
              <a:rPr sz="1300" b="0">
                <a:solidFill>
                  <a:srgbClr val="282828"/>
                </a:solidFill>
                <a:latin typeface="Arial"/>
              </a:rPr>
              <a:t>•  </a:t>
            </a:r>
            <a:r>
              <a:rPr sz="1300" b="1">
                <a:solidFill>
                  <a:srgbClr val="282828"/>
                </a:solidFill>
                <a:latin typeface="Arial"/>
              </a:rPr>
              <a:t>Zernike sensors</a:t>
            </a:r>
            <a:r>
              <a:rPr sz="13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300" b="0">
                <a:solidFill>
                  <a:srgbClr val="282828"/>
                </a:solidFill>
                <a:latin typeface="Arial"/>
              </a:rPr>
              <a:t>•  </a:t>
            </a:r>
            <a:r>
              <a:rPr sz="1300" b="1">
                <a:solidFill>
                  <a:srgbClr val="282828"/>
                </a:solidFill>
                <a:latin typeface="Arial"/>
              </a:rPr>
              <a:t>Point-diffraction</a:t>
            </a:r>
            <a:r>
              <a:rPr sz="1300" b="0">
                <a:solidFill>
                  <a:srgbClr val="282828"/>
                </a:solidFill>
                <a:latin typeface="Arial"/>
              </a:rPr>
              <a:t> (pdi_dm96): P = pdi_params; out = pdi_run(P);; pdi_run('pdi.DIA_LAMD',1.0,'stages',{'bench','battery','figs'}).</a:t>
            </a:r>
          </a:p>
          <a:p>
            <a:pPr>
              <a:spcAft>
                <a:spcPts val="600"/>
              </a:spcAft>
            </a:pPr>
            <a:r>
              <a:rPr sz="1300" b="0">
                <a:solidFill>
                  <a:srgbClr val="282828"/>
                </a:solidFill>
                <a:latin typeface="Arial"/>
              </a:rPr>
              <a:t>•  </a:t>
            </a:r>
            <a:r>
              <a:rPr sz="1300" b="1">
                <a:solidFill>
                  <a:srgbClr val="282828"/>
                </a:solidFill>
                <a:latin typeface="Arial"/>
              </a:rPr>
              <a:t>Where:</a:t>
            </a:r>
            <a:r>
              <a:rPr sz="1300" b="0">
                <a:solidFill>
                  <a:srgbClr val="282828"/>
                </a:solidFill>
                <a:latin typeface="Arial"/>
              </a:rPr>
              <a:t> github nasa-jpl/macos and nasa-jpl/MACOS_resources: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320040" y="5486400"/>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Reflective front end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imager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DM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9005"/>
        </p:xfrm>
        <a:graphic>
          <a:graphicData uri="http://schemas.openxmlformats.org/drawingml/2006/table">
            <a:tbl>
              <a:tblPr firstRow="1" bandRow="1">
                <a:tableStyleId>{5C22544A-7EE6-4342-B048-85BDC9FD1C3A}</a:tableStyleId>
              </a:tblPr>
              <a:tblGrid>
                <a:gridCol w="291592"/>
                <a:gridCol w="3293204"/>
                <a:gridCol w="7783938"/>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65722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iterated nonlinear solve (row 5 on the previous slide; this deck's exact one-frame Zernike reading).</a:t>
                      </a:r>
                    </a:p>
                  </a:txBody>
                  <a:tcPr marL="54864" marR="54864" marT="18288" marB="18288">
                    <a:solidFill>
                      <a:srgbClr val="FFFFFF"/>
                    </a:solidFill>
                  </a:tcPr>
                </a:tc>
              </a:tr>
              <a:tr h="65722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91375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each gauge was modeled, step by step</a:t>
            </a:r>
          </a:p>
          <a:p>
            <a:pPr>
              <a:spcAft>
                <a:spcPts val="0"/>
              </a:spcAft>
            </a:pPr>
            <a:r>
              <a:rPr sz="1250" b="0">
                <a:solidFill>
                  <a:srgbClr val="6E6E6E"/>
                </a:solidFill>
                <a:latin typeface="Arial"/>
              </a:rPr>
              <a:t>What was built, checked, calibrated and measured for each approach, in the order it was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5349240"/>
        </p:xfrm>
        <a:graphic>
          <a:graphicData uri="http://schemas.openxmlformats.org/drawingml/2006/table">
            <a:tbl>
              <a:tblPr firstRow="1" bandRow="1">
                <a:tableStyleId>{5C22544A-7EE6-4342-B048-85BDC9FD1C3A}</a:tableStyleId>
              </a:tblPr>
              <a:tblGrid>
                <a:gridCol w="2107692"/>
                <a:gridCol w="2717014"/>
                <a:gridCol w="3711044"/>
                <a:gridCol w="2832984"/>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a:t>
                      </a:r>
                    </a:p>
                  </a:txBody>
                  <a:tcPr marL="54864" marR="54864" marT="18288" marB="18288">
                    <a:solidFill>
                      <a:srgbClr val="1F4E79"/>
                    </a:solidFill>
                  </a:tcPr>
                </a:tc>
                <a:tc>
                  <a:txBody>
                    <a:bodyPr wrap="square"/>
                    <a:lstStyle/>
                    <a:p>
                      <a:r>
                        <a:rPr sz="1100" b="1">
                          <a:solidFill>
                            <a:srgbClr val="FFFFFF"/>
                          </a:solidFill>
                          <a:latin typeface="Arial"/>
                        </a:rPr>
                        <a:t>Zernike sensors, scalar and vector</a:t>
                      </a:r>
                    </a:p>
                  </a:txBody>
                  <a:tcPr marL="54864" marR="54864" marT="18288" marB="18288">
                    <a:solidFill>
                      <a:srgbClr val="1F4E79"/>
                    </a:solidFill>
                  </a:tcPr>
                </a:tc>
                <a:tc>
                  <a:txBody>
                    <a:bodyPr wrap="square"/>
                    <a:lstStyle/>
                    <a:p>
                      <a:r>
                        <a:rPr sz="1100" b="1">
                          <a:solidFill>
                            <a:srgbClr val="FFFFFF"/>
                          </a:solidFill>
                          <a:latin typeface="Arial"/>
                        </a:rPr>
                        <a:t>point-diffraction sensor</a:t>
                      </a:r>
                    </a:p>
                  </a:txBody>
                  <a:tcPr marL="54864" marR="54864" marT="18288" marB="18288">
                    <a:solidFill>
                      <a:srgbClr val="1F4E79"/>
                    </a:solidFill>
                  </a:tcPr>
                </a:tc>
              </a:tr>
              <a:tr h="1034415">
                <a:tc>
                  <a:txBody>
                    <a:bodyPr wrap="square"/>
                    <a:lstStyle/>
                    <a:p>
                      <a:r>
                        <a:rPr sz="1100" b="0">
                          <a:solidFill>
                            <a:srgbClr val="282828"/>
                          </a:solidFill>
                          <a:latin typeface="Arial"/>
                        </a:rPr>
                        <a:t>model, checked</a:t>
                      </a:r>
                    </a:p>
                  </a:txBody>
                  <a:tcPr marL="54864" marR="54864" marT="18288" marB="18288">
                    <a:solidFill>
                      <a:srgbClr val="FFFFFF"/>
                    </a:solidFill>
                  </a:tcPr>
                </a:tc>
                <a:tc>
                  <a:txBody>
                    <a:bodyPr wrap="square"/>
                    <a:lstStyle/>
                    <a:p>
                      <a:r>
                        <a:rPr sz="1100" b="0">
                          <a:solidFill>
                            <a:srgbClr val="282828"/>
                          </a:solidFill>
                          <a:latin typeface="Arial"/>
                        </a:rPr>
                        <a:t>the layout solved for clearance and sampling; both arms built and traced; the detector leg focused; the phase difference wrapped, never two absolute maps subtracted</a:t>
                      </a:r>
                    </a:p>
                  </a:txBody>
                  <a:tcPr marL="54864" marR="54864" marT="18288" marB="18288">
                    <a:solidFill>
                      <a:srgbClr val="FFFFFF"/>
                    </a:solidFill>
                  </a:tcPr>
                </a:tc>
                <a:tc>
                  <a:txBody>
                    <a:bodyPr wrap="square"/>
                    <a:lstStyle/>
                    <a:p>
                      <a:r>
                        <a:rPr sz="1100" b="0">
                          <a:solidFill>
                            <a:srgbClr val="282828"/>
                          </a:solidFill>
                          <a:latin typeface="Arial"/>
                        </a:rPr>
                        <a:t>the mask at the internal focus inside a pair of reference spheres (the correction that made the model exact); checks: the mask round-trips the field, the modeled reference wave equals the engine's, the flat mirror reads zero</a:t>
                      </a:r>
                    </a:p>
                  </a:txBody>
                  <a:tcPr marL="54864" marR="54864" marT="18288" marB="18288">
                    <a:solidFill>
                      <a:srgbClr val="FFFFFF"/>
                    </a:solidFill>
                  </a:tcPr>
                </a:tc>
                <a:tc>
                  <a:txBody>
                    <a:bodyPr wrap="square"/>
                    <a:lstStyle/>
                    <a:p>
                      <a:r>
                        <a:rPr sz="1100" b="0">
                          <a:solidFill>
                            <a:srgbClr val="282828"/>
                          </a:solidFill>
                          <a:latin typeface="Arial"/>
                        </a:rPr>
                        <a:t>the pinhole in the same seat; a check that at full transmission it reproduces the stepped Zernike reading exactly; the P/SRI's reference arm traced as its own prescription</a:t>
                      </a:r>
                    </a:p>
                  </a:txBody>
                  <a:tcPr marL="54864" marR="54864" marT="18288" marB="18288">
                    <a:solidFill>
                      <a:srgbClr val="FFFFFF"/>
                    </a:solidFill>
                  </a:tcPr>
                </a:tc>
              </a:tr>
              <a:tr h="657225">
                <a:tc>
                  <a:txBody>
                    <a:bodyPr wrap="square"/>
                    <a:lstStyle/>
                    <a:p>
                      <a:r>
                        <a:rPr sz="1100" b="0">
                          <a:solidFill>
                            <a:srgbClr val="282828"/>
                          </a:solidFill>
                          <a:latin typeface="Arial"/>
                        </a:rPr>
                        <a:t>calibration, three readings</a:t>
                      </a:r>
                    </a:p>
                  </a:txBody>
                  <a:tcPr marL="54864" marR="54864" marT="18288" marB="18288">
                    <a:solidFill>
                      <a:srgbClr val="ECF1F6"/>
                    </a:solidFill>
                  </a:tcPr>
                </a:tc>
                <a:tc>
                  <a:txBody>
                    <a:bodyPr wrap="square"/>
                    <a:lstStyle/>
                    <a:p>
                      <a:r>
                        <a:rPr sz="1100" b="0">
                          <a:solidFill>
                            <a:srgbClr val="282828"/>
                          </a:solidFill>
                          <a:latin typeface="Arial"/>
                        </a:rPr>
                        <a:t>the response matrix measured on the 30 nm surface; one actuator, a 52-site grid, a dense random pattern</a:t>
                      </a:r>
                    </a:p>
                  </a:txBody>
                  <a:tcPr marL="54864" marR="54864" marT="18288" marB="18288">
                    <a:solidFill>
                      <a:srgbClr val="ECF1F6"/>
                    </a:solidFill>
                  </a:tcPr>
                </a:tc>
                <a:tc>
                  <a:txBody>
                    <a:bodyPr wrap="square"/>
                    <a:lstStyle/>
                    <a:p>
                      <a:r>
                        <a:rPr sz="1100" b="0">
                          <a:solidFill>
                            <a:srgbClr val="282828"/>
                          </a:solidFill>
                          <a:latin typeface="Arial"/>
                        </a:rPr>
                        <a:t>the same matrix and the same three measurements, for the one-frame, stepped and vector readings</a:t>
                      </a:r>
                    </a:p>
                  </a:txBody>
                  <a:tcPr marL="54864" marR="54864" marT="18288" marB="18288">
                    <a:solidFill>
                      <a:srgbClr val="ECF1F6"/>
                    </a:solidFill>
                  </a:tcPr>
                </a:tc>
                <a:tc>
                  <a:txBody>
                    <a:bodyPr wrap="square"/>
                    <a:lstStyle/>
                    <a:p>
                      <a:r>
                        <a:rPr sz="1100" b="0">
                          <a:solidFill>
                            <a:srgbClr val="282828"/>
                          </a:solidFill>
                          <a:latin typeface="Arial"/>
                        </a:rPr>
                        <a:t>the same, for the stepped pinhole (five-frame scan plus shutter frame) and the P/SRI</a:t>
                      </a:r>
                    </a:p>
                  </a:txBody>
                  <a:tcPr marL="54864" marR="54864" marT="18288" marB="18288">
                    <a:solidFill>
                      <a:srgbClr val="ECF1F6"/>
                    </a:solidFill>
                  </a:tcPr>
                </a:tc>
              </a:tr>
              <a:tr h="657225">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the calibration left as made at 30 nm while the surface grows to 480 nm; re-measured to 160 nm; photons at each</a:t>
                      </a:r>
                    </a:p>
                  </a:txBody>
                  <a:tcPr marL="54864" marR="54864" marT="18288" marB="18288">
                    <a:solidFill>
                      <a:srgbClr val="FFFFFF"/>
                    </a:solidFill>
                  </a:tcPr>
                </a:tc>
                <a:tc>
                  <a:txBody>
                    <a:bodyPr wrap="square"/>
                    <a:lstStyle/>
                    <a:p>
                      <a:r>
                        <a:rPr sz="1100" b="0">
                          <a:solidFill>
                            <a:srgbClr val="282828"/>
                          </a:solidFill>
                          <a:latin typeface="Arial"/>
                        </a:rPr>
                        <a:t>the same ladder, with the photon cost at each rung</a:t>
                      </a:r>
                    </a:p>
                  </a:txBody>
                  <a:tcPr marL="54864" marR="54864" marT="18288" marB="18288">
                    <a:solidFill>
                      <a:srgbClr val="FFFFFF"/>
                    </a:solidFill>
                  </a:tcPr>
                </a:tc>
                <a:tc>
                  <a:txBody>
                    <a:bodyPr wrap="square"/>
                    <a:lstStyle/>
                    <a:p>
                      <a:r>
                        <a:rPr sz="1100" b="0">
                          <a:solidFill>
                            <a:srgbClr val="282828"/>
                          </a:solidFill>
                          <a:latin typeface="Arial"/>
                        </a:rPr>
                        <a:t>the same; the shutter frame carries it to 480 nm</a:t>
                      </a:r>
                    </a:p>
                  </a:txBody>
                  <a:tcPr marL="54864" marR="54864" marT="18288" marB="18288">
                    <a:solidFill>
                      <a:srgbClr val="FFFFFF"/>
                    </a:solidFill>
                  </a:tcPr>
                </a:tc>
              </a:tr>
              <a:tr h="468630">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photons for 1 pm from a noise fit, and in the servo</a:t>
                      </a:r>
                    </a:p>
                  </a:txBody>
                  <a:tcPr marL="54864" marR="54864" marT="18288" marB="18288">
                    <a:solidFill>
                      <a:srgbClr val="ECF1F6"/>
                    </a:solidFill>
                  </a:tcPr>
                </a:tc>
                <a:tc>
                  <a:txBody>
                    <a:bodyPr wrap="square"/>
                    <a:lstStyle/>
                    <a:p>
                      <a:r>
                        <a:rPr sz="1100" b="0">
                          <a:solidFill>
                            <a:srgbClr val="282828"/>
                          </a:solidFill>
                          <a:latin typeface="Arial"/>
                        </a:rPr>
                        <a:t>photons for 1 pm on the flat and on the surface</a:t>
                      </a:r>
                    </a:p>
                  </a:txBody>
                  <a:tcPr marL="54864" marR="54864" marT="18288" marB="18288">
                    <a:solidFill>
                      <a:srgbClr val="ECF1F6"/>
                    </a:solidFill>
                  </a:tcPr>
                </a:tc>
                <a:tc>
                  <a:txBody>
                    <a:bodyPr wrap="square"/>
                    <a:lstStyle/>
                    <a:p>
                      <a:r>
                        <a:rPr sz="1100" b="0">
                          <a:solidFill>
                            <a:srgbClr val="282828"/>
                          </a:solidFill>
                          <a:latin typeface="Arial"/>
                        </a:rPr>
                        <a:t>the same; pinhole 2.0 against 1.0 λF/D</a:t>
                      </a:r>
                    </a:p>
                  </a:txBody>
                  <a:tcPr marL="54864" marR="54864" marT="18288" marB="18288">
                    <a:solidFill>
                      <a:srgbClr val="ECF1F6"/>
                    </a:solidFill>
                  </a:tcPr>
                </a:tc>
              </a:tr>
              <a:tr h="845820">
                <a:tc>
                  <a:txBody>
                    <a:bodyPr wrap="square"/>
                    <a:lstStyle/>
                    <a:p>
                      <a:r>
                        <a:rPr sz="1100" b="0">
                          <a:solidFill>
                            <a:srgbClr val="282828"/>
                          </a:solidFill>
                          <a:latin typeface="Arial"/>
                        </a:rPr>
                        <a:t>servo</a:t>
                      </a:r>
                    </a:p>
                  </a:txBody>
                  <a:tcPr marL="54864" marR="54864" marT="18288" marB="18288">
                    <a:solidFill>
                      <a:srgbClr val="FFFFFF"/>
                    </a:solidFill>
                  </a:tcPr>
                </a:tc>
                <a:tc>
                  <a:txBody>
                    <a:bodyPr wrap="square"/>
                    <a:lstStyle/>
                    <a:p>
                      <a:r>
                        <a:rPr sz="1100" b="0">
                          <a:solidFill>
                            <a:srgbClr val="282828"/>
                          </a:solidFill>
                          <a:latin typeface="Arial"/>
                        </a:rPr>
                        <a:t>the shared 60-cycle loop under noise, a random walk, a thermal ramp, a step; the piezo's step error;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the same loop; camera drift in its forms</a:t>
                      </a:r>
                    </a:p>
                  </a:txBody>
                  <a:tcPr marL="54864" marR="54864" marT="18288" marB="18288">
                    <a:solidFill>
                      <a:srgbClr val="FFFFFF"/>
                    </a:solidFill>
                  </a:tcPr>
                </a:tc>
                <a:tc>
                  <a:txBody>
                    <a:bodyPr wrap="square"/>
                    <a:lstStyle/>
                    <a:p>
                      <a:r>
                        <a:rPr sz="1100" b="0">
                          <a:solidFill>
                            <a:srgbClr val="282828"/>
                          </a:solidFill>
                          <a:latin typeface="Arial"/>
                        </a:rPr>
                        <a:t>the same loop; drift within a scan; the reference arm's own motion</a:t>
                      </a:r>
                    </a:p>
                  </a:txBody>
                  <a:tcPr marL="54864" marR="54864" marT="18288" marB="18288">
                    <a:solidFill>
                      <a:srgbClr val="FFFFFF"/>
                    </a:solidFill>
                  </a:tcPr>
                </a:tc>
              </a:tr>
              <a:tr h="468630">
                <a:tc>
                  <a:txBody>
                    <a:bodyPr wrap="square"/>
                    <a:lstStyle/>
                    <a:p>
                      <a:r>
                        <a:rPr sz="1100" b="0">
                          <a:solidFill>
                            <a:srgbClr val="282828"/>
                          </a:solidFill>
                          <a:latin typeface="Arial"/>
                        </a:rPr>
                        <a:t>large-figure capture</a:t>
                      </a:r>
                    </a:p>
                  </a:txBody>
                  <a:tcPr marL="54864" marR="54864" marT="18288" marB="18288">
                    <a:solidFill>
                      <a:srgbClr val="ECF1F6"/>
                    </a:solidFill>
                  </a:tcPr>
                </a:tc>
                <a:tc>
                  <a:txBody>
                    <a:bodyPr wrap="square"/>
                    <a:lstStyle/>
                    <a:p>
                      <a:r>
                        <a:rPr sz="1100" b="0">
                          <a:solidFill>
                            <a:srgbClr val="282828"/>
                          </a:solidFill>
                          <a:latin typeface="Arial"/>
                        </a:rPr>
                        <a:t>unwrapping alone, from 60 to 300 nm starts</a:t>
                      </a:r>
                    </a:p>
                  </a:txBody>
                  <a:tcPr marL="54864" marR="54864" marT="18288" marB="18288">
                    <a:solidFill>
                      <a:srgbClr val="ECF1F6"/>
                    </a:solidFill>
                  </a:tcPr>
                </a:tc>
                <a:tc>
                  <a:txBody>
                    <a:bodyPr wrap="square"/>
                    <a:lstStyle/>
                    <a:p>
                      <a:r>
                        <a:rPr sz="1100" b="0">
                          <a:solidFill>
                            <a:srgbClr val="282828"/>
                          </a:solidFill>
                          <a:latin typeface="Arial"/>
                        </a:rPr>
                        <a:t>the self-referenced readings tried from each start: blind past 60 nm</a:t>
                      </a:r>
                    </a:p>
                  </a:txBody>
                  <a:tcPr marL="54864" marR="54864" marT="18288" marB="18288">
                    <a:solidFill>
                      <a:srgbClr val="ECF1F6"/>
                    </a:solidFill>
                  </a:tcPr>
                </a:tc>
                <a:tc>
                  <a:txBody>
                    <a:bodyPr wrap="square"/>
                    <a:lstStyle/>
                    <a:p>
                      <a:r>
                        <a:rPr sz="1100" b="0">
                          <a:solidFill>
                            <a:srgbClr val="282828"/>
                          </a:solidFill>
                          <a:latin typeface="Arial"/>
                        </a:rPr>
                        <a:t>unwrapping with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the parabolas' seating</a:t>
                      </a:r>
                    </a:p>
                  </a:txBody>
                  <a:tcPr marL="54864" marR="54864" marT="18288" marB="18288">
                    <a:solidFill>
                      <a:srgbClr val="FFFFFF"/>
                    </a:solidFill>
                  </a:tcPr>
                </a:tc>
                <a:tc>
                  <a:txBody>
                    <a:bodyPr wrap="square"/>
                    <a:lstStyle/>
                    <a:p>
                      <a:r>
                        <a:rPr sz="1100" b="0">
                          <a:solidFill>
                            <a:srgbClr val="282828"/>
                          </a:solidFill>
                          <a:latin typeface="Arial"/>
                        </a:rPr>
                        <a:t>metasurface retardance, the arm's polarization, the analyzer, the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parts</a:t>
                      </a:r>
                    </a:p>
                  </a:txBody>
                  <a:tcPr marL="54864" marR="54864" marT="18288" marB="18288">
                    <a:solidFill>
                      <a:srgbClr val="ECF1F6"/>
                    </a:solidFill>
                  </a:tcPr>
                </a:tc>
                <a:tc>
                  <a:txBody>
                    <a:bodyPr wrap="square"/>
                    <a:lstStyle/>
                    <a:p>
                      <a:r>
                        <a:rPr sz="1100" b="0">
                          <a:solidFill>
                            <a:srgbClr val="282828"/>
                          </a:solidFill>
                          <a:latin typeface="Arial"/>
                        </a:rPr>
                        <a:t>the engine's own renders: train, splitter node, detector leg</a:t>
                      </a:r>
                    </a:p>
                  </a:txBody>
                  <a:tcPr marL="54864" marR="54864" marT="18288" marB="18288">
                    <a:solidFill>
                      <a:srgbClr val="ECF1F6"/>
                    </a:solidFill>
                  </a:tcPr>
                </a:tc>
                <a:tc>
                  <a:txBody>
                    <a:bodyPr wrap="square"/>
                    <a:lstStyle/>
                    <a:p>
                      <a:r>
                        <a:rPr sz="1100" b="0">
                          <a:solidFill>
                            <a:srgbClr val="282828"/>
                          </a:solidFill>
                          <a:latin typeface="Arial"/>
                        </a:rPr>
                        <a:t>both camera channels traced; the bench clearance check</a:t>
                      </a:r>
                    </a:p>
                  </a:txBody>
                  <a:tcPr marL="54864" marR="54864" marT="18288" marB="18288">
                    <a:solidFill>
                      <a:srgbClr val="ECF1F6"/>
                    </a:solidFill>
                  </a:tcPr>
                </a:tc>
                <a:tc>
                  <a:txBody>
                    <a:bodyPr wrap="square"/>
                    <a:lstStyle/>
                    <a:p>
                      <a:r>
                        <a:rPr sz="1100" b="0">
                          <a:solidFill>
                            <a:srgbClr val="282828"/>
                          </a:solidFill>
                          <a:latin typeface="Arial"/>
                        </a:rPr>
                        <a:t>pinhole and P/SRI layouts</a:t>
                      </a:r>
                    </a:p>
                  </a:txBody>
                  <a:tcPr marL="54864" marR="54864" marT="18288" marB="18288">
                    <a:solidFill>
                      <a:srgbClr val="ECF1F6"/>
                    </a:solidFill>
                  </a:tcPr>
                </a:tc>
              </a:tr>
            </a:tbl>
          </a:graphicData>
        </a:graphic>
      </p:graphicFrame>
      <p:sp>
        <p:nvSpPr>
          <p:cNvPr id="5" name="TextBox 4"/>
          <p:cNvSpPr txBox="1"/>
          <p:nvPr/>
        </p:nvSpPr>
        <p:spPr>
          <a:xfrm>
            <a:off x="411480" y="6510528"/>
            <a:ext cx="11384280" cy="274320"/>
          </a:xfrm>
          <a:prstGeom prst="rect">
            <a:avLst/>
          </a:prstGeom>
          <a:noFill/>
        </p:spPr>
        <p:txBody>
          <a:bodyPr wrap="square">
            <a:spAutoFit/>
          </a:bodyPr>
          <a:lstStyle/>
          <a:p>
            <a:pPr>
              <a:spcAft>
                <a:spcPts val="600"/>
              </a:spcAft>
            </a:pPr>
            <a:r>
              <a:rPr sz="1050" b="0">
                <a:solidFill>
                  <a:srgbClr val="6E6E6E"/>
                </a:solidFill>
                <a:latin typeface="Arial"/>
              </a:rPr>
              <a:t>Tools: tg96_run, zwfs_run, pdi_run over zwfs_run and the shared dm_gauge_lib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