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driven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p>
        </p:txBody>
      </p:sp>
      <p:sp>
        <p:nvSpPr>
          <p:cNvPr id="6" name="TextBox 5"/>
          <p:cNvSpPr txBox="1"/>
          <p:nvPr/>
        </p:nvSpPr>
        <p:spPr>
          <a:xfrm>
            <a:off x="457200" y="630936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  Raw-map rows: the station figures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749808" y="1216152"/>
            <a:ext cx="4718304" cy="2350008"/>
          </a:xfrm>
          <a:prstGeom prst="rect">
            <a:avLst/>
          </a:prstGeom>
        </p:spPr>
      </p:pic>
      <p:sp>
        <p:nvSpPr>
          <p:cNvPr id="5" name="TextBox 4"/>
          <p:cNvSpPr txBox="1"/>
          <p:nvPr/>
        </p:nvSpPr>
        <p:spPr>
          <a:xfrm>
            <a:off x="365760" y="3419856"/>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p>
        </p:txBody>
      </p:sp>
      <p:pic>
        <p:nvPicPr>
          <p:cNvPr id="6" name="Picture 5" descr="crop_lay96_oap_train.png"/>
          <p:cNvPicPr>
            <a:picLocks noChangeAspect="1"/>
          </p:cNvPicPr>
          <p:nvPr/>
        </p:nvPicPr>
        <p:blipFill>
          <a:blip r:embed="rId3"/>
          <a:stretch>
            <a:fillRect/>
          </a:stretch>
        </p:blipFill>
        <p:spPr>
          <a:xfrm>
            <a:off x="7680960" y="1298448"/>
            <a:ext cx="2322576" cy="2121408"/>
          </a:xfrm>
          <a:prstGeom prst="rect">
            <a:avLst/>
          </a:prstGeom>
        </p:spPr>
      </p:pic>
      <p:sp>
        <p:nvSpPr>
          <p:cNvPr id="7" name="TextBox 6"/>
          <p:cNvSpPr txBox="1"/>
          <p:nvPr/>
        </p:nvSpPr>
        <p:spPr>
          <a:xfrm>
            <a:off x="6355080" y="3419856"/>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38912" y="4151376"/>
          <a:ext cx="11365991" cy="2628900"/>
        </p:xfrm>
        <a:graphic>
          <a:graphicData uri="http://schemas.openxmlformats.org/drawingml/2006/table">
            <a:tbl>
              <a:tblPr firstRow="1" bandRow="1">
                <a:tableStyleId>{5C22544A-7EE6-4342-B048-85BDC9FD1C3A}</a:tableStyleId>
              </a:tblPr>
              <a:tblGrid>
                <a:gridCol w="1235964"/>
                <a:gridCol w="3634574"/>
                <a:gridCol w="649545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2050"/>
        </p:xfrm>
        <a:graphic>
          <a:graphicData uri="http://schemas.openxmlformats.org/drawingml/2006/table">
            <a:tbl>
              <a:tblPr firstRow="1" bandRow="1">
                <a:tableStyleId>{5C22544A-7EE6-4342-B048-85BDC9FD1C3A}</a:tableStyleId>
              </a:tblPr>
              <a:tblGrid>
                <a:gridCol w="2398268"/>
                <a:gridCol w="4149491"/>
                <a:gridCol w="2325624"/>
                <a:gridCol w="509524"/>
                <a:gridCol w="1985827"/>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−0.583), 5 mm center; OAP1 parent f 757 mm, 551 mm off-axis, 20° fold, 113 mm</a:t>
                      </a:r>
                    </a:p>
                  </a:txBody>
                  <a:tcPr marL="54864" marR="54864" marT="18288" marB="18288">
                    <a:solidFill>
                      <a:srgbClr val="ECF1F6"/>
                    </a:solidFill>
                  </a:tcPr>
                </a:tc>
                <a:tc>
                  <a:txBody>
                    <a:bodyPr wrap="square"/>
                    <a:lstStyle/>
                    <a:p>
                      <a:r>
                        <a:rPr sz="1100" b="0">
                          <a:solidFill>
                            <a:srgbClr val="282828"/>
                          </a:solidFill>
                          <a:latin typeface="Arial"/>
                        </a:rPr>
                        <a:t>L1 AR;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 compensator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flat null 0.13 → 20 nm); a matched plate in the mirror leg</a:t>
                      </a:r>
                    </a:p>
                  </a:txBody>
                  <a:tcPr marL="54864" marR="54864" marT="18288" marB="18288">
                    <a:solidFill>
                      <a:srgbClr val="FFFFFF"/>
                    </a:solidFill>
                  </a:tcPr>
                </a:tc>
                <a:tc>
                  <a:txBody>
                    <a:bodyPr wrap="square"/>
                    <a:lstStyle/>
                    <a:p>
                      <a:r>
                        <a:rPr sz="1100" b="0">
                          <a:solidFill>
                            <a:srgbClr val="282828"/>
                          </a:solidFill>
                          <a:latin typeface="Arial"/>
                        </a:rPr>
                        <a:t>50/50 front, AR back; AR</a:t>
                      </a:r>
                    </a:p>
                  </a:txBody>
                  <a:tcPr marL="54864" marR="54864" marT="18288" marB="18288">
                    <a:solidFill>
                      <a:srgbClr val="FFFFFF"/>
                    </a:solidFill>
                  </a:tcPr>
                </a:tc>
                <a:tc>
                  <a:txBody>
                    <a:bodyPr wrap="square"/>
                    <a:lstStyle/>
                    <a:p>
                      <a:r>
                        <a:rPr sz="1100" b="0">
                          <a:solidFill>
                            <a:srgbClr val="282828"/>
                          </a:solidFill>
                          <a:latin typeface="Arial"/>
                        </a:rPr>
                        <a:t>1 + 1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 balances the glass path</a:t>
                      </a:r>
                    </a:p>
                  </a:txBody>
                  <a:tcPr marL="54864" marR="54864" marT="18288" marB="18288">
                    <a:solidFill>
                      <a:srgbClr val="FFFFFF"/>
                    </a:solidFill>
                  </a:tcPr>
                </a:tc>
              </a:tr>
              <a:tr h="657225">
                <a:tc>
                  <a:txBody>
                    <a:bodyPr wrap="square"/>
                    <a:lstStyle/>
                    <a:p>
                      <a:r>
                        <a:rPr sz="1100" b="0">
                          <a:solidFill>
                            <a:srgbClr val="282828"/>
                          </a:solidFill>
                          <a:latin typeface="Arial"/>
                        </a:rPr>
                        <a:t>deformable mirror; its aperture</a:t>
                      </a:r>
                    </a:p>
                  </a:txBody>
                  <a:tcPr marL="54864" marR="54864" marT="18288" marB="18288">
                    <a:solidFill>
                      <a:srgbClr val="ECF1F6"/>
                    </a:solidFill>
                  </a:tcPr>
                </a:tc>
                <a:tc>
                  <a:txBody>
                    <a:bodyPr wrap="square"/>
                    <a:lstStyle/>
                    <a:p>
                      <a:r>
                        <a:rPr sz="1100" b="0">
                          <a:solidFill>
                            <a:srgbClr val="282828"/>
                          </a:solidFill>
                          <a:latin typeface="Arial"/>
                        </a:rPr>
                        <a:t>96 × 96, 1 mm pitch, 96 mm, 700 mm leg; the 96 mm aperture at the actuator footprint</a:t>
                      </a:r>
                    </a:p>
                  </a:txBody>
                  <a:tcPr marL="54864" marR="54864" marT="18288" marB="18288">
                    <a:solidFill>
                      <a:srgbClr val="ECF1F6"/>
                    </a:solidFill>
                  </a:tcPr>
                </a:tc>
                <a:tc>
                  <a:txBody>
                    <a:bodyPr wrap="square"/>
                    <a:lstStyle/>
                    <a:p>
                      <a:r>
                        <a:rPr sz="1100" b="0">
                          <a:solidFill>
                            <a:srgbClr val="282828"/>
                          </a:solidFill>
                          <a:latin typeface="Arial"/>
                        </a:rPr>
                        <a:t>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test object; the aperture is the stop, so the baffle never is</a:t>
                      </a:r>
                    </a:p>
                  </a:txBody>
                  <a:tcPr marL="54864" marR="54864" marT="18288" marB="18288">
                    <a:solidFill>
                      <a:srgbClr val="ECF1F6"/>
                    </a:solidFill>
                  </a:tcPr>
                </a:tc>
              </a:tr>
              <a:tr h="657225">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(−0.582), 8 mm center; OAP2 parent f 352 mm, 328 mm off-axis, 25° fold, 113 mm</a:t>
                      </a:r>
                    </a:p>
                  </a:txBody>
                  <a:tcPr marL="54864" marR="54864" marT="18288" marB="18288">
                    <a:solidFill>
                      <a:srgbClr val="FFFFFF"/>
                    </a:solidFill>
                  </a:tcPr>
                </a:tc>
                <a:tc>
                  <a:txBody>
                    <a:bodyPr wrap="square"/>
                    <a:lstStyle/>
                    <a:p>
                      <a:r>
                        <a:rPr sz="1100" b="0">
                          <a:solidFill>
                            <a:srgbClr val="282828"/>
                          </a:solidFill>
                          <a:latin typeface="Arial"/>
                        </a:rPr>
                        <a:t>L2 AR;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657225">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 × 2048, 6.5 µm binned 4 to 377 px across the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050" b="0">
                <a:solidFill>
                  <a:srgbClr val="6E6E6E"/>
                </a:solidFill>
                <a:latin typeface="Arial"/>
              </a:rPr>
              <a:t>Bench: 2 m × 1 m table, 103 mm mounts, 25 mm clearance.  Still to decide: the parabolas' overcoat (order a quarter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at 632.8 nm: an overcoat's polarization cost reverses sign across the quarter-wave condition) and the field lens's conic (seed station images the mirror flat; tuned reads it 2.3× better; 0.20 µm apart).  Reference-arm and sensor-specific parts: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200" b="0">
                <a:solidFill>
                  <a:srgbClr val="282828"/>
                </a:solidFill>
                <a:latin typeface="Arial"/>
              </a:rPr>
              <a:t>•  </a:t>
            </a:r>
            <a:r>
              <a:rPr sz="1200" b="1">
                <a:solidFill>
                  <a:srgbClr val="282828"/>
                </a:solidFill>
                <a:latin typeface="Arial"/>
              </a:rPr>
              <a:t>Reads:</a:t>
            </a:r>
            <a:r>
              <a:rPr sz="1200" b="0">
                <a:solidFill>
                  <a:srgbClr val="282828"/>
                </a:solidFill>
                <a:latin typeface="Arial"/>
              </a:rPr>
              <a:t> the test beam from the mirror interferes with a flat's beam; four frames at four phase steps give the phase at every pixel.</a:t>
            </a:r>
          </a:p>
          <a:p>
            <a:pPr>
              <a:spcAft>
                <a:spcPts val="500"/>
              </a:spcAft>
            </a:pPr>
            <a:r>
              <a:rPr sz="1200" b="0">
                <a:solidFill>
                  <a:srgbClr val="282828"/>
                </a:solidFill>
                <a:latin typeface="Arial"/>
              </a:rPr>
              <a:t>•  </a:t>
            </a:r>
            <a:r>
              <a:rPr sz="1200" b="1">
                <a:solidFill>
                  <a:srgbClr val="282828"/>
                </a:solidFill>
                <a:latin typeface="Arial"/>
              </a:rPr>
              <a:t>Frames per measurement: 4.</a:t>
            </a:r>
            <a:r>
              <a:rPr sz="1200" b="0">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p>
          <a:p>
            <a:pPr>
              <a:spcAft>
                <a:spcPts val="500"/>
              </a:spcAft>
            </a:pPr>
            <a:r>
              <a:rPr sz="1200" b="0">
                <a:solidFill>
                  <a:srgbClr val="282828"/>
                </a:solidFill>
                <a:latin typeface="Arial"/>
              </a:rPr>
              <a:t>•  </a:t>
            </a:r>
            <a:r>
              <a:rPr sz="1200" b="1">
                <a:solidFill>
                  <a:srgbClr val="282828"/>
                </a:solidFill>
                <a:latin typeface="Arial"/>
              </a:rPr>
              <a:t>Reconstruction:</a:t>
            </a:r>
            <a:r>
              <a:rPr sz="1200" b="0">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p>
          <a:p>
            <a:pPr>
              <a:spcAft>
                <a:spcPts val="500"/>
              </a:spcAft>
            </a:pPr>
            <a:r>
              <a:rPr sz="1200" b="0">
                <a:solidFill>
                  <a:srgbClr val="282828"/>
                </a:solidFill>
                <a:latin typeface="Arial"/>
              </a:rPr>
              <a:t>•  </a:t>
            </a:r>
            <a:r>
              <a:rPr sz="1200" b="1">
                <a:solidFill>
                  <a:srgbClr val="282828"/>
                </a:solidFill>
                <a:latin typeface="Arial"/>
              </a:rPr>
              <a:t>Gets right:</a:t>
            </a:r>
            <a:r>
              <a:rPr sz="1200" b="0">
                <a:solidFill>
                  <a:srgbClr val="282828"/>
                </a:solidFill>
                <a:latin typeface="Arial"/>
              </a:rPr>
              <a:t> an external reference, so it reads any figure (capture range 480 nm and beyond) and captures from 200 nm of wavefront with unwrapping alone.</a:t>
            </a:r>
          </a:p>
          <a:p>
            <a:pPr>
              <a:spcAft>
                <a:spcPts val="500"/>
              </a:spcAft>
            </a:pPr>
            <a:r>
              <a:rPr sz="1200" b="0">
                <a:solidFill>
                  <a:srgbClr val="282828"/>
                </a:solidFill>
                <a:latin typeface="Arial"/>
              </a:rPr>
              <a:t>•  </a:t>
            </a:r>
            <a:r>
              <a:rPr sz="1200" b="1">
                <a:solidFill>
                  <a:srgbClr val="282828"/>
                </a:solidFill>
                <a:latin typeface="Arial"/>
              </a:rPr>
              <a:t>Gets wrong:</a:t>
            </a:r>
            <a:r>
              <a:rPr sz="12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500"/>
              </a:spcAft>
            </a:pPr>
            <a:r>
              <a:rPr sz="1200" b="0">
                <a:solidFill>
                  <a:srgbClr val="282828"/>
                </a:solidFill>
                <a:latin typeface="Arial"/>
              </a:rPr>
              <a:t>•  </a:t>
            </a:r>
            <a:r>
              <a:rPr sz="1200" b="1">
                <a:solidFill>
                  <a:srgbClr val="282828"/>
                </a:solidFill>
                <a:latin typeface="Arial"/>
              </a:rPr>
              <a:t>Scored, 30 nm surface, matrix on it:</a:t>
            </a:r>
            <a:r>
              <a:rPr sz="12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675120" y="1234440"/>
            <a:ext cx="5120640" cy="2862072"/>
          </a:xfrm>
          <a:prstGeom prst="rect">
            <a:avLst/>
          </a:prstGeom>
        </p:spPr>
      </p:pic>
      <p:sp>
        <p:nvSpPr>
          <p:cNvPr id="6" name="TextBox 5"/>
          <p:cNvSpPr txBox="1"/>
          <p:nvPr/>
        </p:nvSpPr>
        <p:spPr>
          <a:xfrm>
            <a:off x="6309360" y="4306824"/>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4946904"/>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cost, after calibration, is resolution only:</a:t>
            </a:r>
            <a:r>
              <a:rPr sz="1200" b="0">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four frames give, pixel by pixel, the field's projection on the reference wave (the dimple's core, modeled from the flat) in cosine and sine, hence the phase; then the matrix fit as for every gauge.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Reconstruction:</a:t>
            </a:r>
            <a:r>
              <a:rPr sz="1100" b="0">
                <a:solidFill>
                  <a:srgbClr val="282828"/>
                </a:solidFill>
                <a:latin typeface="Arial"/>
              </a:rPr>
              <a:t> the five-frame Schwider-Hariharan sums give the phase per pixel against the pinhole's reference, whose amplitude the shutter frame measures state by state; then the matrix fit.</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rcRect t="8640" b="10590"/>
          <a:stretch>
            <a:fillRect/>
          </a:stretch>
        </p:blipFill>
        <p:spPr>
          <a:xfrm>
            <a:off x="2779776" y="1325880"/>
            <a:ext cx="9336024" cy="1280160"/>
          </a:xfrm>
          <a:prstGeom prst="rect">
            <a:avLst/>
          </a:prstGeom>
        </p:spPr>
      </p:pic>
      <p:sp>
        <p:nvSpPr>
          <p:cNvPr id="5" name="TextBox 4"/>
          <p:cNvSpPr txBox="1"/>
          <p:nvPr/>
        </p:nvSpPr>
        <p:spPr>
          <a:xfrm>
            <a:off x="201168" y="1399032"/>
            <a:ext cx="2770632" cy="12197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rcRect t="10420" b="10400"/>
          <a:stretch>
            <a:fillRect/>
          </a:stretch>
        </p:blipFill>
        <p:spPr>
          <a:xfrm>
            <a:off x="2779776" y="2624328"/>
            <a:ext cx="9336024" cy="1289304"/>
          </a:xfrm>
          <a:prstGeom prst="rect">
            <a:avLst/>
          </a:prstGeom>
        </p:spPr>
      </p:pic>
      <p:sp>
        <p:nvSpPr>
          <p:cNvPr id="7" name="TextBox 6"/>
          <p:cNvSpPr txBox="1"/>
          <p:nvPr/>
        </p:nvSpPr>
        <p:spPr>
          <a:xfrm>
            <a:off x="201168" y="2660904"/>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rcRect t="10390" b="11610"/>
          <a:stretch>
            <a:fillRect/>
          </a:stretch>
        </p:blipFill>
        <p:spPr>
          <a:xfrm>
            <a:off x="2779776" y="3950208"/>
            <a:ext cx="9336024" cy="1261872"/>
          </a:xfrm>
          <a:prstGeom prst="rect">
            <a:avLst/>
          </a:prstGeom>
        </p:spPr>
      </p:pic>
      <p:sp>
        <p:nvSpPr>
          <p:cNvPr id="9" name="TextBox 8"/>
          <p:cNvSpPr txBox="1"/>
          <p:nvPr/>
        </p:nvSpPr>
        <p:spPr>
          <a:xfrm>
            <a:off x="201168" y="3959352"/>
            <a:ext cx="2770632" cy="10546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rcRect t="9290" b="12140"/>
          <a:stretch>
            <a:fillRect/>
          </a:stretch>
        </p:blipFill>
        <p:spPr>
          <a:xfrm>
            <a:off x="2779776" y="5248656"/>
            <a:ext cx="9336024" cy="1271016"/>
          </a:xfrm>
          <a:prstGeom prst="rect">
            <a:avLst/>
          </a:prstGeom>
        </p:spPr>
      </p:pic>
      <p:sp>
        <p:nvSpPr>
          <p:cNvPr id="11" name="TextBox 10"/>
          <p:cNvSpPr txBox="1"/>
          <p:nvPr/>
        </p:nvSpPr>
        <p:spPr>
          <a:xfrm>
            <a:off x="201168" y="5285232"/>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53796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6100"/>
        </p:xfrm>
        <a:graphic>
          <a:graphicData uri="http://schemas.openxmlformats.org/drawingml/2006/table">
            <a:tbl>
              <a:tblPr firstRow="1" bandRow="1">
                <a:tableStyleId>{5C22544A-7EE6-4342-B048-85BDC9FD1C3A}</a:tableStyleId>
              </a:tblPr>
              <a:tblGrid>
                <a:gridCol w="4297226"/>
                <a:gridCol w="2202328"/>
                <a:gridCol w="2398268"/>
                <a:gridCol w="2470912"/>
              </a:tblGrid>
              <a:tr h="468630">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468630">
                <a:tc>
                  <a:txBody>
                    <a:bodyPr wrap="square"/>
                    <a:lstStyle/>
                    <a:p>
                      <a:r>
                        <a:rPr sz="1100" b="0">
                          <a:solidFill>
                            <a:srgbClr val="282828"/>
                          </a:solidFill>
                          <a:latin typeface="Arial"/>
                        </a:rPr>
                        <a:t>Zernike, linear one frame (1): the small-phase formula with the flat's reference</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468630">
                <a:tc>
                  <a:txBody>
                    <a:bodyPr wrap="square"/>
                    <a:lstStyle/>
                    <a:p>
                      <a:r>
                        <a:rPr sz="1100" b="0">
                          <a:solidFill>
                            <a:srgbClr val="282828"/>
                          </a:solidFill>
                          <a:latin typeface="Arial"/>
                        </a:rPr>
                        <a:t>Zernike, exact one frame (1): the exact per-pixel solve, the reference iterated</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750 pm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440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83844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Calibration removes the systematic errors; assessment of those it cannot</a:t>
            </a:r>
          </a:p>
          <a:p>
            <a:pPr>
              <a:spcAft>
                <a:spcPts val="0"/>
              </a:spcAft>
            </a:pPr>
            <a:r>
              <a:rPr sz="1250" b="0">
                <a:solidFill>
                  <a:srgbClr val="6E6E6E"/>
                </a:solidFill>
                <a:latin typeface="Arial"/>
              </a:rPr>
              <a:t>Every systematic we could model is either absorbed by the response matrix — measured through the sensor itself, one poke per actuator, on the working surface —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66335"/>
        </p:xfrm>
        <a:graphic>
          <a:graphicData uri="http://schemas.openxmlformats.org/drawingml/2006/table">
            <a:tbl>
              <a:tblPr firstRow="1" bandRow="1">
                <a:tableStyleId>{5C22544A-7EE6-4342-B048-85BDC9FD1C3A}</a:tableStyleId>
              </a:tblPr>
              <a:tblGrid>
                <a:gridCol w="1889760"/>
                <a:gridCol w="2203445"/>
                <a:gridCol w="3824849"/>
                <a:gridCol w="3450679"/>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response matrix is measured through the sensor on the working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Recommendations and conclusions</a:t>
            </a:r>
          </a:p>
          <a:p>
            <a:pPr>
              <a:spcAft>
                <a:spcPts val="0"/>
              </a:spcAft>
            </a:pPr>
            <a:r>
              <a:rPr sz="1250" b="0">
                <a:solidFill>
                  <a:srgbClr val="6E6E6E"/>
                </a:solidFill>
                <a:latin typeface="Arial"/>
              </a:rPr>
              <a:t>Hold with the vector Zernike sensor; capture with the interferometer, or with the stepped pinhole if a second arm is not wanted; either front end builds;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Hold with the ZWFS.</a:t>
            </a:r>
            <a:r>
              <a:rPr sz="1400" b="0">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p>
          <a:p>
            <a:pPr>
              <a:spcAft>
                <a:spcPts val="600"/>
              </a:spcAft>
            </a:pPr>
            <a:r>
              <a:rPr sz="1400" b="0">
                <a:solidFill>
                  <a:srgbClr val="282828"/>
                </a:solidFill>
                <a:latin typeface="Arial"/>
              </a:rPr>
              <a:t>•  </a:t>
            </a:r>
            <a:r>
              <a:rPr sz="1400" b="1">
                <a:solidFill>
                  <a:srgbClr val="282828"/>
                </a:solidFill>
                <a:latin typeface="Arial"/>
              </a:rPr>
              <a:t>Capture with the IFO or the stepped-pinhole PDI.</a:t>
            </a:r>
            <a:r>
              <a:rPr sz="1400" b="0">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p>
          <a:p>
            <a:pPr>
              <a:spcAft>
                <a:spcPts val="600"/>
              </a:spcAft>
            </a:pPr>
            <a:r>
              <a:rPr sz="1400" b="0">
                <a:solidFill>
                  <a:srgbClr val="282828"/>
                </a:solidFill>
                <a:latin typeface="Arial"/>
              </a:rPr>
              <a:t>•  </a:t>
            </a:r>
            <a:r>
              <a:rPr sz="1400" b="1">
                <a:solidFill>
                  <a:srgbClr val="282828"/>
                </a:solidFill>
                <a:latin typeface="Arial"/>
              </a:rPr>
              <a:t>Build with either front end.</a:t>
            </a:r>
            <a:r>
              <a:rPr sz="1400" b="0">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A testbed for four sensor architectures:</a:t>
            </a:r>
            <a:r>
              <a:rPr sz="1400" b="0">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p>
          <a:p>
            <a:pPr>
              <a:spcAft>
                <a:spcPts val="600"/>
              </a:spcAft>
            </a:pPr>
            <a:r>
              <a:rPr sz="1400" b="0">
                <a:solidFill>
                  <a:srgbClr val="282828"/>
                </a:solidFill>
                <a:latin typeface="Arial"/>
              </a:rPr>
              <a:t>•  </a:t>
            </a:r>
            <a:r>
              <a:rPr sz="1400" b="1">
                <a:solidFill>
                  <a:srgbClr val="282828"/>
                </a:solidFill>
                <a:latin typeface="Arial"/>
              </a:rPr>
              <a:t>A validation platform:</a:t>
            </a:r>
            <a:r>
              <a:rPr sz="1400" b="0">
                <a:solidFill>
                  <a:srgbClr val="282828"/>
                </a:solidFill>
                <a:latin typeface="Arial"/>
              </a:rPr>
              <a:t> in air, experience and model validation; in vacuum, DM and sensor performance at TRL 5–6.</a:t>
            </a:r>
          </a:p>
          <a:p>
            <a:pPr>
              <a:spcAft>
                <a:spcPts val="600"/>
              </a:spcAft>
            </a:pPr>
            <a:r>
              <a:rPr sz="1400" b="0">
                <a:solidFill>
                  <a:srgbClr val="282828"/>
                </a:solidFill>
                <a:latin typeface="Arial"/>
              </a:rPr>
              <a:t>•  </a:t>
            </a:r>
            <a:r>
              <a:rPr sz="1400" b="1">
                <a:solidFill>
                  <a:srgbClr val="282828"/>
                </a:solidFill>
                <a:latin typeface="Arial"/>
              </a:rPr>
              <a:t>What the numbers do not decide, experience will:</a:t>
            </a:r>
            <a:r>
              <a:rPr sz="14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p>
          <a:p>
            <a:pPr>
              <a:spcAft>
                <a:spcPts val="600"/>
              </a:spcAft>
            </a:pPr>
            <a:r>
              <a:rPr sz="1400" b="0">
                <a:solidFill>
                  <a:srgbClr val="282828"/>
                </a:solidFill>
                <a:latin typeface="Arial"/>
              </a:rPr>
              <a:t>•  </a:t>
            </a:r>
            <a:r>
              <a:rPr sz="1400" b="1">
                <a:solidFill>
                  <a:srgbClr val="282828"/>
                </a:solidFill>
                <a:latin typeface="Arial"/>
              </a:rPr>
              <a:t>Technology still to develop:</a:t>
            </a:r>
            <a:r>
              <a:rPr sz="1400" b="0">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Capture beyond one wave with a second color:</a:t>
            </a:r>
            <a:r>
              <a:rPr sz="13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300" b="0">
                <a:solidFill>
                  <a:srgbClr val="282828"/>
                </a:solidFill>
                <a:latin typeface="Arial"/>
              </a:rPr>
              <a:t>•  </a:t>
            </a:r>
            <a:r>
              <a:rPr sz="1300" b="1">
                <a:solidFill>
                  <a:srgbClr val="282828"/>
                </a:solidFill>
                <a:latin typeface="Arial"/>
              </a:rPr>
              <a:t>From this model to as-built performance:</a:t>
            </a:r>
            <a:r>
              <a:rPr sz="13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300" b="0">
                <a:solidFill>
                  <a:srgbClr val="282828"/>
                </a:solidFill>
                <a:latin typeface="Arial"/>
              </a:rPr>
              <a:t>•  </a:t>
            </a:r>
            <a:r>
              <a:rPr sz="1300" b="1">
                <a:solidFill>
                  <a:srgbClr val="282828"/>
                </a:solidFill>
                <a:latin typeface="Arial"/>
              </a:rPr>
              <a:t>Other approaches worth a look:</a:t>
            </a:r>
            <a:r>
              <a:rPr sz="13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Interferometer</a:t>
            </a:r>
            <a:r>
              <a:rPr sz="1300" b="0">
                <a:solidFill>
                  <a:srgbClr val="282828"/>
                </a:solidFill>
                <a:latin typeface="Arial"/>
              </a:rPr>
              <a:t> (tg_psi_dm96_oap): tg96_run (lens rig); tg96_run('bench.optics','oap') (mirror rig); batch: ./tg96_batch.sh TAG "'stages',{'bench','loop','figs'}".</a:t>
            </a:r>
          </a:p>
          <a:p>
            <a:pPr>
              <a:spcAft>
                <a:spcPts val="600"/>
              </a:spcAft>
            </a:pPr>
            <a:r>
              <a:rPr sz="1300" b="0">
                <a:solidFill>
                  <a:srgbClr val="282828"/>
                </a:solidFill>
                <a:latin typeface="Arial"/>
              </a:rPr>
              <a:t>•  </a:t>
            </a:r>
            <a:r>
              <a:rPr sz="1300" b="1">
                <a:solidFill>
                  <a:srgbClr val="282828"/>
                </a:solidFill>
                <a:latin typeface="Arial"/>
              </a:rPr>
              <a:t>Pupil image</a:t>
            </a:r>
            <a:r>
              <a:rPr sz="1300" b="0">
                <a:solidFill>
                  <a:srgbClr val="282828"/>
                </a:solidFill>
                <a:latin typeface="Arial"/>
              </a:rPr>
              <a:t> (tg_psi_dm96_oap): tg96_pupilq('rig','lens'), tg96_pupilsim('rig','oap'); both tools, both rigs: ./tg96_pupil_batch.sh both.</a:t>
            </a:r>
          </a:p>
          <a:p>
            <a:pPr>
              <a:spcAft>
                <a:spcPts val="600"/>
              </a:spcAft>
            </a:pPr>
            <a:r>
              <a:rPr sz="1300" b="0">
                <a:solidFill>
                  <a:srgbClr val="282828"/>
                </a:solidFill>
                <a:latin typeface="Arial"/>
              </a:rPr>
              <a:t>•  </a:t>
            </a:r>
            <a:r>
              <a:rPr sz="1300" b="1">
                <a:solidFill>
                  <a:srgbClr val="282828"/>
                </a:solidFill>
                <a:latin typeface="Arial"/>
              </a:rPr>
              <a:t>Zernike sensors</a:t>
            </a:r>
            <a:r>
              <a:rPr sz="13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300" b="0">
                <a:solidFill>
                  <a:srgbClr val="282828"/>
                </a:solidFill>
                <a:latin typeface="Arial"/>
              </a:rPr>
              <a:t>•  </a:t>
            </a:r>
            <a:r>
              <a:rPr sz="1300" b="1">
                <a:solidFill>
                  <a:srgbClr val="282828"/>
                </a:solidFill>
                <a:latin typeface="Arial"/>
              </a:rPr>
              <a:t>Point-diffraction</a:t>
            </a:r>
            <a:r>
              <a:rPr sz="1300" b="0">
                <a:solidFill>
                  <a:srgbClr val="282828"/>
                </a:solidFill>
                <a:latin typeface="Arial"/>
              </a:rPr>
              <a:t> (pdi_dm96): P = pdi_params; out = pdi_run(P);; pdi_run('pdi.DIA_LAMD',1.0,'stages',{'bench','battery','figs'}).</a:t>
            </a:r>
          </a:p>
          <a:p>
            <a:pPr>
              <a:spcAft>
                <a:spcPts val="600"/>
              </a:spcAft>
            </a:pPr>
            <a:r>
              <a:rPr sz="1300" b="0">
                <a:solidFill>
                  <a:srgbClr val="282828"/>
                </a:solidFill>
                <a:latin typeface="Arial"/>
              </a:rPr>
              <a:t>•  </a:t>
            </a:r>
            <a:r>
              <a:rPr sz="1300" b="1">
                <a:solidFill>
                  <a:srgbClr val="282828"/>
                </a:solidFill>
                <a:latin typeface="Arial"/>
              </a:rPr>
              <a:t>Where:</a:t>
            </a:r>
            <a:r>
              <a:rPr sz="1300" b="0">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320040" y="5486400"/>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