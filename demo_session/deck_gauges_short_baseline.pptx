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For the JPL HWO WFS&amp;C discussion group, 2026-10-08.</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optical bench to demo 4 surface gauges, in mirror and lens forms</a:t>
            </a:r>
          </a:p>
          <a:p>
            <a:pPr>
              <a:spcAft>
                <a:spcPts val="0"/>
              </a:spcAft>
            </a:pPr>
            <a:r>
              <a:rPr sz="1250" b="0">
                <a:solidFill>
                  <a:srgbClr val="6E6E6E"/>
                </a:solidFill>
                <a:latin typeface="Arial"/>
              </a:rPr>
              <a:t>Comparing accuracy, precision, repeatability and hold, for interferometers, scalar and vector Zernike WF sensors, and a point-diffraction sensor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960245"/>
        </p:xfrm>
        <a:graphic>
          <a:graphicData uri="http://schemas.openxmlformats.org/drawingml/2006/table">
            <a:tbl>
              <a:tblPr firstRow="1" bandRow="1">
                <a:tableStyleId>{5C22544A-7EE6-4342-B048-85BDC9FD1C3A}</a:tableStyleId>
              </a:tblPr>
              <a:tblGrid>
                <a:gridCol w="2884116"/>
                <a:gridCol w="6157978"/>
                <a:gridCol w="1163320"/>
                <a:gridCol w="1163320"/>
              </a:tblGrid>
              <a:tr h="280035">
                <a:tc>
                  <a:txBody>
                    <a:bodyPr wrap="square"/>
                    <a:lstStyle/>
                    <a:p>
                      <a:r>
                        <a:rPr sz="1100" b="1">
                          <a:solidFill>
                            <a:srgbClr val="FFFFFF"/>
                          </a:solidFill>
                          <a:latin typeface="Arial"/>
                        </a:rPr>
                        <a:t>the claim (interferometer, both rigs)</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280035">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the imaging's error in reading a 30 nm working surface, piston and tilt removed</a:t>
                      </a:r>
                    </a:p>
                  </a:txBody>
                  <a:tcPr marL="54864" marR="54864" marT="18288" marB="18288">
                    <a:solidFill>
                      <a:srgbClr val="FFFFFF"/>
                    </a:solidFill>
                  </a:tcPr>
                </a:tc>
                <a:tc>
                  <a:txBody>
                    <a:bodyPr wrap="square"/>
                    <a:lstStyle/>
                    <a:p>
                      <a:r>
                        <a:rPr sz="1100" b="0">
                          <a:solidFill>
                            <a:srgbClr val="282828"/>
                          </a:solidFill>
                          <a:latin typeface="Arial"/>
                        </a:rPr>
                        <a:t>0.13 % (42 pm)</a:t>
                      </a:r>
                    </a:p>
                  </a:txBody>
                  <a:tcPr marL="54864" marR="54864" marT="18288" marB="18288">
                    <a:solidFill>
                      <a:srgbClr val="FFFFFF"/>
                    </a:solidFill>
                  </a:tcPr>
                </a:tc>
                <a:tc>
                  <a:txBody>
                    <a:bodyPr wrap="square"/>
                    <a:lstStyle/>
                    <a:p>
                      <a:r>
                        <a:rPr sz="1100" b="0">
                          <a:solidFill>
                            <a:srgbClr val="282828"/>
                          </a:solidFill>
                          <a:latin typeface="Arial"/>
                        </a:rPr>
                        <a:t>0.29 % (92 pm)</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in the top spatial band (at the actuator Nyquist)</a:t>
                      </a:r>
                    </a:p>
                  </a:txBody>
                  <a:tcPr marL="54864" marR="54864" marT="18288" marB="18288">
                    <a:solidFill>
                      <a:srgbClr val="ECF1F6"/>
                    </a:solidFill>
                  </a:tcPr>
                </a:tc>
                <a:tc>
                  <a:txBody>
                    <a:bodyPr wrap="square"/>
                    <a:lstStyle/>
                    <a:p>
                      <a:r>
                        <a:rPr sz="1100" b="0">
                          <a:solidFill>
                            <a:srgbClr val="282828"/>
                          </a:solidFill>
                          <a:latin typeface="Arial"/>
                        </a:rPr>
                        <a:t>0.5 %</a:t>
                      </a:r>
                    </a:p>
                  </a:txBody>
                  <a:tcPr marL="54864" marR="54864" marT="18288" marB="18288">
                    <a:solidFill>
                      <a:srgbClr val="ECF1F6"/>
                    </a:solidFill>
                  </a:tcPr>
                </a:tc>
                <a:tc>
                  <a:txBody>
                    <a:bodyPr wrap="square"/>
                    <a:lstStyle/>
                    <a:p>
                      <a:r>
                        <a:rPr sz="1100" b="0">
                          <a:solidFill>
                            <a:srgbClr val="282828"/>
                          </a:solidFill>
                          <a:latin typeface="Arial"/>
                        </a:rPr>
                        <a:t>0.9 %</a:t>
                      </a:r>
                    </a:p>
                  </a:txBody>
                  <a:tcPr marL="54864" marR="54864" marT="18288" marB="18288">
                    <a:solidFill>
                      <a:srgbClr val="ECF1F6"/>
                    </a:solidFill>
                  </a:tcPr>
                </a:tc>
              </a:tr>
              <a:tr h="280035">
                <a:tc>
                  <a:txBody>
                    <a:bodyPr wrap="square"/>
                    <a:lstStyle/>
                    <a:p>
                      <a:r>
                        <a:rPr sz="1100" b="0">
                          <a:solidFill>
                            <a:srgbClr val="282828"/>
                          </a:solidFill>
                          <a:latin typeface="Arial"/>
                        </a:rPr>
                        <a:t>precision</a:t>
                      </a:r>
                    </a:p>
                  </a:txBody>
                  <a:tcPr marL="54864" marR="54864" marT="18288" marB="18288">
                    <a:solidFill>
                      <a:srgbClr val="FFFFFF"/>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FFFFFF"/>
                    </a:solidFill>
                  </a:tcPr>
                </a:tc>
                <a:tc>
                  <a:txBody>
                    <a:bodyPr wrap="square"/>
                    <a:lstStyle/>
                    <a:p>
                      <a:r>
                        <a:rPr sz="1100" b="0">
                          <a:solidFill>
                            <a:srgbClr val="282828"/>
                          </a:solidFill>
                          <a:latin typeface="Arial"/>
                        </a:rPr>
                        <a:t>2.3 / 0.7 pm</a:t>
                      </a:r>
                    </a:p>
                  </a:txBody>
                  <a:tcPr marL="54864" marR="54864" marT="18288" marB="18288">
                    <a:solidFill>
                      <a:srgbClr val="FFFFFF"/>
                    </a:solidFill>
                  </a:tcPr>
                </a:tc>
                <a:tc>
                  <a:txBody>
                    <a:bodyPr wrap="square"/>
                    <a:lstStyle/>
                    <a:p>
                      <a:r>
                        <a:rPr sz="1100" b="0">
                          <a:solidFill>
                            <a:srgbClr val="282828"/>
                          </a:solidFill>
                          <a:latin typeface="Arial"/>
                        </a:rPr>
                        <a:t>2.1 / 0.7 pm</a:t>
                      </a:r>
                    </a:p>
                  </a:txBody>
                  <a:tcPr marL="54864" marR="54864" marT="18288" marB="18288">
                    <a:solidFill>
                      <a:srgbClr val="FFFFFF"/>
                    </a:solidFill>
                  </a:tcPr>
                </a:tc>
              </a:tr>
              <a:tr h="280035">
                <a:tc>
                  <a:txBody>
                    <a:bodyPr wrap="square"/>
                    <a:lstStyle/>
                    <a:p>
                      <a:r>
                        <a:rPr sz="1100" b="0">
                          <a:solidFill>
                            <a:srgbClr val="282828"/>
                          </a:solidFill>
                          <a:latin typeface="Arial"/>
                        </a:rPr>
                        <a:t>repeatability</a:t>
                      </a:r>
                    </a:p>
                  </a:txBody>
                  <a:tcPr marL="54864" marR="54864" marT="18288" marB="18288">
                    <a:solidFill>
                      <a:srgbClr val="ECF1F6"/>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ECF1F6"/>
                    </a:solidFill>
                  </a:tcPr>
                </a:tc>
                <a:tc>
                  <a:txBody>
                    <a:bodyPr wrap="square"/>
                    <a:lstStyle/>
                    <a:p>
                      <a:r>
                        <a:rPr sz="1100" b="0">
                          <a:solidFill>
                            <a:srgbClr val="282828"/>
                          </a:solidFill>
                          <a:latin typeface="Arial"/>
                        </a:rPr>
                        <a:t>1.4 / 0.5 pm</a:t>
                      </a:r>
                    </a:p>
                  </a:txBody>
                  <a:tcPr marL="54864" marR="54864" marT="18288" marB="18288">
                    <a:solidFill>
                      <a:srgbClr val="ECF1F6"/>
                    </a:solidFill>
                  </a:tcPr>
                </a:tc>
                <a:tc>
                  <a:txBody>
                    <a:bodyPr wrap="square"/>
                    <a:lstStyle/>
                    <a:p>
                      <a:r>
                        <a:rPr sz="1100" b="0">
                          <a:solidFill>
                            <a:srgbClr val="282828"/>
                          </a:solidFill>
                          <a:latin typeface="Arial"/>
                        </a:rPr>
                        <a:t>1.3 / 0.4 pm</a:t>
                      </a:r>
                    </a:p>
                  </a:txBody>
                  <a:tcPr marL="54864" marR="54864" marT="18288" marB="18288">
                    <a:solidFill>
                      <a:srgbClr val="ECF1F6"/>
                    </a:solidFill>
                  </a:tcPr>
                </a:tc>
              </a:tr>
              <a:tr h="280035">
                <a:tc>
                  <a:txBody>
                    <a:bodyPr wrap="square"/>
                    <a:lstStyle/>
                    <a:p>
                      <a:r>
                        <a:rPr sz="1100" b="0">
                          <a:solidFill>
                            <a:srgbClr val="282828"/>
                          </a:solidFill>
                          <a:latin typeface="Arial"/>
                        </a:rPr>
                        <a:t>hold</a:t>
                      </a:r>
                    </a:p>
                  </a:txBody>
                  <a:tcPr marL="54864" marR="54864" marT="18288" marB="18288">
                    <a:solidFill>
                      <a:srgbClr val="FFFFFF"/>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2.0e13</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ECF1F6"/>
                    </a:solidFill>
                  </a:tcPr>
                </a:tc>
                <a:tc>
                  <a:txBody>
                    <a:bodyPr wrap="square"/>
                    <a:lstStyle/>
                    <a:p>
                      <a:r>
                        <a:rPr sz="1100" b="0">
                          <a:solidFill>
                            <a:srgbClr val="282828"/>
                          </a:solidFill>
                          <a:latin typeface="Arial"/>
                        </a:rPr>
                        <a:t>7.1e13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Picometer measurement is photon-limited, not bench-limited.</a:t>
            </a:r>
            <a:r>
              <a:rPr sz="1500" b="0">
                <a:solidFill>
                  <a:srgbClr val="282828"/>
                </a:solidFill>
                <a:latin typeface="Arial"/>
              </a:rPr>
              <a:t>  One measurement at 1e15 photons — 0.31 mJ, about 1.3 s of a 1 mW laser — repeats to 0.7 pm, and a servo fed at that rate holds under half a picometer.  Both front ends agree to within 10 %.  For scale, </a:t>
            </a:r>
            <a:r>
              <a:rPr sz="1500" b="1">
                <a:solidFill>
                  <a:srgbClr val="282828"/>
                </a:solidFill>
                <a:latin typeface="Arial"/>
              </a:rPr>
              <a:t>Steeves et al. (2020, Optica 7, 1267) demonstrate 1.6 pm in 4.3 s on a real interferometer</a:t>
            </a:r>
            <a:r>
              <a:rPr sz="1500" b="0">
                <a:solidFill>
                  <a:srgbClr val="282828"/>
                </a:solidFill>
                <a:latin typeface="Arial"/>
              </a:rPr>
              <a:t>: ours is photon-limited only, carrying no vibration, thermal drift or detector systematics, so it is the floor this design allows rather than a prediction of the built bench — and agreeing within a factor of two is the check that the model is in the right regime.</a:t>
            </a:r>
          </a:p>
          <a:p>
            <a:pPr>
              <a:spcAft>
                <a:spcPts val="600"/>
              </a:spcAft>
            </a:pPr>
            <a:r>
              <a:rPr sz="1500" b="0">
                <a:solidFill>
                  <a:srgbClr val="282828"/>
                </a:solidFill>
                <a:latin typeface="Arial"/>
              </a:rPr>
              <a:t>•  </a:t>
            </a:r>
            <a:r>
              <a:rPr sz="1500" b="1">
                <a:solidFill>
                  <a:srgbClr val="282828"/>
                </a:solidFill>
                <a:latin typeface="Arial"/>
              </a:rPr>
              <a:t>Accuracy is systematic and proportional</a:t>
            </a:r>
            <a:r>
              <a:rPr sz="1500" b="0">
                <a:solidFill>
                  <a:srgbClr val="282828"/>
                </a:solidFill>
                <a:latin typeface="Arial"/>
              </a:rPr>
              <a:t> — a fraction of the figure read, so 30 nm costs tens of picometers and a 200 nm capture figure costs hundreds.  It holds because the response matrix is measured on the surface, not assumed geometric.</a:t>
            </a:r>
          </a:p>
          <a:p>
            <a:pPr>
              <a:spcAft>
                <a:spcPts val="600"/>
              </a:spcAft>
            </a:pPr>
            <a:r>
              <a:rPr sz="1500" b="0">
                <a:solidFill>
                  <a:srgbClr val="282828"/>
                </a:solidFill>
                <a:latin typeface="Arial"/>
              </a:rPr>
              <a:t>•  </a:t>
            </a:r>
            <a:r>
              <a:rPr sz="1500" b="1">
                <a:solidFill>
                  <a:srgbClr val="282828"/>
                </a:solidFill>
                <a:latin typeface="Arial"/>
              </a:rPr>
              <a:t>One disturbance is not photon-limited:</a:t>
            </a:r>
            <a:r>
              <a:rPr sz="1500" b="0">
                <a:solidFill>
                  <a:srgbClr val="282828"/>
                </a:solidFill>
                <a:latin typeface="Arial"/>
              </a:rPr>
              <a:t> under a 5 pm per cycle thermal ramp the loop lags at about 10 pm however many photons it is given — a cadence and thermal-control requirement, not a sensing one.</a:t>
            </a:r>
          </a:p>
        </p:txBody>
      </p:sp>
      <p:sp>
        <p:nvSpPr>
          <p:cNvPr id="6" name="TextBox 5"/>
          <p:cNvSpPr txBox="1"/>
          <p:nvPr/>
        </p:nvSpPr>
        <p:spPr>
          <a:xfrm>
            <a:off x="457200" y="5760720"/>
            <a:ext cx="11365992" cy="274320"/>
          </a:xfrm>
          <a:prstGeom prst="rect">
            <a:avLst/>
          </a:prstGeom>
          <a:noFill/>
        </p:spPr>
        <p:txBody>
          <a:bodyPr wrap="square">
            <a:spAutoFit/>
          </a:bodyPr>
          <a:lstStyle/>
          <a:p>
            <a:pPr>
              <a:spcAft>
                <a:spcPts val="600"/>
              </a:spcAft>
            </a:pPr>
            <a:r>
              <a:rPr sz="1050" b="0">
                <a:solidFill>
                  <a:srgbClr val="6E6E6E"/>
                </a:solidFill>
                <a:latin typeface="Arial"/>
              </a:rPr>
              <a:t>The table is the interferometer's, the one gauge scored on both front ends; the three sensors, scored on the mirror rig, read within 1 % and 2 pm of it on the same surface (the side-by-side slide).  A 10 nm single-actuator change, what the servo corrects, reads against truth to 1.5 pm at gain 1.001 on lenses and 1.8 pm at 0.993 on mirrors.  Run tags are on the provenance slide and on each slide that derives a number.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The DM:</a:t>
            </a:r>
            <a:r>
              <a:rPr sz="1400" b="0">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a:t>
            </a:r>
            <a:r>
              <a:rPr sz="1400" b="1">
                <a:solidFill>
                  <a:srgbClr val="282828"/>
                </a:solidFill>
                <a:latin typeface="Arial"/>
              </a:rPr>
              <a:t>Job 1, measure:</a:t>
            </a:r>
            <a:r>
              <a:rPr sz="1400" b="0">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a:t>
            </a:r>
            <a:r>
              <a:rPr sz="1400" b="1">
                <a:solidFill>
                  <a:srgbClr val="282828"/>
                </a:solidFill>
                <a:latin typeface="Arial"/>
              </a:rPr>
              <a:t>Job 2, capture:</a:t>
            </a:r>
            <a:r>
              <a:rPr sz="1400" b="0">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a:t>
            </a:r>
            <a:r>
              <a:rPr sz="1400" b="1">
                <a:solidFill>
                  <a:srgbClr val="282828"/>
                </a:solidFill>
                <a:latin typeface="Arial"/>
              </a:rPr>
              <a:t>Job 3, hold:</a:t>
            </a:r>
            <a:r>
              <a:rPr sz="1400" b="0">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two forms,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657732" y="1298448"/>
            <a:ext cx="3313935"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reads 1.004 / 1.4 pm on a 10 nm change; holds 3 pm from 2.3e13 photons per cycle; captures from 200 nm to 3.1 pm in 60 cycles</a:t>
                      </a:r>
                    </a:p>
                  </a:txBody>
                  <a:tcPr marL="54864" marR="54864" marT="18288" marB="18288">
                    <a:solidFill>
                      <a:srgbClr val="FFFFFF"/>
                    </a:solidFill>
                  </a:tcPr>
                </a:tc>
                <a:tc>
                  <a:txBody>
                    <a:bodyPr wrap="square"/>
                    <a:lstStyle/>
                    <a:p>
                      <a:r>
                        <a:rPr sz="1100" b="0">
                          <a:solidFill>
                            <a:srgbClr val="282828"/>
                          </a:solidFill>
                          <a:latin typeface="Arial"/>
                        </a:rPr>
                        <a:t>reads 0.986 / 2.3 pm; holds 3 pm from 2.0e13; captures from 200 nm in 24 cycles;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a:t>
            </a:r>
            <a:r>
              <a:rPr sz="1050" b="0">
                <a:solidFill>
                  <a:srgbClr val="6E6E6E"/>
                </a:solidFill>
                <a:latin typeface="Arial"/>
              </a:rPr>
              <a:t>MgF</a:t>
            </a:r>
            <a:r>
              <a:rPr sz="1050" b="0" baseline="-25000">
                <a:solidFill>
                  <a:srgbClr val="6E6E6E"/>
                </a:solidFill>
                <a:latin typeface="Arial"/>
              </a:rPr>
              <a:t>2</a:t>
            </a:r>
            <a:r>
              <a:rPr sz="1050" b="0">
                <a:solidFill>
                  <a:srgbClr val="6E6E6E"/>
                </a:solidFill>
                <a:latin typeface="Arial"/>
              </a:rPr>
              <a:t>,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a:t>
            </a:r>
            <a:r>
              <a:rPr sz="1500" b="1">
                <a:solidFill>
                  <a:srgbClr val="282828"/>
                </a:solidFill>
                <a:latin typeface="Arial"/>
              </a:rPr>
              <a:t>On the 30 nm surface, matrix measured on it (lens rig; mirror rig in parentheses):</a:t>
            </a:r>
            <a:r>
              <a:rPr sz="1500" b="0">
                <a:solidFill>
                  <a:srgbClr val="282828"/>
                </a:solidFill>
                <a:latin typeface="Arial"/>
              </a:rPr>
              <a:t> 10 nm on one actuator 1.004 / 1.4 pm / SNR 7741 (0.986 / 2.3 pm / 6044); 1 nm on 120 sites 0.993 / 10 pm (0.981 / 4.4 pm); dense 10 nm 0.9995, 500 pm (0.977, 698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2.3e13 photons per cycle with noise only, 7.1e13 under a 2 pm per-cycle actuator walk (mirror rig 2.0e13 / 6.6e13); a noiseless 1 nm step settles to 0.015 pm (2.8 pm on the mirror rig), so no fixed error.</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the three phase-shift forms are priced in backup (lens_deck_se2).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Pupil image quality supports picometer measurement on both rigs.</a:t>
            </a:r>
            <a:r>
              <a:rPr sz="1200" b="0">
                <a:solidFill>
                  <a:srgbClr val="282828"/>
                </a:solidFill>
                <a:latin typeface="Arial"/>
              </a:rPr>
              <a:t>  Carried through to a reading it costs </a:t>
            </a:r>
            <a:r>
              <a:rPr sz="1200" b="1">
                <a:solidFill>
                  <a:srgbClr val="282828"/>
                </a:solidFill>
                <a:latin typeface="Arial"/>
              </a:rPr>
              <a:t>0.13 %</a:t>
            </a:r>
            <a:r>
              <a:rPr sz="1200" b="0">
                <a:solidFill>
                  <a:srgbClr val="282828"/>
                </a:solidFill>
                <a:latin typeface="Arial"/>
              </a:rPr>
              <a:t> of the figure on lenses and </a:t>
            </a:r>
            <a:r>
              <a:rPr sz="1200" b="1">
                <a:solidFill>
                  <a:srgbClr val="282828"/>
                </a:solidFill>
                <a:latin typeface="Arial"/>
              </a:rPr>
              <a:t>0.29 %</a:t>
            </a:r>
            <a:r>
              <a:rPr sz="1200" b="0">
                <a:solidFill>
                  <a:srgbClr val="282828"/>
                </a:solidFill>
                <a:latin typeface="Arial"/>
              </a:rPr>
              <a:t> on mirrors — 42 and 92 pm on a 30 nm working surface — and </a:t>
            </a:r>
            <a:r>
              <a:rPr sz="1200" b="1">
                <a:solidFill>
                  <a:srgbClr val="282828"/>
                </a:solidFill>
                <a:latin typeface="Arial"/>
              </a:rPr>
              <a:t>0.5 % / 0.9 %</a:t>
            </a:r>
            <a:r>
              <a:rPr sz="1200" b="0">
                <a:solidFill>
                  <a:srgbClr val="282828"/>
                </a:solidFill>
                <a:latin typeface="Arial"/>
              </a:rPr>
              <a:t>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a:t>
            </a:r>
            <a:r>
              <a:rPr sz="1200" b="1">
                <a:solidFill>
                  <a:srgbClr val="282828"/>
                </a:solidFill>
                <a:latin typeface="Arial"/>
              </a:rPr>
              <a:t>Method:</a:t>
            </a:r>
            <a:r>
              <a:rPr sz="1200" b="0">
                <a:solidFill>
                  <a:srgbClr val="282828"/>
                </a:solidFill>
                <a:latin typeface="Arial"/>
              </a:rPr>
              <a:t>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a:t>
            </a:r>
            <a:r>
              <a:rPr sz="1200" b="1">
                <a:solidFill>
                  <a:srgbClr val="282828"/>
                </a:solidFill>
                <a:latin typeface="Arial"/>
              </a:rPr>
              <a:t>The lens rig images the DM flat</a:t>
            </a:r>
            <a:r>
              <a:rPr sz="1200" b="0">
                <a:solidFill>
                  <a:srgbClr val="282828"/>
                </a:solidFill>
                <a:latin typeface="Arial"/>
              </a:rPr>
              <a:t> (0.5 µm of defocus across the pupil) and holds its mapping to a seventh of an actuator pitch.  </a:t>
            </a:r>
            <a:r>
              <a:rPr sz="1200" b="1">
                <a:solidFill>
                  <a:srgbClr val="282828"/>
                </a:solidFill>
                <a:latin typeface="Arial"/>
              </a:rPr>
              <a:t>The mirror rig trades mapping for the front end</a:t>
            </a:r>
            <a:r>
              <a:rPr sz="1200" b="0">
                <a:solidFill>
                  <a:srgbClr val="282828"/>
                </a:solidFill>
                <a:latin typeface="Arial"/>
              </a:rPr>
              <a:t>: the OAP pair distorts the image by more than a pitch at the edge, which the measured matrix absorbs and the numbers above already include.</a:t>
            </a:r>
          </a:p>
          <a:p>
            <a:pPr>
              <a:spcAft>
                <a:spcPts val="600"/>
              </a:spcAft>
            </a:pPr>
            <a:r>
              <a:rPr sz="1200" b="0">
                <a:solidFill>
                  <a:srgbClr val="282828"/>
                </a:solidFill>
                <a:latin typeface="Arial"/>
              </a:rPr>
              <a:t>•  </a:t>
            </a:r>
            <a:r>
              <a:rPr sz="1200" b="1">
                <a:solidFill>
                  <a:srgbClr val="282828"/>
                </a:solidFill>
                <a:latin typeface="Arial"/>
              </a:rPr>
              <a:t>The mirror rig's focus is perfect on axis and coma-limited off it</a:t>
            </a:r>
            <a:r>
              <a:rPr sz="1200" b="0">
                <a:solidFill>
                  <a:srgbClr val="282828"/>
                </a:solidFill>
                <a:latin typeface="Arial"/>
              </a:rPr>
              <a:t> (2.2 λF/D at the actuator-band tilt); not a pupil-image cost, a number to know for any off-axis reading at the seat.</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0.993 / 5 pm / SNR 1987; 1 nm on 120 sites 0.995 / 4 pm; dense 10 nm 0.978, 0.75 nm.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model's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1.008 / 2 pm / SNR 6364; 1 nm on 120 sites 1.001 / 4 pm; dense 10 nm 1.0035, 0.44 nm — the best line in the comparison.</a:t>
            </a:r>
          </a:p>
          <a:p>
            <a:pPr>
              <a:spcAft>
                <a:spcPts val="600"/>
              </a:spcAft>
            </a:pPr>
            <a:r>
              <a:rPr sz="1500" b="0">
                <a:solidFill>
                  <a:srgbClr val="282828"/>
                </a:solidFill>
                <a:latin typeface="Arial"/>
              </a:rPr>
              <a:t>•  </a:t>
            </a:r>
            <a:r>
              <a:rPr sz="1500" b="1">
                <a:solidFill>
                  <a:srgbClr val="282828"/>
                </a:solidFill>
                <a:latin typeface="Arial"/>
              </a:rPr>
              <a:t>Servo (mirror rig):</a:t>
            </a:r>
            <a:r>
              <a:rPr sz="1500" b="0">
                <a:solidFill>
                  <a:srgbClr val="282828"/>
                </a:solidFill>
                <a:latin typeface="Arial"/>
              </a:rPr>
              <a:t> 3 pm from 2.2e12 photons per cycle noise only, 6.8e12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0.995 / 3 pm / SNR 3845; 1 nm on 120 sites 0.998 / 3 pm; dense 10 nm 0.994, 313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a:t>
            </a:r>
            <a:r>
              <a:rPr sz="1500" b="1">
                <a:solidFill>
                  <a:srgbClr val="282828"/>
                </a:solidFill>
                <a:latin typeface="Arial"/>
              </a:rPr>
              <a:t>Not yet modeled: how the phase is stepped.</a:t>
            </a:r>
            <a:r>
              <a:rPr sz="1500" b="0">
                <a:solidFill>
                  <a:srgbClr val="282828"/>
                </a:solidFill>
                <a:latin typeface="Arial"/>
              </a:rPr>
              <a:t>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P/SRI is this sensor's two-arm form and differs from it in more than the phase shifter: a 60/40 pickoff, a reference lens, a 3.7 µm pinhole feeding a single-mode waveguide with a thermo-optic shifter, a recombiner and its own camera — a non-common-path reference where the stepped pinhole's reference shares the plate and the leg.  It pays 6× the photons at null and nothing off null; a capture instrument here, its trade in backup.  Run tags pdi193fbase, ploop193, pdi193state.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Each gauge reading the 30 nm working surface, station by station</a:t>
            </a:r>
          </a:p>
          <a:p>
            <a:pPr>
              <a:spcAft>
                <a:spcPts val="0"/>
              </a:spcAft>
            </a:pPr>
            <a:r>
              <a:rPr sz="1250" b="0">
                <a:solidFill>
                  <a:srgbClr val="6E6E6E"/>
                </a:solidFill>
                <a:latin typeface="Arial"/>
              </a:rPr>
              <a:t>The same mirror command through the four trains: what the camera sees, and what comes back; the last column is the raw map against the engine's own field, before any calibration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stations_row2_I.png"/>
          <p:cNvPicPr>
            <a:picLocks noChangeAspect="1"/>
          </p:cNvPicPr>
          <p:nvPr/>
        </p:nvPicPr>
        <p:blipFill>
          <a:blip r:embed="rId2"/>
          <a:stretch>
            <a:fillRect/>
          </a:stretch>
        </p:blipFill>
        <p:spPr>
          <a:xfrm>
            <a:off x="5212080" y="1060704"/>
            <a:ext cx="6629400" cy="1225296"/>
          </a:xfrm>
          <a:prstGeom prst="rect">
            <a:avLst/>
          </a:prstGeom>
        </p:spPr>
      </p:pic>
      <p:sp>
        <p:nvSpPr>
          <p:cNvPr id="5" name="TextBox 4"/>
          <p:cNvSpPr txBox="1"/>
          <p:nvPr/>
        </p:nvSpPr>
        <p:spPr>
          <a:xfrm>
            <a:off x="228600" y="1170432"/>
            <a:ext cx="3931920" cy="724408"/>
          </a:xfrm>
          <a:prstGeom prst="rect">
            <a:avLst/>
          </a:prstGeom>
          <a:noFill/>
        </p:spPr>
        <p:txBody>
          <a:bodyPr wrap="square">
            <a:spAutoFit/>
          </a:bodyPr>
          <a:lstStyle/>
          <a:p>
            <a:pPr algn="l">
              <a:spcAft>
                <a:spcPts val="0"/>
              </a:spcAft>
            </a:pPr>
            <a:r>
              <a:rPr sz="1000" b="0">
                <a:solidFill>
                  <a:srgbClr val="6E6E6E"/>
                </a:solidFill>
                <a:latin typeface="Arial"/>
              </a:rPr>
              <a:t>Interferometer (hybrid): the command; the test and reference arms at the camera; two of the four phase-stepped frames; the recovered surface, 25.8 nm rms; the raw map minus the engine's field, 463 pm, gain 0.987.</a:t>
            </a:r>
          </a:p>
        </p:txBody>
      </p:sp>
      <p:pic>
        <p:nvPicPr>
          <p:cNvPr id="6" name="Picture 5" descr="crop_stations_row2_S.png"/>
          <p:cNvPicPr>
            <a:picLocks noChangeAspect="1"/>
          </p:cNvPicPr>
          <p:nvPr/>
        </p:nvPicPr>
        <p:blipFill>
          <a:blip r:embed="rId3"/>
          <a:stretch>
            <a:fillRect/>
          </a:stretch>
        </p:blipFill>
        <p:spPr>
          <a:xfrm>
            <a:off x="5212080" y="2340864"/>
            <a:ext cx="6629400" cy="1161288"/>
          </a:xfrm>
          <a:prstGeom prst="rect">
            <a:avLst/>
          </a:prstGeom>
        </p:spPr>
      </p:pic>
      <p:sp>
        <p:nvSpPr>
          <p:cNvPr id="7" name="TextBox 6"/>
          <p:cNvSpPr txBox="1"/>
          <p:nvPr/>
        </p:nvSpPr>
        <p:spPr>
          <a:xfrm>
            <a:off x="228600" y="2450592"/>
            <a:ext cx="3931920" cy="889508"/>
          </a:xfrm>
          <a:prstGeom prst="rect">
            <a:avLst/>
          </a:prstGeom>
          <a:noFill/>
        </p:spPr>
        <p:txBody>
          <a:bodyPr wrap="square">
            <a:spAutoFit/>
          </a:bodyPr>
          <a:lstStyle/>
          <a:p>
            <a:pPr algn="l">
              <a:spcAft>
                <a:spcPts val="0"/>
              </a:spcAft>
            </a:pPr>
            <a:r>
              <a:rPr sz="1000" b="0">
                <a:solidFill>
                  <a:srgbClr val="6E6E6E"/>
                </a:solidFill>
                <a:latin typeface="Arial"/>
              </a:rPr>
              <a:t>Stepped Zernike: the focal spot with the dimple's footprint; the dimple's phase; the reference wave the dimple makes from the beam; the clear frame and the first depth frame; the recovered surface, 24.6 nm rms; raw map minus the engine 7.1 nm, gain 0.78.</a:t>
            </a:r>
          </a:p>
        </p:txBody>
      </p:sp>
      <p:pic>
        <p:nvPicPr>
          <p:cNvPr id="8" name="Picture 7" descr="crop_stations_row2_V.png"/>
          <p:cNvPicPr>
            <a:picLocks noChangeAspect="1"/>
          </p:cNvPicPr>
          <p:nvPr/>
        </p:nvPicPr>
        <p:blipFill>
          <a:blip r:embed="rId4"/>
          <a:stretch>
            <a:fillRect/>
          </a:stretch>
        </p:blipFill>
        <p:spPr>
          <a:xfrm>
            <a:off x="5212080" y="3557016"/>
            <a:ext cx="6629400" cy="1143000"/>
          </a:xfrm>
          <a:prstGeom prst="rect">
            <a:avLst/>
          </a:prstGeom>
        </p:spPr>
      </p:pic>
      <p:sp>
        <p:nvSpPr>
          <p:cNvPr id="9" name="TextBox 8"/>
          <p:cNvSpPr txBox="1"/>
          <p:nvPr/>
        </p:nvSpPr>
        <p:spPr>
          <a:xfrm>
            <a:off x="182880" y="3666744"/>
            <a:ext cx="3977639" cy="724408"/>
          </a:xfrm>
          <a:prstGeom prst="rect">
            <a:avLst/>
          </a:prstGeom>
          <a:noFill/>
        </p:spPr>
        <p:txBody>
          <a:bodyPr wrap="square">
            <a:spAutoFit/>
          </a:bodyPr>
          <a:lstStyle/>
          <a:p>
            <a:pPr algn="l">
              <a:spcAft>
                <a:spcPts val="0"/>
              </a:spcAft>
            </a:pPr>
            <a:r>
              <a:rPr sz="1000" b="0">
                <a:solidFill>
                  <a:srgbClr val="6E6E6E"/>
                </a:solidFill>
                <a:latin typeface="Arial"/>
              </a:rPr>
              <a:t>Vector Zernike: the metasurface (+90° on one circular state, −90° on the other); camera A and camera B, both frames at once; the pixel-by-pixel solve, 31.1 nm rms; raw map minus the engine 863 pm, gain 0.993 (200 pm of it on the flat: the arm term).</a:t>
            </a:r>
          </a:p>
        </p:txBody>
      </p:sp>
      <p:pic>
        <p:nvPicPr>
          <p:cNvPr id="10" name="Picture 9" descr="crop_stations_row2_P.png"/>
          <p:cNvPicPr>
            <a:picLocks noChangeAspect="1"/>
          </p:cNvPicPr>
          <p:nvPr/>
        </p:nvPicPr>
        <p:blipFill>
          <a:blip r:embed="rId5"/>
          <a:stretch>
            <a:fillRect/>
          </a:stretch>
        </p:blipFill>
        <p:spPr>
          <a:xfrm>
            <a:off x="5212080" y="4754880"/>
            <a:ext cx="6629400" cy="1143000"/>
          </a:xfrm>
          <a:prstGeom prst="rect">
            <a:avLst/>
          </a:prstGeom>
        </p:spPr>
      </p:pic>
      <p:sp>
        <p:nvSpPr>
          <p:cNvPr id="11" name="TextBox 10"/>
          <p:cNvSpPr txBox="1"/>
          <p:nvPr/>
        </p:nvSpPr>
        <p:spPr>
          <a:xfrm>
            <a:off x="182880" y="4864608"/>
            <a:ext cx="3977639" cy="724408"/>
          </a:xfrm>
          <a:prstGeom prst="rect">
            <a:avLst/>
          </a:prstGeom>
          <a:noFill/>
        </p:spPr>
        <p:txBody>
          <a:bodyPr wrap="square">
            <a:spAutoFit/>
          </a:bodyPr>
          <a:lstStyle/>
          <a:p>
            <a:pPr algn="l">
              <a:spcAft>
                <a:spcPts val="0"/>
              </a:spcAft>
            </a:pPr>
            <a:r>
              <a:rPr sz="1000" b="0">
                <a:solidFill>
                  <a:srgbClr val="6E6E6E"/>
                </a:solidFill>
                <a:latin typeface="Arial"/>
              </a:rPr>
              <a:t>Stepped pinhole: the pinhole plate (clear pinhole, the surround at 0.72); the first step frame and the shutter frame (the pinhole's light alone); the recovered surface, 30.7 nm rms; raw map minus the engine 730 pm, gain 0.981.</a:t>
            </a:r>
          </a:p>
        </p:txBody>
      </p:sp>
      <p:sp>
        <p:nvSpPr>
          <p:cNvPr id="12" name="TextBox 11"/>
          <p:cNvSpPr txBox="1"/>
          <p:nvPr/>
        </p:nvSpPr>
        <p:spPr>
          <a:xfrm>
            <a:off x="411480" y="5998464"/>
            <a:ext cx="11384280" cy="274320"/>
          </a:xfrm>
          <a:prstGeom prst="rect">
            <a:avLst/>
          </a:prstGeom>
          <a:noFill/>
        </p:spPr>
        <p:txBody>
          <a:bodyPr wrap="square">
            <a:spAutoFit/>
          </a:bodyPr>
          <a:lstStyle/>
          <a:p>
            <a:pPr>
              <a:spcAft>
                <a:spcPts val="600"/>
              </a:spcAft>
            </a:pPr>
            <a:r>
              <a:rPr sz="1000" b="0">
                <a:solidFill>
                  <a:srgbClr val="282828"/>
                </a:solidFill>
                <a:latin typeface="Arial"/>
              </a:rPr>
              <a:t>•  </a:t>
            </a:r>
            <a:r>
              <a:rPr sz="1000" b="1">
                <a:solidFill>
                  <a:srgbClr val="282828"/>
                </a:solidFill>
                <a:latin typeface="Arial"/>
              </a:rPr>
              <a:t>The stepped Zernike's 7.1 nm is a gain error, not noise:</a:t>
            </a:r>
            <a:r>
              <a:rPr sz="1000" b="0">
                <a:solidFill>
                  <a:srgbClr val="282828"/>
                </a:solidFill>
                <a:latin typeface="Arial"/>
              </a:rPr>
              <a:t> its inversion takes the reference wave's amplitude from the flat; on the 30 nm surface the focal core is weaker, so the raw map reads 22 % low (gain 0.78), shaped like the surface, and the matrix measured on the surface absorbs it (5 pm calibrated).  The vector pair's two simultaneous frames need no amplitude from the flat: gain 0.993.</a:t>
            </a:r>
          </a:p>
        </p:txBody>
      </p:sp>
      <p:sp>
        <p:nvSpPr>
          <p:cNvPr id="13" name="TextBox 12"/>
          <p:cNvSpPr txBox="1"/>
          <p:nvPr/>
        </p:nvSpPr>
        <p:spPr>
          <a:xfrm>
            <a:off x="411480" y="6455664"/>
            <a:ext cx="11384280" cy="274320"/>
          </a:xfrm>
          <a:prstGeom prst="rect">
            <a:avLst/>
          </a:prstGeom>
          <a:noFill/>
        </p:spPr>
        <p:txBody>
          <a:bodyPr wrap="square">
            <a:spAutoFit/>
          </a:bodyPr>
          <a:lstStyle/>
          <a:p>
            <a:pPr>
              <a:spcAft>
                <a:spcPts val="600"/>
              </a:spcAft>
            </a:pPr>
            <a:r>
              <a:rPr sz="1050" b="0">
                <a:solidFill>
                  <a:srgbClr val="6E6E6E"/>
                </a:solidFill>
                <a:latin typeface="Arial"/>
              </a:rPr>
              <a:t>Row 2 of each station figure, mirror rig, the same DM command in all four (30 nm rms over the lattice, seed 7); the full figures are in the backup.  The interferometer's camera sees 25.8 nm rms of it, the sensors' 31: the detector legs image the pupil differently (the pupil-image slide), and each matrix is measured through its own train.  Runs redo96_oapstn2, stations193_oap.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74996"/>
                <a:gridCol w="3427339"/>
                <a:gridCol w="2591402"/>
                <a:gridCol w="2674996"/>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120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1.004 / 1.4 pm / 7741</a:t>
                      </a:r>
                    </a:p>
                  </a:txBody>
                  <a:tcPr marL="54864" marR="54864" marT="18288" marB="18288">
                    <a:solidFill>
                      <a:srgbClr val="FFFFFF"/>
                    </a:solidFill>
                  </a:tcPr>
                </a:tc>
                <a:tc>
                  <a:txBody>
                    <a:bodyPr wrap="square"/>
                    <a:lstStyle/>
                    <a:p>
                      <a:r>
                        <a:rPr sz="1100" b="0">
                          <a:solidFill>
                            <a:srgbClr val="282828"/>
                          </a:solidFill>
                          <a:latin typeface="Arial"/>
                        </a:rPr>
                        <a:t>0.993 / 10 pm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c>
                  <a:txBody>
                    <a:bodyPr wrap="square"/>
                    <a:lstStyle/>
                    <a:p>
                      <a:r>
                        <a:rPr sz="1100" b="0">
                          <a:solidFill>
                            <a:srgbClr val="282828"/>
                          </a:solidFill>
                          <a:latin typeface="Arial"/>
                        </a:rPr>
                        <a:t>0.977 / 698 pm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0.993 / 5 pm / 1987</a:t>
                      </a:r>
                    </a:p>
                  </a:txBody>
                  <a:tcPr marL="54864" marR="54864" marT="18288" marB="18288">
                    <a:solidFill>
                      <a:srgbClr val="FFFFFF"/>
                    </a:solidFill>
                  </a:tcPr>
                </a:tc>
                <a:tc>
                  <a:txBody>
                    <a:bodyPr wrap="square"/>
                    <a:lstStyle/>
                    <a:p>
                      <a:r>
                        <a:rPr sz="1100" b="0">
                          <a:solidFill>
                            <a:srgbClr val="282828"/>
                          </a:solidFill>
                          <a:latin typeface="Arial"/>
                        </a:rPr>
                        <a:t>0.995 / 4 pm</a:t>
                      </a:r>
                    </a:p>
                  </a:txBody>
                  <a:tcPr marL="54864" marR="54864" marT="18288" marB="18288">
                    <a:solidFill>
                      <a:srgbClr val="FFFFFF"/>
                    </a:solidFill>
                  </a:tcPr>
                </a:tc>
                <a:tc>
                  <a:txBody>
                    <a:bodyPr wrap="square"/>
                    <a:lstStyle/>
                    <a:p>
                      <a:r>
                        <a:rPr sz="1100" b="0">
                          <a:solidFill>
                            <a:srgbClr val="282828"/>
                          </a:solidFill>
                          <a:latin typeface="Arial"/>
                        </a:rPr>
                        <a:t>0.978 / 0.75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1.008 / 2 pm / 6364</a:t>
                      </a:r>
                    </a:p>
                  </a:txBody>
                  <a:tcPr marL="54864" marR="54864" marT="18288" marB="18288">
                    <a:solidFill>
                      <a:srgbClr val="ECF1F6"/>
                    </a:solidFill>
                  </a:tcPr>
                </a:tc>
                <a:tc>
                  <a:txBody>
                    <a:bodyPr wrap="square"/>
                    <a:lstStyle/>
                    <a:p>
                      <a:r>
                        <a:rPr sz="1100" b="0">
                          <a:solidFill>
                            <a:srgbClr val="282828"/>
                          </a:solidFill>
                          <a:latin typeface="Arial"/>
                        </a:rPr>
                        <a:t>1.001 / 4 pm</a:t>
                      </a:r>
                    </a:p>
                  </a:txBody>
                  <a:tcPr marL="54864" marR="54864" marT="18288" marB="18288">
                    <a:solidFill>
                      <a:srgbClr val="ECF1F6"/>
                    </a:solidFill>
                  </a:tcPr>
                </a:tc>
                <a:tc>
                  <a:txBody>
                    <a:bodyPr wrap="square"/>
                    <a:lstStyle/>
                    <a:p>
                      <a:r>
                        <a:rPr sz="1100" b="0">
                          <a:solidFill>
                            <a:srgbClr val="282828"/>
                          </a:solidFill>
                          <a:latin typeface="Arial"/>
                        </a:rPr>
                        <a:t>1.0035 / 0.44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0.995 / 3 pm / 3845</a:t>
                      </a:r>
                    </a:p>
                  </a:txBody>
                  <a:tcPr marL="54864" marR="54864" marT="18288" marB="18288">
                    <a:solidFill>
                      <a:srgbClr val="FFFFFF"/>
                    </a:solidFill>
                  </a:tcPr>
                </a:tc>
                <a:tc>
                  <a:txBody>
                    <a:bodyPr wrap="square"/>
                    <a:lstStyle/>
                    <a:p>
                      <a:r>
                        <a:rPr sz="1100" b="0">
                          <a:solidFill>
                            <a:srgbClr val="282828"/>
                          </a:solidFill>
                          <a:latin typeface="Arial"/>
                        </a:rPr>
                        <a:t>0.998 / 3 pm</a:t>
                      </a:r>
                    </a:p>
                  </a:txBody>
                  <a:tcPr marL="54864" marR="54864" marT="18288" marB="18288">
                    <a:solidFill>
                      <a:srgbClr val="FFFFFF"/>
                    </a:solidFill>
                  </a:tcPr>
                </a:tc>
                <a:tc>
                  <a:txBody>
                    <a:bodyPr wrap="square"/>
                    <a:lstStyle/>
                    <a:p>
                      <a:r>
                        <a:rPr sz="1100" b="0">
                          <a:solidFill>
                            <a:srgbClr val="282828"/>
                          </a:solidFill>
                          <a:latin typeface="Arial"/>
                        </a:rPr>
                        <a:t>0.994 / 313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one-frame Zernike readings lose:</a:t>
            </a:r>
            <a:r>
              <a:rPr sz="1500" b="0">
                <a:solidFill>
                  <a:srgbClr val="282828"/>
                </a:solidFill>
                <a:latin typeface="Arial"/>
              </a:rPr>
              <a:t>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a:t>
            </a:r>
            <a:r>
              <a:rPr sz="1500" b="1">
                <a:solidFill>
                  <a:srgbClr val="282828"/>
                </a:solidFill>
                <a:latin typeface="Arial"/>
              </a:rPr>
              <a:t>The dense-pattern error is 0.3-0.75 nm for every reading, the interferometer's included;</a:t>
            </a:r>
            <a:r>
              <a:rPr sz="1500" b="0">
                <a:solidFill>
                  <a:srgbClr val="282828"/>
                </a:solidFill>
                <a:latin typeface="Arial"/>
              </a:rPr>
              <a:t> the single-actuator and grid rows, which the servo uses, are at 1-10 pm.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(interferometer, 385 px), redo96_oapsens (the three sensors on the mirror rig, 385 px); the one-frame Zernike readings and the P/SRI at 193 px (matbase, pfdeck).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54730"/>
        </p:xfrm>
        <a:graphic>
          <a:graphicData uri="http://schemas.openxmlformats.org/drawingml/2006/table">
            <a:tbl>
              <a:tblPr firstRow="1" bandRow="1">
                <a:tableStyleId>{5C22544A-7EE6-4342-B048-85BDC9FD1C3A}</a:tableStyleId>
              </a:tblPr>
              <a:tblGrid>
                <a:gridCol w="2977661"/>
                <a:gridCol w="282877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both rigs</a:t>
                      </a:r>
                    </a:p>
                  </a:txBody>
                  <a:tcPr marL="54864" marR="54864" marT="18288" marB="18288">
                    <a:solidFill>
                      <a:srgbClr val="ECF1F6"/>
                    </a:solidFill>
                  </a:tcPr>
                </a:tc>
                <a:tc>
                  <a:txBody>
                    <a:bodyPr wrap="square"/>
                    <a:lstStyle/>
                    <a:p>
                      <a:r>
                        <a:rPr sz="1100" b="0">
                          <a:solidFill>
                            <a:srgbClr val="282828"/>
                          </a:solidFill>
                          <a:latin typeface="Arial"/>
                        </a:rPr>
                        <a:t>480 nm and beyond, single site and grid</a:t>
                      </a:r>
                    </a:p>
                  </a:txBody>
                  <a:tcPr marL="54864" marR="54864" marT="18288" marB="18288">
                    <a:solidFill>
                      <a:srgbClr val="ECF1F6"/>
                    </a:solidFill>
                  </a:tcPr>
                </a:tc>
              </a:tr>
              <a:tr h="468630">
                <a:tc>
                  <a:txBody>
                    <a:bodyPr wrap="square"/>
                    <a:lstStyle/>
                    <a:p>
                      <a:r>
                        <a:rPr sz="1100" b="0">
                          <a:solidFill>
                            <a:srgbClr val="282828"/>
                          </a:solidFill>
                          <a:latin typeface="Arial"/>
                        </a:rPr>
                        <a:t>Zernike stepped / vector / pinhole on the mirror rig, 385 px</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sensors age:</a:t>
            </a:r>
            <a:r>
              <a:rPr sz="1500" b="0">
                <a:solidFill>
                  <a:srgbClr val="282828"/>
                </a:solidFill>
                <a:latin typeface="Arial"/>
              </a:rPr>
              <a:t>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a:t>
            </a:r>
            <a:r>
              <a:rPr sz="1500" b="1">
                <a:solidFill>
                  <a:srgbClr val="282828"/>
                </a:solidFill>
                <a:latin typeface="Arial"/>
              </a:rPr>
              <a:t>The shutter frame fixes the pinhole's version of this:</a:t>
            </a:r>
            <a:r>
              <a:rPr sz="1500" b="0">
                <a:solidFill>
                  <a:srgbClr val="282828"/>
                </a:solidFill>
                <a:latin typeface="Arial"/>
              </a:rPr>
              <a:t> measuring the reference by itself each state removes the surface dependence, for one more frame.</a:t>
            </a:r>
          </a:p>
          <a:p>
            <a:pPr>
              <a:spcAft>
                <a:spcPts val="600"/>
              </a:spcAft>
            </a:pPr>
            <a:r>
              <a:rPr sz="1500" b="0">
                <a:solidFill>
                  <a:srgbClr val="282828"/>
                </a:solidFill>
                <a:latin typeface="Arial"/>
              </a:rPr>
              <a:t>•  </a:t>
            </a:r>
            <a:r>
              <a:rPr sz="1500" b="1">
                <a:solidFill>
                  <a:srgbClr val="282828"/>
                </a:solidFill>
                <a:latin typeface="Arial"/>
              </a:rPr>
              <a:t>Re-measuring the matrix on the surface restores every reading's gain</a:t>
            </a:r>
            <a:r>
              <a:rPr sz="1500" b="0">
                <a:solidFill>
                  <a:srgbClr val="282828"/>
                </a:solidFill>
                <a:latin typeface="Arial"/>
              </a:rPr>
              <a:t>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811780"/>
        </p:xfrm>
        <a:graphic>
          <a:graphicData uri="http://schemas.openxmlformats.org/drawingml/2006/table">
            <a:tbl>
              <a:tblPr firstRow="1" bandRow="1">
                <a:tableStyleId>{5C22544A-7EE6-4342-B048-85BDC9FD1C3A}</a:tableStyleId>
              </a:tblPr>
              <a:tblGrid>
                <a:gridCol w="1741931"/>
                <a:gridCol w="2322576"/>
                <a:gridCol w="17419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matrix on the flat</a:t>
                      </a:r>
                    </a:p>
                  </a:txBody>
                  <a:tcPr marL="54864" marR="54864" marT="18288" marB="18288">
                    <a:solidFill>
                      <a:srgbClr val="1F4E79"/>
                    </a:solidFill>
                  </a:tcPr>
                </a:tc>
                <a:tc>
                  <a:txBody>
                    <a:bodyPr wrap="square"/>
                    <a:lstStyle/>
                    <a:p>
                      <a:r>
                        <a:rPr sz="1100" b="1">
                          <a:solidFill>
                            <a:srgbClr val="FFFFFF"/>
                          </a:solidFill>
                          <a:latin typeface="Arial"/>
                        </a:rPr>
                        <a:t>matrix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4.3e13</a:t>
                      </a:r>
                    </a:p>
                  </a:txBody>
                  <a:tcPr marL="54864" marR="54864" marT="18288" marB="18288">
                    <a:solidFill>
                      <a:srgbClr val="FFFFFF"/>
                    </a:solidFill>
                  </a:tcPr>
                </a:tc>
                <a:tc>
                  <a:txBody>
                    <a:bodyPr wrap="square"/>
                    <a:lstStyle/>
                    <a:p>
                      <a:r>
                        <a:rPr sz="1100" b="0">
                          <a:solidFill>
                            <a:srgbClr val="282828"/>
                          </a:solidFill>
                          <a:latin typeface="Arial"/>
                        </a:rPr>
                        <a:t>4.6e13</a:t>
                      </a:r>
                    </a:p>
                  </a:txBody>
                  <a:tcPr marL="54864" marR="54864" marT="18288" marB="18288">
                    <a:solidFill>
                      <a:srgbClr val="FFFFFF"/>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c>
                  <a:txBody>
                    <a:bodyPr wrap="square"/>
                    <a:lstStyle/>
                    <a:p>
                      <a:r>
                        <a:rPr sz="1100" b="0">
                          <a:solidFill>
                            <a:srgbClr val="282828"/>
                          </a:solidFill>
                          <a:latin typeface="Arial"/>
                        </a:rPr>
                        <a:t>1.2e14</a:t>
                      </a:r>
                    </a:p>
                  </a:txBody>
                  <a:tcPr marL="54864" marR="54864" marT="18288" marB="18288">
                    <a:solidFill>
                      <a:srgbClr val="ECF1F6"/>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FFFFFF"/>
                    </a:solidFill>
                  </a:tcPr>
                </a:tc>
                <a:tc>
                  <a:txBody>
                    <a:bodyPr wrap="square"/>
                    <a:lstStyle/>
                    <a:p>
                      <a:r>
                        <a:rPr sz="1100" b="0">
                          <a:solidFill>
                            <a:srgbClr val="282828"/>
                          </a:solidFill>
                          <a:latin typeface="Arial"/>
                        </a:rPr>
                        <a:t>1.3e14</a:t>
                      </a:r>
                    </a:p>
                  </a:txBody>
                  <a:tcPr marL="54864" marR="54864" marT="18288" marB="18288">
                    <a:solidFill>
                      <a:srgbClr val="FFFFFF"/>
                    </a:solidFill>
                  </a:tcPr>
                </a:tc>
                <a:tc>
                  <a:txBody>
                    <a:bodyPr wrap="square"/>
                    <a:lstStyle/>
                    <a:p>
                      <a:r>
                        <a:rPr sz="1100" b="0">
                          <a:solidFill>
                            <a:srgbClr val="282828"/>
                          </a:solidFill>
                          <a:latin typeface="Arial"/>
                        </a:rPr>
                        <a:t>1.5e14</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9.9e14</a:t>
                      </a:r>
                    </a:p>
                  </a:txBody>
                  <a:tcPr marL="54864" marR="54864" marT="18288" marB="18288">
                    <a:solidFill>
                      <a:srgbClr val="FFFFFF"/>
                    </a:solidFill>
                  </a:tcPr>
                </a:tc>
              </a:tr>
            </a:tbl>
          </a:graphicData>
        </a:graphic>
      </p:graphicFrame>
      <p:pic>
        <p:nvPicPr>
          <p:cNvPr id="5" name="Picture 4" descr="zwfs_redo96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2811780"/>
        </p:xfrm>
        <a:graphic>
          <a:graphicData uri="http://schemas.openxmlformats.org/drawingml/2006/table">
            <a:tbl>
              <a:tblPr firstRow="1" bandRow="1">
                <a:tableStyleId>{5C22544A-7EE6-4342-B048-85BDC9FD1C3A}</a:tableStyleId>
              </a:tblPr>
              <a:tblGrid>
                <a:gridCol w="1096320"/>
                <a:gridCol w="649671"/>
                <a:gridCol w="1299343"/>
                <a:gridCol w="1339947"/>
                <a:gridCol w="142115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2.2e12</a:t>
                      </a:r>
                    </a:p>
                  </a:txBody>
                  <a:tcPr marL="54864" marR="54864" marT="18288" marB="18288">
                    <a:solidFill>
                      <a:srgbClr val="FFFFFF"/>
                    </a:solidFill>
                  </a:tcPr>
                </a:tc>
                <a:tc>
                  <a:txBody>
                    <a:bodyPr wrap="square"/>
                    <a:lstStyle/>
                    <a:p>
                      <a:r>
                        <a:rPr sz="1100" b="0">
                          <a:solidFill>
                            <a:srgbClr val="282828"/>
                          </a:solidFill>
                          <a:latin typeface="Arial"/>
                        </a:rPr>
                        <a:t>6.8e12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3.1e12</a:t>
                      </a:r>
                    </a:p>
                  </a:txBody>
                  <a:tcPr marL="54864" marR="54864" marT="18288" marB="18288">
                    <a:solidFill>
                      <a:srgbClr val="ECF1F6"/>
                    </a:solidFill>
                  </a:tcPr>
                </a:tc>
                <a:tc>
                  <a:txBody>
                    <a:bodyPr wrap="square"/>
                    <a:lstStyle/>
                    <a:p>
                      <a:r>
                        <a:rPr sz="1100" b="0">
                          <a:solidFill>
                            <a:srgbClr val="282828"/>
                          </a:solidFill>
                          <a:latin typeface="Arial"/>
                        </a:rPr>
                        <a:t>8.4e12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FFFFFF"/>
                    </a:solidFill>
                  </a:tcPr>
                </a:tc>
                <a:tc>
                  <a:txBody>
                    <a:bodyPr wrap="square"/>
                    <a:lstStyle/>
                    <a:p>
                      <a:r>
                        <a:rPr sz="1100" b="0">
                          <a:solidFill>
                            <a:srgbClr val="282828"/>
                          </a:solidFill>
                          <a:latin typeface="Arial"/>
                        </a:rPr>
                        <a:t>3.5e12</a:t>
                      </a:r>
                    </a:p>
                  </a:txBody>
                  <a:tcPr marL="54864" marR="54864" marT="18288" marB="18288">
                    <a:solidFill>
                      <a:srgbClr val="FFFFFF"/>
                    </a:solidFill>
                  </a:tcPr>
                </a:tc>
                <a:tc>
                  <a:txBody>
                    <a:bodyPr wrap="square"/>
                    <a:lstStyle/>
                    <a:p>
                      <a:r>
                        <a:rPr sz="1100" b="0">
                          <a:solidFill>
                            <a:srgbClr val="282828"/>
                          </a:solidFill>
                          <a:latin typeface="Arial"/>
                        </a:rPr>
                        <a:t>9.1e12</a:t>
                      </a:r>
                    </a:p>
                  </a:txBody>
                  <a:tcPr marL="54864" marR="54864" marT="18288" marB="18288">
                    <a:solidFill>
                      <a:srgbClr val="FFFFFF"/>
                    </a:solidFill>
                  </a:tcPr>
                </a:tc>
                <a:tc>
                  <a:txBody>
                    <a:bodyPr wrap="square"/>
                    <a:lstStyle/>
                    <a:p>
                      <a:r>
                        <a:rPr sz="1100" b="0">
                          <a:solidFill>
                            <a:srgbClr val="282828"/>
                          </a:solidFill>
                          <a:latin typeface="Arial"/>
                        </a:rPr>
                        <a:t>10.5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c>
                  <a:txBody>
                    <a:bodyPr wrap="square"/>
                    <a:lstStyle/>
                    <a:p>
                      <a:r>
                        <a:rPr sz="1100" b="0">
                          <a:solidFill>
                            <a:srgbClr val="282828"/>
                          </a:solidFill>
                          <a:latin typeface="Arial"/>
                        </a:rPr>
                        <a:t>11.5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10.2 pm</a:t>
                      </a:r>
                    </a:p>
                  </a:txBody>
                  <a:tcPr marL="54864" marR="54864" marT="18288" marB="18288">
                    <a:solidFill>
                      <a:srgbClr val="FFFFFF"/>
                    </a:solidFill>
                  </a:tcPr>
                </a:tc>
                <a:tc>
                  <a:txBody>
                    <a:bodyPr wrap="square"/>
                    <a:lstStyle/>
                    <a:p>
                      <a:r>
                        <a:rPr sz="1100" b="0">
                          <a:solidFill>
                            <a:srgbClr val="282828"/>
                          </a:solidFill>
                          <a:latin typeface="Arial"/>
                        </a:rPr>
                        <a:t>0.015 pm</a:t>
                      </a:r>
                    </a:p>
                  </a:txBody>
                  <a:tcPr marL="54864" marR="54864" marT="18288" marB="18288">
                    <a:solidFill>
                      <a:srgbClr val="FFFFFF"/>
                    </a:solidFill>
                  </a:tcPr>
                </a:tc>
              </a:tr>
            </a:tbl>
          </a:graphicData>
        </a:graphic>
      </p:graphicFrame>
      <p:pic>
        <p:nvPicPr>
          <p:cNvPr id="5" name="Picture 4" descr="crop_zwfs_redo96_loop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Zernike (green), the vector pair (purple) and the pinhole (red),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126230"/>
        </p:xfrm>
        <a:graphic>
          <a:graphicData uri="http://schemas.openxmlformats.org/drawingml/2006/table">
            <a:tbl>
              <a:tblPr firstRow="1" bandRow="1">
                <a:tableStyleId>{5C22544A-7EE6-4342-B048-85BDC9FD1C3A}</a:tableStyleId>
              </a:tblPr>
              <a:tblGrid>
                <a:gridCol w="1090712"/>
                <a:gridCol w="930313"/>
                <a:gridCol w="3785413"/>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657225">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200 nm (400 nm WFE)</a:t>
                      </a:r>
                    </a:p>
                  </a:txBody>
                  <a:tcPr marL="54864" marR="54864" marT="18288" marB="18288">
                    <a:solidFill>
                      <a:srgbClr val="ECF1F6"/>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ECF1F6"/>
                    </a:solidFill>
                  </a:tcPr>
                </a:tc>
              </a:tr>
              <a:tr h="657225">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3.1 pm at cycle 60 from 30, 100 and 200 nm alike, contraction 0.50-0.69; not under 3 pm within 60 cycles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wrap is not the limit for the self-referenced sensors:</a:t>
            </a:r>
            <a:r>
              <a:rPr sz="1500" b="0">
                <a:solidFill>
                  <a:srgbClr val="282828"/>
                </a:solidFill>
                <a:latin typeface="Arial"/>
              </a:rPr>
              <a:t>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a:t>
            </a:r>
            <a:r>
              <a:rPr sz="1500" b="1">
                <a:solidFill>
                  <a:srgbClr val="282828"/>
                </a:solidFill>
                <a:latin typeface="Arial"/>
              </a:rPr>
              <a:t>Unwrapping alone is not enough for the pinhole or the P/SRI:</a:t>
            </a:r>
            <a:r>
              <a:rPr sz="1500" b="0">
                <a:solidFill>
                  <a:srgbClr val="282828"/>
                </a:solidFill>
                <a:latin typeface="Arial"/>
              </a:rPr>
              <a:t>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a:t>
            </a:r>
            <a:r>
              <a:rPr sz="1500" b="1">
                <a:solidFill>
                  <a:srgbClr val="282828"/>
                </a:solidFill>
                <a:latin typeface="Arial"/>
              </a:rPr>
              <a:t>The interferometer needs no recalibration</a:t>
            </a:r>
            <a:r>
              <a:rPr sz="1500" b="0">
                <a:solidFill>
                  <a:srgbClr val="282828"/>
                </a:solidFill>
                <a:latin typeface="Arial"/>
              </a:rPr>
              <a:t>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two front ends</a:t>
            </a:r>
          </a:p>
          <a:p>
            <a:pPr>
              <a:spcAft>
                <a:spcPts val="0"/>
              </a:spcAft>
            </a:pPr>
            <a:r>
              <a:rPr sz="1250" b="0">
                <a:solidFill>
                  <a:srgbClr val="6E6E6E"/>
                </a:solidFill>
                <a:latin typeface="Arial"/>
              </a:rPr>
              <a:t>Both rigs hold 3 pm at the same photon cost within 15 % and the mirror rig reads 1 pm for 30 % fewer photons; it is achromatic, puts no glass in the beam, captures faster, and is where the sensors were scored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360420"/>
        </p:xfrm>
        <a:graphic>
          <a:graphicData uri="http://schemas.openxmlformats.org/drawingml/2006/table">
            <a:tbl>
              <a:tblPr firstRow="1" bandRow="1">
                <a:tableStyleId>{5C22544A-7EE6-4342-B048-85BDC9FD1C3A}</a:tableStyleId>
              </a:tblPr>
              <a:tblGrid>
                <a:gridCol w="4625899"/>
                <a:gridCol w="2979392"/>
                <a:gridCol w="376344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(protected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1.004 / 1.4 pm / SNR 7741</a:t>
                      </a:r>
                    </a:p>
                  </a:txBody>
                  <a:tcPr marL="54864" marR="54864" marT="18288" marB="18288">
                    <a:solidFill>
                      <a:srgbClr val="FFFFFF"/>
                    </a:solidFill>
                  </a:tcPr>
                </a:tc>
                <a:tc>
                  <a:txBody>
                    <a:bodyPr wrap="square"/>
                    <a:lstStyle/>
                    <a:p>
                      <a:r>
                        <a:rPr sz="1100" b="0">
                          <a:solidFill>
                            <a:srgbClr val="282828"/>
                          </a:solidFill>
                          <a:latin typeface="Arial"/>
                        </a:rPr>
                        <a:t>0.986 / 2.3 pm / 6044</a:t>
                      </a:r>
                    </a:p>
                  </a:txBody>
                  <a:tcPr marL="54864" marR="54864" marT="18288" marB="18288">
                    <a:solidFill>
                      <a:srgbClr val="FFFFFF"/>
                    </a:solidFill>
                  </a:tcPr>
                </a:tc>
              </a:tr>
              <a:tr h="280035">
                <a:tc>
                  <a:txBody>
                    <a:bodyPr wrap="square"/>
                    <a:lstStyle/>
                    <a:p>
                      <a:r>
                        <a:rPr sz="1100" b="0">
                          <a:solidFill>
                            <a:srgbClr val="282828"/>
                          </a:solidFill>
                          <a:latin typeface="Arial"/>
                        </a:rPr>
                        <a:t>interferometer, 1 nm on 120 sites</a:t>
                      </a:r>
                    </a:p>
                  </a:txBody>
                  <a:tcPr marL="54864" marR="54864" marT="18288" marB="18288">
                    <a:solidFill>
                      <a:srgbClr val="ECF1F6"/>
                    </a:solidFill>
                  </a:tcPr>
                </a:tc>
                <a:tc>
                  <a:txBody>
                    <a:bodyPr wrap="square"/>
                    <a:lstStyle/>
                    <a:p>
                      <a:r>
                        <a:rPr sz="1100" b="0">
                          <a:solidFill>
                            <a:srgbClr val="282828"/>
                          </a:solidFill>
                          <a:latin typeface="Arial"/>
                        </a:rPr>
                        <a:t>0.993 / 10 pm</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c>
                  <a:txBody>
                    <a:bodyPr wrap="square"/>
                    <a:lstStyle/>
                    <a:p>
                      <a:r>
                        <a:rPr sz="1100" b="0">
                          <a:solidFill>
                            <a:srgbClr val="282828"/>
                          </a:solidFill>
                          <a:latin typeface="Arial"/>
                        </a:rPr>
                        <a:t>0.977 / 698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photons for 1 pm on the 30 nm surface</a:t>
                      </a:r>
                    </a:p>
                  </a:txBody>
                  <a:tcPr marL="54864" marR="54864" marT="18288" marB="18288">
                    <a:solidFill>
                      <a:srgbClr val="ECF1F6"/>
                    </a:solidFill>
                  </a:tcPr>
                </a:tc>
                <a:tc>
                  <a:txBody>
                    <a:bodyPr wrap="square"/>
                    <a:lstStyle/>
                    <a:p>
                      <a:r>
                        <a:rPr sz="1100" b="0">
                          <a:solidFill>
                            <a:srgbClr val="282828"/>
                          </a:solidFill>
                          <a:latin typeface="Arial"/>
                        </a:rPr>
                        <a:t>9.9e14</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FFFFFF"/>
                    </a:solidFill>
                  </a:tcPr>
                </a:tc>
                <a:tc>
                  <a:txBody>
                    <a:bodyPr wrap="square"/>
                    <a:lstStyle/>
                    <a:p>
                      <a:r>
                        <a:rPr sz="1100" b="0">
                          <a:solidFill>
                            <a:srgbClr val="282828"/>
                          </a:solidFill>
                          <a:latin typeface="Arial"/>
                        </a:rPr>
                        <a:t>2.3e13 / 7.1e13</a:t>
                      </a:r>
                    </a:p>
                  </a:txBody>
                  <a:tcPr marL="54864" marR="54864" marT="18288" marB="18288">
                    <a:solidFill>
                      <a:srgbClr val="FFFFFF"/>
                    </a:solidFill>
                  </a:tcPr>
                </a:tc>
                <a:tc>
                  <a:txBody>
                    <a:bodyPr wrap="square"/>
                    <a:lstStyle/>
                    <a:p>
                      <a:r>
                        <a:rPr sz="1100" b="0">
                          <a:solidFill>
                            <a:srgbClr val="282828"/>
                          </a:solidFill>
                          <a:latin typeface="Arial"/>
                        </a:rPr>
                        <a:t>2.0e13 / 6.6e13</a:t>
                      </a:r>
                    </a:p>
                  </a:txBody>
                  <a:tcPr marL="54864" marR="54864" marT="18288" marB="18288">
                    <a:solidFill>
                      <a:srgbClr val="FFFFFF"/>
                    </a:solidFill>
                  </a:tcPr>
                </a:tc>
              </a:tr>
              <a:tr h="280035">
                <a:tc>
                  <a:txBody>
                    <a:bodyPr wrap="square"/>
                    <a:lstStyle/>
                    <a:p>
                      <a:r>
                        <a:rPr sz="1100" b="0">
                          <a:solidFill>
                            <a:srgbClr val="282828"/>
                          </a:solidFill>
                          <a:latin typeface="Arial"/>
                        </a:rPr>
                        <a:t>noiseless 1 nm step, residual at cycle 60</a:t>
                      </a:r>
                    </a:p>
                  </a:txBody>
                  <a:tcPr marL="54864" marR="54864" marT="18288" marB="18288">
                    <a:solidFill>
                      <a:srgbClr val="ECF1F6"/>
                    </a:solidFill>
                  </a:tcPr>
                </a:tc>
                <a:tc>
                  <a:txBody>
                    <a:bodyPr wrap="square"/>
                    <a:lstStyle/>
                    <a:p>
                      <a:r>
                        <a:rPr sz="1100" b="0">
                          <a:solidFill>
                            <a:srgbClr val="282828"/>
                          </a:solidFill>
                          <a:latin typeface="Arial"/>
                        </a:rPr>
                        <a:t>0.015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3.1 pm at cycle 60 from 100 and 200 nm</a:t>
                      </a:r>
                    </a:p>
                  </a:txBody>
                  <a:tcPr marL="54864" marR="54864" marT="18288" marB="18288">
                    <a:solidFill>
                      <a:srgbClr val="FFFFFF"/>
                    </a:solidFill>
                  </a:tcPr>
                </a:tc>
                <a:tc>
                  <a:txBody>
                    <a:bodyPr wrap="square"/>
                    <a:lstStyle/>
                    <a:p>
                      <a:r>
                        <a:rPr sz="1100" b="0">
                          <a:solidFill>
                            <a:srgbClr val="282828"/>
                          </a:solidFill>
                          <a:latin typeface="Arial"/>
                        </a:rPr>
                        <a:t>3 pm from 100 nm in 19 cycles, from 200 nm in 24</a:t>
                      </a:r>
                    </a:p>
                  </a:txBody>
                  <a:tcPr marL="54864" marR="54864" marT="18288" marB="18288">
                    <a:solidFill>
                      <a:srgbClr val="FFFFFF"/>
                    </a:solidFill>
                  </a:tcPr>
                </a:tc>
              </a:tr>
              <a:tr h="280035">
                <a:tc>
                  <a:txBody>
                    <a:bodyPr wrap="square"/>
                    <a:lstStyle/>
                    <a:p>
                      <a:r>
                        <a:rPr sz="1100" b="0">
                          <a:solidFill>
                            <a:srgbClr val="282828"/>
                          </a:solidFill>
                          <a:latin typeface="Arial"/>
                        </a:rPr>
                        <a:t>flat-mirror null with the substrates in</a:t>
                      </a:r>
                    </a:p>
                  </a:txBody>
                  <a:tcPr marL="54864" marR="54864" marT="18288" marB="18288">
                    <a:solidFill>
                      <a:srgbClr val="ECF1F6"/>
                    </a:solidFill>
                  </a:tcPr>
                </a:tc>
                <a:tc>
                  <a:txBody>
                    <a:bodyPr wrap="square"/>
                    <a:lstStyle/>
                    <a:p>
                      <a:r>
                        <a:rPr sz="1100" b="0">
                          <a:solidFill>
                            <a:srgbClr val="282828"/>
                          </a:solidFill>
                          <a:latin typeface="Arial"/>
                        </a:rPr>
                        <a:t>59 nm</a:t>
                      </a:r>
                    </a:p>
                  </a:txBody>
                  <a:tcPr marL="54864" marR="54864" marT="18288" marB="18288">
                    <a:solidFill>
                      <a:srgbClr val="ECF1F6"/>
                    </a:solidFill>
                  </a:tcPr>
                </a:tc>
                <a:tc>
                  <a:txBody>
                    <a:bodyPr wrap="square"/>
                    <a:lstStyle/>
                    <a:p>
                      <a:r>
                        <a:rPr sz="1100" b="0">
                          <a:solidFill>
                            <a:srgbClr val="282828"/>
                          </a:solidFill>
                          <a:latin typeface="Arial"/>
                        </a:rPr>
                        <a:t>26.5 nm</a:t>
                      </a:r>
                    </a:p>
                  </a:txBody>
                  <a:tcPr marL="54864" marR="54864" marT="18288" marB="18288">
                    <a:solidFill>
                      <a:srgbClr val="ECF1F6"/>
                    </a:solidFill>
                  </a:tcPr>
                </a:tc>
              </a:tr>
              <a:tr h="280035">
                <a:tc>
                  <a:txBody>
                    <a:bodyPr wrap="square"/>
                    <a:lstStyle/>
                    <a:p>
                      <a:r>
                        <a:rPr sz="1100" b="0">
                          <a:solidFill>
                            <a:srgbClr val="282828"/>
                          </a:solidFill>
                          <a:latin typeface="Arial"/>
                        </a:rPr>
                        <a:t>sensors, 10 nm on one actuator (stepped / vector / pinhole)</a:t>
                      </a:r>
                    </a:p>
                  </a:txBody>
                  <a:tcPr marL="54864" marR="54864" marT="18288" marB="18288">
                    <a:solidFill>
                      <a:srgbClr val="FFFFFF"/>
                    </a:solidFill>
                  </a:tcPr>
                </a:tc>
                <a:tc>
                  <a:txBody>
                    <a:bodyPr wrap="square"/>
                    <a:lstStyle/>
                    <a:p>
                      <a:r>
                        <a:rPr sz="1100" b="0">
                          <a:solidFill>
                            <a:srgbClr val="282828"/>
                          </a:solidFill>
                          <a:latin typeface="Arial"/>
                        </a:rPr>
                        <a:t>not run on the lens rig</a:t>
                      </a:r>
                    </a:p>
                  </a:txBody>
                  <a:tcPr marL="54864" marR="54864" marT="18288" marB="18288">
                    <a:solidFill>
                      <a:srgbClr val="FFFFFF"/>
                    </a:solidFill>
                  </a:tcPr>
                </a:tc>
                <a:tc>
                  <a:txBody>
                    <a:bodyPr wrap="square"/>
                    <a:lstStyle/>
                    <a:p>
                      <a:r>
                        <a:rPr sz="1100" b="0">
                          <a:solidFill>
                            <a:srgbClr val="282828"/>
                          </a:solidFill>
                          <a:latin typeface="Arial"/>
                        </a:rPr>
                        <a:t>0.993 / 5, 1.008 / 2, 0.995 / 3 pm</a:t>
                      </a:r>
                    </a:p>
                  </a:txBody>
                  <a:tcPr marL="54864" marR="54864" marT="18288" marB="18288">
                    <a:solidFill>
                      <a:srgbClr val="FFFFFF"/>
                    </a:solidFill>
                  </a:tcPr>
                </a:tc>
              </a:tr>
              <a:tr h="280035">
                <a:tc>
                  <a:txBody>
                    <a:bodyPr wrap="square"/>
                    <a:lstStyle/>
                    <a:p>
                      <a:r>
                        <a:rPr sz="1100" b="0">
                          <a:solidFill>
                            <a:srgbClr val="282828"/>
                          </a:solidFill>
                          <a:latin typeface="Arial"/>
                        </a:rPr>
                        <a:t>sensors' capture range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r>
              <a:tr h="280035">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(D4 not yet run on this bench)</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pair's raw error on the mirror rig is channel amplitude imbalance from the metal folds</a:t>
            </a:r>
            <a:r>
              <a:rPr sz="1500" b="0">
                <a:solidFill>
                  <a:srgbClr val="282828"/>
                </a:solidFill>
                <a:latin typeface="Arial"/>
              </a:rPr>
              <a:t> (1.08 between its two circular channels on bare aluminum; a quarter-wave overcoat halves the error), not channel phase; the calibrated reading passes its gate.</a:t>
            </a:r>
          </a:p>
          <a:p>
            <a:pPr>
              <a:spcAft>
                <a:spcPts val="600"/>
              </a:spcAft>
            </a:pPr>
            <a:r>
              <a:rPr sz="1500" b="0">
                <a:solidFill>
                  <a:srgbClr val="282828"/>
                </a:solidFill>
                <a:latin typeface="Arial"/>
              </a:rPr>
              <a:t>•  </a:t>
            </a:r>
            <a:r>
              <a:rPr sz="1500" b="1">
                <a:solidFill>
                  <a:srgbClr val="282828"/>
                </a:solidFill>
                <a:latin typeface="Arial"/>
              </a:rPr>
              <a:t>Both rigs wrap between 60 and 120 nm of surface</a:t>
            </a:r>
            <a:r>
              <a:rPr sz="1500" b="0">
                <a:solidFill>
                  <a:srgbClr val="282828"/>
                </a:solidFill>
                <a:latin typeface="Arial"/>
              </a:rPr>
              <a:t> (a base the four-step cannot follow reads λ/2 ÷ √12 = 91 nm rms); the capture range is set by the unwrapping, not by the front end.</a:t>
            </a:r>
          </a:p>
        </p:txBody>
      </p:sp>
      <p:sp>
        <p:nvSpPr>
          <p:cNvPr id="6" name="TextBox 5"/>
          <p:cNvSpPr txBox="1"/>
          <p:nvPr/>
        </p:nvSpPr>
        <p:spPr>
          <a:xfrm>
            <a:off x="411480" y="63604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203445"/>
                <a:gridCol w="3824849"/>
                <a:gridCol w="3450679"/>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Hold:</a:t>
            </a:r>
            <a:r>
              <a:rPr sz="1500" b="0">
                <a:solidFill>
                  <a:srgbClr val="282828"/>
                </a:solidFill>
                <a:latin typeface="Arial"/>
              </a:rPr>
              <a:t> the polarized dimple is the best reading on every line — 3 pm from 2.2e12 photons per cycle, two frames taken at once, no stepping, no fold, no fixed error, and every systematic we modeled calibrated by the matrix measured through it.  The stepped scalar dimple is the fallback with no polarization optics, at 1.6× the light.</a:t>
            </a:r>
          </a:p>
          <a:p>
            <a:pPr>
              <a:spcAft>
                <a:spcPts val="600"/>
              </a:spcAft>
            </a:pPr>
            <a:r>
              <a:rPr sz="1500" b="0">
                <a:solidFill>
                  <a:srgbClr val="282828"/>
                </a:solidFill>
                <a:latin typeface="Arial"/>
              </a:rPr>
              <a:t>•  </a:t>
            </a:r>
            <a:r>
              <a:rPr sz="1500" b="1">
                <a:solidFill>
                  <a:srgbClr val="282828"/>
                </a:solidFill>
                <a:latin typeface="Arial"/>
              </a:rPr>
              <a:t>Capture:</a:t>
            </a:r>
            <a:r>
              <a:rPr sz="1500" b="0">
                <a:solidFill>
                  <a:srgbClr val="282828"/>
                </a:solidFill>
                <a:latin typeface="Arial"/>
              </a:rPr>
              <a:t> the interferometer takes 200-400 nm of wavefront to 3 pm in 19-24 cycles on the mirror rig with unwrapping alone (3.1 pm at cycle 60 on the lens rig).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a:t>
            </a:r>
            <a:r>
              <a:rPr sz="1500" b="1">
                <a:solidFill>
                  <a:srgbClr val="282828"/>
                </a:solidFill>
                <a:latin typeface="Arial"/>
              </a:rPr>
              <a:t>Front end:</a:t>
            </a:r>
            <a:r>
              <a:rPr sz="1500" b="0">
                <a:solidFill>
                  <a:srgbClr val="282828"/>
                </a:solidFill>
                <a:latin typeface="Arial"/>
              </a:rPr>
              <a:t> either builds.  The mirror rig matches the lens rig on the rows and the servo (interferometer 2.0e13 vs 2.3e13 photons per cycle noise only, 6.6e13 vs 7.1e13 under the walk), reads 1 pm for 30 % fewer photons (7.0e14 vs 9.9e14) and captures from 200 nm in 24 cycles where the lens rig stops at 3.1 pm; its sensors pass once calibrated; it buys any color and no glass in the beam, and costs alignment tolerance (10 µrad = 100 nm of null) and a polarization calibration of the vector reading.  The measured trade is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bench:</a:t>
            </a:r>
            <a:r>
              <a:rPr sz="1500" b="0">
                <a:solidFill>
                  <a:srgbClr val="282828"/>
                </a:solidFill>
                <a:latin typeface="Arial"/>
              </a:rPr>
              <a:t> one layout with the reference arm shuttered, the mask seat translated, the quarter-wave plate in or out, and the P/SRI arm behind a flip-in plate (the one-bench slide).  Capture with the interferometer, hand off inside the sensor's 60 nm reach, hold with the sensor at a tenth of the light.</a:t>
            </a:r>
          </a:p>
          <a:p>
            <a:pPr>
              <a:spcAft>
                <a:spcPts val="600"/>
              </a:spcAft>
            </a:pPr>
            <a:r>
              <a:rPr sz="1500" b="0">
                <a:solidFill>
                  <a:srgbClr val="282828"/>
                </a:solidFill>
                <a:latin typeface="Arial"/>
              </a:rPr>
              <a:t>•  </a:t>
            </a:r>
            <a:r>
              <a:rPr sz="1500" b="1">
                <a:solidFill>
                  <a:srgbClr val="282828"/>
                </a:solidFill>
                <a:latin typeface="Arial"/>
              </a:rPr>
              <a:t>What the numbers do not decide:</a:t>
            </a:r>
            <a:r>
              <a:rPr sz="1500" b="0">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comes next, and how to run it</a:t>
            </a:r>
          </a:p>
          <a:p>
            <a:pPr>
              <a:spcAft>
                <a:spcPts val="0"/>
              </a:spcAft>
            </a:pPr>
            <a:r>
              <a:rPr sz="1250" b="0">
                <a:solidFill>
                  <a:srgbClr val="6E6E6E"/>
                </a:solidFill>
                <a:latin typeface="Arial"/>
              </a:rPr>
              <a:t>Three threads of future work, and one command line per gauge; every number in the deck is reproduced by the runners in the public repositories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Capture beyond one wave with a second color:</a:t>
            </a:r>
            <a:r>
              <a:rPr sz="1200" b="0">
                <a:solidFill>
                  <a:srgbClr val="282828"/>
                </a:solidFill>
                <a:latin typeface="Arial"/>
              </a:rPr>
              <a:t> 632.8 + 700 nm gives a 6.6 µm synthetic wavelength and 1.6 µm of unambiguous surface at 10× the noise; the coarse pair captures, the single color holds.  The runner already traces one mask at five colors (Backup).</a:t>
            </a:r>
          </a:p>
          <a:p>
            <a:pPr>
              <a:spcAft>
                <a:spcPts val="600"/>
              </a:spcAft>
            </a:pPr>
            <a:r>
              <a:rPr sz="1200" b="0">
                <a:solidFill>
                  <a:srgbClr val="282828"/>
                </a:solidFill>
                <a:latin typeface="Arial"/>
              </a:rPr>
              <a:t>•  </a:t>
            </a:r>
            <a:r>
              <a:rPr sz="1200" b="1">
                <a:solidFill>
                  <a:srgbClr val="282828"/>
                </a:solidFill>
                <a:latin typeface="Arial"/>
              </a:rPr>
              <a:t>From this model to as-built performance:</a:t>
            </a:r>
            <a:r>
              <a:rPr sz="1200" b="0">
                <a:solidFill>
                  <a:srgbClr val="282828"/>
                </a:solidFill>
                <a:latin typeface="Arial"/>
              </a:rPr>
              <a:t> the camera's well depth sets the measurement time (1e14 photons is 1600 frames at 60 ke per pixel); surface, alignment, stability and polarization errors priced per reading (Backup).</a:t>
            </a:r>
          </a:p>
          <a:p>
            <a:pPr>
              <a:spcAft>
                <a:spcPts val="600"/>
              </a:spcAft>
            </a:pPr>
            <a:r>
              <a:rPr sz="1200" b="0">
                <a:solidFill>
                  <a:srgbClr val="282828"/>
                </a:solidFill>
                <a:latin typeface="Arial"/>
              </a:rPr>
              <a:t>•  </a:t>
            </a:r>
            <a:r>
              <a:rPr sz="1200" b="1">
                <a:solidFill>
                  <a:srgbClr val="282828"/>
                </a:solidFill>
                <a:latin typeface="Arial"/>
              </a:rPr>
              <a:t>Other approaches worth a look:</a:t>
            </a:r>
            <a:r>
              <a:rPr sz="1200" b="0">
                <a:solidFill>
                  <a:srgbClr val="282828"/>
                </a:solidFill>
                <a:latin typeface="Arial"/>
              </a:rPr>
              <a:t> a modeled large-figure solve, phase diversity, white-light scanning, heterodyne detection, direct-sequence metrology (Backup).</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(lens rig); tg96_run('bench.optics','oap') (mirror rig).</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zwfs_run (bench, battery, figures); zwfs_run('bench.optics','oap','readings',{'S','V','P'},'stages',{'bench','battery','noise','loop'}) for the mirror rig.</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and the shared dm_gauge_lib, branch dev-candidate; each directory's README carries the full command list and the run-tag index.  A model-1024 run needs about 11 GB.</a:t>
            </a:r>
          </a:p>
        </p:txBody>
      </p:sp>
      <p:sp>
        <p:nvSpPr>
          <p:cNvPr id="6" name="TextBox 5"/>
          <p:cNvSpPr txBox="1"/>
          <p:nvPr/>
        </p:nvSpPr>
        <p:spPr>
          <a:xfrm>
            <a:off x="6400800" y="3877056"/>
            <a:ext cx="5394960" cy="274320"/>
          </a:xfrm>
          <a:prstGeom prst="rect">
            <a:avLst/>
          </a:prstGeom>
          <a:noFill/>
        </p:spPr>
        <p:txBody>
          <a:bodyPr wrap="square">
            <a:spAutoFit/>
          </a:bodyPr>
          <a:lstStyle/>
          <a:p>
            <a:pPr>
              <a:spcAft>
                <a:spcPts val="600"/>
              </a:spcAft>
            </a:pPr>
            <a:r>
              <a:rPr sz="1050" b="0">
                <a:solidFill>
                  <a:srgbClr val="6E6E6E"/>
                </a:solidFill>
                <a:latin typeface="Arial"/>
              </a:rPr>
              <a:t>Every stage asserts its own gates (the mask round trip, the reference-wave surrogate, the fold, the pinhole, the analyzer); tDmgLoop 15/15; the mmacos fast suite 551/0 (2026-10-06).  All code and documentation is public: nasa-jpl/macos and nasa-jpl/MACOS_resources on github.</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566160"/>
        </p:xfrm>
        <a:graphic>
          <a:graphicData uri="http://schemas.openxmlformats.org/drawingml/2006/table">
            <a:tbl>
              <a:tblPr firstRow="1" bandRow="1">
                <a:tableStyleId>{5C22544A-7EE6-4342-B048-85BDC9FD1C3A}</a:tableStyleId>
              </a:tblPr>
              <a:tblGrid>
                <a:gridCol w="1671828"/>
                <a:gridCol w="2188758"/>
                <a:gridCol w="2918345"/>
                <a:gridCol w="1026825"/>
                <a:gridCol w="509524"/>
                <a:gridCol w="3053453"/>
              </a:tblGrid>
              <a:tr h="280035">
                <a:tc>
                  <a:txBody>
                    <a:bodyPr wrap="square"/>
                    <a:lstStyle/>
                    <a:p>
                      <a:r>
                        <a:rPr sz="1100" b="1">
                          <a:solidFill>
                            <a:srgbClr val="FFFFFF"/>
                          </a:solidFill>
                          <a:latin typeface="Arial"/>
                        </a:rPr>
                        <a:t>sensor</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chosen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657225">
                <a:tc>
                  <a:txBody>
                    <a:bodyPr wrap="square"/>
                    <a:lstStyle/>
                    <a:p>
                      <a:r>
                        <a:rPr sz="1100" b="0">
                          <a:solidFill>
                            <a:srgbClr val="282828"/>
                          </a:solidFill>
                          <a:latin typeface="Arial"/>
                        </a:rPr>
                        <a:t>vector</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657225">
                <a:tc>
                  <a:txBody>
                    <a:bodyPr wrap="square"/>
                    <a:lstStyle/>
                    <a:p>
                      <a:r>
                        <a:rPr sz="1100" b="0">
                          <a:solidFill>
                            <a:srgbClr val="282828"/>
                          </a:solidFill>
                          <a:latin typeface="Arial"/>
                        </a:rPr>
                        <a:t>vector,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2_stations.png"/>
          <p:cNvPicPr>
            <a:picLocks noChangeAspect="1"/>
          </p:cNvPicPr>
          <p:nvPr/>
        </p:nvPicPr>
        <p:blipFill>
          <a:blip r:embed="rId2"/>
          <a:stretch>
            <a:fillRect/>
          </a:stretch>
        </p:blipFill>
        <p:spPr>
          <a:xfrm>
            <a:off x="1713761" y="1298448"/>
            <a:ext cx="8764172"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residual column is the absolute read against the engine:</a:t>
            </a:r>
            <a:r>
              <a:rPr sz="1500" b="0">
                <a:solidFill>
                  <a:srgbClr val="282828"/>
                </a:solidFill>
                <a:latin typeface="Arial"/>
              </a:rPr>
              <a:t>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redo96_oapstn2 (the mirror rig; the DM's full-lattice 30 nm command, seed 7, the same surface in every station figure).  The lens rig's figure exists but its absolute residual reads 51 nm against the engine — a fold of the phase, not an imaging error (its differential rows read the same as the mirror rig's); under investigation, so it is not shown.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a:t>
            </a:r>
            <a:r>
              <a:rPr sz="1800" b="1">
                <a:solidFill>
                  <a:srgbClr val="282828"/>
                </a:solidFill>
                <a:latin typeface="Arial"/>
              </a:rPr>
              <a:t>The right model is coherent imaging:</a:t>
            </a:r>
            <a:r>
              <a:rPr sz="1800" b="0">
                <a:solidFill>
                  <a:srgbClr val="282828"/>
                </a:solidFill>
                <a:latin typeface="Arial"/>
              </a:rPr>
              <a:t>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a:t>
            </a:r>
            <a:r>
              <a:rPr sz="1800" b="1">
                <a:solidFill>
                  <a:srgbClr val="282828"/>
                </a:solidFill>
                <a:latin typeface="Arial"/>
              </a:rPr>
              <a:t>For the mask sensors it is already in the runner:</a:t>
            </a:r>
            <a:r>
              <a:rPr sz="1800" b="0">
                <a:solidFill>
                  <a:srgbClr val="282828"/>
                </a:solidFill>
                <a:latin typeface="Arial"/>
              </a:rPr>
              <a:t> the mask sandwich propagates the field to the seat, applies the mask, and propagates back to the pupil image, mask shape and all.</a:t>
            </a:r>
          </a:p>
          <a:p>
            <a:pPr>
              <a:spcAft>
                <a:spcPts val="600"/>
              </a:spcAft>
            </a:pPr>
            <a:r>
              <a:rPr sz="1800" b="0">
                <a:solidFill>
                  <a:srgbClr val="282828"/>
                </a:solidFill>
                <a:latin typeface="Arial"/>
              </a:rPr>
              <a:t>•  </a:t>
            </a:r>
            <a:r>
              <a:rPr sz="1800" b="1">
                <a:solidFill>
                  <a:srgbClr val="282828"/>
                </a:solidFill>
                <a:latin typeface="Arial"/>
              </a:rPr>
              <a:t>For the interferometer the aperture at the focus is wide</a:t>
            </a:r>
            <a:r>
              <a:rPr sz="1800" b="0">
                <a:solidFill>
                  <a:srgbClr val="282828"/>
                </a:solidFill>
                <a:latin typeface="Arial"/>
              </a:rPr>
              <a:t>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a:t>
            </a:r>
            <a:r>
              <a:rPr sz="1800" b="1">
                <a:solidFill>
                  <a:srgbClr val="282828"/>
                </a:solidFill>
                <a:latin typeface="Arial"/>
              </a:rPr>
              <a:t>When a small field stop sits at the focus</a:t>
            </a:r>
            <a:r>
              <a:rPr sz="1800" b="0">
                <a:solidFill>
                  <a:srgbClr val="282828"/>
                </a:solidFill>
                <a:latin typeface="Arial"/>
              </a:rPr>
              <a:t>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a:t>
            </a:r>
            <a:r>
              <a:rPr sz="1150" b="1">
                <a:solidFill>
                  <a:srgbClr val="282828"/>
                </a:solidFill>
                <a:latin typeface="Arial"/>
              </a:rPr>
              <a:t>How:</a:t>
            </a:r>
            <a:r>
              <a:rPr sz="1150" b="0">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a:t>
            </a:r>
            <a:r>
              <a:rPr sz="1150" b="1">
                <a:solidFill>
                  <a:srgbClr val="282828"/>
                </a:solidFill>
                <a:latin typeface="Arial"/>
              </a:rPr>
              <a:t>The camera is at the pupil image</a:t>
            </a:r>
            <a:r>
              <a:rPr sz="1150" b="0">
                <a:solidFill>
                  <a:srgbClr val="282828"/>
                </a:solidFill>
                <a:latin typeface="Arial"/>
              </a:rPr>
              <a:t>, and the best detector move from here is </a:t>
            </a:r>
            <a:r>
              <a:rPr sz="1150" b="1">
                <a:solidFill>
                  <a:srgbClr val="282828"/>
                </a:solidFill>
                <a:latin typeface="Arial"/>
              </a:rPr>
              <a:t>−0.00 mm</a:t>
            </a:r>
            <a:r>
              <a:rPr sz="1150" b="0">
                <a:solidFill>
                  <a:srgbClr val="282828"/>
                </a:solidFill>
                <a:latin typeface="Arial"/>
              </a:rPr>
              <a:t>: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a:t>
            </a:r>
            <a:r>
              <a:rPr sz="1150" b="1">
                <a:solidFill>
                  <a:srgbClr val="282828"/>
                </a:solidFill>
                <a:latin typeface="Arial"/>
              </a:rPr>
              <a:t>The beam of record under-filled the DM</a:t>
            </a:r>
            <a:r>
              <a:rPr sz="1150" b="0">
                <a:solidFill>
                  <a:srgbClr val="282828"/>
                </a:solidFill>
                <a:latin typeface="Arial"/>
              </a:rPr>
              <a:t>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Scalar Zernike sensor, station by station</a:t>
            </a:r>
          </a:p>
          <a:p>
            <a:pPr>
              <a:spcAft>
                <a:spcPts val="0"/>
              </a:spcAft>
            </a:pPr>
            <a:r>
              <a:rPr sz="1250" b="0">
                <a:solidFill>
                  <a:srgbClr val="6E6E6E"/>
                </a:solidFill>
                <a:latin typeface="Arial"/>
              </a:rPr>
              <a:t>The key signals along the train for the flat mirror and for the 30 nm working surface: the raw pixel map reads the surface 22 % low (7.1 nm rms, gain 0.78)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S.png"/>
          <p:cNvPicPr>
            <a:picLocks noChangeAspect="1"/>
          </p:cNvPicPr>
          <p:nvPr/>
        </p:nvPicPr>
        <p:blipFill>
          <a:blip r:embed="rId2"/>
          <a:stretch>
            <a:fillRect/>
          </a:stretch>
        </p:blipFill>
        <p:spPr>
          <a:xfrm>
            <a:off x="2493141" y="1298448"/>
            <a:ext cx="7205411" cy="2018792"/>
          </a:xfrm>
          <a:prstGeom prst="rect">
            <a:avLst/>
          </a:prstGeom>
        </p:spPr>
      </p:pic>
      <p:sp>
        <p:nvSpPr>
          <p:cNvPr id="5" name="TextBox 4"/>
          <p:cNvSpPr txBox="1"/>
          <p:nvPr/>
        </p:nvSpPr>
        <p:spPr>
          <a:xfrm>
            <a:off x="411480" y="3335528"/>
            <a:ext cx="11368735" cy="724408"/>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7.1 nm rms on the working surface, gain 0.78).  The runner's own figure, run stations193_oap on the mirror rig at 193 pixels per pupil.</a:t>
            </a:r>
          </a:p>
        </p:txBody>
      </p:sp>
      <p:sp>
        <p:nvSpPr>
          <p:cNvPr id="6" name="TextBox 5"/>
          <p:cNvSpPr txBox="1"/>
          <p:nvPr/>
        </p:nvSpPr>
        <p:spPr>
          <a:xfrm>
            <a:off x="411480" y="4096511"/>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reference wave</a:t>
            </a:r>
            <a:r>
              <a:rPr sz="1500" b="0">
                <a:solidFill>
                  <a:srgbClr val="282828"/>
                </a:solidFill>
                <a:latin typeface="Arial"/>
              </a:rPr>
              <a:t> (fourth column) is the core of the focal spot spread back over the pupil, and the inversion takes its amplitude from the flat.  On the 30 nm surface (0.6 rad rms of wavefront phase, double pass) the core is weaker, the recovered phase scales as one over that amplitude, and the raw map reads the surface 22 % low -- gain 0.78, 7.1 nm rms, shaped like the surface: a gain error, not noise.  The matrix measured on the surface absorbs it, which is how the stepped reading reaches 5 pm on its rows; left as calibrated on the flat, it is what limits the self-referenced sensors' capture range to 36-70 nm.</a:t>
            </a:r>
          </a:p>
        </p:txBody>
      </p:sp>
      <p:sp>
        <p:nvSpPr>
          <p:cNvPr id="7" name="TextBox 6"/>
          <p:cNvSpPr txBox="1"/>
          <p:nvPr/>
        </p:nvSpPr>
        <p:spPr>
          <a:xfrm>
            <a:off x="411480" y="575919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same polarization camera as the interferometer's snapshot form would replace the cube and one camera:</a:t>
            </a:r>
            <a:r>
              <a:rPr sz="1500" b="0">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at gain 0.993 against the engine's field on the 30 nm working surface: the pixel-by-pixel solve needs no reference amplitude from the flat; what remains (863 pm, 200 of them already on the flat) is the mirror rig's arm term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V.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 the flat the two images are complementary</a:t>
            </a:r>
            <a:r>
              <a:rPr sz="1500" b="0">
                <a:solidFill>
                  <a:srgbClr val="282828"/>
                </a:solidFill>
                <a:latin typeface="Arial"/>
              </a:rPr>
              <a:t>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863 pm is the raw absolute map's error on the 30 nm surface with the flat's calibration, at gain 0.993; 200 pm of it is there on the flat too -- the mirror rig's uncalibrated metasurface-arm term, which the calibration absorbs.  On the same surface the calibrated reading is 0.9935 / 4 pm.  Run stations193_oap.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at gain 0.981, 0.73 nm rms against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P.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shutter frame measures the reference by itself</a:t>
            </a:r>
            <a:r>
              <a:rPr sz="1500" b="0">
                <a:solidFill>
                  <a:srgbClr val="282828"/>
                </a:solidFill>
                <a:latin typeface="Arial"/>
              </a:rPr>
              <a:t>,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0.73 nm (gain 0.981) is the raw map's error with the flat's calibration, run stations193_oap on the mirror rig; through the matrix on the surface the pinhole reads 0.9935 / 4 pm, the same as the vector dimple.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to 1-6 %; the light for 1 pm then rises 30-100× for the self-referenced sensors between 30 and 160 nm (vector 4.6e13 → 4.5e15) and falls for the interferometer (7.0e14 → 4.4e14), whose reference does not move with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657600"/>
        </p:xfrm>
        <a:graphic>
          <a:graphicData uri="http://schemas.openxmlformats.org/drawingml/2006/table">
            <a:tbl>
              <a:tblPr firstRow="1" bandRow="1">
                <a:tableStyleId>{5C22544A-7EE6-4342-B048-85BDC9FD1C3A}</a:tableStyleId>
              </a:tblPr>
              <a:tblGrid>
                <a:gridCol w="2035048"/>
                <a:gridCol w="7275307"/>
                <a:gridCol w="2058379"/>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the grid sites, matrix re-measured at 60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468630">
                <a:tc>
                  <a:txBody>
                    <a:bodyPr wrap="square"/>
                    <a:lstStyle/>
                    <a:p>
                      <a:r>
                        <a:rPr sz="1100" b="0">
                          <a:solidFill>
                            <a:srgbClr val="282828"/>
                          </a:solidFill>
                          <a:latin typeface="Arial"/>
                        </a:rPr>
                        <a:t>stepped Zernike</a:t>
                      </a:r>
                    </a:p>
                  </a:txBody>
                  <a:tcPr marL="54864" marR="54864" marT="18288" marB="18288">
                    <a:solidFill>
                      <a:srgbClr val="FFFFFF"/>
                    </a:solidFill>
                  </a:tcPr>
                </a:tc>
                <a:tc>
                  <a:txBody>
                    <a:bodyPr wrap="square"/>
                    <a:lstStyle/>
                    <a:p>
                      <a:r>
                        <a:rPr sz="1100" b="0">
                          <a:solidFill>
                            <a:srgbClr val="282828"/>
                          </a:solidFill>
                          <a:latin typeface="Arial"/>
                        </a:rPr>
                        <a:t>0.94 / 50, 0.99 / 26, 0.99 / 26 pm</a:t>
                      </a:r>
                    </a:p>
                  </a:txBody>
                  <a:tcPr marL="54864" marR="54864" marT="18288" marB="18288">
                    <a:solidFill>
                      <a:srgbClr val="FFFFFF"/>
                    </a:solidFill>
                  </a:tcPr>
                </a:tc>
                <a:tc>
                  <a:txBody>
                    <a:bodyPr wrap="square"/>
                    <a:lstStyle/>
                    <a:p>
                      <a:r>
                        <a:rPr sz="1100" b="0">
                          <a:solidFill>
                            <a:srgbClr val="282828"/>
                          </a:solidFill>
                          <a:latin typeface="Arial"/>
                        </a:rPr>
                        <a:t>1.2e14, 5.3e14, 4.6e15, 7.5e15</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0.99 / 6, 0.99 / 26, 0.99 / 26 pm</a:t>
                      </a:r>
                    </a:p>
                  </a:txBody>
                  <a:tcPr marL="54864" marR="54864" marT="18288" marB="18288">
                    <a:solidFill>
                      <a:srgbClr val="ECF1F6"/>
                    </a:solidFill>
                  </a:tcPr>
                </a:tc>
                <a:tc>
                  <a:txBody>
                    <a:bodyPr wrap="square"/>
                    <a:lstStyle/>
                    <a:p>
                      <a:r>
                        <a:rPr sz="1100" b="0">
                          <a:solidFill>
                            <a:srgbClr val="282828"/>
                          </a:solidFill>
                          <a:latin typeface="Arial"/>
                        </a:rPr>
                        <a:t>4.6e13, 1.4e14, 2.4e15, 4.5e15</a:t>
                      </a:r>
                    </a:p>
                  </a:txBody>
                  <a:tcPr marL="54864" marR="54864" marT="18288" marB="18288">
                    <a:solidFill>
                      <a:srgbClr val="ECF1F6"/>
                    </a:solidFill>
                  </a:tcPr>
                </a:tc>
              </a:tr>
              <a:tr h="468630">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0.98 / 16, 0.99 / 26, 0.99 / 26 pm</a:t>
                      </a:r>
                    </a:p>
                  </a:txBody>
                  <a:tcPr marL="54864" marR="54864" marT="18288" marB="18288">
                    <a:solidFill>
                      <a:srgbClr val="FFFFFF"/>
                    </a:solidFill>
                  </a:tcPr>
                </a:tc>
                <a:tc>
                  <a:txBody>
                    <a:bodyPr wrap="square"/>
                    <a:lstStyle/>
                    <a:p>
                      <a:r>
                        <a:rPr sz="1100" b="0">
                          <a:solidFill>
                            <a:srgbClr val="282828"/>
                          </a:solidFill>
                          <a:latin typeface="Arial"/>
                        </a:rPr>
                        <a:t>1.5e14, 3.0e14, 3.0e15, 7.3e15</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1.001 / 2, 0.996 / 2, 0.996 / 2 pm</a:t>
                      </a:r>
                    </a:p>
                  </a:txBody>
                  <a:tcPr marL="54864" marR="54864" marT="18288" marB="18288">
                    <a:solidFill>
                      <a:srgbClr val="ECF1F6"/>
                    </a:solidFill>
                  </a:tcPr>
                </a:tc>
                <a:tc>
                  <a:txBody>
                    <a:bodyPr wrap="square"/>
                    <a:lstStyle/>
                    <a:p>
                      <a:r>
                        <a:rPr sz="1100" b="0">
                          <a:solidFill>
                            <a:srgbClr val="282828"/>
                          </a:solidFill>
                          <a:latin typeface="Arial"/>
                        </a:rPr>
                        <a:t>9.9e14, 8.6e14, 5.9e14, 6.6e14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0.989 / 2, 0.995 / 2, 0.995 / 2 pm</a:t>
                      </a:r>
                    </a:p>
                  </a:txBody>
                  <a:tcPr marL="54864" marR="54864" marT="18288" marB="18288">
                    <a:solidFill>
                      <a:srgbClr val="FFFFFF"/>
                    </a:solidFill>
                  </a:tcPr>
                </a:tc>
                <a:tc>
                  <a:txBody>
                    <a:bodyPr wrap="square"/>
                    <a:lstStyle/>
                    <a:p>
                      <a:r>
                        <a:rPr sz="1100" b="0">
                          <a:solidFill>
                            <a:srgbClr val="282828"/>
                          </a:solidFill>
                          <a:latin typeface="Arial"/>
                        </a:rPr>
                        <a:t>7.0e14, 5.3e14, 4.9e14, 4.4e14</a:t>
                      </a:r>
                    </a:p>
                  </a:txBody>
                  <a:tcPr marL="54864" marR="54864" marT="18288" marB="18288">
                    <a:solidFill>
                      <a:srgbClr val="FFFFFF"/>
                    </a:solidFill>
                  </a:tcPr>
                </a:tc>
              </a:tr>
              <a:tr h="657225">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51023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What this says:</a:t>
            </a:r>
            <a:r>
              <a:rPr sz="1500" b="0">
                <a:solidFill>
                  <a:srgbClr val="282828"/>
                </a:solidFill>
                <a:latin typeface="Arial"/>
              </a:rPr>
              <a:t> off null, a self-referenced sensor keeps its gain through recalibration but pays in light (4.5e15 photons is 1.4 mJ, 6 s of a 1 mW laser at 25 % throughput) and its floor rises to 26 pm; the interferometer pays nothing because its reference does not move with the surface.</a:t>
            </a:r>
          </a:p>
        </p:txBody>
      </p:sp>
      <p:sp>
        <p:nvSpPr>
          <p:cNvPr id="6" name="TextBox 5"/>
          <p:cNvSpPr txBox="1"/>
          <p:nvPr/>
        </p:nvSpPr>
        <p:spPr>
          <a:xfrm>
            <a:off x="411480" y="6022086"/>
            <a:ext cx="11368735" cy="274320"/>
          </a:xfrm>
          <a:prstGeom prst="rect">
            <a:avLst/>
          </a:prstGeom>
          <a:noFill/>
        </p:spPr>
        <p:txBody>
          <a:bodyPr wrap="square">
            <a:spAutoFit/>
          </a:bodyPr>
          <a:lstStyle/>
          <a:p>
            <a:pPr>
              <a:spcAft>
                <a:spcPts val="600"/>
              </a:spcAft>
            </a:pPr>
            <a:r>
              <a:rPr sz="1050" b="0">
                <a:solidFill>
                  <a:srgbClr val="6E6E6E"/>
                </a:solidFill>
                <a:latin typeface="Arial"/>
              </a:rPr>
              <a:t>All rows on the built bench.  Interferometer: redo96_lensph, redo96_oapph (the re-measured matrix on each surface, 1 nm on 112 sites).  Sensors, mirror rig at 193 px: redo96_senscap_b60/b120/b160 (1 nm on 77 grid sites, matrix re-measured on the surface), redo96_sensnoise and redo96_sensnoise_b60/b120/b160 (photons).  Photons are per measurement, all frames summed, 6 noise realizations per point.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the design</a:t>
            </a:r>
          </a:p>
          <a:p>
            <a:pPr>
              <a:spcAft>
                <a:spcPts val="0"/>
              </a:spcAft>
            </a:pPr>
            <a:r>
              <a:rPr sz="1250" b="0">
                <a:solidFill>
                  <a:srgbClr val="6E6E6E"/>
                </a:solidFill>
                <a:latin typeface="Arial"/>
              </a:rPr>
              <a:t>Fed at its focus and solved at the 22.5° splitter: every part clears by 33 mm, the focus lands on the mask seat without adjustment, and the residual with a flat mirror is 0.029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1854517"/>
                <a:gridCol w="3540442"/>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0.00 µrad residual (the source at the parabola's focus)</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0.029 nm with no adjustment (lens rig 0.13 nm after adjustment)</a:t>
                      </a:r>
                    </a:p>
                  </a:txBody>
                  <a:tcPr marL="54864" marR="54864" marT="18288" marB="18288">
                    <a:solidFill>
                      <a:srgbClr val="FFFFFF"/>
                    </a:solidFill>
                  </a:tcPr>
                </a:tc>
              </a:tr>
              <a:tr h="26289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5364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rule a parabola enforces and a lens hides:</a:t>
            </a:r>
            <a:r>
              <a:rPr sz="1200" b="0">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p>
          <a:p>
            <a:pPr>
              <a:spcAft>
                <a:spcPts val="600"/>
              </a:spcAft>
            </a:pPr>
            <a:r>
              <a:rPr sz="1200" b="0">
                <a:solidFill>
                  <a:srgbClr val="282828"/>
                </a:solidFill>
                <a:latin typeface="Arial"/>
              </a:rPr>
              <a:t>•  </a:t>
            </a:r>
            <a:r>
              <a:rPr sz="1200" b="1">
                <a:solidFill>
                  <a:srgbClr val="282828"/>
                </a:solidFill>
                <a:latin typeface="Arial"/>
              </a:rPr>
              <a:t>Coatings:</a:t>
            </a:r>
            <a:r>
              <a:rPr sz="1200" b="0">
                <a:solidFill>
                  <a:srgbClr val="282828"/>
                </a:solidFill>
                <a:latin typeface="Arial"/>
              </a:rPr>
              <a:t> bare and protected aluminum give the same rows; the retardance variation they add is 0.5 mrad, a floor.</a:t>
            </a:r>
          </a:p>
        </p:txBody>
      </p:sp>
      <p:sp>
        <p:nvSpPr>
          <p:cNvPr id="8" name="TextBox 7"/>
          <p:cNvSpPr txBox="1"/>
          <p:nvPr/>
        </p:nvSpPr>
        <p:spPr>
          <a:xfrm>
            <a:off x="6400800" y="543839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 alone cannot:</a:t>
            </a:r>
            <a:r>
              <a:rPr sz="15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a:t>
            </a:r>
            <a:r>
              <a:rPr sz="1500" b="1">
                <a:solidFill>
                  <a:srgbClr val="282828"/>
                </a:solidFill>
                <a:latin typeface="Arial"/>
              </a:rPr>
              <a:t>The pair plus the state's clear frame reads both exactly:</a:t>
            </a:r>
            <a:r>
              <a:rPr sz="1500" b="0">
                <a:solidFill>
                  <a:srgbClr val="282828"/>
                </a:solidFill>
                <a:latin typeface="Arial"/>
              </a:rPr>
              <a:t>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Where unwrapping stops:</a:t>
            </a:r>
            <a:r>
              <a:rPr sz="1500" b="0">
                <a:solidFill>
                  <a:srgbClr val="282828"/>
                </a:solidFill>
                <a:latin typeface="Arial"/>
              </a:rPr>
              <a:t>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t>
            </a:r>
            <a:r>
              <a:rPr sz="1500" b="1">
                <a:solidFill>
                  <a:srgbClr val="282828"/>
                </a:solidFill>
                <a:latin typeface="Arial"/>
              </a:rPr>
              <a:t>A second color makes a synthetic wavelength:</a:t>
            </a:r>
            <a:r>
              <a:rPr sz="1500" b="0">
                <a:solidFill>
                  <a:srgbClr val="282828"/>
                </a:solidFill>
                <a:latin typeface="Arial"/>
              </a:rPr>
              <a:t>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a:t>
            </a:r>
            <a:r>
              <a:rPr sz="1500" b="1">
                <a:solidFill>
                  <a:srgbClr val="282828"/>
                </a:solidFill>
                <a:latin typeface="Arial"/>
              </a:rPr>
              <a:t>The machinery exists:</a:t>
            </a:r>
            <a:r>
              <a:rPr sz="1500" b="0">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 model-based large-figure solve:</a:t>
            </a:r>
            <a:r>
              <a:rPr sz="1500" b="0">
                <a:solidFill>
                  <a:srgbClr val="282828"/>
                </a:solidFill>
                <a:latin typeface="Arial"/>
              </a:rPr>
              <a:t> the mirror's influence functions as the basis of a nonlinear fit to the sensor's frames; the estimator already carries the basis.</a:t>
            </a:r>
          </a:p>
          <a:p>
            <a:pPr>
              <a:spcAft>
                <a:spcPts val="600"/>
              </a:spcAft>
            </a:pPr>
            <a:r>
              <a:rPr sz="1500" b="0">
                <a:solidFill>
                  <a:srgbClr val="282828"/>
                </a:solidFill>
                <a:latin typeface="Arial"/>
              </a:rPr>
              <a:t>•  </a:t>
            </a:r>
            <a:r>
              <a:rPr sz="1500" b="1">
                <a:solidFill>
                  <a:srgbClr val="282828"/>
                </a:solidFill>
                <a:latin typeface="Arial"/>
              </a:rPr>
              <a:t>Shack-Hartmann or modulated pyramid as the capture stage:</a:t>
            </a:r>
            <a:r>
              <a:rPr sz="1500" b="0">
                <a:solidFill>
                  <a:srgbClr val="282828"/>
                </a:solidFill>
                <a:latin typeface="Arial"/>
              </a:rPr>
              <a:t> many waves of range, no wrap, far from picometers; hands off to the gauge inside its range.</a:t>
            </a:r>
          </a:p>
          <a:p>
            <a:pPr>
              <a:spcAft>
                <a:spcPts val="600"/>
              </a:spcAft>
            </a:pPr>
            <a:r>
              <a:rPr sz="1500" b="0">
                <a:solidFill>
                  <a:srgbClr val="282828"/>
                </a:solidFill>
                <a:latin typeface="Arial"/>
              </a:rPr>
              <a:t>•  </a:t>
            </a:r>
            <a:r>
              <a:rPr sz="1500" b="1">
                <a:solidFill>
                  <a:srgbClr val="282828"/>
                </a:solidFill>
                <a:latin typeface="Arial"/>
              </a:rPr>
              <a:t>Redesign the lenses as multi-element assemblies.</a:t>
            </a:r>
          </a:p>
          <a:p>
            <a:pPr>
              <a:spcAft>
                <a:spcPts val="600"/>
              </a:spcAft>
            </a:pPr>
            <a:r>
              <a:rPr sz="1500" b="0">
                <a:solidFill>
                  <a:srgbClr val="282828"/>
                </a:solidFill>
                <a:latin typeface="Arial"/>
              </a:rPr>
              <a:t>•  </a:t>
            </a:r>
            <a:r>
              <a:rPr sz="1500" b="1">
                <a:solidFill>
                  <a:srgbClr val="282828"/>
                </a:solidFill>
                <a:latin typeface="Arial"/>
              </a:rPr>
              <a:t>Phase diversity (two defocused pupil images):</a:t>
            </a:r>
            <a:r>
              <a:rPr sz="1500" b="0">
                <a:solidFill>
                  <a:srgbClr val="282828"/>
                </a:solidFill>
                <a:latin typeface="Arial"/>
              </a:rPr>
              <a:t> wide range, common path, iterative; a capture candidate with the existing camera and one translation stage.</a:t>
            </a:r>
          </a:p>
          <a:p>
            <a:pPr>
              <a:spcAft>
                <a:spcPts val="600"/>
              </a:spcAft>
            </a:pPr>
            <a:r>
              <a:rPr sz="1500" b="0">
                <a:solidFill>
                  <a:srgbClr val="282828"/>
                </a:solidFill>
                <a:latin typeface="Arial"/>
              </a:rPr>
              <a:t>•  </a:t>
            </a:r>
            <a:r>
              <a:rPr sz="1500" b="1">
                <a:solidFill>
                  <a:srgbClr val="282828"/>
                </a:solidFill>
                <a:latin typeface="Arial"/>
              </a:rPr>
              <a:t>White-light scanning in the interferometer:</a:t>
            </a:r>
            <a:r>
              <a:rPr sz="1500" b="0">
                <a:solidFill>
                  <a:srgbClr val="282828"/>
                </a:solidFill>
                <a:latin typeface="Arial"/>
              </a:rPr>
              <a:t> an absolute surface with no wrap, slow; a one-time capture tool.</a:t>
            </a:r>
          </a:p>
          <a:p>
            <a:pPr>
              <a:spcAft>
                <a:spcPts val="600"/>
              </a:spcAft>
            </a:pPr>
            <a:r>
              <a:rPr sz="1500" b="0">
                <a:solidFill>
                  <a:srgbClr val="282828"/>
                </a:solidFill>
                <a:latin typeface="Arial"/>
              </a:rPr>
              <a:t>•  </a:t>
            </a:r>
            <a:r>
              <a:rPr sz="1500" b="1">
                <a:solidFill>
                  <a:srgbClr val="282828"/>
                </a:solidFill>
                <a:latin typeface="Arial"/>
              </a:rPr>
              <a:t>Vector Zernike with a polarization camera:</a:t>
            </a:r>
            <a:r>
              <a:rPr sz="1500" b="0">
                <a:solidFill>
                  <a:srgbClr val="282828"/>
                </a:solidFill>
                <a:latin typeface="Arial"/>
              </a:rPr>
              <a:t> one camera instead of the cube and two, at a quarter of the pixels per image.</a:t>
            </a:r>
          </a:p>
          <a:p>
            <a:pPr>
              <a:spcAft>
                <a:spcPts val="600"/>
              </a:spcAft>
            </a:pPr>
            <a:r>
              <a:rPr sz="1500" b="0">
                <a:solidFill>
                  <a:srgbClr val="282828"/>
                </a:solidFill>
                <a:latin typeface="Arial"/>
              </a:rPr>
              <a:t>•  </a:t>
            </a:r>
            <a:r>
              <a:rPr sz="1500" b="1">
                <a:solidFill>
                  <a:srgbClr val="282828"/>
                </a:solidFill>
                <a:latin typeface="Arial"/>
              </a:rPr>
              <a:t>Heterodyne or lock-in detection:</a:t>
            </a:r>
            <a:r>
              <a:rPr sz="1500" b="0">
                <a:solidFill>
                  <a:srgbClr val="282828"/>
                </a:solidFill>
                <a:latin typeface="Arial"/>
              </a:rPr>
              <a:t>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a:t>
            </a:r>
            <a:r>
              <a:rPr sz="1500" b="1">
                <a:solidFill>
                  <a:srgbClr val="282828"/>
                </a:solidFill>
                <a:latin typeface="Arial"/>
              </a:rPr>
              <a:t>Direct actuator metrology (capacitive, optical):</a:t>
            </a:r>
            <a:r>
              <a:rPr sz="1500" b="0">
                <a:solidFill>
                  <a:srgbClr val="282828"/>
                </a:solidFill>
                <a:latin typeface="Arial"/>
              </a:rPr>
              <a:t> a coarse reference the optical gauge is calibrated against.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camera sets the measurement time, not the laser:</a:t>
            </a:r>
            <a:r>
              <a:rPr sz="1500" b="0">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a:t>
            </a:r>
            <a:r>
              <a:rPr sz="1500" b="1">
                <a:solidFill>
                  <a:srgbClr val="282828"/>
                </a:solidFill>
                <a:latin typeface="Arial"/>
              </a:rPr>
              <a:t>Optical surface errors:</a:t>
            </a:r>
            <a:r>
              <a:rPr sz="1500" b="0">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t>
            </a:r>
            <a:r>
              <a:rPr sz="1500" b="1">
                <a:solidFill>
                  <a:srgbClr val="282828"/>
                </a:solidFill>
                <a:latin typeface="Arial"/>
              </a:rPr>
              <a:t>Alignment and stability:</a:t>
            </a:r>
            <a:r>
              <a:rPr sz="1500" b="0">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a:t>
            </a:r>
            <a:r>
              <a:rPr sz="1500" b="1">
                <a:solidFill>
                  <a:srgbClr val="282828"/>
                </a:solidFill>
                <a:latin typeface="Arial"/>
              </a:rPr>
              <a:t>More drift in the loop:</a:t>
            </a:r>
            <a:r>
              <a:rPr sz="1500" b="0">
                <a:solidFill>
                  <a:srgbClr val="282828"/>
                </a:solidFill>
                <a:latin typeface="Arial"/>
              </a:rPr>
              <a:t>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a:t>
            </a:r>
            <a:r>
              <a:rPr sz="1500" b="1">
                <a:solidFill>
                  <a:srgbClr val="282828"/>
                </a:solidFill>
                <a:latin typeface="Arial"/>
              </a:rPr>
              <a:t>The error budget in the JPL form:</a:t>
            </a:r>
            <a:r>
              <a:rPr sz="1500" b="0">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a:t>
            </a:r>
            <a:r>
              <a:rPr sz="1200" b="1">
                <a:solidFill>
                  <a:srgbClr val="282828"/>
                </a:solidFill>
                <a:latin typeface="Arial"/>
              </a:rPr>
              <a:t>Pupil image</a:t>
            </a:r>
            <a:r>
              <a:rPr sz="1200" b="0">
                <a:solidFill>
                  <a:srgbClr val="282828"/>
                </a:solidFill>
                <a:latin typeface="Arial"/>
              </a:rPr>
              <a:t> (tg_psi_dm96_oap): tg96_pupilq('rig','lens'), tg96_pupilsim('rig','oap'); both tools, both rigs: ./tg96_pupil_batch.sh both (knobs: P.pupil in tg96_params).</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other gauges on the mirror rig:</a:t>
            </a:r>
            <a:r>
              <a:rPr sz="1200" b="0">
                <a:solidFill>
                  <a:srgbClr val="282828"/>
                </a:solidFill>
                <a:latin typeface="Arial"/>
              </a:rPr>
              <a:t> zwfs_run('bench.optics','oap','bench.coat_oap','bareAl','readings',{'L','S','V','P','PF'},'stages',{'bench','battery','noise','loop'},'mask.v_arm','engine').</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a:t>
            </a:r>
            <a:r>
              <a:rPr sz="1200" b="1">
                <a:solidFill>
                  <a:srgbClr val="282828"/>
                </a:solidFill>
                <a:latin typeface="Arial"/>
              </a:rPr>
              <a:t>Gates:</a:t>
            </a:r>
            <a:r>
              <a:rPr sz="1200" b="0">
                <a:solidFill>
                  <a:srgbClr val="282828"/>
                </a:solidFill>
                <a:latin typeface="Arial"/>
              </a:rPr>
              <a:t>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 All code and documentation is available from the public nasa-jpl github macos and MACOS_resources repos.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null tuner bought its 0.13 nm flat-mirror null with the pupil image:</a:t>
            </a:r>
            <a:r>
              <a:rPr sz="1500" b="0">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t>
            </a:r>
            <a:r>
              <a:rPr sz="1500" b="1">
                <a:solidFill>
                  <a:srgbClr val="282828"/>
                </a:solidFill>
                <a:latin typeface="Arial"/>
              </a:rPr>
              <a:t>A flattener behind the tuned tail is not an optic:</a:t>
            </a:r>
            <a:r>
              <a:rPr sz="1500" b="0">
                <a:solidFill>
                  <a:srgbClr val="282828"/>
                </a:solidFill>
                <a:latin typeface="Arial"/>
              </a:rPr>
              <a:t> its bowl is a 5 mm-radius surface in image space.  </a:t>
            </a:r>
            <a:r>
              <a:rPr sz="1500" b="1">
                <a:solidFill>
                  <a:srgbClr val="282828"/>
                </a:solidFill>
                <a:latin typeface="Arial"/>
              </a:rPr>
              <a:t>True collimation</a:t>
            </a:r>
            <a:r>
              <a:rPr sz="1500" b="0">
                <a:solidFill>
                  <a:srgbClr val="282828"/>
                </a:solidFill>
                <a:latin typeface="Arial"/>
              </a:rPr>
              <a:t> (a source 14 mm inside the hyperbolic collimator's focus, the case assessed here, is what the bench corrects)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Linear, one frame:</a:t>
            </a:r>
            <a:r>
              <a:rPr sz="1200" b="0">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a:t>
            </a:r>
            <a:r>
              <a:rPr sz="1200" b="1">
                <a:solidFill>
                  <a:srgbClr val="282828"/>
                </a:solidFill>
                <a:latin typeface="Arial"/>
              </a:rPr>
              <a:t>Exact, one frame with a sign prior:</a:t>
            </a:r>
            <a:r>
              <a:rPr sz="1200" b="0">
                <a:solidFill>
                  <a:srgbClr val="282828"/>
                </a:solidFill>
                <a:latin typeface="Arial"/>
              </a:rPr>
              <a:t> a 1 nm step grows to 99 nm in 60 cycles, 10 nm to 178 nm; the actuators whose footprint lies past the fold read with the wrong sign.</a:t>
            </a:r>
          </a:p>
          <a:p>
            <a:pPr>
              <a:spcAft>
                <a:spcPts val="600"/>
              </a:spcAft>
            </a:pPr>
            <a:r>
              <a:rPr sz="1200" b="0">
                <a:solidFill>
                  <a:srgbClr val="282828"/>
                </a:solidFill>
                <a:latin typeface="Arial"/>
              </a:rPr>
              <a:t>•  </a:t>
            </a:r>
            <a:r>
              <a:rPr sz="1200" b="1">
                <a:solidFill>
                  <a:srgbClr val="282828"/>
                </a:solidFill>
                <a:latin typeface="Arial"/>
              </a:rPr>
              <a:t>The fold:</a:t>
            </a:r>
            <a:r>
              <a:rPr sz="1200" b="0">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range the small pinhole buys, the shutter frame gives free</a:t>
            </a:r>
            <a:r>
              <a:rPr sz="1200" b="0">
                <a:solidFill>
                  <a:srgbClr val="282828"/>
                </a:solidFill>
                <a:latin typeface="Arial"/>
              </a:rPr>
              <a:t> at the large one's throughput: 1.02 / 1.06 / 1.13 at 120 / 240 / 480 nm.</a:t>
            </a:r>
          </a:p>
          <a:p>
            <a:pPr>
              <a:spcAft>
                <a:spcPts val="600"/>
              </a:spcAft>
            </a:pPr>
            <a:r>
              <a:rPr sz="1200" b="0">
                <a:solidFill>
                  <a:srgbClr val="282828"/>
                </a:solidFill>
                <a:latin typeface="Arial"/>
              </a:rPr>
              <a:t>•  </a:t>
            </a:r>
            <a:r>
              <a:rPr sz="1200" b="1">
                <a:solidFill>
                  <a:srgbClr val="282828"/>
                </a:solidFill>
                <a:latin typeface="Arial"/>
              </a:rPr>
              <a:t>The P/SRI</a:t>
            </a:r>
            <a:r>
              <a:rPr sz="1200" b="0">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a:t>
            </a:r>
            <a:r>
              <a:rPr sz="1200" b="1">
                <a:solidFill>
                  <a:srgbClr val="282828"/>
                </a:solidFill>
                <a:latin typeface="Arial"/>
              </a:rPr>
              <a:t>Five frames beat four:</a:t>
            </a:r>
            <a:r>
              <a:rPr sz="1200" b="0">
                <a:solidFill>
                  <a:srgbClr val="282828"/>
                </a:solidFill>
                <a:latin typeface="Arial"/>
              </a:rPr>
              <a:t>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
        <p:nvSpPr>
          <p:cNvPr id="7" name="TextBox 6"/>
          <p:cNvSpPr txBox="1"/>
          <p:nvPr/>
        </p:nvSpPr>
        <p:spPr>
          <a:xfrm>
            <a:off x="6400800" y="4458462"/>
            <a:ext cx="5394960" cy="274320"/>
          </a:xfrm>
          <a:prstGeom prst="rect">
            <a:avLst/>
          </a:prstGeom>
          <a:noFill/>
        </p:spPr>
        <p:txBody>
          <a:bodyPr wrap="square">
            <a:spAutoFit/>
          </a:bodyPr>
          <a:lstStyle/>
          <a:p>
            <a:pPr>
              <a:spcAft>
                <a:spcPts val="600"/>
              </a:spcAft>
            </a:pPr>
            <a:r>
              <a:rPr sz="1050" b="0">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the mirror's drift helps:</a:t>
            </a:r>
            <a:r>
              <a:rPr sz="1200" b="0">
                <a:solidFill>
                  <a:srgbClr val="282828"/>
                </a:solidFill>
                <a:latin typeface="Arial"/>
              </a:rPr>
              <a:t>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a:t>
            </a:r>
            <a:r>
              <a:rPr sz="1200" b="1">
                <a:solidFill>
                  <a:srgbClr val="282828"/>
                </a:solidFill>
                <a:latin typeface="Arial"/>
              </a:rPr>
              <a:t>The P/SRI's reference arm walking</a:t>
            </a:r>
            <a:r>
              <a:rPr sz="1200" b="0">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a:t>
            </a:r>
            <a:r>
              <a:rPr sz="1200" b="1">
                <a:solidFill>
                  <a:srgbClr val="282828"/>
                </a:solidFill>
                <a:latin typeface="Arial"/>
              </a:rPr>
              <a:t>The paper's camera number</a:t>
            </a:r>
            <a:r>
              <a:rPr sz="1200" b="0">
                <a:solidFill>
                  <a:srgbClr val="282828"/>
                </a:solidFill>
                <a:latin typeface="Arial"/>
              </a:rPr>
              <a:t>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arm:</a:t>
            </a:r>
            <a:r>
              <a:rPr sz="1200" b="0">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a:t>
            </a:r>
            <a:r>
              <a:rPr sz="1200" b="1">
                <a:solidFill>
                  <a:srgbClr val="282828"/>
                </a:solidFill>
                <a:latin typeface="Arial"/>
              </a:rPr>
              <a:t>The analyzer:</a:t>
            </a:r>
            <a:r>
              <a:rPr sz="1200" b="0">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t>
            </a:r>
            <a:r>
              <a:rPr sz="1200" b="1">
                <a:solidFill>
                  <a:srgbClr val="282828"/>
                </a:solidFill>
                <a:latin typeface="Arial"/>
              </a:rPr>
              <a:t>A three-number fit on the flat's two images</a:t>
            </a:r>
            <a:r>
              <a:rPr sz="1200" b="0">
                <a:solidFill>
                  <a:srgbClr val="282828"/>
                </a:solidFill>
                <a:latin typeface="Arial"/>
              </a:rPr>
              <a:t>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correction:</a:t>
            </a:r>
            <a:r>
              <a:rPr sz="1200" b="0">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a:t>
            </a:r>
            <a:r>
              <a:rPr sz="1200" b="1">
                <a:solidFill>
                  <a:srgbClr val="282828"/>
                </a:solidFill>
                <a:latin typeface="Arial"/>
              </a:rPr>
              <a:t>Sampling:</a:t>
            </a:r>
            <a:r>
              <a:rPr sz="1200" b="0">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a:t>
            </a:r>
            <a:r>
              <a:rPr sz="1200" b="1">
                <a:solidFill>
                  <a:srgbClr val="282828"/>
                </a:solidFill>
                <a:latin typeface="Arial"/>
              </a:rPr>
              <a:t>Color:</a:t>
            </a:r>
            <a:r>
              <a:rPr sz="1200" b="0">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727456"/>
                <a:gridCol w="958298"/>
                <a:gridCol w="4120685"/>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moves:</a:t>
            </a:r>
            <a:r>
              <a:rPr sz="1200" b="0">
                <a:solidFill>
                  <a:srgbClr val="282828"/>
                </a:solidFill>
                <a:latin typeface="Arial"/>
              </a:rPr>
              <a:t>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a:t>
            </a:r>
            <a:r>
              <a:rPr sz="1200" b="1">
                <a:solidFill>
                  <a:srgbClr val="282828"/>
                </a:solidFill>
                <a:latin typeface="Arial"/>
              </a:rPr>
              <a:t>What it costs the sensors: nothing.</a:t>
            </a:r>
            <a:r>
              <a:rPr sz="1200" b="0">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Interferometer</a:t>
            </a:r>
            <a:r>
              <a:rPr sz="1500" b="0">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 redo96_oapstn2.</a:t>
            </a:r>
          </a:p>
          <a:p>
            <a:pPr>
              <a:spcAft>
                <a:spcPts val="600"/>
              </a:spcAft>
            </a:pPr>
            <a:r>
              <a:rPr sz="1500" b="0">
                <a:solidFill>
                  <a:srgbClr val="282828"/>
                </a:solidFill>
                <a:latin typeface="Arial"/>
              </a:rPr>
              <a:t>•  </a:t>
            </a:r>
            <a:r>
              <a:rPr sz="1500" b="1">
                <a:solidFill>
                  <a:srgbClr val="282828"/>
                </a:solidFill>
                <a:latin typeface="Arial"/>
              </a:rPr>
              <a:t>Zernike sensors</a:t>
            </a:r>
            <a:r>
              <a:rPr sz="1500" b="0">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 stations193_oap.</a:t>
            </a:r>
          </a:p>
          <a:p>
            <a:pPr>
              <a:spcAft>
                <a:spcPts val="600"/>
              </a:spcAft>
            </a:pPr>
            <a:r>
              <a:rPr sz="1500" b="0">
                <a:solidFill>
                  <a:srgbClr val="282828"/>
                </a:solidFill>
                <a:latin typeface="Arial"/>
              </a:rPr>
              <a:t>•  </a:t>
            </a:r>
            <a:r>
              <a:rPr sz="1500" b="1">
                <a:solidFill>
                  <a:srgbClr val="282828"/>
                </a:solidFill>
                <a:latin typeface="Arial"/>
              </a:rPr>
              <a:t>Point-diffraction</a:t>
            </a:r>
            <a:r>
              <a:rPr sz="1500" b="0">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a:t>
            </a:r>
            <a:r>
              <a:rPr sz="1500" b="1">
                <a:solidFill>
                  <a:srgbClr val="282828"/>
                </a:solidFill>
                <a:latin typeface="Arial"/>
              </a:rPr>
              <a:t>Plan and rulings:</a:t>
            </a:r>
            <a:r>
              <a:rPr sz="1500" b="0">
                <a:solidFill>
                  <a:srgbClr val="282828"/>
                </a:solidFill>
                <a:latin typeface="Arial"/>
              </a:rPr>
              <a:t> macos/BRIEF_gauge_deck.md sections 5-11.  Raw material with every figure's pixel size: demo_session/deck_gauges_material.md.</a:t>
            </a:r>
          </a:p>
          <a:p>
            <a:pPr>
              <a:spcAft>
                <a:spcPts val="600"/>
              </a:spcAft>
            </a:pPr>
            <a:r>
              <a:rPr sz="1500" b="0">
                <a:solidFill>
                  <a:srgbClr val="282828"/>
                </a:solidFill>
                <a:latin typeface="Arial"/>
              </a:rPr>
              <a:t>•  </a:t>
            </a:r>
            <a:r>
              <a:rPr sz="1500" b="1">
                <a:solidFill>
                  <a:srgbClr val="282828"/>
                </a:solidFill>
                <a:latin typeface="Arial"/>
              </a:rPr>
              <a:t>Engine:</a:t>
            </a:r>
            <a:r>
              <a:rPr sz="1500" b="0">
                <a:solidFill>
                  <a:srgbClr val="282828"/>
                </a:solidFill>
                <a:latin typeface="Arial"/>
              </a:rPr>
              <a:t>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