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951109"/>
                <a:gridCol w="5642398"/>
                <a:gridCol w="1740178"/>
                <a:gridCol w="2035048"/>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a:t>
                      </a:r>
                    </a:p>
                  </a:txBody>
                  <a:tcPr marL="54864" marR="54864" marT="18288" marB="18288">
                    <a:solidFill>
                      <a:srgbClr val="ECF1F6"/>
                    </a:solidFill>
                  </a:tcPr>
                </a:tc>
                <a:tc>
                  <a:txBody>
                    <a:bodyPr wrap="square"/>
                    <a:lstStyle/>
                    <a:p>
                      <a:r>
                        <a:rPr sz="1100" b="0">
                          <a:solidFill>
                            <a:srgbClr val="282828"/>
                          </a:solidFill>
                          <a:latin typeface="Arial"/>
                        </a:rPr>
                        <a:t>not scored (a phase fold; backup)</a:t>
                      </a:r>
                    </a:p>
                  </a:txBody>
                  <a:tcPr marL="54864" marR="54864" marT="18288" marB="18288">
                    <a:solidFill>
                      <a:srgbClr val="ECF1F6"/>
                    </a:solidFill>
                  </a:tcPr>
                </a:tc>
                <a:tc>
                  <a:txBody>
                    <a:bodyPr wrap="square"/>
                    <a:lstStyle/>
                    <a:p>
                      <a:r>
                        <a:rPr sz="1100" b="0">
                          <a:solidFill>
                            <a:srgbClr val="282828"/>
                          </a:solidFill>
                          <a:latin typeface="Arial"/>
                        </a:rPr>
                        <a:t>1.5 % (463 pm), gain 0.987</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Picometer measurement is photon-limited, not bench-limited.</a:t>
            </a:r>
            <a:r>
              <a:rPr sz="12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200" b="1">
                <a:solidFill>
                  <a:srgbClr val="282828"/>
                </a:solidFill>
                <a:latin typeface="Arial"/>
              </a:rPr>
              <a:t>Steeves et al. (2020, Optica 7, 1267) demonstrate 1.6 pm in 4.3 s on a real interferometer</a:t>
            </a:r>
            <a:r>
              <a:rPr sz="12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200" b="0">
                <a:solidFill>
                  <a:srgbClr val="282828"/>
                </a:solidFill>
                <a:latin typeface="Arial"/>
              </a:rPr>
              <a:t>•  </a:t>
            </a:r>
            <a:r>
              <a:rPr sz="1200" b="1">
                <a:solidFill>
                  <a:srgbClr val="282828"/>
                </a:solidFill>
                <a:latin typeface="Arial"/>
              </a:rPr>
              <a:t>Accuracy is a gain: systematic and proportional to the figure read.</a:t>
            </a:r>
            <a:r>
              <a:rPr sz="1200" b="0">
                <a:solidFill>
                  <a:srgbClr val="282828"/>
                </a:solidFill>
                <a:latin typeface="Arial"/>
              </a:rPr>
              <a:t>  Raw, the four-step reads the 30 nm surface 1.3 % low on the mirror rig (463 pm); through the matrix measured on the surface a 10 nm change reads at gain 1.004 on lenses and 0.986 on mirrors, with floors of 1.4 and 2.3 pm.  The pupil imaging is the smaller part (0.13 % / 0.29 %); the gain is the polarization snapshot's, and the matrix measured on the surface is what carries it.</a:t>
            </a:r>
          </a:p>
          <a:p>
            <a:pPr>
              <a:spcAft>
                <a:spcPts val="600"/>
              </a:spcAft>
            </a:pPr>
            <a:r>
              <a:rPr sz="1200" b="0">
                <a:solidFill>
                  <a:srgbClr val="282828"/>
                </a:solidFill>
                <a:latin typeface="Arial"/>
              </a:rPr>
              <a:t>•  </a:t>
            </a:r>
            <a:r>
              <a:rPr sz="1200" b="1">
                <a:solidFill>
                  <a:srgbClr val="282828"/>
                </a:solidFill>
                <a:latin typeface="Arial"/>
              </a:rPr>
              <a:t>One disturbance is not photon-limited:</a:t>
            </a:r>
            <a:r>
              <a:rPr sz="12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199632"/>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The raw-map row is the station-by-station figure's number (run redo96_oapstn2); the lens rig's raw absolute map folds the phase (51 nm against the engine, backup) and is not scored, while its differential rows read as the mirror rig's.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