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only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The 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test beam from the mirror interferes with a flat's beam; four frames at four phase steps give the phase at every pixel.</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Snapshot: all four at once through polarization optics.  Piezo: the flat stepped in time.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an external reference, so it reads any figure (capture range 480 nm and beyond) and captures from 200 nm of wavefront with unwrapping alone.</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800"/>
              </a:spcAft>
            </a:pPr>
            <a:r>
              <a:rPr sz="1300" b="0">
                <a:solidFill>
                  <a:srgbClr val="282828"/>
                </a:solidFill>
                <a:latin typeface="Arial"/>
              </a:rPr>
              <a:t>•  </a:t>
            </a:r>
            <a:r>
              <a:rPr sz="1300" b="1">
                <a:solidFill>
                  <a:srgbClr val="282828"/>
                </a:solidFill>
                <a:latin typeface="Arial"/>
              </a:rPr>
              <a:t>Scored, 30 nm surface, matrix on it:</a:t>
            </a:r>
            <a:r>
              <a:rPr sz="13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309360" y="1234440"/>
            <a:ext cx="5394960" cy="3300984"/>
          </a:xfrm>
          <a:prstGeom prst="rect">
            <a:avLst/>
          </a:prstGeom>
        </p:spPr>
      </p:pic>
      <p:sp>
        <p:nvSpPr>
          <p:cNvPr id="6" name="TextBox 5"/>
          <p:cNvSpPr txBox="1"/>
          <p:nvPr/>
        </p:nvSpPr>
        <p:spPr>
          <a:xfrm>
            <a:off x="6309360" y="4553712"/>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5149595"/>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it costs a reading:</a:t>
            </a:r>
            <a:r>
              <a:rPr sz="1200" b="0">
                <a:solidFill>
                  <a:srgbClr val="282828"/>
                </a:solidFill>
                <a:latin typeface="Arial"/>
              </a:rPr>
              <a:t> 0.13 % of the figure on lenses, 0.29 % on mirrors (42 / 92 pm on 30 nm); 0.5 / 0.9 % in the top spatial band.  The smaller part of the accuracy term (slide 2).</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3977639" y="1078992"/>
            <a:ext cx="7863840" cy="1335024"/>
          </a:xfrm>
          <a:prstGeom prst="rect">
            <a:avLst/>
          </a:prstGeom>
        </p:spPr>
      </p:pic>
      <p:sp>
        <p:nvSpPr>
          <p:cNvPr id="5" name="TextBox 4"/>
          <p:cNvSpPr txBox="1"/>
          <p:nvPr/>
        </p:nvSpPr>
        <p:spPr>
          <a:xfrm>
            <a:off x="201168" y="1216152"/>
            <a:ext cx="356616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3977639" y="2450592"/>
            <a:ext cx="7863840" cy="1371600"/>
          </a:xfrm>
          <a:prstGeom prst="rect">
            <a:avLst/>
          </a:prstGeom>
        </p:spPr>
      </p:pic>
      <p:sp>
        <p:nvSpPr>
          <p:cNvPr id="7" name="TextBox 6"/>
          <p:cNvSpPr txBox="1"/>
          <p:nvPr/>
        </p:nvSpPr>
        <p:spPr>
          <a:xfrm>
            <a:off x="201168" y="2587752"/>
            <a:ext cx="356616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3977639" y="3858768"/>
            <a:ext cx="7863840" cy="1362456"/>
          </a:xfrm>
          <a:prstGeom prst="rect">
            <a:avLst/>
          </a:prstGeom>
        </p:spPr>
      </p:pic>
      <p:sp>
        <p:nvSpPr>
          <p:cNvPr id="9" name="TextBox 8"/>
          <p:cNvSpPr txBox="1"/>
          <p:nvPr/>
        </p:nvSpPr>
        <p:spPr>
          <a:xfrm>
            <a:off x="201168" y="3995928"/>
            <a:ext cx="3566160" cy="8895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3977639" y="5257800"/>
            <a:ext cx="7863840" cy="1362456"/>
          </a:xfrm>
          <a:prstGeom prst="rect">
            <a:avLst/>
          </a:prstGeom>
        </p:spPr>
      </p:pic>
      <p:sp>
        <p:nvSpPr>
          <p:cNvPr id="11" name="TextBox 10"/>
          <p:cNvSpPr txBox="1"/>
          <p:nvPr/>
        </p:nvSpPr>
        <p:spPr>
          <a:xfrm>
            <a:off x="201168" y="5394960"/>
            <a:ext cx="3566160" cy="8895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656832"/>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 batch: ./tg96_batch.sh TAG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6400800" y="5205984"/>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