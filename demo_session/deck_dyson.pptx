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at Jim's numbers</a:t>
            </a:r>
          </a:p>
          <a:p>
            <a:pPr>
              <a:spcAft>
                <a:spcPts val="0"/>
              </a:spcAft>
            </a:pPr>
            <a:r>
              <a:rPr sz="1250" b="0">
                <a:solidFill>
                  <a:srgbClr val="6E6E6E"/>
                </a:solidFill>
                <a:latin typeface="Arial"/>
              </a:rPr>
              <a:t>f = 330 mm, 183 mm at F/1.8, 9.4° per 3k module or 4.7° per 1.5k; three forms traced in the engine, none yet packaged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target moved.  Jim's 30 m ground sample from 550 km on 18 µm pixels sets f = 330 mm and 183 mm at F/1.8; the swath is 9.4° cross-track for a 3k module, 4.7° for a 1.5k one, with a telecentric, flat image on the slit.  The EMIT-parameter three-mirror of the earlier beat (f = 126 mm, 24.6°, 67 px at the slit) stands as the layout and end-to-end machinery; the designs below are at the new numbers.</a:t>
            </a:r>
          </a:p>
          <a:p>
            <a:pPr>
              <a:spcAft>
                <a:spcPts val="600"/>
              </a:spcAft>
            </a:pPr>
            <a:r>
              <a:rPr sz="1500" b="0">
                <a:solidFill>
                  <a:srgbClr val="282828"/>
                </a:solidFill>
                <a:latin typeface="Arial"/>
              </a:rPr>
              <a:t>•  The coaxial three-mirror parent (two routes).  The chain's offset solves at 9–10° leave a field-constant residual — the parent's own aberration off its axis — 2 944 nm at best with the clearance gate failing, 6–65 px rms spots in the engine.  The design layer's Korsch TMA with conics solved by the native optimizer at a scanned bias is diffraction-limited on axis (0.008 waves) and holds to ±1.5°: at 1° bias the strip centre is 0.41 px but the imageable half-field is a third of the swath, and the bias cannot be raised to unobscure.  Three conics do not correct 9.4° at F/1.8 on the coaxial form.  The unobscured eccentric section of the same parent (pupil decentered 205 mm, the beam passing below M2 to M3 and a focal plane beside it, no hole, no central obstruction) is the first packaged imaging telescope in the record: three conics hold the 1.5k strip at 8.9 px (4.3 px at the strip centre), every body clear, 1.05 kg of mirror — at a plate scale of 447 mm, not the 330 mm the ground sample asks.  Asked to hold the plate scale too (the optimizer's new per-field image-position rows), the same three conics give up the blur: blur and plate scale compete, and the 3k strip's ends sit at 10 mm on this form.  Both modules need more than conics: aspheres through the native optimizer, or freeform.</a:t>
            </a:r>
          </a:p>
          <a:p>
            <a:pPr>
              <a:spcAft>
                <a:spcPts val="600"/>
              </a:spcAft>
            </a:pPr>
            <a:r>
              <a:rPr sz="1500" b="0">
                <a:solidFill>
                  <a:srgbClr val="282828"/>
                </a:solidFill>
                <a:latin typeface="Arial"/>
              </a:rPr>
              <a:t>•  The two-mirror modified Schwarzschild (the review's form for this regime).  Convex primary, concave secondary, the stop virtual at M2's front focus so the output is telecentric; closed-form first order, exact chain, engine equal to chain on every ray.  On axis — obscured, M1 in the image cone — it images: 1.10 px max rms spot for the 1.5k module (0.59 on axis), 4.26 px for the 3k, each solved on its own strip with M1 and M2 aspheres, the review's own TMS scaled to this focal length sitting at 2.3–4.6 px.  It packages only with the strip 30° off axis: with the clearance operand made smooth (an exact segment-to-disc distance and a softmin over rays, where a sampled minimum had stalled every step) the packaged solves reach 123 px (1.5k, +5.4 mm clear) and 178 px (3k, +4.8 mm) and stall at the wall's knee.  The bound settles it: with the wall switched off, the same 30° layouts still sit at 25 px (3k; and the 1.5k solve ran pathological) — the form, not the solver, is out at this bias.  Verdict: no packaged Schwarzschild images at the pixel at f = 330 mm, F/1.8; no end-to-end row for it.</a:t>
            </a:r>
          </a:p>
        </p:txBody>
      </p:sp>
      <p:pic>
        <p:nvPicPr>
          <p:cNvPr id="5" name="Picture 4" descr="dyson5_tma_step2_views.png"/>
          <p:cNvPicPr>
            <a:picLocks noChangeAspect="1"/>
          </p:cNvPicPr>
          <p:nvPr/>
        </p:nvPicPr>
        <p:blipFill>
          <a:blip r:embed="rId2"/>
          <a:stretch>
            <a:fillRect/>
          </a:stretch>
        </p:blipFill>
        <p:spPr>
          <a:xfrm>
            <a:off x="5426302" y="7946897"/>
            <a:ext cx="1339090" cy="365760"/>
          </a:xfrm>
          <a:prstGeom prst="rect">
            <a:avLst/>
          </a:prstGeom>
        </p:spPr>
      </p:pic>
      <p:sp>
        <p:nvSpPr>
          <p:cNvPr id="6" name="TextBox 5"/>
          <p:cNvSpPr txBox="1"/>
          <p:nvPr/>
        </p:nvSpPr>
        <p:spPr>
          <a:xfrm>
            <a:off x="411480" y="8330945"/>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packaged unobscured section of the TMA parent for the 1.5k module (step 2b, 205 mm decenter, 3° bias, clearance +0.1 mm), YZ and XZ as the design layer renders it — M1 above, M2 below the incoming beam, the intermediate focus, M3, the focal plane beside it.  Right: the same section at 170 mm for the 3k strip, whose ends do not image.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a:p>
            <a:pPr>
              <a:spcAft>
                <a:spcPts val="600"/>
              </a:spcAft>
            </a:pPr>
            <a:r>
              <a:rPr sz="1500" b="0">
                <a:solidFill>
                  <a:srgbClr val="282828"/>
                </a:solidFill>
                <a:latin typeface="Arial"/>
              </a:rPr>
              <a:t>•  The first row at Jim's f-number (informative, not the number).  The packaged unobscured TMA section (1.5k, three conics) joined to the 130 mm silica module: its 27 mm slit admits 68.7 % of the ±2.34° swath (plate scale 450 mm local, 521 mm at the strip edge, against 330), the straight sky line images bowed by 7 mm at the strip end, and over the admitted field the scorer reads smile 44.5 px, keystone 0.14 px, CRF 15.7 px — the telescope's image and pupil mismatch seen through the Dyson, the same at every wavelength, not the Dyson's distortion.  Clearance +0.37 mm, chain and engine to 4e-12 m.  Record dyson5_t5e_1k5.txt, deck dyson5_t5e_1k5_e2e.in.</a:t>
            </a:r>
          </a:p>
        </p:txBody>
      </p:sp>
      <p:pic>
        <p:nvPicPr>
          <p:cNvPr id="5" name="Picture 4" descr="dyson5_t2_r4_views.png"/>
          <p:cNvPicPr>
            <a:picLocks noChangeAspect="1"/>
          </p:cNvPicPr>
          <p:nvPr/>
        </p:nvPicPr>
        <p:blipFill>
          <a:blip r:embed="rId2"/>
          <a:stretch>
            <a:fillRect/>
          </a:stretch>
        </p:blipFill>
        <p:spPr>
          <a:xfrm>
            <a:off x="5874477" y="6105905"/>
            <a:ext cx="442741" cy="365760"/>
          </a:xfrm>
          <a:prstGeom prst="rect">
            <a:avLst/>
          </a:prstGeom>
        </p:spPr>
      </p:pic>
      <p:sp>
        <p:nvSpPr>
          <p:cNvPr id="6" name="TextBox 5"/>
          <p:cNvSpPr txBox="1"/>
          <p:nvPr/>
        </p:nvSpPr>
        <p:spPr>
          <a:xfrm>
            <a:off x="411480" y="6489953"/>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at Jim's numbers the modified Schwarzschild images at the pixel on axis (1.10 px for a 1.5k module) but at 123 px once packaged 30° off axis, and the TMA parent holds a third of the swath; neither is packaged with an image.  The Schwarzschild is out (its wall-off bound at 30° is 25 px); the TMA's unobscured section packages and images the 1.5k strip at 8.9 px, at 447 mm plate scale.  Next: the plate scale and the blur together with aspheres on the section (the optimizer carries both as rows now), then its telecentricity against the Dyson; the unobscured section and freeform mirrors on the TMA; the telecentricity of the chosen form against the Dyson's (the optimizer now scores the chief ray's direction and the ray centroid at the image, per field);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eight engine findings, each with a regression test</a:t>
            </a:r>
          </a:p>
          <a:p>
            <a:pPr>
              <a:spcAft>
                <a:spcPts val="0"/>
              </a:spcAft>
            </a:pPr>
            <a:r>
              <a:rPr sz="1250" b="0">
                <a:solidFill>
                  <a:srgbClr val="6E6E6E"/>
                </a:solidFill>
                <a:latin typeface="Arial"/>
              </a:rPr>
              <a:t>Found by the challenge's checks on 2026-09-30 to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8000"/>
        </p:xfrm>
        <a:graphic>
          <a:graphicData uri="http://schemas.openxmlformats.org/drawingml/2006/table">
            <a:tbl>
              <a:tblPr firstRow="1" bandRow="1">
                <a:tableStyleId>{5C22544A-7EE6-4342-B048-85BDC9FD1C3A}</a:tableStyleId>
              </a:tblPr>
              <a:tblGrid>
                <a:gridCol w="795984"/>
                <a:gridCol w="3564626"/>
                <a:gridCol w="5364243"/>
                <a:gridCol w="1643881"/>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657225">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84582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1034415">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whose entrance-pupil reference sits 5 mm ahead of its convex primary scattered every ray but the chief in a one-call trace (93 mm rms), while an element-by-element trace was right — by accident</a:t>
                      </a:r>
                    </a:p>
                  </a:txBody>
                  <a:tcPr marL="54864" marR="54864" marT="18288" marB="18288">
                    <a:solidFill>
                      <a:srgbClr val="ECF1F6"/>
                    </a:solidFill>
                  </a:tcPr>
                </a:tc>
                <a:tc>
                  <a:txBody>
                    <a:bodyPr wrap="square"/>
                    <a:lstStyle/>
                    <a:p>
                      <a:r>
                        <a:rPr sz="1100" b="0">
                          <a:solidFill>
                            <a:srgbClr val="282828"/>
                          </a:solidFill>
                          <a:latin typeface="Arial"/>
                        </a:rPr>
                        <a:t>the root of the conic after a reference is the one whose hit point is nearest the element's reference point (its vertex, or an off-axis section's pole), not the one whose length matches the ray's distance to the vertex (which the ray's height dominated); a restarted trace resets its "previous element" per ray</a:t>
                      </a:r>
                    </a:p>
                  </a:txBody>
                  <a:tcPr marL="54864" marR="54864" marT="18288" marB="18288">
                    <a:solidFill>
                      <a:srgbClr val="ECF1F6"/>
                    </a:solidFill>
                  </a:tcPr>
                </a:tc>
                <a:tc>
                  <a:txBody>
                    <a:bodyPr wrap="square"/>
                    <a:lstStyle/>
                    <a:p>
                      <a:r>
                        <a:rPr sz="1100" b="0">
                          <a:solidFill>
                            <a:srgbClr val="282828"/>
                          </a:solidFill>
                          <a:latin typeface="Arial"/>
                        </a:rPr>
                        <a:t>tTraceRestart (2) on the deck itself; exit-pupil radii unchanged to the bit on four decks</a:t>
                      </a:r>
                    </a:p>
                  </a:txBody>
                  <a:tcPr marL="54864" marR="54864" marT="18288" marB="18288">
                    <a:solidFill>
                      <a:srgbClr val="ECF1F6"/>
                    </a:solidFill>
                  </a:tcPr>
                </a:tc>
              </a:tr>
              <a:tr h="1034415">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the chief's direction and position at an element could not be scored with a spot or wavefront target, one target served every field, and a multi-field beam solve scored the last field alone</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a weight; the ray centroid as the position</a:t>
                      </a:r>
                    </a:p>
                  </a:txBody>
                  <a:tcPr marL="54864" marR="54864" marT="18288" marB="18288">
                    <a:solidFill>
                      <a:srgbClr val="FFFFFF"/>
                    </a:solidFill>
                  </a:tcPr>
                </a:tc>
                <a:tc>
                  <a:txBody>
                    <a:bodyPr wrap="square"/>
                    <a:lstStyle/>
                    <a:p>
                      <a:r>
                        <a:rPr sz="1100" b="0">
                          <a:solidFill>
                            <a:srgbClr val="282828"/>
                          </a:solidFill>
                          <a:latin typeface="Arial"/>
                        </a:rPr>
                        <a:t>tBeamRows (3): telecentric under a spot target, two fields met by one piston, centroid vs chief</a:t>
                      </a:r>
                    </a:p>
                  </a:txBody>
                  <a:tcPr marL="54864" marR="54864" marT="18288" marB="18288">
                    <a:solidFill>
                      <a:srgbClr val="FFFFFF"/>
                    </a:solidFill>
                  </a:tcPr>
                </a:tc>
              </a:tr>
              <a:tr h="103441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830275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7115175"/>
        </p:xfrm>
        <a:graphic>
          <a:graphicData uri="http://schemas.openxmlformats.org/drawingml/2006/table">
            <a:tbl>
              <a:tblPr firstRow="1" bandRow="1">
                <a:tableStyleId>{5C22544A-7EE6-4342-B048-85BDC9FD1C3A}</a:tableStyleId>
              </a:tblPr>
              <a:tblGrid>
                <a:gridCol w="1979545"/>
                <a:gridCol w="1889760"/>
                <a:gridCol w="3997158"/>
                <a:gridCol w="3502271"/>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280035">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telescope, three-mirror at Jim's numbers</a:t>
                      </a:r>
                    </a:p>
                  </a:txBody>
                  <a:tcPr marL="54864" marR="54864" marT="18288" marB="18288">
                    <a:solidFill>
                      <a:srgbClr val="FFFFFF"/>
                    </a:solidFill>
                  </a:tcPr>
                </a:tc>
                <a:tc>
                  <a:txBody>
                    <a:bodyPr wrap="square"/>
                    <a:lstStyle/>
                    <a:p>
                      <a:r>
                        <a:rPr sz="1100" b="0">
                          <a:solidFill>
                            <a:srgbClr val="282828"/>
                          </a:solidFill>
                          <a:latin typeface="Arial"/>
                        </a:rPr>
                        <a:t>t3s, t3w, t3o, t3e</a:t>
                      </a:r>
                    </a:p>
                  </a:txBody>
                  <a:tcPr marL="54864" marR="54864" marT="18288" marB="18288">
                    <a:solidFill>
                      <a:srgbClr val="FFFFFF"/>
                    </a:solidFill>
                  </a:tcPr>
                </a:tc>
                <a:tc>
                  <a:txBody>
                    <a:bodyPr wrap="square"/>
                    <a:lstStyle/>
                    <a:p>
                      <a:r>
                        <a:rPr sz="1100" b="0">
                          <a:solidFill>
                            <a:srgbClr val="282828"/>
                          </a:solidFill>
                          <a:latin typeface="Arial"/>
                        </a:rPr>
                        <a:t>dyson5_t3*.txt, BRIEF_dyson5_beat5c.md</a:t>
                      </a:r>
                    </a:p>
                  </a:txBody>
                  <a:tcPr marL="54864" marR="54864" marT="18288" marB="18288">
                    <a:solidFill>
                      <a:srgbClr val="FFFFFF"/>
                    </a:solidFill>
                  </a:tcPr>
                </a:tc>
                <a:tc>
                  <a:txBody>
                    <a:bodyPr wrap="square"/>
                    <a:lstStyle/>
                    <a:p>
                      <a:r>
                        <a:rPr sz="1100" b="0">
                          <a:solidFill>
                            <a:srgbClr val="282828"/>
                          </a:solidFill>
                          <a:latin typeface="Arial"/>
                        </a:rPr>
                        <a:t>tma_screen, the offset solves on telescope_geom.m</a:t>
                      </a:r>
                    </a:p>
                  </a:txBody>
                  <a:tcPr marL="54864" marR="54864" marT="18288" marB="18288">
                    <a:solidFill>
                      <a:srgbClr val="FFFFFF"/>
                    </a:solidFill>
                  </a:tcPr>
                </a:tc>
              </a:tr>
              <a:tr h="468630">
                <a:tc>
                  <a:txBody>
                    <a:bodyPr wrap="square"/>
                    <a:lstStyle/>
                    <a:p>
                      <a:r>
                        <a:rPr sz="1100" b="0">
                          <a:solidFill>
                            <a:srgbClr val="282828"/>
                          </a:solidFill>
                          <a:latin typeface="Arial"/>
                        </a:rPr>
                        <a:t>telescope, modified Schwarzschild</a:t>
                      </a:r>
                    </a:p>
                  </a:txBody>
                  <a:tcPr marL="54864" marR="54864" marT="18288" marB="18288">
                    <a:solidFill>
                      <a:srgbClr val="ECF1F6"/>
                    </a:solidFill>
                  </a:tcPr>
                </a:tc>
                <a:tc>
                  <a:txBody>
                    <a:bodyPr wrap="square"/>
                    <a:lstStyle/>
                    <a:p>
                      <a:r>
                        <a:rPr sz="1100" b="0">
                          <a:solidFill>
                            <a:srgbClr val="282828"/>
                          </a:solidFill>
                          <a:latin typeface="Arial"/>
                        </a:rPr>
                        <a:t>t4</a:t>
                      </a:r>
                    </a:p>
                  </a:txBody>
                  <a:tcPr marL="54864" marR="54864" marT="18288" marB="18288">
                    <a:solidFill>
                      <a:srgbClr val="ECF1F6"/>
                    </a:solidFill>
                  </a:tcPr>
                </a:tc>
                <a:tc>
                  <a:txBody>
                    <a:bodyPr wrap="square"/>
                    <a:lstStyle/>
                    <a:p>
                      <a:r>
                        <a:rPr sz="1100" b="0">
                          <a:solidFill>
                            <a:srgbClr val="282828"/>
                          </a:solidFill>
                          <a:latin typeface="Arial"/>
                        </a:rPr>
                        <a:t>dyson5_t4.txt, dyson5_t4_r2c_.in, _view.png</a:t>
                      </a:r>
                    </a:p>
                  </a:txBody>
                  <a:tcPr marL="54864" marR="54864" marT="18288" marB="18288">
                    <a:solidFill>
                      <a:srgbClr val="ECF1F6"/>
                    </a:solidFill>
                  </a:tcPr>
                </a:tc>
                <a:tc>
                  <a:txBody>
                    <a:bodyPr wrap="square"/>
                    <a:lstStyle/>
                    <a:p>
                      <a:r>
                        <a:rPr sz="1100" b="0">
                          <a:solidFill>
                            <a:srgbClr val="282828"/>
                          </a:solidFill>
                          <a:latin typeface="Arial"/>
                        </a:rPr>
                        <a:t>tms_paraxial.m, tms_firstorder.m, tms_geom.m, tms_clear.m</a:t>
                      </a:r>
                    </a:p>
                  </a:txBody>
                  <a:tcPr marL="54864" marR="54864" marT="18288" marB="18288">
                    <a:solidFill>
                      <a:srgbClr val="ECF1F6"/>
                    </a:solidFill>
                  </a:tcPr>
                </a:tc>
              </a:tr>
              <a:tr h="468630">
                <a:tc>
                  <a:txBody>
                    <a:bodyPr wrap="square"/>
                    <a:lstStyle/>
                    <a:p>
                      <a:r>
                        <a:rPr sz="1100" b="0">
                          <a:solidFill>
                            <a:srgbClr val="282828"/>
                          </a:solidFill>
                          <a:latin typeface="Arial"/>
                        </a:rPr>
                        <a:t>telescope, TMA parent by the design layer</a:t>
                      </a:r>
                    </a:p>
                  </a:txBody>
                  <a:tcPr marL="54864" marR="54864" marT="18288" marB="18288">
                    <a:solidFill>
                      <a:srgbClr val="FFFFFF"/>
                    </a:solidFill>
                  </a:tcPr>
                </a:tc>
                <a:tc>
                  <a:txBody>
                    <a:bodyPr wrap="square"/>
                    <a:lstStyle/>
                    <a:p>
                      <a:r>
                        <a:rPr sz="1100" b="0">
                          <a:solidFill>
                            <a:srgbClr val="282828"/>
                          </a:solidFill>
                          <a:latin typeface="Arial"/>
                        </a:rPr>
                        <a:t>dyson5_tma_step1.m</a:t>
                      </a:r>
                    </a:p>
                  </a:txBody>
                  <a:tcPr marL="54864" marR="54864" marT="18288" marB="18288">
                    <a:solidFill>
                      <a:srgbClr val="FFFFFF"/>
                    </a:solidFill>
                  </a:tcPr>
                </a:tc>
                <a:tc>
                  <a:txBody>
                    <a:bodyPr wrap="square"/>
                    <a:lstStyle/>
                    <a:p>
                      <a:r>
                        <a:rPr sz="1100" b="0">
                          <a:solidFill>
                            <a:srgbClr val="282828"/>
                          </a:solidFill>
                          <a:latin typeface="Arial"/>
                        </a:rPr>
                        <a:t>dyson5_tma_step1.txt, dyson5_tma_step1_layout.png, BRIEF_dyson5_tma.md</a:t>
                      </a:r>
                    </a:p>
                  </a:txBody>
                  <a:tcPr marL="54864" marR="54864" marT="18288" marB="18288">
                    <a:solidFill>
                      <a:srgbClr val="FFFFFF"/>
                    </a:solidFill>
                  </a:tcPr>
                </a:tc>
                <a:tc>
                  <a:txBody>
                    <a:bodyPr wrap="square"/>
                    <a:lstStyle/>
                    <a:p>
                      <a:r>
                        <a:rPr sz="1100" b="0">
                          <a:solidFill>
                            <a:srgbClr val="282828"/>
                          </a:solidFill>
                          <a:latin typeface="Arial"/>
                        </a:rPr>
                        <a:t>macos.design.tma_layout, Telescope, CALIB</a:t>
                      </a:r>
                    </a:p>
                  </a:txBody>
                  <a:tcPr marL="54864" marR="54864" marT="18288" marB="18288">
                    <a:solidFill>
                      <a:srgbClr val="FFFFFF"/>
                    </a:solidFill>
                  </a:tcPr>
                </a:tc>
              </a:tr>
              <a:tr h="468630">
                <a:tc>
                  <a:txBody>
                    <a:bodyPr wrap="square"/>
                    <a:lstStyle/>
                    <a:p>
                      <a:r>
                        <a:rPr sz="1100" b="0">
                          <a:solidFill>
                            <a:srgbClr val="282828"/>
                          </a:solidFill>
                          <a:latin typeface="Arial"/>
                        </a:rPr>
                        <a:t>end to end at Jim's f-number (informative)</a:t>
                      </a:r>
                    </a:p>
                  </a:txBody>
                  <a:tcPr marL="54864" marR="54864" marT="18288" marB="18288">
                    <a:solidFill>
                      <a:srgbClr val="ECF1F6"/>
                    </a:solidFill>
                  </a:tcPr>
                </a:tc>
                <a:tc>
                  <a:txBody>
                    <a:bodyPr wrap="square"/>
                    <a:lstStyle/>
                    <a:p>
                      <a:r>
                        <a:rPr sz="1100" b="0">
                          <a:solidFill>
                            <a:srgbClr val="282828"/>
                          </a:solidFill>
                          <a:latin typeface="Arial"/>
                        </a:rPr>
                        <a:t>t5e</a:t>
                      </a:r>
                    </a:p>
                  </a:txBody>
                  <a:tcPr marL="54864" marR="54864" marT="18288" marB="18288">
                    <a:solidFill>
                      <a:srgbClr val="ECF1F6"/>
                    </a:solidFill>
                  </a:tcPr>
                </a:tc>
                <a:tc>
                  <a:txBody>
                    <a:bodyPr wrap="square"/>
                    <a:lstStyle/>
                    <a:p>
                      <a:r>
                        <a:rPr sz="1100" b="0">
                          <a:solidFill>
                            <a:srgbClr val="282828"/>
                          </a:solidFill>
                          <a:latin typeface="Arial"/>
                        </a:rPr>
                        <a:t>dyson5_t5e_1k5.txt, dyson5_t5e_1k5_e2e.in, dyson5_t5e_1k5_maps.png</a:t>
                      </a:r>
                    </a:p>
                  </a:txBody>
                  <a:tcPr marL="54864" marR="54864" marT="18288" marB="18288">
                    <a:solidFill>
                      <a:srgbClr val="ECF1F6"/>
                    </a:solidFill>
                  </a:tcPr>
                </a:tc>
                <a:tc>
                  <a:txBody>
                    <a:bodyPr wrap="square"/>
                    <a:lstStyle/>
                    <a:p>
                      <a:r>
                        <a:rPr sz="1100" b="0">
                          <a:solidFill>
                            <a:srgbClr val="282828"/>
                          </a:solidFill>
                          <a:latin typeface="Arial"/>
                        </a:rPr>
                        <a:t>tel_deck_geom.m (the exact chain from a Telescope deck), the spectrometer's scorer</a:t>
                      </a:r>
                    </a:p>
                  </a:txBody>
                  <a:tcPr marL="54864" marR="54864" marT="18288" marB="18288">
                    <a:solidFill>
                      <a:srgbClr val="ECF1F6"/>
                    </a:solidFill>
                  </a:tcPr>
                </a:tc>
              </a:tr>
              <a:tr h="468630">
                <a:tc>
                  <a:txBody>
                    <a:bodyPr wrap="square"/>
                    <a:lstStyle/>
                    <a:p>
                      <a:r>
                        <a:rPr sz="1100" b="0">
                          <a:solidFill>
                            <a:srgbClr val="282828"/>
                          </a:solidFill>
                          <a:latin typeface="Arial"/>
                        </a:rPr>
                        <a:t>telescope, TMA unobscured section (step 2/2b, Linux)</a:t>
                      </a:r>
                    </a:p>
                  </a:txBody>
                  <a:tcPr marL="54864" marR="54864" marT="18288" marB="18288">
                    <a:solidFill>
                      <a:srgbClr val="FFFFFF"/>
                    </a:solidFill>
                  </a:tcPr>
                </a:tc>
                <a:tc>
                  <a:txBody>
                    <a:bodyPr wrap="square"/>
                    <a:lstStyle/>
                    <a:p>
                      <a:r>
                        <a:rPr sz="1100" b="0">
                          <a:solidFill>
                            <a:srgbClr val="282828"/>
                          </a:solidFill>
                          <a:latin typeface="Arial"/>
                        </a:rPr>
                        <a:t>dyson5_tma_step2_linux.m</a:t>
                      </a:r>
                    </a:p>
                  </a:txBody>
                  <a:tcPr marL="54864" marR="54864" marT="18288" marB="18288">
                    <a:solidFill>
                      <a:srgbClr val="FFFFFF"/>
                    </a:solidFill>
                  </a:tcPr>
                </a:tc>
                <a:tc>
                  <a:txBody>
                    <a:bodyPr wrap="square"/>
                    <a:lstStyle/>
                    <a:p>
                      <a:r>
                        <a:rPr sz="1100" b="0">
                          <a:solidFill>
                            <a:srgbClr val="282828"/>
                          </a:solidFill>
                          <a:latin typeface="Arial"/>
                        </a:rPr>
                        <a:t>dyson5_tma_step2_linux_d170.txt, _d190.txt, dyson5_tma_step2b_linux_d205.txt, _d205_1k5.in, _layout_*.png</a:t>
                      </a:r>
                    </a:p>
                  </a:txBody>
                  <a:tcPr marL="54864" marR="54864" marT="18288" marB="18288">
                    <a:solidFill>
                      <a:srgbClr val="FFFFFF"/>
                    </a:solidFill>
                  </a:tcPr>
                </a:tc>
                <a:tc>
                  <a:txBody>
                    <a:bodyPr wrap="square"/>
                    <a:lstStyle/>
                    <a:p>
                      <a:r>
                        <a:rPr sz="1100" b="0">
                          <a:solidFill>
                            <a:srgbClr val="282828"/>
                          </a:solidFill>
                          <a:latin typeface="Arial"/>
                        </a:rPr>
                        <a:t>Telescope.set_offaxis, CALIB over the strip with the per-field position rows, check_clipping</a:t>
                      </a:r>
                    </a:p>
                  </a:txBody>
                  <a:tcPr marL="54864" marR="54864" marT="18288" marB="18288">
                    <a:solidFill>
                      <a:srgbClr val="FFFFFF"/>
                    </a:solidFill>
                  </a:tcPr>
                </a:tc>
              </a:tr>
            </a:tbl>
          </a:graphicData>
        </a:graphic>
      </p:graphicFrame>
      <p:sp>
        <p:nvSpPr>
          <p:cNvPr id="5" name="TextBox 4"/>
          <p:cNvSpPr txBox="1"/>
          <p:nvPr/>
        </p:nvSpPr>
        <p:spPr>
          <a:xfrm>
            <a:off x="411480" y="855992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