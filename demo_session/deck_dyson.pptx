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as traced by the engine</a:t>
            </a:r>
          </a:p>
          <a:p>
            <a:pPr>
              <a:spcAft>
                <a:spcPts val="0"/>
              </a:spcAft>
            </a:pPr>
            <a:r>
              <a:rPr sz="1250" b="0">
                <a:solidFill>
                  <a:srgbClr val="6E6E6E"/>
                </a:solidFill>
                <a:latin typeface="Arial"/>
              </a:rPr>
              <a:t>EMIT's parameters: f = 126 mm, 70 mm at F/1.8, 24.6° onto the 54 mm slit; a folded three-mirror laid out, unobscured and pupil-matched; its image is not yet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Three facts first.  The spectrometer is telecentric at its slit to 0.09° (its accepted chief rays cross 16.8 m behind the slit), so the pupil match is measured as the chief's miss of the grating vertex when the telescope's chief is sent on through the block.  With a flat field and that pupil the three-mirror first order is a one-parameter family.  And the push-broom field is the sky line that images onto the straight slit, solved per field.</a:t>
            </a:r>
          </a:p>
          <a:p>
            <a:pPr>
              <a:spcAft>
                <a:spcPts val="600"/>
              </a:spcAft>
            </a:pPr>
            <a:r>
              <a:rPr sz="1500" b="0">
                <a:solidFill>
                  <a:srgbClr val="282828"/>
                </a:solidFill>
                <a:latin typeface="Arial"/>
              </a:rPr>
              <a:t>•  The layout.  The coaxial section cannot be unobscured at F/1.8 with spacings of the beam's size, so the chief is folded at each mirror (32°, −32°, 21°) and a flat fold after M3 turns the beam into the spectrometer.  Every leg clears every body (+0.75 mm beyond the 5 mm mount margin); the chief lands within 9.4 mm of the grating vertex and the grating admits 100 % of the beam at every field; focal length by the map 126.4 mm.</a:t>
            </a:r>
          </a:p>
          <a:p>
            <a:pPr>
              <a:spcAft>
                <a:spcPts val="600"/>
              </a:spcAft>
            </a:pPr>
            <a:r>
              <a:rPr sz="1500" b="0">
                <a:solidFill>
                  <a:srgbClr val="282828"/>
                </a:solidFill>
                <a:latin typeface="Arial"/>
              </a:rPr>
              <a:t>•  The image, and what it says.  Four rungs on the exact chain (layout; conics + radii + spacings; + h⁴/h⁶ aspheres; everything) reach 67 px rms at the slit with a 1.6 mm field-curvature swing: conics and symmetric aspheres on folded mirrors do not image at the pixel over ±12.3° at F/1.8.  Next, the review's forms for this regime: the two-mirror modified Schwarzschild, and freeform mirrors.  Record dyson5_t1.txt, deck dyson5_t1_t3.in, every rung engine-scored.</a:t>
            </a:r>
          </a:p>
        </p:txBody>
      </p:sp>
      <p:pic>
        <p:nvPicPr>
          <p:cNvPr id="5" name="Picture 4" descr="dyson5_t1_t3_views.png"/>
          <p:cNvPicPr>
            <a:picLocks noChangeAspect="1"/>
          </p:cNvPicPr>
          <p:nvPr/>
        </p:nvPicPr>
        <p:blipFill>
          <a:blip r:embed="rId2"/>
          <a:stretch>
            <a:fillRect/>
          </a:stretch>
        </p:blipFill>
        <p:spPr>
          <a:xfrm>
            <a:off x="5242267" y="4727447"/>
            <a:ext cx="1707159" cy="157175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the sky from +y, M1 at the bottom, M2 and M3 above it, the fold flat (E4) turning the beam into the slit (E6) on the Dyson's axis; apertures are the declared ellipses.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the folded three-mirror is laid out, unobscured, pupil-matched and traced end to end, but conics and symmetric aspheres leave 67 px at the slit.  Next: the two-mirror modified Schwarzschild the review recommends for wide fields at low F-number, and freeform (Zernike) mirrors on the folded three-mirror through the engine's native optimizer;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six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846195"/>
        </p:xfrm>
        <a:graphic>
          <a:graphicData uri="http://schemas.openxmlformats.org/drawingml/2006/table">
            <a:tbl>
              <a:tblPr firstRow="1" bandRow="1">
                <a:tableStyleId>{5C22544A-7EE6-4342-B048-85BDC9FD1C3A}</a:tableStyleId>
              </a:tblPr>
              <a:tblGrid>
                <a:gridCol w="991903"/>
                <a:gridCol w="5086682"/>
                <a:gridCol w="2899408"/>
                <a:gridCol w="2390740"/>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657225">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65722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0620"/>
        </p:xfrm>
        <a:graphic>
          <a:graphicData uri="http://schemas.openxmlformats.org/drawingml/2006/table">
            <a:tbl>
              <a:tblPr firstRow="1" bandRow="1">
                <a:tableStyleId>{5C22544A-7EE6-4342-B048-85BDC9FD1C3A}</a:tableStyleId>
              </a:tblPr>
              <a:tblGrid>
                <a:gridCol w="2107692"/>
                <a:gridCol w="1817116"/>
                <a:gridCol w="4549066"/>
                <a:gridCol w="2894860"/>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bl>
          </a:graphicData>
        </a:graphic>
      </p:graphicFrame>
      <p:sp>
        <p:nvSpPr>
          <p:cNvPr id="5" name="TextBox 4"/>
          <p:cNvSpPr txBox="1"/>
          <p:nvPr/>
        </p:nvSpPr>
        <p:spPr>
          <a:xfrm>
            <a:off x="411480" y="640537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