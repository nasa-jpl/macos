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Next steps</a:t>
            </a:r>
          </a:p>
          <a:p>
            <a:pPr>
              <a:spcAft>
                <a:spcPts val="600"/>
              </a:spcAft>
            </a:pPr>
            <a:r>
              <a:rPr sz="1200" b="0">
                <a:solidFill>
                  <a:srgbClr val="282828"/>
                </a:solidFill>
                <a:latin typeface="Arial"/>
              </a:rPr>
              <a:t>•  26 Run it yourself</a:t>
            </a:r>
          </a:p>
          <a:p>
            <a:pPr>
              <a:spcAft>
                <a:spcPts val="600"/>
              </a:spcAft>
            </a:pPr>
            <a:r>
              <a:rPr sz="1200" b="0">
                <a:solidFill>
                  <a:srgbClr val="282828"/>
                </a:solidFill>
                <a:latin typeface="Arial"/>
              </a:rPr>
              <a:t>•  27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507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block cap + meniscus.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on the compact variant: built and gated — the engine's spot-size solve over 5 slit positions × 6 wavelengths with the double-pass copies of each surface linked as one, smile and keystone held as walls between iteration chunks on the chain, and the engine's design read back under an identity check.  It runs now that the engine's derivative-loop defect is fixed (Backup); the result is not yet on the record.</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Beat 5, the telescope: EMIT parameters — 420 km, 60 m ground sample, 0.143 mrad IFOV, focal length 126 mm, 70 mm aperture at F/1.8, 24.6° cross-track field onto the 54 mm slit, telecentric and flat; the telescope's exit pupil on the grating.  Then spectrometer and telescope traced end to end as one deck.</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five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188970"/>
        </p:xfrm>
        <a:graphic>
          <a:graphicData uri="http://schemas.openxmlformats.org/drawingml/2006/table">
            <a:tbl>
              <a:tblPr firstRow="1" bandRow="1">
                <a:tableStyleId>{5C22544A-7EE6-4342-B048-85BDC9FD1C3A}</a:tableStyleId>
              </a:tblPr>
              <a:tblGrid>
                <a:gridCol w="2398268"/>
                <a:gridCol w="4942910"/>
                <a:gridCol w="2458378"/>
                <a:gridCol w="1569177"/>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657225">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657225">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bl>
          </a:graphicData>
        </a:graphic>
      </p:graphicFrame>
      <p:sp>
        <p:nvSpPr>
          <p:cNvPr id="5" name="TextBox 4"/>
          <p:cNvSpPr txBox="1"/>
          <p:nvPr/>
        </p:nvSpPr>
        <p:spPr>
          <a:xfrm>
            <a:off x="411480" y="4633722"/>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sixth item, a short AsphCoef= line killing the host process, now pads with zero and warns (tRxShortAsph).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303395"/>
        </p:xfrm>
        <a:graphic>
          <a:graphicData uri="http://schemas.openxmlformats.org/drawingml/2006/table">
            <a:tbl>
              <a:tblPr firstRow="1" bandRow="1">
                <a:tableStyleId>{5C22544A-7EE6-4342-B048-85BDC9FD1C3A}</a:tableStyleId>
              </a:tblPr>
              <a:tblGrid>
                <a:gridCol w="2107692"/>
                <a:gridCol w="1817116"/>
                <a:gridCol w="4549066"/>
                <a:gridCol w="2894860"/>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280035">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 (native_enabled)</a:t>
                      </a:r>
                    </a:p>
                  </a:txBody>
                  <a:tcPr marL="54864" marR="54864" marT="18288" marB="18288">
                    <a:solidFill>
                      <a:srgbClr val="FFFFFF"/>
                    </a:solidFill>
                  </a:tcPr>
                </a:tc>
                <a:tc>
                  <a:txBody>
                    <a:bodyPr wrap="square"/>
                    <a:lstStyle/>
                    <a:p>
                      <a:r>
                        <a:rPr sz="1100" b="0">
                          <a:solidFill>
                            <a:srgbClr val="282828"/>
                          </a:solidFill>
                          <a:latin typeface="Arial"/>
                        </a:rPr>
                        <a:t>dyson5_s4_r4n_seed.in (the CALIB deck)</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