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block of 1.7 kg matches the record against 220 mm and 8.2 kg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not the glass: one module at the full 54 mm slit cannot shrink; two modules of 27 mm match the record with a 130 mm block of 1.7 kg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R4 re-solve walked down in radius, warm-started from the next larger block and scored in the engine; a filled marker matches the record's own scores.</a:t>
            </a:r>
          </a:p>
        </p:txBody>
      </p:sp>
      <p:pic>
        <p:nvPicPr>
          <p:cNvPr id="5" name="Picture 4" descr="dyson5_size_rc.png"/>
          <p:cNvPicPr>
            <a:picLocks noChangeAspect="1"/>
          </p:cNvPicPr>
          <p:nvPr/>
        </p:nvPicPr>
        <p:blipFill>
          <a:blip r:embed="rId2"/>
          <a:stretch>
            <a:fillRect/>
          </a:stretch>
        </p:blipFill>
        <p:spPr>
          <a:xfrm>
            <a:off x="942381" y="2606039"/>
            <a:ext cx="10306931"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four families: CRF (left), ensquared energy in one pixel (middle), mass of the edged block (right); filled markers match R4 of record, lines mark the record's values.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The smallest block per family that matches the record; mass is the block edged to its clear aperture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4213587"/>
                <a:gridCol w="1351527"/>
                <a:gridCol w="1113023"/>
                <a:gridCol w="1192524"/>
                <a:gridCol w="636013"/>
                <a:gridCol w="1192524"/>
                <a:gridCol w="1669534"/>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(mm)</a:t>
                      </a:r>
                    </a:p>
                  </a:txBody>
                  <a:tcPr marL="54864" marR="54864" marT="18288" marB="18288">
                    <a:solidFill>
                      <a:srgbClr val="1F4E79"/>
                    </a:solidFill>
                  </a:tcPr>
                </a:tc>
                <a:tc>
                  <a:txBody>
                    <a:bodyPr wrap="square"/>
                    <a:lstStyle/>
                    <a:p>
                      <a:r>
                        <a:rPr sz="1100" b="1">
                          <a:solidFill>
                            <a:srgbClr val="FFFFFF"/>
                          </a:solidFill>
                          <a:latin typeface="Arial"/>
                        </a:rPr>
                        <a:t>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221</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a:t>
                      </a:r>
                    </a:p>
                  </a:txBody>
                  <a:tcPr marL="54864" marR="54864" marT="18288" marB="18288">
                    <a:solidFill>
                      <a:srgbClr val="ECF1F6"/>
                    </a:solidFill>
                  </a:tcPr>
                </a:tc>
                <a:tc>
                  <a:txBody>
                    <a:bodyPr wrap="square"/>
                    <a:lstStyle/>
                    <a:p>
                      <a:r>
                        <a:rPr sz="1100" b="0">
                          <a:solidFill>
                            <a:srgbClr val="282828"/>
                          </a:solidFill>
                          <a:latin typeface="Arial"/>
                        </a:rPr>
                        <a:t>180</a:t>
                      </a:r>
                    </a:p>
                  </a:txBody>
                  <a:tcPr marL="54864" marR="54864" marT="18288" marB="18288">
                    <a:solidFill>
                      <a:srgbClr val="ECF1F6"/>
                    </a:solidFill>
                  </a:tcPr>
                </a:tc>
                <a:tc>
                  <a:txBody>
                    <a:bodyPr wrap="square"/>
                    <a:lstStyle/>
                    <a:p>
                      <a:r>
                        <a:rPr sz="1100" b="0">
                          <a:solidFill>
                            <a:srgbClr val="282828"/>
                          </a:solidFill>
                          <a:latin typeface="Arial"/>
                        </a:rPr>
                        <a:t>181</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1.20</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0.017 / 0.020</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the record's distortion kept</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131</a:t>
                      </a:r>
                    </a:p>
                  </a:txBody>
                  <a:tcPr marL="54864" marR="54864" marT="18288" marB="18288">
                    <a:solidFill>
                      <a:srgbClr val="FFFFFF"/>
                    </a:solidFill>
                  </a:tcPr>
                </a:tc>
                <a:tc>
                  <a:txBody>
                    <a:bodyPr wrap="square"/>
                    <a:lstStyle/>
                    <a:p>
                      <a:r>
                        <a:rPr sz="1100" b="0">
                          <a:solidFill>
                            <a:srgbClr val="282828"/>
                          </a:solidFill>
                          <a:latin typeface="Arial"/>
                        </a:rPr>
                        <a:t>1.7 each</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0.009 / 0.009</a:t>
                      </a:r>
                    </a:p>
                  </a:txBody>
                  <a:tcPr marL="54864" marR="54864" marT="18288" marB="18288">
                    <a:solidFill>
                      <a:srgbClr val="FFFFFF"/>
                    </a:solidFill>
                  </a:tcPr>
                </a:tc>
              </a:tr>
              <a:tr h="280035">
                <a:tc>
                  <a:txBody>
                    <a:bodyPr wrap="square"/>
                    <a:lstStyle/>
                    <a:p>
                      <a:r>
                        <a:rPr sz="1100" b="0">
                          <a:solidFill>
                            <a:srgbClr val="282828"/>
                          </a:solidFill>
                          <a:latin typeface="Arial"/>
                        </a:rPr>
                        <a:t>silica, two 27 mm slits, smallest</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c>
                  <a:txBody>
                    <a:bodyPr wrap="square"/>
                    <a:lstStyle/>
                    <a:p>
                      <a:r>
                        <a:rPr sz="1100" b="0">
                          <a:solidFill>
                            <a:srgbClr val="282828"/>
                          </a:solidFill>
                          <a:latin typeface="Arial"/>
                        </a:rPr>
                        <a:t>1.0 each</a:t>
                      </a:r>
                    </a:p>
                  </a:txBody>
                  <a:tcPr marL="54864" marR="54864" marT="18288" marB="18288">
                    <a:solidFill>
                      <a:srgbClr val="ECF1F6"/>
                    </a:solidFill>
                  </a:tcPr>
                </a:tc>
                <a:tc>
                  <a:txBody>
                    <a:bodyPr wrap="square"/>
                    <a:lstStyle/>
                    <a:p>
                      <a:r>
                        <a:rPr sz="1100" b="0">
                          <a:solidFill>
                            <a:srgbClr val="282828"/>
                          </a:solidFill>
                          <a:latin typeface="Arial"/>
                        </a:rPr>
                        <a:t>1.05</a:t>
                      </a:r>
                    </a:p>
                  </a:txBody>
                  <a:tcPr marL="54864" marR="54864" marT="18288" marB="18288">
                    <a:solidFill>
                      <a:srgbClr val="ECF1F6"/>
                    </a:solidFill>
                  </a:tcPr>
                </a:tc>
                <a:tc>
                  <a:txBody>
                    <a:bodyPr wrap="square"/>
                    <a:lstStyle/>
                    <a:p>
                      <a:r>
                        <a:rPr sz="1100" b="0">
                          <a:solidFill>
                            <a:srgbClr val="282828"/>
                          </a:solidFill>
                          <a:latin typeface="Arial"/>
                        </a:rPr>
                        <a:t>0.96</a:t>
                      </a:r>
                    </a:p>
                  </a:txBody>
                  <a:tcPr marL="54864" marR="54864" marT="18288" marB="18288">
                    <a:solidFill>
                      <a:srgbClr val="ECF1F6"/>
                    </a:solidFill>
                  </a:tcPr>
                </a:tc>
                <a:tc>
                  <a:txBody>
                    <a:bodyPr wrap="square"/>
                    <a:lstStyle/>
                    <a:p>
                      <a:r>
                        <a:rPr sz="1100" b="0">
                          <a:solidFill>
                            <a:srgbClr val="282828"/>
                          </a:solidFill>
                          <a:latin typeface="Arial"/>
                        </a:rPr>
                        <a:t>0.044 / 0.049</a:t>
                      </a:r>
                    </a:p>
                  </a:txBody>
                  <a:tcPr marL="54864" marR="54864" marT="18288" marB="18288">
                    <a:solidFill>
                      <a:srgbClr val="ECF1F6"/>
                    </a:solidFill>
                  </a:tcPr>
                </a:tc>
              </a:tr>
              <a:tr h="280035">
                <a:tc>
                  <a:txBody>
                    <a:bodyPr wrap="square"/>
                    <a:lstStyle/>
                    <a:p>
                      <a:r>
                        <a:rPr sz="1100" b="0">
                          <a:solidFill>
                            <a:srgbClr val="282828"/>
                          </a:solidFill>
                          <a:latin typeface="Arial"/>
                        </a:rPr>
                        <a:t>CaF2, two 27 mm slits, smallest</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1.04</a:t>
                      </a:r>
                    </a:p>
                  </a:txBody>
                  <a:tcPr marL="54864" marR="54864" marT="18288" marB="18288">
                    <a:solidFill>
                      <a:srgbClr val="FFFFFF"/>
                    </a:solidFill>
                  </a:tcPr>
                </a:tc>
                <a:tc>
                  <a:txBody>
                    <a:bodyPr wrap="square"/>
                    <a:lstStyle/>
                    <a:p>
                      <a:r>
                        <a:rPr sz="1100" b="0">
                          <a:solidFill>
                            <a:srgbClr val="282828"/>
                          </a:solidFill>
                          <a:latin typeface="Arial"/>
                        </a:rPr>
                        <a:t>0.97</a:t>
                      </a:r>
                    </a:p>
                  </a:txBody>
                  <a:tcPr marL="54864" marR="54864" marT="18288" marB="18288">
                    <a:solidFill>
                      <a:srgbClr val="FFFFFF"/>
                    </a:solidFill>
                  </a:tcPr>
                </a:tc>
                <a:tc>
                  <a:txBody>
                    <a:bodyPr wrap="square"/>
                    <a:lstStyle/>
                    <a:p>
                      <a:r>
                        <a:rPr sz="1100" b="0">
                          <a:solidFill>
                            <a:srgbClr val="282828"/>
                          </a:solidFill>
                          <a:latin typeface="Arial"/>
                        </a:rPr>
                        <a:t>0.009 / 0.018</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One module cannot shrink: silica already misses at 200 mm (CRF 1.34 px, 74 %), and CaF2's 180 mm block weighs the same as silica's 220 mm because it is denser.  The walk reproduces the closure envelope's 180 and 150 mm rows to 0.02 px, so those limits are the design's and not the solver's.</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a:t>
            </a:r>
          </a:p>
          <a:p>
            <a:pPr>
              <a:spcAft>
                <a:spcPts val="600"/>
              </a:spcAft>
            </a:pPr>
            <a:r>
              <a:rPr sz="1500" b="0">
                <a:solidFill>
                  <a:srgbClr val="282828"/>
                </a:solidFill>
                <a:latin typeface="Arial"/>
              </a:rPr>
              <a:t>•  What they also buy: halving the glass path halves the wavefront error from index inhomogeneity and from thermal gradients, estimated at 0.4 waves each for the 220 mm block.</a:t>
            </a:r>
          </a:p>
        </p:txBody>
      </p:sp>
      <p:sp>
        <p:nvSpPr>
          <p:cNvPr id="6" name="TextBox 5"/>
          <p:cNvSpPr txBox="1"/>
          <p:nvPr/>
        </p:nvSpPr>
        <p:spPr>
          <a:xfrm>
            <a:off x="411480" y="5563362"/>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25 engine-scored points;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as traced by the engine</a:t>
            </a:r>
          </a:p>
          <a:p>
            <a:pPr>
              <a:spcAft>
                <a:spcPts val="0"/>
              </a:spcAft>
            </a:pPr>
            <a:r>
              <a:rPr sz="1250" b="0">
                <a:solidFill>
                  <a:srgbClr val="6E6E6E"/>
                </a:solidFill>
                <a:latin typeface="Arial"/>
              </a:rPr>
              <a:t>EMIT's parameters: f = 126 mm, 70 mm at F/1.8, 24.6° onto the 54 mm slit; a folded three-mirror laid out, unobscured and pupil-matched; its image is not yet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Three facts first.  The spectrometer is telecentric at its slit to 0.09° (its accepted chief rays cross 16.8 m behind the slit), so the pupil match is measured as the chief's miss of the grating vertex when the telescope's chief is sent on through the block.  With a flat field and that pupil the three-mirror first order is a one-parameter family.  And the push-broom field is the sky line that images onto the straight slit, solved per field.</a:t>
            </a:r>
          </a:p>
          <a:p>
            <a:pPr>
              <a:spcAft>
                <a:spcPts val="600"/>
              </a:spcAft>
            </a:pPr>
            <a:r>
              <a:rPr sz="1500" b="0">
                <a:solidFill>
                  <a:srgbClr val="282828"/>
                </a:solidFill>
                <a:latin typeface="Arial"/>
              </a:rPr>
              <a:t>•  The layout.  The coaxial section cannot be unobscured at F/1.8 with spacings of the beam's size, so the chief is folded at each mirror (32°, −32°, 21°) and a flat fold after M3 turns the beam into the spectrometer.  Every leg clears every body (+0.75 mm beyond the 5 mm mount margin); the chief lands within 9.4 mm of the grating vertex and the grating admits 100 % of the beam at every field; focal length by the map 126.4 mm.</a:t>
            </a:r>
          </a:p>
          <a:p>
            <a:pPr>
              <a:spcAft>
                <a:spcPts val="600"/>
              </a:spcAft>
            </a:pPr>
            <a:r>
              <a:rPr sz="1500" b="0">
                <a:solidFill>
                  <a:srgbClr val="282828"/>
                </a:solidFill>
                <a:latin typeface="Arial"/>
              </a:rPr>
              <a:t>•  The image, and what it says.  Four rungs on the exact chain (layout; conics + radii + spacings; + h⁴/h⁶ aspheres; everything) reach 67 px rms at the slit with a 1.6 mm field-curvature swing: conics and symmetric aspheres on folded mirrors do not image at the pixel over ±12.3° at F/1.8.  Next, the review's forms for this regime: the two-mirror modified Schwarzschild, and freeform mirrors.  Record dyson5_t1.txt, deck dyson5_t1_t3.in, every rung engine-scored.</a:t>
            </a:r>
          </a:p>
        </p:txBody>
      </p:sp>
      <p:pic>
        <p:nvPicPr>
          <p:cNvPr id="5" name="Picture 4" descr="dyson5_t1_t3_views.png"/>
          <p:cNvPicPr>
            <a:picLocks noChangeAspect="1"/>
          </p:cNvPicPr>
          <p:nvPr/>
        </p:nvPicPr>
        <p:blipFill>
          <a:blip r:embed="rId2"/>
          <a:stretch>
            <a:fillRect/>
          </a:stretch>
        </p:blipFill>
        <p:spPr>
          <a:xfrm>
            <a:off x="5242267" y="4727447"/>
            <a:ext cx="1707159" cy="157175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the sky from +y, M1 at the bottom, M2 and M3 above it, the fold flat (E4) turning the beam into the slit (E6) on the Dyson's axis; apertures are the declared ellipses.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p:txBody>
      </p:sp>
      <p:pic>
        <p:nvPicPr>
          <p:cNvPr id="5" name="Picture 4" descr="dyson5_t2_r4_views.png"/>
          <p:cNvPicPr>
            <a:picLocks noChangeAspect="1"/>
          </p:cNvPicPr>
          <p:nvPr/>
        </p:nvPicPr>
        <p:blipFill>
          <a:blip r:embed="rId2"/>
          <a:stretch>
            <a:fillRect/>
          </a:stretch>
        </p:blipFill>
        <p:spPr>
          <a:xfrm>
            <a:off x="4994682" y="4479797"/>
            <a:ext cx="2202329"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two 27 mm modules need 130 mm and 1.7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the folded three-mirror is laid out, unobscured, pupil-matched and traced end to end, but conics and symmetric aspheres leave 67 px at the slit.  Next: the two-mirror modified Schwarzschild the review recommends for wide fields at low F-number, and freeform (Zernike) mirrors on the folded three-mirror through the engine's native optimizer;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six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846195"/>
        </p:xfrm>
        <a:graphic>
          <a:graphicData uri="http://schemas.openxmlformats.org/drawingml/2006/table">
            <a:tbl>
              <a:tblPr firstRow="1" bandRow="1">
                <a:tableStyleId>{5C22544A-7EE6-4342-B048-85BDC9FD1C3A}</a:tableStyleId>
              </a:tblPr>
              <a:tblGrid>
                <a:gridCol w="991903"/>
                <a:gridCol w="5086682"/>
                <a:gridCol w="2899408"/>
                <a:gridCol w="2390740"/>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657225">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65722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529094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0620"/>
        </p:xfrm>
        <a:graphic>
          <a:graphicData uri="http://schemas.openxmlformats.org/drawingml/2006/table">
            <a:tbl>
              <a:tblPr firstRow="1" bandRow="1">
                <a:tableStyleId>{5C22544A-7EE6-4342-B048-85BDC9FD1C3A}</a:tableStyleId>
              </a:tblPr>
              <a:tblGrid>
                <a:gridCol w="2107692"/>
                <a:gridCol w="1817116"/>
                <a:gridCol w="4549066"/>
                <a:gridCol w="2894860"/>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bl>
          </a:graphicData>
        </a:graphic>
      </p:graphicFrame>
      <p:sp>
        <p:nvSpPr>
          <p:cNvPr id="5" name="TextBox 4"/>
          <p:cNvSpPr txBox="1"/>
          <p:nvPr/>
        </p:nvSpPr>
        <p:spPr>
          <a:xfrm>
            <a:off x="411480" y="6405372"/>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