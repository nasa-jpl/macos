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  The block's size follows the slit: shared between two 27 mm modules, a 130 mm silica block of 1.6 kg with no meniscus images at the pixel (CRF 1.03 px) with half the record's air-glass crossings, against 220 mm, 8.2 kg and a 4 mm meniscus for one module.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How small can the block be</a:t>
            </a:r>
          </a:p>
          <a:p>
            <a:pPr>
              <a:spcAft>
                <a:spcPts val="600"/>
              </a:spcAft>
            </a:pPr>
            <a:r>
              <a:rPr sz="1200" b="0">
                <a:solidFill>
                  <a:srgbClr val="282828"/>
                </a:solidFill>
                <a:latin typeface="Arial"/>
              </a:rPr>
              <a:t>•  26 The block-size trade, by the numbers</a:t>
            </a:r>
          </a:p>
          <a:p>
            <a:pPr>
              <a:spcAft>
                <a:spcPts val="600"/>
              </a:spcAft>
            </a:pPr>
            <a:r>
              <a:rPr sz="1200" b="0">
                <a:solidFill>
                  <a:srgbClr val="282828"/>
                </a:solidFill>
                <a:latin typeface="Arial"/>
              </a:rPr>
              <a:t>•  27 The telescope that feeds the slit</a:t>
            </a:r>
          </a:p>
          <a:p>
            <a:pPr>
              <a:spcAft>
                <a:spcPts val="600"/>
              </a:spcAft>
            </a:pPr>
            <a:r>
              <a:rPr sz="1200" b="0">
                <a:solidFill>
                  <a:srgbClr val="282828"/>
                </a:solidFill>
                <a:latin typeface="Arial"/>
              </a:rPr>
              <a:t>•  28 Telescope and spectrometer end to end</a:t>
            </a:r>
          </a:p>
          <a:p>
            <a:pPr>
              <a:spcAft>
                <a:spcPts val="600"/>
              </a:spcAft>
            </a:pPr>
            <a:r>
              <a:rPr sz="1200" b="0">
                <a:solidFill>
                  <a:srgbClr val="282828"/>
                </a:solidFill>
                <a:latin typeface="Arial"/>
              </a:rPr>
              <a:t>•  29 Next steps</a:t>
            </a:r>
          </a:p>
          <a:p>
            <a:pPr>
              <a:spcAft>
                <a:spcPts val="600"/>
              </a:spcAft>
            </a:pPr>
            <a:r>
              <a:rPr sz="1200" b="0">
                <a:solidFill>
                  <a:srgbClr val="282828"/>
                </a:solidFill>
                <a:latin typeface="Arial"/>
              </a:rPr>
              <a:t>•  30 Run it yourself</a:t>
            </a:r>
          </a:p>
          <a:p>
            <a:pPr>
              <a:spcAft>
                <a:spcPts val="600"/>
              </a:spcAft>
            </a:pPr>
            <a:r>
              <a:rPr sz="1200" b="0">
                <a:solidFill>
                  <a:srgbClr val="282828"/>
                </a:solidFill>
                <a:latin typeface="Arial"/>
              </a:rPr>
              <a:t>•  31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the full hemispherical cap + meniscus, an upper bound: edged to its clear aperture the R4 block is a rod 147 mm across and 221 mm long, 3.7 L and 8.2 kg in silica.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4531435" y="3984498"/>
            <a:ext cx="3128823"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small can the block be</a:t>
            </a:r>
          </a:p>
          <a:p>
            <a:pPr>
              <a:spcAft>
                <a:spcPts val="0"/>
              </a:spcAft>
            </a:pPr>
            <a:r>
              <a:rPr sz="1250" b="0">
                <a:solidFill>
                  <a:srgbClr val="6E6E6E"/>
                </a:solidFill>
                <a:latin typeface="Arial"/>
              </a:rPr>
              <a:t>The slit is the lever: shared between two 27 mm modules the block falls from 220 mm to 130 mm or less, and the meniscus is no longer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Why the record is 220 mm thick: in the Dyson form the flat face sits at the center of curvature, so the block's thickness is its radius, and the blur law of the scaling slide (h⁴/r³) ties the radius to the slit length.</a:t>
            </a:r>
          </a:p>
          <a:p>
            <a:pPr>
              <a:spcAft>
                <a:spcPts val="600"/>
              </a:spcAft>
            </a:pPr>
            <a:r>
              <a:rPr sz="1500" b="0">
                <a:solidFill>
                  <a:srgbClr val="282828"/>
                </a:solidFill>
                <a:latin typeface="Arial"/>
              </a:rPr>
              <a:t>•  The trade: each point is a full re-solve walked down in radius, warm-started from the next larger block and scored in the engine, with the meniscus (solid lines, step R4) and without it (dashed, step R3); a filled marker meets the specification and a ringed one also matches the record's own scores.</a:t>
            </a:r>
          </a:p>
        </p:txBody>
      </p:sp>
      <p:pic>
        <p:nvPicPr>
          <p:cNvPr id="5" name="Picture 4" descr="dyson5_size_rc.png"/>
          <p:cNvPicPr>
            <a:picLocks noChangeAspect="1"/>
          </p:cNvPicPr>
          <p:nvPr/>
        </p:nvPicPr>
        <p:blipFill>
          <a:blip r:embed="rId2"/>
          <a:stretch>
            <a:fillRect/>
          </a:stretch>
        </p:blipFill>
        <p:spPr>
          <a:xfrm>
            <a:off x="1275528" y="2853690"/>
            <a:ext cx="9640638" cy="34455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ensquared energy in one pixel (middle), mass of the edged block (right); solid lines with the meniscus, dashed without; filled = meets the specification, black ring = matches R4 of record.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5995"/>
        </p:xfrm>
        <a:graphic>
          <a:graphicData uri="http://schemas.openxmlformats.org/drawingml/2006/table">
            <a:tbl>
              <a:tblPr firstRow="1" bandRow="1">
                <a:tableStyleId>{5C22544A-7EE6-4342-B048-85BDC9FD1C3A}</a:tableStyleId>
              </a:tblPr>
              <a:tblGrid>
                <a:gridCol w="3828247"/>
                <a:gridCol w="1798116"/>
                <a:gridCol w="870056"/>
                <a:gridCol w="2320150"/>
                <a:gridCol w="464030"/>
                <a:gridCol w="870056"/>
                <a:gridCol w="121807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R4 of record: silica, one 54 mm slit, meniscus</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no meniscus, smallest matching the record</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no meniscus, smallest matching the record</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a plate 4 mm thick and 155 mm across that the solve wants thinner still; the thicker meniscus designs of the global search (about 30 mm) miss the specification at CRF 1.64 and 1.72 px.  Without a meniscus, one module closes only in CaF2 and only at 240 mm and 14 kg.</a:t>
            </a:r>
          </a:p>
          <a:p>
            <a:pPr>
              <a:spcAft>
                <a:spcPts val="600"/>
              </a:spcAft>
            </a:pPr>
            <a:r>
              <a:rPr sz="1500" b="0">
                <a:solidFill>
                  <a:srgbClr val="282828"/>
                </a:solidFill>
                <a:latin typeface="Arial"/>
              </a:rPr>
              <a:t>•  With two modules it is not needed: the plain block matches the record from 220 mm down to 100 mm in silica and 80 mm in CaF2, with four air-glass crossings where the record has eight, 15 % more light before any coating, and no thin part to make, mount or shake.  CaF2 still images at the pixel at 80 mm, where silica has fallen to CRF 1.49 px; silica needs 130 mm for the same image.  An 80 mm CaF2 block or a 130 mm silica block is a materials choice the ray trace cannot make.</a:t>
            </a:r>
          </a:p>
          <a:p>
            <a:pPr>
              <a:spcAft>
                <a:spcPts val="600"/>
              </a:spcAft>
            </a:pPr>
            <a:r>
              <a:rPr sz="1500" b="0">
                <a:solidFill>
                  <a:srgbClr val="282828"/>
                </a:solidFill>
                <a:latin typeface="Arial"/>
              </a:rPr>
              <a:t>•  What two modules cost: two gratings and two detectors of 1500 pixels, and a swath split ahead of the slits, since each block is wider than its slit and the slits cannot abut.  The slit-to-detector clearance stays near 0.5 mm at every size.  Halving the glass path also halves the wavefront error from index inhomogeneity and thermal gradients, estimated at 0.4 waves each for the 220 mm block.</a:t>
            </a:r>
          </a:p>
        </p:txBody>
      </p:sp>
      <p:sp>
        <p:nvSpPr>
          <p:cNvPr id="6" name="TextBox 5"/>
          <p:cNvSpPr txBox="1"/>
          <p:nvPr/>
        </p:nvSpPr>
        <p:spPr>
          <a:xfrm>
            <a:off x="411480" y="736739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the Mac's engine reproduces the Linux record of R4 to four decimals.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that feeds the slit, at Jim's numbers</a:t>
            </a:r>
          </a:p>
          <a:p>
            <a:pPr>
              <a:spcAft>
                <a:spcPts val="0"/>
              </a:spcAft>
            </a:pPr>
            <a:r>
              <a:rPr sz="1250" b="0">
                <a:solidFill>
                  <a:srgbClr val="6E6E6E"/>
                </a:solidFill>
                <a:latin typeface="Arial"/>
              </a:rPr>
              <a:t>f = 330 mm, 183 mm at F/1.8, 9.4° per 3k module or 4.7° per 1.5k; three forms traced in the engine, none yet packaged at the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target moved.  Jim's 30 m ground sample from 550 km on 18 µm pixels sets f = 330 mm and 183 mm at F/1.8; the swath is 9.4° cross-track for a 3k module, 4.7° for a 1.5k one, with a telecentric, flat image on the slit.  The EMIT-parameter three-mirror of the earlier beat (f = 126 mm, 24.6°, 67 px at the slit) stands as the layout and end-to-end machinery; the designs below are at the new numbers.</a:t>
            </a:r>
          </a:p>
          <a:p>
            <a:pPr>
              <a:spcAft>
                <a:spcPts val="600"/>
              </a:spcAft>
            </a:pPr>
            <a:r>
              <a:rPr sz="1500" b="0">
                <a:solidFill>
                  <a:srgbClr val="282828"/>
                </a:solidFill>
                <a:latin typeface="Arial"/>
              </a:rPr>
              <a:t>•  The coaxial three-mirror parent (two routes).  The chain's offset solves at 9–10° leave a field-constant residual — the parent's own aberration off its axis — 2 944 nm at best with the clearance gate failing, 6–65 px rms spots in the engine.  The design layer's Korsch TMA with conics solved by the native optimizer at a scanned bias is diffraction-limited on axis (0.008 waves) and holds to ±1.5°: at 1° bias the strip centre is 0.41 px but the imageable half-field is a third of the swath, and the bias cannot be raised to unobscure.  Three conics do not correct 9.4° at F/1.8; the unobscured section and freeform mirrors are the way out.</a:t>
            </a:r>
          </a:p>
          <a:p>
            <a:pPr>
              <a:spcAft>
                <a:spcPts val="600"/>
              </a:spcAft>
            </a:pPr>
            <a:r>
              <a:rPr sz="1500" b="0">
                <a:solidFill>
                  <a:srgbClr val="282828"/>
                </a:solidFill>
                <a:latin typeface="Arial"/>
              </a:rPr>
              <a:t>•  The two-mirror modified Schwarzschild (the review's form for this regime).  Convex primary, concave secondary, the stop virtual at M2's front focus so the output is telecentric; closed-form first order, exact chain, engine equal to chain on every ray.  On axis — obscured, M1 in the image cone — it images: 1.10 px max rms spot for the 1.5k module (0.59 on axis), 4.26 px for the 3k, each solved on its own strip with M1 and M2 aspheres, the review's own TMS scaled to this focal length sitting at 2.3–4.6 px.  It packages only with the strip 30° off axis: with the clearance operand made smooth (an exact segment-to-disc distance and a softmin over rays, where a sampled minimum had stalled every step) the packaged solves reach 123 px (1.5k, +5.4 mm clear) and 178 px (3k, +4.8 mm) and stall at the wall's knee.  The bound settles it: with the wall switched off, the same 30° layouts still sit at 25 px (3k; and the 1.5k solve ran pathological) — the form, not the solver, is out at this bias.  Verdict: no packaged Schwarzschild images at the pixel at f = 330 mm, F/1.8; no end-to-end row for it.</a:t>
            </a:r>
          </a:p>
        </p:txBody>
      </p:sp>
      <p:pic>
        <p:nvPicPr>
          <p:cNvPr id="5" name="Picture 4" descr="dyson5_t4_tma_views.png"/>
          <p:cNvPicPr>
            <a:picLocks noChangeAspect="1"/>
          </p:cNvPicPr>
          <p:nvPr/>
        </p:nvPicPr>
        <p:blipFill>
          <a:blip r:embed="rId2"/>
          <a:stretch>
            <a:fillRect/>
          </a:stretch>
        </p:blipFill>
        <p:spPr>
          <a:xfrm>
            <a:off x="5643125" y="6708648"/>
            <a:ext cx="905443" cy="365760"/>
          </a:xfrm>
          <a:prstGeom prst="rect">
            <a:avLst/>
          </a:prstGeom>
        </p:spPr>
      </p:pic>
      <p:sp>
        <p:nvSpPr>
          <p:cNvPr id="6" name="TextBox 5"/>
          <p:cNvSpPr txBox="1"/>
          <p:nvPr/>
        </p:nvSpPr>
        <p:spPr>
          <a:xfrm>
            <a:off x="411480" y="7092696"/>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1.5k modified Schwarzschild on axis (R2c), dispersion plane, metres — the entrance pupil ahead of the convex M1, the concave M2, the image inside the cone.  Right: the coaxial TMA parent at the 1° bias (step 1), the layout as the design layer renders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Telescope and spectrometer end to end</a:t>
            </a:r>
          </a:p>
          <a:p>
            <a:pPr>
              <a:spcAft>
                <a:spcPts val="0"/>
              </a:spcAft>
            </a:pPr>
            <a:r>
              <a:rPr sz="1250" b="0">
                <a:solidFill>
                  <a:srgbClr val="6E6E6E"/>
                </a:solidFill>
                <a:latin typeface="Arial"/>
              </a:rPr>
              <a:t>One prescription of 16 (R4) and 19 (R5) elements, the grating its stop; the spectrometer's scorer sees the telescope's blur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deck.  The telescope's surfaces are prepended to the spectrometer of record — sky, M1, M2, M3, fold, the slit as a pass-through reference, then block, meniscus, grating and detector — with a collimated 70 mm source per field and the grating declared the stop.  Gate tTelescopeRx: every ray at the slit and at the detector within 1e-9 m of the design solver's.</a:t>
            </a:r>
          </a:p>
          <a:p>
            <a:pPr>
              <a:spcAft>
                <a:spcPts val="600"/>
              </a:spcAft>
            </a:pPr>
            <a:r>
              <a:rPr sz="1500" b="0">
                <a:solidFill>
                  <a:srgbClr val="282828"/>
                </a:solidFill>
                <a:latin typeface="Arial"/>
              </a:rPr>
              <a:t>•  The score (7 fields × 7 wavelengths, the spectrometer's own scorer): with R4 smile 3.1 px, keystone 0.59 px, SRF 15.7 px, CRF 15.5 px; R5 the same to 0.03 px.  Against the spectrometer alone (smile 0.005, keystone 0.003, CRF 1.33 px) these are the telescope's 67 px blur passing through.  Clearance across both +0.75 mm with R4; with R5 the fold mirror's blur-widened footprint meets the detector package at −0.11 mm.</a:t>
            </a:r>
          </a:p>
          <a:p>
            <a:pPr>
              <a:spcAft>
                <a:spcPts val="600"/>
              </a:spcAft>
            </a:pPr>
            <a:r>
              <a:rPr sz="1500" b="0">
                <a:solidFill>
                  <a:srgbClr val="282828"/>
                </a:solidFill>
                <a:latin typeface="Arial"/>
              </a:rPr>
              <a:t>•  What it establishes: the end-to-end machinery is in place and gated — a telescope deck of record, a combined prescription with the stop at the grating, the admitted fraction per field, the clearance gate across both instruments.  Records dyson5_t2.txt, decks dyson5_t2_r4.in, dyson5_t2_r5.in.</a:t>
            </a:r>
          </a:p>
        </p:txBody>
      </p:sp>
      <p:pic>
        <p:nvPicPr>
          <p:cNvPr id="5" name="Picture 4" descr="dyson5_t2_r4_views.png"/>
          <p:cNvPicPr>
            <a:picLocks noChangeAspect="1"/>
          </p:cNvPicPr>
          <p:nvPr/>
        </p:nvPicPr>
        <p:blipFill>
          <a:blip r:embed="rId2"/>
          <a:stretch>
            <a:fillRect/>
          </a:stretch>
        </p:blipFill>
        <p:spPr>
          <a:xfrm>
            <a:off x="4994682" y="4479797"/>
            <a:ext cx="2202329"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the folded telescope below the slit plane, the block, meniscus and grating (E10) above it along the Dyson's axis, the detector on the block's face.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One module or two (a project decision): one 54 mm module needs the 220 mm, 8 kg block and its thin meniscus; two 27 mm modules need a plain 130 mm block of 1.6 kg each, with the swath split ahead of the slits.  The choice also sets the telescope's field: 24.6° for one, or 12.3° each for two.</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telescope's image (beat 5 continues): at Jim's numbers the modified Schwarzschild images at the pixel on axis (1.10 px for a 1.5k module) but at 123 px once packaged 30° off axis, and the TMA parent holds a third of the swath; neither is packaged with an image.  The Schwarzschild is out (its wall-off bound at 30° is 25 px).  Next: the unobscured section and freeform mirrors on the TMA; the telecentricity of the chosen form against the Dyson's (the optimizer now scores the chief ray's direction and the ray centroid at the image, per field); then the end-to-end score and the full slit diffraction.</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eight engine findings, each with a regression test</a:t>
            </a:r>
          </a:p>
          <a:p>
            <a:pPr>
              <a:spcAft>
                <a:spcPts val="0"/>
              </a:spcAft>
            </a:pPr>
            <a:r>
              <a:rPr sz="1250" b="0">
                <a:solidFill>
                  <a:srgbClr val="6E6E6E"/>
                </a:solidFill>
                <a:latin typeface="Arial"/>
              </a:rPr>
              <a:t>Found by the challenge's checks on 2026-09-30 to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858000"/>
        </p:xfrm>
        <a:graphic>
          <a:graphicData uri="http://schemas.openxmlformats.org/drawingml/2006/table">
            <a:tbl>
              <a:tblPr firstRow="1" bandRow="1">
                <a:tableStyleId>{5C22544A-7EE6-4342-B048-85BDC9FD1C3A}</a:tableStyleId>
              </a:tblPr>
              <a:tblGrid>
                <a:gridCol w="795984"/>
                <a:gridCol w="3564626"/>
                <a:gridCol w="5364243"/>
                <a:gridCol w="1643881"/>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657225">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657225">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84582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1034415">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whose entrance-pupil reference sits 5 mm ahead of its convex primary scattered every ray but the chief in a one-call trace (93 mm rms), while an element-by-element trace was right — by accident</a:t>
                      </a:r>
                    </a:p>
                  </a:txBody>
                  <a:tcPr marL="54864" marR="54864" marT="18288" marB="18288">
                    <a:solidFill>
                      <a:srgbClr val="ECF1F6"/>
                    </a:solidFill>
                  </a:tcPr>
                </a:tc>
                <a:tc>
                  <a:txBody>
                    <a:bodyPr wrap="square"/>
                    <a:lstStyle/>
                    <a:p>
                      <a:r>
                        <a:rPr sz="1100" b="0">
                          <a:solidFill>
                            <a:srgbClr val="282828"/>
                          </a:solidFill>
                          <a:latin typeface="Arial"/>
                        </a:rPr>
                        <a:t>the root of the conic after a reference is the one whose hit point is nearest the element's reference point (its vertex, or an off-axis section's pole), not the one whose length matches the ray's distance to the vertex (which the ray's height dominated); a restarted trace resets its "previous element" per ray</a:t>
                      </a:r>
                    </a:p>
                  </a:txBody>
                  <a:tcPr marL="54864" marR="54864" marT="18288" marB="18288">
                    <a:solidFill>
                      <a:srgbClr val="ECF1F6"/>
                    </a:solidFill>
                  </a:tcPr>
                </a:tc>
                <a:tc>
                  <a:txBody>
                    <a:bodyPr wrap="square"/>
                    <a:lstStyle/>
                    <a:p>
                      <a:r>
                        <a:rPr sz="1100" b="0">
                          <a:solidFill>
                            <a:srgbClr val="282828"/>
                          </a:solidFill>
                          <a:latin typeface="Arial"/>
                        </a:rPr>
                        <a:t>tTraceRestart (2) on the deck itself; exit-pupil radii unchanged to the bit on four decks</a:t>
                      </a:r>
                    </a:p>
                  </a:txBody>
                  <a:tcPr marL="54864" marR="54864" marT="18288" marB="18288">
                    <a:solidFill>
                      <a:srgbClr val="ECF1F6"/>
                    </a:solidFill>
                  </a:tcPr>
                </a:tc>
              </a:tr>
              <a:tr h="1034415">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the chief's direction and position at an element could not be scored with a spot or wavefront target, one target served every field, and a multi-field beam solve scored the last field alone</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a weight; the ray centroid as the position</a:t>
                      </a:r>
                    </a:p>
                  </a:txBody>
                  <a:tcPr marL="54864" marR="54864" marT="18288" marB="18288">
                    <a:solidFill>
                      <a:srgbClr val="FFFFFF"/>
                    </a:solidFill>
                  </a:tcPr>
                </a:tc>
                <a:tc>
                  <a:txBody>
                    <a:bodyPr wrap="square"/>
                    <a:lstStyle/>
                    <a:p>
                      <a:r>
                        <a:rPr sz="1100" b="0">
                          <a:solidFill>
                            <a:srgbClr val="282828"/>
                          </a:solidFill>
                          <a:latin typeface="Arial"/>
                        </a:rPr>
                        <a:t>tBeamRows (3): telecentric under a spot target, two fields met by one piston, centroid vs chief</a:t>
                      </a:r>
                    </a:p>
                  </a:txBody>
                  <a:tcPr marL="54864" marR="54864" marT="18288" marB="18288">
                    <a:solidFill>
                      <a:srgbClr val="FFFFFF"/>
                    </a:solidFill>
                  </a:tcPr>
                </a:tc>
              </a:tr>
              <a:tr h="103441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8302752"/>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6366510"/>
        </p:xfrm>
        <a:graphic>
          <a:graphicData uri="http://schemas.openxmlformats.org/drawingml/2006/table">
            <a:tbl>
              <a:tblPr firstRow="1" bandRow="1">
                <a:tableStyleId>{5C22544A-7EE6-4342-B048-85BDC9FD1C3A}</a:tableStyleId>
              </a:tblPr>
              <a:tblGrid>
                <a:gridCol w="1929144"/>
                <a:gridCol w="1817116"/>
                <a:gridCol w="4658178"/>
                <a:gridCol w="296429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280035">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r h="468630">
                <a:tc>
                  <a:txBody>
                    <a:bodyPr wrap="square"/>
                    <a:lstStyle/>
                    <a:p>
                      <a:r>
                        <a:rPr sz="1100" b="0">
                          <a:solidFill>
                            <a:srgbClr val="282828"/>
                          </a:solidFill>
                          <a:latin typeface="Arial"/>
                        </a:rPr>
                        <a:t>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telescope, three-mirror at Jim's numbers</a:t>
                      </a:r>
                    </a:p>
                  </a:txBody>
                  <a:tcPr marL="54864" marR="54864" marT="18288" marB="18288">
                    <a:solidFill>
                      <a:srgbClr val="FFFFFF"/>
                    </a:solidFill>
                  </a:tcPr>
                </a:tc>
                <a:tc>
                  <a:txBody>
                    <a:bodyPr wrap="square"/>
                    <a:lstStyle/>
                    <a:p>
                      <a:r>
                        <a:rPr sz="1100" b="0">
                          <a:solidFill>
                            <a:srgbClr val="282828"/>
                          </a:solidFill>
                          <a:latin typeface="Arial"/>
                        </a:rPr>
                        <a:t>t3s, t3w, t3o, t3e</a:t>
                      </a:r>
                    </a:p>
                  </a:txBody>
                  <a:tcPr marL="54864" marR="54864" marT="18288" marB="18288">
                    <a:solidFill>
                      <a:srgbClr val="FFFFFF"/>
                    </a:solidFill>
                  </a:tcPr>
                </a:tc>
                <a:tc>
                  <a:txBody>
                    <a:bodyPr wrap="square"/>
                    <a:lstStyle/>
                    <a:p>
                      <a:r>
                        <a:rPr sz="1100" b="0">
                          <a:solidFill>
                            <a:srgbClr val="282828"/>
                          </a:solidFill>
                          <a:latin typeface="Arial"/>
                        </a:rPr>
                        <a:t>dyson5_t3*.txt, BRIEF_dyson5_beat5c.md</a:t>
                      </a:r>
                    </a:p>
                  </a:txBody>
                  <a:tcPr marL="54864" marR="54864" marT="18288" marB="18288">
                    <a:solidFill>
                      <a:srgbClr val="FFFFFF"/>
                    </a:solidFill>
                  </a:tcPr>
                </a:tc>
                <a:tc>
                  <a:txBody>
                    <a:bodyPr wrap="square"/>
                    <a:lstStyle/>
                    <a:p>
                      <a:r>
                        <a:rPr sz="1100" b="0">
                          <a:solidFill>
                            <a:srgbClr val="282828"/>
                          </a:solidFill>
                          <a:latin typeface="Arial"/>
                        </a:rPr>
                        <a:t>tma_screen, the offset solves on telescope_geom.m</a:t>
                      </a:r>
                    </a:p>
                  </a:txBody>
                  <a:tcPr marL="54864" marR="54864" marT="18288" marB="18288">
                    <a:solidFill>
                      <a:srgbClr val="FFFFFF"/>
                    </a:solidFill>
                  </a:tcPr>
                </a:tc>
              </a:tr>
              <a:tr h="468630">
                <a:tc>
                  <a:txBody>
                    <a:bodyPr wrap="square"/>
                    <a:lstStyle/>
                    <a:p>
                      <a:r>
                        <a:rPr sz="1100" b="0">
                          <a:solidFill>
                            <a:srgbClr val="282828"/>
                          </a:solidFill>
                          <a:latin typeface="Arial"/>
                        </a:rPr>
                        <a:t>telescope, modified Schwarzschild</a:t>
                      </a:r>
                    </a:p>
                  </a:txBody>
                  <a:tcPr marL="54864" marR="54864" marT="18288" marB="18288">
                    <a:solidFill>
                      <a:srgbClr val="ECF1F6"/>
                    </a:solidFill>
                  </a:tcPr>
                </a:tc>
                <a:tc>
                  <a:txBody>
                    <a:bodyPr wrap="square"/>
                    <a:lstStyle/>
                    <a:p>
                      <a:r>
                        <a:rPr sz="1100" b="0">
                          <a:solidFill>
                            <a:srgbClr val="282828"/>
                          </a:solidFill>
                          <a:latin typeface="Arial"/>
                        </a:rPr>
                        <a:t>t4</a:t>
                      </a:r>
                    </a:p>
                  </a:txBody>
                  <a:tcPr marL="54864" marR="54864" marT="18288" marB="18288">
                    <a:solidFill>
                      <a:srgbClr val="ECF1F6"/>
                    </a:solidFill>
                  </a:tcPr>
                </a:tc>
                <a:tc>
                  <a:txBody>
                    <a:bodyPr wrap="square"/>
                    <a:lstStyle/>
                    <a:p>
                      <a:r>
                        <a:rPr sz="1100" b="0">
                          <a:solidFill>
                            <a:srgbClr val="282828"/>
                          </a:solidFill>
                          <a:latin typeface="Arial"/>
                        </a:rPr>
                        <a:t>dyson5_t4.txt, dyson5_t4_r2c_.in, _view.png</a:t>
                      </a:r>
                    </a:p>
                  </a:txBody>
                  <a:tcPr marL="54864" marR="54864" marT="18288" marB="18288">
                    <a:solidFill>
                      <a:srgbClr val="ECF1F6"/>
                    </a:solidFill>
                  </a:tcPr>
                </a:tc>
                <a:tc>
                  <a:txBody>
                    <a:bodyPr wrap="square"/>
                    <a:lstStyle/>
                    <a:p>
                      <a:r>
                        <a:rPr sz="1100" b="0">
                          <a:solidFill>
                            <a:srgbClr val="282828"/>
                          </a:solidFill>
                          <a:latin typeface="Arial"/>
                        </a:rPr>
                        <a:t>tms_paraxial.m, tms_firstorder.m, tms_geom.m, tms_clear.m</a:t>
                      </a:r>
                    </a:p>
                  </a:txBody>
                  <a:tcPr marL="54864" marR="54864" marT="18288" marB="18288">
                    <a:solidFill>
                      <a:srgbClr val="ECF1F6"/>
                    </a:solidFill>
                  </a:tcPr>
                </a:tc>
              </a:tr>
              <a:tr h="468630">
                <a:tc>
                  <a:txBody>
                    <a:bodyPr wrap="square"/>
                    <a:lstStyle/>
                    <a:p>
                      <a:r>
                        <a:rPr sz="1100" b="0">
                          <a:solidFill>
                            <a:srgbClr val="282828"/>
                          </a:solidFill>
                          <a:latin typeface="Arial"/>
                        </a:rPr>
                        <a:t>telescope, TMA parent by the design layer</a:t>
                      </a:r>
                    </a:p>
                  </a:txBody>
                  <a:tcPr marL="54864" marR="54864" marT="18288" marB="18288">
                    <a:solidFill>
                      <a:srgbClr val="FFFFFF"/>
                    </a:solidFill>
                  </a:tcPr>
                </a:tc>
                <a:tc>
                  <a:txBody>
                    <a:bodyPr wrap="square"/>
                    <a:lstStyle/>
                    <a:p>
                      <a:r>
                        <a:rPr sz="1100" b="0">
                          <a:solidFill>
                            <a:srgbClr val="282828"/>
                          </a:solidFill>
                          <a:latin typeface="Arial"/>
                        </a:rPr>
                        <a:t>dyson5_tma_step1.m</a:t>
                      </a:r>
                    </a:p>
                  </a:txBody>
                  <a:tcPr marL="54864" marR="54864" marT="18288" marB="18288">
                    <a:solidFill>
                      <a:srgbClr val="FFFFFF"/>
                    </a:solidFill>
                  </a:tcPr>
                </a:tc>
                <a:tc>
                  <a:txBody>
                    <a:bodyPr wrap="square"/>
                    <a:lstStyle/>
                    <a:p>
                      <a:r>
                        <a:rPr sz="1100" b="0">
                          <a:solidFill>
                            <a:srgbClr val="282828"/>
                          </a:solidFill>
                          <a:latin typeface="Arial"/>
                        </a:rPr>
                        <a:t>dyson5_tma_step1.txt, dyson5_tma_step1_layout.png, BRIEF_dyson5_tma.md</a:t>
                      </a:r>
                    </a:p>
                  </a:txBody>
                  <a:tcPr marL="54864" marR="54864" marT="18288" marB="18288">
                    <a:solidFill>
                      <a:srgbClr val="FFFFFF"/>
                    </a:solidFill>
                  </a:tcPr>
                </a:tc>
                <a:tc>
                  <a:txBody>
                    <a:bodyPr wrap="square"/>
                    <a:lstStyle/>
                    <a:p>
                      <a:r>
                        <a:rPr sz="1100" b="0">
                          <a:solidFill>
                            <a:srgbClr val="282828"/>
                          </a:solidFill>
                          <a:latin typeface="Arial"/>
                        </a:rPr>
                        <a:t>macos.design.tma_layout, Telescope, CALIB</a:t>
                      </a:r>
                    </a:p>
                  </a:txBody>
                  <a:tcPr marL="54864" marR="54864" marT="18288" marB="18288">
                    <a:solidFill>
                      <a:srgbClr val="FFFFFF"/>
                    </a:solidFill>
                  </a:tcPr>
                </a:tc>
              </a:tr>
            </a:tbl>
          </a:graphicData>
        </a:graphic>
      </p:graphicFrame>
      <p:sp>
        <p:nvSpPr>
          <p:cNvPr id="5" name="TextBox 4"/>
          <p:cNvSpPr txBox="1"/>
          <p:nvPr/>
        </p:nvSpPr>
        <p:spPr>
          <a:xfrm>
            <a:off x="411480" y="7811262"/>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