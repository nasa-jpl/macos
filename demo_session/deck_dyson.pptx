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ray-centroid keystone 0.0026 px, smile 0.005 px, CRF 1.33 px, 76 % of the energy in one pixel, at a 220 mm block.  Open: the propagated-PSF centroid differs from the ray centroid by up to 0.12 px on R4, the detector-seen keystone until it is resolved.</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Dyson as traced by the engine</a:t>
            </a:r>
          </a:p>
          <a:p>
            <a:pPr>
              <a:spcAft>
                <a:spcPts val="600"/>
              </a:spcAft>
            </a:pPr>
            <a:r>
              <a:rPr sz="1200" b="0">
                <a:solidFill>
                  <a:srgbClr val="282828"/>
                </a:solidFill>
                <a:latin typeface="Arial"/>
              </a:rPr>
              <a:t>•  5 The Offner as traced by the engine</a:t>
            </a:r>
          </a:p>
          <a:p>
            <a:pPr>
              <a:spcAft>
                <a:spcPts val="600"/>
              </a:spcAft>
            </a:pPr>
            <a:r>
              <a:rPr sz="1200" b="0">
                <a:solidFill>
                  <a:srgbClr val="282828"/>
                </a:solidFill>
                <a:latin typeface="Arial"/>
              </a:rPr>
              <a:t>•  6 The concentric Dyson and its scaling law</a:t>
            </a:r>
          </a:p>
          <a:p>
            <a:pPr>
              <a:spcAft>
                <a:spcPts val="600"/>
              </a:spcAft>
            </a:pPr>
            <a:r>
              <a:rPr sz="1200" b="0">
                <a:solidFill>
                  <a:srgbClr val="282828"/>
                </a:solidFill>
                <a:latin typeface="Arial"/>
              </a:rPr>
              <a:t>•  7 The exact chain and the engine agree</a:t>
            </a:r>
          </a:p>
          <a:p>
            <a:pPr>
              <a:spcAft>
                <a:spcPts val="600"/>
              </a:spcAft>
            </a:pPr>
            <a:r>
              <a:rPr sz="1200" b="0">
                <a:solidFill>
                  <a:srgbClr val="282828"/>
                </a:solidFill>
                <a:latin typeface="Arial"/>
              </a:rPr>
              <a:t>•  8 The seed, scored</a:t>
            </a:r>
          </a:p>
          <a:p>
            <a:pPr>
              <a:spcAft>
                <a:spcPts val="600"/>
              </a:spcAft>
            </a:pPr>
            <a:r>
              <a:rPr sz="1200" b="0">
                <a:solidFill>
                  <a:srgbClr val="282828"/>
                </a:solidFill>
                <a:latin typeface="Arial"/>
              </a:rPr>
              <a:t>•  9 The departure ladder</a:t>
            </a:r>
          </a:p>
          <a:p>
            <a:pPr>
              <a:spcAft>
                <a:spcPts val="600"/>
              </a:spcAft>
            </a:pPr>
            <a:r>
              <a:rPr sz="1200" b="0">
                <a:solidFill>
                  <a:srgbClr val="282828"/>
                </a:solidFill>
                <a:latin typeface="Arial"/>
              </a:rPr>
              <a:t>•  10 The departure ladder, by the numbers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11 What each departure buys</a:t>
            </a:r>
          </a:p>
          <a:p>
            <a:pPr>
              <a:spcAft>
                <a:spcPts val="600"/>
              </a:spcAft>
            </a:pPr>
            <a:r>
              <a:rPr sz="1200" b="0">
                <a:solidFill>
                  <a:srgbClr val="282828"/>
                </a:solidFill>
                <a:latin typeface="Arial"/>
              </a:rPr>
              <a:t>•  12 The compact variant, as traced by the engine</a:t>
            </a:r>
          </a:p>
          <a:p>
            <a:pPr>
              <a:spcAft>
                <a:spcPts val="600"/>
              </a:spcAft>
            </a:pPr>
            <a:r>
              <a:rPr sz="1200" b="0">
                <a:solidFill>
                  <a:srgbClr val="282828"/>
                </a:solidFill>
                <a:latin typeface="Arial"/>
              </a:rPr>
              <a:t>•  13 The compact variant in section</a:t>
            </a:r>
          </a:p>
          <a:p>
            <a:pPr>
              <a:spcAft>
                <a:spcPts val="600"/>
              </a:spcAft>
            </a:pPr>
            <a:r>
              <a:rPr sz="1200" b="0">
                <a:solidFill>
                  <a:srgbClr val="282828"/>
                </a:solidFill>
                <a:latin typeface="Arial"/>
              </a:rPr>
              <a:t>•  14 The compact variant, scored</a:t>
            </a:r>
          </a:p>
          <a:p>
            <a:pPr>
              <a:spcAft>
                <a:spcPts val="600"/>
              </a:spcAft>
            </a:pPr>
            <a:r>
              <a:rPr sz="1200" b="0">
                <a:solidFill>
                  <a:srgbClr val="282828"/>
                </a:solidFill>
                <a:latin typeface="Arial"/>
              </a:rPr>
              <a:t>•  15 The trade at a glance</a:t>
            </a:r>
          </a:p>
          <a:p>
            <a:pPr>
              <a:spcAft>
                <a:spcPts val="600"/>
              </a:spcAft>
            </a:pPr>
            <a:r>
              <a:rPr sz="1200" b="0">
                <a:solidFill>
                  <a:srgbClr val="282828"/>
                </a:solidFill>
                <a:latin typeface="Arial"/>
              </a:rPr>
              <a:t>•  16 The propagation twin</a:t>
            </a:r>
          </a:p>
          <a:p>
            <a:pPr>
              <a:spcAft>
                <a:spcPts val="600"/>
              </a:spcAft>
            </a:pPr>
            <a:r>
              <a:rPr sz="1200" b="0">
                <a:solidFill>
                  <a:srgbClr val="282828"/>
                </a:solidFill>
                <a:latin typeface="Arial"/>
              </a:rPr>
              <a:t>•  17 Slit diffraction loss</a:t>
            </a:r>
          </a:p>
          <a:p>
            <a:pPr>
              <a:spcAft>
                <a:spcPts val="600"/>
              </a:spcAft>
            </a:pPr>
            <a:r>
              <a:rPr sz="1200" b="0">
                <a:solidFill>
                  <a:srgbClr val="282828"/>
                </a:solidFill>
                <a:latin typeface="Arial"/>
              </a:rPr>
              <a:t>•  18 Next steps</a:t>
            </a:r>
          </a:p>
          <a:p>
            <a:pPr>
              <a:spcAft>
                <a:spcPts val="600"/>
              </a:spcAft>
            </a:pPr>
            <a:r>
              <a:rPr sz="1200" b="0">
                <a:solidFill>
                  <a:srgbClr val="282828"/>
                </a:solidFill>
                <a:latin typeface="Arial"/>
              </a:rPr>
              <a:t>•  19 Run it yourself</a:t>
            </a:r>
          </a:p>
          <a:p>
            <a:pPr>
              <a:spcAft>
                <a:spcPts val="600"/>
              </a:spcAft>
            </a:pPr>
            <a:r>
              <a:rPr sz="1200" b="0">
                <a:solidFill>
                  <a:srgbClr val="282828"/>
                </a:solidFill>
                <a:latin typeface="Arial"/>
              </a:rPr>
              <a:t>•  20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Step R3 of the ladder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prescription: challenges/dyson5/dyson5_s3_r3.in, seven elements; the block's spherical face (E2), the grating (E3, radius 0.71 m at the Dyson condition for a 220 mm block), and the focal plane on the flat face.  Bodies, rays and labels are read back from the engine.</a:t>
            </a:r>
          </a:p>
          <a:p>
            <a:pPr>
              <a:spcAft>
                <a:spcPts val="600"/>
              </a:spcAft>
            </a:pPr>
            <a:r>
              <a:rPr sz="1500" b="0">
                <a:solidFill>
                  <a:srgbClr val="282828"/>
                </a:solidFill>
                <a:latin typeface="Arial"/>
              </a:rPr>
              <a:t>•  Sizes from the traced footprints: block face 85 mm across at the sphere (220 mm radius, 217 mm thick), grating 270 mm across (0.70 m radius) at 0.69 m from the face; slit at +6 mm, this wavelength lands at −12 mm on the same face.</a:t>
            </a:r>
          </a:p>
          <a:p>
            <a:pPr>
              <a:spcAft>
                <a:spcPts val="600"/>
              </a:spcAft>
            </a:pPr>
            <a:r>
              <a:rPr sz="1500" b="0">
                <a:solidFill>
                  <a:srgbClr val="282828"/>
                </a:solidFill>
                <a:latin typeface="Arial"/>
              </a:rPr>
              <a:t>•  Every surface carries an aperture cut from the multi-field, multi-wavelength footprint plus 5 mm, and a clearance check scores every beam leg against every body it does not traverse: the worst pair on this deck is the returning beam against the detector carrier, +1.16 mm, with no cold shield.</a:t>
            </a:r>
          </a:p>
        </p:txBody>
      </p:sp>
      <p:pic>
        <p:nvPicPr>
          <p:cNvPr id="5" name="Picture 4" descr="dyson5_s3_r3_views.png"/>
          <p:cNvPicPr>
            <a:picLocks noChangeAspect="1"/>
          </p:cNvPicPr>
          <p:nvPr/>
        </p:nvPicPr>
        <p:blipFill>
          <a:blip r:embed="rId2"/>
          <a:stretch>
            <a:fillRect/>
          </a:stretch>
        </p:blipFill>
        <p:spPr>
          <a:xfrm>
            <a:off x="4046540" y="3736848"/>
            <a:ext cx="4098613" cy="272745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Left: the traced bundle and the solid bodies in 3-D.  Right: the dispersion plane (Y-Z).  Positions in metres, global frame.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prescription: challenges/dyson5/dyson5_s1_offner.in, five elements; the concave mirror (E1, used twice), the convex grating (E2) at the stop, the focal plane at the slit's conjugate.</a:t>
            </a:r>
          </a:p>
          <a:p>
            <a:pPr>
              <a:spcAft>
                <a:spcPts val="600"/>
              </a:spcAft>
            </a:pPr>
            <a:r>
              <a:rPr sz="1500" b="0">
                <a:solidFill>
                  <a:srgbClr val="282828"/>
                </a:solidFill>
                <a:latin typeface="Arial"/>
              </a:rPr>
              <a:t>•  At the first slit offset (6 mm) the grating sat inside the slit-to-mirror beam; at 0.20 R the beams still clipped its mount by 4 mm; at 0.22 R they clear by 10.2 mm, and the concentric form there is astigmatic (15 px), so the classical corrections are applied under the ladder's operands: convex radius × 1.0034, second concave zone × 0.951 with a 0.3 mm offset.</a:t>
            </a:r>
          </a:p>
          <a:p>
            <a:pPr>
              <a:spcAft>
                <a:spcPts val="600"/>
              </a:spcAft>
            </a:pPr>
            <a:r>
              <a:rPr sz="1500" b="0">
                <a:solidFill>
                  <a:srgbClr val="282828"/>
                </a:solidFill>
                <a:latin typeface="Arial"/>
              </a:rPr>
              <a:t>•  As corrected: keystone 0.028 px, CRF 1.20 px, SRF 3.69 px, 23 % of the energy in one pixel.  It stays in the deck as the reference form and as the ground where the physical-optics twin is validated (order 0: pupil OPD 8e-11 m, 85 % in one pixel).</a:t>
            </a:r>
          </a:p>
        </p:txBody>
      </p:sp>
      <p:pic>
        <p:nvPicPr>
          <p:cNvPr id="5" name="Picture 4" descr="dyson5_s1_offner_views.png"/>
          <p:cNvPicPr>
            <a:picLocks noChangeAspect="1"/>
          </p:cNvPicPr>
          <p:nvPr/>
        </p:nvPicPr>
        <p:blipFill>
          <a:blip r:embed="rId2"/>
          <a:stretch>
            <a:fillRect/>
          </a:stretch>
        </p:blipFill>
        <p:spPr>
          <a:xfrm>
            <a:off x="4397575" y="3984498"/>
            <a:ext cx="3396544" cy="24798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Left: the traced bundle and the solid bodies in 3-D.  Right: the dispersion plane (Y-Z).  Positions in metres, global frame.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exact chain and the engine agree</a:t>
            </a:r>
          </a:p>
          <a:p>
            <a:pPr>
              <a:spcAft>
                <a:spcPts val="0"/>
              </a:spcAft>
            </a:pPr>
            <a:r>
              <a:rPr sz="1250" b="0">
                <a:solidFill>
                  <a:srgbClr val="6E6E6E"/>
                </a:solidFill>
                <a:latin typeface="Arial"/>
              </a:rPr>
              <a:t>Every engine ray re-traced by the chain from the engine's own launch directions lands within 1e-9 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check: the engine's chief ray and every ray of its grid are re-traced through the chain's surfaces from the engine's launch directions; agreement is per ray, every surface, 1e-9 m; the dispersed band spans the focal plane to 1 %.</a:t>
            </a:r>
          </a:p>
          <a:p>
            <a:pPr>
              <a:spcAft>
                <a:spcPts val="600"/>
              </a:spcAft>
            </a:pPr>
            <a:r>
              <a:rPr sz="1200" b="0">
                <a:solidFill>
                  <a:srgbClr val="282828"/>
                </a:solidFill>
                <a:latin typeface="Arial"/>
              </a:rPr>
              <a:t>•  With the aspheric block face (ladder step R2): agreement 1e-12 m per ray; a sphere-only chain misses by 0.26 mm, so the check is not vacuous.</a:t>
            </a:r>
          </a:p>
          <a:p>
            <a:pPr>
              <a:spcAft>
                <a:spcPts val="600"/>
              </a:spcAft>
            </a:pPr>
            <a:r>
              <a:rPr sz="1200" b="0">
                <a:solidFill>
                  <a:srgbClr val="282828"/>
                </a:solidFill>
                <a:latin typeface="Arial"/>
              </a:rPr>
              <a:t>•  The physical-optics twin: a far-field terminal on a reference sphere upstream of the focal plane, re-posed per slit position and wavelength; on the Offner at order 0 the pupil OPD is 8e-11 m and the Airy spot puts 94 % of its energy in one 18 µm pixel.</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the engine, now fixed (details in Backup): glass names were ignored at load; propagation inside glass used the vacuum wavelength; the grating groove period was held constant along the curved surface instead of along the chord; the grating's path-length jump had the matching defect.  Each has a regression test written from the physics, not from the engine.</a:t>
            </a:r>
          </a:p>
        </p:txBody>
      </p:sp>
      <p:sp>
        <p:nvSpPr>
          <p:cNvPr id="6" name="TextBox 5"/>
          <p:cNvSpPr txBox="1"/>
          <p:nvPr/>
        </p:nvSpPr>
        <p:spPr>
          <a:xfrm>
            <a:off x="6400800" y="266395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tSpectrometerRx (3), tGratingOpl (2), tGratingImmersed (4), tGlassDispersion (3), tPropMedium (3); mmacos fast suite 501 pass, 0 fail (2026-10-01).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1" cy="2806065"/>
        </p:xfrm>
        <a:graphic>
          <a:graphicData uri="http://schemas.openxmlformats.org/drawingml/2006/table">
            <a:tbl>
              <a:tblPr firstRow="1" bandRow="1">
                <a:tableStyleId>{5C22544A-7EE6-4342-B048-85BDC9FD1C3A}</a:tableStyleId>
              </a:tblPr>
              <a:tblGrid>
                <a:gridCol w="724123"/>
                <a:gridCol w="3910265"/>
                <a:gridCol w="941360"/>
                <a:gridCol w="724123"/>
                <a:gridCol w="941360"/>
                <a:gridCol w="1086184"/>
                <a:gridCol w="796535"/>
                <a:gridCol w="1593071"/>
                <a:gridCol w="651710"/>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468630">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size alone</a:t>
                      </a:r>
                    </a:p>
                  </a:txBody>
                  <a:tcPr marL="54864" marR="54864" marT="18288" marB="18288">
                    <a:solidFill>
                      <a:srgbClr val="FFFFFF"/>
                    </a:solidFill>
                  </a:tcPr>
                </a:tc>
                <a:tc>
                  <a:txBody>
                    <a:bodyPr wrap="square"/>
                    <a:lstStyle/>
                    <a:p>
                      <a:r>
                        <a:rPr sz="1100" b="0">
                          <a:solidFill>
                            <a:srgbClr val="282828"/>
                          </a:solidFill>
                          <a:latin typeface="Arial"/>
                        </a:rPr>
                        <a:t>block radius free (341 mm)</a:t>
                      </a:r>
                    </a:p>
                  </a:txBody>
                  <a:tcPr marL="54864" marR="54864" marT="18288" marB="18288">
                    <a:solidFill>
                      <a:srgbClr val="FFFFFF"/>
                    </a:solidFill>
                  </a:tcPr>
                </a:tc>
                <a:tc>
                  <a:txBody>
                    <a:bodyPr wrap="square"/>
                    <a:lstStyle/>
                    <a:p>
                      <a:r>
                        <a:rPr sz="1100" b="0">
                          <a:solidFill>
                            <a:srgbClr val="282828"/>
                          </a:solidFill>
                          <a:latin typeface="Arial"/>
                        </a:rPr>
                        <a:t>0.024</a:t>
                      </a:r>
                    </a:p>
                  </a:txBody>
                  <a:tcPr marL="54864" marR="54864" marT="18288" marB="18288">
                    <a:solidFill>
                      <a:srgbClr val="FFFFFF"/>
                    </a:solidFill>
                  </a:tcPr>
                </a:tc>
                <a:tc>
                  <a:txBody>
                    <a:bodyPr wrap="square"/>
                    <a:lstStyle/>
                    <a:p>
                      <a:r>
                        <a:rPr sz="1100" b="0">
                          <a:solidFill>
                            <a:srgbClr val="282828"/>
                          </a:solidFill>
                          <a:latin typeface="Arial"/>
                        </a:rPr>
                        <a:t>0.001</a:t>
                      </a:r>
                    </a:p>
                  </a:txBody>
                  <a:tcPr marL="54864" marR="54864" marT="18288" marB="18288">
                    <a:solidFill>
                      <a:srgbClr val="FFFFFF"/>
                    </a:solidFill>
                  </a:tcPr>
                </a:tc>
                <a:tc>
                  <a:txBody>
                    <a:bodyPr wrap="square"/>
                    <a:lstStyle/>
                    <a:p>
                      <a:r>
                        <a:rPr sz="1100" b="0">
                          <a:solidFill>
                            <a:srgbClr val="282828"/>
                          </a:solidFill>
                          <a:latin typeface="Arial"/>
                        </a:rPr>
                        <a:t>1.34</a:t>
                      </a:r>
                    </a:p>
                  </a:txBody>
                  <a:tcPr marL="54864" marR="54864" marT="18288" marB="18288">
                    <a:solidFill>
                      <a:srgbClr val="FFFFFF"/>
                    </a:solidFill>
                  </a:tcPr>
                </a:tc>
                <a:tc>
                  <a:txBody>
                    <a:bodyPr wrap="square"/>
                    <a:lstStyle/>
                    <a:p>
                      <a:r>
                        <a:rPr sz="1100" b="0">
                          <a:solidFill>
                            <a:srgbClr val="282828"/>
                          </a:solidFill>
                          <a:latin typeface="Arial"/>
                        </a:rPr>
                        <a:t>0.74</a:t>
                      </a:r>
                    </a:p>
                  </a:txBody>
                  <a:tcPr marL="54864" marR="54864" marT="18288" marB="18288">
                    <a:solidFill>
                      <a:srgbClr val="FFFFFF"/>
                    </a:solidFill>
                  </a:tcPr>
                </a:tc>
                <a:tc>
                  <a:txBody>
                    <a:bodyPr wrap="square"/>
                    <a:lstStyle/>
                    <a:p>
                      <a:r>
                        <a:rPr sz="1100" b="0">
                          <a:solidFill>
                            <a:srgbClr val="282828"/>
                          </a:solidFill>
                          <a:latin typeface="Arial"/>
                        </a:rPr>
                        <a:t>1099</a:t>
                      </a:r>
                    </a:p>
                  </a:txBody>
                  <a:tcPr marL="54864" marR="54864" marT="18288" marB="18288">
                    <a:solidFill>
                      <a:srgbClr val="FFFFFF"/>
                    </a:solidFill>
                  </a:tcPr>
                </a:tc>
                <a:tc>
                  <a:txBody>
                    <a:bodyPr wrap="square"/>
                    <a:lstStyle/>
                    <a:p>
                      <a:r>
                        <a:rPr sz="1100" b="0">
                          <a:solidFill>
                            <a:srgbClr val="282828"/>
                          </a:solidFill>
                          <a:latin typeface="Arial"/>
                        </a:rPr>
                        <a:t>427</a:t>
                      </a:r>
                    </a:p>
                  </a:txBody>
                  <a:tcPr marL="54864" marR="54864" marT="18288" marB="18288">
                    <a:solidFill>
                      <a:srgbClr val="FFFFFF"/>
                    </a:solidFill>
                  </a:tcPr>
                </a:tc>
                <a:tc>
                  <a:txBody>
                    <a:bodyPr wrap="square"/>
                    <a:lstStyle/>
                    <a:p>
                      <a:r>
                        <a:rPr sz="1100" b="0">
                          <a:solidFill>
                            <a:srgbClr val="282828"/>
                          </a:solidFill>
                          <a:latin typeface="Arial"/>
                        </a:rPr>
                        <a:t>82.8</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block cap + meniscus.  Record dyson5_s3_trade.txt.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prescription: challenges/dyson5/dyson5_s3_r4.in, nine elements: the block's flat face, its spherical face, the meniscus (two surfaces), the grating, and the return through the meniscus and block to the focal plane.</a:t>
            </a:r>
          </a:p>
          <a:p>
            <a:pPr>
              <a:spcAft>
                <a:spcPts val="600"/>
              </a:spcAft>
            </a:pPr>
            <a:r>
              <a:rPr sz="1500" b="0">
                <a:solidFill>
                  <a:srgbClr val="282828"/>
                </a:solidFill>
                <a:latin typeface="Arial"/>
              </a:rPr>
              <a:t>•  Bodies, rays and labels read back from the engine, apertures declared on every surface; the worst clearance on this deck is the returning beam against the detector carrier, +1.19 mm with no cold shield.  Any shield height fails the check, so a fold prism at the slit is the next step's first item.</a:t>
            </a:r>
          </a:p>
        </p:txBody>
      </p:sp>
      <p:pic>
        <p:nvPicPr>
          <p:cNvPr id="5" name="Picture 4" descr="dyson5_s3_r4_views.png"/>
          <p:cNvPicPr>
            <a:picLocks noChangeAspect="1"/>
          </p:cNvPicPr>
          <p:nvPr/>
        </p:nvPicPr>
        <p:blipFill>
          <a:blip r:embed="rId2"/>
          <a:stretch>
            <a:fillRect/>
          </a:stretch>
        </p:blipFill>
        <p:spPr>
          <a:xfrm>
            <a:off x="3380999" y="2853690"/>
            <a:ext cx="5429695" cy="36106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Left: the traced bundle and the solid bodies in 3-D.  Right: the dispersion plane (Y-Z).  Positions in metres, global frame.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The solve ends on its bounds (plate thickness and radii), and three solves from the same seed found a multimodal landscape; the global search over the meniscus is the next step.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Ray-centroid 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maps_r4_rc.png"/>
          <p:cNvPicPr>
            <a:picLocks noChangeAspect="1"/>
          </p:cNvPicPr>
          <p:nvPr/>
        </p:nvPicPr>
        <p:blipFill>
          <a:blip r:embed="rId2"/>
          <a:stretch>
            <a:fillRect/>
          </a:stretch>
        </p:blipFill>
        <p:spPr>
          <a:xfrm>
            <a:off x="3317652" y="1298448"/>
            <a:ext cx="5556391" cy="5000752"/>
          </a:xfrm>
          <a:prstGeom prst="rect">
            <a:avLst/>
          </a:prstGeom>
        </p:spPr>
      </p:pic>
      <p:sp>
        <p:nvSpPr>
          <p:cNvPr id="5" name="TextBox 4"/>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
        <p:nvSpPr>
          <p:cNvPr id="6" name="TextBox 5"/>
          <p:cNvSpPr txBox="1"/>
          <p:nvPr/>
        </p:nvSpPr>
        <p:spPr>
          <a:xfrm>
            <a:off x="411480" y="6748272"/>
            <a:ext cx="11368735" cy="274320"/>
          </a:xfrm>
          <a:prstGeom prst="rect">
            <a:avLst/>
          </a:prstGeom>
          <a:noFill/>
        </p:spPr>
        <p:txBody>
          <a:bodyPr wrap="square">
            <a:spAutoFit/>
          </a:bodyPr>
          <a:lstStyle/>
          <a:p>
            <a:pPr>
              <a:spcAft>
                <a:spcPts val="600"/>
              </a:spcAft>
            </a:pPr>
            <a:r>
              <a:rPr sz="1500" b="0">
                <a:solidFill>
                  <a:srgbClr val="282828"/>
                </a:solidFill>
                <a:latin typeface="Arial"/>
              </a:rPr>
              <a:t>•  Open: the propagated PSF's centroid parts from the ray centroid by up to 0.12 px on this design (0.001 px on the seeds, 0.03 px on R3), growing with wavelength, with the path-length check green.  A detector measures the intensity centroid, so until this is resolved the keystone that counts against the 0.1 px specification is the wave number.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the engine's far-field leg against the sinc² closed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2l_slitloss.png"/>
          <p:cNvPicPr>
            <a:picLocks noChangeAspect="1"/>
          </p:cNvPicPr>
          <p:nvPr/>
        </p:nvPicPr>
        <p:blipFill>
          <a:blip r:embed="rId2"/>
          <a:stretch>
            <a:fillRect/>
          </a:stretch>
        </p:blipFill>
        <p:spPr>
          <a:xfrm>
            <a:off x="2289166" y="1298448"/>
            <a:ext cx="7613362" cy="5165852"/>
          </a:xfrm>
          <a:prstGeom prst="rect">
            <a:avLst/>
          </a:prstGeom>
        </p:spPr>
      </p:pic>
      <p:sp>
        <p:nvSpPr>
          <p:cNvPr id="5" name="TextBox 4"/>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
        <p:nvSpPr>
          <p:cNvPr id="6" name="TextBox 5"/>
          <p:cNvSpPr txBox="1"/>
          <p:nvPr/>
        </p:nvSpPr>
        <p:spPr>
          <a:xfrm>
            <a:off x="411480" y="6748272"/>
            <a:ext cx="11368735" cy="274320"/>
          </a:xfrm>
          <a:prstGeom prst="rect">
            <a:avLst/>
          </a:prstGeom>
          <a:noFill/>
        </p:spPr>
        <p:txBody>
          <a:bodyPr wrap="square">
            <a:spAutoFit/>
          </a:bodyPr>
          <a:lstStyle/>
          <a:p>
            <a:pPr>
              <a:spcAft>
                <a:spcPts val="600"/>
              </a:spcAft>
            </a:pPr>
            <a:r>
              <a:rPr sz="1500" b="0">
                <a:solidFill>
                  <a:srgbClr val="282828"/>
                </a:solidFill>
                <a:latin typeface="Arial"/>
              </a:rPr>
              <a:t>•  Under 2.5 % over the band by both; the engine runs above the closed form at the long end (2.48 % against 1.83 % at 2500 nm) and below it at the short end, and that factor is an open item in the record.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Clearance on the design of record, the global meniscus search,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R5, the slit-to-detector split: the returning beam clears the detector carrier by 1.2 mm with no cold shield; a fold prism at the slit (the literature's answer) is the next layout step, scored under the same clearance check.</a:t>
            </a:r>
          </a:p>
          <a:p>
            <a:pPr>
              <a:spcAft>
                <a:spcPts val="600"/>
              </a:spcAft>
            </a:pPr>
            <a:r>
              <a:rPr sz="1200" b="0">
                <a:solidFill>
                  <a:srgbClr val="282828"/>
                </a:solidFill>
                <a:latin typeface="Arial"/>
              </a:rPr>
              <a:t>•  Beat 4, first: settle the wave-versus-ray centroid difference (amplitude-weighted ray centroid from the engine's pupil amplitude; the twin's window and sampling as the null), then the global search over the meniscus and the native multi-wavelength optimizer with the centroid that a detector sees as the operand.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Beat 5, the telescope: EMIT parameters — 420 km, 60 m ground sample, 0.143 mrad IFOV, focal length 126 mm, 70 mm aperture at F/1.8, 24.6° cross-track field onto the 54 mm slit, telecentric and flat; the telescope's exit pupil on the grating.  Then spectrometer and telescope traced end to end as one deck.</a:t>
            </a:r>
          </a:p>
          <a:p>
            <a:pPr>
              <a:spcAft>
                <a:spcPts val="600"/>
              </a:spcAft>
            </a:pPr>
            <a:r>
              <a:rPr sz="1200" b="0">
                <a:solidFill>
                  <a:srgbClr val="282828"/>
                </a:solidFill>
                <a:latin typeface="Arial"/>
              </a:rPr>
              <a:t>•  Then the physical-optics twin on R4 and the radiometric chain against the band.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935736"/>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run('&lt;path&gt;/mmacos/mmacos_setup.m');</a:t>
            </a:r>
          </a:p>
          <a:p>
            <a:pPr>
              <a:spcAft>
                <a:spcPts val="100"/>
              </a:spcAft>
            </a:pPr>
            <a:r>
              <a:rPr sz="1150" b="0">
                <a:solidFill>
                  <a:srgbClr val="282828"/>
                </a:solidFill>
                <a:latin typeface="Consolas"/>
              </a:rPr>
              <a:t>addpath('&lt;path&gt;/mmacos/challenges/dyson5');</a:t>
            </a:r>
          </a:p>
          <a:p>
            <a:pPr>
              <a:spcAft>
                <a:spcPts val="100"/>
              </a:spcAft>
            </a:pPr>
            <a:r>
              <a:rPr sz="1150" b="0">
                <a:solidFill>
                  <a:srgbClr val="282828"/>
                </a:solidFill>
                <a:latin typeface="Consolas"/>
              </a:rPr>
              <a:t>OUT = dyson5_run();                                      % stage s0: the scaling law (engine-free)</a:t>
            </a:r>
          </a:p>
          <a:p>
            <a:pPr>
              <a:spcAft>
                <a:spcPts val="100"/>
              </a:spcAft>
            </a:pPr>
            <a:r>
              <a:rPr sz="1150" b="0">
                <a:solidFill>
                  <a:srgbClr val="282828"/>
                </a:solidFill>
                <a:latin typeface="Consolas"/>
              </a:rPr>
              <a:t>OUT = dyson5_run(struct('stages', {{'s1','s2','s3'}}));  % emit, score, ladder</a:t>
            </a:r>
          </a:p>
        </p:txBody>
      </p:sp>
      <p:sp>
        <p:nvSpPr>
          <p:cNvPr id="5" name="TextBox 4"/>
          <p:cNvSpPr txBox="1"/>
          <p:nvPr/>
        </p:nvSpPr>
        <p:spPr>
          <a:xfrm>
            <a:off x="411480" y="2343912"/>
            <a:ext cx="11368735" cy="274320"/>
          </a:xfrm>
          <a:prstGeom prst="rect">
            <a:avLst/>
          </a:prstGeom>
          <a:noFill/>
        </p:spPr>
        <p:txBody>
          <a:bodyPr wrap="square">
            <a:spAutoFit/>
          </a:bodyPr>
          <a:lstStyle/>
          <a:p>
            <a:pPr>
              <a:spcAft>
                <a:spcPts val="600"/>
              </a:spcAft>
            </a:pPr>
            <a:r>
              <a:rPr sz="1500" b="0">
                <a:solidFill>
                  <a:srgbClr val="282828"/>
                </a:solidFill>
                <a:latin typeface="Arial"/>
              </a:rPr>
              <a:t>•  Knobs live in dyson5_params.m (F-number, pixel, band, slit, block radius, ladder options); every record in this deck is a stage output under challenges/dyson5/.</a:t>
            </a:r>
          </a:p>
          <a:p>
            <a:pPr>
              <a:spcAft>
                <a:spcPts val="600"/>
              </a:spcAft>
            </a:pPr>
            <a:r>
              <a:rPr sz="1500" b="0">
                <a:solidFill>
                  <a:srgbClr val="282828"/>
                </a:solidFill>
                <a:latin typeface="Arial"/>
              </a:rPr>
              <a:t>•  Engine checks: ./run_mmacos_tests.sh tSpectrometerRx and the four grating / glass / propagation classes, all in the fast suite.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four engine findings, each with a regression test</a:t>
            </a:r>
          </a:p>
          <a:p>
            <a:pPr>
              <a:spcAft>
                <a:spcPts val="0"/>
              </a:spcAft>
            </a:pPr>
            <a:r>
              <a:rPr sz="1250" b="0">
                <a:solidFill>
                  <a:srgbClr val="6E6E6E"/>
                </a:solidFill>
                <a:latin typeface="Arial"/>
              </a:rPr>
              <a:t>Found by the challenge's checks on 2026-09-30 and 10-01,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2398268"/>
                <a:gridCol w="2960254"/>
                <a:gridCol w="4216119"/>
                <a:gridCol w="1794093"/>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last two.  A fifth item, a short AsphCoef= line killing the host process, now pads with zero and warns (tRxShortAsph).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806065"/>
        </p:xfrm>
        <a:graphic>
          <a:graphicData uri="http://schemas.openxmlformats.org/drawingml/2006/table">
            <a:tbl>
              <a:tblPr firstRow="1" bandRow="1">
                <a:tableStyleId>{5C22544A-7EE6-4342-B048-85BDC9FD1C3A}</a:tableStyleId>
              </a:tblPr>
              <a:tblGrid>
                <a:gridCol w="2107692"/>
                <a:gridCol w="1817116"/>
                <a:gridCol w="4634898"/>
                <a:gridCol w="2809029"/>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(both forms)</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slit loss</a:t>
                      </a:r>
                    </a:p>
                  </a:txBody>
                  <a:tcPr marL="54864" marR="54864" marT="18288" marB="18288">
                    <a:solidFill>
                      <a:srgbClr val="FFFFFF"/>
                    </a:solidFill>
                  </a:tcPr>
                </a:tc>
                <a:tc>
                  <a:txBody>
                    <a:bodyPr wrap="square"/>
                    <a:lstStyle/>
                    <a:p>
                      <a:r>
                        <a:rPr sz="1100" b="0">
                          <a:solidFill>
                            <a:srgbClr val="282828"/>
                          </a:solidFill>
                          <a:latin typeface="Arial"/>
                        </a:rPr>
                        <a:t>s2l</a:t>
                      </a:r>
                    </a:p>
                  </a:txBody>
                  <a:tcPr marL="54864" marR="54864" marT="18288" marB="18288">
                    <a:solidFill>
                      <a:srgbClr val="FFFFFF"/>
                    </a:solidFill>
                  </a:tcPr>
                </a:tc>
                <a:tc>
                  <a:txBody>
                    <a:bodyPr wrap="square"/>
                    <a:lstStyle/>
                    <a:p>
                      <a:r>
                        <a:rPr sz="1100" b="0">
                          <a:solidFill>
                            <a:srgbClr val="282828"/>
                          </a:solidFill>
                          <a:latin typeface="Arial"/>
                        </a:rPr>
                        <a:t>dyson5_s2l.txt, dyson5_s2l_slitloss.png</a:t>
                      </a:r>
                    </a:p>
                  </a:txBody>
                  <a:tcPr marL="54864" marR="54864" marT="18288" marB="18288">
                    <a:solidFill>
                      <a:srgbClr val="FFFFFF"/>
                    </a:solidFill>
                  </a:tcPr>
                </a:tc>
                <a:tc>
                  <a:txBody>
                    <a:bodyPr wrap="square"/>
                    <a:lstStyle/>
                    <a:p>
                      <a:r>
                        <a:rPr sz="1100" b="0">
                          <a:solidFill>
                            <a:srgbClr val="282828"/>
                          </a:solidFill>
                          <a:latin typeface="Arial"/>
                        </a:rPr>
                        <a:t>far-field leg vs sinc²</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p:txBody>
      </p:sp>
      <p:sp>
        <p:nvSpPr>
          <p:cNvPr id="6" name="TextBox 5"/>
          <p:cNvSpPr txBox="1"/>
          <p:nvPr/>
        </p:nvSpPr>
        <p:spPr>
          <a:xfrm>
            <a:off x="6400800" y="2746248"/>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