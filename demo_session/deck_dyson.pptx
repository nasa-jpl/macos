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ray-centroid keystone 0.0026 px, smile 0.005 px, CRF 1.33 px, 76 % of the energy in one pixel, at a 220 mm block.  Open: the propagated-PSF centroid differs from the ray centroid by up to 0.12 px on R4, the detector-seen keystone until it is resolved.</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Dyson as traced by the engine</a:t>
            </a:r>
          </a:p>
          <a:p>
            <a:pPr>
              <a:spcAft>
                <a:spcPts val="600"/>
              </a:spcAft>
            </a:pPr>
            <a:r>
              <a:rPr sz="1200" b="0">
                <a:solidFill>
                  <a:srgbClr val="282828"/>
                </a:solidFill>
                <a:latin typeface="Arial"/>
              </a:rPr>
              <a:t>•  5 The Offner as traced by the engine</a:t>
            </a:r>
          </a:p>
          <a:p>
            <a:pPr>
              <a:spcAft>
                <a:spcPts val="600"/>
              </a:spcAft>
            </a:pPr>
            <a:r>
              <a:rPr sz="1200" b="0">
                <a:solidFill>
                  <a:srgbClr val="282828"/>
                </a:solidFill>
                <a:latin typeface="Arial"/>
              </a:rPr>
              <a:t>•  6 The concentric Dyson and its scaling law</a:t>
            </a:r>
          </a:p>
          <a:p>
            <a:pPr>
              <a:spcAft>
                <a:spcPts val="600"/>
              </a:spcAft>
            </a:pPr>
            <a:r>
              <a:rPr sz="1200" b="0">
                <a:solidFill>
                  <a:srgbClr val="282828"/>
                </a:solidFill>
                <a:latin typeface="Arial"/>
              </a:rPr>
              <a:t>•  7 The exact chain and the engine agree</a:t>
            </a:r>
          </a:p>
          <a:p>
            <a:pPr>
              <a:spcAft>
                <a:spcPts val="600"/>
              </a:spcAft>
            </a:pPr>
            <a:r>
              <a:rPr sz="1200" b="0">
                <a:solidFill>
                  <a:srgbClr val="282828"/>
                </a:solidFill>
                <a:latin typeface="Arial"/>
              </a:rPr>
              <a:t>•  8 The seed, scored</a:t>
            </a:r>
          </a:p>
          <a:p>
            <a:pPr>
              <a:spcAft>
                <a:spcPts val="600"/>
              </a:spcAft>
            </a:pPr>
            <a:r>
              <a:rPr sz="1200" b="0">
                <a:solidFill>
                  <a:srgbClr val="282828"/>
                </a:solidFill>
                <a:latin typeface="Arial"/>
              </a:rPr>
              <a:t>•  9 The departure ladder</a:t>
            </a:r>
          </a:p>
          <a:p>
            <a:pPr>
              <a:spcAft>
                <a:spcPts val="600"/>
              </a:spcAft>
            </a:pPr>
            <a:r>
              <a:rPr sz="1200" b="0">
                <a:solidFill>
                  <a:srgbClr val="282828"/>
                </a:solidFill>
                <a:latin typeface="Arial"/>
              </a:rPr>
              <a:t>•  10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11 What each departure buys</a:t>
            </a:r>
          </a:p>
          <a:p>
            <a:pPr>
              <a:spcAft>
                <a:spcPts val="600"/>
              </a:spcAft>
            </a:pPr>
            <a:r>
              <a:rPr sz="1200" b="0">
                <a:solidFill>
                  <a:srgbClr val="282828"/>
                </a:solidFill>
                <a:latin typeface="Arial"/>
              </a:rPr>
              <a:t>•  12 The compact variant, as traced by the engine</a:t>
            </a:r>
          </a:p>
          <a:p>
            <a:pPr>
              <a:spcAft>
                <a:spcPts val="600"/>
              </a:spcAft>
            </a:pPr>
            <a:r>
              <a:rPr sz="1200" b="0">
                <a:solidFill>
                  <a:srgbClr val="282828"/>
                </a:solidFill>
                <a:latin typeface="Arial"/>
              </a:rPr>
              <a:t>•  13 The compact variant in section</a:t>
            </a:r>
          </a:p>
          <a:p>
            <a:pPr>
              <a:spcAft>
                <a:spcPts val="600"/>
              </a:spcAft>
            </a:pPr>
            <a:r>
              <a:rPr sz="1200" b="0">
                <a:solidFill>
                  <a:srgbClr val="282828"/>
                </a:solidFill>
                <a:latin typeface="Arial"/>
              </a:rPr>
              <a:t>•  14 The compact variant, scored</a:t>
            </a:r>
          </a:p>
          <a:p>
            <a:pPr>
              <a:spcAft>
                <a:spcPts val="600"/>
              </a:spcAft>
            </a:pPr>
            <a:r>
              <a:rPr sz="1200" b="0">
                <a:solidFill>
                  <a:srgbClr val="282828"/>
                </a:solidFill>
                <a:latin typeface="Arial"/>
              </a:rPr>
              <a:t>•  15 The trade at a glance</a:t>
            </a:r>
          </a:p>
          <a:p>
            <a:pPr>
              <a:spcAft>
                <a:spcPts val="600"/>
              </a:spcAft>
            </a:pPr>
            <a:r>
              <a:rPr sz="1200" b="0">
                <a:solidFill>
                  <a:srgbClr val="282828"/>
                </a:solidFill>
                <a:latin typeface="Arial"/>
              </a:rPr>
              <a:t>•  16 The propagation twin</a:t>
            </a:r>
          </a:p>
          <a:p>
            <a:pPr>
              <a:spcAft>
                <a:spcPts val="600"/>
              </a:spcAft>
            </a:pPr>
            <a:r>
              <a:rPr sz="1200" b="0">
                <a:solidFill>
                  <a:srgbClr val="282828"/>
                </a:solidFill>
                <a:latin typeface="Arial"/>
              </a:rPr>
              <a:t>•  17 Slit diffraction loss</a:t>
            </a:r>
          </a:p>
          <a:p>
            <a:pPr>
              <a:spcAft>
                <a:spcPts val="600"/>
              </a:spcAft>
            </a:pPr>
            <a:r>
              <a:rPr sz="1200" b="0">
                <a:solidFill>
                  <a:srgbClr val="282828"/>
                </a:solidFill>
                <a:latin typeface="Arial"/>
              </a:rPr>
              <a:t>•  18 Next steps</a:t>
            </a:r>
          </a:p>
          <a:p>
            <a:pPr>
              <a:spcAft>
                <a:spcPts val="600"/>
              </a:spcAft>
            </a:pPr>
            <a:r>
              <a:rPr sz="1200" b="0">
                <a:solidFill>
                  <a:srgbClr val="282828"/>
                </a:solidFill>
                <a:latin typeface="Arial"/>
              </a:rPr>
              <a:t>•  19 Run it yourself</a:t>
            </a:r>
          </a:p>
          <a:p>
            <a:pPr>
              <a:spcAft>
                <a:spcPts val="600"/>
              </a:spcAft>
            </a:pPr>
            <a:r>
              <a:rPr sz="1200" b="0">
                <a:solidFill>
                  <a:srgbClr val="282828"/>
                </a:solidFill>
                <a:latin typeface="Arial"/>
              </a:rPr>
              <a:t>•  20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Step R3 of the ladder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challenges/dyson5/dyson5_s3_r3.in, seven elements; the block's spherical face (E2), the grating (E3, radius 0.71 m at the Dyson condition for a 220 mm block), and the focal plane on the flat face.  Bodies, rays and labels are read back from the engine.</a:t>
            </a:r>
          </a:p>
          <a:p>
            <a:pPr>
              <a:spcAft>
                <a:spcPts val="600"/>
              </a:spcAft>
            </a:pPr>
            <a:r>
              <a:rPr sz="1500" b="0">
                <a:solidFill>
                  <a:srgbClr val="282828"/>
                </a:solidFill>
                <a:latin typeface="Arial"/>
              </a:rPr>
              <a:t>•  Sizes from the traced footprints: block face 85 mm across at the sphere (220 mm radius, 217 mm thick), grating 270 mm across (0.70 m radius) at 0.69 m from the face; slit at +6 mm, this wavelength lands at −12 mm on the same face.</a:t>
            </a:r>
          </a:p>
          <a:p>
            <a:pPr>
              <a:spcAft>
                <a:spcPts val="600"/>
              </a:spcAft>
            </a:pPr>
            <a:r>
              <a:rPr sz="1500" b="0">
                <a:solidFill>
                  <a:srgbClr val="282828"/>
                </a:solidFill>
                <a:latin typeface="Arial"/>
              </a:rPr>
              <a:t>•  Every surface carries an aperture cut from the multi-field, multi-wavelength footprint plus 5 mm, and a clearance check scores every beam leg against every body it does not traverse: the worst pair on this deck is the returning beam against the detector carrier, +1.16 mm, with no cold shield.</a:t>
            </a:r>
          </a:p>
        </p:txBody>
      </p:sp>
      <p:pic>
        <p:nvPicPr>
          <p:cNvPr id="5" name="Picture 4" descr="dyson5_s3_r3_views.png"/>
          <p:cNvPicPr>
            <a:picLocks noChangeAspect="1"/>
          </p:cNvPicPr>
          <p:nvPr/>
        </p:nvPicPr>
        <p:blipFill>
          <a:blip r:embed="rId2"/>
          <a:stretch>
            <a:fillRect/>
          </a:stretch>
        </p:blipFill>
        <p:spPr>
          <a:xfrm>
            <a:off x="4046540" y="3736848"/>
            <a:ext cx="4098613" cy="272745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challenges/dyson5/dyson5_s1_offner.in, five elements; the concave mirror (E1, used twice), the convex grating (E2) at the stop, the focal plane at the slit's conjugate.</a:t>
            </a:r>
          </a:p>
          <a:p>
            <a:pPr>
              <a:spcAft>
                <a:spcPts val="600"/>
              </a:spcAft>
            </a:pPr>
            <a:r>
              <a:rPr sz="1500" b="0">
                <a:solidFill>
                  <a:srgbClr val="282828"/>
                </a:solidFill>
                <a:latin typeface="Arial"/>
              </a:rPr>
              <a:t>•  At the first slit offset (6 mm) the grating sat inside the slit-to-mirror beam; at 0.20 R the beams still clipped its mount by 4 mm; at 0.22 R they clear by 10.2 mm, and the concentric form there is astigmatic (15 px), so the classical corrections are applied under the ladder's operands: convex radius × 1.0034, second concave zone × 0.951 with a 0.3 mm offset.</a:t>
            </a:r>
          </a:p>
          <a:p>
            <a:pPr>
              <a:spcAft>
                <a:spcPts val="600"/>
              </a:spcAft>
            </a:pPr>
            <a:r>
              <a:rPr sz="1500" b="0">
                <a:solidFill>
                  <a:srgbClr val="282828"/>
                </a:solidFill>
                <a:latin typeface="Arial"/>
              </a:rPr>
              <a:t>•  As corrected: keystone 0.028 px, CRF 1.20 px, SRF 3.69 px, 23 % of the energy in one pixel.  It stays in the deck as the reference form and as the ground where the physical-optics twin is validated (order 0: pupil OPD 8e-11 m, 85 % in one pixel).</a:t>
            </a:r>
          </a:p>
        </p:txBody>
      </p:sp>
      <p:pic>
        <p:nvPicPr>
          <p:cNvPr id="5" name="Picture 4" descr="dyson5_s1_offner_views.png"/>
          <p:cNvPicPr>
            <a:picLocks noChangeAspect="1"/>
          </p:cNvPicPr>
          <p:nvPr/>
        </p:nvPicPr>
        <p:blipFill>
          <a:blip r:embed="rId2"/>
          <a:stretch>
            <a:fillRect/>
          </a:stretch>
        </p:blipFill>
        <p:spPr>
          <a:xfrm>
            <a:off x="4397575" y="3984498"/>
            <a:ext cx="3396544"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challenges/dyson5/dyson5_s3_r4.in, nine elements: the block's flat face, its spherical face, the meniscus (two surfaces), the grating, and the return through the meniscus and block to the focal plane.</a:t>
            </a:r>
          </a:p>
          <a:p>
            <a:pPr>
              <a:spcAft>
                <a:spcPts val="600"/>
              </a:spcAft>
            </a:pPr>
            <a:r>
              <a:rPr sz="1500" b="0">
                <a:solidFill>
                  <a:srgbClr val="282828"/>
                </a:solidFill>
                <a:latin typeface="Arial"/>
              </a:rPr>
              <a:t>•  Bodies, rays and labels read back from the engine, apertures declared on every surface; the worst clearance on this deck is the returning beam against the detector carrier, +1.19 mm with no cold shield.  Any shield height fails the check, so a fold prism at the slit is the next step's first item.</a:t>
            </a:r>
          </a:p>
        </p:txBody>
      </p:sp>
      <p:pic>
        <p:nvPicPr>
          <p:cNvPr id="5" name="Picture 4" descr="dyson5_s3_r4_views.png"/>
          <p:cNvPicPr>
            <a:picLocks noChangeAspect="1"/>
          </p:cNvPicPr>
          <p:nvPr/>
        </p:nvPicPr>
        <p:blipFill>
          <a:blip r:embed="rId2"/>
          <a:stretch>
            <a:fillRect/>
          </a:stretch>
        </p:blipFill>
        <p:spPr>
          <a:xfrm>
            <a:off x="3380999" y="2853690"/>
            <a:ext cx="5429695" cy="36106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Ray-centroid 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Open: the propagated PSF's centroid parts from the ray centroid by up to 0.12 px on this design (0.001 px on the seeds, 0.03 px on R3), growing with wavelength, with the path-length check green.  A detector measures the intensity centroid, so until this is resolved the keystone that counts against the 0.1 px specification is the wave number.</a:t>
            </a:r>
          </a:p>
        </p:txBody>
      </p:sp>
      <p:pic>
        <p:nvPicPr>
          <p:cNvPr id="5" name="Picture 4" descr="dyson5_s3_maps_r4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2l_slitloss.png"/>
          <p:cNvPicPr>
            <a:picLocks noChangeAspect="1"/>
          </p:cNvPicPr>
          <p:nvPr/>
        </p:nvPicPr>
        <p:blipFill>
          <a:blip r:embed="rId2"/>
          <a:stretch>
            <a:fillRect/>
          </a:stretch>
        </p:blipFill>
        <p:spPr>
          <a:xfrm>
            <a:off x="2289166" y="1298448"/>
            <a:ext cx="7613362" cy="5165852"/>
          </a:xfrm>
          <a:prstGeom prst="rect">
            <a:avLst/>
          </a:prstGeom>
        </p:spPr>
      </p:pic>
      <p:sp>
        <p:nvSpPr>
          <p:cNvPr id="5" name="TextBox 4"/>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
        <p:nvSpPr>
          <p:cNvPr id="6" name="TextBox 5"/>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Under 2.5 % over the band by both; the engine runs above the closed form at the long end (2.48 % against 1.83 % at 2500 nm) and below it at the short end, and that factor is an open item in the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first: settle the wave-versus-ray centroid difference (amplitude-weighted ray centroid from the engine's pupil amplitude; the twin's window and sampling as the null), then the global search over the meniscus and the native multi-wavelength optimizer with the centroid that a detector sees as the operand.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physical-optics twin on R4 and the radiometric chain against the band.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935736"/>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run('&lt;path&gt;/mmacos/mmacos_setup.m');</a:t>
            </a:r>
          </a:p>
          <a:p>
            <a:pPr>
              <a:spcAft>
                <a:spcPts val="100"/>
              </a:spcAft>
            </a:pPr>
            <a:r>
              <a:rPr sz="1150" b="0">
                <a:solidFill>
                  <a:srgbClr val="282828"/>
                </a:solidFill>
                <a:latin typeface="Consolas"/>
              </a:rPr>
              <a:t>addpath('&lt;path&gt;/mmacos/challenges/dyson5');</a:t>
            </a:r>
          </a:p>
          <a:p>
            <a:pPr>
              <a:spcAft>
                <a:spcPts val="100"/>
              </a:spcAft>
            </a:pPr>
            <a:r>
              <a:rPr sz="1150" b="0">
                <a:solidFill>
                  <a:srgbClr val="282828"/>
                </a:solidFill>
                <a:latin typeface="Consolas"/>
              </a:rPr>
              <a:t>OUT = dyson5_run();                                      % stage s0: the scaling law (engine-free)</a:t>
            </a:r>
          </a:p>
          <a:p>
            <a:pPr>
              <a:spcAft>
                <a:spcPts val="100"/>
              </a:spcAft>
            </a:pPr>
            <a:r>
              <a:rPr sz="1150" b="0">
                <a:solidFill>
                  <a:srgbClr val="282828"/>
                </a:solidFill>
                <a:latin typeface="Consolas"/>
              </a:rPr>
              <a:t>OUT = dyson5_run(struct('stages', {{'s1','s2','s3'}}));  % emit, score, ladder</a:t>
            </a:r>
          </a:p>
        </p:txBody>
      </p:sp>
      <p:sp>
        <p:nvSpPr>
          <p:cNvPr id="5" name="TextBox 4"/>
          <p:cNvSpPr txBox="1"/>
          <p:nvPr/>
        </p:nvSpPr>
        <p:spPr>
          <a:xfrm>
            <a:off x="411480" y="2343912"/>
            <a:ext cx="11368735" cy="274320"/>
          </a:xfrm>
          <a:prstGeom prst="rect">
            <a:avLst/>
          </a:prstGeom>
          <a:noFill/>
        </p:spPr>
        <p:txBody>
          <a:bodyPr wrap="square">
            <a:spAutoFit/>
          </a:bodyPr>
          <a:lstStyle/>
          <a:p>
            <a:pPr>
              <a:spcAft>
                <a:spcPts val="600"/>
              </a:spcAft>
            </a:pPr>
            <a:r>
              <a:rPr sz="1500" b="0">
                <a:solidFill>
                  <a:srgbClr val="282828"/>
                </a:solidFill>
                <a:latin typeface="Arial"/>
              </a:rPr>
              <a:t>•  Knobs live in dyson5_params.m (F-number, pixel, band, slit, block radius, ladder options); every record in this deck is a stage output under challenges/dyson5/.</a:t>
            </a:r>
          </a:p>
          <a:p>
            <a:pPr>
              <a:spcAft>
                <a:spcPts val="600"/>
              </a:spcAft>
            </a:pPr>
            <a:r>
              <a:rPr sz="1500" b="0">
                <a:solidFill>
                  <a:srgbClr val="282828"/>
                </a:solidFill>
                <a:latin typeface="Arial"/>
              </a:rPr>
              <a:t>•  Engine checks: ./run_mmacos_tests.sh tSpectrometerRx and the four grating / glass / propagation classes, all in the fast suite.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