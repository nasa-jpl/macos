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A VSWIR Dyson Imaging Spectrometer, Designed From the Spec</a:t>
            </a:r>
          </a:p>
          <a:p>
            <a:pPr>
              <a:spcAft>
                <a:spcPts val="1400"/>
              </a:spcAft>
            </a:pPr>
            <a:r>
              <a:rPr sz="2200" b="0">
                <a:solidFill>
                  <a:srgbClr val="282828"/>
                </a:solidFill>
                <a:latin typeface="Arial"/>
              </a:rPr>
              <a:t>An EMIT-class push-broom spectrometer (F/1.8, 3000 × 500 pixels at 18 µm, 380–2500 nm) designed with MACOS from the public specification alone, scored on smile, keystone and the response functions, and checked by physical-optics propagation.</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October 2026.  Working record; no proprietary prescription is used.</a:t>
            </a:r>
          </a:p>
          <a:p>
            <a:pPr>
              <a:spcAft>
                <a:spcPts val="800"/>
              </a:spcAft>
            </a:pPr>
            <a:r>
              <a:rPr sz="1500" b="0">
                <a:solidFill>
                  <a:srgbClr val="6E6E6E"/>
                </a:solidFill>
                <a:latin typeface="Arial"/>
              </a:rPr>
              <a:t>DRAFT — in progress.  Every number is from a committed, parameterized runner (mmacos, dyson5_run); records and figures are the runner's own output.  Design of record: the compact variant (step R4): keystone 0.0026 px, smile 0.005 px, CRF 1.33 px, 76 % of the energy in one pixel, at a 220 mm block.  The propagated point-spread function reproduces the ray centroids to 0.002 px, so these are the numbers a detector sees.</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The target, the methods, the forms, the design ladder, the evidence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3 The target and how it is scored</a:t>
            </a:r>
          </a:p>
          <a:p>
            <a:pPr>
              <a:spcAft>
                <a:spcPts val="600"/>
              </a:spcAft>
            </a:pPr>
            <a:r>
              <a:rPr sz="1200" b="0">
                <a:solidFill>
                  <a:srgbClr val="282828"/>
                </a:solidFill>
                <a:latin typeface="Arial"/>
              </a:rPr>
              <a:t>•  4 The two methods, and the words used here</a:t>
            </a:r>
          </a:p>
          <a:p>
            <a:pPr>
              <a:spcAft>
                <a:spcPts val="600"/>
              </a:spcAft>
            </a:pPr>
            <a:r>
              <a:rPr sz="1200" b="0">
                <a:solidFill>
                  <a:srgbClr val="282828"/>
                </a:solidFill>
                <a:latin typeface="Arial"/>
              </a:rPr>
              <a:t>•  5 The Dyson as traced by the engine</a:t>
            </a:r>
          </a:p>
          <a:p>
            <a:pPr>
              <a:spcAft>
                <a:spcPts val="600"/>
              </a:spcAft>
            </a:pPr>
            <a:r>
              <a:rPr sz="1200" b="0">
                <a:solidFill>
                  <a:srgbClr val="282828"/>
                </a:solidFill>
                <a:latin typeface="Arial"/>
              </a:rPr>
              <a:t>•  6 The Offner as traced by the engine</a:t>
            </a:r>
          </a:p>
          <a:p>
            <a:pPr>
              <a:spcAft>
                <a:spcPts val="600"/>
              </a:spcAft>
            </a:pPr>
            <a:r>
              <a:rPr sz="1200" b="0">
                <a:solidFill>
                  <a:srgbClr val="282828"/>
                </a:solidFill>
                <a:latin typeface="Arial"/>
              </a:rPr>
              <a:t>•  7 The concentric Dyson and its scaling law</a:t>
            </a:r>
          </a:p>
          <a:p>
            <a:pPr>
              <a:spcAft>
                <a:spcPts val="600"/>
              </a:spcAft>
            </a:pPr>
            <a:r>
              <a:rPr sz="1200" b="0">
                <a:solidFill>
                  <a:srgbClr val="282828"/>
                </a:solidFill>
                <a:latin typeface="Arial"/>
              </a:rPr>
              <a:t>•  8 The exact chain and the engine agree</a:t>
            </a:r>
          </a:p>
          <a:p>
            <a:pPr>
              <a:spcAft>
                <a:spcPts val="600"/>
              </a:spcAft>
            </a:pPr>
            <a:r>
              <a:rPr sz="1200" b="0">
                <a:solidFill>
                  <a:srgbClr val="282828"/>
                </a:solidFill>
                <a:latin typeface="Arial"/>
              </a:rPr>
              <a:t>•  9 The seed, scored</a:t>
            </a:r>
          </a:p>
          <a:p>
            <a:pPr>
              <a:spcAft>
                <a:spcPts val="600"/>
              </a:spcAft>
            </a:pPr>
            <a:r>
              <a:rPr sz="1200" b="0">
                <a:solidFill>
                  <a:srgbClr val="282828"/>
                </a:solidFill>
                <a:latin typeface="Arial"/>
              </a:rPr>
              <a:t>•  10 The departure ladder</a:t>
            </a:r>
          </a:p>
          <a:p>
            <a:pPr>
              <a:spcAft>
                <a:spcPts val="600"/>
              </a:spcAft>
            </a:pPr>
            <a:r>
              <a:rPr sz="1200" b="0">
                <a:solidFill>
                  <a:srgbClr val="282828"/>
                </a:solidFill>
                <a:latin typeface="Arial"/>
              </a:rPr>
              <a:t>•  11 The departure ladder, by the numbers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12 What each departure buys</a:t>
            </a:r>
          </a:p>
          <a:p>
            <a:pPr>
              <a:spcAft>
                <a:spcPts val="600"/>
              </a:spcAft>
            </a:pPr>
            <a:r>
              <a:rPr sz="1200" b="0">
                <a:solidFill>
                  <a:srgbClr val="282828"/>
                </a:solidFill>
                <a:latin typeface="Arial"/>
              </a:rPr>
              <a:t>•  13 The compact variant, as traced by the engine</a:t>
            </a:r>
          </a:p>
          <a:p>
            <a:pPr>
              <a:spcAft>
                <a:spcPts val="600"/>
              </a:spcAft>
            </a:pPr>
            <a:r>
              <a:rPr sz="1200" b="0">
                <a:solidFill>
                  <a:srgbClr val="282828"/>
                </a:solidFill>
                <a:latin typeface="Arial"/>
              </a:rPr>
              <a:t>•  14 The compact variant in section</a:t>
            </a:r>
          </a:p>
          <a:p>
            <a:pPr>
              <a:spcAft>
                <a:spcPts val="600"/>
              </a:spcAft>
            </a:pPr>
            <a:r>
              <a:rPr sz="1200" b="0">
                <a:solidFill>
                  <a:srgbClr val="282828"/>
                </a:solidFill>
                <a:latin typeface="Arial"/>
              </a:rPr>
              <a:t>•  15 The compact variant, scored</a:t>
            </a:r>
          </a:p>
          <a:p>
            <a:pPr>
              <a:spcAft>
                <a:spcPts val="600"/>
              </a:spcAft>
            </a:pPr>
            <a:r>
              <a:rPr sz="1200" b="0">
                <a:solidFill>
                  <a:srgbClr val="282828"/>
                </a:solidFill>
                <a:latin typeface="Arial"/>
              </a:rPr>
              <a:t>•  16 The trade at a glance</a:t>
            </a:r>
          </a:p>
          <a:p>
            <a:pPr>
              <a:spcAft>
                <a:spcPts val="600"/>
              </a:spcAft>
            </a:pPr>
            <a:r>
              <a:rPr sz="1200" b="0">
                <a:solidFill>
                  <a:srgbClr val="282828"/>
                </a:solidFill>
                <a:latin typeface="Arial"/>
              </a:rPr>
              <a:t>•  17 The propagation twin</a:t>
            </a:r>
          </a:p>
          <a:p>
            <a:pPr>
              <a:spcAft>
                <a:spcPts val="600"/>
              </a:spcAft>
            </a:pPr>
            <a:r>
              <a:rPr sz="1200" b="0">
                <a:solidFill>
                  <a:srgbClr val="282828"/>
                </a:solidFill>
                <a:latin typeface="Arial"/>
              </a:rPr>
              <a:t>•  18 Slit diffraction loss</a:t>
            </a:r>
          </a:p>
          <a:p>
            <a:pPr>
              <a:spcAft>
                <a:spcPts val="600"/>
              </a:spcAft>
            </a:pPr>
            <a:r>
              <a:rPr sz="1200" b="0">
                <a:solidFill>
                  <a:srgbClr val="282828"/>
                </a:solidFill>
                <a:latin typeface="Arial"/>
              </a:rPr>
              <a:t>•  19 Next steps</a:t>
            </a:r>
          </a:p>
          <a:p>
            <a:pPr>
              <a:spcAft>
                <a:spcPts val="600"/>
              </a:spcAft>
            </a:pPr>
            <a:r>
              <a:rPr sz="1200" b="0">
                <a:solidFill>
                  <a:srgbClr val="282828"/>
                </a:solidFill>
                <a:latin typeface="Arial"/>
              </a:rPr>
              <a:t>•  20 Run it yourself</a:t>
            </a:r>
          </a:p>
          <a:p>
            <a:pPr>
              <a:spcAft>
                <a:spcPts val="600"/>
              </a:spcAft>
            </a:pPr>
            <a:r>
              <a:rPr sz="1200" b="0">
                <a:solidFill>
                  <a:srgbClr val="282828"/>
                </a:solidFill>
                <a:latin typeface="Arial"/>
              </a:rPr>
              <a:t>•  21 Backup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target and how it is scored</a:t>
            </a:r>
          </a:p>
          <a:p>
            <a:pPr>
              <a:spcAft>
                <a:spcPts val="0"/>
              </a:spcAft>
            </a:pPr>
            <a:r>
              <a:rPr sz="1250" b="0">
                <a:solidFill>
                  <a:srgbClr val="6E6E6E"/>
                </a:solidFill>
                <a:latin typeface="Arial"/>
              </a:rPr>
              <a:t>Joe's specification, EMIT-class; the metrics stated once,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97505"/>
        </p:xfrm>
        <a:graphic>
          <a:graphicData uri="http://schemas.openxmlformats.org/drawingml/2006/table">
            <a:tbl>
              <a:tblPr firstRow="1" bandRow="1">
                <a:tableStyleId>{5C22544A-7EE6-4342-B048-85BDC9FD1C3A}</a:tableStyleId>
              </a:tblPr>
              <a:tblGrid>
                <a:gridCol w="2274687"/>
                <a:gridCol w="3531752"/>
              </a:tblGrid>
              <a:tr h="280035">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468630">
                <a:tc>
                  <a:txBody>
                    <a:bodyPr wrap="square"/>
                    <a:lstStyle/>
                    <a:p>
                      <a:r>
                        <a:rPr sz="1100" b="0">
                          <a:solidFill>
                            <a:srgbClr val="282828"/>
                          </a:solidFill>
                          <a:latin typeface="Arial"/>
                        </a:rPr>
                        <a:t>F-number (air-equivalent, image space)</a:t>
                      </a:r>
                    </a:p>
                  </a:txBody>
                  <a:tcPr marL="54864" marR="54864" marT="18288" marB="18288">
                    <a:solidFill>
                      <a:srgbClr val="FFFFFF"/>
                    </a:solidFill>
                  </a:tcPr>
                </a:tc>
                <a:tc>
                  <a:txBody>
                    <a:bodyPr wrap="square"/>
                    <a:lstStyle/>
                    <a:p>
                      <a:r>
                        <a:rPr sz="1100" b="0">
                          <a:solidFill>
                            <a:srgbClr val="282828"/>
                          </a:solidFill>
                          <a:latin typeface="Arial"/>
                        </a:rPr>
                        <a:t>1.8</a:t>
                      </a:r>
                    </a:p>
                  </a:txBody>
                  <a:tcPr marL="54864" marR="54864" marT="18288" marB="18288">
                    <a:solidFill>
                      <a:srgbClr val="FFFFFF"/>
                    </a:solidFill>
                  </a:tcPr>
                </a:tc>
              </a:tr>
              <a:tr h="280035">
                <a:tc>
                  <a:txBody>
                    <a:bodyPr wrap="square"/>
                    <a:lstStyle/>
                    <a:p>
                      <a:r>
                        <a:rPr sz="1100" b="0">
                          <a:solidFill>
                            <a:srgbClr val="282828"/>
                          </a:solidFill>
                          <a:latin typeface="Arial"/>
                        </a:rPr>
                        <a:t>focal plane</a:t>
                      </a:r>
                    </a:p>
                  </a:txBody>
                  <a:tcPr marL="54864" marR="54864" marT="18288" marB="18288">
                    <a:solidFill>
                      <a:srgbClr val="ECF1F6"/>
                    </a:solidFill>
                  </a:tcPr>
                </a:tc>
                <a:tc>
                  <a:txBody>
                    <a:bodyPr wrap="square"/>
                    <a:lstStyle/>
                    <a:p>
                      <a:r>
                        <a:rPr sz="1100" b="0">
                          <a:solidFill>
                            <a:srgbClr val="282828"/>
                          </a:solidFill>
                          <a:latin typeface="Arial"/>
                        </a:rPr>
                        <a:t>3000 spatial × 500 spectral pixels, 18 µm</a:t>
                      </a:r>
                    </a:p>
                  </a:txBody>
                  <a:tcPr marL="54864" marR="54864" marT="18288" marB="18288">
                    <a:solidFill>
                      <a:srgbClr val="ECF1F6"/>
                    </a:solidFill>
                  </a:tcPr>
                </a:tc>
              </a:tr>
              <a:tr h="280035">
                <a:tc>
                  <a:txBody>
                    <a:bodyPr wrap="square"/>
                    <a:lstStyle/>
                    <a:p>
                      <a:r>
                        <a:rPr sz="1100" b="0">
                          <a:solidFill>
                            <a:srgbClr val="282828"/>
                          </a:solidFill>
                          <a:latin typeface="Arial"/>
                        </a:rPr>
                        <a:t>slit</a:t>
                      </a:r>
                    </a:p>
                  </a:txBody>
                  <a:tcPr marL="54864" marR="54864" marT="18288" marB="18288">
                    <a:solidFill>
                      <a:srgbClr val="FFFFFF"/>
                    </a:solidFill>
                  </a:tcPr>
                </a:tc>
                <a:tc>
                  <a:txBody>
                    <a:bodyPr wrap="square"/>
                    <a:lstStyle/>
                    <a:p>
                      <a:r>
                        <a:rPr sz="1100" b="0">
                          <a:solidFill>
                            <a:srgbClr val="282828"/>
                          </a:solidFill>
                          <a:latin typeface="Arial"/>
                        </a:rPr>
                        <a:t>54 mm; spectral height 9 mm</a:t>
                      </a:r>
                    </a:p>
                  </a:txBody>
                  <a:tcPr marL="54864" marR="54864" marT="18288" marB="18288">
                    <a:solidFill>
                      <a:srgbClr val="FFFFFF"/>
                    </a:solidFill>
                  </a:tcPr>
                </a:tc>
              </a:tr>
              <a:tr h="280035">
                <a:tc>
                  <a:txBody>
                    <a:bodyPr wrap="square"/>
                    <a:lstStyle/>
                    <a:p>
                      <a:r>
                        <a:rPr sz="1100" b="0">
                          <a:solidFill>
                            <a:srgbClr val="282828"/>
                          </a:solidFill>
                          <a:latin typeface="Arial"/>
                        </a:rPr>
                        <a:t>band</a:t>
                      </a:r>
                    </a:p>
                  </a:txBody>
                  <a:tcPr marL="54864" marR="54864" marT="18288" marB="18288">
                    <a:solidFill>
                      <a:srgbClr val="ECF1F6"/>
                    </a:solidFill>
                  </a:tcPr>
                </a:tc>
                <a:tc>
                  <a:txBody>
                    <a:bodyPr wrap="square"/>
                    <a:lstStyle/>
                    <a:p>
                      <a:r>
                        <a:rPr sz="1100" b="0">
                          <a:solidFill>
                            <a:srgbClr val="282828"/>
                          </a:solidFill>
                          <a:latin typeface="Arial"/>
                        </a:rPr>
                        <a:t>380–2500 nm, 4.24 nm per pixel</a:t>
                      </a:r>
                    </a:p>
                  </a:txBody>
                  <a:tcPr marL="54864" marR="54864" marT="18288" marB="18288">
                    <a:solidFill>
                      <a:srgbClr val="ECF1F6"/>
                    </a:solidFill>
                  </a:tcPr>
                </a:tc>
              </a:tr>
              <a:tr h="280035">
                <a:tc>
                  <a:txBody>
                    <a:bodyPr wrap="square"/>
                    <a:lstStyle/>
                    <a:p>
                      <a:r>
                        <a:rPr sz="1100" b="0">
                          <a:solidFill>
                            <a:srgbClr val="282828"/>
                          </a:solidFill>
                          <a:latin typeface="Arial"/>
                        </a:rPr>
                        <a:t>smile, keystone</a:t>
                      </a:r>
                    </a:p>
                  </a:txBody>
                  <a:tcPr marL="54864" marR="54864" marT="18288" marB="18288">
                    <a:solidFill>
                      <a:srgbClr val="FFFFFF"/>
                    </a:solidFill>
                  </a:tcPr>
                </a:tc>
                <a:tc>
                  <a:txBody>
                    <a:bodyPr wrap="square"/>
                    <a:lstStyle/>
                    <a:p>
                      <a:r>
                        <a:rPr sz="1100" b="0">
                          <a:solidFill>
                            <a:srgbClr val="282828"/>
                          </a:solidFill>
                          <a:latin typeface="Arial"/>
                        </a:rPr>
                        <a:t>&lt; 0.1 pixel</a:t>
                      </a:r>
                    </a:p>
                  </a:txBody>
                  <a:tcPr marL="54864" marR="54864" marT="18288" marB="18288">
                    <a:solidFill>
                      <a:srgbClr val="FFFFFF"/>
                    </a:solidFill>
                  </a:tcPr>
                </a:tc>
              </a:tr>
              <a:tr h="280035">
                <a:tc>
                  <a:txBody>
                    <a:bodyPr wrap="square"/>
                    <a:lstStyle/>
                    <a:p>
                      <a:r>
                        <a:rPr sz="1100" b="0">
                          <a:solidFill>
                            <a:srgbClr val="282828"/>
                          </a:solidFill>
                          <a:latin typeface="Arial"/>
                        </a:rPr>
                        <a:t>SRF FWHM</a:t>
                      </a:r>
                    </a:p>
                  </a:txBody>
                  <a:tcPr marL="54864" marR="54864" marT="18288" marB="18288">
                    <a:solidFill>
                      <a:srgbClr val="ECF1F6"/>
                    </a:solidFill>
                  </a:tcPr>
                </a:tc>
                <a:tc>
                  <a:txBody>
                    <a:bodyPr wrap="square"/>
                    <a:lstStyle/>
                    <a:p>
                      <a:r>
                        <a:rPr sz="1100" b="0">
                          <a:solidFill>
                            <a:srgbClr val="282828"/>
                          </a:solidFill>
                          <a:latin typeface="Arial"/>
                        </a:rPr>
                        <a:t>&lt; 1.5–2.0 pixels</a:t>
                      </a:r>
                    </a:p>
                  </a:txBody>
                  <a:tcPr marL="54864" marR="54864" marT="18288" marB="18288">
                    <a:solidFill>
                      <a:srgbClr val="ECF1F6"/>
                    </a:solidFill>
                  </a:tcPr>
                </a:tc>
              </a:tr>
              <a:tr h="280035">
                <a:tc>
                  <a:txBody>
                    <a:bodyPr wrap="square"/>
                    <a:lstStyle/>
                    <a:p>
                      <a:r>
                        <a:rPr sz="1100" b="0">
                          <a:solidFill>
                            <a:srgbClr val="282828"/>
                          </a:solidFill>
                          <a:latin typeface="Arial"/>
                        </a:rPr>
                        <a:t>CRF FWHM</a:t>
                      </a:r>
                    </a:p>
                  </a:txBody>
                  <a:tcPr marL="54864" marR="54864" marT="18288" marB="18288">
                    <a:solidFill>
                      <a:srgbClr val="FFFFFF"/>
                    </a:solidFill>
                  </a:tcPr>
                </a:tc>
                <a:tc>
                  <a:txBody>
                    <a:bodyPr wrap="square"/>
                    <a:lstStyle/>
                    <a:p>
                      <a:r>
                        <a:rPr sz="1100" b="0">
                          <a:solidFill>
                            <a:srgbClr val="282828"/>
                          </a:solidFill>
                          <a:latin typeface="Arial"/>
                        </a:rPr>
                        <a:t>&lt; 1.5 pixels</a:t>
                      </a:r>
                    </a:p>
                  </a:txBody>
                  <a:tcPr marL="54864" marR="54864" marT="18288" marB="18288">
                    <a:solidFill>
                      <a:srgbClr val="FFFFFF"/>
                    </a:solidFill>
                  </a:tcPr>
                </a:tc>
              </a:tr>
              <a:tr h="468630">
                <a:tc>
                  <a:txBody>
                    <a:bodyPr wrap="square"/>
                    <a:lstStyle/>
                    <a:p>
                      <a:r>
                        <a:rPr sz="1100" b="0">
                          <a:solidFill>
                            <a:srgbClr val="282828"/>
                          </a:solidFill>
                          <a:latin typeface="Arial"/>
                        </a:rPr>
                        <a:t>radiometric chain</a:t>
                      </a:r>
                    </a:p>
                  </a:txBody>
                  <a:tcPr marL="54864" marR="54864" marT="18288" marB="18288">
                    <a:solidFill>
                      <a:srgbClr val="ECF1F6"/>
                    </a:solidFill>
                  </a:tcPr>
                </a:tc>
                <a:tc>
                  <a:txBody>
                    <a:bodyPr wrap="square"/>
                    <a:lstStyle/>
                    <a:p>
                      <a:r>
                        <a:rPr sz="1100" b="0">
                          <a:solidFill>
                            <a:srgbClr val="282828"/>
                          </a:solidFill>
                          <a:latin typeface="Arial"/>
                        </a:rPr>
                        <a:t>throughput, grating efficiency, QE, slit loss vs wavelength</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Smile: centroid drift along the slit at fixed wavelength; keystone: drift across wavelength at fixed slit position; both in pixels from ray centroids.</a:t>
            </a:r>
          </a:p>
          <a:p>
            <a:pPr>
              <a:spcAft>
                <a:spcPts val="600"/>
              </a:spcAft>
            </a:pPr>
            <a:r>
              <a:rPr sz="1200" b="0">
                <a:solidFill>
                  <a:srgbClr val="282828"/>
                </a:solidFill>
                <a:latin typeface="Arial"/>
              </a:rPr>
              <a:t>•  SRF, CRF: slit ⊗ line-spread function ⊗ pixel ⊗ Airy, FWHM in pixels (Mouroulis &amp; Green 2018 definitions); the Airy diameter at 2500 nm is 11 µm, under the 18 µm pixel, so the incoherent chain is valid.</a:t>
            </a:r>
          </a:p>
          <a:p>
            <a:pPr>
              <a:spcAft>
                <a:spcPts val="600"/>
              </a:spcAft>
            </a:pPr>
            <a:r>
              <a:rPr sz="1200" b="0">
                <a:solidFill>
                  <a:srgbClr val="282828"/>
                </a:solidFill>
                <a:latin typeface="Arial"/>
              </a:rPr>
              <a:t>•  Design rules adopted from the literature: distortion to ~1 % of a pixel at design, &gt; 75 % of the energy in one pixel, degraded spots accepted for uniformity, the grating is the stop.</a:t>
            </a:r>
          </a:p>
          <a:p>
            <a:pPr>
              <a:spcAft>
                <a:spcPts val="600"/>
              </a:spcAft>
            </a:pPr>
            <a:r>
              <a:rPr sz="1200" b="0">
                <a:solidFill>
                  <a:srgbClr val="282828"/>
                </a:solidFill>
                <a:latin typeface="Arial"/>
              </a:rPr>
              <a:t>•  Realism (Jim): as-built SRF is 2.5–3 pixels, slits are 2 pixels wide, the systems are photon-limited; smile and keystone drive the design.</a:t>
            </a:r>
          </a:p>
        </p:txBody>
      </p:sp>
      <p:sp>
        <p:nvSpPr>
          <p:cNvPr id="6" name="TextBox 5"/>
          <p:cNvSpPr txBox="1"/>
          <p:nvPr/>
        </p:nvSpPr>
        <p:spPr>
          <a:xfrm>
            <a:off x="6400800" y="4075175"/>
            <a:ext cx="5394960" cy="274320"/>
          </a:xfrm>
          <a:prstGeom prst="rect">
            <a:avLst/>
          </a:prstGeom>
          <a:noFill/>
        </p:spPr>
        <p:txBody>
          <a:bodyPr wrap="square">
            <a:spAutoFit/>
          </a:bodyPr>
          <a:lstStyle/>
          <a:p>
            <a:pPr>
              <a:spcAft>
                <a:spcPts val="600"/>
              </a:spcAft>
            </a:pPr>
            <a:r>
              <a:rPr sz="1050" b="0">
                <a:solidFill>
                  <a:srgbClr val="6E6E6E"/>
                </a:solidFill>
                <a:latin typeface="Arial"/>
              </a:rPr>
              <a:t>The 54 mm slit is 2.3× EMIT's; Table 3 of the review places this spec in the ALIS class (3200 spatial pixels, 380–2500 nm).  Public comparison point: Carbon-I (arXiv:2505.22545), F/2.2, 2040–2380 nm.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two methods, and the words used here</a:t>
            </a:r>
          </a:p>
          <a:p>
            <a:pPr>
              <a:spcAft>
                <a:spcPts val="0"/>
              </a:spcAft>
            </a:pPr>
            <a:r>
              <a:rPr sz="1250" b="0">
                <a:solidFill>
                  <a:srgbClr val="6E6E6E"/>
                </a:solidFill>
                <a:latin typeface="Arial"/>
              </a:rPr>
              <a:t>Ray tracing scores the design; wave propagation checks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Ray tracing (MACOS, "the engine"): rays leave a point on the slit at one wavelength, refract through the block and meniscus, diffract at the grating into the design order, and land on the detector.  The centroid of the landed rays per slit position and wavelength gives the field-angle and wavelength maps; their drift gives smile and keystone; the spread of the rays, convolved with the slit width and the pixel, gives the response functions.</a:t>
            </a:r>
          </a:p>
          <a:p>
            <a:pPr>
              <a:spcAft>
                <a:spcPts val="600"/>
              </a:spcAft>
            </a:pPr>
            <a:r>
              <a:rPr sz="1200" b="0">
                <a:solidFill>
                  <a:srgbClr val="282828"/>
                </a:solidFill>
                <a:latin typeface="Arial"/>
              </a:rPr>
              <a:t>•  Wave propagation (the "twin"): the same prescription, but the light is carried as a complex wavefront.  The ray trace sets the phase on a reference sphere before the detector; a Fourier transform propagates it to the detector plane and gives the point-spread function with diffraction.  From it: the centroid again (checked against the rays), ensquared energy with diffraction, the response functions with diffraction.</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chain: the geometric solver, in MATLAB, that lays out each form from its design conditions, solves the chief ray, the groove period and the focus by exact 3-D ray trace, and writes the prescription the engine traces.  Engine and chain are checked against each other ray by ray.</a:t>
            </a:r>
          </a:p>
          <a:p>
            <a:pPr>
              <a:spcAft>
                <a:spcPts val="600"/>
              </a:spcAft>
            </a:pPr>
            <a:r>
              <a:rPr sz="1200" b="0">
                <a:solidFill>
                  <a:srgbClr val="282828"/>
                </a:solidFill>
                <a:latin typeface="Arial"/>
              </a:rPr>
              <a:t>•  The ladder, steps R0–R4: the sequence of design freedoms added one at a time, each step re-solved and re-scored.  Seed: the starting concentric design.  Operand: a quantity the solver drives to a target.  Trade: the one table that compares the steps.</a:t>
            </a:r>
          </a:p>
          <a:p>
            <a:pPr>
              <a:spcAft>
                <a:spcPts val="600"/>
              </a:spcAft>
            </a:pPr>
            <a:r>
              <a:rPr sz="1200" b="0">
                <a:solidFill>
                  <a:srgbClr val="282828"/>
                </a:solidFill>
                <a:latin typeface="Arial"/>
              </a:rPr>
              <a:t>•  Ensquared energy: the fraction of a point image's energy inside one 18 µm pixel.  SRF, CRF: spectral and cross-track response functions, the instrument's line shape in the two directions, quoted as FWHM in pixels.</a:t>
            </a:r>
          </a:p>
        </p:txBody>
      </p:sp>
      <p:sp>
        <p:nvSpPr>
          <p:cNvPr id="6" name="TextBox 5"/>
          <p:cNvSpPr txBox="1"/>
          <p:nvPr/>
        </p:nvSpPr>
        <p:spPr>
          <a:xfrm>
            <a:off x="6400800" y="4331208"/>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in the deck is a committed runner output; records are listed in Backup.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Dyson as traced by the engine</a:t>
            </a:r>
          </a:p>
          <a:p>
            <a:pPr>
              <a:spcAft>
                <a:spcPts val="0"/>
              </a:spcAft>
            </a:pPr>
            <a:r>
              <a:rPr sz="1250" b="0">
                <a:solidFill>
                  <a:srgbClr val="6E6E6E"/>
                </a:solidFill>
                <a:latin typeface="Arial"/>
              </a:rPr>
              <a:t>The concentric seed with every aperture declared: the beams clear every body; the grating is 270 mm wide on a 0.70 m radius and the slit sits 18 mm from the band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prescription: challenges/dyson5/dyson5_s1_dyson.in; bodies, rays and labels are read back from the engine.  Radii are |R|; apertures are the declared circular radii (footprint plus 5 mm); z along the axis from the block's face.</a:t>
            </a:r>
          </a:p>
        </p:txBody>
      </p:sp>
      <p:graphicFrame>
        <p:nvGraphicFramePr>
          <p:cNvPr id="5" name="Table 4"/>
          <p:cNvGraphicFramePr>
            <a:graphicFrameLocks noGrp="1"/>
          </p:cNvGraphicFramePr>
          <p:nvPr/>
        </p:nvGraphicFramePr>
        <p:xfrm>
          <a:off x="411480" y="2267712"/>
          <a:ext cx="5806437" cy="2806065"/>
        </p:xfrm>
        <a:graphic>
          <a:graphicData uri="http://schemas.openxmlformats.org/drawingml/2006/table">
            <a:tbl>
              <a:tblPr firstRow="1" bandRow="1">
                <a:tableStyleId>{5C22544A-7EE6-4342-B048-85BDC9FD1C3A}</a:tableStyleId>
              </a:tblPr>
              <a:tblGrid>
                <a:gridCol w="69957"/>
                <a:gridCol w="979399"/>
                <a:gridCol w="699571"/>
                <a:gridCol w="489699"/>
                <a:gridCol w="909442"/>
                <a:gridCol w="349785"/>
                <a:gridCol w="1399142"/>
                <a:gridCol w="909442"/>
              </a:tblGrid>
              <a:tr h="468630">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element</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radius R (mm)</a:t>
                      </a:r>
                    </a:p>
                  </a:txBody>
                  <a:tcPr marL="54864" marR="54864" marT="18288" marB="18288">
                    <a:solidFill>
                      <a:srgbClr val="1F4E79"/>
                    </a:solidFill>
                  </a:tcPr>
                </a:tc>
                <a:tc>
                  <a:txBody>
                    <a:bodyPr wrap="square"/>
                    <a:lstStyle/>
                    <a:p>
                      <a:r>
                        <a:rPr sz="1100" b="1">
                          <a:solidFill>
                            <a:srgbClr val="FFFFFF"/>
                          </a:solidFill>
                          <a:latin typeface="Arial"/>
                        </a:rPr>
                        <a:t>conic</a:t>
                      </a:r>
                    </a:p>
                  </a:txBody>
                  <a:tcPr marL="54864" marR="54864" marT="18288" marB="18288">
                    <a:solidFill>
                      <a:srgbClr val="1F4E79"/>
                    </a:solidFill>
                  </a:tcPr>
                </a:tc>
                <a:tc>
                  <a:txBody>
                    <a:bodyPr wrap="square"/>
                    <a:lstStyle/>
                    <a:p>
                      <a:r>
                        <a:rPr sz="1100" b="1">
                          <a:solidFill>
                            <a:srgbClr val="FFFFFF"/>
                          </a:solidFill>
                          <a:latin typeface="Arial"/>
                        </a:rPr>
                        <a:t>aperture radius (mm)</a:t>
                      </a:r>
                    </a:p>
                  </a:txBody>
                  <a:tcPr marL="54864" marR="54864" marT="18288" marB="18288">
                    <a:solidFill>
                      <a:srgbClr val="1F4E79"/>
                    </a:solidFill>
                  </a:tcPr>
                </a:tc>
                <a:tc>
                  <a:txBody>
                    <a:bodyPr wrap="square"/>
                    <a:lstStyle/>
                    <a:p>
                      <a:r>
                        <a:rPr sz="1100" b="1">
                          <a:solidFill>
                            <a:srgbClr val="FFFFFF"/>
                          </a:solidFill>
                          <a:latin typeface="Arial"/>
                        </a:rPr>
                        <a:t>vertex 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BlockFaceIn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32.1</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r>
              <a:tr h="468630">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BlockSphereOut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73.2</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708.4</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142.6</a:t>
                      </a:r>
                    </a:p>
                  </a:txBody>
                  <a:tcPr marL="54864" marR="54864" marT="18288" marB="18288">
                    <a:solidFill>
                      <a:srgbClr val="FFFFFF"/>
                    </a:solidFill>
                  </a:tcPr>
                </a:tc>
                <a:tc>
                  <a:txBody>
                    <a:bodyPr wrap="square"/>
                    <a:lstStyle/>
                    <a:p>
                      <a:r>
                        <a:rPr sz="1100" b="0">
                          <a:solidFill>
                            <a:srgbClr val="282828"/>
                          </a:solidFill>
                          <a:latin typeface="Arial"/>
                        </a:rPr>
                        <a:t>708.4</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BlockSphereIn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73.2</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BlockFaceOut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32.4</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r>
              <a:tr h="280035">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PreFPA</a:t>
                      </a:r>
                    </a:p>
                  </a:txBody>
                  <a:tcPr marL="54864" marR="54864" marT="18288" marB="18288">
                    <a:solidFill>
                      <a:srgbClr val="ECF1F6"/>
                    </a:solidFill>
                  </a:tcPr>
                </a:tc>
                <a:tc>
                  <a:txBody>
                    <a:bodyPr wrap="square"/>
                    <a:lstStyle/>
                    <a:p>
                      <a:r>
                        <a:rPr sz="1100" b="0">
                          <a:solidFill>
                            <a:srgbClr val="282828"/>
                          </a:solidFill>
                          <a:latin typeface="Arial"/>
                        </a:rPr>
                        <a:t>Reference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1.3</a:t>
                      </a:r>
                    </a:p>
                  </a:txBody>
                  <a:tcPr marL="54864" marR="54864" marT="18288" marB="18288">
                    <a:solidFill>
                      <a:srgbClr val="ECF1F6"/>
                    </a:solidFill>
                  </a:tcPr>
                </a:tc>
              </a:tr>
              <a:tr h="468630">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FPA</a:t>
                      </a:r>
                    </a:p>
                  </a:txBody>
                  <a:tcPr marL="54864" marR="54864" marT="18288" marB="18288">
                    <a:solidFill>
                      <a:srgbClr val="FFFFFF"/>
                    </a:solidFill>
                  </a:tcPr>
                </a:tc>
                <a:tc>
                  <a:txBody>
                    <a:bodyPr wrap="square"/>
                    <a:lstStyle/>
                    <a:p>
                      <a:r>
                        <a:rPr sz="1100" b="0">
                          <a:solidFill>
                            <a:srgbClr val="282828"/>
                          </a:solidFill>
                          <a:latin typeface="Arial"/>
                        </a:rPr>
                        <a:t>FocalPlane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0.3</a:t>
                      </a:r>
                    </a:p>
                  </a:txBody>
                  <a:tcPr marL="54864" marR="54864" marT="18288" marB="18288">
                    <a:solidFill>
                      <a:srgbClr val="FFFFFF"/>
                    </a:solidFill>
                  </a:tcPr>
                </a:tc>
              </a:tr>
            </a:tbl>
          </a:graphicData>
        </a:graphic>
      </p:graphicFrame>
      <p:pic>
        <p:nvPicPr>
          <p:cNvPr id="6" name="Picture 5" descr="dyson5_s1_dyson_views.png"/>
          <p:cNvPicPr>
            <a:picLocks noChangeAspect="1"/>
          </p:cNvPicPr>
          <p:nvPr/>
        </p:nvPicPr>
        <p:blipFill>
          <a:blip r:embed="rId2"/>
          <a:stretch>
            <a:fillRect/>
          </a:stretch>
        </p:blipFill>
        <p:spPr>
          <a:xfrm>
            <a:off x="6400800" y="1298448"/>
            <a:ext cx="5394960" cy="3632289"/>
          </a:xfrm>
          <a:prstGeom prst="rect">
            <a:avLst/>
          </a:prstGeom>
        </p:spPr>
      </p:pic>
      <p:sp>
        <p:nvSpPr>
          <p:cNvPr id="7" name="TextBox 6"/>
          <p:cNvSpPr txBox="1"/>
          <p:nvPr/>
        </p:nvSpPr>
        <p:spPr>
          <a:xfrm>
            <a:off x="6400800" y="4949025"/>
            <a:ext cx="5394960"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a:t>
            </a:r>
          </a:p>
        </p:txBody>
      </p:sp>
      <p:sp>
        <p:nvSpPr>
          <p:cNvPr id="8" name="TextBox 7"/>
          <p:cNvSpPr txBox="1"/>
          <p:nvPr/>
        </p:nvSpPr>
        <p:spPr>
          <a:xfrm>
            <a:off x="6400800" y="5214709"/>
            <a:ext cx="5394960" cy="274320"/>
          </a:xfrm>
          <a:prstGeom prst="rect">
            <a:avLst/>
          </a:prstGeom>
          <a:noFill/>
        </p:spPr>
        <p:txBody>
          <a:bodyPr wrap="square">
            <a:spAutoFit/>
          </a:bodyPr>
          <a:lstStyle/>
          <a:p>
            <a:pPr>
              <a:spcAft>
                <a:spcPts val="600"/>
              </a:spcAft>
            </a:pPr>
            <a:r>
              <a:rPr sz="1200" b="0">
                <a:solidFill>
                  <a:srgbClr val="282828"/>
                </a:solidFill>
                <a:latin typeface="Arial"/>
              </a:rPr>
              <a:t>•  Clearance: the worst pair is the returning beam against the detector carrier, +1.11 mm with no cold shield; the slit sits at +6 mm and this wavelength lands at −12 mm on the same face.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Offner as traced by the engine</a:t>
            </a:r>
          </a:p>
          <a:p>
            <a:pPr>
              <a:spcAft>
                <a:spcPts val="0"/>
              </a:spcAft>
            </a:pPr>
            <a:r>
              <a:rPr sz="1250" b="0">
                <a:solidFill>
                  <a:srgbClr val="6E6E6E"/>
                </a:solidFill>
                <a:latin typeface="Arial"/>
              </a:rPr>
              <a:t>The all-reflective reference at F/2.8, re-posed at 0.22 R: the two mirror zones with the grating between the beams, clearing its mount by 10.2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prescription: challenges/dyson5/dyson5_s1_offner.in, F/2.8, slit offset 0.22 R; the concave mirror used in two zones (E1, E3) with the convex grating (E2) at the stop; classical corrections: convex radius × 1.0034, second zone × 0.951 with a 0.3 mm offset.</a:t>
            </a:r>
          </a:p>
        </p:txBody>
      </p:sp>
      <p:graphicFrame>
        <p:nvGraphicFramePr>
          <p:cNvPr id="5" name="Table 4"/>
          <p:cNvGraphicFramePr>
            <a:graphicFrameLocks noGrp="1"/>
          </p:cNvGraphicFramePr>
          <p:nvPr/>
        </p:nvGraphicFramePr>
        <p:xfrm>
          <a:off x="411480" y="2267712"/>
          <a:ext cx="5806435" cy="1680210"/>
        </p:xfrm>
        <a:graphic>
          <a:graphicData uri="http://schemas.openxmlformats.org/drawingml/2006/table">
            <a:tbl>
              <a:tblPr firstRow="1" bandRow="1">
                <a:tableStyleId>{5C22544A-7EE6-4342-B048-85BDC9FD1C3A}</a:tableStyleId>
              </a:tblPr>
              <a:tblGrid>
                <a:gridCol w="76400"/>
                <a:gridCol w="534803"/>
                <a:gridCol w="764005"/>
                <a:gridCol w="534803"/>
                <a:gridCol w="993206"/>
                <a:gridCol w="382002"/>
                <a:gridCol w="1528010"/>
                <a:gridCol w="993206"/>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element</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radius R (mm)</a:t>
                      </a:r>
                    </a:p>
                  </a:txBody>
                  <a:tcPr marL="54864" marR="54864" marT="18288" marB="18288">
                    <a:solidFill>
                      <a:srgbClr val="1F4E79"/>
                    </a:solidFill>
                  </a:tcPr>
                </a:tc>
                <a:tc>
                  <a:txBody>
                    <a:bodyPr wrap="square"/>
                    <a:lstStyle/>
                    <a:p>
                      <a:r>
                        <a:rPr sz="1100" b="1">
                          <a:solidFill>
                            <a:srgbClr val="FFFFFF"/>
                          </a:solidFill>
                          <a:latin typeface="Arial"/>
                        </a:rPr>
                        <a:t>conic</a:t>
                      </a:r>
                    </a:p>
                  </a:txBody>
                  <a:tcPr marL="54864" marR="54864" marT="18288" marB="18288">
                    <a:solidFill>
                      <a:srgbClr val="1F4E79"/>
                    </a:solidFill>
                  </a:tcPr>
                </a:tc>
                <a:tc>
                  <a:txBody>
                    <a:bodyPr wrap="square"/>
                    <a:lstStyle/>
                    <a:p>
                      <a:r>
                        <a:rPr sz="1100" b="1">
                          <a:solidFill>
                            <a:srgbClr val="FFFFFF"/>
                          </a:solidFill>
                          <a:latin typeface="Arial"/>
                        </a:rPr>
                        <a:t>aperture radius (mm)</a:t>
                      </a:r>
                    </a:p>
                  </a:txBody>
                  <a:tcPr marL="54864" marR="54864" marT="18288" marB="18288">
                    <a:solidFill>
                      <a:srgbClr val="1F4E79"/>
                    </a:solidFill>
                  </a:tcPr>
                </a:tc>
                <a:tc>
                  <a:txBody>
                    <a:bodyPr wrap="square"/>
                    <a:lstStyle/>
                    <a:p>
                      <a:r>
                        <a:rPr sz="1100" b="1">
                          <a:solidFill>
                            <a:srgbClr val="FFFFFF"/>
                          </a:solidFill>
                          <a:latin typeface="Arial"/>
                        </a:rPr>
                        <a:t>vertex 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M1</a:t>
                      </a:r>
                    </a:p>
                  </a:txBody>
                  <a:tcPr marL="54864" marR="54864" marT="18288" marB="18288">
                    <a:solidFill>
                      <a:srgbClr val="FFFFFF"/>
                    </a:solidFill>
                  </a:tcPr>
                </a:tc>
                <a:tc>
                  <a:txBody>
                    <a:bodyPr wrap="square"/>
                    <a:lstStyle/>
                    <a:p>
                      <a:r>
                        <a:rPr sz="1100" b="0">
                          <a:solidFill>
                            <a:srgbClr val="282828"/>
                          </a:solidFill>
                          <a:latin typeface="Arial"/>
                        </a:rPr>
                        <a:t>Reflector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500.0</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119.3</a:t>
                      </a:r>
                    </a:p>
                  </a:txBody>
                  <a:tcPr marL="54864" marR="54864" marT="18288" marB="18288">
                    <a:solidFill>
                      <a:srgbClr val="FFFFFF"/>
                    </a:solidFill>
                  </a:tcPr>
                </a:tc>
                <a:tc>
                  <a:txBody>
                    <a:bodyPr wrap="square"/>
                    <a:lstStyle/>
                    <a:p>
                      <a:r>
                        <a:rPr sz="1100" b="0">
                          <a:solidFill>
                            <a:srgbClr val="282828"/>
                          </a:solidFill>
                          <a:latin typeface="Arial"/>
                        </a:rPr>
                        <a:t>-486.6</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250.9</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49.9</a:t>
                      </a:r>
                    </a:p>
                  </a:txBody>
                  <a:tcPr marL="54864" marR="54864" marT="18288" marB="18288">
                    <a:solidFill>
                      <a:srgbClr val="ECF1F6"/>
                    </a:solidFill>
                  </a:tcPr>
                </a:tc>
                <a:tc>
                  <a:txBody>
                    <a:bodyPr wrap="square"/>
                    <a:lstStyle/>
                    <a:p>
                      <a:r>
                        <a:rPr sz="1100" b="0">
                          <a:solidFill>
                            <a:srgbClr val="282828"/>
                          </a:solidFill>
                          <a:latin typeface="Arial"/>
                        </a:rPr>
                        <a:t>-250.9</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M3</a:t>
                      </a:r>
                    </a:p>
                  </a:txBody>
                  <a:tcPr marL="54864" marR="54864" marT="18288" marB="18288">
                    <a:solidFill>
                      <a:srgbClr val="FFFFFF"/>
                    </a:solidFill>
                  </a:tcPr>
                </a:tc>
                <a:tc>
                  <a:txBody>
                    <a:bodyPr wrap="square"/>
                    <a:lstStyle/>
                    <a:p>
                      <a:r>
                        <a:rPr sz="1100" b="0">
                          <a:solidFill>
                            <a:srgbClr val="282828"/>
                          </a:solidFill>
                          <a:latin typeface="Arial"/>
                        </a:rPr>
                        <a:t>Reflector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475.5</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113.2</a:t>
                      </a:r>
                    </a:p>
                  </a:txBody>
                  <a:tcPr marL="54864" marR="54864" marT="18288" marB="18288">
                    <a:solidFill>
                      <a:srgbClr val="FFFFFF"/>
                    </a:solidFill>
                  </a:tcPr>
                </a:tc>
                <a:tc>
                  <a:txBody>
                    <a:bodyPr wrap="square"/>
                    <a:lstStyle/>
                    <a:p>
                      <a:r>
                        <a:rPr sz="1100" b="0">
                          <a:solidFill>
                            <a:srgbClr val="282828"/>
                          </a:solidFill>
                          <a:latin typeface="Arial"/>
                        </a:rPr>
                        <a:t>-463.8</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PreFPA</a:t>
                      </a:r>
                    </a:p>
                  </a:txBody>
                  <a:tcPr marL="54864" marR="54864" marT="18288" marB="18288">
                    <a:solidFill>
                      <a:srgbClr val="ECF1F6"/>
                    </a:solidFill>
                  </a:tcPr>
                </a:tc>
                <a:tc>
                  <a:txBody>
                    <a:bodyPr wrap="square"/>
                    <a:lstStyle/>
                    <a:p>
                      <a:r>
                        <a:rPr sz="1100" b="0">
                          <a:solidFill>
                            <a:srgbClr val="282828"/>
                          </a:solidFill>
                          <a:latin typeface="Arial"/>
                        </a:rPr>
                        <a:t>Reference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-0.8</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FPA</a:t>
                      </a:r>
                    </a:p>
                  </a:txBody>
                  <a:tcPr marL="54864" marR="54864" marT="18288" marB="18288">
                    <a:solidFill>
                      <a:srgbClr val="FFFFFF"/>
                    </a:solidFill>
                  </a:tcPr>
                </a:tc>
                <a:tc>
                  <a:txBody>
                    <a:bodyPr wrap="square"/>
                    <a:lstStyle/>
                    <a:p>
                      <a:r>
                        <a:rPr sz="1100" b="0">
                          <a:solidFill>
                            <a:srgbClr val="282828"/>
                          </a:solidFill>
                          <a:latin typeface="Arial"/>
                        </a:rPr>
                        <a:t>FocalPlane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0.2</a:t>
                      </a:r>
                    </a:p>
                  </a:txBody>
                  <a:tcPr marL="54864" marR="54864" marT="18288" marB="18288">
                    <a:solidFill>
                      <a:srgbClr val="FFFFFF"/>
                    </a:solidFill>
                  </a:tcPr>
                </a:tc>
              </a:tr>
            </a:tbl>
          </a:graphicData>
        </a:graphic>
      </p:graphicFrame>
      <p:pic>
        <p:nvPicPr>
          <p:cNvPr id="6" name="Picture 5" descr="dyson5_s1_offner_views.png"/>
          <p:cNvPicPr>
            <a:picLocks noChangeAspect="1"/>
          </p:cNvPicPr>
          <p:nvPr/>
        </p:nvPicPr>
        <p:blipFill>
          <a:blip r:embed="rId2"/>
          <a:stretch>
            <a:fillRect/>
          </a:stretch>
        </p:blipFill>
        <p:spPr>
          <a:xfrm>
            <a:off x="6400800" y="1298448"/>
            <a:ext cx="5394960" cy="3938836"/>
          </a:xfrm>
          <a:prstGeom prst="rect">
            <a:avLst/>
          </a:prstGeom>
        </p:spPr>
      </p:pic>
      <p:sp>
        <p:nvSpPr>
          <p:cNvPr id="7" name="TextBox 6"/>
          <p:cNvSpPr txBox="1"/>
          <p:nvPr/>
        </p:nvSpPr>
        <p:spPr>
          <a:xfrm>
            <a:off x="6400800" y="5255572"/>
            <a:ext cx="5394960"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a:t>
            </a:r>
          </a:p>
        </p:txBody>
      </p:sp>
      <p:sp>
        <p:nvSpPr>
          <p:cNvPr id="8" name="TextBox 7"/>
          <p:cNvSpPr txBox="1"/>
          <p:nvPr/>
        </p:nvSpPr>
        <p:spPr>
          <a:xfrm>
            <a:off x="6400800" y="5521256"/>
            <a:ext cx="5394960" cy="274320"/>
          </a:xfrm>
          <a:prstGeom prst="rect">
            <a:avLst/>
          </a:prstGeom>
          <a:noFill/>
        </p:spPr>
        <p:txBody>
          <a:bodyPr wrap="square">
            <a:spAutoFit/>
          </a:bodyPr>
          <a:lstStyle/>
          <a:p>
            <a:pPr>
              <a:spcAft>
                <a:spcPts val="600"/>
              </a:spcAft>
            </a:pPr>
            <a:r>
              <a:rPr sz="1200" b="0">
                <a:solidFill>
                  <a:srgbClr val="282828"/>
                </a:solidFill>
                <a:latin typeface="Arial"/>
              </a:rPr>
              <a:t>•  As corrected: keystone 0.028 px, CRF 1.20 px, SRF 3.69 px, 23 % of the energy in one pixel; the beams clear the grating's mount by 10.2 mm.  It is the reference form and the ground where the propagation twin is validated (order 0: pupil OPD 8e-11 m, 85 % in one pixel).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concentric Dyson and its scaling law</a:t>
            </a:r>
          </a:p>
          <a:p>
            <a:pPr>
              <a:spcAft>
                <a:spcPts val="0"/>
              </a:spcAft>
            </a:pPr>
            <a:r>
              <a:rPr sz="1250" b="0">
                <a:solidFill>
                  <a:srgbClr val="6E6E6E"/>
                </a:solidFill>
                <a:latin typeface="Arial"/>
              </a:rPr>
              <a:t>The classical condition verified by exact trace; at this slit the concentric block needs r ≥ 213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Dyson condition R_g = n·r / (n − 1) is the blur minimum by exact 3-D trace: 0.67 µm at the condition against 4–5 µm at ±5 %, image at −h, residual fifth order (h⁴·¹⁷, r⁻³·¹⁹).</a:t>
            </a:r>
          </a:p>
          <a:p>
            <a:pPr>
              <a:spcAft>
                <a:spcPts val="600"/>
              </a:spcAft>
            </a:pPr>
            <a:r>
              <a:rPr sz="1500" b="0">
                <a:solidFill>
                  <a:srgbClr val="282828"/>
                </a:solidFill>
                <a:latin typeface="Arial"/>
              </a:rPr>
              <a:t>•  The scaling answer, before any element was added: a single concentric block meets a quarter-pixel corner blur only at r ≥ 213 mm, about twice flight scale, which is why the flight forms add an asphere, a meniscus or an air gap.</a:t>
            </a:r>
          </a:p>
        </p:txBody>
      </p:sp>
      <p:pic>
        <p:nvPicPr>
          <p:cNvPr id="5" name="Picture 4" descr="dyson5_s0_scaling.png"/>
          <p:cNvPicPr>
            <a:picLocks noChangeAspect="1"/>
          </p:cNvPicPr>
          <p:nvPr/>
        </p:nvPicPr>
        <p:blipFill>
          <a:blip r:embed="rId2"/>
          <a:stretch>
            <a:fillRect/>
          </a:stretch>
        </p:blipFill>
        <p:spPr>
          <a:xfrm>
            <a:off x="3283835" y="2606039"/>
            <a:ext cx="5624023" cy="3693160"/>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Rms blur at the slit corner (h = 28.2 mm) of a concentric silica Dyson at F/1.8 versus block radius, exact trace at order 0: blur ∝ r⁻³·¹⁹; the quarter-pixel budget is met at r = 213 mm (grating radius 687 mm).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exact chain and the engine agree</a:t>
            </a:r>
          </a:p>
          <a:p>
            <a:pPr>
              <a:spcAft>
                <a:spcPts val="0"/>
              </a:spcAft>
            </a:pPr>
            <a:r>
              <a:rPr sz="1250" b="0">
                <a:solidFill>
                  <a:srgbClr val="6E6E6E"/>
                </a:solidFill>
                <a:latin typeface="Arial"/>
              </a:rPr>
              <a:t>Every engine ray re-traced by the chain from the engine's own launch directions lands within 1e-9 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check: the engine's chief ray and every ray of its grid are re-traced through the chain's surfaces from the engine's launch directions; agreement is per ray, every surface, 1e-9 m; the dispersed band spans the focal plane to 1 %.</a:t>
            </a:r>
          </a:p>
          <a:p>
            <a:pPr>
              <a:spcAft>
                <a:spcPts val="600"/>
              </a:spcAft>
            </a:pPr>
            <a:r>
              <a:rPr sz="1200" b="0">
                <a:solidFill>
                  <a:srgbClr val="282828"/>
                </a:solidFill>
                <a:latin typeface="Arial"/>
              </a:rPr>
              <a:t>•  With the aspheric block face (ladder step R2): agreement 1e-12 m per ray; a sphere-only chain misses by 0.26 mm, so the check is not vacuous.</a:t>
            </a:r>
          </a:p>
          <a:p>
            <a:pPr>
              <a:spcAft>
                <a:spcPts val="600"/>
              </a:spcAft>
            </a:pPr>
            <a:r>
              <a:rPr sz="1200" b="0">
                <a:solidFill>
                  <a:srgbClr val="282828"/>
                </a:solidFill>
                <a:latin typeface="Arial"/>
              </a:rPr>
              <a:t>•  The physical-optics twin: a far-field terminal on a reference sphere upstream of the focal plane, re-posed per slit position and wavelength; on the Offner at order 0 the pupil OPD is 8e-11 m and the Airy spot puts 94 % of its energy in one 18 µm pixel.</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What the checks found in the engine, now fixed (details in Backup): glass names were ignored at load; propagation inside glass used the vacuum wavelength; the grating groove period was held constant along the curved surface instead of along the chord; the grating's path-length jump had the matching defect.  Each has a regression test written from the physics, not from the engine.</a:t>
            </a:r>
          </a:p>
        </p:txBody>
      </p:sp>
      <p:sp>
        <p:nvSpPr>
          <p:cNvPr id="6" name="TextBox 5"/>
          <p:cNvSpPr txBox="1"/>
          <p:nvPr/>
        </p:nvSpPr>
        <p:spPr>
          <a:xfrm>
            <a:off x="6400800" y="2663952"/>
            <a:ext cx="5394960" cy="274320"/>
          </a:xfrm>
          <a:prstGeom prst="rect">
            <a:avLst/>
          </a:prstGeom>
          <a:noFill/>
        </p:spPr>
        <p:txBody>
          <a:bodyPr wrap="square">
            <a:spAutoFit/>
          </a:bodyPr>
          <a:lstStyle/>
          <a:p>
            <a:pPr>
              <a:spcAft>
                <a:spcPts val="600"/>
              </a:spcAft>
            </a:pPr>
            <a:r>
              <a:rPr sz="1050" b="0">
                <a:solidFill>
                  <a:srgbClr val="6E6E6E"/>
                </a:solidFill>
                <a:latin typeface="Arial"/>
              </a:rPr>
              <a:t>Regression tests: tSpectrometerRx (3), tGratingOpl (2), tGratingImmersed (4), tGlassDispersion (3), tPropMedium (3); mmacos fast suite 501 pass, 0 fail (2026-10-01).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seed, scored</a:t>
            </a:r>
          </a:p>
          <a:p>
            <a:pPr>
              <a:spcAft>
                <a:spcPts val="0"/>
              </a:spcAft>
            </a:pPr>
            <a:r>
              <a:rPr sz="1250" b="0">
                <a:solidFill>
                  <a:srgbClr val="6E6E6E"/>
                </a:solidFill>
                <a:latin typeface="Arial"/>
              </a:rPr>
              <a:t>The concentric seed at a 220 mm block meets smile; keystone and the corner blur are the work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Smile is met at the seed (below 0.01 pixel on both forms); the field-angle map is linear along the slit as designed.</a:t>
            </a:r>
          </a:p>
          <a:p>
            <a:pPr>
              <a:spcAft>
                <a:spcPts val="600"/>
              </a:spcAft>
            </a:pPr>
            <a:r>
              <a:rPr sz="1500" b="0">
                <a:solidFill>
                  <a:srgbClr val="282828"/>
                </a:solidFill>
                <a:latin typeface="Arial"/>
              </a:rPr>
              <a:t>•  SRF sits at 2.02 pixels on both forms, the floor set by the 2-pixel slit; re-scored on the engine after the grating fixes (the earlier ramp with wavelength was the groove-period defect, not the design).</a:t>
            </a:r>
          </a:p>
        </p:txBody>
      </p:sp>
      <p:pic>
        <p:nvPicPr>
          <p:cNvPr id="5" name="Picture 4" descr="dyson5_s2_maps_rc.png"/>
          <p:cNvPicPr>
            <a:picLocks noChangeAspect="1"/>
          </p:cNvPicPr>
          <p:nvPr/>
        </p:nvPicPr>
        <p:blipFill>
          <a:blip r:embed="rId2"/>
          <a:stretch>
            <a:fillRect/>
          </a:stretch>
        </p:blipFill>
        <p:spPr>
          <a:xfrm>
            <a:off x="3084371" y="2358390"/>
            <a:ext cx="6022953" cy="3940810"/>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Scorer maps for the two seeds at 220 mm (rows: Dyson, Offner): field-angle map, smile (pixels), SRF FWHM (pixels), ensquared energy in one pixel, versus slit position and wavelength.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departure ladder</a:t>
            </a:r>
          </a:p>
          <a:p>
            <a:pPr>
              <a:spcAft>
                <a:spcPts val="0"/>
              </a:spcAft>
            </a:pPr>
            <a:r>
              <a:rPr sz="1250" b="0">
                <a:solidFill>
                  <a:srgbClr val="6E6E6E"/>
                </a:solidFill>
                <a:latin typeface="Arial"/>
              </a:rPr>
              <a:t>Each step solved on the exact chain with pixel-unit smile and keystone in the merit from the first pass, then emitted and scored in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ladder.png"/>
          <p:cNvPicPr>
            <a:picLocks noChangeAspect="1"/>
          </p:cNvPicPr>
          <p:nvPr/>
        </p:nvPicPr>
        <p:blipFill>
          <a:blip r:embed="rId2"/>
          <a:stretch>
            <a:fillRect/>
          </a:stretch>
        </p:blipFill>
        <p:spPr>
          <a:xfrm>
            <a:off x="411480" y="1298448"/>
            <a:ext cx="11368735" cy="4545070"/>
          </a:xfrm>
          <a:prstGeom prst="rect">
            <a:avLst/>
          </a:prstGeom>
        </p:spPr>
      </p:pic>
      <p:sp>
        <p:nvSpPr>
          <p:cNvPr id="5" name="TextBox 4"/>
          <p:cNvSpPr txBox="1"/>
          <p:nvPr/>
        </p:nvSpPr>
        <p:spPr>
          <a:xfrm>
            <a:off x="411480" y="5861806"/>
            <a:ext cx="11368735" cy="394208"/>
          </a:xfrm>
          <a:prstGeom prst="rect">
            <a:avLst/>
          </a:prstGeom>
          <a:noFill/>
        </p:spPr>
        <p:txBody>
          <a:bodyPr wrap="square">
            <a:spAutoFit/>
          </a:bodyPr>
          <a:lstStyle/>
          <a:p>
            <a:pPr algn="ctr">
              <a:spcAft>
                <a:spcPts val="0"/>
              </a:spcAft>
            </a:pPr>
            <a:r>
              <a:rPr sz="1000" b="0">
                <a:solidFill>
                  <a:srgbClr val="6E6E6E"/>
                </a:solidFill>
                <a:latin typeface="Arial"/>
              </a:rPr>
              <a:t>Engine-scored maxima per ladder step at the seed's 220 mm block (left: smile, keystone, CRF FWHM in pixels; right: minimum ensquared energy in one pixel against the 0.75 design rule).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departure ladder, by the numbers</a:t>
            </a:r>
          </a:p>
          <a:p>
            <a:pPr>
              <a:spcAft>
                <a:spcPts val="0"/>
              </a:spcAft>
            </a:pPr>
            <a:r>
              <a:rPr sz="1250" b="0">
                <a:solidFill>
                  <a:srgbClr val="6E6E6E"/>
                </a:solidFill>
                <a:latin typeface="Arial"/>
              </a:rPr>
              <a:t>Keystone falls 37-fold at fixed scale; the meniscus pays only with the block offset and grating radius moving with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1" cy="2806065"/>
        </p:xfrm>
        <a:graphic>
          <a:graphicData uri="http://schemas.openxmlformats.org/drawingml/2006/table">
            <a:tbl>
              <a:tblPr firstRow="1" bandRow="1">
                <a:tableStyleId>{5C22544A-7EE6-4342-B048-85BDC9FD1C3A}</a:tableStyleId>
              </a:tblPr>
              <a:tblGrid>
                <a:gridCol w="724123"/>
                <a:gridCol w="3910265"/>
                <a:gridCol w="941360"/>
                <a:gridCol w="724123"/>
                <a:gridCol w="941360"/>
                <a:gridCol w="1086184"/>
                <a:gridCol w="796535"/>
                <a:gridCol w="1593071"/>
                <a:gridCol w="651710"/>
              </a:tblGrid>
              <a:tr h="468630">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 moves</a:t>
                      </a:r>
                    </a:p>
                  </a:txBody>
                  <a:tcPr marL="54864" marR="54864" marT="18288" marB="18288">
                    <a:solidFill>
                      <a:srgbClr val="1F4E79"/>
                    </a:solidFill>
                  </a:tcPr>
                </a:tc>
                <a:tc>
                  <a:txBody>
                    <a:bodyPr wrap="square"/>
                    <a:lstStyle/>
                    <a:p>
                      <a:r>
                        <a:rPr sz="1100" b="1">
                          <a:solidFill>
                            <a:srgbClr val="FFFFFF"/>
                          </a:solidFill>
                          <a:latin typeface="Arial"/>
                        </a:rPr>
                        <a:t>keystone (px)</a:t>
                      </a:r>
                    </a:p>
                  </a:txBody>
                  <a:tcPr marL="54864" marR="54864" marT="18288" marB="18288">
                    <a:solidFill>
                      <a:srgbClr val="1F4E79"/>
                    </a:solidFill>
                  </a:tcPr>
                </a:tc>
                <a:tc>
                  <a:txBody>
                    <a:bodyPr wrap="square"/>
                    <a:lstStyle/>
                    <a:p>
                      <a:r>
                        <a:rPr sz="1100" b="1">
                          <a:solidFill>
                            <a:srgbClr val="FFFFFF"/>
                          </a:solidFill>
                          <a:latin typeface="Arial"/>
                        </a:rPr>
                        <a:t>smile (px)</a:t>
                      </a:r>
                    </a:p>
                  </a:txBody>
                  <a:tcPr marL="54864" marR="54864" marT="18288" marB="18288">
                    <a:solidFill>
                      <a:srgbClr val="1F4E79"/>
                    </a:solidFill>
                  </a:tcPr>
                </a:tc>
                <a:tc>
                  <a:txBody>
                    <a:bodyPr wrap="square"/>
                    <a:lstStyle/>
                    <a:p>
                      <a:r>
                        <a:rPr sz="1100" b="1">
                          <a:solidFill>
                            <a:srgbClr val="FFFFFF"/>
                          </a:solidFill>
                          <a:latin typeface="Arial"/>
                        </a:rPr>
                        <a:t>CRF FWHM (px)</a:t>
                      </a:r>
                    </a:p>
                  </a:txBody>
                  <a:tcPr marL="54864" marR="54864" marT="18288" marB="18288">
                    <a:solidFill>
                      <a:srgbClr val="1F4E79"/>
                    </a:solidFill>
                  </a:tcPr>
                </a:tc>
                <a:tc>
                  <a:txBody>
                    <a:bodyPr wrap="square"/>
                    <a:lstStyle/>
                    <a:p>
                      <a:r>
                        <a:rPr sz="1100" b="1">
                          <a:solidFill>
                            <a:srgbClr val="FFFFFF"/>
                          </a:solidFill>
                          <a:latin typeface="Arial"/>
                        </a:rPr>
                        <a:t>ensquared, 1 px</a:t>
                      </a:r>
                    </a:p>
                  </a:txBody>
                  <a:tcPr marL="54864" marR="54864" marT="18288" marB="18288">
                    <a:solidFill>
                      <a:srgbClr val="1F4E79"/>
                    </a:solidFill>
                  </a:tcPr>
                </a:tc>
                <a:tc>
                  <a:txBody>
                    <a:bodyPr wrap="square"/>
                    <a:lstStyle/>
                    <a:p>
                      <a:r>
                        <a:rPr sz="1100" b="1">
                          <a:solidFill>
                            <a:srgbClr val="FFFFFF"/>
                          </a:solidFill>
                          <a:latin typeface="Arial"/>
                        </a:rPr>
                        <a:t>length (mm)</a:t>
                      </a:r>
                    </a:p>
                  </a:txBody>
                  <a:tcPr marL="54864" marR="54864" marT="18288" marB="18288">
                    <a:solidFill>
                      <a:srgbClr val="1F4E79"/>
                    </a:solidFill>
                  </a:tcPr>
                </a:tc>
                <a:tc>
                  <a:txBody>
                    <a:bodyPr wrap="square"/>
                    <a:lstStyle/>
                    <a:p>
                      <a:r>
                        <a:rPr sz="1100" b="1">
                          <a:solidFill>
                            <a:srgbClr val="FFFFFF"/>
                          </a:solidFill>
                          <a:latin typeface="Arial"/>
                        </a:rPr>
                        <a:t>grating footprint (mm)</a:t>
                      </a:r>
                    </a:p>
                  </a:txBody>
                  <a:tcPr marL="54864" marR="54864" marT="18288" marB="18288">
                    <a:solidFill>
                      <a:srgbClr val="1F4E79"/>
                    </a:solidFill>
                  </a:tcPr>
                </a:tc>
                <a:tc>
                  <a:txBody>
                    <a:bodyPr wrap="square"/>
                    <a:lstStyle/>
                    <a:p>
                      <a:r>
                        <a:rPr sz="1100" b="1">
                          <a:solidFill>
                            <a:srgbClr val="FFFFFF"/>
                          </a:solidFill>
                          <a:latin typeface="Arial"/>
                        </a:rPr>
                        <a:t>glass (L)</a:t>
                      </a:r>
                    </a:p>
                  </a:txBody>
                  <a:tcPr marL="54864" marR="54864" marT="18288" marB="18288">
                    <a:solidFill>
                      <a:srgbClr val="1F4E79"/>
                    </a:solidFill>
                  </a:tcPr>
                </a:tc>
              </a:tr>
              <a:tr h="280035">
                <a:tc>
                  <a:txBody>
                    <a:bodyPr wrap="square"/>
                    <a:lstStyle/>
                    <a:p>
                      <a:r>
                        <a:rPr sz="1100" b="0">
                          <a:solidFill>
                            <a:srgbClr val="282828"/>
                          </a:solidFill>
                          <a:latin typeface="Arial"/>
                        </a:rPr>
                        <a:t>R0</a:t>
                      </a:r>
                    </a:p>
                  </a:txBody>
                  <a:tcPr marL="54864" marR="54864" marT="18288" marB="18288">
                    <a:solidFill>
                      <a:srgbClr val="FFFFFF"/>
                    </a:solidFill>
                  </a:tcPr>
                </a:tc>
                <a:tc>
                  <a:txBody>
                    <a:bodyPr wrap="square"/>
                    <a:lstStyle/>
                    <a:p>
                      <a:r>
                        <a:rPr sz="1100" b="0">
                          <a:solidFill>
                            <a:srgbClr val="282828"/>
                          </a:solidFill>
                          <a:latin typeface="Arial"/>
                        </a:rPr>
                        <a:t>concentric seed</a:t>
                      </a:r>
                    </a:p>
                  </a:txBody>
                  <a:tcPr marL="54864" marR="54864" marT="18288" marB="18288">
                    <a:solidFill>
                      <a:srgbClr val="FFFFFF"/>
                    </a:solidFill>
                  </a:tcPr>
                </a:tc>
                <a:tc>
                  <a:txBody>
                    <a:bodyPr wrap="square"/>
                    <a:lstStyle/>
                    <a:p>
                      <a:r>
                        <a:rPr sz="1100" b="0">
                          <a:solidFill>
                            <a:srgbClr val="282828"/>
                          </a:solidFill>
                          <a:latin typeface="Arial"/>
                        </a:rPr>
                        <a:t>0.095</a:t>
                      </a:r>
                    </a:p>
                  </a:txBody>
                  <a:tcPr marL="54864" marR="54864" marT="18288" marB="18288">
                    <a:solidFill>
                      <a:srgbClr val="FFFFFF"/>
                    </a:solidFill>
                  </a:tcPr>
                </a:tc>
                <a:tc>
                  <a:txBody>
                    <a:bodyPr wrap="square"/>
                    <a:lstStyle/>
                    <a:p>
                      <a:r>
                        <a:rPr sz="1100" b="0">
                          <a:solidFill>
                            <a:srgbClr val="282828"/>
                          </a:solidFill>
                          <a:latin typeface="Arial"/>
                        </a:rPr>
                        <a:t>0.006</a:t>
                      </a:r>
                    </a:p>
                  </a:txBody>
                  <a:tcPr marL="54864" marR="54864" marT="18288" marB="18288">
                    <a:solidFill>
                      <a:srgbClr val="FFFFFF"/>
                    </a:solidFill>
                  </a:tcPr>
                </a:tc>
                <a:tc>
                  <a:txBody>
                    <a:bodyPr wrap="square"/>
                    <a:lstStyle/>
                    <a:p>
                      <a:r>
                        <a:rPr sz="1100" b="0">
                          <a:solidFill>
                            <a:srgbClr val="282828"/>
                          </a:solidFill>
                          <a:latin typeface="Arial"/>
                        </a:rPr>
                        <a:t>2.28</a:t>
                      </a:r>
                    </a:p>
                  </a:txBody>
                  <a:tcPr marL="54864" marR="54864" marT="18288" marB="18288">
                    <a:solidFill>
                      <a:srgbClr val="FFFFFF"/>
                    </a:solidFill>
                  </a:tcPr>
                </a:tc>
                <a:tc>
                  <a:txBody>
                    <a:bodyPr wrap="square"/>
                    <a:lstStyle/>
                    <a:p>
                      <a:r>
                        <a:rPr sz="1100" b="0">
                          <a:solidFill>
                            <a:srgbClr val="282828"/>
                          </a:solidFill>
                          <a:latin typeface="Arial"/>
                        </a:rPr>
                        <a:t>0.44</a:t>
                      </a:r>
                    </a:p>
                  </a:txBody>
                  <a:tcPr marL="54864" marR="54864" marT="18288" marB="18288">
                    <a:solidFill>
                      <a:srgbClr val="FFFFFF"/>
                    </a:solidFill>
                  </a:tcPr>
                </a:tc>
                <a:tc>
                  <a:txBody>
                    <a:bodyPr wrap="square"/>
                    <a:lstStyle/>
                    <a:p>
                      <a:r>
                        <a:rPr sz="1100" b="0">
                          <a:solidFill>
                            <a:srgbClr val="282828"/>
                          </a:solidFill>
                          <a:latin typeface="Arial"/>
                        </a:rPr>
                        <a:t>708</a:t>
                      </a:r>
                    </a:p>
                  </a:txBody>
                  <a:tcPr marL="54864" marR="54864" marT="18288" marB="18288">
                    <a:solidFill>
                      <a:srgbClr val="FFFFFF"/>
                    </a:solidFill>
                  </a:tcPr>
                </a:tc>
                <a:tc>
                  <a:txBody>
                    <a:bodyPr wrap="square"/>
                    <a:lstStyle/>
                    <a:p>
                      <a:r>
                        <a:rPr sz="1100" b="0">
                          <a:solidFill>
                            <a:srgbClr val="282828"/>
                          </a:solidFill>
                          <a:latin typeface="Arial"/>
                        </a:rPr>
                        <a:t>275</a:t>
                      </a:r>
                    </a:p>
                  </a:txBody>
                  <a:tcPr marL="54864" marR="54864" marT="18288" marB="18288">
                    <a:solidFill>
                      <a:srgbClr val="FFFFFF"/>
                    </a:solidFill>
                  </a:tcPr>
                </a:tc>
                <a:tc>
                  <a:txBody>
                    <a:bodyPr wrap="square"/>
                    <a:lstStyle/>
                    <a:p>
                      <a:r>
                        <a:rPr sz="1100" b="0">
                          <a:solidFill>
                            <a:srgbClr val="282828"/>
                          </a:solidFill>
                          <a:latin typeface="Arial"/>
                        </a:rPr>
                        <a:t>22.2</a:t>
                      </a:r>
                    </a:p>
                  </a:txBody>
                  <a:tcPr marL="54864" marR="54864" marT="18288" marB="18288">
                    <a:solidFill>
                      <a:srgbClr val="FFFFFF"/>
                    </a:solidFill>
                  </a:tcPr>
                </a:tc>
              </a:tr>
              <a:tr h="280035">
                <a:tc>
                  <a:txBody>
                    <a:bodyPr wrap="square"/>
                    <a:lstStyle/>
                    <a:p>
                      <a:r>
                        <a:rPr sz="1100" b="0">
                          <a:solidFill>
                            <a:srgbClr val="282828"/>
                          </a:solidFill>
                          <a:latin typeface="Arial"/>
                        </a:rPr>
                        <a:t>R1</a:t>
                      </a:r>
                    </a:p>
                  </a:txBody>
                  <a:tcPr marL="54864" marR="54864" marT="18288" marB="18288">
                    <a:solidFill>
                      <a:srgbClr val="ECF1F6"/>
                    </a:solidFill>
                  </a:tcPr>
                </a:tc>
                <a:tc>
                  <a:txBody>
                    <a:bodyPr wrap="square"/>
                    <a:lstStyle/>
                    <a:p>
                      <a:r>
                        <a:rPr sz="1100" b="0">
                          <a:solidFill>
                            <a:srgbClr val="282828"/>
                          </a:solidFill>
                          <a:latin typeface="Arial"/>
                        </a:rPr>
                        <a:t>grating-radius factor, face offset</a:t>
                      </a:r>
                    </a:p>
                  </a:txBody>
                  <a:tcPr marL="54864" marR="54864" marT="18288" marB="18288">
                    <a:solidFill>
                      <a:srgbClr val="ECF1F6"/>
                    </a:solidFill>
                  </a:tcPr>
                </a:tc>
                <a:tc>
                  <a:txBody>
                    <a:bodyPr wrap="square"/>
                    <a:lstStyle/>
                    <a:p>
                      <a:r>
                        <a:rPr sz="1100" b="0">
                          <a:solidFill>
                            <a:srgbClr val="282828"/>
                          </a:solidFill>
                          <a:latin typeface="Arial"/>
                        </a:rPr>
                        <a:t>0.038</a:t>
                      </a:r>
                    </a:p>
                  </a:txBody>
                  <a:tcPr marL="54864" marR="54864" marT="18288" marB="18288">
                    <a:solidFill>
                      <a:srgbClr val="ECF1F6"/>
                    </a:solidFill>
                  </a:tcPr>
                </a:tc>
                <a:tc>
                  <a:txBody>
                    <a:bodyPr wrap="square"/>
                    <a:lstStyle/>
                    <a:p>
                      <a:r>
                        <a:rPr sz="1100" b="0">
                          <a:solidFill>
                            <a:srgbClr val="282828"/>
                          </a:solidFill>
                          <a:latin typeface="Arial"/>
                        </a:rPr>
                        <a:t>0.003</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704</a:t>
                      </a:r>
                    </a:p>
                  </a:txBody>
                  <a:tcPr marL="54864" marR="54864" marT="18288" marB="18288">
                    <a:solidFill>
                      <a:srgbClr val="ECF1F6"/>
                    </a:solidFill>
                  </a:tcPr>
                </a:tc>
                <a:tc>
                  <a:txBody>
                    <a:bodyPr wrap="square"/>
                    <a:lstStyle/>
                    <a:p>
                      <a:r>
                        <a:rPr sz="1100" b="0">
                          <a:solidFill>
                            <a:srgbClr val="282828"/>
                          </a:solidFill>
                          <a:latin typeface="Arial"/>
                        </a:rPr>
                        <a:t>274</a:t>
                      </a:r>
                    </a:p>
                  </a:txBody>
                  <a:tcPr marL="54864" marR="54864" marT="18288" marB="18288">
                    <a:solidFill>
                      <a:srgbClr val="ECF1F6"/>
                    </a:solidFill>
                  </a:tcPr>
                </a:tc>
                <a:tc>
                  <a:txBody>
                    <a:bodyPr wrap="square"/>
                    <a:lstStyle/>
                    <a:p>
                      <a:r>
                        <a:rPr sz="1100" b="0">
                          <a:solidFill>
                            <a:srgbClr val="282828"/>
                          </a:solidFill>
                          <a:latin typeface="Arial"/>
                        </a:rPr>
                        <a:t>22.3</a:t>
                      </a:r>
                    </a:p>
                  </a:txBody>
                  <a:tcPr marL="54864" marR="54864" marT="18288" marB="18288">
                    <a:solidFill>
                      <a:srgbClr val="ECF1F6"/>
                    </a:solidFill>
                  </a:tcPr>
                </a:tc>
              </a:tr>
              <a:tr h="280035">
                <a:tc>
                  <a:txBody>
                    <a:bodyPr wrap="square"/>
                    <a:lstStyle/>
                    <a:p>
                      <a:r>
                        <a:rPr sz="1100" b="0">
                          <a:solidFill>
                            <a:srgbClr val="282828"/>
                          </a:solidFill>
                          <a:latin typeface="Arial"/>
                        </a:rPr>
                        <a:t>R2</a:t>
                      </a:r>
                    </a:p>
                  </a:txBody>
                  <a:tcPr marL="54864" marR="54864" marT="18288" marB="18288">
                    <a:solidFill>
                      <a:srgbClr val="FFFFFF"/>
                    </a:solidFill>
                  </a:tcPr>
                </a:tc>
                <a:tc>
                  <a:txBody>
                    <a:bodyPr wrap="square"/>
                    <a:lstStyle/>
                    <a:p>
                      <a:r>
                        <a:rPr sz="1100" b="0">
                          <a:solidFill>
                            <a:srgbClr val="282828"/>
                          </a:solidFill>
                          <a:latin typeface="Arial"/>
                        </a:rPr>
                        <a:t>+ conic and h⁴, h⁶ terms on the block face</a:t>
                      </a:r>
                    </a:p>
                  </a:txBody>
                  <a:tcPr marL="54864" marR="54864" marT="18288" marB="18288">
                    <a:solidFill>
                      <a:srgbClr val="FFFFFF"/>
                    </a:solidFill>
                  </a:tcPr>
                </a:tc>
                <a:tc>
                  <a:txBody>
                    <a:bodyPr wrap="square"/>
                    <a:lstStyle/>
                    <a:p>
                      <a:r>
                        <a:rPr sz="1100" b="0">
                          <a:solidFill>
                            <a:srgbClr val="282828"/>
                          </a:solidFill>
                          <a:latin typeface="Arial"/>
                        </a:rPr>
                        <a:t>0.037</a:t>
                      </a:r>
                    </a:p>
                  </a:txBody>
                  <a:tcPr marL="54864" marR="54864" marT="18288" marB="18288">
                    <a:solidFill>
                      <a:srgbClr val="FFFFFF"/>
                    </a:solidFill>
                  </a:tcPr>
                </a:tc>
                <a:tc>
                  <a:txBody>
                    <a:bodyPr wrap="square"/>
                    <a:lstStyle/>
                    <a:p>
                      <a:r>
                        <a:rPr sz="1100" b="0">
                          <a:solidFill>
                            <a:srgbClr val="282828"/>
                          </a:solidFill>
                          <a:latin typeface="Arial"/>
                        </a:rPr>
                        <a:t>0.004</a:t>
                      </a:r>
                    </a:p>
                  </a:txBody>
                  <a:tcPr marL="54864" marR="54864" marT="18288" marB="18288">
                    <a:solidFill>
                      <a:srgbClr val="FFFFFF"/>
                    </a:solidFill>
                  </a:tcPr>
                </a:tc>
                <a:tc>
                  <a:txBody>
                    <a:bodyPr wrap="square"/>
                    <a:lstStyle/>
                    <a:p>
                      <a:r>
                        <a:rPr sz="1100" b="0">
                          <a:solidFill>
                            <a:srgbClr val="282828"/>
                          </a:solidFill>
                          <a:latin typeface="Arial"/>
                        </a:rPr>
                        <a:t>2.13</a:t>
                      </a:r>
                    </a:p>
                  </a:txBody>
                  <a:tcPr marL="54864" marR="54864" marT="18288" marB="18288">
                    <a:solidFill>
                      <a:srgbClr val="FFFFFF"/>
                    </a:solidFill>
                  </a:tcPr>
                </a:tc>
                <a:tc>
                  <a:txBody>
                    <a:bodyPr wrap="square"/>
                    <a:lstStyle/>
                    <a:p>
                      <a:r>
                        <a:rPr sz="1100" b="0">
                          <a:solidFill>
                            <a:srgbClr val="282828"/>
                          </a:solidFill>
                          <a:latin typeface="Arial"/>
                        </a:rPr>
                        <a:t>0.47</a:t>
                      </a:r>
                    </a:p>
                  </a:txBody>
                  <a:tcPr marL="54864" marR="54864" marT="18288" marB="18288">
                    <a:solidFill>
                      <a:srgbClr val="FFFFFF"/>
                    </a:solidFill>
                  </a:tcPr>
                </a:tc>
                <a:tc>
                  <a:txBody>
                    <a:bodyPr wrap="square"/>
                    <a:lstStyle/>
                    <a:p>
                      <a:r>
                        <a:rPr sz="1100" b="0">
                          <a:solidFill>
                            <a:srgbClr val="282828"/>
                          </a:solidFill>
                          <a:latin typeface="Arial"/>
                        </a:rPr>
                        <a:t>704</a:t>
                      </a:r>
                    </a:p>
                  </a:txBody>
                  <a:tcPr marL="54864" marR="54864" marT="18288" marB="18288">
                    <a:solidFill>
                      <a:srgbClr val="FFFFFF"/>
                    </a:solidFill>
                  </a:tcPr>
                </a:tc>
                <a:tc>
                  <a:txBody>
                    <a:bodyPr wrap="square"/>
                    <a:lstStyle/>
                    <a:p>
                      <a:r>
                        <a:rPr sz="1100" b="0">
                          <a:solidFill>
                            <a:srgbClr val="282828"/>
                          </a:solidFill>
                          <a:latin typeface="Arial"/>
                        </a:rPr>
                        <a:t>274</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468630">
                <a:tc>
                  <a:txBody>
                    <a:bodyPr wrap="square"/>
                    <a:lstStyle/>
                    <a:p>
                      <a:r>
                        <a:rPr sz="1100" b="0">
                          <a:solidFill>
                            <a:srgbClr val="282828"/>
                          </a:solidFill>
                          <a:latin typeface="Arial"/>
                        </a:rPr>
                        <a:t>R3</a:t>
                      </a:r>
                    </a:p>
                  </a:txBody>
                  <a:tcPr marL="54864" marR="54864" marT="18288" marB="18288">
                    <a:solidFill>
                      <a:srgbClr val="ECF1F6"/>
                    </a:solidFill>
                  </a:tcPr>
                </a:tc>
                <a:tc>
                  <a:txBody>
                    <a:bodyPr wrap="square"/>
                    <a:lstStyle/>
                    <a:p>
                      <a:r>
                        <a:rPr sz="1100" b="0">
                          <a:solidFill>
                            <a:srgbClr val="282828"/>
                          </a:solidFill>
                          <a:latin typeface="Arial"/>
                        </a:rPr>
                        <a:t>+ block centre off the grating's, along the dispersion</a:t>
                      </a:r>
                    </a:p>
                  </a:txBody>
                  <a:tcPr marL="54864" marR="54864" marT="18288" marB="18288">
                    <a:solidFill>
                      <a:srgbClr val="ECF1F6"/>
                    </a:solidFill>
                  </a:tcPr>
                </a:tc>
                <a:tc>
                  <a:txBody>
                    <a:bodyPr wrap="square"/>
                    <a:lstStyle/>
                    <a:p>
                      <a:r>
                        <a:rPr sz="1100" b="0">
                          <a:solidFill>
                            <a:srgbClr val="282828"/>
                          </a:solidFill>
                          <a:latin typeface="Arial"/>
                        </a:rPr>
                        <a:t>0.011</a:t>
                      </a:r>
                    </a:p>
                  </a:txBody>
                  <a:tcPr marL="54864" marR="54864" marT="18288" marB="18288">
                    <a:solidFill>
                      <a:srgbClr val="ECF1F6"/>
                    </a:solidFill>
                  </a:tcPr>
                </a:tc>
                <a:tc>
                  <a:txBody>
                    <a:bodyPr wrap="square"/>
                    <a:lstStyle/>
                    <a:p>
                      <a:r>
                        <a:rPr sz="1100" b="0">
                          <a:solidFill>
                            <a:srgbClr val="282828"/>
                          </a:solidFill>
                          <a:latin typeface="Arial"/>
                        </a:rPr>
                        <a:t>0.008</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698</a:t>
                      </a:r>
                    </a:p>
                  </a:txBody>
                  <a:tcPr marL="54864" marR="54864" marT="18288" marB="18288">
                    <a:solidFill>
                      <a:srgbClr val="ECF1F6"/>
                    </a:solidFill>
                  </a:tcPr>
                </a:tc>
                <a:tc>
                  <a:txBody>
                    <a:bodyPr wrap="square"/>
                    <a:lstStyle/>
                    <a:p>
                      <a:r>
                        <a:rPr sz="1100" b="0">
                          <a:solidFill>
                            <a:srgbClr val="282828"/>
                          </a:solidFill>
                          <a:latin typeface="Arial"/>
                        </a:rPr>
                        <a:t>272</a:t>
                      </a:r>
                    </a:p>
                  </a:txBody>
                  <a:tcPr marL="54864" marR="54864" marT="18288" marB="18288">
                    <a:solidFill>
                      <a:srgbClr val="ECF1F6"/>
                    </a:solidFill>
                  </a:tcPr>
                </a:tc>
                <a:tc>
                  <a:txBody>
                    <a:bodyPr wrap="square"/>
                    <a:lstStyle/>
                    <a:p>
                      <a:r>
                        <a:rPr sz="1100" b="0">
                          <a:solidFill>
                            <a:srgbClr val="282828"/>
                          </a:solidFill>
                          <a:latin typeface="Arial"/>
                        </a:rPr>
                        <a:t>22.1</a:t>
                      </a:r>
                    </a:p>
                  </a:txBody>
                  <a:tcPr marL="54864" marR="54864" marT="18288" marB="18288">
                    <a:solidFill>
                      <a:srgbClr val="ECF1F6"/>
                    </a:solidFill>
                  </a:tcPr>
                </a:tc>
              </a:tr>
              <a:tr h="280035">
                <a:tc>
                  <a:txBody>
                    <a:bodyPr wrap="square"/>
                    <a:lstStyle/>
                    <a:p>
                      <a:r>
                        <a:rPr sz="1100" b="0">
                          <a:solidFill>
                            <a:srgbClr val="282828"/>
                          </a:solidFill>
                          <a:latin typeface="Arial"/>
                        </a:rPr>
                        <a:t>R4a</a:t>
                      </a:r>
                    </a:p>
                  </a:txBody>
                  <a:tcPr marL="54864" marR="54864" marT="18288" marB="18288">
                    <a:solidFill>
                      <a:srgbClr val="FFFFFF"/>
                    </a:solidFill>
                  </a:tcPr>
                </a:tc>
                <a:tc>
                  <a:txBody>
                    <a:bodyPr wrap="square"/>
                    <a:lstStyle/>
                    <a:p>
                      <a:r>
                        <a:rPr sz="1100" b="0">
                          <a:solidFill>
                            <a:srgbClr val="282828"/>
                          </a:solidFill>
                          <a:latin typeface="Arial"/>
                        </a:rPr>
                        <a:t>meniscus corrector alone</a:t>
                      </a:r>
                    </a:p>
                  </a:txBody>
                  <a:tcPr marL="54864" marR="54864" marT="18288" marB="18288">
                    <a:solidFill>
                      <a:srgbClr val="FFFFFF"/>
                    </a:solidFill>
                  </a:tcPr>
                </a:tc>
                <a:tc>
                  <a:txBody>
                    <a:bodyPr wrap="square"/>
                    <a:lstStyle/>
                    <a:p>
                      <a:r>
                        <a:rPr sz="1100" b="0">
                          <a:solidFill>
                            <a:srgbClr val="282828"/>
                          </a:solidFill>
                          <a:latin typeface="Arial"/>
                        </a:rPr>
                        <a:t>0.063</a:t>
                      </a:r>
                    </a:p>
                  </a:txBody>
                  <a:tcPr marL="54864" marR="54864" marT="18288" marB="18288">
                    <a:solidFill>
                      <a:srgbClr val="FFFFFF"/>
                    </a:solidFill>
                  </a:tcPr>
                </a:tc>
                <a:tc>
                  <a:txBody>
                    <a:bodyPr wrap="square"/>
                    <a:lstStyle/>
                    <a:p>
                      <a:r>
                        <a:rPr sz="1100" b="0">
                          <a:solidFill>
                            <a:srgbClr val="282828"/>
                          </a:solidFill>
                          <a:latin typeface="Arial"/>
                        </a:rPr>
                        <a:t>0.012</a:t>
                      </a:r>
                    </a:p>
                  </a:txBody>
                  <a:tcPr marL="54864" marR="54864" marT="18288" marB="18288">
                    <a:solidFill>
                      <a:srgbClr val="FFFFFF"/>
                    </a:solidFill>
                  </a:tcPr>
                </a:tc>
                <a:tc>
                  <a:txBody>
                    <a:bodyPr wrap="square"/>
                    <a:lstStyle/>
                    <a:p>
                      <a:r>
                        <a:rPr sz="1100" b="0">
                          <a:solidFill>
                            <a:srgbClr val="282828"/>
                          </a:solidFill>
                          <a:latin typeface="Arial"/>
                        </a:rPr>
                        <a:t>2.49</a:t>
                      </a:r>
                    </a:p>
                  </a:txBody>
                  <a:tcPr marL="54864" marR="54864" marT="18288" marB="18288">
                    <a:solidFill>
                      <a:srgbClr val="FFFFFF"/>
                    </a:solidFill>
                  </a:tcPr>
                </a:tc>
                <a:tc>
                  <a:txBody>
                    <a:bodyPr wrap="square"/>
                    <a:lstStyle/>
                    <a:p>
                      <a:r>
                        <a:rPr sz="1100" b="0">
                          <a:solidFill>
                            <a:srgbClr val="282828"/>
                          </a:solidFill>
                          <a:latin typeface="Arial"/>
                        </a:rPr>
                        <a:t>0.33</a:t>
                      </a:r>
                    </a:p>
                  </a:txBody>
                  <a:tcPr marL="54864" marR="54864" marT="18288" marB="18288">
                    <a:solidFill>
                      <a:srgbClr val="FFFFFF"/>
                    </a:solidFill>
                  </a:tcPr>
                </a:tc>
                <a:tc>
                  <a:txBody>
                    <a:bodyPr wrap="square"/>
                    <a:lstStyle/>
                    <a:p>
                      <a:r>
                        <a:rPr sz="1100" b="0">
                          <a:solidFill>
                            <a:srgbClr val="282828"/>
                          </a:solidFill>
                          <a:latin typeface="Arial"/>
                        </a:rPr>
                        <a:t>698</a:t>
                      </a:r>
                    </a:p>
                  </a:txBody>
                  <a:tcPr marL="54864" marR="54864" marT="18288" marB="18288">
                    <a:solidFill>
                      <a:srgbClr val="FFFFFF"/>
                    </a:solidFill>
                  </a:tcPr>
                </a:tc>
                <a:tc>
                  <a:txBody>
                    <a:bodyPr wrap="square"/>
                    <a:lstStyle/>
                    <a:p>
                      <a:r>
                        <a:rPr sz="1100" b="0">
                          <a:solidFill>
                            <a:srgbClr val="282828"/>
                          </a:solidFill>
                          <a:latin typeface="Arial"/>
                        </a:rPr>
                        <a:t>270</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280035">
                <a:tc>
                  <a:txBody>
                    <a:bodyPr wrap="square"/>
                    <a:lstStyle/>
                    <a:p>
                      <a:r>
                        <a:rPr sz="1100" b="0">
                          <a:solidFill>
                            <a:srgbClr val="282828"/>
                          </a:solidFill>
                          <a:latin typeface="Arial"/>
                        </a:rPr>
                        <a:t>R4</a:t>
                      </a:r>
                    </a:p>
                  </a:txBody>
                  <a:tcPr marL="54864" marR="54864" marT="18288" marB="18288">
                    <a:solidFill>
                      <a:srgbClr val="ECF1F6"/>
                    </a:solidFill>
                  </a:tcPr>
                </a:tc>
                <a:tc>
                  <a:txBody>
                    <a:bodyPr wrap="square"/>
                    <a:lstStyle/>
                    <a:p>
                      <a:r>
                        <a:rPr sz="1100" b="0">
                          <a:solidFill>
                            <a:srgbClr val="282828"/>
                          </a:solidFill>
                          <a:latin typeface="Arial"/>
                        </a:rPr>
                        <a:t>meniscus with all variables (the compact variant)</a:t>
                      </a:r>
                    </a:p>
                  </a:txBody>
                  <a:tcPr marL="54864" marR="54864" marT="18288" marB="18288">
                    <a:solidFill>
                      <a:srgbClr val="ECF1F6"/>
                    </a:solidFill>
                  </a:tcPr>
                </a:tc>
                <a:tc>
                  <a:txBody>
                    <a:bodyPr wrap="square"/>
                    <a:lstStyle/>
                    <a:p>
                      <a:r>
                        <a:rPr sz="1100" b="0">
                          <a:solidFill>
                            <a:srgbClr val="282828"/>
                          </a:solidFill>
                          <a:latin typeface="Arial"/>
                        </a:rPr>
                        <a:t>0.0026</a:t>
                      </a:r>
                    </a:p>
                  </a:txBody>
                  <a:tcPr marL="54864" marR="54864" marT="18288" marB="18288">
                    <a:solidFill>
                      <a:srgbClr val="ECF1F6"/>
                    </a:solidFill>
                  </a:tcPr>
                </a:tc>
                <a:tc>
                  <a:txBody>
                    <a:bodyPr wrap="square"/>
                    <a:lstStyle/>
                    <a:p>
                      <a:r>
                        <a:rPr sz="1100" b="0">
                          <a:solidFill>
                            <a:srgbClr val="282828"/>
                          </a:solidFill>
                          <a:latin typeface="Arial"/>
                        </a:rPr>
                        <a:t>0.005</a:t>
                      </a:r>
                    </a:p>
                  </a:txBody>
                  <a:tcPr marL="54864" marR="54864" marT="18288" marB="18288">
                    <a:solidFill>
                      <a:srgbClr val="ECF1F6"/>
                    </a:solidFill>
                  </a:tcPr>
                </a:tc>
                <a:tc>
                  <a:txBody>
                    <a:bodyPr wrap="square"/>
                    <a:lstStyle/>
                    <a:p>
                      <a:r>
                        <a:rPr sz="1100" b="0">
                          <a:solidFill>
                            <a:srgbClr val="282828"/>
                          </a:solidFill>
                          <a:latin typeface="Arial"/>
                        </a:rPr>
                        <a:t>1.33</a:t>
                      </a:r>
                    </a:p>
                  </a:txBody>
                  <a:tcPr marL="54864" marR="54864" marT="18288" marB="18288">
                    <a:solidFill>
                      <a:srgbClr val="ECF1F6"/>
                    </a:solidFill>
                  </a:tcPr>
                </a:tc>
                <a:tc>
                  <a:txBody>
                    <a:bodyPr wrap="square"/>
                    <a:lstStyle/>
                    <a:p>
                      <a:r>
                        <a:rPr sz="1100" b="0">
                          <a:solidFill>
                            <a:srgbClr val="282828"/>
                          </a:solidFill>
                          <a:latin typeface="Arial"/>
                        </a:rPr>
                        <a:t>0.76</a:t>
                      </a:r>
                    </a:p>
                  </a:txBody>
                  <a:tcPr marL="54864" marR="54864" marT="18288" marB="18288">
                    <a:solidFill>
                      <a:srgbClr val="ECF1F6"/>
                    </a:solidFill>
                  </a:tcPr>
                </a:tc>
                <a:tc>
                  <a:txBody>
                    <a:bodyPr wrap="square"/>
                    <a:lstStyle/>
                    <a:p>
                      <a:r>
                        <a:rPr sz="1100" b="0">
                          <a:solidFill>
                            <a:srgbClr val="282828"/>
                          </a:solidFill>
                          <a:latin typeface="Arial"/>
                        </a:rPr>
                        <a:t>694</a:t>
                      </a:r>
                    </a:p>
                  </a:txBody>
                  <a:tcPr marL="54864" marR="54864" marT="18288" marB="18288">
                    <a:solidFill>
                      <a:srgbClr val="ECF1F6"/>
                    </a:solidFill>
                  </a:tcPr>
                </a:tc>
                <a:tc>
                  <a:txBody>
                    <a:bodyPr wrap="square"/>
                    <a:lstStyle/>
                    <a:p>
                      <a:r>
                        <a:rPr sz="1100" b="0">
                          <a:solidFill>
                            <a:srgbClr val="282828"/>
                          </a:solidFill>
                          <a:latin typeface="Arial"/>
                        </a:rPr>
                        <a:t>269</a:t>
                      </a:r>
                    </a:p>
                  </a:txBody>
                  <a:tcPr marL="54864" marR="54864" marT="18288" marB="18288">
                    <a:solidFill>
                      <a:srgbClr val="ECF1F6"/>
                    </a:solidFill>
                  </a:tcPr>
                </a:tc>
                <a:tc>
                  <a:txBody>
                    <a:bodyPr wrap="square"/>
                    <a:lstStyle/>
                    <a:p>
                      <a:r>
                        <a:rPr sz="1100" b="0">
                          <a:solidFill>
                            <a:srgbClr val="282828"/>
                          </a:solidFill>
                          <a:latin typeface="Arial"/>
                        </a:rPr>
                        <a:t>22.7</a:t>
                      </a:r>
                    </a:p>
                  </a:txBody>
                  <a:tcPr marL="54864" marR="54864" marT="18288" marB="18288">
                    <a:solidFill>
                      <a:srgbClr val="ECF1F6"/>
                    </a:solidFill>
                  </a:tcPr>
                </a:tc>
              </a:tr>
              <a:tr h="468630">
                <a:tc>
                  <a:txBody>
                    <a:bodyPr wrap="square"/>
                    <a:lstStyle/>
                    <a:p>
                      <a:r>
                        <a:rPr sz="1100" b="0">
                          <a:solidFill>
                            <a:srgbClr val="282828"/>
                          </a:solidFill>
                          <a:latin typeface="Arial"/>
                        </a:rPr>
                        <a:t>size alone</a:t>
                      </a:r>
                    </a:p>
                  </a:txBody>
                  <a:tcPr marL="54864" marR="54864" marT="18288" marB="18288">
                    <a:solidFill>
                      <a:srgbClr val="FFFFFF"/>
                    </a:solidFill>
                  </a:tcPr>
                </a:tc>
                <a:tc>
                  <a:txBody>
                    <a:bodyPr wrap="square"/>
                    <a:lstStyle/>
                    <a:p>
                      <a:r>
                        <a:rPr sz="1100" b="0">
                          <a:solidFill>
                            <a:srgbClr val="282828"/>
                          </a:solidFill>
                          <a:latin typeface="Arial"/>
                        </a:rPr>
                        <a:t>block radius free (341 mm)</a:t>
                      </a:r>
                    </a:p>
                  </a:txBody>
                  <a:tcPr marL="54864" marR="54864" marT="18288" marB="18288">
                    <a:solidFill>
                      <a:srgbClr val="FFFFFF"/>
                    </a:solidFill>
                  </a:tcPr>
                </a:tc>
                <a:tc>
                  <a:txBody>
                    <a:bodyPr wrap="square"/>
                    <a:lstStyle/>
                    <a:p>
                      <a:r>
                        <a:rPr sz="1100" b="0">
                          <a:solidFill>
                            <a:srgbClr val="282828"/>
                          </a:solidFill>
                          <a:latin typeface="Arial"/>
                        </a:rPr>
                        <a:t>0.024</a:t>
                      </a:r>
                    </a:p>
                  </a:txBody>
                  <a:tcPr marL="54864" marR="54864" marT="18288" marB="18288">
                    <a:solidFill>
                      <a:srgbClr val="FFFFFF"/>
                    </a:solidFill>
                  </a:tcPr>
                </a:tc>
                <a:tc>
                  <a:txBody>
                    <a:bodyPr wrap="square"/>
                    <a:lstStyle/>
                    <a:p>
                      <a:r>
                        <a:rPr sz="1100" b="0">
                          <a:solidFill>
                            <a:srgbClr val="282828"/>
                          </a:solidFill>
                          <a:latin typeface="Arial"/>
                        </a:rPr>
                        <a:t>0.001</a:t>
                      </a:r>
                    </a:p>
                  </a:txBody>
                  <a:tcPr marL="54864" marR="54864" marT="18288" marB="18288">
                    <a:solidFill>
                      <a:srgbClr val="FFFFFF"/>
                    </a:solidFill>
                  </a:tcPr>
                </a:tc>
                <a:tc>
                  <a:txBody>
                    <a:bodyPr wrap="square"/>
                    <a:lstStyle/>
                    <a:p>
                      <a:r>
                        <a:rPr sz="1100" b="0">
                          <a:solidFill>
                            <a:srgbClr val="282828"/>
                          </a:solidFill>
                          <a:latin typeface="Arial"/>
                        </a:rPr>
                        <a:t>1.34</a:t>
                      </a:r>
                    </a:p>
                  </a:txBody>
                  <a:tcPr marL="54864" marR="54864" marT="18288" marB="18288">
                    <a:solidFill>
                      <a:srgbClr val="FFFFFF"/>
                    </a:solidFill>
                  </a:tcPr>
                </a:tc>
                <a:tc>
                  <a:txBody>
                    <a:bodyPr wrap="square"/>
                    <a:lstStyle/>
                    <a:p>
                      <a:r>
                        <a:rPr sz="1100" b="0">
                          <a:solidFill>
                            <a:srgbClr val="282828"/>
                          </a:solidFill>
                          <a:latin typeface="Arial"/>
                        </a:rPr>
                        <a:t>0.74</a:t>
                      </a:r>
                    </a:p>
                  </a:txBody>
                  <a:tcPr marL="54864" marR="54864" marT="18288" marB="18288">
                    <a:solidFill>
                      <a:srgbClr val="FFFFFF"/>
                    </a:solidFill>
                  </a:tcPr>
                </a:tc>
                <a:tc>
                  <a:txBody>
                    <a:bodyPr wrap="square"/>
                    <a:lstStyle/>
                    <a:p>
                      <a:r>
                        <a:rPr sz="1100" b="0">
                          <a:solidFill>
                            <a:srgbClr val="282828"/>
                          </a:solidFill>
                          <a:latin typeface="Arial"/>
                        </a:rPr>
                        <a:t>1099</a:t>
                      </a:r>
                    </a:p>
                  </a:txBody>
                  <a:tcPr marL="54864" marR="54864" marT="18288" marB="18288">
                    <a:solidFill>
                      <a:srgbClr val="FFFFFF"/>
                    </a:solidFill>
                  </a:tcPr>
                </a:tc>
                <a:tc>
                  <a:txBody>
                    <a:bodyPr wrap="square"/>
                    <a:lstStyle/>
                    <a:p>
                      <a:r>
                        <a:rPr sz="1100" b="0">
                          <a:solidFill>
                            <a:srgbClr val="282828"/>
                          </a:solidFill>
                          <a:latin typeface="Arial"/>
                        </a:rPr>
                        <a:t>427</a:t>
                      </a:r>
                    </a:p>
                  </a:txBody>
                  <a:tcPr marL="54864" marR="54864" marT="18288" marB="18288">
                    <a:solidFill>
                      <a:srgbClr val="FFFFFF"/>
                    </a:solidFill>
                  </a:tcPr>
                </a:tc>
                <a:tc>
                  <a:txBody>
                    <a:bodyPr wrap="square"/>
                    <a:lstStyle/>
                    <a:p>
                      <a:r>
                        <a:rPr sz="1100" b="0">
                          <a:solidFill>
                            <a:srgbClr val="282828"/>
                          </a:solidFill>
                          <a:latin typeface="Arial"/>
                        </a:rPr>
                        <a:t>82.8</a:t>
                      </a:r>
                    </a:p>
                  </a:txBody>
                  <a:tcPr marL="54864" marR="54864" marT="18288" marB="18288">
                    <a:solidFill>
                      <a:srgbClr val="FFFFFF"/>
                    </a:solidFill>
                  </a:tcPr>
                </a:tc>
              </a:tr>
            </a:tbl>
          </a:graphicData>
        </a:graphic>
      </p:graphicFrame>
      <p:sp>
        <p:nvSpPr>
          <p:cNvPr id="5" name="TextBox 4"/>
          <p:cNvSpPr txBox="1"/>
          <p:nvPr/>
        </p:nvSpPr>
        <p:spPr>
          <a:xfrm>
            <a:off x="411480" y="4250817"/>
            <a:ext cx="11368735" cy="274320"/>
          </a:xfrm>
          <a:prstGeom prst="rect">
            <a:avLst/>
          </a:prstGeom>
          <a:noFill/>
        </p:spPr>
        <p:txBody>
          <a:bodyPr wrap="square">
            <a:spAutoFit/>
          </a:bodyPr>
          <a:lstStyle/>
          <a:p>
            <a:pPr>
              <a:spcAft>
                <a:spcPts val="600"/>
              </a:spcAft>
            </a:pPr>
            <a:r>
              <a:rPr sz="1050" b="0">
                <a:solidFill>
                  <a:srgbClr val="6E6E6E"/>
                </a:solidFill>
                <a:latin typeface="Arial"/>
              </a:rPr>
              <a:t>SRF FWHM is 2.02–2.05 px on every step: the 2-pixel-slit floor.  Length = slit plane to grating vertex; footprint = diameter of the grating hits over slit centre and ends × band edges; glass = block cap + meniscus.  Record dyson5_s3_trade.txt.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each departure buys</a:t>
            </a:r>
          </a:p>
          <a:p>
            <a:pPr>
              <a:spcAft>
                <a:spcPts val="0"/>
              </a:spcAft>
            </a:pPr>
            <a:r>
              <a:rPr sz="1250" b="0">
                <a:solidFill>
                  <a:srgbClr val="6E6E6E"/>
                </a:solidFill>
                <a:latin typeface="Arial"/>
              </a:rPr>
              <a:t>De-concentring the block solves the distortion; the face asphere is inert; the blur is bought only by size or by the compact form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Keystone: 0.095 → 0.011 pixels at fixed scale, nine times inside the 0.1-pixel specification and at the literature's 1 % design rule; smile stays below 0.01 pixel throughout.</a:t>
            </a:r>
          </a:p>
          <a:p>
            <a:pPr>
              <a:spcAft>
                <a:spcPts val="600"/>
              </a:spcAft>
            </a:pPr>
            <a:r>
              <a:rPr sz="1200" b="0">
                <a:solidFill>
                  <a:srgbClr val="282828"/>
                </a:solidFill>
                <a:latin typeface="Arial"/>
              </a:rPr>
              <a:t>•  The block-face asphere does nothing here: step R2 converges to 10 nm sags, and a one-dimensional scan about R1 is a steep bowl centred at zero.  An axisymmetric figure acts on every field point alike and cannot cancel a residual that grows as h⁴ along the slit.</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blur does not move on any step, and the reason is on record: the dispersed image sits 12 mm from the order-0 image, so the slit corner's effective field height is about 32 mm, and the h⁴/r³ law predicts the measured 0.4 px rms.</a:t>
            </a:r>
          </a:p>
          <a:p>
            <a:pPr>
              <a:spcAft>
                <a:spcPts val="600"/>
              </a:spcAft>
            </a:pPr>
            <a:r>
              <a:rPr sz="1200" b="0">
                <a:solidFill>
                  <a:srgbClr val="282828"/>
                </a:solidFill>
                <a:latin typeface="Arial"/>
              </a:rPr>
              <a:t>•  Two routes buy it: size alone (0.74 ensquared at a 341 mm block, 1.1 m long, 83 L of glass) or the compact variant: a meniscus corrector in the air gap, solved together with the block offset and the grating radius, reaches the same at the 220 mm block — 63 % of the length, 27 % of the glass.</a:t>
            </a:r>
          </a:p>
        </p:txBody>
      </p:sp>
      <p:pic>
        <p:nvPicPr>
          <p:cNvPr id="6" name="Picture 5" descr="dyson5_s3free_ladder.png"/>
          <p:cNvPicPr>
            <a:picLocks noChangeAspect="1"/>
          </p:cNvPicPr>
          <p:nvPr/>
        </p:nvPicPr>
        <p:blipFill>
          <a:blip r:embed="rId2"/>
          <a:stretch>
            <a:fillRect/>
          </a:stretch>
        </p:blipFill>
        <p:spPr>
          <a:xfrm>
            <a:off x="6400800" y="3398520"/>
            <a:ext cx="5394960" cy="2156833"/>
          </a:xfrm>
          <a:prstGeom prst="rect">
            <a:avLst/>
          </a:prstGeom>
        </p:spPr>
      </p:pic>
      <p:sp>
        <p:nvSpPr>
          <p:cNvPr id="7" name="TextBox 6"/>
          <p:cNvSpPr txBox="1"/>
          <p:nvPr/>
        </p:nvSpPr>
        <p:spPr>
          <a:xfrm>
            <a:off x="6400800" y="5573641"/>
            <a:ext cx="5394960" cy="394208"/>
          </a:xfrm>
          <a:prstGeom prst="rect">
            <a:avLst/>
          </a:prstGeom>
          <a:noFill/>
        </p:spPr>
        <p:txBody>
          <a:bodyPr wrap="square">
            <a:spAutoFit/>
          </a:bodyPr>
          <a:lstStyle/>
          <a:p>
            <a:pPr algn="ctr">
              <a:spcAft>
                <a:spcPts val="0"/>
              </a:spcAft>
            </a:pPr>
            <a:r>
              <a:rPr sz="1000" b="0">
                <a:solidFill>
                  <a:srgbClr val="6E6E6E"/>
                </a:solidFill>
                <a:latin typeface="Arial"/>
              </a:rPr>
              <a:t>The free-radius ladder: ensquared energy reaches the 0.75 rule only as the block grows to 341 mm.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as traced by the engine</a:t>
            </a:r>
          </a:p>
          <a:p>
            <a:pPr>
              <a:spcAft>
                <a:spcPts val="0"/>
              </a:spcAft>
            </a:pPr>
            <a:r>
              <a:rPr sz="1250" b="0">
                <a:solidFill>
                  <a:srgbClr val="6E6E6E"/>
                </a:solidFill>
                <a:latin typeface="Arial"/>
              </a:rPr>
              <a:t>Step R4: the meniscus corrector in the air gap between the block and the grating; the design of record at a 220 mm block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prescription: challenges/dyson5/dyson5_s3_r4.in: the block's flat face, its spherical face, the meniscus (two surfaces), the grating, and the return through the meniscus and block to the focal plane.</a:t>
            </a:r>
          </a:p>
        </p:txBody>
      </p:sp>
      <p:graphicFrame>
        <p:nvGraphicFramePr>
          <p:cNvPr id="5" name="Table 4"/>
          <p:cNvGraphicFramePr>
            <a:graphicFrameLocks noGrp="1"/>
          </p:cNvGraphicFramePr>
          <p:nvPr/>
        </p:nvGraphicFramePr>
        <p:xfrm>
          <a:off x="411480" y="2069591"/>
          <a:ext cx="5806437" cy="5434965"/>
        </p:xfrm>
        <a:graphic>
          <a:graphicData uri="http://schemas.openxmlformats.org/drawingml/2006/table">
            <a:tbl>
              <a:tblPr firstRow="1" bandRow="1">
                <a:tableStyleId>{5C22544A-7EE6-4342-B048-85BDC9FD1C3A}</a:tableStyleId>
              </a:tblPr>
              <a:tblGrid>
                <a:gridCol w="127614"/>
                <a:gridCol w="893298"/>
                <a:gridCol w="638070"/>
                <a:gridCol w="510456"/>
                <a:gridCol w="829491"/>
                <a:gridCol w="701877"/>
                <a:gridCol w="1276140"/>
                <a:gridCol w="829491"/>
              </a:tblGrid>
              <a:tr h="468630">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element</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radius R (mm)</a:t>
                      </a:r>
                    </a:p>
                  </a:txBody>
                  <a:tcPr marL="54864" marR="54864" marT="18288" marB="18288">
                    <a:solidFill>
                      <a:srgbClr val="1F4E79"/>
                    </a:solidFill>
                  </a:tcPr>
                </a:tc>
                <a:tc>
                  <a:txBody>
                    <a:bodyPr wrap="square"/>
                    <a:lstStyle/>
                    <a:p>
                      <a:r>
                        <a:rPr sz="1100" b="1">
                          <a:solidFill>
                            <a:srgbClr val="FFFFFF"/>
                          </a:solidFill>
                          <a:latin typeface="Arial"/>
                        </a:rPr>
                        <a:t>conic</a:t>
                      </a:r>
                    </a:p>
                  </a:txBody>
                  <a:tcPr marL="54864" marR="54864" marT="18288" marB="18288">
                    <a:solidFill>
                      <a:srgbClr val="1F4E79"/>
                    </a:solidFill>
                  </a:tcPr>
                </a:tc>
                <a:tc>
                  <a:txBody>
                    <a:bodyPr wrap="square"/>
                    <a:lstStyle/>
                    <a:p>
                      <a:r>
                        <a:rPr sz="1100" b="1">
                          <a:solidFill>
                            <a:srgbClr val="FFFFFF"/>
                          </a:solidFill>
                          <a:latin typeface="Arial"/>
                        </a:rPr>
                        <a:t>aperture radius (mm)</a:t>
                      </a:r>
                    </a:p>
                  </a:txBody>
                  <a:tcPr marL="54864" marR="54864" marT="18288" marB="18288">
                    <a:solidFill>
                      <a:srgbClr val="1F4E79"/>
                    </a:solidFill>
                  </a:tcPr>
                </a:tc>
                <a:tc>
                  <a:txBody>
                    <a:bodyPr wrap="square"/>
                    <a:lstStyle/>
                    <a:p>
                      <a:r>
                        <a:rPr sz="1100" b="1">
                          <a:solidFill>
                            <a:srgbClr val="FFFFFF"/>
                          </a:solidFill>
                          <a:latin typeface="Arial"/>
                        </a:rPr>
                        <a:t>vertex z (mm)</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BlockFaceIn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32.2</a:t>
                      </a:r>
                    </a:p>
                  </a:txBody>
                  <a:tcPr marL="54864" marR="54864" marT="18288" marB="18288">
                    <a:solidFill>
                      <a:srgbClr val="FFFFFF"/>
                    </a:solidFill>
                  </a:tcPr>
                </a:tc>
                <a:tc>
                  <a:txBody>
                    <a:bodyPr wrap="square"/>
                    <a:lstStyle/>
                    <a:p>
                      <a:r>
                        <a:rPr sz="1100" b="0">
                          <a:solidFill>
                            <a:srgbClr val="282828"/>
                          </a:solidFill>
                          <a:latin typeface="Arial"/>
                        </a:rPr>
                        <a:t>0.7</a:t>
                      </a:r>
                    </a:p>
                  </a:txBody>
                  <a:tcPr marL="54864" marR="54864" marT="18288" marB="18288">
                    <a:solidFill>
                      <a:srgbClr val="FFFFFF"/>
                    </a:solidFill>
                  </a:tcPr>
                </a:tc>
              </a:tr>
              <a:tr h="468630">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BlockSphereOut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Aspheric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-0.00650944</a:t>
                      </a:r>
                    </a:p>
                  </a:txBody>
                  <a:tcPr marL="54864" marR="54864" marT="18288" marB="18288">
                    <a:solidFill>
                      <a:srgbClr val="ECF1F6"/>
                    </a:solidFill>
                  </a:tcPr>
                </a:tc>
                <a:tc>
                  <a:txBody>
                    <a:bodyPr wrap="square"/>
                    <a:lstStyle/>
                    <a:p>
                      <a:r>
                        <a:rPr sz="1100" b="0">
                          <a:solidFill>
                            <a:srgbClr val="282828"/>
                          </a:solidFill>
                          <a:latin typeface="Arial"/>
                        </a:rPr>
                        <a:t>73.0</a:t>
                      </a:r>
                    </a:p>
                  </a:txBody>
                  <a:tcPr marL="54864" marR="54864" marT="18288" marB="18288">
                    <a:solidFill>
                      <a:srgbClr val="ECF1F6"/>
                    </a:solidFill>
                  </a:tcPr>
                </a:tc>
                <a:tc>
                  <a:txBody>
                    <a:bodyPr wrap="square"/>
                    <a:lstStyle/>
                    <a:p>
                      <a:r>
                        <a:rPr sz="1100" b="0">
                          <a:solidFill>
                            <a:srgbClr val="282828"/>
                          </a:solidFill>
                          <a:latin typeface="Arial"/>
                        </a:rPr>
                        <a:t>219.1</a:t>
                      </a:r>
                    </a:p>
                  </a:txBody>
                  <a:tcPr marL="54864" marR="54864" marT="18288" marB="18288">
                    <a:solidFill>
                      <a:srgbClr val="ECF1F6"/>
                    </a:solidFill>
                  </a:tcPr>
                </a:tc>
              </a:tr>
              <a:tr h="468630">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MenA_out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1828.1</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77.7</a:t>
                      </a:r>
                    </a:p>
                  </a:txBody>
                  <a:tcPr marL="54864" marR="54864" marT="18288" marB="18288">
                    <a:solidFill>
                      <a:srgbClr val="FFFFFF"/>
                    </a:solidFill>
                  </a:tcPr>
                </a:tc>
                <a:tc>
                  <a:txBody>
                    <a:bodyPr wrap="square"/>
                    <a:lstStyle/>
                    <a:p>
                      <a:r>
                        <a:rPr sz="1100" b="0">
                          <a:solidFill>
                            <a:srgbClr val="282828"/>
                          </a:solidFill>
                          <a:latin typeface="Arial"/>
                        </a:rPr>
                        <a:t>240.0</a:t>
                      </a:r>
                    </a:p>
                  </a:txBody>
                  <a:tcPr marL="54864" marR="54864" marT="18288" marB="18288">
                    <a:solidFill>
                      <a:srgbClr val="FFFFFF"/>
                    </a:solidFill>
                  </a:tcPr>
                </a:tc>
              </a:tr>
              <a:tr h="468630">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MenB_out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2000.0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78.0</a:t>
                      </a:r>
                    </a:p>
                  </a:txBody>
                  <a:tcPr marL="54864" marR="54864" marT="18288" marB="18288">
                    <a:solidFill>
                      <a:srgbClr val="ECF1F6"/>
                    </a:solidFill>
                  </a:tcPr>
                </a:tc>
                <a:tc>
                  <a:txBody>
                    <a:bodyPr wrap="square"/>
                    <a:lstStyle/>
                    <a:p>
                      <a:r>
                        <a:rPr sz="1100" b="0">
                          <a:solidFill>
                            <a:srgbClr val="282828"/>
                          </a:solidFill>
                          <a:latin typeface="Arial"/>
                        </a:rPr>
                        <a:t>244.0</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697.8</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140.1</a:t>
                      </a:r>
                    </a:p>
                  </a:txBody>
                  <a:tcPr marL="54864" marR="54864" marT="18288" marB="18288">
                    <a:solidFill>
                      <a:srgbClr val="FFFFFF"/>
                    </a:solidFill>
                  </a:tcPr>
                </a:tc>
                <a:tc>
                  <a:txBody>
                    <a:bodyPr wrap="square"/>
                    <a:lstStyle/>
                    <a:p>
                      <a:r>
                        <a:rPr sz="1100" b="0">
                          <a:solidFill>
                            <a:srgbClr val="282828"/>
                          </a:solidFill>
                          <a:latin typeface="Arial"/>
                        </a:rPr>
                        <a:t>697.8</a:t>
                      </a:r>
                    </a:p>
                  </a:txBody>
                  <a:tcPr marL="54864" marR="54864" marT="18288" marB="18288">
                    <a:solidFill>
                      <a:srgbClr val="FFFFFF"/>
                    </a:solidFill>
                  </a:tcPr>
                </a:tc>
              </a:tr>
              <a:tr h="468630">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MenB_in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2000.0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78.1</a:t>
                      </a:r>
                    </a:p>
                  </a:txBody>
                  <a:tcPr marL="54864" marR="54864" marT="18288" marB="18288">
                    <a:solidFill>
                      <a:srgbClr val="ECF1F6"/>
                    </a:solidFill>
                  </a:tcPr>
                </a:tc>
                <a:tc>
                  <a:txBody>
                    <a:bodyPr wrap="square"/>
                    <a:lstStyle/>
                    <a:p>
                      <a:r>
                        <a:rPr sz="1100" b="0">
                          <a:solidFill>
                            <a:srgbClr val="282828"/>
                          </a:solidFill>
                          <a:latin typeface="Arial"/>
                        </a:rPr>
                        <a:t>244.0</a:t>
                      </a:r>
                    </a:p>
                  </a:txBody>
                  <a:tcPr marL="54864" marR="54864" marT="18288" marB="18288">
                    <a:solidFill>
                      <a:srgbClr val="ECF1F6"/>
                    </a:solidFill>
                  </a:tcPr>
                </a:tc>
              </a:tr>
              <a:tr h="468630">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MenA_in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1828.1</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77.8</a:t>
                      </a:r>
                    </a:p>
                  </a:txBody>
                  <a:tcPr marL="54864" marR="54864" marT="18288" marB="18288">
                    <a:solidFill>
                      <a:srgbClr val="FFFFFF"/>
                    </a:solidFill>
                  </a:tcPr>
                </a:tc>
                <a:tc>
                  <a:txBody>
                    <a:bodyPr wrap="square"/>
                    <a:lstStyle/>
                    <a:p>
                      <a:r>
                        <a:rPr sz="1100" b="0">
                          <a:solidFill>
                            <a:srgbClr val="282828"/>
                          </a:solidFill>
                          <a:latin typeface="Arial"/>
                        </a:rPr>
                        <a:t>240.0</a:t>
                      </a:r>
                    </a:p>
                  </a:txBody>
                  <a:tcPr marL="54864" marR="54864" marT="18288" marB="18288">
                    <a:solidFill>
                      <a:srgbClr val="FFFFFF"/>
                    </a:solidFill>
                  </a:tcPr>
                </a:tc>
              </a:tr>
              <a:tr h="468630">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BlockSphereIn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Aspheric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-0.00650944</a:t>
                      </a:r>
                    </a:p>
                  </a:txBody>
                  <a:tcPr marL="54864" marR="54864" marT="18288" marB="18288">
                    <a:solidFill>
                      <a:srgbClr val="ECF1F6"/>
                    </a:solidFill>
                  </a:tcPr>
                </a:tc>
                <a:tc>
                  <a:txBody>
                    <a:bodyPr wrap="square"/>
                    <a:lstStyle/>
                    <a:p>
                      <a:r>
                        <a:rPr sz="1100" b="0">
                          <a:solidFill>
                            <a:srgbClr val="282828"/>
                          </a:solidFill>
                          <a:latin typeface="Arial"/>
                        </a:rPr>
                        <a:t>73.1</a:t>
                      </a:r>
                    </a:p>
                  </a:txBody>
                  <a:tcPr marL="54864" marR="54864" marT="18288" marB="18288">
                    <a:solidFill>
                      <a:srgbClr val="ECF1F6"/>
                    </a:solidFill>
                  </a:tcPr>
                </a:tc>
                <a:tc>
                  <a:txBody>
                    <a:bodyPr wrap="square"/>
                    <a:lstStyle/>
                    <a:p>
                      <a:r>
                        <a:rPr sz="1100" b="0">
                          <a:solidFill>
                            <a:srgbClr val="282828"/>
                          </a:solidFill>
                          <a:latin typeface="Arial"/>
                        </a:rPr>
                        <a:t>219.1</a:t>
                      </a:r>
                    </a:p>
                  </a:txBody>
                  <a:tcPr marL="54864" marR="54864" marT="18288" marB="18288">
                    <a:solidFill>
                      <a:srgbClr val="ECF1F6"/>
                    </a:solidFill>
                  </a:tcPr>
                </a:tc>
              </a:tr>
              <a:tr h="468630">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BlockFaceOut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32.6</a:t>
                      </a:r>
                    </a:p>
                  </a:txBody>
                  <a:tcPr marL="54864" marR="54864" marT="18288" marB="18288">
                    <a:solidFill>
                      <a:srgbClr val="FFFFFF"/>
                    </a:solidFill>
                  </a:tcPr>
                </a:tc>
                <a:tc>
                  <a:txBody>
                    <a:bodyPr wrap="square"/>
                    <a:lstStyle/>
                    <a:p>
                      <a:r>
                        <a:rPr sz="1100" b="0">
                          <a:solidFill>
                            <a:srgbClr val="282828"/>
                          </a:solidFill>
                          <a:latin typeface="Arial"/>
                        </a:rPr>
                        <a:t>0.7</a:t>
                      </a:r>
                    </a:p>
                  </a:txBody>
                  <a:tcPr marL="54864" marR="54864" marT="18288" marB="18288">
                    <a:solidFill>
                      <a:srgbClr val="FFFFFF"/>
                    </a:solidFill>
                  </a:tcPr>
                </a:tc>
              </a:tr>
              <a:tr h="468630">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PreFPA</a:t>
                      </a:r>
                    </a:p>
                  </a:txBody>
                  <a:tcPr marL="54864" marR="54864" marT="18288" marB="18288">
                    <a:solidFill>
                      <a:srgbClr val="ECF1F6"/>
                    </a:solidFill>
                  </a:tcPr>
                </a:tc>
                <a:tc>
                  <a:txBody>
                    <a:bodyPr wrap="square"/>
                    <a:lstStyle/>
                    <a:p>
                      <a:r>
                        <a:rPr sz="1100" b="0">
                          <a:solidFill>
                            <a:srgbClr val="282828"/>
                          </a:solidFill>
                          <a:latin typeface="Arial"/>
                        </a:rPr>
                        <a:t>Reference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0.9</a:t>
                      </a:r>
                    </a:p>
                  </a:txBody>
                  <a:tcPr marL="54864" marR="54864" marT="18288" marB="18288">
                    <a:solidFill>
                      <a:srgbClr val="ECF1F6"/>
                    </a:solidFill>
                  </a:tcPr>
                </a:tc>
              </a:tr>
              <a:tr h="468630">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FPA</a:t>
                      </a:r>
                    </a:p>
                  </a:txBody>
                  <a:tcPr marL="54864" marR="54864" marT="18288" marB="18288">
                    <a:solidFill>
                      <a:srgbClr val="FFFFFF"/>
                    </a:solidFill>
                  </a:tcPr>
                </a:tc>
                <a:tc>
                  <a:txBody>
                    <a:bodyPr wrap="square"/>
                    <a:lstStyle/>
                    <a:p>
                      <a:r>
                        <a:rPr sz="1100" b="0">
                          <a:solidFill>
                            <a:srgbClr val="282828"/>
                          </a:solidFill>
                          <a:latin typeface="Arial"/>
                        </a:rPr>
                        <a:t>FocalPlane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-0.1</a:t>
                      </a:r>
                    </a:p>
                  </a:txBody>
                  <a:tcPr marL="54864" marR="54864" marT="18288" marB="18288">
                    <a:solidFill>
                      <a:srgbClr val="FFFFFF"/>
                    </a:solidFill>
                  </a:tcPr>
                </a:tc>
              </a:tr>
            </a:tbl>
          </a:graphicData>
        </a:graphic>
      </p:graphicFrame>
      <p:pic>
        <p:nvPicPr>
          <p:cNvPr id="6" name="Picture 5" descr="dyson5_s3_r4_views.png"/>
          <p:cNvPicPr>
            <a:picLocks noChangeAspect="1"/>
          </p:cNvPicPr>
          <p:nvPr/>
        </p:nvPicPr>
        <p:blipFill>
          <a:blip r:embed="rId2"/>
          <a:stretch>
            <a:fillRect/>
          </a:stretch>
        </p:blipFill>
        <p:spPr>
          <a:xfrm>
            <a:off x="6400800" y="1298448"/>
            <a:ext cx="5394960" cy="3587511"/>
          </a:xfrm>
          <a:prstGeom prst="rect">
            <a:avLst/>
          </a:prstGeom>
        </p:spPr>
      </p:pic>
      <p:sp>
        <p:nvSpPr>
          <p:cNvPr id="7" name="TextBox 6"/>
          <p:cNvSpPr txBox="1"/>
          <p:nvPr/>
        </p:nvSpPr>
        <p:spPr>
          <a:xfrm>
            <a:off x="6400800" y="4904247"/>
            <a:ext cx="5394960"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a:t>
            </a:r>
          </a:p>
        </p:txBody>
      </p:sp>
      <p:sp>
        <p:nvSpPr>
          <p:cNvPr id="8" name="TextBox 7"/>
          <p:cNvSpPr txBox="1"/>
          <p:nvPr/>
        </p:nvSpPr>
        <p:spPr>
          <a:xfrm>
            <a:off x="6400800" y="5169931"/>
            <a:ext cx="5394960" cy="274320"/>
          </a:xfrm>
          <a:prstGeom prst="rect">
            <a:avLst/>
          </a:prstGeom>
          <a:noFill/>
        </p:spPr>
        <p:txBody>
          <a:bodyPr wrap="square">
            <a:spAutoFit/>
          </a:bodyPr>
          <a:lstStyle/>
          <a:p>
            <a:pPr>
              <a:spcAft>
                <a:spcPts val="600"/>
              </a:spcAft>
            </a:pPr>
            <a:r>
              <a:rPr sz="1200" b="0">
                <a:solidFill>
                  <a:srgbClr val="282828"/>
                </a:solidFill>
                <a:latin typeface="Arial"/>
              </a:rPr>
              <a:t>•  Clearance: the worst pair is the returning beam against the detector carrier, +1.19 mm with no cold shield; any shield height fails the check, so a fold prism at the slit is the next layout step.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in section</a:t>
            </a:r>
          </a:p>
          <a:p>
            <a:pPr>
              <a:spcAft>
                <a:spcPts val="0"/>
              </a:spcAft>
            </a:pPr>
            <a:r>
              <a:rPr sz="1250" b="0">
                <a:solidFill>
                  <a:srgbClr val="6E6E6E"/>
                </a:solidFill>
                <a:latin typeface="Arial"/>
              </a:rPr>
              <a:t>Dispersion plane and slit direction, to scale: block, meniscus, grating; slit and focal plane on the block's 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layout_r4_rc.png"/>
          <p:cNvPicPr>
            <a:picLocks noChangeAspect="1"/>
          </p:cNvPicPr>
          <p:nvPr/>
        </p:nvPicPr>
        <p:blipFill>
          <a:blip r:embed="rId2"/>
          <a:stretch>
            <a:fillRect/>
          </a:stretch>
        </p:blipFill>
        <p:spPr>
          <a:xfrm>
            <a:off x="411480" y="1298448"/>
            <a:ext cx="11368735" cy="2895237"/>
          </a:xfrm>
          <a:prstGeom prst="rect">
            <a:avLst/>
          </a:prstGeom>
        </p:spPr>
      </p:pic>
      <p:sp>
        <p:nvSpPr>
          <p:cNvPr id="5" name="TextBox 4"/>
          <p:cNvSpPr txBox="1"/>
          <p:nvPr/>
        </p:nvSpPr>
        <p:spPr>
          <a:xfrm>
            <a:off x="411480" y="4211973"/>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the dispersion plane, slit centre, rays at 380 / 1440 / 2500 nm (blue / green / red).  Right: the slit direction, slit centre and ends at 1440 nm; the focal plane in magenta.  Block shaded; 100 mm scale bar.</a:t>
            </a:r>
          </a:p>
        </p:txBody>
      </p:sp>
      <p:sp>
        <p:nvSpPr>
          <p:cNvPr id="6" name="TextBox 5"/>
          <p:cNvSpPr txBox="1"/>
          <p:nvPr/>
        </p:nvSpPr>
        <p:spPr>
          <a:xfrm>
            <a:off x="411480" y="4642757"/>
            <a:ext cx="11368735" cy="274320"/>
          </a:xfrm>
          <a:prstGeom prst="rect">
            <a:avLst/>
          </a:prstGeom>
          <a:noFill/>
        </p:spPr>
        <p:txBody>
          <a:bodyPr wrap="square">
            <a:spAutoFit/>
          </a:bodyPr>
          <a:lstStyle/>
          <a:p>
            <a:pPr>
              <a:spcAft>
                <a:spcPts val="600"/>
              </a:spcAft>
            </a:pPr>
            <a:r>
              <a:rPr sz="1500" b="0">
                <a:solidFill>
                  <a:srgbClr val="282828"/>
                </a:solidFill>
                <a:latin typeface="Arial"/>
              </a:rPr>
              <a:t>•  Sizes: block radius 220 mm (217 mm thick, 85 mm face), meniscus 4 mm thick at radii near 2 m, grating 269 mm across on a 0.69 m radius; slit plane to grating vertex 694 mm.</a:t>
            </a:r>
          </a:p>
          <a:p>
            <a:pPr>
              <a:spcAft>
                <a:spcPts val="600"/>
              </a:spcAft>
            </a:pPr>
            <a:r>
              <a:rPr sz="1500" b="0">
                <a:solidFill>
                  <a:srgbClr val="282828"/>
                </a:solidFill>
                <a:latin typeface="Arial"/>
              </a:rPr>
              <a:t>•  The solve ends on its bounds (plate thickness and radii), and three solves from the same seed found a multimodal landscape; the global search over the meniscus is the next step.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scored</a:t>
            </a:r>
          </a:p>
          <a:p>
            <a:pPr>
              <a:spcAft>
                <a:spcPts val="0"/>
              </a:spcAft>
            </a:pPr>
            <a:r>
              <a:rPr sz="1250" b="0">
                <a:solidFill>
                  <a:srgbClr val="6E6E6E"/>
                </a:solidFill>
                <a:latin typeface="Arial"/>
              </a:rPr>
              <a:t>Keystone 0.0026 px, smile 0.005 px, CRF 1.33 px, SRF 2.03 px; ensquared energy 0.76 geometric and 0.75 with diffraction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Checked by propagation: the point-spread function's centroid equals the ray centroid to 0.0022 px along the dispersion and 0.0003 px along the slit at every slit position and wavelength, so a detector sees these numbers.</a:t>
            </a:r>
          </a:p>
        </p:txBody>
      </p:sp>
      <p:pic>
        <p:nvPicPr>
          <p:cNvPr id="5" name="Picture 4" descr="dyson5_s3_maps_r4_rc.png"/>
          <p:cNvPicPr>
            <a:picLocks noChangeAspect="1"/>
          </p:cNvPicPr>
          <p:nvPr/>
        </p:nvPicPr>
        <p:blipFill>
          <a:blip r:embed="rId2"/>
          <a:stretch>
            <a:fillRect/>
          </a:stretch>
        </p:blipFill>
        <p:spPr>
          <a:xfrm>
            <a:off x="3691032" y="1970531"/>
            <a:ext cx="4809631" cy="4328668"/>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Engine-scored maps for R4 on 18 µm pixels, per slit position and wavelength: field-angle map, keystone, smile, SRF FWHM, CRF FWHM, ensquared energy; each convention on its colorbar, maxima in the labels.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trade at a glance</a:t>
            </a:r>
          </a:p>
          <a:p>
            <a:pPr>
              <a:spcAft>
                <a:spcPts val="0"/>
              </a:spcAft>
            </a:pPr>
            <a:r>
              <a:rPr sz="1250" b="0">
                <a:solidFill>
                  <a:srgbClr val="6E6E6E"/>
                </a:solidFill>
                <a:latin typeface="Arial"/>
              </a:rPr>
              <a:t>Distortion, response functions and ensquared energy per step, both records; the specification and the literature rules as lines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trade_rc.png"/>
          <p:cNvPicPr>
            <a:picLocks noChangeAspect="1"/>
          </p:cNvPicPr>
          <p:nvPr/>
        </p:nvPicPr>
        <p:blipFill>
          <a:blip r:embed="rId2"/>
          <a:stretch>
            <a:fillRect/>
          </a:stretch>
        </p:blipFill>
        <p:spPr>
          <a:xfrm>
            <a:off x="411480" y="1298448"/>
            <a:ext cx="11368735" cy="4538913"/>
          </a:xfrm>
          <a:prstGeom prst="rect">
            <a:avLst/>
          </a:prstGeom>
        </p:spPr>
      </p:pic>
      <p:sp>
        <p:nvSpPr>
          <p:cNvPr id="5" name="TextBox 4"/>
          <p:cNvSpPr txBox="1"/>
          <p:nvPr/>
        </p:nvSpPr>
        <p:spPr>
          <a:xfrm>
            <a:off x="411480" y="5855649"/>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keystone and smile maxima (log scale) against the 1 % rule.  Middle: CRF and SRF FWHM against the 1.5 px specification and the 2-px-slit floor.  Right: minimum ensquared energy in one pixel against the 0.75 rule.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propagation twin</a:t>
            </a:r>
          </a:p>
          <a:p>
            <a:pPr>
              <a:spcAft>
                <a:spcPts val="0"/>
              </a:spcAft>
            </a:pPr>
            <a:r>
              <a:rPr sz="1250" b="0">
                <a:solidFill>
                  <a:srgbClr val="6E6E6E"/>
                </a:solidFill>
                <a:latin typeface="Arial"/>
              </a:rPr>
              <a:t>A far-field terminal on a reference sphere, re-posed per slit position and wavelength, agrees with the ray centroids to 0.0013 px</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What it checks: the ray-side scorer's centroids and response functions against physical-optics propagation through the same decks; across a grating the comparison is made in phase (modulo λ), never as unwrapped lengths.</a:t>
            </a:r>
          </a:p>
        </p:txBody>
      </p:sp>
      <p:pic>
        <p:nvPicPr>
          <p:cNvPr id="5" name="Picture 4" descr="dyson5_s2w_twin_rc.png"/>
          <p:cNvPicPr>
            <a:picLocks noChangeAspect="1"/>
          </p:cNvPicPr>
          <p:nvPr/>
        </p:nvPicPr>
        <p:blipFill>
          <a:blip r:embed="rId2"/>
          <a:stretch>
            <a:fillRect/>
          </a:stretch>
        </p:blipFill>
        <p:spPr>
          <a:xfrm>
            <a:off x="4382735" y="1970531"/>
            <a:ext cx="3426224" cy="4328668"/>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the Offner at order 0, PSF (log scale) with the 18 µm pixel box, 85 % ensquared.  Middle: wave-minus-ray centroid over the slit and band, Offner and Dyson seeds.  Right: SRF and CRF from the propagated PSF at the slit centre.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Slit diffraction loss</a:t>
            </a:r>
          </a:p>
          <a:p>
            <a:pPr>
              <a:spcAft>
                <a:spcPts val="0"/>
              </a:spcAft>
            </a:pPr>
            <a:r>
              <a:rPr sz="1250" b="0">
                <a:solidFill>
                  <a:srgbClr val="6E6E6E"/>
                </a:solidFill>
                <a:latin typeface="Arial"/>
              </a:rPr>
              <a:t>A 36 µm slit at F/1.8: the engine's far-field leg against the sinc² closed form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2l_slitloss.png"/>
          <p:cNvPicPr>
            <a:picLocks noChangeAspect="1"/>
          </p:cNvPicPr>
          <p:nvPr/>
        </p:nvPicPr>
        <p:blipFill>
          <a:blip r:embed="rId2"/>
          <a:stretch>
            <a:fillRect/>
          </a:stretch>
        </p:blipFill>
        <p:spPr>
          <a:xfrm>
            <a:off x="2289166" y="1298448"/>
            <a:ext cx="7613362" cy="5165852"/>
          </a:xfrm>
          <a:prstGeom prst="rect">
            <a:avLst/>
          </a:prstGeom>
        </p:spPr>
      </p:pic>
      <p:sp>
        <p:nvSpPr>
          <p:cNvPr id="5" name="TextBox 4"/>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Loss past the grating versus wavelength: engine far-field leg (points) against the sinc² form (line).</a:t>
            </a:r>
          </a:p>
        </p:txBody>
      </p:sp>
      <p:sp>
        <p:nvSpPr>
          <p:cNvPr id="6" name="TextBox 5"/>
          <p:cNvSpPr txBox="1"/>
          <p:nvPr/>
        </p:nvSpPr>
        <p:spPr>
          <a:xfrm>
            <a:off x="411480" y="6748272"/>
            <a:ext cx="11368735" cy="274320"/>
          </a:xfrm>
          <a:prstGeom prst="rect">
            <a:avLst/>
          </a:prstGeom>
          <a:noFill/>
        </p:spPr>
        <p:txBody>
          <a:bodyPr wrap="square">
            <a:spAutoFit/>
          </a:bodyPr>
          <a:lstStyle/>
          <a:p>
            <a:pPr>
              <a:spcAft>
                <a:spcPts val="600"/>
              </a:spcAft>
            </a:pPr>
            <a:r>
              <a:rPr sz="1500" b="0">
                <a:solidFill>
                  <a:srgbClr val="282828"/>
                </a:solidFill>
                <a:latin typeface="Arial"/>
              </a:rPr>
              <a:t>•  The model: a uniformly lit 36 µm slit of zero length, propagated as a far-field wave to the grating's plane 0.70 m away on a 255-point grid; loss = the energy landing outside the F/1.8 acceptance.  The closed form is the exact sinc² integral for the same slit and acceptance.</a:t>
            </a:r>
          </a:p>
          <a:p>
            <a:pPr>
              <a:spcAft>
                <a:spcPts val="600"/>
              </a:spcAft>
            </a:pPr>
            <a:r>
              <a:rPr sz="1500" b="0">
                <a:solidFill>
                  <a:srgbClr val="282828"/>
                </a:solidFill>
                <a:latin typeface="Arial"/>
              </a:rPr>
              <a:t>•  Under 2.5 % over the band by both, but they disagree by a factor that changes sign: the engine reads 0.3× the closed form at 380 nm and 1.36× at 2500 nm.  Which of the grid, the window (11 % wider than the acceptance) or the slit's missing length explains it is being tested; the number is not yet design-grade.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Next steps</a:t>
            </a:r>
          </a:p>
          <a:p>
            <a:pPr>
              <a:spcAft>
                <a:spcPts val="0"/>
              </a:spcAft>
            </a:pPr>
            <a:r>
              <a:rPr sz="1250" b="0">
                <a:solidFill>
                  <a:srgbClr val="6E6E6E"/>
                </a:solidFill>
                <a:latin typeface="Arial"/>
              </a:rPr>
              <a:t>Clearance on the design of record, the global meniscus search, and the telescope that feeds the slit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R5, the slit-to-detector split: the returning beam clears the detector carrier by 1.2 mm with no cold shield; a fold prism at the slit (the literature's answer) is the next layout step, scored under the same clearance check.</a:t>
            </a:r>
          </a:p>
          <a:p>
            <a:pPr>
              <a:spcAft>
                <a:spcPts val="600"/>
              </a:spcAft>
            </a:pPr>
            <a:r>
              <a:rPr sz="1200" b="0">
                <a:solidFill>
                  <a:srgbClr val="282828"/>
                </a:solidFill>
                <a:latin typeface="Arial"/>
              </a:rPr>
              <a:t>•  Beat 4: a global search over the meniscus (the R4 solve ends on its bounds), then the native multi-wavelength optimizer with the same smile and keystone operands.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Beat 5, the telescope: EMIT parameters — 420 km, 60 m ground sample, 0.143 mrad IFOV, focal length 126 mm, 70 mm aperture at F/1.8, 24.6° cross-track field onto the 54 mm slit, telecentric and flat; the telescope's exit pupil on the grating.  Then spectrometer and telescope traced end to end as one deck.</a:t>
            </a:r>
          </a:p>
          <a:p>
            <a:pPr>
              <a:spcAft>
                <a:spcPts val="600"/>
              </a:spcAft>
            </a:pPr>
            <a:r>
              <a:rPr sz="1200" b="0">
                <a:solidFill>
                  <a:srgbClr val="282828"/>
                </a:solidFill>
                <a:latin typeface="Arial"/>
              </a:rPr>
              <a:t>•  Then the physical-optics twin on R4 and the radiometric chain against the band.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file, one runner, every stage through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11480" y="1298448"/>
            <a:ext cx="11368735" cy="935736"/>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
              </a:spcAft>
            </a:pPr>
            <a:r>
              <a:rPr sz="1150" b="0">
                <a:solidFill>
                  <a:srgbClr val="282828"/>
                </a:solidFill>
                <a:latin typeface="Consolas"/>
              </a:rPr>
              <a:t>run('&lt;path&gt;/mmacos/mmacos_setup.m');</a:t>
            </a:r>
          </a:p>
          <a:p>
            <a:pPr>
              <a:spcAft>
                <a:spcPts val="100"/>
              </a:spcAft>
            </a:pPr>
            <a:r>
              <a:rPr sz="1150" b="0">
                <a:solidFill>
                  <a:srgbClr val="282828"/>
                </a:solidFill>
                <a:latin typeface="Consolas"/>
              </a:rPr>
              <a:t>addpath('&lt;path&gt;/mmacos/challenges/dyson5');</a:t>
            </a:r>
          </a:p>
          <a:p>
            <a:pPr>
              <a:spcAft>
                <a:spcPts val="100"/>
              </a:spcAft>
            </a:pPr>
            <a:r>
              <a:rPr sz="1150" b="0">
                <a:solidFill>
                  <a:srgbClr val="282828"/>
                </a:solidFill>
                <a:latin typeface="Consolas"/>
              </a:rPr>
              <a:t>OUT = dyson5_run();                                      % stage s0: the scaling law (engine-free)</a:t>
            </a:r>
          </a:p>
          <a:p>
            <a:pPr>
              <a:spcAft>
                <a:spcPts val="100"/>
              </a:spcAft>
            </a:pPr>
            <a:r>
              <a:rPr sz="1150" b="0">
                <a:solidFill>
                  <a:srgbClr val="282828"/>
                </a:solidFill>
                <a:latin typeface="Consolas"/>
              </a:rPr>
              <a:t>OUT = dyson5_run(struct('stages', {{'s1','s2','s3'}}));  % emit, score, ladder</a:t>
            </a:r>
          </a:p>
        </p:txBody>
      </p:sp>
      <p:sp>
        <p:nvSpPr>
          <p:cNvPr id="5" name="TextBox 4"/>
          <p:cNvSpPr txBox="1"/>
          <p:nvPr/>
        </p:nvSpPr>
        <p:spPr>
          <a:xfrm>
            <a:off x="411480" y="2343912"/>
            <a:ext cx="11368735" cy="274320"/>
          </a:xfrm>
          <a:prstGeom prst="rect">
            <a:avLst/>
          </a:prstGeom>
          <a:noFill/>
        </p:spPr>
        <p:txBody>
          <a:bodyPr wrap="square">
            <a:spAutoFit/>
          </a:bodyPr>
          <a:lstStyle/>
          <a:p>
            <a:pPr>
              <a:spcAft>
                <a:spcPts val="600"/>
              </a:spcAft>
            </a:pPr>
            <a:r>
              <a:rPr sz="1500" b="0">
                <a:solidFill>
                  <a:srgbClr val="282828"/>
                </a:solidFill>
                <a:latin typeface="Arial"/>
              </a:rPr>
              <a:t>•  Changeable design parameters live in one file, dyson5_params.m (F-number, pixel, band, slit, block radius, the ladder's options); change them to drive different solutions.  Every record in this deck is a stage output under challenges/dyson5/.</a:t>
            </a:r>
          </a:p>
          <a:p>
            <a:pPr>
              <a:spcAft>
                <a:spcPts val="600"/>
              </a:spcAft>
            </a:pPr>
            <a:r>
              <a:rPr sz="1500" b="0">
                <a:solidFill>
                  <a:srgbClr val="282828"/>
                </a:solidFill>
                <a:latin typeface="Arial"/>
              </a:rPr>
              <a:t>•  Engine checks: ./run_mmacos_tests.sh tSpectrometerRx and the four grating / glass / propagation classes, all in the fast suite.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078992"/>
            <a:ext cx="11368735" cy="274320"/>
          </a:xfrm>
          <a:prstGeom prst="rect">
            <a:avLst/>
          </a:prstGeom>
          <a:noFill/>
        </p:spPr>
        <p:txBody>
          <a:bodyPr wrap="square">
            <a:spAutoFit/>
          </a:bodyPr>
          <a:lstStyle/>
          <a:p>
            <a:pPr>
              <a:spcAft>
                <a:spcPts val="600"/>
              </a:spcAft>
            </a:pPr>
            <a:r>
              <a:rPr sz="1500" b="0">
                <a:solidFill>
                  <a:srgbClr val="282828"/>
                </a:solidFill>
                <a:latin typeface="Arial"/>
              </a:rPr>
              <a:t>Diagnostics, the engine findings, and the conventions behind the main path.</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four engine findings, each with a regression test</a:t>
            </a:r>
          </a:p>
          <a:p>
            <a:pPr>
              <a:spcAft>
                <a:spcPts val="0"/>
              </a:spcAft>
            </a:pPr>
            <a:r>
              <a:rPr sz="1250" b="0">
                <a:solidFill>
                  <a:srgbClr val="6E6E6E"/>
                </a:solidFill>
                <a:latin typeface="Arial"/>
              </a:rPr>
              <a:t>Found by the challenge's checks on 2026-09-30 and 10-01, fixed in the engine the same day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154555"/>
        </p:xfrm>
        <a:graphic>
          <a:graphicData uri="http://schemas.openxmlformats.org/drawingml/2006/table">
            <a:tbl>
              <a:tblPr firstRow="1" bandRow="1">
                <a:tableStyleId>{5C22544A-7EE6-4342-B048-85BDC9FD1C3A}</a:tableStyleId>
              </a:tblPr>
              <a:tblGrid>
                <a:gridCol w="2398268"/>
                <a:gridCol w="2960254"/>
                <a:gridCol w="4216119"/>
                <a:gridCol w="1794093"/>
              </a:tblGrid>
              <a:tr h="280035">
                <a:tc>
                  <a:txBody>
                    <a:bodyPr wrap="square"/>
                    <a:lstStyle/>
                    <a:p>
                      <a:r>
                        <a:rPr sz="1100" b="1">
                          <a:solidFill>
                            <a:srgbClr val="FFFFFF"/>
                          </a:solidFill>
                          <a:latin typeface="Arial"/>
                        </a:rPr>
                        <a:t>finding</a:t>
                      </a:r>
                    </a:p>
                  </a:txBody>
                  <a:tcPr marL="54864" marR="54864" marT="18288" marB="18288">
                    <a:solidFill>
                      <a:srgbClr val="1F4E79"/>
                    </a:solidFill>
                  </a:tcPr>
                </a:tc>
                <a:tc>
                  <a:txBody>
                    <a:bodyPr wrap="square"/>
                    <a:lstStyle/>
                    <a:p>
                      <a:r>
                        <a:rPr sz="1100" b="1">
                          <a:solidFill>
                            <a:srgbClr val="FFFFFF"/>
                          </a:solidFill>
                          <a:latin typeface="Arial"/>
                        </a:rPr>
                        <a:t>symptom</a:t>
                      </a:r>
                    </a:p>
                  </a:txBody>
                  <a:tcPr marL="54864" marR="54864" marT="18288" marB="18288">
                    <a:solidFill>
                      <a:srgbClr val="1F4E79"/>
                    </a:solidFill>
                  </a:tcPr>
                </a:tc>
                <a:tc>
                  <a:txBody>
                    <a:bodyPr wrap="square"/>
                    <a:lstStyle/>
                    <a:p>
                      <a:r>
                        <a:rPr sz="1100" b="1">
                          <a:solidFill>
                            <a:srgbClr val="FFFFFF"/>
                          </a:solidFill>
                          <a:latin typeface="Arial"/>
                        </a:rPr>
                        <a:t>fix</a:t>
                      </a:r>
                    </a:p>
                  </a:txBody>
                  <a:tcPr marL="54864" marR="54864" marT="18288" marB="18288">
                    <a:solidFill>
                      <a:srgbClr val="1F4E79"/>
                    </a:solidFill>
                  </a:tcPr>
                </a:tc>
                <a:tc>
                  <a:txBody>
                    <a:bodyPr wrap="square"/>
                    <a:lstStyle/>
                    <a:p>
                      <a:r>
                        <a:rPr sz="1100" b="1">
                          <a:solidFill>
                            <a:srgbClr val="FFFFFF"/>
                          </a:solidFill>
                          <a:latin typeface="Arial"/>
                        </a:rPr>
                        <a:t>test</a:t>
                      </a:r>
                    </a:p>
                  </a:txBody>
                  <a:tcPr marL="54864" marR="54864" marT="18288" marB="18288">
                    <a:solidFill>
                      <a:srgbClr val="1F4E79"/>
                    </a:solidFill>
                  </a:tcPr>
                </a:tc>
              </a:tr>
              <a:tr h="468630">
                <a:tc>
                  <a:txBody>
                    <a:bodyPr wrap="square"/>
                    <a:lstStyle/>
                    <a:p>
                      <a:r>
                        <a:rPr sz="1100" b="0">
                          <a:solidFill>
                            <a:srgbClr val="282828"/>
                          </a:solidFill>
                          <a:latin typeface="Arial"/>
                        </a:rPr>
                        <a:t>glass names ignored at load</a:t>
                      </a:r>
                    </a:p>
                  </a:txBody>
                  <a:tcPr marL="54864" marR="54864" marT="18288" marB="18288">
                    <a:solidFill>
                      <a:srgbClr val="FFFFFF"/>
                    </a:solidFill>
                  </a:tcPr>
                </a:tc>
                <a:tc>
                  <a:txBody>
                    <a:bodyPr wrap="square"/>
                    <a:lstStyle/>
                    <a:p>
                      <a:r>
                        <a:rPr sz="1100" b="0">
                          <a:solidFill>
                            <a:srgbClr val="282828"/>
                          </a:solidFill>
                          <a:latin typeface="Arial"/>
                        </a:rPr>
                        <a:t>a GlassElt= Silica element traced as air in every binding</a:t>
                      </a:r>
                    </a:p>
                  </a:txBody>
                  <a:tcPr marL="54864" marR="54864" marT="18288" marB="18288">
                    <a:solidFill>
                      <a:srgbClr val="FFFFFF"/>
                    </a:solidFill>
                  </a:tcPr>
                </a:tc>
                <a:tc>
                  <a:txBody>
                    <a:bodyPr wrap="square"/>
                    <a:lstStyle/>
                    <a:p>
                      <a:r>
                        <a:rPr sz="1100" b="0">
                          <a:solidFill>
                            <a:srgbClr val="282828"/>
                          </a:solidFill>
                          <a:latin typeface="Arial"/>
                        </a:rPr>
                        <a:t>the glass catalog is blanked once at allocation, not on every load</a:t>
                      </a:r>
                    </a:p>
                  </a:txBody>
                  <a:tcPr marL="54864" marR="54864" marT="18288" marB="18288">
                    <a:solidFill>
                      <a:srgbClr val="FFFFFF"/>
                    </a:solidFill>
                  </a:tcPr>
                </a:tc>
                <a:tc>
                  <a:txBody>
                    <a:bodyPr wrap="square"/>
                    <a:lstStyle/>
                    <a:p>
                      <a:r>
                        <a:rPr sz="1100" b="0">
                          <a:solidFill>
                            <a:srgbClr val="282828"/>
                          </a:solidFill>
                          <a:latin typeface="Arial"/>
                        </a:rPr>
                        <a:t>tGlassDispersion (3)</a:t>
                      </a:r>
                    </a:p>
                  </a:txBody>
                  <a:tcPr marL="54864" marR="54864" marT="18288" marB="18288">
                    <a:solidFill>
                      <a:srgbClr val="FFFFFF"/>
                    </a:solidFill>
                  </a:tcPr>
                </a:tc>
              </a:tr>
              <a:tr h="468630">
                <a:tc>
                  <a:txBody>
                    <a:bodyPr wrap="square"/>
                    <a:lstStyle/>
                    <a:p>
                      <a:r>
                        <a:rPr sz="1100" b="0">
                          <a:solidFill>
                            <a:srgbClr val="282828"/>
                          </a:solidFill>
                          <a:latin typeface="Arial"/>
                        </a:rPr>
                        <a:t>vacuum wavelength inside glass</a:t>
                      </a:r>
                    </a:p>
                  </a:txBody>
                  <a:tcPr marL="54864" marR="54864" marT="18288" marB="18288">
                    <a:solidFill>
                      <a:srgbClr val="ECF1F6"/>
                    </a:solidFill>
                  </a:tcPr>
                </a:tc>
                <a:tc>
                  <a:txBody>
                    <a:bodyPr wrap="square"/>
                    <a:lstStyle/>
                    <a:p>
                      <a:r>
                        <a:rPr sz="1100" b="0">
                          <a:solidFill>
                            <a:srgbClr val="282828"/>
                          </a:solidFill>
                          <a:latin typeface="Arial"/>
                        </a:rPr>
                        <a:t>a propagation leg in a medium ran at the wrong Fresnel number by n</a:t>
                      </a:r>
                    </a:p>
                  </a:txBody>
                  <a:tcPr marL="54864" marR="54864" marT="18288" marB="18288">
                    <a:solidFill>
                      <a:srgbClr val="ECF1F6"/>
                    </a:solidFill>
                  </a:tcPr>
                </a:tc>
                <a:tc>
                  <a:txBody>
                    <a:bodyPr wrap="square"/>
                    <a:lstStyle/>
                    <a:p>
                      <a:r>
                        <a:rPr sz="1100" b="0">
                          <a:solidFill>
                            <a:srgbClr val="282828"/>
                          </a:solidFill>
                          <a:latin typeface="Arial"/>
                        </a:rPr>
                        <a:t>every kernel takes λ/n of the leg's medium</a:t>
                      </a:r>
                    </a:p>
                  </a:txBody>
                  <a:tcPr marL="54864" marR="54864" marT="18288" marB="18288">
                    <a:solidFill>
                      <a:srgbClr val="ECF1F6"/>
                    </a:solidFill>
                  </a:tcPr>
                </a:tc>
                <a:tc>
                  <a:txBody>
                    <a:bodyPr wrap="square"/>
                    <a:lstStyle/>
                    <a:p>
                      <a:r>
                        <a:rPr sz="1100" b="0">
                          <a:solidFill>
                            <a:srgbClr val="282828"/>
                          </a:solidFill>
                          <a:latin typeface="Arial"/>
                        </a:rPr>
                        <a:t>tPropMedium (3): z in n ≡ z/n in vacuum</a:t>
                      </a:r>
                    </a:p>
                  </a:txBody>
                  <a:tcPr marL="54864" marR="54864" marT="18288" marB="18288">
                    <a:solidFill>
                      <a:srgbClr val="ECF1F6"/>
                    </a:solidFill>
                  </a:tcPr>
                </a:tc>
              </a:tr>
              <a:tr h="468630">
                <a:tc>
                  <a:txBody>
                    <a:bodyPr wrap="square"/>
                    <a:lstStyle/>
                    <a:p>
                      <a:r>
                        <a:rPr sz="1100" b="0">
                          <a:solidFill>
                            <a:srgbClr val="282828"/>
                          </a:solidFill>
                          <a:latin typeface="Arial"/>
                        </a:rPr>
                        <a:t>groove period along the surface</a:t>
                      </a:r>
                    </a:p>
                  </a:txBody>
                  <a:tcPr marL="54864" marR="54864" marT="18288" marB="18288">
                    <a:solidFill>
                      <a:srgbClr val="FFFFFF"/>
                    </a:solidFill>
                  </a:tcPr>
                </a:tc>
                <a:tc>
                  <a:txBody>
                    <a:bodyPr wrap="square"/>
                    <a:lstStyle/>
                    <a:p>
                      <a:r>
                        <a:rPr sz="1100" b="0">
                          <a:solidFill>
                            <a:srgbClr val="282828"/>
                          </a:solidFill>
                          <a:latin typeface="Arial"/>
                        </a:rPr>
                        <a:t>2.8 / 3.3 px rms spectral blur at 2500 nm (Offner / Dyson)</a:t>
                      </a:r>
                    </a:p>
                  </a:txBody>
                  <a:tcPr marL="54864" marR="54864" marT="18288" marB="18288">
                    <a:solidFill>
                      <a:srgbClr val="FFFFFF"/>
                    </a:solidFill>
                  </a:tcPr>
                </a:tc>
                <a:tc>
                  <a:txBody>
                    <a:bodyPr wrap="square"/>
                    <a:lstStyle/>
                    <a:p>
                      <a:r>
                        <a:rPr sz="1100" b="0">
                          <a:solidFill>
                            <a:srgbClr val="282828"/>
                          </a:solidFill>
                          <a:latin typeface="Arial"/>
                        </a:rPr>
                        <a:t>the local grating vector is the un-normalised projection of the ruling direction (chord-ruled)</a:t>
                      </a:r>
                    </a:p>
                  </a:txBody>
                  <a:tcPr marL="54864" marR="54864" marT="18288" marB="18288">
                    <a:solidFill>
                      <a:srgbClr val="FFFFFF"/>
                    </a:solidFill>
                  </a:tcPr>
                </a:tc>
                <a:tc>
                  <a:txBody>
                    <a:bodyPr wrap="square"/>
                    <a:lstStyle/>
                    <a:p>
                      <a:r>
                        <a:rPr sz="1100" b="0">
                          <a:solidFill>
                            <a:srgbClr val="282828"/>
                          </a:solidFill>
                          <a:latin typeface="Arial"/>
                        </a:rPr>
                        <a:t>tGratingImmersed (4), test_grating_chord</a:t>
                      </a:r>
                    </a:p>
                  </a:txBody>
                  <a:tcPr marL="54864" marR="54864" marT="18288" marB="18288">
                    <a:solidFill>
                      <a:srgbClr val="FFFFFF"/>
                    </a:solidFill>
                  </a:tcPr>
                </a:tc>
              </a:tr>
              <a:tr h="468630">
                <a:tc>
                  <a:txBody>
                    <a:bodyPr wrap="square"/>
                    <a:lstStyle/>
                    <a:p>
                      <a:r>
                        <a:rPr sz="1100" b="0">
                          <a:solidFill>
                            <a:srgbClr val="282828"/>
                          </a:solidFill>
                          <a:latin typeface="Arial"/>
                        </a:rPr>
                        <a:t>grating path-length jump</a:t>
                      </a:r>
                    </a:p>
                  </a:txBody>
                  <a:tcPr marL="54864" marR="54864" marT="18288" marB="18288">
                    <a:solidFill>
                      <a:srgbClr val="ECF1F6"/>
                    </a:solidFill>
                  </a:tcPr>
                </a:tc>
                <a:tc>
                  <a:txBody>
                    <a:bodyPr wrap="square"/>
                    <a:lstStyle/>
                    <a:p>
                      <a:r>
                        <a:rPr sz="1100" b="0">
                          <a:solidFill>
                            <a:srgbClr val="282828"/>
                          </a:solidFill>
                          <a:latin typeface="Arial"/>
                        </a:rPr>
                        <a:t>4 waves rms of pupil OPD where the rays converged to 0.05 µm</a:t>
                      </a:r>
                    </a:p>
                  </a:txBody>
                  <a:tcPr marL="54864" marR="54864" marT="18288" marB="18288">
                    <a:solidFill>
                      <a:srgbClr val="ECF1F6"/>
                    </a:solidFill>
                  </a:tcPr>
                </a:tc>
                <a:tc>
                  <a:txBody>
                    <a:bodyPr wrap="square"/>
                    <a:lstStyle/>
                    <a:p>
                      <a:r>
                        <a:rPr sz="1100" b="0">
                          <a:solidFill>
                            <a:srgbClr val="282828"/>
                          </a:solidFill>
                          <a:latin typeface="Arial"/>
                        </a:rPr>
                        <a:t>the jump is the groove count from the vertex along the ruling direction</a:t>
                      </a:r>
                    </a:p>
                  </a:txBody>
                  <a:tcPr marL="54864" marR="54864" marT="18288" marB="18288">
                    <a:solidFill>
                      <a:srgbClr val="ECF1F6"/>
                    </a:solidFill>
                  </a:tcPr>
                </a:tc>
                <a:tc>
                  <a:txBody>
                    <a:bodyPr wrap="square"/>
                    <a:lstStyle/>
                    <a:p>
                      <a:r>
                        <a:rPr sz="1100" b="0">
                          <a:solidFill>
                            <a:srgbClr val="282828"/>
                          </a:solidFill>
                          <a:latin typeface="Arial"/>
                        </a:rPr>
                        <a:t>tGratingOpl (2)</a:t>
                      </a:r>
                    </a:p>
                  </a:txBody>
                  <a:tcPr marL="54864" marR="54864" marT="18288" marB="18288">
                    <a:solidFill>
                      <a:srgbClr val="ECF1F6"/>
                    </a:solidFill>
                  </a:tcPr>
                </a:tc>
              </a:tr>
            </a:tbl>
          </a:graphicData>
        </a:graphic>
      </p:graphicFrame>
      <p:sp>
        <p:nvSpPr>
          <p:cNvPr id="5" name="TextBox 4"/>
          <p:cNvSpPr txBox="1"/>
          <p:nvPr/>
        </p:nvSpPr>
        <p:spPr>
          <a:xfrm>
            <a:off x="411480" y="3599307"/>
            <a:ext cx="11368735" cy="274320"/>
          </a:xfrm>
          <a:prstGeom prst="rect">
            <a:avLst/>
          </a:prstGeom>
          <a:noFill/>
        </p:spPr>
        <p:txBody>
          <a:bodyPr wrap="square">
            <a:spAutoFit/>
          </a:bodyPr>
          <a:lstStyle/>
          <a:p>
            <a:pPr>
              <a:spcAft>
                <a:spcPts val="600"/>
              </a:spcAft>
            </a:pPr>
            <a:r>
              <a:rPr sz="1050" b="0">
                <a:solidFill>
                  <a:srgbClr val="6E6E6E"/>
                </a:solidFill>
                <a:latin typeface="Arial"/>
              </a:rPr>
              <a:t>Flat gratings are unchanged by the last two.  A fifth item, a short AsphCoef= line killing the host process, now pads with zero and warns (tRxShortAsph).</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records and tools behind each slide</a:t>
            </a:r>
          </a:p>
          <a:p>
            <a:pPr>
              <a:spcAft>
                <a:spcPts val="0"/>
              </a:spcAft>
            </a:pPr>
            <a:r>
              <a:rPr sz="1250" b="0">
                <a:solidFill>
                  <a:srgbClr val="6E6E6E"/>
                </a:solidFill>
                <a:latin typeface="Arial"/>
              </a:rPr>
              <a:t>Every number traces to a runner stage and its record file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2806065"/>
        </p:xfrm>
        <a:graphic>
          <a:graphicData uri="http://schemas.openxmlformats.org/drawingml/2006/table">
            <a:tbl>
              <a:tblPr firstRow="1" bandRow="1">
                <a:tableStyleId>{5C22544A-7EE6-4342-B048-85BDC9FD1C3A}</a:tableStyleId>
              </a:tblPr>
              <a:tblGrid>
                <a:gridCol w="2107692"/>
                <a:gridCol w="1817116"/>
                <a:gridCol w="4634898"/>
                <a:gridCol w="2809029"/>
              </a:tblGrid>
              <a:tr h="280035">
                <a:tc>
                  <a:txBody>
                    <a:bodyPr wrap="square"/>
                    <a:lstStyle/>
                    <a:p>
                      <a:r>
                        <a:rPr sz="1100" b="1">
                          <a:solidFill>
                            <a:srgbClr val="FFFFFF"/>
                          </a:solidFill>
                          <a:latin typeface="Arial"/>
                        </a:rPr>
                        <a:t>slide</a:t>
                      </a:r>
                    </a:p>
                  </a:txBody>
                  <a:tcPr marL="54864" marR="54864" marT="18288" marB="18288">
                    <a:solidFill>
                      <a:srgbClr val="1F4E79"/>
                    </a:solidFill>
                  </a:tcPr>
                </a:tc>
                <a:tc>
                  <a:txBody>
                    <a:bodyPr wrap="square"/>
                    <a:lstStyle/>
                    <a:p>
                      <a:r>
                        <a:rPr sz="1100" b="1">
                          <a:solidFill>
                            <a:srgbClr val="FFFFFF"/>
                          </a:solidFill>
                          <a:latin typeface="Arial"/>
                        </a:rPr>
                        <a:t>runner stage</a:t>
                      </a:r>
                    </a:p>
                  </a:txBody>
                  <a:tcPr marL="54864" marR="54864" marT="18288" marB="18288">
                    <a:solidFill>
                      <a:srgbClr val="1F4E79"/>
                    </a:solidFill>
                  </a:tcPr>
                </a:tc>
                <a:tc>
                  <a:txBody>
                    <a:bodyPr wrap="square"/>
                    <a:lstStyle/>
                    <a:p>
                      <a:r>
                        <a:rPr sz="1100" b="1">
                          <a:solidFill>
                            <a:srgbClr val="FFFFFF"/>
                          </a:solidFill>
                          <a:latin typeface="Arial"/>
                        </a:rPr>
                        <a:t>record</a:t>
                      </a:r>
                    </a:p>
                  </a:txBody>
                  <a:tcPr marL="54864" marR="54864" marT="18288" marB="18288">
                    <a:solidFill>
                      <a:srgbClr val="1F4E79"/>
                    </a:solidFill>
                  </a:tcPr>
                </a:tc>
                <a:tc>
                  <a:txBody>
                    <a:bodyPr wrap="square"/>
                    <a:lstStyle/>
                    <a:p>
                      <a:r>
                        <a:rPr sz="1100" b="1">
                          <a:solidFill>
                            <a:srgbClr val="FFFFFF"/>
                          </a:solidFill>
                          <a:latin typeface="Arial"/>
                        </a:rPr>
                        <a:t>tool</a:t>
                      </a:r>
                    </a:p>
                  </a:txBody>
                  <a:tcPr marL="54864" marR="54864" marT="18288" marB="18288">
                    <a:solidFill>
                      <a:srgbClr val="1F4E79"/>
                    </a:solidFill>
                  </a:tcPr>
                </a:tc>
              </a:tr>
              <a:tr h="468630">
                <a:tc>
                  <a:txBody>
                    <a:bodyPr wrap="square"/>
                    <a:lstStyle/>
                    <a:p>
                      <a:r>
                        <a:rPr sz="1100" b="0">
                          <a:solidFill>
                            <a:srgbClr val="282828"/>
                          </a:solidFill>
                          <a:latin typeface="Arial"/>
                        </a:rPr>
                        <a:t>scaling law</a:t>
                      </a:r>
                    </a:p>
                  </a:txBody>
                  <a:tcPr marL="54864" marR="54864" marT="18288" marB="18288">
                    <a:solidFill>
                      <a:srgbClr val="FFFFFF"/>
                    </a:solidFill>
                  </a:tcPr>
                </a:tc>
                <a:tc>
                  <a:txBody>
                    <a:bodyPr wrap="square"/>
                    <a:lstStyle/>
                    <a:p>
                      <a:r>
                        <a:rPr sz="1100" b="0">
                          <a:solidFill>
                            <a:srgbClr val="282828"/>
                          </a:solidFill>
                          <a:latin typeface="Arial"/>
                        </a:rPr>
                        <a:t>s0 (engine-free)</a:t>
                      </a:r>
                    </a:p>
                  </a:txBody>
                  <a:tcPr marL="54864" marR="54864" marT="18288" marB="18288">
                    <a:solidFill>
                      <a:srgbClr val="FFFFFF"/>
                    </a:solidFill>
                  </a:tcPr>
                </a:tc>
                <a:tc>
                  <a:txBody>
                    <a:bodyPr wrap="square"/>
                    <a:lstStyle/>
                    <a:p>
                      <a:r>
                        <a:rPr sz="1100" b="0">
                          <a:solidFill>
                            <a:srgbClr val="282828"/>
                          </a:solidFill>
                          <a:latin typeface="Arial"/>
                        </a:rPr>
                        <a:t>dyson5_s0_scaling.txt</a:t>
                      </a:r>
                    </a:p>
                  </a:txBody>
                  <a:tcPr marL="54864" marR="54864" marT="18288" marB="18288">
                    <a:solidFill>
                      <a:srgbClr val="FFFFFF"/>
                    </a:solidFill>
                  </a:tcPr>
                </a:tc>
                <a:tc>
                  <a:txBody>
                    <a:bodyPr wrap="square"/>
                    <a:lstStyle/>
                    <a:p>
                      <a:r>
                        <a:rPr sz="1100" b="0">
                          <a:solidFill>
                            <a:srgbClr val="282828"/>
                          </a:solidFill>
                          <a:latin typeface="Arial"/>
                        </a:rPr>
                        <a:t>design/src/dyson_layout.m, dyson_scaling.m</a:t>
                      </a:r>
                    </a:p>
                  </a:txBody>
                  <a:tcPr marL="54864" marR="54864" marT="18288" marB="18288">
                    <a:solidFill>
                      <a:srgbClr val="FFFFFF"/>
                    </a:solidFill>
                  </a:tcPr>
                </a:tc>
              </a:tr>
              <a:tr h="280035">
                <a:tc>
                  <a:txBody>
                    <a:bodyPr wrap="square"/>
                    <a:lstStyle/>
                    <a:p>
                      <a:r>
                        <a:rPr sz="1100" b="0">
                          <a:solidFill>
                            <a:srgbClr val="282828"/>
                          </a:solidFill>
                          <a:latin typeface="Arial"/>
                        </a:rPr>
                        <a:t>as traced (both forms)</a:t>
                      </a:r>
                    </a:p>
                  </a:txBody>
                  <a:tcPr marL="54864" marR="54864" marT="18288" marB="18288">
                    <a:solidFill>
                      <a:srgbClr val="ECF1F6"/>
                    </a:solidFill>
                  </a:tcPr>
                </a:tc>
                <a:tc>
                  <a:txBody>
                    <a:bodyPr wrap="square"/>
                    <a:lstStyle/>
                    <a:p>
                      <a:r>
                        <a:rPr sz="1100" b="0">
                          <a:solidFill>
                            <a:srgbClr val="282828"/>
                          </a:solidFill>
                          <a:latin typeface="Arial"/>
                        </a:rPr>
                        <a:t>dyson5_view_figs.m</a:t>
                      </a:r>
                    </a:p>
                  </a:txBody>
                  <a:tcPr marL="54864" marR="54864" marT="18288" marB="18288">
                    <a:solidFill>
                      <a:srgbClr val="ECF1F6"/>
                    </a:solidFill>
                  </a:tcPr>
                </a:tc>
                <a:tc>
                  <a:txBody>
                    <a:bodyPr wrap="square"/>
                    <a:lstStyle/>
                    <a:p>
                      <a:r>
                        <a:rPr sz="1100" b="0">
                          <a:solidFill>
                            <a:srgbClr val="282828"/>
                          </a:solidFill>
                          <a:latin typeface="Arial"/>
                        </a:rPr>
                        <a:t>_view3d.png, _viewyz.png</a:t>
                      </a:r>
                    </a:p>
                  </a:txBody>
                  <a:tcPr marL="54864" marR="54864" marT="18288" marB="18288">
                    <a:solidFill>
                      <a:srgbClr val="ECF1F6"/>
                    </a:solidFill>
                  </a:tcPr>
                </a:tc>
                <a:tc>
                  <a:txBody>
                    <a:bodyPr wrap="square"/>
                    <a:lstStyle/>
                    <a:p>
                      <a:r>
                        <a:rPr sz="1100" b="0">
                          <a:solidFill>
                            <a:srgbClr val="282828"/>
                          </a:solidFill>
                          <a:latin typeface="Arial"/>
                        </a:rPr>
                        <a:t>macos.view_rx on the deck</a:t>
                      </a:r>
                    </a:p>
                  </a:txBody>
                  <a:tcPr marL="54864" marR="54864" marT="18288" marB="18288">
                    <a:solidFill>
                      <a:srgbClr val="ECF1F6"/>
                    </a:solidFill>
                  </a:tcPr>
                </a:tc>
              </a:tr>
              <a:tr h="468630">
                <a:tc>
                  <a:txBody>
                    <a:bodyPr wrap="square"/>
                    <a:lstStyle/>
                    <a:p>
                      <a:r>
                        <a:rPr sz="1100" b="0">
                          <a:solidFill>
                            <a:srgbClr val="282828"/>
                          </a:solidFill>
                          <a:latin typeface="Arial"/>
                        </a:rPr>
                        <a:t>seed scored</a:t>
                      </a:r>
                    </a:p>
                  </a:txBody>
                  <a:tcPr marL="54864" marR="54864" marT="18288" marB="18288">
                    <a:solidFill>
                      <a:srgbClr val="FFFFFF"/>
                    </a:solidFill>
                  </a:tcPr>
                </a:tc>
                <a:tc>
                  <a:txBody>
                    <a:bodyPr wrap="square"/>
                    <a:lstStyle/>
                    <a:p>
                      <a:r>
                        <a:rPr sz="1100" b="0">
                          <a:solidFill>
                            <a:srgbClr val="282828"/>
                          </a:solidFill>
                          <a:latin typeface="Arial"/>
                        </a:rPr>
                        <a:t>s1 emit, s2 score</a:t>
                      </a:r>
                    </a:p>
                  </a:txBody>
                  <a:tcPr marL="54864" marR="54864" marT="18288" marB="18288">
                    <a:solidFill>
                      <a:srgbClr val="FFFFFF"/>
                    </a:solidFill>
                  </a:tcPr>
                </a:tc>
                <a:tc>
                  <a:txBody>
                    <a:bodyPr wrap="square"/>
                    <a:lstStyle/>
                    <a:p>
                      <a:r>
                        <a:rPr sz="1100" b="0">
                          <a:solidFill>
                            <a:srgbClr val="282828"/>
                          </a:solidFill>
                          <a:latin typeface="Arial"/>
                        </a:rPr>
                        <a:t>dyson5_s1.txt, dyson5_s2.txt, dyson5_s2_maps.png</a:t>
                      </a:r>
                    </a:p>
                  </a:txBody>
                  <a:tcPr marL="54864" marR="54864" marT="18288" marB="18288">
                    <a:solidFill>
                      <a:srgbClr val="FFFFFF"/>
                    </a:solidFill>
                  </a:tcPr>
                </a:tc>
                <a:tc>
                  <a:txBody>
                    <a:bodyPr wrap="square"/>
                    <a:lstStyle/>
                    <a:p>
                      <a:r>
                        <a:rPr sz="1100" b="0">
                          <a:solidFill>
                            <a:srgbClr val="282828"/>
                          </a:solidFill>
                          <a:latin typeface="Arial"/>
                        </a:rPr>
                        <a:t>spectrometer_geom.m, spectrometer_rx.m, spectrometer_score.m</a:t>
                      </a:r>
                    </a:p>
                  </a:txBody>
                  <a:tcPr marL="54864" marR="54864" marT="18288" marB="18288">
                    <a:solidFill>
                      <a:srgbClr val="FFFFFF"/>
                    </a:solidFill>
                  </a:tcPr>
                </a:tc>
              </a:tr>
              <a:tr h="280035">
                <a:tc>
                  <a:txBody>
                    <a:bodyPr wrap="square"/>
                    <a:lstStyle/>
                    <a:p>
                      <a:r>
                        <a:rPr sz="1100" b="0">
                          <a:solidFill>
                            <a:srgbClr val="282828"/>
                          </a:solidFill>
                          <a:latin typeface="Arial"/>
                        </a:rPr>
                        <a:t>chain vs engine</a:t>
                      </a:r>
                    </a:p>
                  </a:txBody>
                  <a:tcPr marL="54864" marR="54864" marT="18288" marB="18288">
                    <a:solidFill>
                      <a:srgbClr val="ECF1F6"/>
                    </a:solidFill>
                  </a:tcPr>
                </a:tc>
                <a:tc>
                  <a:txBody>
                    <a:bodyPr wrap="square"/>
                    <a:lstStyle/>
                    <a:p>
                      <a:r>
                        <a:rPr sz="1100" b="0">
                          <a:solidFill>
                            <a:srgbClr val="282828"/>
                          </a:solidFill>
                          <a:latin typeface="Arial"/>
                        </a:rPr>
                        <a:t>gate</a:t>
                      </a:r>
                    </a:p>
                  </a:txBody>
                  <a:tcPr marL="54864" marR="54864" marT="18288" marB="18288">
                    <a:solidFill>
                      <a:srgbClr val="ECF1F6"/>
                    </a:solidFill>
                  </a:tcPr>
                </a:tc>
                <a:tc>
                  <a:txBody>
                    <a:bodyPr wrap="square"/>
                    <a:lstStyle/>
                    <a:p>
                      <a:r>
                        <a:rPr sz="1100" b="0">
                          <a:solidFill>
                            <a:srgbClr val="282828"/>
                          </a:solidFill>
                          <a:latin typeface="Arial"/>
                        </a:rPr>
                        <a:t>tests/tSpectrometerRx.m</a:t>
                      </a:r>
                    </a:p>
                  </a:txBody>
                  <a:tcPr marL="54864" marR="54864" marT="18288" marB="18288">
                    <a:solidFill>
                      <a:srgbClr val="ECF1F6"/>
                    </a:solidFill>
                  </a:tcPr>
                </a:tc>
                <a:tc>
                  <a:txBody>
                    <a:bodyPr wrap="square"/>
                    <a:lstStyle/>
                    <a:p>
                      <a:r>
                        <a:rPr sz="1100" b="0">
                          <a:solidFill>
                            <a:srgbClr val="282828"/>
                          </a:solidFill>
                          <a:latin typeface="Arial"/>
                        </a:rPr>
                        <a:t>per-ray re-trace, 1e-9 m</a:t>
                      </a:r>
                    </a:p>
                  </a:txBody>
                  <a:tcPr marL="54864" marR="54864" marT="18288" marB="18288">
                    <a:solidFill>
                      <a:srgbClr val="ECF1F6"/>
                    </a:solidFill>
                  </a:tcPr>
                </a:tc>
              </a:tr>
              <a:tr h="280035">
                <a:tc>
                  <a:txBody>
                    <a:bodyPr wrap="square"/>
                    <a:lstStyle/>
                    <a:p>
                      <a:r>
                        <a:rPr sz="1100" b="0">
                          <a:solidFill>
                            <a:srgbClr val="282828"/>
                          </a:solidFill>
                          <a:latin typeface="Arial"/>
                        </a:rPr>
                        <a:t>propagation twin</a:t>
                      </a:r>
                    </a:p>
                  </a:txBody>
                  <a:tcPr marL="54864" marR="54864" marT="18288" marB="18288">
                    <a:solidFill>
                      <a:srgbClr val="FFFFFF"/>
                    </a:solidFill>
                  </a:tcPr>
                </a:tc>
                <a:tc>
                  <a:txBody>
                    <a:bodyPr wrap="square"/>
                    <a:lstStyle/>
                    <a:p>
                      <a:r>
                        <a:rPr sz="1100" b="0">
                          <a:solidFill>
                            <a:srgbClr val="282828"/>
                          </a:solidFill>
                          <a:latin typeface="Arial"/>
                        </a:rPr>
                        <a:t>s2w (opt-in, model 512)</a:t>
                      </a:r>
                    </a:p>
                  </a:txBody>
                  <a:tcPr marL="54864" marR="54864" marT="18288" marB="18288">
                    <a:solidFill>
                      <a:srgbClr val="FFFFFF"/>
                    </a:solidFill>
                  </a:tcPr>
                </a:tc>
                <a:tc>
                  <a:txBody>
                    <a:bodyPr wrap="square"/>
                    <a:lstStyle/>
                    <a:p>
                      <a:r>
                        <a:rPr sz="1100" b="0">
                          <a:solidFill>
                            <a:srgbClr val="282828"/>
                          </a:solidFill>
                          <a:latin typeface="Arial"/>
                        </a:rPr>
                        <a:t>dyson5_s2w.txt</a:t>
                      </a:r>
                    </a:p>
                  </a:txBody>
                  <a:tcPr marL="54864" marR="54864" marT="18288" marB="18288">
                    <a:solidFill>
                      <a:srgbClr val="FFFFFF"/>
                    </a:solidFill>
                  </a:tcPr>
                </a:tc>
                <a:tc>
                  <a:txBody>
                    <a:bodyPr wrap="square"/>
                    <a:lstStyle/>
                    <a:p>
                      <a:r>
                        <a:rPr sz="1100" b="0">
                          <a:solidFill>
                            <a:srgbClr val="282828"/>
                          </a:solidFill>
                          <a:latin typeface="Arial"/>
                        </a:rPr>
                        <a:t>spectrometer_wave.m</a:t>
                      </a:r>
                    </a:p>
                  </a:txBody>
                  <a:tcPr marL="54864" marR="54864" marT="18288" marB="18288">
                    <a:solidFill>
                      <a:srgbClr val="FFFFFF"/>
                    </a:solidFill>
                  </a:tcPr>
                </a:tc>
              </a:tr>
              <a:tr h="468630">
                <a:tc>
                  <a:txBody>
                    <a:bodyPr wrap="square"/>
                    <a:lstStyle/>
                    <a:p>
                      <a:r>
                        <a:rPr sz="1100" b="0">
                          <a:solidFill>
                            <a:srgbClr val="282828"/>
                          </a:solidFill>
                          <a:latin typeface="Arial"/>
                        </a:rPr>
                        <a:t>departure ladder, R4, trade</a:t>
                      </a:r>
                    </a:p>
                  </a:txBody>
                  <a:tcPr marL="54864" marR="54864" marT="18288" marB="18288">
                    <a:solidFill>
                      <a:srgbClr val="ECF1F6"/>
                    </a:solidFill>
                  </a:tcPr>
                </a:tc>
                <a:tc>
                  <a:txBody>
                    <a:bodyPr wrap="square"/>
                    <a:lstStyle/>
                    <a:p>
                      <a:r>
                        <a:rPr sz="1100" b="0">
                          <a:solidFill>
                            <a:srgbClr val="282828"/>
                          </a:solidFill>
                          <a:latin typeface="Arial"/>
                        </a:rPr>
                        <a:t>s3, s3free, s3b</a:t>
                      </a:r>
                    </a:p>
                  </a:txBody>
                  <a:tcPr marL="54864" marR="54864" marT="18288" marB="18288">
                    <a:solidFill>
                      <a:srgbClr val="ECF1F6"/>
                    </a:solidFill>
                  </a:tcPr>
                </a:tc>
                <a:tc>
                  <a:txBody>
                    <a:bodyPr wrap="square"/>
                    <a:lstStyle/>
                    <a:p>
                      <a:r>
                        <a:rPr sz="1100" b="0">
                          <a:solidFill>
                            <a:srgbClr val="282828"/>
                          </a:solidFill>
                          <a:latin typeface="Arial"/>
                        </a:rPr>
                        <a:t>dyson5_s3.txt, dyson5_s3free.txt, dyson5_s3_trade.txt, dyson5_s3_layout_r.png, dyson5_s3_maps_r.png</a:t>
                      </a:r>
                    </a:p>
                  </a:txBody>
                  <a:tcPr marL="54864" marR="54864" marT="18288" marB="18288">
                    <a:solidFill>
                      <a:srgbClr val="ECF1F6"/>
                    </a:solidFill>
                  </a:tcPr>
                </a:tc>
                <a:tc>
                  <a:txBody>
                    <a:bodyPr wrap="square"/>
                    <a:lstStyle/>
                    <a:p>
                      <a:r>
                        <a:rPr sz="1100" b="0">
                          <a:solidFill>
                            <a:srgbClr val="282828"/>
                          </a:solidFill>
                          <a:latin typeface="Arial"/>
                        </a:rPr>
                        <a:t>dyson_ladder.m, dyson5_trade.m</a:t>
                      </a:r>
                    </a:p>
                  </a:txBody>
                  <a:tcPr marL="54864" marR="54864" marT="18288" marB="18288">
                    <a:solidFill>
                      <a:srgbClr val="ECF1F6"/>
                    </a:solidFill>
                  </a:tcPr>
                </a:tc>
              </a:tr>
              <a:tr h="280035">
                <a:tc>
                  <a:txBody>
                    <a:bodyPr wrap="square"/>
                    <a:lstStyle/>
                    <a:p>
                      <a:r>
                        <a:rPr sz="1100" b="0">
                          <a:solidFill>
                            <a:srgbClr val="282828"/>
                          </a:solidFill>
                          <a:latin typeface="Arial"/>
                        </a:rPr>
                        <a:t>slit loss</a:t>
                      </a:r>
                    </a:p>
                  </a:txBody>
                  <a:tcPr marL="54864" marR="54864" marT="18288" marB="18288">
                    <a:solidFill>
                      <a:srgbClr val="FFFFFF"/>
                    </a:solidFill>
                  </a:tcPr>
                </a:tc>
                <a:tc>
                  <a:txBody>
                    <a:bodyPr wrap="square"/>
                    <a:lstStyle/>
                    <a:p>
                      <a:r>
                        <a:rPr sz="1100" b="0">
                          <a:solidFill>
                            <a:srgbClr val="282828"/>
                          </a:solidFill>
                          <a:latin typeface="Arial"/>
                        </a:rPr>
                        <a:t>s2l</a:t>
                      </a:r>
                    </a:p>
                  </a:txBody>
                  <a:tcPr marL="54864" marR="54864" marT="18288" marB="18288">
                    <a:solidFill>
                      <a:srgbClr val="FFFFFF"/>
                    </a:solidFill>
                  </a:tcPr>
                </a:tc>
                <a:tc>
                  <a:txBody>
                    <a:bodyPr wrap="square"/>
                    <a:lstStyle/>
                    <a:p>
                      <a:r>
                        <a:rPr sz="1100" b="0">
                          <a:solidFill>
                            <a:srgbClr val="282828"/>
                          </a:solidFill>
                          <a:latin typeface="Arial"/>
                        </a:rPr>
                        <a:t>dyson5_s2l.txt, dyson5_s2l_slitloss.png</a:t>
                      </a:r>
                    </a:p>
                  </a:txBody>
                  <a:tcPr marL="54864" marR="54864" marT="18288" marB="18288">
                    <a:solidFill>
                      <a:srgbClr val="FFFFFF"/>
                    </a:solidFill>
                  </a:tcPr>
                </a:tc>
                <a:tc>
                  <a:txBody>
                    <a:bodyPr wrap="square"/>
                    <a:lstStyle/>
                    <a:p>
                      <a:r>
                        <a:rPr sz="1100" b="0">
                          <a:solidFill>
                            <a:srgbClr val="282828"/>
                          </a:solidFill>
                          <a:latin typeface="Arial"/>
                        </a:rPr>
                        <a:t>far-field leg vs sinc²</a:t>
                      </a:r>
                    </a:p>
                  </a:txBody>
                  <a:tcPr marL="54864" marR="54864" marT="18288" marB="18288">
                    <a:solidFill>
                      <a:srgbClr val="FFFFFF"/>
                    </a:solidFill>
                  </a:tcPr>
                </a:tc>
              </a:tr>
            </a:tbl>
          </a:graphicData>
        </a:graphic>
      </p:graphicFrame>
      <p:sp>
        <p:nvSpPr>
          <p:cNvPr id="5" name="TextBox 4"/>
          <p:cNvSpPr txBox="1"/>
          <p:nvPr/>
        </p:nvSpPr>
        <p:spPr>
          <a:xfrm>
            <a:off x="411480" y="4250817"/>
            <a:ext cx="11368735" cy="274320"/>
          </a:xfrm>
          <a:prstGeom prst="rect">
            <a:avLst/>
          </a:prstGeom>
          <a:noFill/>
        </p:spPr>
        <p:txBody>
          <a:bodyPr wrap="square">
            <a:spAutoFit/>
          </a:bodyPr>
          <a:lstStyle/>
          <a:p>
            <a:pPr>
              <a:spcAft>
                <a:spcPts val="600"/>
              </a:spcAft>
            </a:pPr>
            <a:r>
              <a:rPr sz="1050" b="0">
                <a:solidFill>
                  <a:srgbClr val="6E6E6E"/>
                </a:solidFill>
                <a:latin typeface="Arial"/>
              </a:rPr>
              <a:t>Conventions behind the scaling law: block index n(silica, 1 µm) = 1.450417; in-glass marginal half-angle u = asin(1 / 2nF); field height h from the Dyson axis on the flat face; the slit corner is h = hypot(27 mm, 8 mm).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centroid question, settled</a:t>
            </a:r>
          </a:p>
          <a:p>
            <a:pPr>
              <a:spcAft>
                <a:spcPts val="0"/>
              </a:spcAft>
            </a:pPr>
            <a:r>
              <a:rPr sz="1250" b="0">
                <a:solidFill>
                  <a:srgbClr val="6E6E6E"/>
                </a:solidFill>
                <a:latin typeface="Arial"/>
              </a:rPr>
              <a:t>A 0.12 px wave-versus-ray difference on R4 was the twin's grid read in the wrong frame; the detector sees the ray centroid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symptom: the propagated point-spread function's centroid parted from the ray centroid by 0.001 px on the seeds, 0.03 px on R3 and 0.12 px on R4, growing with wavelength, while the path-length check passed.</a:t>
            </a:r>
          </a:p>
          <a:p>
            <a:pPr>
              <a:spcAft>
                <a:spcPts val="600"/>
              </a:spcAft>
            </a:pPr>
            <a:r>
              <a:rPr sz="1200" b="0">
                <a:solidFill>
                  <a:srgbClr val="282828"/>
                </a:solidFill>
                <a:latin typeface="Arial"/>
              </a:rPr>
              <a:t>•  The proposed mechanism, tested and refuted: an amplitude-weighted ray centroid (Fresnel transmission across the pupil) reproduces the ray centroid to 4 % of the offset (0.0505 vs 0.0524 px at 2500 nm).</a:t>
            </a:r>
          </a:p>
          <a:p>
            <a:pPr>
              <a:spcAft>
                <a:spcPts val="600"/>
              </a:spcAft>
            </a:pPr>
            <a:r>
              <a:rPr sz="1200" b="0">
                <a:solidFill>
                  <a:srgbClr val="282828"/>
                </a:solidFill>
                <a:latin typeface="Arial"/>
              </a:rPr>
              <a:t>•  Numerics ruled out: doubling the window and halving the sampling reproduce every digit.</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cause: the far-field grid carries the source grid's orientation in index space, inverted by the transform; the prescription's y axis is chief × x, which is +y on the Dyson's chief and −y on the Offner's.  Raw centroids on R4 were the ray offsets with both signs flipped, on the Offner with one.</a:t>
            </a:r>
          </a:p>
          <a:p>
            <a:pPr>
              <a:spcAft>
                <a:spcPts val="600"/>
              </a:spcAft>
            </a:pPr>
            <a:r>
              <a:rPr sz="1200" b="0">
                <a:solidFill>
                  <a:srgbClr val="282828"/>
                </a:solidFill>
                <a:latin typeface="Arial"/>
              </a:rPr>
              <a:t>•  The fix: the harness takes the signs from the engine's source frame and states them in its record.  After it: agreement 0.0022 px (R4) and 0.0058 px (Offner) at every slit position and wavelength.  The concentric seed could never have shown this; it had no offset to flip.</a:t>
            </a:r>
          </a:p>
        </p:txBody>
      </p:sp>
      <p:sp>
        <p:nvSpPr>
          <p:cNvPr id="6" name="TextBox 5"/>
          <p:cNvSpPr txBox="1"/>
          <p:nvPr/>
        </p:nvSpPr>
        <p:spPr>
          <a:xfrm>
            <a:off x="6400800" y="3398519"/>
            <a:ext cx="5394960" cy="274320"/>
          </a:xfrm>
          <a:prstGeom prst="rect">
            <a:avLst/>
          </a:prstGeom>
          <a:noFill/>
        </p:spPr>
        <p:txBody>
          <a:bodyPr wrap="square">
            <a:spAutoFit/>
          </a:bodyPr>
          <a:lstStyle/>
          <a:p>
            <a:pPr>
              <a:spcAft>
                <a:spcPts val="600"/>
              </a:spcAft>
            </a:pPr>
            <a:r>
              <a:rPr sz="1050" b="0">
                <a:solidFill>
                  <a:srgbClr val="6E6E6E"/>
                </a:solidFill>
                <a:latin typeface="Arial"/>
              </a:rPr>
              <a:t>Record: dyson5_s2w.txt, dyson5_s2w_R3control.txt; convention in the reference document.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conventions pinned on the way</a:t>
            </a:r>
          </a:p>
          <a:p>
            <a:pPr>
              <a:spcAft>
                <a:spcPts val="0"/>
              </a:spcAft>
            </a:pPr>
            <a:r>
              <a:rPr sz="1250" b="0">
                <a:solidFill>
                  <a:srgbClr val="6E6E6E"/>
                </a:solidFill>
                <a:latin typeface="Arial"/>
              </a:rPr>
              <a:t>Engine facts the chain depends on, stated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ChfRayPos is where rays start and must lie before the first surface; at load the engine folds zSource in once, after which it is the physical source.</a:t>
            </a:r>
          </a:p>
          <a:p>
            <a:pPr>
              <a:spcAft>
                <a:spcPts val="600"/>
              </a:spcAft>
            </a:pPr>
            <a:r>
              <a:rPr sz="1200" b="0">
                <a:solidFill>
                  <a:srgbClr val="282828"/>
                </a:solidFill>
                <a:latin typeface="Arial"/>
              </a:rPr>
              <a:t>•  macos.stop aims immediately and its first pass is one step short on this deck (3.6 mrad): declare the stop first, then write the exact chief ray.</a:t>
            </a:r>
          </a:p>
          <a:p>
            <a:pPr>
              <a:spcAft>
                <a:spcPts val="600"/>
              </a:spcAft>
            </a:pPr>
            <a:r>
              <a:rPr sz="1200" b="0">
                <a:solidFill>
                  <a:srgbClr val="282828"/>
                </a:solidFill>
                <a:latin typeface="Arial"/>
              </a:rPr>
              <a:t>•  A Return coincident with the focal plane drops the rays; use a Reference upstream.</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An immersed grating carries its glass on its own element: the grating branch takes the exit index from the element as written.</a:t>
            </a:r>
          </a:p>
          <a:p>
            <a:pPr>
              <a:spcAft>
                <a:spcPts val="600"/>
              </a:spcAft>
            </a:pPr>
            <a:r>
              <a:rPr sz="1200" b="0">
                <a:solidFill>
                  <a:srgbClr val="282828"/>
                </a:solidFill>
                <a:latin typeface="Arial"/>
              </a:rPr>
              <a:t>•  ray_info_get returns the outgoing direction at the traced element.</a:t>
            </a:r>
          </a:p>
          <a:p>
            <a:pPr>
              <a:spcAft>
                <a:spcPts val="600"/>
              </a:spcAft>
            </a:pPr>
            <a:r>
              <a:rPr sz="1200" b="0">
                <a:solidFill>
                  <a:srgbClr val="282828"/>
                </a:solidFill>
                <a:latin typeface="Arial"/>
              </a:rPr>
              <a:t>•  Centre of curvature is the vertex plus |Kr| along psiElt; KrElt is stored as −|R|.</a:t>
            </a:r>
          </a:p>
        </p:txBody>
      </p:sp>
      <p:sp>
        <p:nvSpPr>
          <p:cNvPr id="6" name="TextBox 5"/>
          <p:cNvSpPr txBox="1"/>
          <p:nvPr/>
        </p:nvSpPr>
        <p:spPr>
          <a:xfrm>
            <a:off x="6400800" y="2746248"/>
            <a:ext cx="5394960" cy="274320"/>
          </a:xfrm>
          <a:prstGeom prst="rect">
            <a:avLst/>
          </a:prstGeom>
          <a:noFill/>
        </p:spPr>
        <p:txBody>
          <a:bodyPr wrap="square">
            <a:spAutoFit/>
          </a:bodyPr>
          <a:lstStyle/>
          <a:p>
            <a:pPr>
              <a:spcAft>
                <a:spcPts val="600"/>
              </a:spcAft>
            </a:pPr>
            <a:r>
              <a:rPr sz="1050" b="0">
                <a:solidFill>
                  <a:srgbClr val="6E6E6E"/>
                </a:solidFill>
                <a:latin typeface="Arial"/>
              </a:rPr>
              <a:t>Reference document: optical_design/SPECTROMETER_DESIGN_REFERENCE.md (forms, conditions, metrics, references).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