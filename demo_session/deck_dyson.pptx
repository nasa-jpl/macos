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a:p>
            <a:pPr>
              <a:spcAft>
                <a:spcPts val="600"/>
              </a:spcAft>
            </a:pPr>
            <a:r>
              <a:rPr sz="1500" b="0">
                <a:solidFill>
                  <a:srgbClr val="282828"/>
                </a:solidFill>
                <a:latin typeface="Arial"/>
              </a:rPr>
              <a:t>•  The first row at Jim's f-number (informative, not the number).  The packaged unobscured TMA section (1.5k, three conics) joined to the 130 mm silica module: its 27 mm slit admits 68.7 % of the ±2.34° swath (plate scale 450 mm local, 521 mm at the strip edge, against 330), the straight sky line images bowed by 7 mm at the strip end, and over the admitted field the scorer reads smile 44.5 px, keystone 0.14 px, CRF 15.7 px — the telescope's image and pupil mismatch seen through the Dyson, the same at every wavelength, not the Dyson's distortion.  Clearance +0.37 mm, chain and engine to 4e-12 m.  The pupil-match table says why: the section's exit pupil sits 22 mm in front of its image, so the chief meets the slit at 12° to 46° across the strip against a near-telecentric Dyson (its chiefs cross 14–44 m away) and misses the grating vertex by 58–114 mm; only the inner field is fully admitted.  The pupil is a first-order layout condition, not figure: the Korsch with a real intermediate focus between M2 and M3 can never be telecentric, so the layout was re-posed with M3 in front of that focus (the Cook/EMIT form, tma_layout 'telecentric').  On that parent's section the chiefs are within 0.5° across the 1.5k strip, the pupil sits ~1 m out and every field is admitted (0.997–1.000); at the working point (3° bias, 160 mm decenter, clearance +3.7 mm) the plate scale calibrates to 329.5 mm.  First order closes; blur with conics alone is 18.6 px (1.5k) and 36 px (3k), the figure stage's job.  Records dyson5_t5e_1k5.txt, stage tA.</a:t>
            </a:r>
          </a:p>
        </p:txBody>
      </p:sp>
      <p:pic>
        <p:nvPicPr>
          <p:cNvPr id="5" name="Picture 4" descr="dyson5_t2_r4_views.png"/>
          <p:cNvPicPr>
            <a:picLocks noChangeAspect="1"/>
          </p:cNvPicPr>
          <p:nvPr/>
        </p:nvPicPr>
        <p:blipFill>
          <a:blip r:embed="rId2"/>
          <a:stretch>
            <a:fillRect/>
          </a:stretch>
        </p:blipFill>
        <p:spPr>
          <a:xfrm>
            <a:off x="5874477" y="7839455"/>
            <a:ext cx="442741" cy="365760"/>
          </a:xfrm>
          <a:prstGeom prst="rect">
            <a:avLst/>
          </a:prstGeom>
        </p:spPr>
      </p:pic>
      <p:sp>
        <p:nvSpPr>
          <p:cNvPr id="6" name="TextBox 5"/>
          <p:cNvSpPr txBox="1"/>
          <p:nvPr/>
        </p:nvSpPr>
        <p:spPr>
          <a:xfrm>
            <a:off x="411480" y="8223503"/>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the TMA's unobscured section packages and images the 1.5k strip at 8.9 px, at 447 mm plate scale.  Next: figure on the telecentric section — aspheres with the per-field position rows carried in every rung (the strip conic solve alone flips between two plate-scale basins, 319 and 341 mm), freeform if the strip edges remain the limit; and the Dyson's roll about the chief to clear its detector package from the telescope's M2;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7115175"/>
        </p:xfrm>
        <a:graphic>
          <a:graphicData uri="http://schemas.openxmlformats.org/drawingml/2006/table">
            <a:tbl>
              <a:tblPr firstRow="1" bandRow="1">
                <a:tableStyleId>{5C22544A-7EE6-4342-B048-85BDC9FD1C3A}</a:tableStyleId>
              </a:tblPr>
              <a:tblGrid>
                <a:gridCol w="1979545"/>
                <a:gridCol w="1889760"/>
                <a:gridCol w="3997158"/>
                <a:gridCol w="350227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end to end at Jim's f-number (informative)</a:t>
                      </a:r>
                    </a:p>
                  </a:txBody>
                  <a:tcPr marL="54864" marR="54864" marT="18288" marB="18288">
                    <a:solidFill>
                      <a:srgbClr val="ECF1F6"/>
                    </a:solidFill>
                  </a:tcPr>
                </a:tc>
                <a:tc>
                  <a:txBody>
                    <a:bodyPr wrap="square"/>
                    <a:lstStyle/>
                    <a:p>
                      <a:r>
                        <a:rPr sz="1100" b="0">
                          <a:solidFill>
                            <a:srgbClr val="282828"/>
                          </a:solidFill>
                          <a:latin typeface="Arial"/>
                        </a:rPr>
                        <a:t>t5e</a:t>
                      </a:r>
                    </a:p>
                  </a:txBody>
                  <a:tcPr marL="54864" marR="54864" marT="18288" marB="18288">
                    <a:solidFill>
                      <a:srgbClr val="ECF1F6"/>
                    </a:solidFill>
                  </a:tcPr>
                </a:tc>
                <a:tc>
                  <a:txBody>
                    <a:bodyPr wrap="square"/>
                    <a:lstStyle/>
                    <a:p>
                      <a:r>
                        <a:rPr sz="1100" b="0">
                          <a:solidFill>
                            <a:srgbClr val="282828"/>
                          </a:solidFill>
                          <a:latin typeface="Arial"/>
                        </a:rPr>
                        <a:t>dyson5_t5e_1k5.txt, dyson5_t5e_1k5_e2e.in, dyson5_t5e_1k5_maps.png</a:t>
                      </a:r>
                    </a:p>
                  </a:txBody>
                  <a:tcPr marL="54864" marR="54864" marT="18288" marB="18288">
                    <a:solidFill>
                      <a:srgbClr val="ECF1F6"/>
                    </a:solidFill>
                  </a:tcPr>
                </a:tc>
                <a:tc>
                  <a:txBody>
                    <a:bodyPr wrap="square"/>
                    <a:lstStyle/>
                    <a:p>
                      <a:r>
                        <a:rPr sz="1100" b="0">
                          <a:solidFill>
                            <a:srgbClr val="282828"/>
                          </a:solidFill>
                          <a:latin typeface="Arial"/>
                        </a:rPr>
                        <a:t>tel_deck_geom.m (the exact chain from a Telescope deck), the spectrometer's scorer</a:t>
                      </a:r>
                    </a:p>
                  </a:txBody>
                  <a:tcPr marL="54864" marR="54864" marT="18288" marB="18288">
                    <a:solidFill>
                      <a:srgbClr val="ECF1F6"/>
                    </a:solidFill>
                  </a:tcPr>
                </a:tc>
              </a:tr>
              <a:tr h="468630">
                <a:tc>
                  <a:txBody>
                    <a:bodyPr wrap="square"/>
                    <a:lstStyle/>
                    <a:p>
                      <a:r>
                        <a:rPr sz="1100" b="0">
                          <a:solidFill>
                            <a:srgbClr val="282828"/>
                          </a:solidFill>
                          <a:latin typeface="Arial"/>
                        </a:rPr>
                        <a:t>telescope, TMA unobscured section (step 2/2b, Linux)</a:t>
                      </a:r>
                    </a:p>
                  </a:txBody>
                  <a:tcPr marL="54864" marR="54864" marT="18288" marB="18288">
                    <a:solidFill>
                      <a:srgbClr val="FFFFFF"/>
                    </a:solidFill>
                  </a:tcPr>
                </a:tc>
                <a:tc>
                  <a:txBody>
                    <a:bodyPr wrap="square"/>
                    <a:lstStyle/>
                    <a:p>
                      <a:r>
                        <a:rPr sz="1100" b="0">
                          <a:solidFill>
                            <a:srgbClr val="282828"/>
                          </a:solidFill>
                          <a:latin typeface="Arial"/>
                        </a:rPr>
                        <a:t>dyson5_tma_step2_linux.m</a:t>
                      </a:r>
                    </a:p>
                  </a:txBody>
                  <a:tcPr marL="54864" marR="54864" marT="18288" marB="18288">
                    <a:solidFill>
                      <a:srgbClr val="FFFFFF"/>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FFFFFF"/>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FFFFFF"/>
                    </a:solidFill>
                  </a:tcPr>
                </a:tc>
              </a:tr>
            </a:tbl>
          </a:graphicData>
        </a:graphic>
      </p:graphicFrame>
      <p:sp>
        <p:nvSpPr>
          <p:cNvPr id="5" name="TextBox 4"/>
          <p:cNvSpPr txBox="1"/>
          <p:nvPr/>
        </p:nvSpPr>
        <p:spPr>
          <a:xfrm>
            <a:off x="411480" y="855992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