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the unobscured section and freeform mirrors are the way out.</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 off axis: with the clearance operand made smooth (an exact segment-to-disc distance and a softmin over rays, where a sampled minimum had stalled every step) the packaged solves reach 123 px (1.5k, +5.4 mm clear) and 178 px (3k, +4.8 mm) — two orders of magnitude from the pixel, and the solver stalls at the wall's knee again, so the number is a knee, not a floor.  What remains is a constrained solve (the wall as an inequality, not a penalty) and an honest lower bound without the wall; no end-to-end row exists for the TMS until one of them lands at the pixel.</a:t>
            </a:r>
          </a:p>
        </p:txBody>
      </p:sp>
      <p:pic>
        <p:nvPicPr>
          <p:cNvPr id="5" name="Picture 4" descr="dyson5_t4_tma_views.png"/>
          <p:cNvPicPr>
            <a:picLocks noChangeAspect="1"/>
          </p:cNvPicPr>
          <p:nvPr/>
        </p:nvPicPr>
        <p:blipFill>
          <a:blip r:embed="rId2"/>
          <a:stretch>
            <a:fillRect/>
          </a:stretch>
        </p:blipFill>
        <p:spPr>
          <a:xfrm>
            <a:off x="5643125" y="6708648"/>
            <a:ext cx="905443" cy="365760"/>
          </a:xfrm>
          <a:prstGeom prst="rect">
            <a:avLst/>
          </a:prstGeom>
        </p:spPr>
      </p:pic>
      <p:sp>
        <p:nvSpPr>
          <p:cNvPr id="6" name="TextBox 5"/>
          <p:cNvSpPr txBox="1"/>
          <p:nvPr/>
        </p:nvSpPr>
        <p:spPr>
          <a:xfrm>
            <a:off x="411480" y="7092696"/>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1.5k modified Schwarzschild on axis (R2c), dispersion plane, metres — the entrance pupil ahead of the convex M1, the concave M2, the image inside the cone.  Right: the coaxial TMA parent at the 1° bias (step 1), the layout as the design layer renders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at Jim's numbers the modified Schwarzschild images at the pixel on axis (1.10 px for a 1.5k module) but at 123 px once packaged 30° off axis, and the TMA parent holds a third of the swath; neither is packaged with an image.  Next: the packaged Schwarzschild under a true inequality-constrained solve, and its lower bound with the wall off (if that is far from the pixel the form is out, not the solver); the unobscured section and freeform mirrors on the TMA; the telecentricity of the chosen form against the Dyson's (the optimizer now scores the chief ray's direction and the ray centroid at the image, per field);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6366510"/>
        </p:xfrm>
        <a:graphic>
          <a:graphicData uri="http://schemas.openxmlformats.org/drawingml/2006/table">
            <a:tbl>
              <a:tblPr firstRow="1" bandRow="1">
                <a:tableStyleId>{5C22544A-7EE6-4342-B048-85BDC9FD1C3A}</a:tableStyleId>
              </a:tblPr>
              <a:tblGrid>
                <a:gridCol w="1929144"/>
                <a:gridCol w="1817116"/>
                <a:gridCol w="4658178"/>
                <a:gridCol w="296429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bl>
          </a:graphicData>
        </a:graphic>
      </p:graphicFrame>
      <p:sp>
        <p:nvSpPr>
          <p:cNvPr id="5" name="TextBox 4"/>
          <p:cNvSpPr txBox="1"/>
          <p:nvPr/>
        </p:nvSpPr>
        <p:spPr>
          <a:xfrm>
            <a:off x="411480" y="781126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