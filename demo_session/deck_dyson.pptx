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the unobscured section and freeform mirrors are the way out.</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30–40° off axis, where the clearance-wall solves stall at 200–250 px — a stalled solve's value, not a minimum, because the clearance operand is a minimum over sampled points and no finite-difference step is accepted at its knee.  A smooth clearance operand is the one thing between "packages" and an image number; no end-to-end row exists until then.</a:t>
            </a:r>
          </a:p>
        </p:txBody>
      </p:sp>
      <p:pic>
        <p:nvPicPr>
          <p:cNvPr id="5" name="Picture 4" descr="dyson5_t4_tma_views.png"/>
          <p:cNvPicPr>
            <a:picLocks noChangeAspect="1"/>
          </p:cNvPicPr>
          <p:nvPr/>
        </p:nvPicPr>
        <p:blipFill>
          <a:blip r:embed="rId2"/>
          <a:stretch>
            <a:fillRect/>
          </a:stretch>
        </p:blipFill>
        <p:spPr>
          <a:xfrm>
            <a:off x="5643125" y="6213347"/>
            <a:ext cx="905443" cy="365760"/>
          </a:xfrm>
          <a:prstGeom prst="rect">
            <a:avLst/>
          </a:prstGeom>
        </p:spPr>
      </p:pic>
      <p:sp>
        <p:nvSpPr>
          <p:cNvPr id="6" name="TextBox 5"/>
          <p:cNvSpPr txBox="1"/>
          <p:nvPr/>
        </p:nvSpPr>
        <p:spPr>
          <a:xfrm>
            <a:off x="411480" y="6597395"/>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1.5k modified Schwarzschild on axis (R2c), dispersion plane, metres — the entrance pupil ahead of the convex M1, the concave M2, the image inside the cone.  Right: the coaxial TMA parent at the 1° bias (step 1), the layout as the design layer renders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at Jim's numbers the modified Schwarzschild images at the pixel on axis (1.10 px for a 1.5k module) and the TMA parent holds a third of the swath; neither is packaged with an image.  Next: a smooth clearance operand so the solver can carry the Schwarzschild off axis with its image; the unobscured section and freeform mirrors on the TMA; the telecentricity of the chosen form against the Dyson's (the optimizer now scores the chief ray's direction and the ray centroid at the image, per field);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6366510"/>
        </p:xfrm>
        <a:graphic>
          <a:graphicData uri="http://schemas.openxmlformats.org/drawingml/2006/table">
            <a:tbl>
              <a:tblPr firstRow="1" bandRow="1">
                <a:tableStyleId>{5C22544A-7EE6-4342-B048-85BDC9FD1C3A}</a:tableStyleId>
              </a:tblPr>
              <a:tblGrid>
                <a:gridCol w="1929144"/>
                <a:gridCol w="1817116"/>
                <a:gridCol w="4658178"/>
                <a:gridCol w="296429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bl>
          </a:graphicData>
        </a:graphic>
      </p:graphicFrame>
      <p:sp>
        <p:nvSpPr>
          <p:cNvPr id="5" name="TextBox 4"/>
          <p:cNvSpPr txBox="1"/>
          <p:nvPr/>
        </p:nvSpPr>
        <p:spPr>
          <a:xfrm>
            <a:off x="411480" y="781126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