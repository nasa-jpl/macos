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  The fold-prism layout (step R5) takes the detector package out of the slit's plane at CRF 1.27 px and 70 % in one pixel; a cold shield cannot be bought in this form, since every millimetre of air before the detector costs about 0.5 px of CRF.  The block's size follows the slit: shared between two 27 mm modules, a 130 mm silica block of 1.6 kg with no meniscus images at the pixel (CRF 1.03 px) with half the record's air-glass crossings, against 220 mm, 8.2 kg and a 4 mm meniscus for one module.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The fold prism, as traced by the engine</a:t>
            </a:r>
          </a:p>
          <a:p>
            <a:pPr>
              <a:spcAft>
                <a:spcPts val="600"/>
              </a:spcAft>
            </a:pPr>
            <a:r>
              <a:rPr sz="1200" b="0">
                <a:solidFill>
                  <a:srgbClr val="282828"/>
                </a:solidFill>
                <a:latin typeface="Arial"/>
              </a:rPr>
              <a:t>•  21 The fold prism: the prescription</a:t>
            </a:r>
          </a:p>
          <a:p>
            <a:pPr>
              <a:spcAft>
                <a:spcPts val="600"/>
              </a:spcAft>
            </a:pPr>
            <a:r>
              <a:rPr sz="1200" b="0">
                <a:solidFill>
                  <a:srgbClr val="282828"/>
                </a:solidFill>
                <a:latin typeface="Arial"/>
              </a:rPr>
              <a:t>•  22 The fold prism, scored</a:t>
            </a:r>
          </a:p>
          <a:p>
            <a:pPr>
              <a:spcAft>
                <a:spcPts val="600"/>
              </a:spcAft>
            </a:pPr>
            <a:r>
              <a:rPr sz="1200" b="0">
                <a:solidFill>
                  <a:srgbClr val="282828"/>
                </a:solidFill>
                <a:latin typeface="Arial"/>
              </a:rPr>
              <a:t>•  23 The cold shield: the air gap is the price</a:t>
            </a:r>
          </a:p>
          <a:p>
            <a:pPr>
              <a:spcAft>
                <a:spcPts val="600"/>
              </a:spcAft>
            </a:pPr>
            <a:r>
              <a:rPr sz="1200" b="0">
                <a:solidFill>
                  <a:srgbClr val="282828"/>
                </a:solidFill>
                <a:latin typeface="Arial"/>
              </a:rPr>
              <a:t>•  24 Where the design closes</a:t>
            </a:r>
          </a:p>
          <a:p>
            <a:pPr>
              <a:spcAft>
                <a:spcPts val="600"/>
              </a:spcAft>
            </a:pPr>
            <a:r>
              <a:rPr sz="1200" b="0">
                <a:solidFill>
                  <a:srgbClr val="282828"/>
                </a:solidFill>
                <a:latin typeface="Arial"/>
              </a:rPr>
              <a:t>•  25 How small can the block be</a:t>
            </a:r>
          </a:p>
          <a:p>
            <a:pPr>
              <a:spcAft>
                <a:spcPts val="600"/>
              </a:spcAft>
            </a:pPr>
            <a:r>
              <a:rPr sz="1200" b="0">
                <a:solidFill>
                  <a:srgbClr val="282828"/>
                </a:solidFill>
                <a:latin typeface="Arial"/>
              </a:rPr>
              <a:t>•  26 The block-size trade, by the numbers</a:t>
            </a:r>
          </a:p>
          <a:p>
            <a:pPr>
              <a:spcAft>
                <a:spcPts val="600"/>
              </a:spcAft>
            </a:pPr>
            <a:r>
              <a:rPr sz="1200" b="0">
                <a:solidFill>
                  <a:srgbClr val="282828"/>
                </a:solidFill>
                <a:latin typeface="Arial"/>
              </a:rPr>
              <a:t>•  27 The telescope that feeds the slit</a:t>
            </a:r>
          </a:p>
          <a:p>
            <a:pPr>
              <a:spcAft>
                <a:spcPts val="600"/>
              </a:spcAft>
            </a:pPr>
            <a:r>
              <a:rPr sz="1200" b="0">
                <a:solidFill>
                  <a:srgbClr val="282828"/>
                </a:solidFill>
                <a:latin typeface="Arial"/>
              </a:rPr>
              <a:t>•  28 Telescope and spectrometer end to end</a:t>
            </a:r>
          </a:p>
          <a:p>
            <a:pPr>
              <a:spcAft>
                <a:spcPts val="600"/>
              </a:spcAft>
            </a:pPr>
            <a:r>
              <a:rPr sz="1200" b="0">
                <a:solidFill>
                  <a:srgbClr val="282828"/>
                </a:solidFill>
                <a:latin typeface="Arial"/>
              </a:rPr>
              <a:t>•  29 Next steps</a:t>
            </a:r>
          </a:p>
          <a:p>
            <a:pPr>
              <a:spcAft>
                <a:spcPts val="600"/>
              </a:spcAft>
            </a:pPr>
            <a:r>
              <a:rPr sz="1200" b="0">
                <a:solidFill>
                  <a:srgbClr val="282828"/>
                </a:solidFill>
                <a:latin typeface="Arial"/>
              </a:rPr>
              <a:t>•  30 Run it yourself</a:t>
            </a:r>
          </a:p>
          <a:p>
            <a:pPr>
              <a:spcAft>
                <a:spcPts val="600"/>
              </a:spcAft>
            </a:pPr>
            <a:r>
              <a:rPr sz="1200" b="0">
                <a:solidFill>
                  <a:srgbClr val="282828"/>
                </a:solidFill>
                <a:latin typeface="Arial"/>
              </a:rPr>
              <a:t>•  31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R0–R5: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the multi-wavelength optimizer's derivative loop overran its array on a spot-size target.  Each now has a regression test written from the physics.</a:t>
            </a:r>
          </a:p>
        </p:txBody>
      </p:sp>
      <p:sp>
        <p:nvSpPr>
          <p:cNvPr id="6" name="TextBox 5"/>
          <p:cNvSpPr txBox="1"/>
          <p:nvPr/>
        </p:nvSpPr>
        <p:spPr>
          <a:xfrm>
            <a:off x="6400800" y="286207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plus the optimizer's; the MACOS fast suite stands at 510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76710"/>
                <a:gridCol w="4398617"/>
                <a:gridCol w="879723"/>
                <a:gridCol w="676710"/>
                <a:gridCol w="879723"/>
                <a:gridCol w="1015065"/>
                <a:gridCol w="744381"/>
                <a:gridCol w="1488762"/>
                <a:gridCol w="609039"/>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the full hemispherical cap + meniscus, an upper bound: edged to its clear aperture the R4 block is a rod 147 mm across and 221 mm long, 3.7 L and 8.2 kg in silica.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a:p>
            <a:pPr>
              <a:spcAft>
                <a:spcPts val="600"/>
              </a:spcAft>
            </a:pPr>
            <a:r>
              <a:rPr sz="1500" b="0">
                <a:solidFill>
                  <a:srgbClr val="282828"/>
                </a:solidFill>
                <a:latin typeface="Arial"/>
              </a:rPr>
              <a:t>•  Clearance: the returning beam passes the detector carrier by 1.19 mm with no cold shield, and any shield fails the check; the fold prism of step R5 (slide 20) moves the detector out of the slit's plane.</a:t>
            </a:r>
          </a:p>
        </p:txBody>
      </p:sp>
      <p:pic>
        <p:nvPicPr>
          <p:cNvPr id="5" name="Picture 4" descr="dyson5_s3_r4_views.png"/>
          <p:cNvPicPr>
            <a:picLocks noChangeAspect="1"/>
          </p:cNvPicPr>
          <p:nvPr/>
        </p:nvPicPr>
        <p:blipFill>
          <a:blip r:embed="rId2"/>
          <a:stretch>
            <a:fillRect/>
          </a:stretch>
        </p:blipFill>
        <p:spPr>
          <a:xfrm>
            <a:off x="3194789" y="2606039"/>
            <a:ext cx="5802116" cy="38582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A global search over the meniscus (12 starts over its position, thickness and both curvatures, every R4 variable free) found four feasible basins at similar merit and none better on the detector: the lowest merit buys 0.0007 px of keystone, already 40× inside the specification, for +0.15 px of CRF and −0.10 of ensquared energy.  The R4 of record stands.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and the fold;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  Steps R0–R4 at the held 220 mm block, R0–R2 with the block radius free, and R5 with the fold prism.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0.3 % of the light misses the grating at 380 nm and 1.8 % at 2500 nm, by the engine and by the closed form alike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loss = the energy landing outside the F/1.8 acceptance.  The closed form is the exact sinc² integral for the same slit and acceptance.</a:t>
            </a:r>
          </a:p>
          <a:p>
            <a:pPr>
              <a:spcAft>
                <a:spcPts val="600"/>
              </a:spcAft>
            </a:pPr>
            <a:r>
              <a:rPr sz="1500" b="0">
                <a:solidFill>
                  <a:srgbClr val="282828"/>
                </a:solidFill>
                <a:latin typeface="Arial"/>
              </a:rPr>
              <a:t>•  The engine reads 1.04 / 1.14 / 0.90 / 0.86 × the closed form at 380 / 700 / 1440 / 2500 nm once two conditions are met, each found by a one-knob test: the far-field window at least twice the acceptance (a window 11 % wider than the acceptance folds the diffracted tail back inside and reads 0.3× at 380 nm), and the energy normalised to the propagating region |sin θ| ≤ 1 (the planar transform carries 0.7–1.3 % of the energy beyond it at the long end and read 1.36× at 2500 nm).  The residual at the long end is the grid pitch across an acceptance only four sidelobes wide.</a:t>
            </a:r>
          </a:p>
          <a:p>
            <a:pPr>
              <a:spcAft>
                <a:spcPts val="600"/>
              </a:spcAft>
            </a:pPr>
            <a:r>
              <a:rPr sz="1500" b="0">
                <a:solidFill>
                  <a:srgbClr val="282828"/>
                </a:solidFill>
                <a:latin typeface="Arial"/>
              </a:rPr>
              <a:t>•  The number for the radiometric chain: loss past the grating 0.28 % at 380 nm, 0.5 % at 700, 1.0 % at 1440, 1.8 % at 2500 nm (closed form; the engine reads 0.29 / 0.59 / 0.94 / 1.57 %).  The telescope's cone is not yet in the model; the literature puts the partially coherent case near 10 %.</a:t>
            </a:r>
          </a:p>
        </p:txBody>
      </p:sp>
      <p:pic>
        <p:nvPicPr>
          <p:cNvPr id="5" name="Picture 4" descr="dyson5_s2l_slitloss.png"/>
          <p:cNvPicPr>
            <a:picLocks noChangeAspect="1"/>
          </p:cNvPicPr>
          <p:nvPr/>
        </p:nvPicPr>
        <p:blipFill>
          <a:blip r:embed="rId2"/>
          <a:stretch>
            <a:fillRect/>
          </a:stretch>
        </p:blipFill>
        <p:spPr>
          <a:xfrm>
            <a:off x="4633481" y="4479798"/>
            <a:ext cx="2924732" cy="19845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as traced by the engine</a:t>
            </a:r>
          </a:p>
          <a:p>
            <a:pPr>
              <a:spcAft>
                <a:spcPts val="0"/>
              </a:spcAft>
            </a:pPr>
            <a:r>
              <a:rPr sz="1250" b="0">
                <a:solidFill>
                  <a:srgbClr val="6E6E6E"/>
                </a:solidFill>
                <a:latin typeface="Arial"/>
              </a:rPr>
              <a:t>Step R5: a slit plate and a mirror-coated fold prism cemented to the block; the detector 27 mm from the slit, every clearance pair positive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form: the slit stands 1 mm in air before a 24 mm plate cemented to the block's face; under the image a prism with a 45° mirror-coated plane 16 mm below the face folds the beam away from the slit, and the detector sits 1 mm in air beyond the prism's exit face (E11–E14 in the table on the next slide).  Total internal reflection is not available: at F/1.8 in silica the marginal rays reach 30° against a 43.6° critical angle, so the fold is a coated mirror inside the glass.</a:t>
            </a:r>
          </a:p>
          <a:p>
            <a:pPr>
              <a:spcAft>
                <a:spcPts val="600"/>
              </a:spcAft>
            </a:pPr>
            <a:r>
              <a:rPr sz="1500" b="0">
                <a:solidFill>
                  <a:srgbClr val="282828"/>
                </a:solidFill>
                <a:latin typeface="Arial"/>
              </a:rPr>
              <a:t>•  Solved as a ladder step: R4's eleven variables plus the slit plane's axial position, the face offset bounded at the fold's scale, warm-started from R4; the groove period and the focus re-solved at every iterate.</a:t>
            </a:r>
          </a:p>
          <a:p>
            <a:pPr>
              <a:spcAft>
                <a:spcPts val="600"/>
              </a:spcAft>
            </a:pPr>
            <a:r>
              <a:rPr sz="1500" b="0">
                <a:solidFill>
                  <a:srgbClr val="282828"/>
                </a:solidFill>
                <a:latin typeface="Arial"/>
              </a:rPr>
              <a:t>•  Clearance: the detector package (54 × 9 mm plus a 5 mm carrier, 10 mm deep) is 27 mm from the slit; the worst pair is the package against the fold mirror's mount at +0.90 mm.  Record dyson5_s5_r5_h00.in.</a:t>
            </a:r>
          </a:p>
        </p:txBody>
      </p:sp>
      <p:pic>
        <p:nvPicPr>
          <p:cNvPr id="5" name="Picture 4" descr="dyson5_s5_r5_h00_views.png"/>
          <p:cNvPicPr>
            <a:picLocks noChangeAspect="1"/>
          </p:cNvPicPr>
          <p:nvPr/>
        </p:nvPicPr>
        <p:blipFill>
          <a:blip r:embed="rId2"/>
          <a:stretch>
            <a:fillRect/>
          </a:stretch>
        </p:blipFill>
        <p:spPr>
          <a:xfrm>
            <a:off x="3657600" y="3291840"/>
            <a:ext cx="4005072" cy="3172968"/>
          </a:xfrm>
          <a:prstGeom prst="rect">
            <a:avLst/>
          </a:prstGeom>
        </p:spPr>
      </p:pic>
      <p:sp>
        <p:nvSpPr>
          <p:cNvPr id="6" name="TextBox 5"/>
          <p:cNvSpPr txBox="1"/>
          <p:nvPr/>
        </p:nvSpPr>
        <p:spPr>
          <a:xfrm>
            <a:off x="3657600" y="6483096"/>
            <a:ext cx="4005072" cy="5593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E11 is the fold mirror, E13 the pre-detector reference, both below the block's 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the prescription</a:t>
            </a:r>
          </a:p>
          <a:p>
            <a:pPr>
              <a:spcAft>
                <a:spcPts val="0"/>
              </a:spcAft>
            </a:pPr>
            <a:r>
              <a:rPr sz="1250" b="0">
                <a:solidFill>
                  <a:srgbClr val="6E6E6E"/>
                </a:solidFill>
                <a:latin typeface="Arial"/>
              </a:rPr>
              <a:t>The fourteen elements of step R5 as written in dyson5_s5_r5_h00.in; radii are |R|, apertures the declared circular radii, z along the axis from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200525"/>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PlateIn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32.3</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BlockFaceIn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37.0</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BlockSphereOut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73.3</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MenA_out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77.6</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MenB_out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139.3</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MenB_in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MenA_in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77.7</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BlockSphereIn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73.4</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BlockFaceOut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37.3</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FoldMirror</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35.3</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PrismExit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32.7</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r h="280035">
                <a:tc>
                  <a:txBody>
                    <a:bodyPr wrap="square"/>
                    <a:lstStyle/>
                    <a:p>
                      <a:r>
                        <a:rPr sz="1100" b="0">
                          <a:solidFill>
                            <a:srgbClr val="282828"/>
                          </a:solidFill>
                          <a:latin typeface="Arial"/>
                        </a:rPr>
                        <a:t>13</a:t>
                      </a:r>
                    </a:p>
                  </a:txBody>
                  <a:tcPr marL="54864" marR="54864" marT="18288" marB="18288">
                    <a:solidFill>
                      <a:srgbClr val="FFFFFF"/>
                    </a:solidFill>
                  </a:tcPr>
                </a:tc>
                <a:tc>
                  <a:txBody>
                    <a:bodyPr wrap="square"/>
                    <a:lstStyle/>
                    <a:p>
                      <a:r>
                        <a:rPr sz="1100" b="0">
                          <a:solidFill>
                            <a:srgbClr val="282828"/>
                          </a:solidFill>
                          <a:latin typeface="Arial"/>
                        </a:rPr>
                        <a:t>PreFPA</a:t>
                      </a:r>
                    </a:p>
                  </a:txBody>
                  <a:tcPr marL="54864" marR="54864" marT="18288" marB="18288">
                    <a:solidFill>
                      <a:srgbClr val="FFFFFF"/>
                    </a:solidFill>
                  </a:tcPr>
                </a:tc>
                <a:tc>
                  <a:txBody>
                    <a:bodyPr wrap="square"/>
                    <a:lstStyle/>
                    <a:p>
                      <a:r>
                        <a:rPr sz="1100" b="0">
                          <a:solidFill>
                            <a:srgbClr val="282828"/>
                          </a:solidFill>
                          <a:latin typeface="Arial"/>
                        </a:rPr>
                        <a:t>Reference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14</a:t>
                      </a:r>
                    </a:p>
                  </a:txBody>
                  <a:tcPr marL="54864" marR="54864" marT="18288" marB="18288">
                    <a:solidFill>
                      <a:srgbClr val="ECF1F6"/>
                    </a:solidFill>
                  </a:tcPr>
                </a:tc>
                <a:tc>
                  <a:txBody>
                    <a:bodyPr wrap="square"/>
                    <a:lstStyle/>
                    <a:p>
                      <a:r>
                        <a:rPr sz="1100" b="0">
                          <a:solidFill>
                            <a:srgbClr val="282828"/>
                          </a:solidFill>
                          <a:latin typeface="Arial"/>
                        </a:rPr>
                        <a:t>FPA</a:t>
                      </a:r>
                    </a:p>
                  </a:txBody>
                  <a:tcPr marL="54864" marR="54864" marT="18288" marB="18288">
                    <a:solidFill>
                      <a:srgbClr val="ECF1F6"/>
                    </a:solidFill>
                  </a:tcPr>
                </a:tc>
                <a:tc>
                  <a:txBody>
                    <a:bodyPr wrap="square"/>
                    <a:lstStyle/>
                    <a:p>
                      <a:r>
                        <a:rPr sz="1100" b="0">
                          <a:solidFill>
                            <a:srgbClr val="282828"/>
                          </a:solidFill>
                          <a:latin typeface="Arial"/>
                        </a:rPr>
                        <a:t>FocalPlane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The plate (E1–E2) and the block face (E2, E10) are glass to glass: the engine traces the cemented face as a refraction between equal indices.  The fold mirror (E11) is a reflector inside the glass; after it the axis runs along −y, so E12–E14 share the fold's z and stand at y = −20 to −21 mm (slit at y = +6 mm).  Groove period 114.4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scored</a:t>
            </a:r>
          </a:p>
          <a:p>
            <a:pPr>
              <a:spcAft>
                <a:spcPts val="0"/>
              </a:spcAft>
            </a:pPr>
            <a:r>
              <a:rPr sz="1250" b="0">
                <a:solidFill>
                  <a:srgbClr val="6E6E6E"/>
                </a:solidFill>
                <a:latin typeface="Arial"/>
              </a:rPr>
              <a:t>Keystone 0.0085 px, smile 0.005 px, CRF 1.27 px, SRF 2.04 px; 70 % of the energy in one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Against the compact variant: CRF 1.33 → 1.27 px and keystone 0.0026 → 0.0085 px, both well inside the specification; ensquared energy 0.76 → 0.70, under the literature's 0.75 rule.  A refinement from the same basin at twice the iterations reached 0.73 with CRF 1.32 px, so the trade between the two is real and small.</a:t>
            </a:r>
          </a:p>
        </p:txBody>
      </p:sp>
      <p:pic>
        <p:nvPicPr>
          <p:cNvPr id="5" name="Picture 4" descr="dyson5_s5_maps_r5_rc.png"/>
          <p:cNvPicPr>
            <a:picLocks noChangeAspect="1"/>
          </p:cNvPicPr>
          <p:nvPr/>
        </p:nvPicPr>
        <p:blipFill>
          <a:blip r:embed="rId2"/>
          <a:stretch>
            <a:fillRect/>
          </a:stretch>
        </p:blipFill>
        <p:spPr>
          <a:xfrm>
            <a:off x="3828615" y="2218182"/>
            <a:ext cx="4534464" cy="408101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R5 on 18 µm pixels, per slit position and wavelength: field-angle map, keystone, smile, SRF FWHM, CRF FWHM, ensquared energy; each convention on its colorbar, maxima in the labels.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cold shield: the air gap is the price</a:t>
            </a:r>
          </a:p>
          <a:p>
            <a:pPr>
              <a:spcAft>
                <a:spcPts val="0"/>
              </a:spcAft>
            </a:pPr>
            <a:r>
              <a:rPr sz="1250" b="0">
                <a:solidFill>
                  <a:srgbClr val="6E6E6E"/>
                </a:solidFill>
                <a:latin typeface="Arial"/>
              </a:rPr>
              <a:t>A shield of height h needs h + 1 mm of air before the detector, and every millimetre of air costs about 0.5 px of CRF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Measured on the compact variant before any re-solve: widening its 0.85 mm air gaps at slit and detector to 2 and 3 mm takes the CRF from 1.33 to 1.78 and 1.96 px and the keystone from 0.02 to 0.23 and 0.42 px.  Physics, not the solver: a plane air-to-glass boundary ahead of an F/1.8 cone carries spherical and field aberration that grows with the gap, which is why Dyson slits and detectors are proximate.</a:t>
            </a:r>
          </a:p>
          <a:p>
            <a:pPr>
              <a:spcAft>
                <a:spcPts val="600"/>
              </a:spcAft>
            </a:pPr>
            <a:r>
              <a:rPr sz="1500" b="0">
                <a:solidFill>
                  <a:srgbClr val="282828"/>
                </a:solidFill>
                <a:latin typeface="Arial"/>
              </a:rPr>
              <a:t>•  The sweep: shield heights 0, 1, 2, 3 and 5 mm, the same gap on the slit side to keep the object and image media equal, a full twelve-variable re-solve at each, scored in the engine and run through the clearance gate with the package in the folded frame.  Every point clears; the CRF climbs 1.27 → 1.75 → 2.31 → 2.78 → 3.75 px and the re-solve does not recover it.  The record is the tallest shield that closes: none.</a:t>
            </a:r>
          </a:p>
          <a:p>
            <a:pPr>
              <a:spcAft>
                <a:spcPts val="600"/>
              </a:spcAft>
            </a:pPr>
            <a:r>
              <a:rPr sz="1500" b="0">
                <a:solidFill>
                  <a:srgbClr val="282828"/>
                </a:solidFill>
                <a:latin typeface="Arial"/>
              </a:rPr>
              <a:t>•  What that leaves: a shield inside the 1 mm the design tolerates; a cold window cemented as the prism's exit face with the shield as the detector housing behind it (the next R5 variant); or a slower cone, since the F/2.2 point of the closure envelope has CRF 1.15 px at R4 and could spend some of it on air.</a:t>
            </a:r>
          </a:p>
        </p:txBody>
      </p:sp>
      <p:pic>
        <p:nvPicPr>
          <p:cNvPr id="5" name="Picture 4" descr="dyson5_s5_sweep_rc.png"/>
          <p:cNvPicPr>
            <a:picLocks noChangeAspect="1"/>
          </p:cNvPicPr>
          <p:nvPr/>
        </p:nvPicPr>
        <p:blipFill>
          <a:blip r:embed="rId2"/>
          <a:stretch>
            <a:fillRect/>
          </a:stretch>
        </p:blipFill>
        <p:spPr>
          <a:xfrm>
            <a:off x="3966277" y="4479797"/>
            <a:ext cx="4259140"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cold-shield height: CRF and SRF FWHM against the 1.5 px specification (left), minimum ensquared energy against the 0.75 rule (middle), the clearance margin and the plate thickness the solve chose (right); the star is the refined 0 mm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Where the design closes</a:t>
            </a:r>
          </a:p>
          <a:p>
            <a:pPr>
              <a:spcAft>
                <a:spcPts val="0"/>
              </a:spcAft>
            </a:pPr>
            <a:r>
              <a:rPr sz="1250" b="0">
                <a:solidFill>
                  <a:srgbClr val="6E6E6E"/>
                </a:solidFill>
                <a:latin typeface="Arial"/>
              </a:rPr>
              <a:t>The compact variant re-solved one parameter at a time from the record: F/1.8–2.2, blocks of 220–300 mm, slits to 54 mm, both pixels and both glasses close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Method: from the R4 of record, one axis at a time, every point a full eleven-variable re-solve on the exact chain, then emitted and scored in the engine.  A point closes when smile and keystone are under 0.1 px, CRF under 1.5 px, SRF under 2.0 px and no variable sits on a bound.  The detector stays 54 × 9 mm; the pixel count follows the slit length and the pitch.</a:t>
            </a:r>
          </a:p>
          <a:p>
            <a:pPr>
              <a:spcAft>
                <a:spcPts val="600"/>
              </a:spcAft>
            </a:pPr>
            <a:r>
              <a:rPr sz="1500" b="0">
                <a:solidFill>
                  <a:srgbClr val="282828"/>
                </a:solidFill>
                <a:latin typeface="Arial"/>
              </a:rPr>
              <a:t>•  Outside the envelope the first metric to fail is the CRF: 2.37 and 1.61 px at 150 and 180 mm blocks (the h⁴/r³ law of the scaling slide), 1.55 px at a 60 mm slit (by 0.05 px).  F/1.6 and F/2.8 end on the meniscus bounds with the CRF itself at 1.37 and 1.07 px: a bound to widen, not a form that fails.  Smile and keystone never exceed 0.02 px on any point.  A 30 µm pixel or a CaF2 block puts all of the energy in one pixel; the corner, F/1.6 with a 150 mm block, does not close.</a:t>
            </a:r>
          </a:p>
        </p:txBody>
      </p:sp>
      <p:pic>
        <p:nvPicPr>
          <p:cNvPr id="5" name="Picture 4" descr="dyson5_s4env_rc.png"/>
          <p:cNvPicPr>
            <a:picLocks noChangeAspect="1"/>
          </p:cNvPicPr>
          <p:nvPr/>
        </p:nvPicPr>
        <p:blipFill>
          <a:blip r:embed="rId2"/>
          <a:stretch>
            <a:fillRect/>
          </a:stretch>
        </p:blipFill>
        <p:spPr>
          <a:xfrm>
            <a:off x="1342841" y="3844290"/>
            <a:ext cx="9506012" cy="262001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Each metric divided by its limit (1 = the limit) along five axes; a red cross marks a point that does not close (over a limit or on a bound).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small can the block be</a:t>
            </a:r>
          </a:p>
          <a:p>
            <a:pPr>
              <a:spcAft>
                <a:spcPts val="0"/>
              </a:spcAft>
            </a:pPr>
            <a:r>
              <a:rPr sz="1250" b="0">
                <a:solidFill>
                  <a:srgbClr val="6E6E6E"/>
                </a:solidFill>
                <a:latin typeface="Arial"/>
              </a:rPr>
              <a:t>The slit is the lever: shared between two 27 mm modules the block falls from 220 mm to 130 mm or less, and the meniscus is no longer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Why the record is 220 mm thick: in the Dyson form the flat face sits at the center of curvature, so the block's thickness is its radius, and the blur law of the scaling slide (h⁴/r³) ties the radius to the slit length.</a:t>
            </a:r>
          </a:p>
          <a:p>
            <a:pPr>
              <a:spcAft>
                <a:spcPts val="600"/>
              </a:spcAft>
            </a:pPr>
            <a:r>
              <a:rPr sz="1500" b="0">
                <a:solidFill>
                  <a:srgbClr val="282828"/>
                </a:solidFill>
                <a:latin typeface="Arial"/>
              </a:rPr>
              <a:t>•  The trade: each point is a full re-solve walked down in radius, warm-started from the next larger block and scored in the engine, with the meniscus (solid lines, step R4) and without it (dashed, step R3); a filled marker meets the specification and a ringed one also matches the record's own scores.</a:t>
            </a:r>
          </a:p>
        </p:txBody>
      </p:sp>
      <p:pic>
        <p:nvPicPr>
          <p:cNvPr id="5" name="Picture 4" descr="dyson5_size_rc.png"/>
          <p:cNvPicPr>
            <a:picLocks noChangeAspect="1"/>
          </p:cNvPicPr>
          <p:nvPr/>
        </p:nvPicPr>
        <p:blipFill>
          <a:blip r:embed="rId2"/>
          <a:stretch>
            <a:fillRect/>
          </a:stretch>
        </p:blipFill>
        <p:spPr>
          <a:xfrm>
            <a:off x="1275528" y="2853690"/>
            <a:ext cx="9640638" cy="34455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ensquared energy in one pixel (middle), mass of the edged block (right); solid lines with the meniscus, dashed without; filled = meets the specification, black ring = matches R4 of record.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245995"/>
        </p:xfrm>
        <a:graphic>
          <a:graphicData uri="http://schemas.openxmlformats.org/drawingml/2006/table">
            <a:tbl>
              <a:tblPr firstRow="1" bandRow="1">
                <a:tableStyleId>{5C22544A-7EE6-4342-B048-85BDC9FD1C3A}</a:tableStyleId>
              </a:tblPr>
              <a:tblGrid>
                <a:gridCol w="3828247"/>
                <a:gridCol w="1798116"/>
                <a:gridCol w="870056"/>
                <a:gridCol w="2320150"/>
                <a:gridCol w="464030"/>
                <a:gridCol w="870056"/>
                <a:gridCol w="121807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R4 of record: silica, one 54 mm slit, meniscus</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CaF2,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no meniscus, smallest matching the record</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CaF2, two 27 mm slits, no meniscus, smallest matching the record</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The meniscus was paying for the long slit. With one 54 mm slit, silica closes only with the meniscus, a plate 4 mm thick and 155 mm across that the solve wants thinner still; the thicker meniscus designs of the global search (about 30 mm) miss the specification at CRF 1.64 and 1.72 px.  Without a meniscus, one module closes only in CaF2 and only at 240 mm and 14 kg.</a:t>
            </a:r>
          </a:p>
          <a:p>
            <a:pPr>
              <a:spcAft>
                <a:spcPts val="600"/>
              </a:spcAft>
            </a:pPr>
            <a:r>
              <a:rPr sz="1500" b="0">
                <a:solidFill>
                  <a:srgbClr val="282828"/>
                </a:solidFill>
                <a:latin typeface="Arial"/>
              </a:rPr>
              <a:t>•  With two modules it is not needed: the plain block matches the record from 220 mm down to 100 mm in silica and 80 mm in CaF2, with four air-glass crossings where the record has eight, 15 % more light before any coating, and no thin part to make, mount or shake.  CaF2 still images at the pixel at 80 mm, where silica has fallen to CRF 1.49 px; silica needs 130 mm for the same image.  An 80 mm CaF2 block or a 130 mm silica block is a materials choice the ray trace cannot make.</a:t>
            </a:r>
          </a:p>
          <a:p>
            <a:pPr>
              <a:spcAft>
                <a:spcPts val="600"/>
              </a:spcAft>
            </a:pPr>
            <a:r>
              <a:rPr sz="1500" b="0">
                <a:solidFill>
                  <a:srgbClr val="282828"/>
                </a:solidFill>
                <a:latin typeface="Arial"/>
              </a:rPr>
              <a:t>•  What two modules cost: two gratings and two detectors of 1500 pixels, and a swath split ahead of the slits, since each block is wider than its slit and the slits cannot abut.  The slit-to-detector clearance stays near 0.5 mm at every size.  Halving the glass path also halves the wavefront error from index inhomogeneity and thermal gradients, estimated at 0.4 waves each for the 220 mm block.</a:t>
            </a:r>
          </a:p>
        </p:txBody>
      </p:sp>
      <p:sp>
        <p:nvSpPr>
          <p:cNvPr id="6" name="TextBox 5"/>
          <p:cNvSpPr txBox="1"/>
          <p:nvPr/>
        </p:nvSpPr>
        <p:spPr>
          <a:xfrm>
            <a:off x="411480" y="736739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the Mac's engine reproduces the Linux record of R4 to four decimals.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that feeds the slit, at Jim's numbers</a:t>
            </a:r>
          </a:p>
          <a:p>
            <a:pPr>
              <a:spcAft>
                <a:spcPts val="0"/>
              </a:spcAft>
            </a:pPr>
            <a:r>
              <a:rPr sz="1250" b="0">
                <a:solidFill>
                  <a:srgbClr val="6E6E6E"/>
                </a:solidFill>
                <a:latin typeface="Arial"/>
              </a:rPr>
              <a:t>f = 330 mm, 183 mm at F/1.8, 9.4° per 3k module or 4.7° per 1.5k; three forms traced in the engine, none yet packaged at the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target moved.  Jim's 30 m ground sample from 550 km on 18 µm pixels sets f = 330 mm and 183 mm at F/1.8; the swath is 9.4° cross-track for a 3k module, 4.7° for a 1.5k one, with a telecentric, flat image on the slit.  The EMIT-parameter three-mirror of the earlier beat (f = 126 mm, 24.6°, 67 px at the slit) stands as the layout and end-to-end machinery; the designs below are at the new numbers.</a:t>
            </a:r>
          </a:p>
          <a:p>
            <a:pPr>
              <a:spcAft>
                <a:spcPts val="600"/>
              </a:spcAft>
            </a:pPr>
            <a:r>
              <a:rPr sz="1500" b="0">
                <a:solidFill>
                  <a:srgbClr val="282828"/>
                </a:solidFill>
                <a:latin typeface="Arial"/>
              </a:rPr>
              <a:t>•  The coaxial three-mirror parent (two routes).  The chain's offset solves at 9–10° leave a field-constant residual — the parent's own aberration off its axis — 2 944 nm at best with the clearance gate failing, 6–65 px rms spots in the engine.  The design layer's Korsch TMA with conics solved by the native optimizer at a scanned bias is diffraction-limited on axis (0.008 waves) and holds to ±1.5°: at 1° bias the strip centre is 0.41 px but the imageable half-field is a third of the swath, and the bias cannot be raised to unobscure.  Three conics do not correct 9.4° at F/1.8 on the coaxial form.  The unobscured eccentric section of the same parent (pupil decentered 205 mm, the beam passing below M2 to M3 and a focal plane beside it, no hole, no central obstruction) is the first packaged imaging telescope in the record: three conics hold the 1.5k strip at 8.9 px (4.3 px at the strip centre), every body clear, 1.05 kg of mirror — at a plate scale of 447 mm, not the 330 mm the ground sample asks.  Asked to hold the plate scale too (the optimizer's new per-field image-position rows), the same three conics give up the blur: blur and plate scale compete, and the 3k strip's ends sit at 10 mm on this form.  Both modules need more than conics: aspheres through the native optimizer, or freeform.</a:t>
            </a:r>
          </a:p>
          <a:p>
            <a:pPr>
              <a:spcAft>
                <a:spcPts val="600"/>
              </a:spcAft>
            </a:pPr>
            <a:r>
              <a:rPr sz="1500" b="0">
                <a:solidFill>
                  <a:srgbClr val="282828"/>
                </a:solidFill>
                <a:latin typeface="Arial"/>
              </a:rPr>
              <a:t>•  The two-mirror modified Schwarzschild (the review's form for this regime).  Convex primary, concave secondary, the stop virtual at M2's front focus so the output is telecentric; closed-form first order, exact chain, engine equal to chain on every ray.  On axis — obscured, M1 in the image cone — it images: 1.10 px max rms spot for the 1.5k module (0.59 on axis), 4.26 px for the 3k, each solved on its own strip with M1 and M2 aspheres, the review's own TMS scaled to this focal length sitting at 2.3–4.6 px.  It packages only with the strip 30° off axis: with the clearance operand made smooth (an exact segment-to-disc distance and a softmin over rays, where a sampled minimum had stalled every step) the packaged solves reach 123 px (1.5k, +5.4 mm clear) and 178 px (3k, +4.8 mm) and stall at the wall's knee.  The bound settles it: with the wall switched off, the same 30° layouts still sit at 25 px (3k; and the 1.5k solve ran pathological) — the form, not the solver, is out at this bias.  Verdict: no packaged Schwarzschild images at the pixel at f = 330 mm, F/1.8; no end-to-end row for it.</a:t>
            </a:r>
          </a:p>
        </p:txBody>
      </p:sp>
      <p:pic>
        <p:nvPicPr>
          <p:cNvPr id="5" name="Picture 4" descr="dyson5_tma_step2_views.png"/>
          <p:cNvPicPr>
            <a:picLocks noChangeAspect="1"/>
          </p:cNvPicPr>
          <p:nvPr/>
        </p:nvPicPr>
        <p:blipFill>
          <a:blip r:embed="rId2"/>
          <a:stretch>
            <a:fillRect/>
          </a:stretch>
        </p:blipFill>
        <p:spPr>
          <a:xfrm>
            <a:off x="5426302" y="7946897"/>
            <a:ext cx="1339090" cy="365760"/>
          </a:xfrm>
          <a:prstGeom prst="rect">
            <a:avLst/>
          </a:prstGeom>
        </p:spPr>
      </p:pic>
      <p:sp>
        <p:nvSpPr>
          <p:cNvPr id="6" name="TextBox 5"/>
          <p:cNvSpPr txBox="1"/>
          <p:nvPr/>
        </p:nvSpPr>
        <p:spPr>
          <a:xfrm>
            <a:off x="411480" y="8330945"/>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packaged unobscured section of the TMA parent for the 1.5k module (step 2b, 205 mm decenter, 3° bias, clearance +0.1 mm), YZ and XZ as the design layer renders it — M1 above, M2 below the incoming beam, the intermediate focus, M3, the focal plane beside it.  Right: the same section at 170 mm for the 3k strip, whose ends do not image.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Telescope and spectrometer end to end</a:t>
            </a:r>
          </a:p>
          <a:p>
            <a:pPr>
              <a:spcAft>
                <a:spcPts val="0"/>
              </a:spcAft>
            </a:pPr>
            <a:r>
              <a:rPr sz="1250" b="0">
                <a:solidFill>
                  <a:srgbClr val="6E6E6E"/>
                </a:solidFill>
                <a:latin typeface="Arial"/>
              </a:rPr>
              <a:t>One prescription of 16 (R4) and 19 (R5) elements, the grating its stop; the spectrometer's scorer sees the telescope's blur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deck.  The telescope's surfaces are prepended to the spectrometer of record — sky, M1, M2, M3, fold, the slit as a pass-through reference, then block, meniscus, grating and detector — with a collimated 70 mm source per field and the grating declared the stop.  Gate tTelescopeRx: every ray at the slit and at the detector within 1e-9 m of the design solver's.</a:t>
            </a:r>
          </a:p>
          <a:p>
            <a:pPr>
              <a:spcAft>
                <a:spcPts val="600"/>
              </a:spcAft>
            </a:pPr>
            <a:r>
              <a:rPr sz="1500" b="0">
                <a:solidFill>
                  <a:srgbClr val="282828"/>
                </a:solidFill>
                <a:latin typeface="Arial"/>
              </a:rPr>
              <a:t>•  The score (7 fields × 7 wavelengths, the spectrometer's own scorer): with R4 smile 3.1 px, keystone 0.59 px, SRF 15.7 px, CRF 15.5 px; R5 the same to 0.03 px.  Against the spectrometer alone (smile 0.005, keystone 0.003, CRF 1.33 px) these are the telescope's 67 px blur passing through.  Clearance across both +0.75 mm with R4; with R5 the fold mirror's blur-widened footprint meets the detector package at −0.11 mm.</a:t>
            </a:r>
          </a:p>
          <a:p>
            <a:pPr>
              <a:spcAft>
                <a:spcPts val="600"/>
              </a:spcAft>
            </a:pPr>
            <a:r>
              <a:rPr sz="1500" b="0">
                <a:solidFill>
                  <a:srgbClr val="282828"/>
                </a:solidFill>
                <a:latin typeface="Arial"/>
              </a:rPr>
              <a:t>•  What it establishes: the end-to-end machinery is in place and gated — a telescope deck of record, a combined prescription with the stop at the grating, the admitted fraction per field, the clearance gate across both instruments.  Records dyson5_t2.txt, decks dyson5_t2_r4.in, dyson5_t2_r5.in.</a:t>
            </a:r>
          </a:p>
        </p:txBody>
      </p:sp>
      <p:pic>
        <p:nvPicPr>
          <p:cNvPr id="5" name="Picture 4" descr="dyson5_t2_r4_views.png"/>
          <p:cNvPicPr>
            <a:picLocks noChangeAspect="1"/>
          </p:cNvPicPr>
          <p:nvPr/>
        </p:nvPicPr>
        <p:blipFill>
          <a:blip r:embed="rId2"/>
          <a:stretch>
            <a:fillRect/>
          </a:stretch>
        </p:blipFill>
        <p:spPr>
          <a:xfrm>
            <a:off x="4994682" y="4479797"/>
            <a:ext cx="2202329"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the folded telescope below the slit plane, the block, meniscus and grating (E10) above it along the Dyson's axis, the detector on the block's face.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telescope through its Dyson</a:t>
            </a:r>
          </a:p>
          <a:p>
            <a:pPr>
              <a:spcAft>
                <a:spcPts val="0"/>
              </a:spcAft>
            </a:pPr>
            <a:r>
              <a:rPr sz="1250" b="0">
                <a:solidFill>
                  <a:srgbClr val="6E6E6E"/>
                </a:solidFill>
                <a:latin typeface="Arial"/>
              </a:rPr>
              <a:t>On the telecentric parent every field is admitted and the plate scale holds; the strip's inner half images at 2–10 px, its edges at 19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pupil is a first-order condition.  The section's exit pupil must sit near infinity to feed the near-telecentric Dyson (its chiefs cross 14–44 m away; it accepts chiefs within 0.09° of its own).  A Korsch with a real intermediate focus between M2 and M3 can never be telecentric, so the layout was re-posed with M3 in front of that focus (the Cook/EMIT form, tma_layout 'telecentric'): on that parent's section the chiefs are within 0.5° across the strip, the pupil ~1 m out, every field admitted (0.997–1.000), the plate scale calibrated to the spec by the parent's f-number.</a:t>
            </a:r>
          </a:p>
          <a:p>
            <a:pPr>
              <a:spcAft>
                <a:spcPts val="600"/>
              </a:spcAft>
            </a:pPr>
            <a:r>
              <a:rPr sz="1200" b="0">
                <a:solidFill>
                  <a:srgbClr val="282828"/>
                </a:solidFill>
                <a:latin typeface="Arial"/>
              </a:rPr>
              <a:t>•  The figure stage (h⁴+h⁶ on all three mirrors, the per-field image positions as targets, scored on the corrected engine): at 4° bias and 190 mm decenter — the point the clearance walk selects — the strip images at 2.1 px at the centre, 4.2 / 9.8 px at ±0.8° / ±1.6°, 19 px at the ±2.3° edges (best-focus rms 37 / 75 / 176 / 343 µm), plate scale 333.8 mm, clearance +3.97 mm with the mount counted once.</a:t>
            </a:r>
          </a:p>
          <a:p>
            <a:pPr>
              <a:spcAft>
                <a:spcPts val="600"/>
              </a:spcAft>
            </a:pPr>
            <a:r>
              <a:rPr sz="1200" b="0">
                <a:solidFill>
                  <a:srgbClr val="282828"/>
                </a:solidFill>
                <a:latin typeface="Arial"/>
              </a:rPr>
              <a:t>•  Through the 130 mm module (the Dyson rolled 180° about the chief to clear its detector package from M2): 98.8 % of the swath on the slit, every field admitted, smile 3.26 px, keystone 0.63 px, CRF 15.5 px, SRF 5.9 px — the telescope's edge blur seen through the Dyson, the same at every wavelength.  Chain and engine agree to 1e-14 m.</a:t>
            </a:r>
          </a:p>
          <a:p>
            <a:pPr>
              <a:spcAft>
                <a:spcPts val="600"/>
              </a:spcAft>
            </a:pPr>
            <a:r>
              <a:rPr sz="1200" b="0">
                <a:solidFill>
                  <a:srgbClr val="282828"/>
                </a:solidFill>
                <a:latin typeface="Arial"/>
              </a:rPr>
              <a:t>•  The 3k section (4° bias, 180 mm) closes its scale and distortion — 326.8 / 319.2 mm, 100 % on the 54 mm slit, smile 10.6 px, keystone 1.37 px — with its edge fields at 1.23 mm (68 px).  Records dyson5_tA_B3_.txt, dyson5_t5e_tA_B3_.txt.</a:t>
            </a:r>
          </a:p>
        </p:txBody>
      </p:sp>
      <p:pic>
        <p:nvPicPr>
          <p:cNvPr id="5" name="Picture 4" descr="dyson5_t5e_tA_B3_1k5_b4d190_B1_maps_rc.png"/>
          <p:cNvPicPr>
            <a:picLocks noChangeAspect="1"/>
          </p:cNvPicPr>
          <p:nvPr/>
        </p:nvPicPr>
        <p:blipFill>
          <a:blip r:embed="rId2"/>
          <a:stretch>
            <a:fillRect/>
          </a:stretch>
        </p:blipFill>
        <p:spPr>
          <a:xfrm>
            <a:off x="6475777" y="1298448"/>
            <a:ext cx="5245004" cy="4670552"/>
          </a:xfrm>
          <a:prstGeom prst="rect">
            <a:avLst/>
          </a:prstGeom>
        </p:spPr>
      </p:pic>
      <p:sp>
        <p:nvSpPr>
          <p:cNvPr id="6" name="TextBox 5"/>
          <p:cNvSpPr txBox="1"/>
          <p:nvPr/>
        </p:nvSpPr>
        <p:spPr>
          <a:xfrm>
            <a:off x="6400800" y="5987288"/>
            <a:ext cx="5394960" cy="724408"/>
          </a:xfrm>
          <a:prstGeom prst="rect">
            <a:avLst/>
          </a:prstGeom>
          <a:noFill/>
        </p:spPr>
        <p:txBody>
          <a:bodyPr wrap="square">
            <a:spAutoFit/>
          </a:bodyPr>
          <a:lstStyle/>
          <a:p>
            <a:pPr algn="ctr">
              <a:spcAft>
                <a:spcPts val="0"/>
              </a:spcAft>
            </a:pPr>
            <a:r>
              <a:rPr sz="1000" b="0">
                <a:solidFill>
                  <a:srgbClr val="6E6E6E"/>
                </a:solidFill>
                <a:latin typeface="Arial"/>
              </a:rPr>
              <a:t>The 1.5k telescope through its Dyson (dyson5_t5e_tA_B3_1k5_b4d190_B1), per slit position and wavelength: the field-angle, keystone and smile maps, the spectral and spatial response widths, and the energy in one pixel.  The response widths rise at the two strip ends and nowhere else.</a:t>
            </a:r>
          </a:p>
        </p:txBody>
      </p:sp>
      <p:sp>
        <p:nvSpPr>
          <p:cNvPr id="7" name="TextBox 6"/>
          <p:cNvSpPr txBox="1"/>
          <p:nvPr/>
        </p:nvSpPr>
        <p:spPr>
          <a:xfrm>
            <a:off x="6400800" y="6748272"/>
            <a:ext cx="5394960" cy="274320"/>
          </a:xfrm>
          <a:prstGeom prst="rect">
            <a:avLst/>
          </a:prstGeom>
          <a:noFill/>
        </p:spPr>
        <p:txBody>
          <a:bodyPr wrap="square">
            <a:spAutoFit/>
          </a:bodyPr>
          <a:lstStyle/>
          <a:p>
            <a:pPr>
              <a:spcAft>
                <a:spcPts val="600"/>
              </a:spcAft>
            </a:pPr>
            <a:r>
              <a:rPr sz="1050" b="0">
                <a:solidFill>
                  <a:srgbClr val="6E6E6E"/>
                </a:solidFill>
                <a:latin typeface="Arial"/>
              </a:rPr>
              <a:t>Supersedes the 2026-10-04 row (1.3 / 15.8 px): that solve's aperture circle clipped the edge fields (Backup, finding 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limits the strip edge</a:t>
            </a:r>
          </a:p>
          <a:p>
            <a:pPr>
              <a:spcAft>
                <a:spcPts val="0"/>
              </a:spcAft>
            </a:pPr>
            <a:r>
              <a:rPr sz="1250" b="0">
                <a:solidFill>
                  <a:srgbClr val="6E6E6E"/>
                </a:solidFill>
                <a:latin typeface="Arial"/>
              </a:rPr>
              <a:t>Cross-track astigmatism of the eccentric section, growing as the square of the field; untouched by focus or by the mirrors' power split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optimizer's default merit mis-ranks the fields.  The path length to each ray's own point on the detector (which the chiefs meet at 31°) floors at 16 µm at every field and ranks the strip edge at 2.1× the centre where the true reference sphere ranks it 13.7×.  The reference sphere is the reporting metric from here on (about the detector point, and about best focus; they answer different questions); whether solving on it buys the edge is being re-run (footnote).</a:t>
            </a:r>
          </a:p>
          <a:p>
            <a:pPr>
              <a:spcAft>
                <a:spcPts val="600"/>
              </a:spcAft>
            </a:pPr>
            <a:r>
              <a:rPr sz="1200" b="0">
                <a:solidFill>
                  <a:srgbClr val="282828"/>
                </a:solidFill>
                <a:latin typeface="Arial"/>
              </a:rPr>
              <a:t>•  It is not focus, and not the field curvature of the parent.  Along the strip the along-track focus is flat at every secondary magnification; the cross-track focus curves 2–4 mm, and the two line foci at the edge sit 2.2–5.3 mm apart.  The parent's Petzval sum predicts a flat field near m₂ = 2.9 and the engine shows none there; the magnification that flattens the mean focus (m₂ = 6) is 2× worse once solved.  m₂ = 3.0 is modestly better than the 3.5 used so far (edge 343 → 291 µm) and is the parent for the freeform work.</a:t>
            </a:r>
          </a:p>
          <a:p>
            <a:pPr>
              <a:spcAft>
                <a:spcPts val="600"/>
              </a:spcAft>
            </a:pPr>
            <a:r>
              <a:rPr sz="1200" b="0">
                <a:solidFill>
                  <a:srgbClr val="282828"/>
                </a:solidFill>
                <a:latin typeface="Arial"/>
              </a:rPr>
              <a:t>•  Astigmatism terms are not expected to reach it alone: about each section's pole they are field-constant, the defect is field-quadratic (line-focus separation 0 / 0.9 / 2.1 mm at 0° / 1.6° / 2.3°); the field dependence enters through the footprint's walk across each mirror times its higher terms — coma and trefoil, then the symmetric terms.  The freeform steps are running on the true reference sphere.</a:t>
            </a:r>
          </a:p>
        </p:txBody>
      </p:sp>
      <p:graphicFrame>
        <p:nvGraphicFramePr>
          <p:cNvPr id="5" name="Table 4"/>
          <p:cNvGraphicFramePr>
            <a:graphicFrameLocks noGrp="1"/>
          </p:cNvGraphicFramePr>
          <p:nvPr/>
        </p:nvGraphicFramePr>
        <p:xfrm>
          <a:off x="6400800" y="1298448"/>
          <a:ext cx="5394958" cy="1303020"/>
        </p:xfrm>
        <a:graphic>
          <a:graphicData uri="http://schemas.openxmlformats.org/drawingml/2006/table">
            <a:tbl>
              <a:tblPr firstRow="1" bandRow="1">
                <a:tableStyleId>{5C22544A-7EE6-4342-B048-85BDC9FD1C3A}</a:tableStyleId>
              </a:tblPr>
              <a:tblGrid>
                <a:gridCol w="1013108"/>
                <a:gridCol w="1004823"/>
                <a:gridCol w="2138784"/>
                <a:gridCol w="1238243"/>
              </a:tblGrid>
              <a:tr h="43434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edge rms spot</a:t>
                      </a:r>
                    </a:p>
                  </a:txBody>
                  <a:tcPr marL="54864" marR="54864" marT="18288" marB="18288">
                    <a:solidFill>
                      <a:srgbClr val="1F4E79"/>
                    </a:solidFill>
                  </a:tcPr>
                </a:tc>
                <a:tc>
                  <a:txBody>
                    <a:bodyPr wrap="square"/>
                    <a:lstStyle/>
                    <a:p>
                      <a:r>
                        <a:rPr sz="1000" b="1">
                          <a:solidFill>
                            <a:srgbClr val="FFFFFF"/>
                          </a:solidFill>
                          <a:latin typeface="Arial"/>
                        </a:rPr>
                        <a:t>edge wavefront (sphere about detector point / best focus)</a:t>
                      </a:r>
                    </a:p>
                  </a:txBody>
                  <a:tcPr marL="54864" marR="54864" marT="18288" marB="18288">
                    <a:solidFill>
                      <a:srgbClr val="1F4E79"/>
                    </a:solidFill>
                  </a:tcPr>
                </a:tc>
                <a:tc>
                  <a:txBody>
                    <a:bodyPr wrap="square"/>
                    <a:lstStyle/>
                    <a:p>
                      <a:r>
                        <a:rPr sz="1000" b="1">
                          <a:solidFill>
                            <a:srgbClr val="FFFFFF"/>
                          </a:solidFill>
                          <a:latin typeface="Arial"/>
                        </a:rPr>
                        <a:t>line-focus separation at the edge</a:t>
                      </a:r>
                    </a:p>
                  </a:txBody>
                  <a:tcPr marL="54864" marR="54864" marT="18288" marB="18288">
                    <a:solidFill>
                      <a:srgbClr val="1F4E79"/>
                    </a:solidFill>
                  </a:tcPr>
                </a:tc>
              </a:tr>
              <a:tr h="434340">
                <a:tc>
                  <a:txBody>
                    <a:bodyPr wrap="square"/>
                    <a:lstStyle/>
                    <a:p>
                      <a:r>
                        <a:rPr sz="1000" b="0">
                          <a:solidFill>
                            <a:srgbClr val="282828"/>
                          </a:solidFill>
                          <a:latin typeface="Arial"/>
                        </a:rPr>
                        <a:t>conics + aspheres, m₂ = 3.5</a:t>
                      </a:r>
                    </a:p>
                  </a:txBody>
                  <a:tcPr marL="54864" marR="54864" marT="18288" marB="18288">
                    <a:solidFill>
                      <a:srgbClr val="FFFFFF"/>
                    </a:solidFill>
                  </a:tcPr>
                </a:tc>
                <a:tc>
                  <a:txBody>
                    <a:bodyPr wrap="square"/>
                    <a:lstStyle/>
                    <a:p>
                      <a:r>
                        <a:rPr sz="1000" b="0">
                          <a:solidFill>
                            <a:srgbClr val="282828"/>
                          </a:solidFill>
                          <a:latin typeface="Arial"/>
                        </a:rPr>
                        <a:t>343 µm</a:t>
                      </a:r>
                    </a:p>
                  </a:txBody>
                  <a:tcPr marL="54864" marR="54864" marT="18288" marB="18288">
                    <a:solidFill>
                      <a:srgbClr val="FFFFFF"/>
                    </a:solidFill>
                  </a:tcPr>
                </a:tc>
                <a:tc>
                  <a:txBody>
                    <a:bodyPr wrap="square"/>
                    <a:lstStyle/>
                    <a:p>
                      <a:r>
                        <a:rPr sz="1000" b="0">
                          <a:solidFill>
                            <a:srgbClr val="282828"/>
                          </a:solidFill>
                          <a:latin typeface="Arial"/>
                        </a:rPr>
                        <a:t>33.9 / 26.8 µm</a:t>
                      </a:r>
                    </a:p>
                  </a:txBody>
                  <a:tcPr marL="54864" marR="54864" marT="18288" marB="18288">
                    <a:solidFill>
                      <a:srgbClr val="FFFFFF"/>
                    </a:solidFill>
                  </a:tcPr>
                </a:tc>
                <a:tc>
                  <a:txBody>
                    <a:bodyPr wrap="square"/>
                    <a:lstStyle/>
                    <a:p>
                      <a:r>
                        <a:rPr sz="1000" b="0">
                          <a:solidFill>
                            <a:srgbClr val="282828"/>
                          </a:solidFill>
                          <a:latin typeface="Arial"/>
                        </a:rPr>
                        <a:t>2.8 mm</a:t>
                      </a:r>
                    </a:p>
                  </a:txBody>
                  <a:tcPr marL="54864" marR="54864" marT="18288" marB="18288">
                    <a:solidFill>
                      <a:srgbClr val="FFFFFF"/>
                    </a:solidFill>
                  </a:tcPr>
                </a:tc>
              </a:tr>
              <a:tr h="434340">
                <a:tc>
                  <a:txBody>
                    <a:bodyPr wrap="square"/>
                    <a:lstStyle/>
                    <a:p>
                      <a:r>
                        <a:rPr sz="1000" b="0">
                          <a:solidFill>
                            <a:srgbClr val="282828"/>
                          </a:solidFill>
                          <a:latin typeface="Arial"/>
                        </a:rPr>
                        <a:t>conics + aspheres, m₂ = 3.0</a:t>
                      </a:r>
                    </a:p>
                  </a:txBody>
                  <a:tcPr marL="54864" marR="54864" marT="18288" marB="18288">
                    <a:solidFill>
                      <a:srgbClr val="ECF1F6"/>
                    </a:solidFill>
                  </a:tcPr>
                </a:tc>
                <a:tc>
                  <a:txBody>
                    <a:bodyPr wrap="square"/>
                    <a:lstStyle/>
                    <a:p>
                      <a:r>
                        <a:rPr sz="1000" b="0">
                          <a:solidFill>
                            <a:srgbClr val="282828"/>
                          </a:solidFill>
                          <a:latin typeface="Arial"/>
                        </a:rPr>
                        <a:t>291 µm</a:t>
                      </a:r>
                    </a:p>
                  </a:txBody>
                  <a:tcPr marL="54864" marR="54864" marT="18288" marB="18288">
                    <a:solidFill>
                      <a:srgbClr val="ECF1F6"/>
                    </a:solidFill>
                  </a:tcPr>
                </a:tc>
                <a:tc>
                  <a:txBody>
                    <a:bodyPr wrap="square"/>
                    <a:lstStyle/>
                    <a:p>
                      <a:r>
                        <a:rPr sz="1000" b="0">
                          <a:solidFill>
                            <a:srgbClr val="282828"/>
                          </a:solidFill>
                          <a:latin typeface="Arial"/>
                        </a:rPr>
                        <a:t>27.9 / 23.0 µm</a:t>
                      </a:r>
                    </a:p>
                  </a:txBody>
                  <a:tcPr marL="54864" marR="54864" marT="18288" marB="18288">
                    <a:solidFill>
                      <a:srgbClr val="ECF1F6"/>
                    </a:solidFill>
                  </a:tcPr>
                </a:tc>
                <a:tc>
                  <a:txBody>
                    <a:bodyPr wrap="square"/>
                    <a:lstStyle/>
                    <a:p>
                      <a:r>
                        <a:rPr sz="1000" b="0">
                          <a:solidFill>
                            <a:srgbClr val="282828"/>
                          </a:solidFill>
                          <a:latin typeface="Arial"/>
                        </a:rPr>
                        <a:t>2.2 mm</a:t>
                      </a:r>
                    </a:p>
                  </a:txBody>
                  <a:tcPr marL="54864" marR="54864" marT="18288" marB="18288">
                    <a:solidFill>
                      <a:srgbClr val="ECF1F6"/>
                    </a:solidFill>
                  </a:tcPr>
                </a:tc>
              </a:tr>
            </a:tbl>
          </a:graphicData>
        </a:graphic>
      </p:graphicFrame>
      <p:sp>
        <p:nvSpPr>
          <p:cNvPr id="6" name="TextBox 5"/>
          <p:cNvSpPr txBox="1"/>
          <p:nvPr/>
        </p:nvSpPr>
        <p:spPr>
          <a:xfrm>
            <a:off x="6400800" y="2747772"/>
            <a:ext cx="5394960" cy="274320"/>
          </a:xfrm>
          <a:prstGeom prst="rect">
            <a:avLst/>
          </a:prstGeom>
          <a:noFill/>
        </p:spPr>
        <p:txBody>
          <a:bodyPr wrap="square">
            <a:spAutoFit/>
          </a:bodyPr>
          <a:lstStyle/>
          <a:p>
            <a:pPr>
              <a:spcAft>
                <a:spcPts val="600"/>
              </a:spcAft>
            </a:pPr>
            <a:r>
              <a:rPr sz="1050" b="0">
                <a:solidFill>
                  <a:srgbClr val="6E6E6E"/>
                </a:solidFill>
                <a:latin typeface="Arial"/>
              </a:rPr>
              <a:t>1.5k section at 4° bias, 190 mm decenter, ±2.34° field; wavefront rms over the pupil at 633 nm; the two line foci from the x- and y-slices of the bundle along the chief.  The solves ON the reference sphere (the same freedoms, and the freeform steps) first stopped at their solver's first step through a tolerance set in the wrong units; they are re-running and are not reported here.  Records dyson5_tA_EP_cp*.txt, dyson5_tA_pz_1k5.txt.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native optimizer on the record, the cold window,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native multi-wavelength optimizer (MACOS CALIB) confirms the compact variant: the engine's spot-size solve over 5 slit positions × 6 wavelengths, the double-pass copies of each surface linked as one, smile and keystone held as walls between iteration chunks, the engine's design read back under an identity check (2e-16 m).  With the blur freedoms (block face radius and conic, meniscus faces, focus) every step is rejected: R4 is a local optimum of the engine's merit as well as the chain's.  With the grating's position free the engine bought blur with 15 px of keystone in five iterations and the wall rejected it: the reason the design needs distortion operands, queued as an engine feature.  From a deliberate 0.3 mm defocus the same solve cuts the spot from 97 to 21 µm, so it moves when there is something to gain.  The block's asphere joins the freedoms now that its differential step is fixed (Backup).</a:t>
            </a:r>
          </a:p>
          <a:p>
            <a:pPr>
              <a:spcAft>
                <a:spcPts val="600"/>
              </a:spcAft>
            </a:pPr>
            <a:r>
              <a:rPr sz="1200" b="0">
                <a:solidFill>
                  <a:srgbClr val="282828"/>
                </a:solidFill>
                <a:latin typeface="Arial"/>
              </a:rPr>
              <a:t>•  The cold window: the R5 variant with the shield as the detector housing behind a window cemented as the prism's exit face, under the same clearance gate.</a:t>
            </a:r>
          </a:p>
          <a:p>
            <a:pPr>
              <a:spcAft>
                <a:spcPts val="600"/>
              </a:spcAft>
            </a:pPr>
            <a:r>
              <a:rPr sz="1200" b="0">
                <a:solidFill>
                  <a:srgbClr val="282828"/>
                </a:solidFill>
                <a:latin typeface="Arial"/>
              </a:rPr>
              <a:t>•  One module or two (a project decision): one 54 mm module needs the 220 mm, 8 kg block and its thin meniscus; two 27 mm modules need a plain 130 mm block of 1.6 kg each, with the swath split ahead of the slits.  The choice also sets the telescope's field: 24.6° for one, or 12.3° each for two.</a:t>
            </a:r>
          </a:p>
          <a:p>
            <a:pPr>
              <a:spcAft>
                <a:spcPts val="600"/>
              </a:spcAft>
            </a:pPr>
            <a:r>
              <a:rPr sz="1200" b="0">
                <a:solidFill>
                  <a:srgbClr val="282828"/>
                </a:solidFill>
                <a:latin typeface="Arial"/>
              </a:rPr>
              <a:t>•  The radiometric chain against the band: throughput, grating efficiency, detector quantum efficiency and the slit loss above.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telescope's image: the unobscured section of the telecentric three-mirror parent packages and holds the 1.5k strip's inner half at 2–10 px with its plate scale and every clearance; the strip edges (19 px at ±2.3°, 68 px at ±4.7° for 3k) are cross-track astigmatism that no symmetric surface term reaches.  Running now: the freeform steps on the m₂ = 3.0 parent — coma and trefoil, then the symmetric terms, warm-started step to step on the true reference sphere; then the same for the 3k module; then the end-to-end row with each module's Dyson.  Queued in the engine: the fixed-station reference sphere for the optimizer on near-telecentric designs, and the asphere + Zernike surface as one emitted option.</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 and, once the telescope exists, full diffraction from the slit through the grating to the detector, to put a number on the slit's truncation of the telescope's image (the literature expects about a 10 % effect on the response functions).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70688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dyson5_run(struct('stages', {{'s5','s4env'}}));     % the fold prism sweep; the closure envelope</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3115056"/>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the fold's depth and the cold-shield height.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close (slide 24): F/1.8–2.2, block radii 220–300 mm, slits to 54 mm, 18 and 30 µm pixels, silica and CaF2, each a full re-solve scored in the engine; outside, the CRF fails first (150 and 180 mm blocks, the 60 mm slit), and F/1.6 and F/2.8 end on the meniscus bounds.  Also on the record: block radii 50–500 mm at order 0 for the scaling law, and the Offner reference at F/2.8.</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eight engine findings, each with a regression test</a:t>
            </a:r>
          </a:p>
          <a:p>
            <a:pPr>
              <a:spcAft>
                <a:spcPts val="0"/>
              </a:spcAft>
            </a:pPr>
            <a:r>
              <a:rPr sz="1250" b="0">
                <a:solidFill>
                  <a:srgbClr val="6E6E6E"/>
                </a:solidFill>
                <a:latin typeface="Arial"/>
              </a:rPr>
              <a:t>Found by the challenge's checks on 2026-09-30 to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6858000"/>
        </p:xfrm>
        <a:graphic>
          <a:graphicData uri="http://schemas.openxmlformats.org/drawingml/2006/table">
            <a:tbl>
              <a:tblPr firstRow="1" bandRow="1">
                <a:tableStyleId>{5C22544A-7EE6-4342-B048-85BDC9FD1C3A}</a:tableStyleId>
              </a:tblPr>
              <a:tblGrid>
                <a:gridCol w="795984"/>
                <a:gridCol w="3564626"/>
                <a:gridCol w="5364243"/>
                <a:gridCol w="1643881"/>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657225">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657225">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657225">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657225">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r h="84582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spot-size optimisation over several fields overwrote memory on its second field (the derivative columns advanced by the wavefront's size, not the objective's) and crashed or hung the host</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c>
                  <a:txBody>
                    <a:bodyPr wrap="square"/>
                    <a:lstStyle/>
                    <a:p>
                      <a:r>
                        <a:rPr sz="1100" b="0">
                          <a:solidFill>
                            <a:srgbClr val="282828"/>
                          </a:solidFill>
                          <a:latin typeface="Arial"/>
                        </a:rPr>
                        <a:t>tSpectrometerRx native leg, tDesignTelescope (70, unchanged)</a:t>
                      </a:r>
                    </a:p>
                  </a:txBody>
                  <a:tcPr marL="54864" marR="54864" marT="18288" marB="18288">
                    <a:solidFill>
                      <a:srgbClr val="FFFFFF"/>
                    </a:solidFill>
                  </a:tcPr>
                </a:tc>
              </a:tr>
              <a:tr h="1034415">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whose entrance-pupil reference sits 5 mm ahead of its convex primary scattered every ray but the chief in a one-call trace (93 mm rms), while an element-by-element trace was right — by accident</a:t>
                      </a:r>
                    </a:p>
                  </a:txBody>
                  <a:tcPr marL="54864" marR="54864" marT="18288" marB="18288">
                    <a:solidFill>
                      <a:srgbClr val="ECF1F6"/>
                    </a:solidFill>
                  </a:tcPr>
                </a:tc>
                <a:tc>
                  <a:txBody>
                    <a:bodyPr wrap="square"/>
                    <a:lstStyle/>
                    <a:p>
                      <a:r>
                        <a:rPr sz="1100" b="0">
                          <a:solidFill>
                            <a:srgbClr val="282828"/>
                          </a:solidFill>
                          <a:latin typeface="Arial"/>
                        </a:rPr>
                        <a:t>the root of the conic after a reference is the one whose hit point is nearest the element's reference point (its vertex, or an off-axis section's pole), not the one whose length matches the ray's distance to the vertex (which the ray's height dominated); a restarted trace resets its "previous element" per ray</a:t>
                      </a:r>
                    </a:p>
                  </a:txBody>
                  <a:tcPr marL="54864" marR="54864" marT="18288" marB="18288">
                    <a:solidFill>
                      <a:srgbClr val="ECF1F6"/>
                    </a:solidFill>
                  </a:tcPr>
                </a:tc>
                <a:tc>
                  <a:txBody>
                    <a:bodyPr wrap="square"/>
                    <a:lstStyle/>
                    <a:p>
                      <a:r>
                        <a:rPr sz="1100" b="0">
                          <a:solidFill>
                            <a:srgbClr val="282828"/>
                          </a:solidFill>
                          <a:latin typeface="Arial"/>
                        </a:rPr>
                        <a:t>tTraceRestart (2) on the deck itself; exit-pupil radii unchanged to the bit on four decks</a:t>
                      </a:r>
                    </a:p>
                  </a:txBody>
                  <a:tcPr marL="54864" marR="54864" marT="18288" marB="18288">
                    <a:solidFill>
                      <a:srgbClr val="ECF1F6"/>
                    </a:solidFill>
                  </a:tcPr>
                </a:tc>
              </a:tr>
              <a:tr h="1034415">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the chief's direction and position at an element could not be scored with a spot or wavefront target, one target served every field, and a multi-field beam solve scored the last field alone</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a weight; the ray centroid as the position</a:t>
                      </a:r>
                    </a:p>
                  </a:txBody>
                  <a:tcPr marL="54864" marR="54864" marT="18288" marB="18288">
                    <a:solidFill>
                      <a:srgbClr val="FFFFFF"/>
                    </a:solidFill>
                  </a:tcPr>
                </a:tc>
                <a:tc>
                  <a:txBody>
                    <a:bodyPr wrap="square"/>
                    <a:lstStyle/>
                    <a:p>
                      <a:r>
                        <a:rPr sz="1100" b="0">
                          <a:solidFill>
                            <a:srgbClr val="282828"/>
                          </a:solidFill>
                          <a:latin typeface="Arial"/>
                        </a:rPr>
                        <a:t>tBeamRows (3): telecentric under a spot target, two fields met by one piston, centroid vs chief</a:t>
                      </a:r>
                    </a:p>
                  </a:txBody>
                  <a:tcPr marL="54864" marR="54864" marT="18288" marB="18288">
                    <a:solidFill>
                      <a:srgbClr val="FFFFFF"/>
                    </a:solidFill>
                  </a:tcPr>
                </a:tc>
              </a:tr>
              <a:tr h="1034415">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an aspheric coefficient was probed by a fixed 1e-10, round-off on a deck in metres: a zero derivative column, a singular matrix at the first step, and a stop on that path that ended the MATLAB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c>
                  <a:txBody>
                    <a:bodyPr wrap="square"/>
                    <a:lstStyle/>
                    <a:p>
                      <a:r>
                        <a:rPr sz="1100" b="0">
                          <a:solidFill>
                            <a:srgbClr val="282828"/>
                          </a:solidFill>
                          <a:latin typeface="Arial"/>
                        </a:rPr>
                        <a:t>tAsphCalib (2): a spoiled paraboloid driven back to zero; the failure path with the host alive</a:t>
                      </a:r>
                    </a:p>
                  </a:txBody>
                  <a:tcPr marL="54864" marR="54864" marT="18288" marB="18288">
                    <a:solidFill>
                      <a:srgbClr val="ECF1F6"/>
                    </a:solidFill>
                  </a:tcPr>
                </a:tc>
              </a:tr>
            </a:tbl>
          </a:graphicData>
        </a:graphic>
      </p:graphicFrame>
      <p:sp>
        <p:nvSpPr>
          <p:cNvPr id="5" name="TextBox 4"/>
          <p:cNvSpPr txBox="1"/>
          <p:nvPr/>
        </p:nvSpPr>
        <p:spPr>
          <a:xfrm>
            <a:off x="411480" y="8302752"/>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grating fixes; the wavefront-target optimizer, which every telescope design used, was never affected by the fifth.  A seventh item, a short AsphCoef= line killing the host process, now pads with zero and warns (tRxShortAsph); the same guard for ZernCoef= is queued.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four more findings from the telescope's eccentric section</a:t>
            </a:r>
          </a:p>
          <a:p>
            <a:pPr>
              <a:spcAft>
                <a:spcPts val="0"/>
              </a:spcAft>
            </a:pPr>
            <a:r>
              <a:rPr sz="1250" b="0">
                <a:solidFill>
                  <a:srgbClr val="6E6E6E"/>
                </a:solidFill>
                <a:latin typeface="Arial"/>
              </a:rPr>
              <a:t>Found 2026-10-04 to 10-05, each invisible on a coaxial design, each fixed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663315"/>
        </p:xfrm>
        <a:graphic>
          <a:graphicData uri="http://schemas.openxmlformats.org/drawingml/2006/table">
            <a:tbl>
              <a:tblPr firstRow="1" bandRow="1">
                <a:tableStyleId>{5C22544A-7EE6-4342-B048-85BDC9FD1C3A}</a:tableStyleId>
              </a:tblPr>
              <a:tblGrid>
                <a:gridCol w="727756"/>
                <a:gridCol w="4681243"/>
                <a:gridCol w="4405876"/>
                <a:gridCol w="1553858"/>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845820">
                <a:tc>
                  <a:txBody>
                    <a:bodyPr wrap="square"/>
                    <a:lstStyle/>
                    <a:p>
                      <a:r>
                        <a:rPr sz="1100" b="0">
                          <a:solidFill>
                            <a:srgbClr val="282828"/>
                          </a:solidFill>
                          <a:latin typeface="Arial"/>
                        </a:rPr>
                        <a:t>ray on the far sheet of a hyperboloid</a:t>
                      </a:r>
                    </a:p>
                  </a:txBody>
                  <a:tcPr marL="54864" marR="54864" marT="18288" marB="18288">
                    <a:solidFill>
                      <a:srgbClr val="FFFFFF"/>
                    </a:solidFill>
                  </a:tcPr>
                </a:tc>
                <a:tc>
                  <a:txBody>
                    <a:bodyPr wrap="square"/>
                    <a:lstStyle/>
                    <a:p>
                      <a:r>
                        <a:rPr sz="1100" b="0">
                          <a:solidFill>
                            <a:srgbClr val="282828"/>
                          </a:solidFill>
                          <a:latin typeface="Arial"/>
                        </a:rPr>
                        <a:t>40 of 1185 rays on the section's M3 (sheets 22 mm apart) took the second sheet: 44 mm of extra path, a 10 mm spot tail, every ray reported as passing — 7.8 mm rms wavefront at the focal plane while an outlier-cut spot read 400 µm</a:t>
                      </a:r>
                    </a:p>
                  </a:txBody>
                  <a:tcPr marL="54864" marR="54864" marT="18288" marB="18288">
                    <a:solidFill>
                      <a:srgbClr val="FFFFFF"/>
                    </a:solidFill>
                  </a:tcPr>
                </a:tc>
                <a:tc>
                  <a:txBody>
                    <a:bodyPr wrap="square"/>
                    <a:lstStyle/>
                    <a:p>
                      <a:r>
                        <a:rPr sz="1100" b="0">
                          <a:solidFill>
                            <a:srgbClr val="282828"/>
                          </a:solidFill>
                          <a:latin typeface="Arial"/>
                        </a:rPr>
                        <a:t>the intersection is the root on the sheet the vertex is on (the normal's axial component keeps the sign it has at the vertex); first crossing on a tie; the first crossing alone is wrong, since M2's far sheet sits in the beam</a:t>
                      </a:r>
                    </a:p>
                  </a:txBody>
                  <a:tcPr marL="54864" marR="54864" marT="18288" marB="18288">
                    <a:solidFill>
                      <a:srgbClr val="FFFFFF"/>
                    </a:solidFill>
                  </a:tcPr>
                </a:tc>
                <a:tc>
                  <a:txBody>
                    <a:bodyPr wrap="square"/>
                    <a:lstStyle/>
                    <a:p>
                      <a:r>
                        <a:rPr sz="1100" b="0">
                          <a:solidFill>
                            <a:srgbClr val="282828"/>
                          </a:solidFill>
                          <a:latin typeface="Arial"/>
                        </a:rPr>
                        <a:t>tFwdRoot (5); 406 decks pre/post identical</a:t>
                      </a:r>
                    </a:p>
                  </a:txBody>
                  <a:tcPr marL="54864" marR="54864" marT="18288" marB="18288">
                    <a:solidFill>
                      <a:srgbClr val="FFFFFF"/>
                    </a:solidFill>
                  </a:tcPr>
                </a:tc>
              </a:tr>
              <a:tr h="845820">
                <a:tc>
                  <a:txBody>
                    <a:bodyPr wrap="square"/>
                    <a:lstStyle/>
                    <a:p>
                      <a:r>
                        <a:rPr sz="1100" b="0">
                          <a:solidFill>
                            <a:srgbClr val="282828"/>
                          </a:solidFill>
                          <a:latin typeface="Arial"/>
                        </a:rPr>
                        <a:t>optimizer aperture sized at one field</a:t>
                      </a:r>
                    </a:p>
                  </a:txBody>
                  <a:tcPr marL="54864" marR="54864" marT="18288" marB="18288">
                    <a:solidFill>
                      <a:srgbClr val="ECF1F6"/>
                    </a:solidFill>
                  </a:tcPr>
                </a:tc>
                <a:tc>
                  <a:txBody>
                    <a:bodyPr wrap="square"/>
                    <a:lstStyle/>
                    <a:p>
                      <a:r>
                        <a:rPr sz="1100" b="0">
                          <a:solidFill>
                            <a:srgbClr val="282828"/>
                          </a:solidFill>
                          <a:latin typeface="Arial"/>
                        </a:rPr>
                        <a:t>the circle declared for the asphere solve enclosed the nominal field's footprint only; the strip-edge fields lost every ray on M3 and were dropped by the solve (the 9.9999e36 sentinel), which then drove M3's conic blind to them</a:t>
                      </a:r>
                    </a:p>
                  </a:txBody>
                  <a:tcPr marL="54864" marR="54864" marT="18288" marB="18288">
                    <a:solidFill>
                      <a:srgbClr val="ECF1F6"/>
                    </a:solidFill>
                  </a:tcPr>
                </a:tc>
                <a:tc>
                  <a:txBody>
                    <a:bodyPr wrap="square"/>
                    <a:lstStyle/>
                    <a:p>
                      <a:r>
                        <a:rPr sz="1100" b="0">
                          <a:solidFill>
                            <a:srgbClr val="282828"/>
                          </a:solidFill>
                          <a:latin typeface="Arial"/>
                        </a:rPr>
                        <a:t>the circle encloses the footprint over every field of the solve</a:t>
                      </a:r>
                    </a:p>
                  </a:txBody>
                  <a:tcPr marL="54864" marR="54864" marT="18288" marB="18288">
                    <a:solidFill>
                      <a:srgbClr val="ECF1F6"/>
                    </a:solidFill>
                  </a:tcPr>
                </a:tc>
                <a:tc>
                  <a:txBody>
                    <a:bodyPr wrap="square"/>
                    <a:lstStyle/>
                    <a:p>
                      <a:r>
                        <a:rPr sz="1100" b="0">
                          <a:solidFill>
                            <a:srgbClr val="282828"/>
                          </a:solidFill>
                          <a:latin typeface="Arial"/>
                        </a:rPr>
                        <a:t>tAsphHook (3): its first pin was the wavefront of the surviving rays; re-pinned</a:t>
                      </a:r>
                    </a:p>
                  </a:txBody>
                  <a:tcPr marL="54864" marR="54864" marT="18288" marB="18288">
                    <a:solidFill>
                      <a:srgbClr val="ECF1F6"/>
                    </a:solidFill>
                  </a:tcPr>
                </a:tc>
              </a:tr>
              <a:tr h="845820">
                <a:tc>
                  <a:txBody>
                    <a:bodyPr wrap="square"/>
                    <a:lstStyle/>
                    <a:p>
                      <a:r>
                        <a:rPr sz="1100" b="0">
                          <a:solidFill>
                            <a:srgbClr val="282828"/>
                          </a:solidFill>
                          <a:latin typeface="Arial"/>
                        </a:rPr>
                        <a:t>stop aimed at the parent vertex</a:t>
                      </a:r>
                    </a:p>
                  </a:txBody>
                  <a:tcPr marL="54864" marR="54864" marT="18288" marB="18288">
                    <a:solidFill>
                      <a:srgbClr val="FFFFFF"/>
                    </a:solidFill>
                  </a:tcPr>
                </a:tc>
                <a:tc>
                  <a:txBody>
                    <a:bodyPr wrap="square"/>
                    <a:lstStyle/>
                    <a:p>
                      <a:r>
                        <a:rPr sz="1100" b="0">
                          <a:solidFill>
                            <a:srgbClr val="282828"/>
                          </a:solidFill>
                          <a:latin typeface="Arial"/>
                        </a:rPr>
                        <a:t>the exit-pupil finder and the optimizer set the stop on M1 with no offset; on an eccentric section that is the parent vertex, 190 mm from the beam, and the pupil sphere was placed for the wrong beam</a:t>
                      </a:r>
                    </a:p>
                  </a:txBody>
                  <a:tcPr marL="54864" marR="54864" marT="18288" marB="18288">
                    <a:solidFill>
                      <a:srgbClr val="FFFFFF"/>
                    </a:solidFill>
                  </a:tcPr>
                </a:tc>
                <a:tc>
                  <a:txBody>
                    <a:bodyPr wrap="square"/>
                    <a:lstStyle/>
                    <a:p>
                      <a:r>
                        <a:rPr sz="1100" b="0">
                          <a:solidFill>
                            <a:srgbClr val="282828"/>
                          </a:solidFill>
                          <a:latin typeface="Arial"/>
                        </a:rPr>
                        <a:t>the stop at the deck's object-space stop point</a:t>
                      </a:r>
                    </a:p>
                  </a:txBody>
                  <a:tcPr marL="54864" marR="54864" marT="18288" marB="18288">
                    <a:solidFill>
                      <a:srgbClr val="FFFFFF"/>
                    </a:solidFill>
                  </a:tcPr>
                </a:tc>
                <a:tc>
                  <a:txBody>
                    <a:bodyPr wrap="square"/>
                    <a:lstStyle/>
                    <a:p>
                      <a:r>
                        <a:rPr sz="1100" b="0">
                          <a:solidFill>
                            <a:srgbClr val="282828"/>
                          </a:solidFill>
                          <a:latin typeface="Arial"/>
                        </a:rPr>
                        <a:t>tStopApStop (4)</a:t>
                      </a:r>
                    </a:p>
                  </a:txBody>
                  <a:tcPr marL="54864" marR="54864" marT="18288" marB="18288">
                    <a:solidFill>
                      <a:srgbClr val="FFFFFF"/>
                    </a:solidFill>
                  </a:tcPr>
                </a:tc>
              </a:tr>
              <a:tr h="845820">
                <a:tc>
                  <a:txBody>
                    <a:bodyPr wrap="square"/>
                    <a:lstStyle/>
                    <a:p>
                      <a:r>
                        <a:rPr sz="1100" b="0">
                          <a:solidFill>
                            <a:srgbClr val="282828"/>
                          </a:solidFill>
                          <a:latin typeface="Arial"/>
                        </a:rPr>
                        <a:t>Zernike origin at the parent vertex</a:t>
                      </a:r>
                    </a:p>
                  </a:txBody>
                  <a:tcPr marL="54864" marR="54864" marT="18288" marB="18288">
                    <a:solidFill>
                      <a:srgbClr val="ECF1F6"/>
                    </a:solidFill>
                  </a:tcPr>
                </a:tc>
                <a:tc>
                  <a:txBody>
                    <a:bodyPr wrap="square"/>
                    <a:lstStyle/>
                    <a:p>
                      <a:r>
                        <a:rPr sz="1100" b="0">
                          <a:solidFill>
                            <a:srgbClr val="282828"/>
                          </a:solidFill>
                          <a:latin typeface="Arial"/>
                        </a:rPr>
                        <a:t>the emitter placed each mirror's Zernike origin at its vertex while the axes were the section pole's, so freeform terms on a section were evaluated 3.8 radii outside the unit disc (1 µm of defocus moved the chief 0.19 mm instead of 0.005)</a:t>
                      </a:r>
                    </a:p>
                  </a:txBody>
                  <a:tcPr marL="54864" marR="54864" marT="18288" marB="18288">
                    <a:solidFill>
                      <a:srgbClr val="ECF1F6"/>
                    </a:solidFill>
                  </a:tcPr>
                </a:tc>
                <a:tc>
                  <a:txBody>
                    <a:bodyPr wrap="square"/>
                    <a:lstStyle/>
                    <a:p>
                      <a:r>
                        <a:rPr sz="1100" b="0">
                          <a:solidFill>
                            <a:srgbClr val="282828"/>
                          </a:solidFill>
                          <a:latin typeface="Arial"/>
                        </a:rPr>
                        <a:t>the origin is the element's pole</a:t>
                      </a:r>
                    </a:p>
                  </a:txBody>
                  <a:tcPr marL="54864" marR="54864" marT="18288" marB="18288">
                    <a:solidFill>
                      <a:srgbClr val="ECF1F6"/>
                    </a:solidFill>
                  </a:tcPr>
                </a:tc>
                <a:tc>
                  <a:txBody>
                    <a:bodyPr wrap="square"/>
                    <a:lstStyle/>
                    <a:p>
                      <a:r>
                        <a:rPr sz="1100" b="0">
                          <a:solidFill>
                            <a:srgbClr val="282828"/>
                          </a:solidFill>
                          <a:latin typeface="Arial"/>
                        </a:rPr>
                        <a:t>tFreeformPole (3)</a:t>
                      </a:r>
                    </a:p>
                  </a:txBody>
                  <a:tcPr marL="54864" marR="54864" marT="18288" marB="18288">
                    <a:solidFill>
                      <a:srgbClr val="ECF1F6"/>
                    </a:solidFill>
                  </a:tcPr>
                </a:tc>
              </a:tr>
            </a:tbl>
          </a:graphicData>
        </a:graphic>
      </p:graphicFrame>
      <p:sp>
        <p:nvSpPr>
          <p:cNvPr id="5" name="TextBox 4"/>
          <p:cNvSpPr txBox="1"/>
          <p:nvPr/>
        </p:nvSpPr>
        <p:spPr>
          <a:xfrm>
            <a:off x="411480" y="5108067"/>
            <a:ext cx="11368735" cy="274320"/>
          </a:xfrm>
          <a:prstGeom prst="rect">
            <a:avLst/>
          </a:prstGeom>
          <a:noFill/>
        </p:spPr>
        <p:txBody>
          <a:bodyPr wrap="square">
            <a:spAutoFit/>
          </a:bodyPr>
          <a:lstStyle/>
          <a:p>
            <a:pPr>
              <a:spcAft>
                <a:spcPts val="600"/>
              </a:spcAft>
            </a:pPr>
            <a:r>
              <a:rPr sz="1050" b="0">
                <a:solidFill>
                  <a:srgbClr val="6E6E6E"/>
                </a:solidFill>
                <a:latin typeface="Arial"/>
              </a:rPr>
              <a:t>Every one of the four passed every existing check: the rays "passed", the solve "converged", the deck loaded.  What exposed them was a section whose beam is 190 mm from its parent's vertex — the first design in the record where the vertex and the lit patch are not the same place.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8995410"/>
        </p:xfrm>
        <a:graphic>
          <a:graphicData uri="http://schemas.openxmlformats.org/drawingml/2006/table">
            <a:tbl>
              <a:tblPr firstRow="1" bandRow="1">
                <a:tableStyleId>{5C22544A-7EE6-4342-B048-85BDC9FD1C3A}</a:tableStyleId>
              </a:tblPr>
              <a:tblGrid>
                <a:gridCol w="1828288"/>
                <a:gridCol w="1889760"/>
                <a:gridCol w="2953389"/>
                <a:gridCol w="4697296"/>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280035">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(every form)</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657225">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meniscus search</a:t>
                      </a:r>
                    </a:p>
                  </a:txBody>
                  <a:tcPr marL="54864" marR="54864" marT="18288" marB="18288">
                    <a:solidFill>
                      <a:srgbClr val="FFFFFF"/>
                    </a:solidFill>
                  </a:tcPr>
                </a:tc>
                <a:tc>
                  <a:txBody>
                    <a:bodyPr wrap="square"/>
                    <a:lstStyle/>
                    <a:p>
                      <a:r>
                        <a:rPr sz="1100" b="0">
                          <a:solidFill>
                            <a:srgbClr val="282828"/>
                          </a:solidFill>
                          <a:latin typeface="Arial"/>
                        </a:rPr>
                        <a:t>tool</a:t>
                      </a:r>
                    </a:p>
                  </a:txBody>
                  <a:tcPr marL="54864" marR="54864" marT="18288" marB="18288">
                    <a:solidFill>
                      <a:srgbClr val="FFFFFF"/>
                    </a:solidFill>
                  </a:tcPr>
                </a:tc>
                <a:tc>
                  <a:txBody>
                    <a:bodyPr wrap="square"/>
                    <a:lstStyle/>
                    <a:p>
                      <a:r>
                        <a:rPr sz="1100" b="0">
                          <a:solidFill>
                            <a:srgbClr val="282828"/>
                          </a:solidFill>
                          <a:latin typeface="Arial"/>
                        </a:rPr>
                        <a:t>dyson5_s3_r4global.txt</a:t>
                      </a:r>
                    </a:p>
                  </a:txBody>
                  <a:tcPr marL="54864" marR="54864" marT="18288" marB="18288">
                    <a:solidFill>
                      <a:srgbClr val="FFFFFF"/>
                    </a:solidFill>
                  </a:tcPr>
                </a:tc>
                <a:tc>
                  <a:txBody>
                    <a:bodyPr wrap="square"/>
                    <a:lstStyle/>
                    <a:p>
                      <a:r>
                        <a:rPr sz="1100" b="0">
                          <a:solidFill>
                            <a:srgbClr val="282828"/>
                          </a:solidFill>
                          <a:latin typeface="Arial"/>
                        </a:rPr>
                        <a:t>dyson_r4_global.m</a:t>
                      </a:r>
                    </a:p>
                  </a:txBody>
                  <a:tcPr marL="54864" marR="54864" marT="18288" marB="18288">
                    <a:solidFill>
                      <a:srgbClr val="FFFFFF"/>
                    </a:solidFill>
                  </a:tcPr>
                </a:tc>
              </a:tr>
              <a:tr h="468630">
                <a:tc>
                  <a:txBody>
                    <a:bodyPr wrap="square"/>
                    <a:lstStyle/>
                    <a:p>
                      <a:r>
                        <a:rPr sz="1100" b="0">
                          <a:solidFill>
                            <a:srgbClr val="282828"/>
                          </a:solidFill>
                          <a:latin typeface="Arial"/>
                        </a:rPr>
                        <a:t>slit loss</a:t>
                      </a:r>
                    </a:p>
                  </a:txBody>
                  <a:tcPr marL="54864" marR="54864" marT="18288" marB="18288">
                    <a:solidFill>
                      <a:srgbClr val="ECF1F6"/>
                    </a:solidFill>
                  </a:tcPr>
                </a:tc>
                <a:tc>
                  <a:txBody>
                    <a:bodyPr wrap="square"/>
                    <a:lstStyle/>
                    <a:p>
                      <a:r>
                        <a:rPr sz="1100" b="0">
                          <a:solidFill>
                            <a:srgbClr val="282828"/>
                          </a:solidFill>
                          <a:latin typeface="Arial"/>
                        </a:rPr>
                        <a:t>s2l + tool</a:t>
                      </a:r>
                    </a:p>
                  </a:txBody>
                  <a:tcPr marL="54864" marR="54864" marT="18288" marB="18288">
                    <a:solidFill>
                      <a:srgbClr val="ECF1F6"/>
                    </a:solidFill>
                  </a:tcPr>
                </a:tc>
                <a:tc>
                  <a:txBody>
                    <a:bodyPr wrap="square"/>
                    <a:lstStyle/>
                    <a:p>
                      <a:r>
                        <a:rPr sz="1100" b="0">
                          <a:solidFill>
                            <a:srgbClr val="282828"/>
                          </a:solidFill>
                          <a:latin typeface="Arial"/>
                        </a:rPr>
                        <a:t>dyson5_s2l.txt, dyson5_s2l_tests.txt, dyson5_s2l_slitloss.png</a:t>
                      </a:r>
                    </a:p>
                  </a:txBody>
                  <a:tcPr marL="54864" marR="54864" marT="18288" marB="18288">
                    <a:solidFill>
                      <a:srgbClr val="ECF1F6"/>
                    </a:solidFill>
                  </a:tcPr>
                </a:tc>
                <a:tc>
                  <a:txBody>
                    <a:bodyPr wrap="square"/>
                    <a:lstStyle/>
                    <a:p>
                      <a:r>
                        <a:rPr sz="1100" b="0">
                          <a:solidFill>
                            <a:srgbClr val="282828"/>
                          </a:solidFill>
                          <a:latin typeface="Arial"/>
                        </a:rPr>
                        <a:t>far-field leg vs sinc²; dyson5_slitloss_tests.m</a:t>
                      </a:r>
                    </a:p>
                  </a:txBody>
                  <a:tcPr marL="54864" marR="54864" marT="18288" marB="18288">
                    <a:solidFill>
                      <a:srgbClr val="ECF1F6"/>
                    </a:solidFill>
                  </a:tcPr>
                </a:tc>
              </a:tr>
              <a:tr h="468630">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 dyson5_s5_maps_r5.png, dyson5_s5_sweep.png</a:t>
                      </a:r>
                    </a:p>
                  </a:txBody>
                  <a:tcPr marL="54864" marR="54864" marT="18288" marB="18288">
                    <a:solidFill>
                      <a:srgbClr val="FFFFFF"/>
                    </a:solidFill>
                  </a:tcPr>
                </a:tc>
                <a:tc>
                  <a:txBody>
                    <a:bodyPr wrap="square"/>
                    <a:lstStyle/>
                    <a:p>
                      <a:r>
                        <a:rPr sz="1100" b="0">
                          <a:solidFill>
                            <a:srgbClr val="282828"/>
                          </a:solidFill>
                          <a:latin typeface="Arial"/>
                        </a:rPr>
                        <a:t>spectrometer_geom.m (form dyson_fold), spectrometer_clearance.m</a:t>
                      </a:r>
                    </a:p>
                  </a:txBody>
                  <a:tcPr marL="54864" marR="54864" marT="18288" marB="18288">
                    <a:solidFill>
                      <a:srgbClr val="FFFFFF"/>
                    </a:solidFill>
                  </a:tcPr>
                </a:tc>
              </a:tr>
              <a:tr h="468630">
                <a:tc>
                  <a:txBody>
                    <a:bodyPr wrap="square"/>
                    <a:lstStyle/>
                    <a:p>
                      <a:r>
                        <a:rPr sz="1100" b="0">
                          <a:solidFill>
                            <a:srgbClr val="282828"/>
                          </a:solidFill>
                          <a:latin typeface="Arial"/>
                        </a:rPr>
                        <a:t>closure envelope</a:t>
                      </a:r>
                    </a:p>
                  </a:txBody>
                  <a:tcPr marL="54864" marR="54864" marT="18288" marB="18288">
                    <a:solidFill>
                      <a:srgbClr val="ECF1F6"/>
                    </a:solidFill>
                  </a:tcPr>
                </a:tc>
                <a:tc>
                  <a:txBody>
                    <a:bodyPr wrap="square"/>
                    <a:lstStyle/>
                    <a:p>
                      <a:r>
                        <a:rPr sz="1100" b="0">
                          <a:solidFill>
                            <a:srgbClr val="282828"/>
                          </a:solidFill>
                          <a:latin typeface="Arial"/>
                        </a:rPr>
                        <a:t>s4env</a:t>
                      </a:r>
                    </a:p>
                  </a:txBody>
                  <a:tcPr marL="54864" marR="54864" marT="18288" marB="18288">
                    <a:solidFill>
                      <a:srgbClr val="ECF1F6"/>
                    </a:solidFill>
                  </a:tcPr>
                </a:tc>
                <a:tc>
                  <a:txBody>
                    <a:bodyPr wrap="square"/>
                    <a:lstStyle/>
                    <a:p>
                      <a:r>
                        <a:rPr sz="1100" b="0">
                          <a:solidFill>
                            <a:srgbClr val="282828"/>
                          </a:solidFill>
                          <a:latin typeface="Arial"/>
                        </a:rPr>
                        <a:t>dyson5_s4env.txt, dyson5_s4env.png, dyson5_s4env_*.in</a:t>
                      </a:r>
                    </a:p>
                  </a:txBody>
                  <a:tcPr marL="54864" marR="54864" marT="18288" marB="18288">
                    <a:solidFill>
                      <a:srgbClr val="ECF1F6"/>
                    </a:solidFill>
                  </a:tcPr>
                </a:tc>
                <a:tc>
                  <a:txBody>
                    <a:bodyPr wrap="square"/>
                    <a:lstStyle/>
                    <a:p>
                      <a:r>
                        <a:rPr sz="1100" b="0">
                          <a:solidFill>
                            <a:srgbClr val="282828"/>
                          </a:solidFill>
                          <a:latin typeface="Arial"/>
                        </a:rPr>
                        <a:t>dyson5_envelope.m</a:t>
                      </a:r>
                    </a:p>
                  </a:txBody>
                  <a:tcPr marL="54864" marR="54864" marT="18288" marB="18288">
                    <a:solidFill>
                      <a:srgbClr val="ECF1F6"/>
                    </a:solidFill>
                  </a:tcPr>
                </a:tc>
              </a:tr>
              <a:tr h="468630">
                <a:tc>
                  <a:txBody>
                    <a:bodyPr wrap="square"/>
                    <a:lstStyle/>
                    <a:p>
                      <a:r>
                        <a:rPr sz="1100" b="0">
                          <a:solidFill>
                            <a:srgbClr val="282828"/>
                          </a:solidFill>
                          <a:latin typeface="Arial"/>
                        </a:rPr>
                        <a:t>native optimizer</a:t>
                      </a:r>
                    </a:p>
                  </a:txBody>
                  <a:tcPr marL="54864" marR="54864" marT="18288" marB="18288">
                    <a:solidFill>
                      <a:srgbClr val="FFFFFF"/>
                    </a:solidFill>
                  </a:tcPr>
                </a:tc>
                <a:tc>
                  <a:txBody>
                    <a:bodyPr wrap="square"/>
                    <a:lstStyle/>
                    <a:p>
                      <a:r>
                        <a:rPr sz="1100" b="0">
                          <a:solidFill>
                            <a:srgbClr val="282828"/>
                          </a:solidFill>
                          <a:latin typeface="Arial"/>
                        </a:rPr>
                        <a:t>s4</a:t>
                      </a:r>
                    </a:p>
                  </a:txBody>
                  <a:tcPr marL="54864" marR="54864" marT="18288" marB="18288">
                    <a:solidFill>
                      <a:srgbClr val="FFFFFF"/>
                    </a:solidFill>
                  </a:tcPr>
                </a:tc>
                <a:tc>
                  <a:txBody>
                    <a:bodyPr wrap="square"/>
                    <a:lstStyle/>
                    <a:p>
                      <a:r>
                        <a:rPr sz="1100" b="0">
                          <a:solidFill>
                            <a:srgbClr val="282828"/>
                          </a:solidFill>
                          <a:latin typeface="Arial"/>
                        </a:rPr>
                        <a:t>dyson5_s4.txt, dyson5_s4_r4n_seed.in (the CALIB deck), dyson5_s4_r4n.in</a:t>
                      </a:r>
                    </a:p>
                  </a:txBody>
                  <a:tcPr marL="54864" marR="54864" marT="18288" marB="18288">
                    <a:solidFill>
                      <a:srgbClr val="FFFFFF"/>
                    </a:solidFill>
                  </a:tcPr>
                </a:tc>
                <a:tc>
                  <a:txBody>
                    <a:bodyPr wrap="square"/>
                    <a:lstStyle/>
                    <a:p>
                      <a:r>
                        <a:rPr sz="1100" b="0">
                          <a:solidFill>
                            <a:srgbClr val="282828"/>
                          </a:solidFill>
                          <a:latin typeface="Arial"/>
                        </a:rPr>
                        <a:t>dyson_native.m</a:t>
                      </a:r>
                    </a:p>
                  </a:txBody>
                  <a:tcPr marL="54864" marR="54864" marT="18288" marB="18288">
                    <a:solidFill>
                      <a:srgbClr val="FFFFFF"/>
                    </a:solidFill>
                  </a:tcPr>
                </a:tc>
              </a:tr>
              <a:tr h="468630">
                <a:tc>
                  <a:txBody>
                    <a:bodyPr wrap="square"/>
                    <a:lstStyle/>
                    <a:p>
                      <a:r>
                        <a:rPr sz="1100" b="0">
                          <a:solidFill>
                            <a:srgbClr val="282828"/>
                          </a:solidFill>
                          <a:latin typeface="Arial"/>
                        </a:rPr>
                        <a:t>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telescope, three-mirror at Jim's numbers</a:t>
                      </a:r>
                    </a:p>
                  </a:txBody>
                  <a:tcPr marL="54864" marR="54864" marT="18288" marB="18288">
                    <a:solidFill>
                      <a:srgbClr val="FFFFFF"/>
                    </a:solidFill>
                  </a:tcPr>
                </a:tc>
                <a:tc>
                  <a:txBody>
                    <a:bodyPr wrap="square"/>
                    <a:lstStyle/>
                    <a:p>
                      <a:r>
                        <a:rPr sz="1100" b="0">
                          <a:solidFill>
                            <a:srgbClr val="282828"/>
                          </a:solidFill>
                          <a:latin typeface="Arial"/>
                        </a:rPr>
                        <a:t>t3s, t3w, t3o, t3e</a:t>
                      </a:r>
                    </a:p>
                  </a:txBody>
                  <a:tcPr marL="54864" marR="54864" marT="18288" marB="18288">
                    <a:solidFill>
                      <a:srgbClr val="FFFFFF"/>
                    </a:solidFill>
                  </a:tcPr>
                </a:tc>
                <a:tc>
                  <a:txBody>
                    <a:bodyPr wrap="square"/>
                    <a:lstStyle/>
                    <a:p>
                      <a:r>
                        <a:rPr sz="1100" b="0">
                          <a:solidFill>
                            <a:srgbClr val="282828"/>
                          </a:solidFill>
                          <a:latin typeface="Arial"/>
                        </a:rPr>
                        <a:t>dyson5_t3*.txt, BRIEF_dyson5_beat5c.md</a:t>
                      </a:r>
                    </a:p>
                  </a:txBody>
                  <a:tcPr marL="54864" marR="54864" marT="18288" marB="18288">
                    <a:solidFill>
                      <a:srgbClr val="FFFFFF"/>
                    </a:solidFill>
                  </a:tcPr>
                </a:tc>
                <a:tc>
                  <a:txBody>
                    <a:bodyPr wrap="square"/>
                    <a:lstStyle/>
                    <a:p>
                      <a:r>
                        <a:rPr sz="1100" b="0">
                          <a:solidFill>
                            <a:srgbClr val="282828"/>
                          </a:solidFill>
                          <a:latin typeface="Arial"/>
                        </a:rPr>
                        <a:t>tma_screen, the offset solves on telescope_geom.m</a:t>
                      </a:r>
                    </a:p>
                  </a:txBody>
                  <a:tcPr marL="54864" marR="54864" marT="18288" marB="18288">
                    <a:solidFill>
                      <a:srgbClr val="FFFFFF"/>
                    </a:solidFill>
                  </a:tcPr>
                </a:tc>
              </a:tr>
              <a:tr h="468630">
                <a:tc>
                  <a:txBody>
                    <a:bodyPr wrap="square"/>
                    <a:lstStyle/>
                    <a:p>
                      <a:r>
                        <a:rPr sz="1100" b="0">
                          <a:solidFill>
                            <a:srgbClr val="282828"/>
                          </a:solidFill>
                          <a:latin typeface="Arial"/>
                        </a:rPr>
                        <a:t>telescope, modified Schwarzschild</a:t>
                      </a:r>
                    </a:p>
                  </a:txBody>
                  <a:tcPr marL="54864" marR="54864" marT="18288" marB="18288">
                    <a:solidFill>
                      <a:srgbClr val="ECF1F6"/>
                    </a:solidFill>
                  </a:tcPr>
                </a:tc>
                <a:tc>
                  <a:txBody>
                    <a:bodyPr wrap="square"/>
                    <a:lstStyle/>
                    <a:p>
                      <a:r>
                        <a:rPr sz="1100" b="0">
                          <a:solidFill>
                            <a:srgbClr val="282828"/>
                          </a:solidFill>
                          <a:latin typeface="Arial"/>
                        </a:rPr>
                        <a:t>t4</a:t>
                      </a:r>
                    </a:p>
                  </a:txBody>
                  <a:tcPr marL="54864" marR="54864" marT="18288" marB="18288">
                    <a:solidFill>
                      <a:srgbClr val="ECF1F6"/>
                    </a:solidFill>
                  </a:tcPr>
                </a:tc>
                <a:tc>
                  <a:txBody>
                    <a:bodyPr wrap="square"/>
                    <a:lstStyle/>
                    <a:p>
                      <a:r>
                        <a:rPr sz="1100" b="0">
                          <a:solidFill>
                            <a:srgbClr val="282828"/>
                          </a:solidFill>
                          <a:latin typeface="Arial"/>
                        </a:rPr>
                        <a:t>dyson5_t4.txt, dyson5_t4_r2c_.in, _view.png</a:t>
                      </a:r>
                    </a:p>
                  </a:txBody>
                  <a:tcPr marL="54864" marR="54864" marT="18288" marB="18288">
                    <a:solidFill>
                      <a:srgbClr val="ECF1F6"/>
                    </a:solidFill>
                  </a:tcPr>
                </a:tc>
                <a:tc>
                  <a:txBody>
                    <a:bodyPr wrap="square"/>
                    <a:lstStyle/>
                    <a:p>
                      <a:r>
                        <a:rPr sz="1100" b="0">
                          <a:solidFill>
                            <a:srgbClr val="282828"/>
                          </a:solidFill>
                          <a:latin typeface="Arial"/>
                        </a:rPr>
                        <a:t>tms_paraxial.m, tms_firstorder.m, tms_geom.m, tms_clear.m</a:t>
                      </a:r>
                    </a:p>
                  </a:txBody>
                  <a:tcPr marL="54864" marR="54864" marT="18288" marB="18288">
                    <a:solidFill>
                      <a:srgbClr val="ECF1F6"/>
                    </a:solidFill>
                  </a:tcPr>
                </a:tc>
              </a:tr>
              <a:tr h="468630">
                <a:tc>
                  <a:txBody>
                    <a:bodyPr wrap="square"/>
                    <a:lstStyle/>
                    <a:p>
                      <a:r>
                        <a:rPr sz="1100" b="0">
                          <a:solidFill>
                            <a:srgbClr val="282828"/>
                          </a:solidFill>
                          <a:latin typeface="Arial"/>
                        </a:rPr>
                        <a:t>telescope, TMA parent by the design layer</a:t>
                      </a:r>
                    </a:p>
                  </a:txBody>
                  <a:tcPr marL="54864" marR="54864" marT="18288" marB="18288">
                    <a:solidFill>
                      <a:srgbClr val="FFFFFF"/>
                    </a:solidFill>
                  </a:tcPr>
                </a:tc>
                <a:tc>
                  <a:txBody>
                    <a:bodyPr wrap="square"/>
                    <a:lstStyle/>
                    <a:p>
                      <a:r>
                        <a:rPr sz="1100" b="0">
                          <a:solidFill>
                            <a:srgbClr val="282828"/>
                          </a:solidFill>
                          <a:latin typeface="Arial"/>
                        </a:rPr>
                        <a:t>dyson5_tma_step1.m</a:t>
                      </a:r>
                    </a:p>
                  </a:txBody>
                  <a:tcPr marL="54864" marR="54864" marT="18288" marB="18288">
                    <a:solidFill>
                      <a:srgbClr val="FFFFFF"/>
                    </a:solidFill>
                  </a:tcPr>
                </a:tc>
                <a:tc>
                  <a:txBody>
                    <a:bodyPr wrap="square"/>
                    <a:lstStyle/>
                    <a:p>
                      <a:r>
                        <a:rPr sz="1100" b="0">
                          <a:solidFill>
                            <a:srgbClr val="282828"/>
                          </a:solidFill>
                          <a:latin typeface="Arial"/>
                        </a:rPr>
                        <a:t>dyson5_tma_step1.txt, dyson5_tma_step1_layout.png, BRIEF_dyson5_tma.md</a:t>
                      </a:r>
                    </a:p>
                  </a:txBody>
                  <a:tcPr marL="54864" marR="54864" marT="18288" marB="18288">
                    <a:solidFill>
                      <a:srgbClr val="FFFFFF"/>
                    </a:solidFill>
                  </a:tcPr>
                </a:tc>
                <a:tc>
                  <a:txBody>
                    <a:bodyPr wrap="square"/>
                    <a:lstStyle/>
                    <a:p>
                      <a:r>
                        <a:rPr sz="1100" b="0">
                          <a:solidFill>
                            <a:srgbClr val="282828"/>
                          </a:solidFill>
                          <a:latin typeface="Arial"/>
                        </a:rPr>
                        <a:t>macos.design.tma_layout, Telescope, CALIB</a:t>
                      </a:r>
                    </a:p>
                  </a:txBody>
                  <a:tcPr marL="54864" marR="54864" marT="18288" marB="18288">
                    <a:solidFill>
                      <a:srgbClr val="FFFFFF"/>
                    </a:solidFill>
                  </a:tcPr>
                </a:tc>
              </a:tr>
              <a:tr h="468630">
                <a:tc>
                  <a:txBody>
                    <a:bodyPr wrap="square"/>
                    <a:lstStyle/>
                    <a:p>
                      <a:r>
                        <a:rPr sz="1100" b="0">
                          <a:solidFill>
                            <a:srgbClr val="282828"/>
                          </a:solidFill>
                          <a:latin typeface="Arial"/>
                        </a:rPr>
                        <a:t>end to end at Jim's f-number (informative)</a:t>
                      </a:r>
                    </a:p>
                  </a:txBody>
                  <a:tcPr marL="54864" marR="54864" marT="18288" marB="18288">
                    <a:solidFill>
                      <a:srgbClr val="ECF1F6"/>
                    </a:solidFill>
                  </a:tcPr>
                </a:tc>
                <a:tc>
                  <a:txBody>
                    <a:bodyPr wrap="square"/>
                    <a:lstStyle/>
                    <a:p>
                      <a:r>
                        <a:rPr sz="1100" b="0">
                          <a:solidFill>
                            <a:srgbClr val="282828"/>
                          </a:solidFill>
                          <a:latin typeface="Arial"/>
                        </a:rPr>
                        <a:t>t5e</a:t>
                      </a:r>
                    </a:p>
                  </a:txBody>
                  <a:tcPr marL="54864" marR="54864" marT="18288" marB="18288">
                    <a:solidFill>
                      <a:srgbClr val="ECF1F6"/>
                    </a:solidFill>
                  </a:tcPr>
                </a:tc>
                <a:tc>
                  <a:txBody>
                    <a:bodyPr wrap="square"/>
                    <a:lstStyle/>
                    <a:p>
                      <a:r>
                        <a:rPr sz="1100" b="0">
                          <a:solidFill>
                            <a:srgbClr val="282828"/>
                          </a:solidFill>
                          <a:latin typeface="Arial"/>
                        </a:rPr>
                        <a:t>dyson5_t5e_1k5.txt, dyson5_t5e_1k5_e2e.in, dyson5_t5e_1k5_maps.png</a:t>
                      </a:r>
                    </a:p>
                  </a:txBody>
                  <a:tcPr marL="54864" marR="54864" marT="18288" marB="18288">
                    <a:solidFill>
                      <a:srgbClr val="ECF1F6"/>
                    </a:solidFill>
                  </a:tcPr>
                </a:tc>
                <a:tc>
                  <a:txBody>
                    <a:bodyPr wrap="square"/>
                    <a:lstStyle/>
                    <a:p>
                      <a:r>
                        <a:rPr sz="1100" b="0">
                          <a:solidFill>
                            <a:srgbClr val="282828"/>
                          </a:solidFill>
                          <a:latin typeface="Arial"/>
                        </a:rPr>
                        <a:t>tel_deck_geom.m (the exact chain from a Telescope deck), the spectrometer's scorer</a:t>
                      </a:r>
                    </a:p>
                  </a:txBody>
                  <a:tcPr marL="54864" marR="54864" marT="18288" marB="18288">
                    <a:solidFill>
                      <a:srgbClr val="ECF1F6"/>
                    </a:solidFill>
                  </a:tcPr>
                </a:tc>
              </a:tr>
              <a:tr h="657225">
                <a:tc>
                  <a:txBody>
                    <a:bodyPr wrap="square"/>
                    <a:lstStyle/>
                    <a:p>
                      <a:r>
                        <a:rPr sz="1100" b="0">
                          <a:solidFill>
                            <a:srgbClr val="282828"/>
                          </a:solidFill>
                          <a:latin typeface="Arial"/>
                        </a:rPr>
                        <a:t>telescope, telecentric parent: first order, figure, decenter walk</a:t>
                      </a:r>
                    </a:p>
                  </a:txBody>
                  <a:tcPr marL="54864" marR="54864" marT="18288" marB="18288">
                    <a:solidFill>
                      <a:srgbClr val="FFFFFF"/>
                    </a:solidFill>
                  </a:tcPr>
                </a:tc>
                <a:tc>
                  <a:txBody>
                    <a:bodyPr wrap="square"/>
                    <a:lstStyle/>
                    <a:p>
                      <a:r>
                        <a:rPr sz="1100" b="0">
                          <a:solidFill>
                            <a:srgbClr val="282828"/>
                          </a:solidFill>
                          <a:latin typeface="Arial"/>
                        </a:rPr>
                        <a:t>tA (stages A, B, re-run)</a:t>
                      </a:r>
                    </a:p>
                  </a:txBody>
                  <a:tcPr marL="54864" marR="54864" marT="18288" marB="18288">
                    <a:solidFill>
                      <a:srgbClr val="FFFFFF"/>
                    </a:solidFill>
                  </a:tcPr>
                </a:tc>
                <a:tc>
                  <a:txBody>
                    <a:bodyPr wrap="square"/>
                    <a:lstStyle/>
                    <a:p>
                      <a:r>
                        <a:rPr sz="1100" b="0">
                          <a:solidFill>
                            <a:srgbClr val="282828"/>
                          </a:solidFill>
                          <a:latin typeface="Arial"/>
                        </a:rPr>
                        <a:t>dyson5_tA_B3_.txt, dyson5_t5e_tA_B3_.txt/.png, decks per point</a:t>
                      </a:r>
                    </a:p>
                  </a:txBody>
                  <a:tcPr marL="54864" marR="54864" marT="18288" marB="18288">
                    <a:solidFill>
                      <a:srgbClr val="FFFFFF"/>
                    </a:solidFill>
                  </a:tcPr>
                </a:tc>
                <a:tc>
                  <a:txBody>
                    <a:bodyPr wrap="square"/>
                    <a:lstStyle/>
                    <a:p>
                      <a:r>
                        <a:rPr sz="1100" b="0">
                          <a:solidFill>
                            <a:srgbClr val="282828"/>
                          </a:solidFill>
                          <a:latin typeface="Arial"/>
                        </a:rPr>
                        <a:t>tma_layout 'telecentric', Telescope.optimize with aspheres and position rows, spectrometer_clearance (mount once)</a:t>
                      </a:r>
                    </a:p>
                  </a:txBody>
                  <a:tcPr marL="54864" marR="54864" marT="18288" marB="18288">
                    <a:solidFill>
                      <a:srgbClr val="FFFFFF"/>
                    </a:solidFill>
                  </a:tcPr>
                </a:tc>
              </a:tr>
              <a:tr h="657225">
                <a:tc>
                  <a:txBody>
                    <a:bodyPr wrap="square"/>
                    <a:lstStyle/>
                    <a:p>
                      <a:r>
                        <a:rPr sz="1100" b="0">
                          <a:solidFill>
                            <a:srgbClr val="282828"/>
                          </a:solidFill>
                          <a:latin typeface="Arial"/>
                        </a:rPr>
                        <a:t>strip edge: metric, Petzval, freeform steps</a:t>
                      </a:r>
                    </a:p>
                  </a:txBody>
                  <a:tcPr marL="54864" marR="54864" marT="18288" marB="18288">
                    <a:solidFill>
                      <a:srgbClr val="ECF1F6"/>
                    </a:solidFill>
                  </a:tcPr>
                </a:tc>
                <a:tc>
                  <a:txBody>
                    <a:bodyPr wrap="square"/>
                    <a:lstStyle/>
                    <a:p>
                      <a:r>
                        <a:rPr sz="1100" b="0">
                          <a:solidFill>
                            <a:srgbClr val="282828"/>
                          </a:solidFill>
                          <a:latin typeface="Arial"/>
                        </a:rPr>
                        <a:t>tEP, tPZ, tFF</a:t>
                      </a:r>
                    </a:p>
                  </a:txBody>
                  <a:tcPr marL="54864" marR="54864" marT="18288" marB="18288">
                    <a:solidFill>
                      <a:srgbClr val="ECF1F6"/>
                    </a:solidFill>
                  </a:tcPr>
                </a:tc>
                <a:tc>
                  <a:txBody>
                    <a:bodyPr wrap="square"/>
                    <a:lstStyle/>
                    <a:p>
                      <a:r>
                        <a:rPr sz="1100" b="0">
                          <a:solidFill>
                            <a:srgbClr val="282828"/>
                          </a:solidFill>
                          <a:latin typeface="Arial"/>
                        </a:rPr>
                        <a:t>dyson5_tA_EP_cp1/cp2*.txt, dyson5_tA_pz_1k5.txt, dyson5_tA_FF_1k5.txt, BRIEF_to_dyson5.md addenda 42–44</a:t>
                      </a:r>
                    </a:p>
                  </a:txBody>
                  <a:tcPr marL="54864" marR="54864" marT="18288" marB="18288">
                    <a:solidFill>
                      <a:srgbClr val="ECF1F6"/>
                    </a:solidFill>
                  </a:tcPr>
                </a:tc>
                <a:tc>
                  <a:txBody>
                    <a:bodyPr wrap="square"/>
                    <a:lstStyle/>
                    <a:p>
                      <a:r>
                        <a:rPr sz="1100" b="0">
                          <a:solidFill>
                            <a:srgbClr val="282828"/>
                          </a:solidFill>
                          <a:latin typeface="Arial"/>
                        </a:rPr>
                        <a:t>the reference-sphere evaluator and solver (tEP_strict_solve_), the line-focus probe, FreeForm decks with the asphere in the Mon channel and the Zernikes about the pole</a:t>
                      </a:r>
                    </a:p>
                  </a:txBody>
                  <a:tcPr marL="54864" marR="54864" marT="18288" marB="18288">
                    <a:solidFill>
                      <a:srgbClr val="ECF1F6"/>
                    </a:solidFill>
                  </a:tcPr>
                </a:tc>
              </a:tr>
              <a:tr h="657225">
                <a:tc>
                  <a:txBody>
                    <a:bodyPr wrap="square"/>
                    <a:lstStyle/>
                    <a:p>
                      <a:r>
                        <a:rPr sz="1100" b="0">
                          <a:solidFill>
                            <a:srgbClr val="282828"/>
                          </a:solidFill>
                          <a:latin typeface="Arial"/>
                        </a:rPr>
                        <a:t>telescope, TMA unobscured section (step 2/2b, Linux)</a:t>
                      </a:r>
                    </a:p>
                  </a:txBody>
                  <a:tcPr marL="54864" marR="54864" marT="18288" marB="18288">
                    <a:solidFill>
                      <a:srgbClr val="FFFFFF"/>
                    </a:solidFill>
                  </a:tcPr>
                </a:tc>
                <a:tc>
                  <a:txBody>
                    <a:bodyPr wrap="square"/>
                    <a:lstStyle/>
                    <a:p>
                      <a:r>
                        <a:rPr sz="1100" b="0">
                          <a:solidFill>
                            <a:srgbClr val="282828"/>
                          </a:solidFill>
                          <a:latin typeface="Arial"/>
                        </a:rPr>
                        <a:t>dyson5_tma_step2_linux.m</a:t>
                      </a:r>
                    </a:p>
                  </a:txBody>
                  <a:tcPr marL="54864" marR="54864" marT="18288" marB="18288">
                    <a:solidFill>
                      <a:srgbClr val="FFFFFF"/>
                    </a:solidFill>
                  </a:tcPr>
                </a:tc>
                <a:tc>
                  <a:txBody>
                    <a:bodyPr wrap="square"/>
                    <a:lstStyle/>
                    <a:p>
                      <a:r>
                        <a:rPr sz="1100" b="0">
                          <a:solidFill>
                            <a:srgbClr val="282828"/>
                          </a:solidFill>
                          <a:latin typeface="Arial"/>
                        </a:rPr>
                        <a:t>dyson5_tma_step2_linux_d170.txt, _d190.txt, dyson5_tma_step2b_linux_d205.txt, _d205_1k5.in, _layout_*.png</a:t>
                      </a:r>
                    </a:p>
                  </a:txBody>
                  <a:tcPr marL="54864" marR="54864" marT="18288" marB="18288">
                    <a:solidFill>
                      <a:srgbClr val="FFFFFF"/>
                    </a:solidFill>
                  </a:tcPr>
                </a:tc>
                <a:tc>
                  <a:txBody>
                    <a:bodyPr wrap="square"/>
                    <a:lstStyle/>
                    <a:p>
                      <a:r>
                        <a:rPr sz="1100" b="0">
                          <a:solidFill>
                            <a:srgbClr val="282828"/>
                          </a:solidFill>
                          <a:latin typeface="Arial"/>
                        </a:rPr>
                        <a:t>Telescope.set_offaxis, CALIB over the strip with the per-field position rows, check_clipping</a:t>
                      </a:r>
                    </a:p>
                  </a:txBody>
                  <a:tcPr marL="54864" marR="54864" marT="18288" marB="18288">
                    <a:solidFill>
                      <a:srgbClr val="FFFFFF"/>
                    </a:solidFill>
                  </a:tcPr>
                </a:tc>
              </a:tr>
            </a:tbl>
          </a:graphicData>
        </a:graphic>
      </p:graphicFrame>
      <p:sp>
        <p:nvSpPr>
          <p:cNvPr id="5" name="TextBox 4"/>
          <p:cNvSpPr txBox="1"/>
          <p:nvPr/>
        </p:nvSpPr>
        <p:spPr>
          <a:xfrm>
            <a:off x="411480" y="10440162"/>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a:p>
            <a:pPr>
              <a:spcAft>
                <a:spcPts val="600"/>
              </a:spcAft>
            </a:pPr>
            <a:r>
              <a:rPr sz="1200" b="0">
                <a:solidFill>
                  <a:srgbClr val="282828"/>
                </a:solidFill>
                <a:latin typeface="Arial"/>
              </a:rPr>
              <a:t>•  A reflector inside glass (Element= Reflector carrying GlassElt=) is honoured: the fold mirror of step R5 lands every ray to 1e-9 m against the chain.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a:p>
            <a:pPr>
              <a:spcAft>
                <a:spcPts val="600"/>
              </a:spcAft>
            </a:pPr>
            <a:r>
              <a:rPr sz="1200" b="0">
                <a:solidFill>
                  <a:srgbClr val="282828"/>
                </a:solidFill>
                <a:latin typeface="Arial"/>
              </a:rPr>
              <a:t>•  Across a grating the path difference is defined modulo λ: compare wavefronts in phase, never as unwrapped lengths.</a:t>
            </a:r>
          </a:p>
        </p:txBody>
      </p:sp>
      <p:sp>
        <p:nvSpPr>
          <p:cNvPr id="6" name="TextBox 5"/>
          <p:cNvSpPr txBox="1"/>
          <p:nvPr/>
        </p:nvSpPr>
        <p:spPr>
          <a:xfrm>
            <a:off x="6400800" y="3282696"/>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