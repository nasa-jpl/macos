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The exact chain and the engine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Next steps</a:t>
            </a:r>
          </a:p>
          <a:p>
            <a:pPr>
              <a:spcAft>
                <a:spcPts val="600"/>
              </a:spcAft>
            </a:pPr>
            <a:r>
              <a:rPr sz="1200" b="0">
                <a:solidFill>
                  <a:srgbClr val="282828"/>
                </a:solidFill>
                <a:latin typeface="Arial"/>
              </a:rPr>
              <a:t>•  21 Run it yourself</a:t>
            </a:r>
          </a:p>
          <a:p>
            <a:pPr>
              <a:spcAft>
                <a:spcPts val="600"/>
              </a:spcAft>
            </a:pPr>
            <a:r>
              <a:rPr sz="1200" b="0">
                <a:solidFill>
                  <a:srgbClr val="282828"/>
                </a:solidFill>
                <a:latin typeface="Arial"/>
              </a:rPr>
              <a:t>•  22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R0–R4: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exact chain and the engine agree</a:t>
            </a:r>
          </a:p>
          <a:p>
            <a:pPr>
              <a:spcAft>
                <a:spcPts val="0"/>
              </a:spcAft>
            </a:pPr>
            <a:r>
              <a:rPr sz="1250" b="0">
                <a:solidFill>
                  <a:srgbClr val="6E6E6E"/>
                </a:solidFill>
                <a:latin typeface="Arial"/>
              </a:rPr>
              <a:t>Every engine ray re-traced by the chain from the engine's own launch directions lands within 1e-9 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check: the engine's chief ray and every ray of its grid are re-traced through the chain's surfaces from the engine's launch directions; agreement is per ray, every surface, 1e-9 m; the dispersed band spans the focal plane to 1 %.</a:t>
            </a:r>
          </a:p>
          <a:p>
            <a:pPr>
              <a:spcAft>
                <a:spcPts val="600"/>
              </a:spcAft>
            </a:pPr>
            <a:r>
              <a:rPr sz="1200" b="0">
                <a:solidFill>
                  <a:srgbClr val="282828"/>
                </a:solidFill>
                <a:latin typeface="Arial"/>
              </a:rPr>
              <a:t>•  With the aspheric block face (ladder step R2): agreement 1e-12 m per ray; a sphere-only chain misses by 0.26 mm, so the check is not vacuous.</a:t>
            </a:r>
          </a:p>
          <a:p>
            <a:pPr>
              <a:spcAft>
                <a:spcPts val="600"/>
              </a:spcAft>
            </a:pPr>
            <a:r>
              <a:rPr sz="1200" b="0">
                <a:solidFill>
                  <a:srgbClr val="282828"/>
                </a:solidFill>
                <a:latin typeface="Arial"/>
              </a:rPr>
              <a:t>•  The physical-optics twin: a far-field terminal on a reference sphere upstream of the focal plane, re-posed per slit position and wavelength; on the Offner at order 0 the pupil OPD is 8e-11 m and the Airy spot puts 94 % of its energy in one 18 µm pixel.</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the engine, now fixed (details in Backup): glass names were ignored at load; propagation inside glass used the vacuum wavelength; the grating groove period was held constant along the curved surface instead of along the chord; the grating's path-length jump had the matching defect.  Each has a regression test written from the physics, not from the engine.</a:t>
            </a:r>
          </a:p>
        </p:txBody>
      </p:sp>
      <p:sp>
        <p:nvSpPr>
          <p:cNvPr id="6" name="TextBox 5"/>
          <p:cNvSpPr txBox="1"/>
          <p:nvPr/>
        </p:nvSpPr>
        <p:spPr>
          <a:xfrm>
            <a:off x="6400800" y="266395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tSpectrometerRx (3), tGratingOpl (2), tGratingImmersed (4), tGlassDispersion (3), tPropMedium (3); mmacos fast suite 501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1" cy="2806065"/>
        </p:xfrm>
        <a:graphic>
          <a:graphicData uri="http://schemas.openxmlformats.org/drawingml/2006/table">
            <a:tbl>
              <a:tblPr firstRow="1" bandRow="1">
                <a:tableStyleId>{5C22544A-7EE6-4342-B048-85BDC9FD1C3A}</a:tableStyleId>
              </a:tblPr>
              <a:tblGrid>
                <a:gridCol w="724123"/>
                <a:gridCol w="3910265"/>
                <a:gridCol w="941360"/>
                <a:gridCol w="724123"/>
                <a:gridCol w="941360"/>
                <a:gridCol w="1086184"/>
                <a:gridCol w="796535"/>
                <a:gridCol w="1593071"/>
                <a:gridCol w="651710"/>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468630">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size alone</a:t>
                      </a:r>
                    </a:p>
                  </a:txBody>
                  <a:tcPr marL="54864" marR="54864" marT="18288" marB="18288">
                    <a:solidFill>
                      <a:srgbClr val="FFFFFF"/>
                    </a:solidFill>
                  </a:tcPr>
                </a:tc>
                <a:tc>
                  <a:txBody>
                    <a:bodyPr wrap="square"/>
                    <a:lstStyle/>
                    <a:p>
                      <a:r>
                        <a:rPr sz="1100" b="0">
                          <a:solidFill>
                            <a:srgbClr val="282828"/>
                          </a:solidFill>
                          <a:latin typeface="Arial"/>
                        </a:rPr>
                        <a:t>block radius free (341 mm)</a:t>
                      </a:r>
                    </a:p>
                  </a:txBody>
                  <a:tcPr marL="54864" marR="54864" marT="18288" marB="18288">
                    <a:solidFill>
                      <a:srgbClr val="FFFFFF"/>
                    </a:solidFill>
                  </a:tcPr>
                </a:tc>
                <a:tc>
                  <a:txBody>
                    <a:bodyPr wrap="square"/>
                    <a:lstStyle/>
                    <a:p>
                      <a:r>
                        <a:rPr sz="1100" b="0">
                          <a:solidFill>
                            <a:srgbClr val="282828"/>
                          </a:solidFill>
                          <a:latin typeface="Arial"/>
                        </a:rPr>
                        <a:t>0.024</a:t>
                      </a:r>
                    </a:p>
                  </a:txBody>
                  <a:tcPr marL="54864" marR="54864" marT="18288" marB="18288">
                    <a:solidFill>
                      <a:srgbClr val="FFFFFF"/>
                    </a:solidFill>
                  </a:tcPr>
                </a:tc>
                <a:tc>
                  <a:txBody>
                    <a:bodyPr wrap="square"/>
                    <a:lstStyle/>
                    <a:p>
                      <a:r>
                        <a:rPr sz="1100" b="0">
                          <a:solidFill>
                            <a:srgbClr val="282828"/>
                          </a:solidFill>
                          <a:latin typeface="Arial"/>
                        </a:rPr>
                        <a:t>0.001</a:t>
                      </a:r>
                    </a:p>
                  </a:txBody>
                  <a:tcPr marL="54864" marR="54864" marT="18288" marB="18288">
                    <a:solidFill>
                      <a:srgbClr val="FFFFFF"/>
                    </a:solidFill>
                  </a:tcPr>
                </a:tc>
                <a:tc>
                  <a:txBody>
                    <a:bodyPr wrap="square"/>
                    <a:lstStyle/>
                    <a:p>
                      <a:r>
                        <a:rPr sz="1100" b="0">
                          <a:solidFill>
                            <a:srgbClr val="282828"/>
                          </a:solidFill>
                          <a:latin typeface="Arial"/>
                        </a:rPr>
                        <a:t>1.34</a:t>
                      </a:r>
                    </a:p>
                  </a:txBody>
                  <a:tcPr marL="54864" marR="54864" marT="18288" marB="18288">
                    <a:solidFill>
                      <a:srgbClr val="FFFFFF"/>
                    </a:solidFill>
                  </a:tcPr>
                </a:tc>
                <a:tc>
                  <a:txBody>
                    <a:bodyPr wrap="square"/>
                    <a:lstStyle/>
                    <a:p>
                      <a:r>
                        <a:rPr sz="1100" b="0">
                          <a:solidFill>
                            <a:srgbClr val="282828"/>
                          </a:solidFill>
                          <a:latin typeface="Arial"/>
                        </a:rPr>
                        <a:t>0.74</a:t>
                      </a:r>
                    </a:p>
                  </a:txBody>
                  <a:tcPr marL="54864" marR="54864" marT="18288" marB="18288">
                    <a:solidFill>
                      <a:srgbClr val="FFFFFF"/>
                    </a:solidFill>
                  </a:tcPr>
                </a:tc>
                <a:tc>
                  <a:txBody>
                    <a:bodyPr wrap="square"/>
                    <a:lstStyle/>
                    <a:p>
                      <a:r>
                        <a:rPr sz="1100" b="0">
                          <a:solidFill>
                            <a:srgbClr val="282828"/>
                          </a:solidFill>
                          <a:latin typeface="Arial"/>
                        </a:rPr>
                        <a:t>1099</a:t>
                      </a:r>
                    </a:p>
                  </a:txBody>
                  <a:tcPr marL="54864" marR="54864" marT="18288" marB="18288">
                    <a:solidFill>
                      <a:srgbClr val="FFFFFF"/>
                    </a:solidFill>
                  </a:tcPr>
                </a:tc>
                <a:tc>
                  <a:txBody>
                    <a:bodyPr wrap="square"/>
                    <a:lstStyle/>
                    <a:p>
                      <a:r>
                        <a:rPr sz="1100" b="0">
                          <a:solidFill>
                            <a:srgbClr val="282828"/>
                          </a:solidFill>
                          <a:latin typeface="Arial"/>
                        </a:rPr>
                        <a:t>427</a:t>
                      </a:r>
                    </a:p>
                  </a:txBody>
                  <a:tcPr marL="54864" marR="54864" marT="18288" marB="18288">
                    <a:solidFill>
                      <a:srgbClr val="FFFFFF"/>
                    </a:solidFill>
                  </a:tcPr>
                </a:tc>
                <a:tc>
                  <a:txBody>
                    <a:bodyPr wrap="square"/>
                    <a:lstStyle/>
                    <a:p>
                      <a:r>
                        <a:rPr sz="1100" b="0">
                          <a:solidFill>
                            <a:srgbClr val="282828"/>
                          </a:solidFill>
                          <a:latin typeface="Arial"/>
                        </a:rPr>
                        <a:t>82.8</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prescription: challenges/dyson5/dyson5_s3_r4.in, eleven elements: the block's flat face, its spherical face, the meniscus (two surfaces), the grating, and the return through the meniscus and block to the focal plane; the element table is on the next slide.</a:t>
            </a:r>
          </a:p>
        </p:txBody>
      </p:sp>
      <p:pic>
        <p:nvPicPr>
          <p:cNvPr id="5" name="Picture 4" descr="dyson5_s3_r4_views.png"/>
          <p:cNvPicPr>
            <a:picLocks noChangeAspect="1"/>
          </p:cNvPicPr>
          <p:nvPr/>
        </p:nvPicPr>
        <p:blipFill>
          <a:blip r:embed="rId2"/>
          <a:stretch>
            <a:fillRect/>
          </a:stretch>
        </p:blipFill>
        <p:spPr>
          <a:xfrm>
            <a:off x="2903155" y="2218182"/>
            <a:ext cx="6385383" cy="4246118"/>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7" name="TextBox 6"/>
          <p:cNvSpPr txBox="1"/>
          <p:nvPr/>
        </p:nvSpPr>
        <p:spPr>
          <a:xfrm>
            <a:off x="411480" y="6748272"/>
            <a:ext cx="11368735" cy="274320"/>
          </a:xfrm>
          <a:prstGeom prst="rect">
            <a:avLst/>
          </a:prstGeom>
          <a:noFill/>
        </p:spPr>
        <p:txBody>
          <a:bodyPr wrap="square">
            <a:spAutoFit/>
          </a:bodyPr>
          <a:lstStyle/>
          <a:p>
            <a:pPr>
              <a:spcAft>
                <a:spcPts val="600"/>
              </a:spcAft>
            </a:pPr>
            <a:r>
              <a:rPr sz="1500" b="0">
                <a:solidFill>
                  <a:srgbClr val="282828"/>
                </a:solidFill>
                <a:latin typeface="Arial"/>
              </a:rPr>
              <a:t>•  Clearance: the worst pair is the returning beam against the detector carrier, +1.19 mm with no cold shield; any shield height fails the check, so a fold prism at the slit is the next layout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The solve ends on its bounds (plate thickness and radii), and three solves from the same seed found a multimodal landscape; the global search over the meniscus is the next step.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the engine's far-field leg against the sinc² closed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on a 255-point grid; loss = the energy landing outside the F/1.8 acceptance.  The closed form is the exact sinc² integral for the same slit and acceptance.</a:t>
            </a:r>
          </a:p>
          <a:p>
            <a:pPr>
              <a:spcAft>
                <a:spcPts val="600"/>
              </a:spcAft>
            </a:pPr>
            <a:r>
              <a:rPr sz="1500" b="0">
                <a:solidFill>
                  <a:srgbClr val="282828"/>
                </a:solidFill>
                <a:latin typeface="Arial"/>
              </a:rPr>
              <a:t>•  Under 2.5 % over the band by both, but they disagree by a factor that changes sign: the engine reads 0.3× the closed form at 380 nm and 1.36× at 2500 nm.  Which of the grid, the window (11 % wider than the acceptance) or the slit's missing length explains it is being tested; the number is not yet design-grade.</a:t>
            </a:r>
          </a:p>
        </p:txBody>
      </p:sp>
      <p:pic>
        <p:nvPicPr>
          <p:cNvPr id="5" name="Picture 4" descr="dyson5_s2l_slitloss.png"/>
          <p:cNvPicPr>
            <a:picLocks noChangeAspect="1"/>
          </p:cNvPicPr>
          <p:nvPr/>
        </p:nvPicPr>
        <p:blipFill>
          <a:blip r:embed="rId2"/>
          <a:stretch>
            <a:fillRect/>
          </a:stretch>
        </p:blipFill>
        <p:spPr>
          <a:xfrm>
            <a:off x="3617705" y="3101340"/>
            <a:ext cx="4956284" cy="33629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Clearance on the design of record, the global meniscus search,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R5, the slit-to-detector split: the returning beam clears the detector carrier by 1.2 mm with no cold shield; a fold prism at the slit (the literature's answer) is the next layout step, scored under the same clearance check.</a:t>
            </a:r>
          </a:p>
          <a:p>
            <a:pPr>
              <a:spcAft>
                <a:spcPts val="600"/>
              </a:spcAft>
            </a:pPr>
            <a:r>
              <a:rPr sz="1200" b="0">
                <a:solidFill>
                  <a:srgbClr val="282828"/>
                </a:solidFill>
                <a:latin typeface="Arial"/>
              </a:rPr>
              <a:t>•  Beat 4: a global search over the meniscus (the R4 solve ends on its bounds), then the native multi-wavelength optimizer with the same smile and keystone operands.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Then the radiometric chain against the band.</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have closed so far: F/1.8 with a 220 mm silica block, 54 mm slit, 380–2500 nm, 18 µm pixels, order 1 (the design of record); block radii 50–500 mm scanned at order 0 for the scaling law, where a concentric block meets the quarter-pixel blur only above 213 mm; the Offner reference at F/2.8.  The meniscus solve ends on its bounds, so outside this envelope (faster than F/1.8, blocks under 150 mm, slits beyond 54 mm) closure is untested; a sweep is queued.</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2398268"/>
                <a:gridCol w="2960254"/>
                <a:gridCol w="4216119"/>
                <a:gridCol w="179409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last two.  A fifth item, a short AsphCoef= line killing the host process, now pads with zero and warns (tRxShortAsph).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806065"/>
        </p:xfrm>
        <a:graphic>
          <a:graphicData uri="http://schemas.openxmlformats.org/drawingml/2006/table">
            <a:tbl>
              <a:tblPr firstRow="1" bandRow="1">
                <a:tableStyleId>{5C22544A-7EE6-4342-B048-85BDC9FD1C3A}</a:tableStyleId>
              </a:tblPr>
              <a:tblGrid>
                <a:gridCol w="2107692"/>
                <a:gridCol w="1817116"/>
                <a:gridCol w="4634898"/>
                <a:gridCol w="2809029"/>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(both forms)</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slit loss</a:t>
                      </a:r>
                    </a:p>
                  </a:txBody>
                  <a:tcPr marL="54864" marR="54864" marT="18288" marB="18288">
                    <a:solidFill>
                      <a:srgbClr val="FFFFFF"/>
                    </a:solidFill>
                  </a:tcPr>
                </a:tc>
                <a:tc>
                  <a:txBody>
                    <a:bodyPr wrap="square"/>
                    <a:lstStyle/>
                    <a:p>
                      <a:r>
                        <a:rPr sz="1100" b="0">
                          <a:solidFill>
                            <a:srgbClr val="282828"/>
                          </a:solidFill>
                          <a:latin typeface="Arial"/>
                        </a:rPr>
                        <a:t>s2l</a:t>
                      </a:r>
                    </a:p>
                  </a:txBody>
                  <a:tcPr marL="54864" marR="54864" marT="18288" marB="18288">
                    <a:solidFill>
                      <a:srgbClr val="FFFFFF"/>
                    </a:solidFill>
                  </a:tcPr>
                </a:tc>
                <a:tc>
                  <a:txBody>
                    <a:bodyPr wrap="square"/>
                    <a:lstStyle/>
                    <a:p>
                      <a:r>
                        <a:rPr sz="1100" b="0">
                          <a:solidFill>
                            <a:srgbClr val="282828"/>
                          </a:solidFill>
                          <a:latin typeface="Arial"/>
                        </a:rPr>
                        <a:t>dyson5_s2l.txt, dyson5_s2l_slitloss.png</a:t>
                      </a:r>
                    </a:p>
                  </a:txBody>
                  <a:tcPr marL="54864" marR="54864" marT="18288" marB="18288">
                    <a:solidFill>
                      <a:srgbClr val="FFFFFF"/>
                    </a:solidFill>
                  </a:tcPr>
                </a:tc>
                <a:tc>
                  <a:txBody>
                    <a:bodyPr wrap="square"/>
                    <a:lstStyle/>
                    <a:p>
                      <a:r>
                        <a:rPr sz="1100" b="0">
                          <a:solidFill>
                            <a:srgbClr val="282828"/>
                          </a:solidFill>
                          <a:latin typeface="Arial"/>
                        </a:rPr>
                        <a:t>far-field leg vs sinc²</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centroid question, settled</a:t>
            </a:r>
          </a:p>
          <a:p>
            <a:pPr>
              <a:spcAft>
                <a:spcPts val="0"/>
              </a:spcAft>
            </a:pPr>
            <a:r>
              <a:rPr sz="1250" b="0">
                <a:solidFill>
                  <a:srgbClr val="6E6E6E"/>
                </a:solidFill>
                <a:latin typeface="Arial"/>
              </a:rPr>
              <a:t>A 0.12 px wave-versus-ray difference on R4 was the twin's grid read in the wrong frame; the detector sees the ray centroid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symptom: the propagated point-spread function's centroid parted from the ray centroid by 0.001 px on the seeds, 0.03 px on R3 and 0.12 px on R4, growing with wavelength, while the path-length check passed.</a:t>
            </a:r>
          </a:p>
          <a:p>
            <a:pPr>
              <a:spcAft>
                <a:spcPts val="600"/>
              </a:spcAft>
            </a:pPr>
            <a:r>
              <a:rPr sz="1200" b="0">
                <a:solidFill>
                  <a:srgbClr val="282828"/>
                </a:solidFill>
                <a:latin typeface="Arial"/>
              </a:rPr>
              <a:t>•  The proposed mechanism, tested and refuted: an amplitude-weighted ray centroid (Fresnel transmission across the pupil) reproduces the ray centroid to 4 % of the offset (0.0505 vs 0.0524 px at 2500 nm).</a:t>
            </a:r>
          </a:p>
          <a:p>
            <a:pPr>
              <a:spcAft>
                <a:spcPts val="600"/>
              </a:spcAft>
            </a:pPr>
            <a:r>
              <a:rPr sz="1200" b="0">
                <a:solidFill>
                  <a:srgbClr val="282828"/>
                </a:solidFill>
                <a:latin typeface="Arial"/>
              </a:rPr>
              <a:t>•  Numerics ruled out: doubling the window and halving the sampling reproduce every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cause: the far-field grid carries the source grid's orientation in index space, inverted by the transform; the prescription's y axis is chief × x, which is +y on the Dyson's chief and −y on the Offner's.  Raw centroids on R4 were the ray offsets with both signs flipped, on the Offner with one.</a:t>
            </a:r>
          </a:p>
          <a:p>
            <a:pPr>
              <a:spcAft>
                <a:spcPts val="600"/>
              </a:spcAft>
            </a:pPr>
            <a:r>
              <a:rPr sz="1200" b="0">
                <a:solidFill>
                  <a:srgbClr val="282828"/>
                </a:solidFill>
                <a:latin typeface="Arial"/>
              </a:rPr>
              <a:t>•  The fix: the harness takes the signs from the engine's source frame and states them in its record.  After it: agreement 0.0022 px (R4) and 0.0058 px (Offner) at every slit position and wavelength.  The concentric seed could never have shown this; it had no offset to flip.</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Record: dyson5_s2w.txt, dyson5_s2w_R3control.txt; convention in the reference document.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p:txBody>
      </p:sp>
      <p:sp>
        <p:nvSpPr>
          <p:cNvPr id="6" name="TextBox 5"/>
          <p:cNvSpPr txBox="1"/>
          <p:nvPr/>
        </p:nvSpPr>
        <p:spPr>
          <a:xfrm>
            <a:off x="6400800" y="2746248"/>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