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2734252"/>
                <a:gridCol w="1870804"/>
                <a:gridCol w="2158620"/>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centroid</a:t>
                      </a:r>
                    </a:p>
                  </a:txBody>
                  <a:tcPr marL="54864" marR="54864" marT="18288" marB="18288">
                    <a:solidFill>
                      <a:srgbClr val="1F4E79"/>
                    </a:solidFill>
                  </a:tcPr>
                </a:tc>
                <a:tc>
                  <a:txBody>
                    <a:bodyPr wrap="square"/>
                    <a:lstStyle/>
                    <a:p>
                      <a:r>
                        <a:rPr sz="1100" b="1">
                          <a:solidFill>
                            <a:srgbClr val="FFFFFF"/>
                          </a:solidFill>
                          <a:latin typeface="Arial"/>
                        </a:rPr>
                        <a:t>(chief)</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(672.9 / 390.9)</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(173.4 / 95.1)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(176.7 / 94.7)</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(115.9 / 56.9)</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(100.5 / 54.4)</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centroid reference primary, chief in parentheses.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2268169" y="4793488"/>
            <a:ext cx="7655356" cy="1670811"/>
          </a:xfrm>
          <a:prstGeom prst="rect">
            <a:avLst/>
          </a:prstGeom>
        </p:spPr>
      </p:pic>
      <p:sp>
        <p:nvSpPr>
          <p:cNvPr id="8" name="TextBox 7"/>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2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2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2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2804160"/>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891737" y="1298448"/>
            <a:ext cx="2413084" cy="1068832"/>
          </a:xfrm>
          <a:prstGeom prst="rect">
            <a:avLst/>
          </a:prstGeom>
        </p:spPr>
      </p:pic>
      <p:sp>
        <p:nvSpPr>
          <p:cNvPr id="7" name="TextBox 6"/>
          <p:cNvSpPr txBox="1"/>
          <p:nvPr/>
        </p:nvSpPr>
        <p:spPr>
          <a:xfrm>
            <a:off x="6400800" y="23855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7274555" y="2816352"/>
            <a:ext cx="3647449" cy="1955292"/>
          </a:xfrm>
          <a:prstGeom prst="rect">
            <a:avLst/>
          </a:prstGeom>
        </p:spPr>
      </p:pic>
      <p:sp>
        <p:nvSpPr>
          <p:cNvPr id="9" name="TextBox 8"/>
          <p:cNvSpPr txBox="1"/>
          <p:nvPr/>
        </p:nvSpPr>
        <p:spPr>
          <a:xfrm>
            <a:off x="6400800" y="4789932"/>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53858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2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2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7079575" y="1298448"/>
            <a:ext cx="4037408" cy="2806192"/>
          </a:xfrm>
          <a:prstGeom prst="rect">
            <a:avLst/>
          </a:prstGeom>
        </p:spPr>
      </p:pic>
      <p:sp>
        <p:nvSpPr>
          <p:cNvPr id="6" name="TextBox 5"/>
          <p:cNvSpPr txBox="1"/>
          <p:nvPr/>
        </p:nvSpPr>
        <p:spPr>
          <a:xfrm>
            <a:off x="6400800" y="4122927"/>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4553712"/>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2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2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2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6400800" y="1298448"/>
            <a:ext cx="5394960" cy="1205662"/>
          </a:xfrm>
          <a:prstGeom prst="rect">
            <a:avLst/>
          </a:prstGeom>
        </p:spPr>
      </p:pic>
      <p:sp>
        <p:nvSpPr>
          <p:cNvPr id="6" name="TextBox 5"/>
          <p:cNvSpPr txBox="1"/>
          <p:nvPr/>
        </p:nvSpPr>
        <p:spPr>
          <a:xfrm>
            <a:off x="6400800" y="2522398"/>
            <a:ext cx="53949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sub-nanometer command maps.</a:t>
            </a:r>
          </a:p>
        </p:txBody>
      </p:sp>
      <p:pic>
        <p:nvPicPr>
          <p:cNvPr id="7" name="Picture 6" descr="ctb_vortex_bandwidth.png"/>
          <p:cNvPicPr>
            <a:picLocks noChangeAspect="1"/>
          </p:cNvPicPr>
          <p:nvPr/>
        </p:nvPicPr>
        <p:blipFill>
          <a:blip r:embed="rId3"/>
          <a:stretch>
            <a:fillRect/>
          </a:stretch>
        </p:blipFill>
        <p:spPr>
          <a:xfrm>
            <a:off x="8011995" y="2953182"/>
            <a:ext cx="2172568" cy="1617472"/>
          </a:xfrm>
          <a:prstGeom prst="rect">
            <a:avLst/>
          </a:prstGeom>
        </p:spPr>
      </p:pic>
      <p:sp>
        <p:nvSpPr>
          <p:cNvPr id="8" name="TextBox 7"/>
          <p:cNvSpPr txBox="1"/>
          <p:nvPr/>
        </p:nvSpPr>
        <p:spPr>
          <a:xfrm>
            <a:off x="6400800" y="4588942"/>
            <a:ext cx="5394960" cy="394208"/>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6400800" y="5019726"/>
            <a:ext cx="5394960"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tretch>
            <a:fillRect/>
          </a:stretch>
        </p:blipFill>
        <p:spPr>
          <a:xfrm>
            <a:off x="1684384" y="3348989"/>
            <a:ext cx="3260631" cy="2348992"/>
          </a:xfrm>
          <a:prstGeom prst="rect">
            <a:avLst/>
          </a:prstGeom>
        </p:spPr>
      </p:pic>
      <p:sp>
        <p:nvSpPr>
          <p:cNvPr id="6" name="TextBox 5"/>
          <p:cNvSpPr txBox="1"/>
          <p:nvPr/>
        </p:nvSpPr>
        <p:spPr>
          <a:xfrm>
            <a:off x="411480" y="5716269"/>
            <a:ext cx="5806440" cy="394208"/>
          </a:xfrm>
          <a:prstGeom prst="rect">
            <a:avLst/>
          </a:prstGeom>
          <a:noFill/>
        </p:spPr>
        <p:txBody>
          <a:bodyPr wrap="square">
            <a:spAutoFit/>
          </a:bodyPr>
          <a:lstStyle/>
          <a:p>
            <a:pPr algn="ctr">
              <a:spcAft>
                <a:spcPts val="0"/>
              </a:spcAft>
            </a:pPr>
            <a:r>
              <a:rPr sz="100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147053"/>
            <a:ext cx="5806440" cy="274320"/>
          </a:xfrm>
          <a:prstGeom prst="rect">
            <a:avLst/>
          </a:prstGeom>
          <a:noFill/>
        </p:spPr>
        <p:txBody>
          <a:bodyPr wrap="square">
            <a:spAutoFit/>
          </a:bodyPr>
          <a:lstStyle/>
          <a:p>
            <a:pPr>
              <a:spcAft>
                <a:spcPts val="600"/>
              </a:spcAft>
            </a:pPr>
            <a:r>
              <a:rPr sz="105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10184" y="3348989"/>
            <a:ext cx="3376190" cy="2440432"/>
          </a:xfrm>
          <a:prstGeom prst="rect">
            <a:avLst/>
          </a:prstGeom>
        </p:spPr>
      </p:pic>
      <p:sp>
        <p:nvSpPr>
          <p:cNvPr id="9" name="TextBox 8"/>
          <p:cNvSpPr txBox="1"/>
          <p:nvPr/>
        </p:nvSpPr>
        <p:spPr>
          <a:xfrm>
            <a:off x="6400800" y="5807709"/>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200" b="0">
                <a:solidFill>
                  <a:srgbClr val="282828"/>
                </a:solidFill>
                <a:latin typeface="Arial"/>
              </a:rPr>
              <a:t>•  Metrology and edge sensors are designed ON that Jacobian — 114 beams from the launcher stations shown — and the same matrices drive the estimator and the closed loop.</a:t>
            </a:r>
          </a:p>
        </p:txBody>
      </p:sp>
      <p:pic>
        <p:nvPicPr>
          <p:cNvPr id="5" name="Picture 4" descr="r3_met_view_rx.png"/>
          <p:cNvPicPr>
            <a:picLocks noChangeAspect="1"/>
          </p:cNvPicPr>
          <p:nvPr/>
        </p:nvPicPr>
        <p:blipFill>
          <a:blip r:embed="rId2"/>
          <a:stretch>
            <a:fillRect/>
          </a:stretch>
        </p:blipFill>
        <p:spPr>
          <a:xfrm>
            <a:off x="511032" y="2804160"/>
            <a:ext cx="5607334" cy="3660140"/>
          </a:xfrm>
          <a:prstGeom prst="rect">
            <a:avLst/>
          </a:prstGeom>
        </p:spPr>
      </p:pic>
      <p:sp>
        <p:nvSpPr>
          <p:cNvPr id="6" name="TextBox 5"/>
          <p:cNvSpPr txBox="1"/>
          <p:nvPr/>
        </p:nvSpPr>
        <p:spPr>
          <a:xfrm>
            <a:off x="411480" y="6482588"/>
            <a:ext cx="5806440" cy="229107"/>
          </a:xfrm>
          <a:prstGeom prst="rect">
            <a:avLst/>
          </a:prstGeom>
          <a:noFill/>
        </p:spPr>
        <p:txBody>
          <a:bodyPr wrap="square">
            <a:spAutoFit/>
          </a:bodyPr>
          <a:lstStyle/>
          <a:p>
            <a:pPr algn="ctr">
              <a:spcAft>
                <a:spcPts val="0"/>
              </a:spcAft>
            </a:pPr>
            <a:r>
              <a:rPr sz="1000" b="0">
                <a:solidFill>
                  <a:srgbClr val="6E6E6E"/>
                </a:solidFill>
                <a:latin typeface="Arial"/>
              </a:rPr>
              <a:t>The metrology on the observatory: 24 elements, 114 MET beams to the aft launcher station.</a:t>
            </a:r>
          </a:p>
        </p:txBody>
      </p:sp>
      <p:pic>
        <p:nvPicPr>
          <p:cNvPr id="7" name="Picture 6" descr="r3_dwdx_channels.png"/>
          <p:cNvPicPr>
            <a:picLocks noChangeAspect="1"/>
          </p:cNvPicPr>
          <p:nvPr/>
        </p:nvPicPr>
        <p:blipFill>
          <a:blip r:embed="rId3"/>
          <a:stretch>
            <a:fillRect/>
          </a:stretch>
        </p:blipFill>
        <p:spPr>
          <a:xfrm>
            <a:off x="6908717" y="1298448"/>
            <a:ext cx="4379125" cy="4342892"/>
          </a:xfrm>
          <a:prstGeom prst="rect">
            <a:avLst/>
          </a:prstGeom>
        </p:spPr>
      </p:pic>
      <p:sp>
        <p:nvSpPr>
          <p:cNvPr id="8" name="TextBox 7"/>
          <p:cNvSpPr txBox="1"/>
          <p:nvPr/>
        </p:nvSpPr>
        <p:spPr>
          <a:xfrm>
            <a:off x="6400800" y="5659627"/>
            <a:ext cx="5394960" cy="229107"/>
          </a:xfrm>
          <a:prstGeom prst="rect">
            <a:avLst/>
          </a:prstGeom>
          <a:noFill/>
        </p:spPr>
        <p:txBody>
          <a:bodyPr wrap="square">
            <a:spAutoFit/>
          </a:bodyPr>
          <a:lstStyle/>
          <a:p>
            <a:pPr algn="ctr">
              <a:spcAft>
                <a:spcPts val="0"/>
              </a:spcAft>
            </a:pPr>
            <a:r>
              <a:rPr sz="1000" b="0">
                <a:solidFill>
                  <a:srgbClr val="6E6E6E"/>
                </a:solidFill>
                <a:latin typeface="Arial"/>
              </a:rPr>
              <a:t>Per-segment wavefront sensitivity channels — the control basis.</a:t>
            </a:r>
          </a:p>
        </p:txBody>
      </p:sp>
      <p:sp>
        <p:nvSpPr>
          <p:cNvPr id="9" name="TextBox 8"/>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