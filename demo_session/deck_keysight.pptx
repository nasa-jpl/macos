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Relationship Id="rId4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Four decades of NASA optical modeling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Late 1980s: the engine originates in NASA telescope technology development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Used for Star Wars control-system development and NASA SubMM telescope analysis.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1991: Hubble — the prescription recovery that diagnosed the aberration from flight imagery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Prescription retrieval from image data has served other missions as well.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JWST: integrated observatory modeling and wavefront sensing and control development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Testbeds validated the models, and the validated models proved the space system.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TMT, Keck and many space missions: Observatory modeling, including segmented-aperture systems, testbeds, instrument studies.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Validated against testbed and flight data across those programs.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We are modernizing and extending the capabilities of our modeling to meet new challenges.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engine, four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70" y="1298448"/>
            <a:ext cx="7352954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capability added to the engine is everywhere at once: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shared library layer serves the MATLAB and Python toolboxes.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prescription generators and the CODE V converter feed the same Rx language.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CODE V and PROPER provide independent cross-checks.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source tree: github nasa-jpl/macos and MACOS_resources contain it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toolbox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m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341" y="1298448"/>
            <a:ext cx="9625012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96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Three design challenges, one method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06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4127"/>
                <a:gridCol w="2591836"/>
                <a:gridCol w="3917206"/>
                <a:gridCol w="4005564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078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Objective: meet the challenge, and use the solution to establish a design family.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Build a solution code for each particular problem, using AI assistance.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Build another code to rapidly generate adjacent solutions, without AI assistance.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 solves each problem with its own optimizer and the same degrees of freedom.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 separately re-traces the delivered prescriptions to compare design against design under one decoded metric.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Challenges and solution prompts provided by Mike Rodgers (thanks Mike!).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a 20°×20° field, 22° off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hardest of the three: a wide field box far off axis, an exit-beam pointing constraint, and hard clearance requirements between beam and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Reproduction first: all five reported design steps rebuild from the delivered lens sequences inside 0.8–1.25× — nothing tuned toward the reported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became a template: one parameterized five-stage flow (solve on axis, map the offset, re-solve at the used field, add buildability constraints, add surface freedom) — re-running the whole study at new parameters is one call.</a:t>
            </a:r>
          </a:p>
        </p:txBody>
      </p:sp>
      <p:pic>
        <p:nvPicPr>
          <p:cNvPr id="5" name="Picture 4" descr="pair_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852" y="1298448"/>
            <a:ext cx="4692855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An unconstrained solve reads 58.3 nm — with the beam passing through the secondary.  The layout figure caught it; clearance constraints are part of the problem statement.</a:t>
            </a:r>
          </a:p>
        </p:txBody>
      </p:sp>
      <p:pic>
        <p:nvPicPr>
          <p:cNvPr id="5" name="Picture 4" descr="pair_r3t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773" y="2606040"/>
            <a:ext cx="4991853" cy="2422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04697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</a:p>
        </p:txBody>
      </p:sp>
      <p:pic>
        <p:nvPicPr>
          <p:cNvPr id="7" name="Picture 6" descr="r3t_s4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75" y="2606040"/>
            <a:ext cx="3109808" cy="2696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2130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Its field map: 113.6 nm max over the 20°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869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one design to a design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step table is the instrument's field-vs-packaging frontier: every row a finished, checked design; the largest spec-compliant box is 11°×11° at 27.3 nm with a 25.1 mm clearance floor.</a:t>
            </a:r>
          </a:p>
        </p:txBody>
      </p:sp>
      <p:pic>
        <p:nvPicPr>
          <p:cNvPr id="5" name="Picture 4" descr="pair_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134" y="2407920"/>
            <a:ext cx="4783130" cy="28798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30605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</a:p>
        </p:txBody>
      </p:sp>
      <p:pic>
        <p:nvPicPr>
          <p:cNvPr id="7" name="Picture 6" descr="t5_walk_k03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869" y="2407920"/>
            <a:ext cx="3166820" cy="2788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21462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4803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name a field-box full width, anywhere in 5–15°, for the same instrument class — 150 mm f/3.3 at the +22.5° offset, same envelope, same clearance rules.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happens: the frontier states the prediction first; one MATLAB call launches a full-freedom solve, warm-started from the nearest committed design below the ask, and it runs while the talk continues (~15 min).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 AI in this loop: the design knowledge is compiled into the driver — this is the "adjacent solutions, without AI assistance" half of the objective, running live.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reveal shows: the field map, the clearance floor and the exit-direction check, beside the stated prediction.  Every ask is a genuine continuation step, never a re-score of a stored design; a repeat run reproduces every printed digit.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oi_demo_step(12)      % the room's width goes here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warm start     : committed walk step 3 (11 x 11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solve          : S5 full freedom (conics+Zernike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                +tilt/dec+radii+stop_y)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...  ~15 min ...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DENSE MAP MAX  : 33.6 nm   predicted ~33.7  (1.00x)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clearance floor: 24.9 mm   exit err 0.012 deg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gates          : exit PASS / clear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3543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rehearsal run's verdict (12° ask), abbreviated verbatim; the live run prints the same block for the room's width.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252"/>
                <a:gridCol w="1870804"/>
                <a:gridCol w="2158620"/>
                <a:gridCol w="2446436"/>
                <a:gridCol w="21586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metric decoded: the reported map subtracts per-field best focus + least-squares tip/tilt; re-scoring the same traces under that convention (third column) lands the re-traced designs at 0.991× / 1.003× / 1.000× of the reported max.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</a:p>
        </p:txBody>
      </p:sp>
      <p:pic>
        <p:nvPicPr>
          <p:cNvPr id="6" name="Picture 5" descr="rodgers1_layout_s4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08" y="3124962"/>
            <a:ext cx="3481943" cy="205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20014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4658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Performance matched: all four design variants reproduce the reported wavefront numbers at the decoded reference; the reported 28.7× magnification of the frozen-offset variant measures 28.686×.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200399"/>
          <a:ext cx="5806438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5703"/>
                <a:gridCol w="1080267"/>
                <a:gridCol w="189046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15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430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160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dgers2_layout_paren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057" y="1298448"/>
            <a:ext cx="3410444" cy="2623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400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8380"/>
                <a:gridCol w="967739"/>
                <a:gridCol w="129031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qualities pull opposite ways: the fourth mirror's power serves the pupil and costs the image — a factor-39 exchange.  Declining the power (a flat fourth mirror) keeps 266 nm and the three-mirror pupil.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trade, packaged: with the last mirror held behind the primary, the solutions split into two families; pupil distances under 220 mm leave no room for an instrument after the fold — 343 mm admits a 464 mm diameter.</a:t>
            </a:r>
          </a:p>
        </p:txBody>
      </p:sp>
      <p:pic>
        <p:nvPicPr>
          <p:cNvPr id="6" name="Picture 5" descr="rodgers2_S1_onaxis_pup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560" y="4350639"/>
            <a:ext cx="3800278" cy="840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20915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</a:p>
        </p:txBody>
      </p:sp>
      <p:pic>
        <p:nvPicPr>
          <p:cNvPr id="8" name="Picture 7" descr="rodgers2_final_fol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2854" y="1298448"/>
            <a:ext cx="2250851" cy="18740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319074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constrained design, folded: the instrument volume behind the primary.</a:t>
            </a:r>
          </a:p>
        </p:txBody>
      </p:sp>
      <p:pic>
        <p:nvPicPr>
          <p:cNvPr id="10" name="Picture 9" descr="rodgers2_final_tr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866" y="3456432"/>
            <a:ext cx="2228827" cy="152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00075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315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"3 mirrors" = the best delivered variant.  Yardsticks: pupil imaging resolves 2.7 µm across the 33 mm pupil, depth of focus ~30 µm — the measured defects sit 50–350× above these floors.  Per-point trade table: the design/rodgers2 record.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Twyman–Green interferometer for measuring DM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Phase-shifting with no moving parts: the analyzer angle is the phase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normal incidence (double pass, 2× sensitivity), a natural null against the flat reference, the fewest reference surfaces of any two-beam layout.  A Mach–Zehnder buys arm isolation, two ports and transmission testing — dynamics,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polarization trick: the two arms carry orthogonal polarizations, so they cannot interfere until projected; an output quarter-wave plate makes them opposite circular, and an analyzer at angle θ then writes fringe phase 2θ.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Four analyzer angles — 0 / 45 / 90 / 135° — are the four phase steps of standard PSI, with nothing in the interferometer moving: the vibration immunity of polarization phase shifting.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factor of two: DM surface height h enters the optical path as 2h at normal incidence; the recovery closes against the injected map with exactly that factor.</a:t>
            </a:r>
          </a:p>
        </p:txBody>
      </p:sp>
      <p:pic>
        <p:nvPicPr>
          <p:cNvPr id="5" name="Picture 4" descr="demo_beat6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5179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3469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analyzer sweep on the poked DM: phase-stepped fringe frames — the phase walks, the rig stands still.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6547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Topology ruling and full physics: the template README, templates/90_polarization/tg_psi_dm.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interferometer, built and calibrated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v1's catch: splitter diattenuation rotates the test arm 7.5° from orthogonal — the gauge reads 11.7% high while fringe contrast moves 0.17% (a 69× blind spot); fixed by re-clocking one waveplate 3.77°, solved in 5 traces.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v2 designs the error out: each arm rides a coating eigenaxis, where a diattenuator cannot rotate it — and the error budget inverts: a waveplate error now costs visible contrast instead of invisible scale.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133087"/>
          <a:ext cx="5806438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286"/>
                <a:gridCol w="1018673"/>
                <a:gridCol w="1935479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air_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6696" y="1298448"/>
            <a:ext cx="2463167" cy="1434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51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 as built (iso + side): source in from the left, the polarizing splitter at the cross, reference and test arms, shared detector leg.</a:t>
            </a:r>
          </a:p>
        </p:txBody>
      </p:sp>
      <p:pic>
        <p:nvPicPr>
          <p:cNvPr id="8" name="Picture 7" descr="tg_psi_dm_v2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905" y="3182112"/>
            <a:ext cx="3208749" cy="1297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49783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286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templates/90_polarization/tg_psi_dm (v1, the rehearsed demo default) + tg_psi_dm_v2; 18 regression checks across the pair.  A PBS converts an invisible systematic into a visible one — a better reason to buy one than throughput.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Live: measuring the deformable mirror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Seven steps, each seconds-fast — 0.30 nm rms residual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seven steps, from the MATLAB command line: build the bench in one visible call → layout view → align (solve the waveplate re-clock, 7 traces) → null fringes (the analyzer basis, 6 traces) → poke one actuator live (3 traces) → sweep the analyzer, 36 frames with zero traces → full DM map, four-step PSI, closure.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to watch: the fringes bend exactly over the poked actuator; the sweep walks the fringes with the rig standing still; the recovered map lands beside the injected truth at 0.304 nm rms interior residual.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Nothing takes long enough to lose a room: the longest step is ~5 s; the 36-frame sweep costs 0.036 s.</a:t>
            </a:r>
          </a:p>
        </p:txBody>
      </p:sp>
      <p:pic>
        <p:nvPicPr>
          <p:cNvPr id="5" name="Picture 4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3608" y="1298448"/>
            <a:ext cx="4529342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tg_psi_dm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141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7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Timings measured, in the template README; every step has a pre-rendered backup image — a live hang costs ten seconds, not the demonstration.  Either rig runs the same seven steps (whole-demo v1 49.8 s, v2 47.0 s) — the rig choice is the presenter's.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coronagraph testbed,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full testbed model — off-axis parabolas, focal-plane masks, Lyot stop, two 32×32-actuator deformable mirrors — every mask generated at 8× sub-pixel resolution and binned to the model grid.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Validated externally: a pure-PROPER run reads only the exported planes — no macos anywhere — and reproduces the bare image at correlation 1.000000, forming the same dark zone.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8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7108"/>
                <a:gridCol w="1533776"/>
                <a:gridCol w="109555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37" y="1298448"/>
            <a:ext cx="2413084" cy="1068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3855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</a:p>
        </p:txBody>
      </p:sp>
      <p:pic>
        <p:nvPicPr>
          <p:cNvPr id="8" name="Picture 7" descr="ctb_mas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55" y="2816352"/>
            <a:ext cx="3647449" cy="19552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8993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85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is fixed; only the Lyot stop fraction moves — a genuine depth-for-throughput dial, where each fixed design is a single point.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is deeper (8.8×10⁻¹¹ vs 2.1×10⁻¹⁰) at more throughput (36% vs 27%) — with no apodizer to fabricate.  At 81% throughput it still holds 8.0×10⁻⁹.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runs ~4× deeper than charge 6 at every stop; the useful dial range is 0.50–0.90 — past 0.90 the rejected-starlight ring arrives inside the stop.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75" y="1298448"/>
            <a:ext cx="4037408" cy="2806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poked and propagated through the full masked chain, so the correction solve has no model error to exploit; each iteration re-propagates and scores the measured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</a:p>
        </p:txBody>
      </p:sp>
      <p:pic>
        <p:nvPicPr>
          <p:cNvPr id="5" name="Picture 4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205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2239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</a:p>
        </p:txBody>
      </p:sp>
      <p:pic>
        <p:nvPicPr>
          <p:cNvPr id="7" name="Picture 6" descr="ctb_vortex_bandwid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995" y="2953182"/>
            <a:ext cx="2172568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889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197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the testbed to an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79" y="2069591"/>
            <a:ext cx="3971440" cy="134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43103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</a:p>
        </p:txBody>
      </p:sp>
      <p:pic>
        <p:nvPicPr>
          <p:cNvPr id="7" name="Picture 6" descr="r1_seg_d110_sh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686" y="2069591"/>
            <a:ext cx="3123186" cy="225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34543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7762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hex-19 with physical apertures through the same segmentation product;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and edge sensors are designed ON that Jacobian — 114 beams from the launcher stations shown — and the same matrices drive the estimator and the closed loop.</a:t>
            </a:r>
          </a:p>
        </p:txBody>
      </p:sp>
      <p:pic>
        <p:nvPicPr>
          <p:cNvPr id="5" name="Picture 4" descr="r3_met_view_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124" y="1298448"/>
            <a:ext cx="3038311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</a:p>
        </p:txBody>
      </p:sp>
      <p:pic>
        <p:nvPicPr>
          <p:cNvPr id="7" name="Picture 6" descr="r3_dwdx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811" y="3730752"/>
            <a:ext cx="1566937" cy="1553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0301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68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randomly disturbed observatory, simulated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Random segment drift is injected; the rigid-body loop senses through the designed metrology, estimates and corrects, while EFC re-solves the dark zone per scored frame — all on one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disturbance interface is the point: the same channels are built to ingest dynamical- and thermal-model time histories — simulating performance in the space environment.  Work in progress.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Honest gap, attributed: the segmented-pupil contrast floor sits above the clear-pupil testbed's — the gaps and edges carry it, not the control.</a:t>
            </a:r>
          </a:p>
        </p:txBody>
      </p:sp>
      <p:pic>
        <p:nvPicPr>
          <p:cNvPr id="5" name="Picture 4" descr="r4_series_3n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880" y="1298448"/>
            <a:ext cx="3016798" cy="2897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143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design, revealed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a field-box width, anywhere in 5–15°.  The prediction, stated before the solve: interpolated from the committed frontier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pre-run rehearsal of the default ask (12°): predicted 33.7 nm; solved 33.6 nm — 1.00× — at a 24.9 mm clearance floor, both checks pass, in 15 minutes.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 is deterministic to every printed digit, and every ask is a genuine continuation step — never a re-score of a stored design.</a:t>
            </a:r>
          </a:p>
        </p:txBody>
      </p:sp>
      <p:pic>
        <p:nvPicPr>
          <p:cNvPr id="5" name="Picture 4" descr="oi_demo_12deg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03" y="1298448"/>
            <a:ext cx="2196352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</a:p>
        </p:txBody>
      </p:sp>
      <p:pic>
        <p:nvPicPr>
          <p:cNvPr id="7" name="Picture 6" descr="oi_demo_12deg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092" y="3639312"/>
            <a:ext cx="2294375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0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How is a result verified when the designer is a machine?  Here: regression checks with negative controls, layout figures read against every claim, and corrected signed measures — the checks caught the errors shown today.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does the human rule?  Constraint choices, metric definitions, and every outward claim carry a human sign-off; the AI proposes, the record decides.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Is it reproducible?  Every number in this deck rebuilds from committed scripts and committed records — including the design solved during this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44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validated engine behind four language surfaces; a MATLAB design layer that took three CODE V benchmark studies from reproduction to extension.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things happened live: a telescope designed to the audience's field specification in one warm-started step, and a polarization interferometer measuring a deformable mirror to 0.30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code is public: github.com/nasa-jpl/macos.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548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MACOS does today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System-level modeling from design through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Applications: error budgeting, integrated observatory simulation, wavefront sensing and control for segmented telescopes, coronagraph testbeds and instruments.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linear-model workflow: w = J·x + w₀ — wavefront sensitivity channels per element, per segment, per surface mode; stacked over fields and configurations; element groups move as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From model to control: the same sensitivity matrices drive metrology design, estimator synthesis, and closed-loop simulation — one model, one bookkeeping, design to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44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MATLAB toolbox and the design layer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Drivers: telescope/bench design builders, sensitivity supervisors (rigid-body, alignment, surface-grid), metrology placement, model-vs-model comparison, closed-loop simulators, study orchestrators.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One-call reconstructible studies: every figure in this deck rebuilds from a committed script and committed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Utilities: trace, wavefront, perturb, pupil find; layout and ray-bundle viewers; Jones pupils, polarization elements; segment grid bases and grid file IO; multi-wavelength composition; spot, intensity, complex field.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design layer: the whole stack is public-domain — a design study needs no proprietary prescription to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04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Validation anchors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trust base, by physics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5176"/>
                <a:gridCol w="3343745"/>
                <a:gridCol w="620981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non-vacuity rule: every regression check is shown to fail against the pre-fix engine before it counts as protection.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998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Suites run per commit; counts as of 2026-08.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adjacent-design rehearsal bundle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861"/>
                <a:gridCol w="1601230"/>
                <a:gridCol w="1441107"/>
                <a:gridCol w="2401845"/>
                <a:gridCol w="2401845"/>
                <a:gridCol w="960738"/>
                <a:gridCol w="144110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5648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repeat 12° run reproduces the bundle to every printed digit — the demonstration is deterministic.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Wide asks pass: the committed frontier line understates the envelope (its widest rows stopped early on a wavefront-only criterion while the clearance penalty was still improving).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624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Interferometer demonstration backups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pre-rendered image per live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562" y="1298448"/>
            <a:ext cx="4648570" cy="178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09930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5 — one actuator poked: the fringes bend over it.</a:t>
            </a:r>
          </a:p>
        </p:txBody>
      </p:sp>
      <p:pic>
        <p:nvPicPr>
          <p:cNvPr id="6" name="Picture 5" descr="demo_beat6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181" y="3364992"/>
            <a:ext cx="3819331" cy="1782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165852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6 — the analyzer sweep: four phase-stepped frames, no re-trace.</a:t>
            </a:r>
          </a:p>
        </p:txBody>
      </p:sp>
      <p:pic>
        <p:nvPicPr>
          <p:cNvPr id="8" name="Picture 7" descr="demo_beat7_recove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9653" y="5431536"/>
            <a:ext cx="3832387" cy="10327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7 — the recovery beside the truth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seven steps have backups in templates/90_polarization/tg_psi_dm.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specification to design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stage-runner sequence on the smaller worked example: specification → design → segmentation → metrology → comparison → simulation, each stage a committed runner handing its prescription to the next.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4 m f/18 telescope (f/1.75 primary) from a closed-form first-order seed; diffraction-limited over ±1′ alone, and the Offner ring-field relay buys the full ±2′ (Strehl floor 0.965, on pure spheres).</a:t>
            </a:r>
          </a:p>
        </p:txBody>
      </p:sp>
      <p:pic>
        <p:nvPicPr>
          <p:cNvPr id="5" name="Picture 4" descr="rowpair_s1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59" y="1298448"/>
            <a:ext cx="47192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860" y="3639312"/>
            <a:ext cx="2208839" cy="1782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into a pie or hex tiling with physical apertures;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is an optimization on that basis: edge-sensor and beam-launcher layouts scored by the control information they carry, not by symmetry; the winning pattern exports as a reusable preset.</a:t>
            </a:r>
          </a:p>
        </p:txBody>
      </p:sp>
      <p:pic>
        <p:nvPicPr>
          <p:cNvPr id="5" name="Picture 4" descr="rowpair_s3_view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8167" y="1298448"/>
            <a:ext cx="4960224" cy="196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821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</a:p>
        </p:txBody>
      </p:sp>
      <p:pic>
        <p:nvPicPr>
          <p:cNvPr id="7" name="Picture 6" descr="e2e_pie_met_view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96" y="3547872"/>
            <a:ext cx="2870767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comparison and simulation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</a:p>
        </p:txBody>
      </p:sp>
      <p:pic>
        <p:nvPicPr>
          <p:cNvPr id="5" name="Picture 4" descr="e2e_compare_p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56" y="1871472"/>
            <a:ext cx="3695887" cy="2714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0451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</a:p>
        </p:txBody>
      </p:sp>
      <p:pic>
        <p:nvPicPr>
          <p:cNvPr id="7" name="Picture 6" descr="e2e_sim_t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520" y="1871472"/>
            <a:ext cx="462751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60451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352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