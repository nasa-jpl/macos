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2.png"/><Relationship Id="rId4" Type="http://schemas.openxmlformats.org/officeDocument/2006/relationships/image" Target="../media/image29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Relationship Id="rId3" Type="http://schemas.openxmlformats.org/officeDocument/2006/relationships/image" Target="../media/image3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737360"/>
            <a:ext cx="10545775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1F4E79"/>
                </a:solidFill>
                <a:latin typeface="Arial"/>
              </a:rPr>
              <a:t>MACOS — Optical Modeling, Analysis and Design, with an AI in the Loop</a:t>
            </a:r>
          </a:p>
          <a:p>
            <a:pPr>
              <a:spcAft>
                <a:spcPts val="1400"/>
              </a:spcAft>
            </a:pPr>
            <a:r>
              <a:rPr sz="2200" b="0">
                <a:solidFill>
                  <a:srgbClr val="282828"/>
                </a:solidFill>
                <a:latin typeface="Arial"/>
              </a:rPr>
              <a:t>One ray-trace and physical-optics engine, four language surfaces, an AI-driven design layer — with two elements run live</a:t>
            </a:r>
          </a:p>
          <a:p>
            <a:pPr>
              <a:spcAft>
                <a:spcPts val="800"/>
              </a:spcAft>
            </a:pPr>
            <a:r>
              <a:rPr sz="1500" b="0">
                <a:solidFill>
                  <a:srgbClr val="6E6E6E"/>
                </a:solidFill>
                <a:latin typeface="Arial"/>
              </a:rPr>
              <a:t>D. C. Redding, with Claude Code — 1 September 2026.  Prepared for the Keysight CODE V team.  DRAFT — pending source sign-off.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5486400"/>
            <a:ext cx="1054577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6E6E6E"/>
                </a:solidFill>
                <a:latin typeface="Arial"/>
              </a:rPr>
              <a:t>Live elements: a telescope designed during the talk to an audience-chosen field specification (asked and launched once challenge 3 is on the table, revealed before the closing discussion), and a polarization phase-shifting interferometer measuring a deformable mirror.  All wavefront numbers are RMS wavefront error; each study states its reference convention where it reports.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Four decades of NASA optical modeling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Technology development to flight: Hubble, JWST, TMT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Late 1980s: the engine originates in NASA telescope technology development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Used for Star Wars control-system development and NASA SubMM telescope analysis.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1991: Hubble — the prescription recovery that diagnosed the aberration from flight imagery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Prescription retrieval from image data has served other missions as well.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JWST: integrated observatory modeling and wavefront sensing and control development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Testbeds validated the models, and the validated models proved the space system.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TMT, Keck and many space missions: Observatory modeling, including segmented-aperture systems, testbeds, instrument studies.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Validated against testbed and flight data across those programs.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We are modernizing and extending the capabilities of our modeling to meet new challenges.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One engine, four surfaces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Fortran core answers a terminal, a library call, MATLAB, and Python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g_ecosyst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9370" y="1298448"/>
            <a:ext cx="7352954" cy="33832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468172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capability added to the engine is everywhere at once: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shared library layer serves the MATLAB and Python toolboxes.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prescription generators and the CODE V converter feed the same Rx language.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CODE V and PROPER provide independent cross-checks.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source tree: github nasa-jpl/macos and MACOS_resources contain it all.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Three design challenges, one method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CODE V benchmark studies reproduced first, then extended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20631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54127"/>
                <a:gridCol w="2591836"/>
                <a:gridCol w="3917206"/>
                <a:gridCol w="4005564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challenge 1 (July)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challenge 2 (August)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challenge 3 (August)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the task, as posed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three-mirror telescope, f/20, 5 m aperture: a 0.2°×0.2° field box offset 0.5° off axis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three-mirror afocal telescope, 30×, 1 m aperture: a 0.5°×0.5° field offset 0.6°, a tilted cold stop the interface to the instrument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 three-mirror imager, f/4, 75 mm aperture: a 20°×20° field box centered 22° off axis, exit beam horizontal, hard beam–mirror clearances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65722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reported ladder (max RMS WFE)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 → 375 → 92 → 40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 → 430 → 160 → 119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159 → 8810 → 168 → 117 → 53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468630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reproduction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0.83–1.11×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0.95–1.02×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0.99–1.10× (all five steps)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507867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Objective: meet the challenge, and use the solution to establish a design family.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Build a solution code for each particular problem, using AI assistance.</a:t>
            </a:r>
          </a:p>
          <a:p>
            <a:pPr>
              <a:spcAft>
                <a:spcPts val="5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        –  Build another code to rapidly generate adjacent solutions, without AI assistance.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MACOS solves each problem with its own optimizer and the same degrees of freedom.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MACOS separately re-traces the delivered prescriptions to compare design against design under one decoded metric.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Challenges and solution prompts provided by Mike Rodgers (thanks Mike!).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3: a 20°×20° field, 22° off axis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All five reported steps reproduce from the lens sequences before any extension is claimed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hardest of the three: a wide field box far off axis, an exit-beam pointing constraint, and hard clearance requirements between beam and mirrors.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Reproduction first: all five reported design steps rebuild from the delivered lens sequences inside 0.8–1.25× — nothing tuned toward the reported numbers.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study became a template: one parameterized five-stage flow (solve on axis, map the offset, re-solve at the used field, add buildability constraints, add surface freedom) — re-running the whole study at new parameters is one call.</a:t>
            </a:r>
          </a:p>
        </p:txBody>
      </p:sp>
      <p:pic>
        <p:nvPicPr>
          <p:cNvPr id="5" name="Picture 4" descr="pair_r3t_s1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1852" y="1298448"/>
            <a:ext cx="4692855" cy="23489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6657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offset imager as traced in MACOS at the stage-1 configuration (iso + side views).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0965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challenges/rodgers3 — packet, per-step prescriptions, regression checks with negative controls.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3: the numbers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Paying the same constraints lands the same design space — then a diagnosis beats the reported result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buildability step: enforcing the reported ≥35 mm clearance lands 113.6 nm at a 34.1 mm floor, against the reported 117 nm — 0.97×, same design space.  The final step, diagnosed then beaten: the gap to the reported 53 nm was the solve-field count, not physics; matching it lands 45.4 nm — 0.86× — at a floor 1.6 mm shy of the stated 35 mm.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An unconstrained solve reads 58.3 nm — with the beam passing through the secondary.  The layout figure caught it; clearance constraints are part of the problem statement.</a:t>
            </a:r>
          </a:p>
        </p:txBody>
      </p:sp>
      <p:pic>
        <p:nvPicPr>
          <p:cNvPr id="5" name="Picture 4" descr="pair_r3t_s4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8773" y="2606040"/>
            <a:ext cx="4991853" cy="24226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5046979"/>
            <a:ext cx="580644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buildability-constrained design: a 34.1 mm clearance floor, traced (iso + side views).</a:t>
            </a:r>
          </a:p>
        </p:txBody>
      </p:sp>
      <p:pic>
        <p:nvPicPr>
          <p:cNvPr id="7" name="Picture 6" descr="r3t_s4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3375" y="2606040"/>
            <a:ext cx="3109808" cy="26969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321300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Its field map: 113.6 nm max over the 20° box.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58698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Metric, stated once for this study: strict RMS WFE, reference sphere on the spot centroid on the frozen focal plane, anchored at the exit pupil, piston-only removal; headline = maximum of a dense 11×11 field map.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From one design to a design family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Warm-started continuation solves what a cold start cannot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cold start fails (596 µm, most field points lose every ray); the walk succeeds: solve an easy 5° box, widen in steps, each warm-started from the last — 10.9 → 21.5 → 27.3 → 40.0 → 69.8 nm at 5/8/11/13/15°, 8531× better than the cold start.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step table is the instrument's field-vs-packaging frontier: every row a finished, checked design; the largest spec-compliant box is 11°×11° at 27.3 nm with a 25.1 mm clearance floor.</a:t>
            </a:r>
          </a:p>
        </p:txBody>
      </p:sp>
      <p:pic>
        <p:nvPicPr>
          <p:cNvPr id="5" name="Picture 4" descr="pair_t5_walk_k05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134" y="2407920"/>
            <a:ext cx="4783130" cy="28798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5306059"/>
            <a:ext cx="580644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15° endpoint of the continuation walk, traced with clearances (iso + side views).</a:t>
            </a:r>
          </a:p>
        </p:txBody>
      </p:sp>
      <p:pic>
        <p:nvPicPr>
          <p:cNvPr id="7" name="Picture 6" descr="t5_walk_k03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14869" y="2407920"/>
            <a:ext cx="3166820" cy="27884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214620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11° step's field map: 27.3 nm max — the largest spec-compliant row.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48030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This frontier is the basis of the live demonstration — next slide.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live demonstration: an adjacent instrument, designed during this talk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Kicked off now, in MATLAB; predicted first, revealed before the closing discussion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ask: name a field-box full width, anywhere in 5–15°, for the same instrument class — 150 mm f/3.3 at the +22.5° offset, same envelope, same clearance rules.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happens: the frontier states the prediction first; one MATLAB call launches a full-freedom solve, warm-started from the nearest committed design below the ask, and it runs while the talk continues (~15 min).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No AI in this loop: the design knowledge is compiled into the driver — this is the "adjacent solutions, without AI assistance" half of the objective, running live.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the reveal shows: the field map, the clearance floor and the exit-direction check, beside the stated prediction.  Every ask is a genuine continuation step, never a re-score of a stored design; a repeat run reproduces every printed digit.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&gt;&gt; oi_demo_step(12)      % the room's width goes here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warm start     : committed walk step 3 (11 x 11 deg)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solve          : S5 full freedom (conics+Zernike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                 +tilt/dec+radii+stop_y)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...  ~15 min ...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DENSE MAP MAX  : 33.6 nm   predicted ~33.7  (1.00x)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clearance floor: 24.9 mm   exit err 0.012 deg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282828"/>
                </a:solidFill>
                <a:latin typeface="Consolas"/>
              </a:rPr>
              <a:t> gates          : exit PASS / clear PASS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335432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rehearsal run's verdict (12° ask), abbreviated verbatim; the live run prints the same block for the room's width.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1: MACOS matches or beats the re-traced CODE V designs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Re-traced designs land 0.991–1.003× of reported; the MACOS solves score 0.97× design vs design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2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34252"/>
                <a:gridCol w="1870804"/>
                <a:gridCol w="2158620"/>
                <a:gridCol w="2446436"/>
                <a:gridCol w="2158620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design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centroid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(chief)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bestfoc + LS tilt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CODE V reported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S2 verbatim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482.8 / 272.0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(672.9 / 390.9)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371.4 / 201.4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374.6 / 200.0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S3 MACOS solve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116.8 / 68.1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(173.4 / 95.1)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86.8 / 50.5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91.6 / 46.4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S3 CODE V re-traced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121.0 / 67.9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(176.7 / 94.7)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91.9 / 50.2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91.6 / 46.4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S4 MACOS solve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65.6 / 36.4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(115.9 / 56.9)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41.2 / 21.9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39.8 / 22.5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S4 CODE V re-traced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67.6 / 36.7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(100.5 / 54.4)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39.8 / 22.1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39.8 / 22.5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124962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metric decoded: the reported map subtracts per-field best focus + least-squares tip/tilt; re-scoring the same traces under that convention (third column) lands the re-traced designs at 0.991× / 1.003× / 1.000× of the reported max.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Design vs design, the reproduction closes: the MACOS solves score 0.97× of the re-traced CODE V designs at both stages; under the reported convention the S3 solve (86.8 nm) beats the reported 91.6.  Conics agree to 1.5×10⁻⁴, rigid-body DOFs land on the same compensation branch, all signs matching.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study returned more than it consumed: two engine defects found and fixed (a silently inert exit-pupil keyword; collimated sources tracing a pupil 5% oversize, hidden for decades), and the joint-solve doctrine — optics + focal-plane pose in one DOF set, never alternating.</a:t>
            </a:r>
          </a:p>
        </p:txBody>
      </p:sp>
      <p:pic>
        <p:nvPicPr>
          <p:cNvPr id="6" name="Picture 5" descr="rodgers1_layout_s4_seq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57308" y="3124962"/>
            <a:ext cx="3481943" cy="20568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5200142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arrived-at configuration: the stage-4 joint solve traced at the offset field.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546582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Box max / avg, nm, at the .seq configuration; centroid reference primary, chief in parentheses.  Full record: design/rodgers1 — packet with 10 addenda, every retraction in place.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2: the 30× afocal telescope, reproduced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Parameters matched to the micron; all four design variants at 0.95–1.02×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Parameters matched: the lens sequences transcribe verbatim with a full audit; the coordinate break lands the cold stop on the traced beam to 2×10⁻⁷ mm (the wrong sign convention misses by 211–247 mm on a 33 mm beam); the computed exit pupil falls 0.8 mm from the stop placed by hand in the source deck.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Performance matched: all four design variants reproduce the reported wavefront numbers at the decoded reference; the reported 28.7× magnification of the frozen-offset variant measures 28.686×.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3200399"/>
          <a:ext cx="5806438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5703"/>
                <a:gridCol w="1080267"/>
                <a:gridCol w="1890468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variant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CODE V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MACOS / CODE V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on-axis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15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offset, frozen design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430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1.01×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offset, re-solved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160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0.95×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offset, tilt/dec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≤ 119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1.02×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rodgers2_layout_parent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3057" y="1298448"/>
            <a:ext cx="3410444" cy="26233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394004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transcribed system traced in MACOS: light enters left, M1 → M2 → M3; the computed exit pupil falls 0.8 mm from the delivered cold stop (detail panel).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437083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source deck reports wavefront error only; its pupil statement — "with 3 mirrors, the pupil quality is not very good" — has no metric.  MACOS defines and measures one: next slide.  Full record: design/rodgers2.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Challenge 2, extended: the pupil measured — and what a fourth mirror buys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Pupil blur 469 → 157 µm; the exchange costs image quality a factor 39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5806438" cy="14001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48380"/>
                <a:gridCol w="967739"/>
                <a:gridCol w="1290319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3 mirrors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+ 4th mirror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pupil blur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469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157 µm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footprint wander on the cold stop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557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161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magnification variation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±3.6%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0.12%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wavefront error — the price paid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119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10.4 µm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2844927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two qualities pull opposite ways: the fourth mirror's power serves the pupil and costs the image — a factor-39 exchange.  Declining the power (a flat fourth mirror) keeps 266 nm and the three-mirror pupil.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trade, packaged: with the last mirror held behind the primary, the solutions split into two families; pupil distances under 220 mm leave no room for an instrument after the fold — 343 mm admits a 464 mm diameter.</a:t>
            </a:r>
          </a:p>
        </p:txBody>
      </p:sp>
      <p:pic>
        <p:nvPicPr>
          <p:cNvPr id="6" name="Picture 5" descr="rodgers2_S1_onaxis_pup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4560" y="4350639"/>
            <a:ext cx="3800278" cy="840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209158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A point of M1 imaged at the pupil: the convergence clouds behind the pupil-blur metric, traced across the field.</a:t>
            </a:r>
          </a:p>
        </p:txBody>
      </p:sp>
      <p:pic>
        <p:nvPicPr>
          <p:cNvPr id="8" name="Picture 7" descr="rodgers2_final_fol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2854" y="1298448"/>
            <a:ext cx="2250851" cy="18740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3190747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constrained design, folded: the instrument volume behind the primary.</a:t>
            </a:r>
          </a:p>
        </p:txBody>
      </p:sp>
      <p:pic>
        <p:nvPicPr>
          <p:cNvPr id="10" name="Picture 9" descr="rodgers2_final_tra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3866" y="3456432"/>
            <a:ext cx="2228827" cy="152603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0" y="500075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Both solution families beside the retracted unconstrained curve; the instrument-diameter column selects the 343 mm point.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543153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"3 mirrors" = the best delivered variant.  Yardsticks: pupil imaging resolves 2.7 µm across the 33 mm pupil, depth of focus ~30 µm — the measured defects sit 50–350× above these floors.  Per-point trade table: the design/rodgers2 record.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 Twyman–Green interferometer for measuring DM surfaces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Phase-shifting with no moving parts: the analyzer angle is the phase step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a Twyman–Green for a DM: normal incidence (double pass, 2× sensitivity), a natural null against the flat reference, the fewest reference surfaces of any two-beam layout.  A Mach–Zehnder buys arm isolation, two ports and transmission testing — dynamics, not figure.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polarization trick: the two arms carry orthogonal polarizations, so they cannot interfere until projected; an output quarter-wave plate makes them opposite circular, and an analyzer at angle θ then writes fringe phase 2θ.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Four analyzer angles — 0 / 45 / 90 / 135° — are the four phase steps of standard PSI, with nothing in the interferometer moving: the vibration immunity of polarization phase shifting.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factor of two: DM surface height h enters the optical path as 2h at normal incidence; the recovery closes against the injected map with exactly that factor.</a:t>
            </a:r>
          </a:p>
        </p:txBody>
      </p:sp>
      <p:pic>
        <p:nvPicPr>
          <p:cNvPr id="5" name="Picture 4" descr="demo_beat6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25179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834690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analyzer sweep on the poked DM: phase-stepped fringe frames — the phase walks, the rig stands still.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26547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Topology ruling and full physics: the template README, templates/90_polarization/tg_psi_dm.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interferometer, built and calibrated in the model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plate rig's 11.7% error, caught and fixed — then designed out by a real MacNeille cube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rig: a polarizing Twyman–Green with a 16×16-actuator deformable mirror as the test optic — polarizers, waveplates, splitter and coatings are engine surfaces, not a Jones model appended after the trace.  Two builds: the v1 plate rig, and a v2 with a real cemented MacNeille cube — one coated 45° interface (engine vs textbook thin-film at 10⁻¹⁰; R+T = 1.000000000000 measured).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v1's catch: splitter diattenuation rotates the test arm 7.5° from orthogonal — the gauge reads 11.7% high while fringe contrast moves 0.17% (a 69× blind spot); fixed by re-clocking one waveplate 3.77°, solved in 5 traces.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v2 designs the error out: each arm rides a coating eigenaxis, where a diattenuator cannot rotate it — and the error budget inverts: a waveplate error now costs visible contrast instead of invisible scale.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4133087"/>
          <a:ext cx="5806438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2286"/>
                <a:gridCol w="1018673"/>
                <a:gridCol w="1935479"/>
              </a:tblGrid>
              <a:tr h="280035">
                <a:tc>
                  <a:txBody>
                    <a:bodyPr wrap="square"/>
                    <a:lstStyle/>
                    <a:p/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plate (v1)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MacNeille cube (v2)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arm rotation from orthogonal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7.479°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5×10⁻⁶ 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PSI scale gain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1.117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0.999999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alignment solve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+3.768°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none needed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delivered power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0.169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0.384 (2.27×)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DM closure residual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0.304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0.183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pair_tg_psi_dm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6696" y="1298448"/>
            <a:ext cx="2463167" cy="14345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27513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rig as built (iso + side): source in from the left, the polarizing splitter at the cross, reference and test arms, shared detector leg.</a:t>
            </a:r>
          </a:p>
        </p:txBody>
      </p:sp>
      <p:pic>
        <p:nvPicPr>
          <p:cNvPr id="8" name="Picture 7" descr="tg_psi_dm_v2_sensitiv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93905" y="3182112"/>
            <a:ext cx="3208749" cy="129743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449783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Who cleans an alignment error: the plate's arm rotation walks with waveplate error; the cube's arms stay put — the error emerges as contrast, not scale.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92861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Records: templates/90_polarization/tg_psi_dm (v1, the rehearsed demo default) + tg_psi_dm_v2; 18 regression checks across the pair.  A PBS converts an invisible systematic into a visible one — a better reason to buy one than throughput.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Live: measuring the deformable mirror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Seven steps, each seconds-fast — 0.30 nm rms residual on 6.35 nm of figure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seven steps, from the MATLAB command line: build the bench in one visible call → layout view → align (solve the waveplate re-clock, 7 traces) → null fringes (the analyzer basis, 6 traces) → poke one actuator live (3 traces) → sweep the analyzer, 36 frames with zero traces → full DM map, four-step PSI, closure.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What to watch: the fringes bend exactly over the poked actuator; the sweep walks the fringes with the rig standing still; the recovered map lands beside the injected truth at 0.304 nm rms interior residual.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Nothing takes long enough to lose a room: the longest step is ~5 s; the 36-frame sweep costs 0.036 s.</a:t>
            </a:r>
          </a:p>
        </p:txBody>
      </p:sp>
      <p:pic>
        <p:nvPicPr>
          <p:cNvPr id="5" name="Picture 4" descr="demo_beat5_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33608" y="1298448"/>
            <a:ext cx="4529342" cy="17368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0535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One actuator poked: the fringes bend over it.</a:t>
            </a:r>
          </a:p>
        </p:txBody>
      </p:sp>
      <p:pic>
        <p:nvPicPr>
          <p:cNvPr id="7" name="Picture 6" descr="tg_psi_dm_recove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3319272"/>
            <a:ext cx="5394960" cy="14538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791410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recovery beside the injected truth map.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057094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Timings measured, in the template README; every step has a pre-rendered backup image — a live hang costs ten seconds, not the demonstration.  Either rig runs the same seven steps (whole-demo v1 49.8 s, v2 47.0 s) — the rig choice is the presenter's.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 coronagraph testbed, end to end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Six mask families from the literature, scored on one footing — validated against PROPER station by station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full testbed model — off-axis parabolas, focal-plane masks, Lyot stop, two 32×32-actuator deformable mirrors — every mask generated at 8× sub-pixel resolution and binned to the model grid.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Validated externally: a pure-PROPER run reads only the exported planes — no macos anywhere — and reproduces the bare image at correlation 1.000000, forming the same dark zone.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11480" y="2804160"/>
          <a:ext cx="5806438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77108"/>
                <a:gridCol w="1533776"/>
                <a:gridCol w="1095554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mask (static, no control)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dark-zone mean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throughput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apodized-pupil Lyot (prolate)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2.1×10⁻¹⁰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vortex, matched Lyot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1.4×10⁻⁸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band-limited (4th order)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2.7×10⁻⁸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36%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hard occulter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2.5×10⁻⁷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25%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Roddier π-mask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2.4×10⁻⁶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81%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6" name="Picture 5" descr="ctb_train_ren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91737" y="1298448"/>
            <a:ext cx="2413084" cy="10688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23855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bench: the real-ray layout of the full model — source, DMs, OAP relays, apodizer, focal-plane mask, Lyot stop, camera.</a:t>
            </a:r>
          </a:p>
        </p:txBody>
      </p:sp>
      <p:pic>
        <p:nvPicPr>
          <p:cNvPr id="8" name="Picture 7" descr="ctb_mask_comp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4555" y="2816352"/>
            <a:ext cx="3647449" cy="195529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4789932"/>
            <a:ext cx="5394960" cy="5593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Contrast against throughput for the mask families, static — lower-right is better: the apodized-pupil Lyot deepest, the pixel-averaged vortex second at three times its throughput.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538581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Dark zone 3–15 λ/D, one grid, one normalization throughout; every mask formula taken from its source paper.  Record: templates/30_instruments/bench_ctb.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vortex against the Lyot stop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Charge 4 under-runs every fixed design at every throughput: 8.8×10⁻¹¹ at the band-limited mask's own 36%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mask, one dial: the vortex phase is fixed; only the Lyot stop fraction moves — a genuine depth-for-throughput dial, where each fixed design is a single point.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Readings from the curve: at the apodized-pupil Lyot's operating point, charge 4 is deeper (8.8×10⁻¹¹ vs 2.1×10⁻¹⁰) at more throughput (36% vs 27%) — with no apodizer to fabricate.  At 81% throughput it still holds 8.0×10⁻⁹.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Charge 4 runs ~4× deeper than charge 6 at every stop; the useful dial range is 0.50–0.90 — past 0.90 the rejected-starlight ring arrives inside the stop.</a:t>
            </a:r>
          </a:p>
        </p:txBody>
      </p:sp>
      <p:pic>
        <p:nvPicPr>
          <p:cNvPr id="5" name="Picture 4" descr="ctb_vortex_lyot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9575" y="1298448"/>
            <a:ext cx="4037408" cy="28061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12292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Dark-zone mean contrast against throughput: the swept charge-4 vortex (labels = Lyot fraction) against the fixed designs, on the same footing.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55371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Same grid, annulus and normalization as the head-to-head; fixed-design markers read from the committed comparison, not re-scored.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mirrors close the loop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 the vortex chain: 1.7×10⁻⁸ → 6.8×10⁻¹⁵ — nothing left that the mirrors cannot remove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control matrix is measured, not modeled: every actuator poked and propagated through the full masked chain, so the correction solve has no model error to exploit; each iteration re-propagates and scores the measured contrast.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chains, two kinds of floor: the hard occulter stops at 3.8×10⁻⁹ — physics, occulter-edge diffraction the mirrors cannot represent; the charge-4 vortex chain reaches 6.8×10⁻¹⁵ at half-nanometer strokes — the model's own double-precision floor.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physics layers, measured: the coated train's polarization floor rides flat at 1.1×10⁻¹⁵ at every bandwidth (a state change, not an aberration); the chromatic floor grows gently when control sampling matches the band — 8×10⁻¹³ mono to 5.4×10⁻¹¹ at a 20% band.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vector-vortex verdict: the zero-order plate's retardance leak is uncorrectable by any mirror but optically removable — a circular polarizer sandwich returns to the scalar floor under per-λ control; a crossed-linear sandwich goes decades deeper on the star, at the price of eight planet blind spots.</a:t>
            </a:r>
          </a:p>
        </p:txBody>
      </p:sp>
      <p:pic>
        <p:nvPicPr>
          <p:cNvPr id="5" name="Picture 4" descr="ctb_efc_vorte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298448"/>
            <a:ext cx="5394960" cy="120566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252239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vortex-chain dark hole: before and after (color floor 10⁻¹⁴), convergence, and the sub-nanometer command maps.</a:t>
            </a:r>
          </a:p>
        </p:txBody>
      </p:sp>
      <p:pic>
        <p:nvPicPr>
          <p:cNvPr id="7" name="Picture 6" descr="ctb_vortex_bandwidt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1995" y="2953182"/>
            <a:ext cx="2172568" cy="16174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58894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bandwidth map: static, closed-loop floor, and the flat polarization floor at each band.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01972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6.8×10⁻¹⁵ = dark-zone mean 3–15 λ/D, Strehl-normalized, monochromatic, noiseless sensing — the numerical floor of the noiseless model, not a hardware prediction.  Next layer of realism: camera-based sensing (pairwise probing), then FALCO driving the same DMs.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From the testbed to an observatory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proven coronagraph modeling, carried onto a telescope designed for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testbed is where the models are built and proven; the same modeling then builds the flight-like system: an unobscured 6 m telescope from the design-layer templates — imaging leg and coronagraph leg, with the same DMs, apodizer, focal-plane mask and Lyot machinery — packaged to an 8 m launch shroud, drawn and checked.</a:t>
            </a:r>
          </a:p>
        </p:txBody>
      </p:sp>
      <p:pic>
        <p:nvPicPr>
          <p:cNvPr id="5" name="Picture 4" descr="r2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8979" y="2069591"/>
            <a:ext cx="3971440" cy="13431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3431032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light order, both instruments: the shared trunk, the deployable-pick-off imager leg, and the DM-bearing coronagraph leg.</a:t>
            </a:r>
          </a:p>
        </p:txBody>
      </p:sp>
      <p:pic>
        <p:nvPicPr>
          <p:cNvPr id="7" name="Picture 6" descr="r1_seg_d110_shrou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6686" y="2069591"/>
            <a:ext cx="3123186" cy="22575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345431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End-on in the shroud: the hex-19 telescope and instrument legs — hardware union 7.451 m against the 8.0 m gate.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477621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telescope is one of the design-layer templates, diffraction-limited at 500 nm (imaging-leg Strehl 0.9993).  Record: templates/80_end_to_end/e2e6m_r2.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Segmentation, metrology, controls — on the observatory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same segmentation and metrology machinery the smaller studies proved, at 6 m scale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primary segments hex-19 with physical apertures through the same segmentation product; every segment gets rigid-body and surface-figure sensitivity channels, stacked into one Jacobian — the control basis.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Metrology and edge sensors are designed ON that Jacobian — 114 beams from the launcher stations shown — and the same matrices drive the estimator and the closed loop.</a:t>
            </a:r>
          </a:p>
        </p:txBody>
      </p:sp>
      <p:pic>
        <p:nvPicPr>
          <p:cNvPr id="5" name="Picture 4" descr="r3_met_view_r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79124" y="1298448"/>
            <a:ext cx="3038311" cy="19832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9996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metrology on the observatory: 24 elements, 114 MET beams to the aft launcher station.</a:t>
            </a:r>
          </a:p>
        </p:txBody>
      </p:sp>
      <p:pic>
        <p:nvPicPr>
          <p:cNvPr id="7" name="Picture 6" descr="r3_dwdx_channe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14811" y="3730752"/>
            <a:ext cx="1566937" cy="15539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303012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Per-segment wavefront sensitivity channels — the control basis.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56869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templates/80_end_to_end/e2e6m_r2, sensitivities + MET stages.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 randomly disturbed observatory, simulated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closed loop holds dark-zone contrast at 2.5×10⁻⁷ where the uncontrolled series drifts to 1.7×10⁻⁶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Random segment drift is injected; the rigid-body loop senses through the designed metrology, estimates and corrects, while EFC re-solves the dark zone per scored frame — all on one model.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disturbance interface is the point: the same channels are built to ingest dynamical- and thermal-model time histories — simulating performance in the space environment.  Work in progress.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Honest gap, attributed: the segmented-pupil contrast floor sits above the clear-pupil testbed's — the gaps and edges carry it, not the control.</a:t>
            </a:r>
          </a:p>
        </p:txBody>
      </p:sp>
      <p:pic>
        <p:nvPicPr>
          <p:cNvPr id="5" name="Picture 4" descr="r4_series_3n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880" y="1298448"/>
            <a:ext cx="3016798" cy="289763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4214367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Four hundred seconds under drift: segment rigid-body state, wavefront at the coronagraph exit pupil, and science-plane contrast — open loop against closed.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464515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templates/80_end_to_end/e2e6m_r2, time-series stage.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live design, revealed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Predicted from the frontier before solving; solved in one warm-started step while we talked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ask: a field-box width, anywhere in 5–15°.  The prediction, stated before the solve: interpolated from the committed frontier rows.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pre-run rehearsal of the default ask (12°): predicted 33.7 nm; solved 33.6 nm — 1.00× — at a 24.9 mm clearance floor, both checks pass, in 15 minutes.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run is deterministic to every printed digit, and every ask is a genuine continuation step — never a re-score of a stored design.</a:t>
            </a:r>
          </a:p>
        </p:txBody>
      </p:sp>
      <p:pic>
        <p:nvPicPr>
          <p:cNvPr id="5" name="Picture 4" descr="oi_demo_12deg_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0103" y="1298448"/>
            <a:ext cx="2196352" cy="18917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08528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12° rehearsal design and its field map: 33.6 nm max against a 33.7 nm prediction.</a:t>
            </a:r>
          </a:p>
        </p:txBody>
      </p:sp>
      <p:pic>
        <p:nvPicPr>
          <p:cNvPr id="7" name="Picture 6" descr="oi_demo_12deg_m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51092" y="3639312"/>
            <a:ext cx="2294375" cy="2011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650992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On demo day the live run's figures replace these panels; this pre-generated bundle is the fallback if the room's ask matches nothing better.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AI in design and analysis — the working questions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What we ask of an AI-driven study before believing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How is a result verified when the designer is a machine?  Here: regression checks with negative controls, layout figures read against every claim, and corrected signed measures — the checks caught the errors shown today.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Where does the human rule?  Constraint choices, metric definitions, and every outward claim carry a human sign-off; the AI proposes, the record decides.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Is it reproducible?  Every number in this deck rebuilds from committed scripts and committed records — including the design solved during this talk.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944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These are offered as discussion questions, not settled doctrine.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Summary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engine, validated; a toolbox that designs; an AI that drives it — all public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 validated engine behind four language surfaces; a MATLAB design layer that took three CODE V benchmark studies from reproduction to extension.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Two things happened live: a telescope designed to the audience's field specification in one warm-started step, and a polarization interferometer measuring a deformable mirror to 0.30 nm.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code is public: github.com/nasa-jpl/macos.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54812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Contact and records: all studies cited are committed with packets and regression checks.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Backup Slides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914400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What MACOS does today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System-level modeling from design through control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Applications: error budgeting, integrated observatory simulation, wavefront sensing and control for segmented telescopes, coronagraph testbeds and instruments.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linear-model workflow: w = J·x + w₀ — wavefront sensitivity channels per element, per segment, per surface mode; stacked over fields and configurations; element groups move as one.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From model to control: the same sensitivity matrices drive metrology design, estimator synthesis, and closed-loop simulation — one model, one bookkeeping, design to control.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94436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Every capability shown today is in the committed test suites; validation anchors: next slide.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MATLAB toolbox and the design layer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Design → segmentation → sensitivities → metrology → simulation, each one call — fully public-domain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Drivers: telescope/bench design builders, sensitivity supervisors (rigid-body, alignment, surface-grid), metrology placement, model-vs-model comparison, closed-loop simulators, study orchestrators.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One-call reconstructible studies: every figure in this deck rebuilds from a committed script and committed records.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0" y="1298448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Utilities: trace, wavefront, perturb, pupil find; layout and ray-bundle viewers; Jones pupils, polarization elements; segment grid bases and grid file IO; multi-wavelength composition; spot, intensity, complex field.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Why a design layer: the whole stack is public-domain — a design study needs no proprietary prescription to start from.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804160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The two live demonstrations exercised exactly these layers: the bench builder and a design-family driver.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Validation anchors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trust base, by physics domain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4" cy="1680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15176"/>
                <a:gridCol w="3343745"/>
                <a:gridCol w="6209813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domain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reference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agreement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geometric ray trace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CODE V comparison suite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6,601 tests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physical optics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PROPER propagation library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10⁻¹¹–10⁻¹³ well-sampled; 10⁻⁸–10⁻⁵ sampling-limited / post-focus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Born &amp; Wolf / Abelès closed forms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10⁻¹²–10⁻¹⁴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polarization, lab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published protected-Al Mueller data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~10⁻¹⁴ vs the model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build integrity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two compilers, one tree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bit-identical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312496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non-vacuity rule: every regression check is shown to fail against the pre-fix engine before it counts as protection.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499866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Suites run per commit; counts as of 2026-08.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adjacent-design rehearsal bundle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Three widths, pre-run end to end at the demo settings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298448"/>
          <a:ext cx="11368733" cy="11201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0861"/>
                <a:gridCol w="1601230"/>
                <a:gridCol w="1441107"/>
                <a:gridCol w="2401845"/>
                <a:gridCol w="2401845"/>
                <a:gridCol w="960738"/>
                <a:gridCol w="1441107"/>
              </a:tblGrid>
              <a:tr h="280035"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ask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warm start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predicted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solved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clearance floor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checks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wall time</a:t>
                      </a:r>
                    </a:p>
                  </a:txBody>
                  <a:tcPr marL="54864" marR="54864" marT="18288" marB="18288">
                    <a:solidFill>
                      <a:srgbClr val="1F4E79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7°×7°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5° step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18.0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20.0 nm (1.11×)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93.8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12°×12°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11° step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33.7 nm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33.6 nm (1.00×)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24.9 mm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</a:p>
                  </a:txBody>
                  <a:tcPr marL="54864" marR="54864" marT="18288" marB="18288">
                    <a:solidFill>
                      <a:srgbClr val="ECF1F6"/>
                    </a:solidFill>
                  </a:tcPr>
                </a:tc>
              </a:tr>
              <a:tr h="280035"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14°×14°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13° step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54.9 nm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51.2 nm (0.93×)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24.9 mm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pass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100" b="0">
                          <a:solidFill>
                            <a:srgbClr val="282828"/>
                          </a:solidFill>
                          <a:latin typeface="Arial"/>
                        </a:rPr>
                        <a:t>15.2 min</a:t>
                      </a:r>
                    </a:p>
                  </a:txBody>
                  <a:tcPr marL="54864" marR="54864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11480" y="256489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repeat 12° run reproduces the bundle to every printed digit — the demonstration is deterministic.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Wide asks pass: the committed frontier line understates the envelope (its widest rows stopped early on a wavefront-only criterion while the clearance penalty was still improving).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3476244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Bundle: templates/10_telescopes/offset_imager/demo_adjacent — figures, verdict text, prescriptions, run records.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Interferometer demonstration backups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One pre-rendered image per live step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emo_beat5_pok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71562" y="1298448"/>
            <a:ext cx="4648570" cy="17825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11480" y="309930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Step 5 — one actuator poked: the fringes bend over it.</a:t>
            </a:r>
          </a:p>
        </p:txBody>
      </p:sp>
      <p:pic>
        <p:nvPicPr>
          <p:cNvPr id="6" name="Picture 5" descr="demo_beat6_swee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86181" y="3364992"/>
            <a:ext cx="3819331" cy="17825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5165852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Step 6 — the analyzer sweep: four phase-stepped frames, no re-trace.</a:t>
            </a:r>
          </a:p>
        </p:txBody>
      </p:sp>
      <p:pic>
        <p:nvPicPr>
          <p:cNvPr id="8" name="Picture 7" descr="demo_beat7_recovery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79653" y="5431536"/>
            <a:ext cx="3832387" cy="103276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11480" y="6482588"/>
            <a:ext cx="11368735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Step 7 — the recovery beside the truth map.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6748272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All seven steps have backups in templates/90_polarization/tg_psi_dm.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e2e worked example: specification to design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A 4 m f/18 visible-band telescope from a closed-form seed — no starting prescription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stage-runner sequence on the smaller worked example: specification → design → segmentation → metrology → comparison → simulation, each stage a committed runner handing its prescription to the next.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A 4 m f/18 telescope (f/1.75 primary) from a closed-form first-order seed; diffraction-limited over ±1′ alone, and the Offner ring-field relay buys the full ±2′ (Strehl floor 0.965, on pure spheres).</a:t>
            </a:r>
          </a:p>
        </p:txBody>
      </p:sp>
      <p:pic>
        <p:nvPicPr>
          <p:cNvPr id="5" name="Picture 4" descr="rowpair_s1_vie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8659" y="1298448"/>
            <a:ext cx="4719240" cy="205689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37362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telescope as designed (front + iso views), with the traced field.</a:t>
            </a:r>
          </a:p>
        </p:txBody>
      </p:sp>
      <p:pic>
        <p:nvPicPr>
          <p:cNvPr id="7" name="Picture 6" descr="s1_wfe_fie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93860" y="3639312"/>
            <a:ext cx="2208839" cy="17825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440171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Wavefront error over the field: diffraction-limited across the box.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70585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 — staged worked example, committed at every step.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e2e worked example: segmentation and metrology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The monolith segments in one call; the metrology is designed on the same Jacobian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5806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The primary segments into a pie or hex tiling with physical apertures; every segment gets rigid-body and surface-figure sensitivity channels, stacked into one Jacobian — the control basis.</a:t>
            </a:r>
          </a:p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Metrology is an optimization on that basis: edge-sensor and beam-launcher layouts scored by the control information they carry, not by symmetry; the winning pattern exports as a reusable preset.</a:t>
            </a:r>
          </a:p>
        </p:txBody>
      </p:sp>
      <p:pic>
        <p:nvPicPr>
          <p:cNvPr id="5" name="Picture 4" descr="rowpair_s3_views_pi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8167" y="1298448"/>
            <a:ext cx="4960224" cy="196545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3282188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segmented primary with physical apertures (front + iso views).</a:t>
            </a:r>
          </a:p>
        </p:txBody>
      </p:sp>
      <p:pic>
        <p:nvPicPr>
          <p:cNvPr id="7" name="Picture 6" descr="e2e_pie_met_view_r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896" y="3547872"/>
            <a:ext cx="2870767" cy="18740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5440171"/>
            <a:ext cx="5394960" cy="229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optimized metrology layout on the segmented primary.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705855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templates/80_end_to_end/e2e, stages 3–5.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1136873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400" b="1">
                <a:solidFill>
                  <a:srgbClr val="1F4E79"/>
                </a:solidFill>
                <a:latin typeface="Arial"/>
              </a:rPr>
              <a:t>The e2e worked example: comparison and simulation</a:t>
            </a:r>
          </a:p>
          <a:p>
            <a:pPr>
              <a:spcAft>
                <a:spcPts val="0"/>
              </a:spcAft>
            </a:pPr>
            <a:r>
              <a:rPr sz="1250" b="0">
                <a:solidFill>
                  <a:srgbClr val="6E6E6E"/>
                </a:solidFill>
                <a:latin typeface="Arial"/>
              </a:rPr>
              <a:t>Segment drift of 10⁵ nm rms is sensed and held at ~7 nm corrected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68735" cy="20320"/>
          </a:xfrm>
          <a:prstGeom prst="rect">
            <a:avLst/>
          </a:prstGeom>
          <a:solidFill>
            <a:srgbClr val="B8C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298448"/>
            <a:ext cx="11368735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282828"/>
                </a:solidFill>
                <a:latin typeface="Arial"/>
              </a:rPr>
              <a:t>•  Every linear model is checked against the engine before it is trusted: step each channel, re-trace, render engine and model side by side (left).  Then the simulator closes the loop on the same model: inject drift, sense with the designed metrology, estimate, correct (right).</a:t>
            </a:r>
          </a:p>
        </p:txBody>
      </p:sp>
      <p:pic>
        <p:nvPicPr>
          <p:cNvPr id="5" name="Picture 4" descr="e2e_compare_p0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6756" y="1871472"/>
            <a:ext cx="3695887" cy="271475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11480" y="4604512"/>
            <a:ext cx="580644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comparison stage: engine re-trace vs linear model, one perturbation channel (segment 1 Rx, +100 nrad).</a:t>
            </a:r>
          </a:p>
        </p:txBody>
      </p:sp>
      <p:pic>
        <p:nvPicPr>
          <p:cNvPr id="7" name="Picture 6" descr="e2e_sim_t0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520" y="1871472"/>
            <a:ext cx="4627519" cy="271475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0" y="4604512"/>
            <a:ext cx="5394960" cy="3942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000" b="0">
                <a:solidFill>
                  <a:srgbClr val="6E6E6E"/>
                </a:solidFill>
                <a:latin typeface="Arial"/>
              </a:rPr>
              <a:t>The simulator at t = 70 s: uncorrected 1.0×10⁵ nm vs 6.8 nm corrected; accumulating WFE and Strehl vs time below.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5035296"/>
            <a:ext cx="5394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6E6E6E"/>
                </a:solidFill>
                <a:latin typeface="Arial"/>
              </a:rPr>
              <a:t>Record: templates/80_end_to_end/e2e, comparison + simulator stages (s6/s7).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