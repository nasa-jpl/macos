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2268169" y="4793488"/>
            <a:ext cx="7655356" cy="1670811"/>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2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2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2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2804160"/>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891737" y="1298448"/>
            <a:ext cx="2413084" cy="1068832"/>
          </a:xfrm>
          <a:prstGeom prst="rect">
            <a:avLst/>
          </a:prstGeom>
        </p:spPr>
      </p:pic>
      <p:sp>
        <p:nvSpPr>
          <p:cNvPr id="7" name="TextBox 6"/>
          <p:cNvSpPr txBox="1"/>
          <p:nvPr/>
        </p:nvSpPr>
        <p:spPr>
          <a:xfrm>
            <a:off x="6400800" y="23855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7274555" y="2816352"/>
            <a:ext cx="3647449" cy="1955292"/>
          </a:xfrm>
          <a:prstGeom prst="rect">
            <a:avLst/>
          </a:prstGeom>
        </p:spPr>
      </p:pic>
      <p:sp>
        <p:nvSpPr>
          <p:cNvPr id="9" name="TextBox 8"/>
          <p:cNvSpPr txBox="1"/>
          <p:nvPr/>
        </p:nvSpPr>
        <p:spPr>
          <a:xfrm>
            <a:off x="6400800" y="4789932"/>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53858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2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2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7079575" y="1298448"/>
            <a:ext cx="4037408" cy="2806192"/>
          </a:xfrm>
          <a:prstGeom prst="rect">
            <a:avLst/>
          </a:prstGeom>
        </p:spPr>
      </p:pic>
      <p:sp>
        <p:nvSpPr>
          <p:cNvPr id="6" name="TextBox 5"/>
          <p:cNvSpPr txBox="1"/>
          <p:nvPr/>
        </p:nvSpPr>
        <p:spPr>
          <a:xfrm>
            <a:off x="6400800" y="4122927"/>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4553712"/>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2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2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2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6400800" y="1298448"/>
            <a:ext cx="5394960" cy="1205662"/>
          </a:xfrm>
          <a:prstGeom prst="rect">
            <a:avLst/>
          </a:prstGeom>
        </p:spPr>
      </p:pic>
      <p:sp>
        <p:nvSpPr>
          <p:cNvPr id="6" name="TextBox 5"/>
          <p:cNvSpPr txBox="1"/>
          <p:nvPr/>
        </p:nvSpPr>
        <p:spPr>
          <a:xfrm>
            <a:off x="6400800" y="2522398"/>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sub-nanometer command maps.</a:t>
            </a:r>
          </a:p>
        </p:txBody>
      </p:sp>
      <p:pic>
        <p:nvPicPr>
          <p:cNvPr id="7" name="Picture 6" descr="ctb_vortex_bandwidth.png"/>
          <p:cNvPicPr>
            <a:picLocks noChangeAspect="1"/>
          </p:cNvPicPr>
          <p:nvPr/>
        </p:nvPicPr>
        <p:blipFill>
          <a:blip r:embed="rId3"/>
          <a:stretch>
            <a:fillRect/>
          </a:stretch>
        </p:blipFill>
        <p:spPr>
          <a:xfrm>
            <a:off x="8011995" y="2953182"/>
            <a:ext cx="2172568" cy="1617472"/>
          </a:xfrm>
          <a:prstGeom prst="rect">
            <a:avLst/>
          </a:prstGeom>
        </p:spPr>
      </p:pic>
      <p:sp>
        <p:nvSpPr>
          <p:cNvPr id="8" name="TextBox 7"/>
          <p:cNvSpPr txBox="1"/>
          <p:nvPr/>
        </p:nvSpPr>
        <p:spPr>
          <a:xfrm>
            <a:off x="6400800" y="4588942"/>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6400800" y="5019726"/>
            <a:ext cx="5394960"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packaged to an 8 m launch shroud, drawn and checked.</a:t>
            </a:r>
          </a:p>
        </p:txBody>
      </p:sp>
      <p:pic>
        <p:nvPicPr>
          <p:cNvPr id="5" name="Picture 4" descr="crop_r2_train_iso.png"/>
          <p:cNvPicPr>
            <a:picLocks noChangeAspect="1"/>
          </p:cNvPicPr>
          <p:nvPr/>
        </p:nvPicPr>
        <p:blipFill>
          <a:blip r:embed="rId2"/>
          <a:stretch>
            <a:fillRect/>
          </a:stretch>
        </p:blipFill>
        <p:spPr>
          <a:xfrm>
            <a:off x="859353" y="2218182"/>
            <a:ext cx="4910692" cy="3537712"/>
          </a:xfrm>
          <a:prstGeom prst="rect">
            <a:avLst/>
          </a:prstGeom>
        </p:spPr>
      </p:pic>
      <p:sp>
        <p:nvSpPr>
          <p:cNvPr id="6" name="TextBox 5"/>
          <p:cNvSpPr txBox="1"/>
          <p:nvPr/>
        </p:nvSpPr>
        <p:spPr>
          <a:xfrm>
            <a:off x="411480" y="5774181"/>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pic>
        <p:nvPicPr>
          <p:cNvPr id="7" name="Picture 6" descr="r1_seg_d110_shroud.png"/>
          <p:cNvPicPr>
            <a:picLocks noChangeAspect="1"/>
          </p:cNvPicPr>
          <p:nvPr/>
        </p:nvPicPr>
        <p:blipFill>
          <a:blip r:embed="rId3"/>
          <a:stretch>
            <a:fillRect/>
          </a:stretch>
        </p:blipFill>
        <p:spPr>
          <a:xfrm>
            <a:off x="7030679" y="2218182"/>
            <a:ext cx="4135200" cy="2989072"/>
          </a:xfrm>
          <a:prstGeom prst="rect">
            <a:avLst/>
          </a:prstGeom>
        </p:spPr>
      </p:pic>
      <p:sp>
        <p:nvSpPr>
          <p:cNvPr id="8" name="TextBox 7"/>
          <p:cNvSpPr txBox="1"/>
          <p:nvPr/>
        </p:nvSpPr>
        <p:spPr>
          <a:xfrm>
            <a:off x="6400800" y="5225542"/>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
        <p:nvSpPr>
          <p:cNvPr id="9" name="TextBox 8"/>
          <p:cNvSpPr txBox="1"/>
          <p:nvPr/>
        </p:nvSpPr>
        <p:spPr>
          <a:xfrm>
            <a:off x="6400800" y="5656326"/>
            <a:ext cx="5394960" cy="274320"/>
          </a:xfrm>
          <a:prstGeom prst="rect">
            <a:avLst/>
          </a:prstGeom>
          <a:noFill/>
        </p:spPr>
        <p:txBody>
          <a:bodyPr wrap="square">
            <a:spAutoFit/>
          </a:bodyPr>
          <a:lstStyle/>
          <a:p>
            <a:pPr>
              <a:spcAft>
                <a:spcPts val="600"/>
              </a:spcAft>
            </a:pPr>
            <a:r>
              <a:rPr sz="1050" b="0">
                <a:solidFill>
                  <a:srgbClr val="6E6E6E"/>
                </a:solidFill>
                <a:latin typeface="Arial"/>
              </a:rPr>
              <a:t>The telescope is one of the design-layer templates, diffraction-limited at 500 nm (imaging-leg Strehl 0.9993); the two-leg light-order chart is in the record.  Record: templates/80_end_to_end/e2e6m_r2.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p:txBody>
      </p:sp>
      <p:pic>
        <p:nvPicPr>
          <p:cNvPr id="5" name="Picture 4" descr="r3_met_view_rx.png"/>
          <p:cNvPicPr>
            <a:picLocks noChangeAspect="1"/>
          </p:cNvPicPr>
          <p:nvPr/>
        </p:nvPicPr>
        <p:blipFill>
          <a:blip r:embed="rId2"/>
          <a:stretch>
            <a:fillRect/>
          </a:stretch>
        </p:blipFill>
        <p:spPr>
          <a:xfrm>
            <a:off x="511032" y="2804160"/>
            <a:ext cx="5607334" cy="3660140"/>
          </a:xfrm>
          <a:prstGeom prst="rect">
            <a:avLst/>
          </a:prstGeom>
        </p:spPr>
      </p:pic>
      <p:sp>
        <p:nvSpPr>
          <p:cNvPr id="6" name="TextBox 5"/>
          <p:cNvSpPr txBox="1"/>
          <p:nvPr/>
        </p:nvSpPr>
        <p:spPr>
          <a:xfrm>
            <a:off x="411480" y="6482588"/>
            <a:ext cx="5806440" cy="229107"/>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pic>
        <p:nvPicPr>
          <p:cNvPr id="7" name="Picture 6" descr="r3_dwdx_channels.png"/>
          <p:cNvPicPr>
            <a:picLocks noChangeAspect="1"/>
          </p:cNvPicPr>
          <p:nvPr/>
        </p:nvPicPr>
        <p:blipFill>
          <a:blip r:embed="rId3"/>
          <a:stretch>
            <a:fillRect/>
          </a:stretch>
        </p:blipFill>
        <p:spPr>
          <a:xfrm>
            <a:off x="6908717" y="1298448"/>
            <a:ext cx="4379125" cy="4342892"/>
          </a:xfrm>
          <a:prstGeom prst="rect">
            <a:avLst/>
          </a:prstGeom>
        </p:spPr>
      </p:pic>
      <p:sp>
        <p:nvSpPr>
          <p:cNvPr id="8" name="TextBox 7"/>
          <p:cNvSpPr txBox="1"/>
          <p:nvPr/>
        </p:nvSpPr>
        <p:spPr>
          <a:xfrm>
            <a:off x="6400800" y="5659627"/>
            <a:ext cx="5394960" cy="229107"/>
          </a:xfrm>
          <a:prstGeom prst="rect">
            <a:avLst/>
          </a:prstGeom>
          <a:noFill/>
        </p:spPr>
        <p:txBody>
          <a:bodyPr wrap="square">
            <a:spAutoFit/>
          </a:bodyPr>
          <a:lstStyle/>
          <a:p>
            <a:pPr algn="ctr">
              <a:spcAft>
                <a:spcPts val="0"/>
              </a:spcAft>
            </a:pPr>
            <a:r>
              <a:rPr sz="1000" b="0">
                <a:solidFill>
                  <a:srgbClr val="6E6E6E"/>
                </a:solidFill>
                <a:latin typeface="Arial"/>
              </a:rPr>
              <a:t>Per-segment wavefront sensitivity channels — the control basis.</a:t>
            </a:r>
          </a:p>
        </p:txBody>
      </p:sp>
      <p:sp>
        <p:nvSpPr>
          <p:cNvPr id="9" name="TextBox 8"/>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