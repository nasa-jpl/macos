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1 September 2026.  Prepared for the Keysight CODE V team.  DRAFT — pending source sign-off.</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many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flight data across those programs.</a:t>
            </a:r>
          </a:p>
          <a:p>
            <a:pPr>
              <a:spcAft>
                <a:spcPts val="600"/>
              </a:spcAft>
            </a:pPr>
            <a:r>
              <a:rPr sz="1500" b="0">
                <a:solidFill>
                  <a:srgbClr val="282828"/>
                </a:solidFill>
                <a:latin typeface="Arial"/>
              </a:rPr>
              <a:t>•  We are now modernizing and extending the capabilities of our modeling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411480" y="5596128"/>
            <a:ext cx="11368735"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  Rebuild the figure: make_mmacos_fig.py.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matches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2734252"/>
                <a:gridCol w="1870804"/>
                <a:gridCol w="2158620"/>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centroid</a:t>
                      </a:r>
                    </a:p>
                  </a:txBody>
                  <a:tcPr marL="54864" marR="54864" marT="18288" marB="18288">
                    <a:solidFill>
                      <a:srgbClr val="1F4E79"/>
                    </a:solidFill>
                  </a:tcPr>
                </a:tc>
                <a:tc>
                  <a:txBody>
                    <a:bodyPr wrap="square"/>
                    <a:lstStyle/>
                    <a:p>
                      <a:r>
                        <a:rPr sz="1100" b="1">
                          <a:solidFill>
                            <a:srgbClr val="FFFFFF"/>
                          </a:solidFill>
                          <a:latin typeface="Arial"/>
                        </a:rPr>
                        <a:t>(chief)</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(672.9 / 390.9)</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(173.4 / 95.1)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(176.7 / 94.7)</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(115.9 / 56.9)</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(100.5 / 54.4)</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centroid reference primary, chief in parentheses.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2268169" y="4793488"/>
            <a:ext cx="7655356" cy="1670811"/>
          </a:xfrm>
          <a:prstGeom prst="rect">
            <a:avLst/>
          </a:prstGeom>
        </p:spPr>
      </p:pic>
      <p:sp>
        <p:nvSpPr>
          <p:cNvPr id="8" name="TextBox 7"/>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2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2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133087"/>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7561919" y="1298448"/>
            <a:ext cx="3072721" cy="1434592"/>
          </a:xfrm>
          <a:prstGeom prst="rect">
            <a:avLst/>
          </a:prstGeom>
        </p:spPr>
      </p:pic>
      <p:sp>
        <p:nvSpPr>
          <p:cNvPr id="7" name="TextBox 6"/>
          <p:cNvSpPr txBox="1"/>
          <p:nvPr/>
        </p:nvSpPr>
        <p:spPr>
          <a:xfrm>
            <a:off x="6400800" y="27513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7493905" y="3182112"/>
            <a:ext cx="3208749" cy="1297432"/>
          </a:xfrm>
          <a:prstGeom prst="rect">
            <a:avLst/>
          </a:prstGeom>
        </p:spPr>
      </p:pic>
      <p:sp>
        <p:nvSpPr>
          <p:cNvPr id="9" name="TextBox 8"/>
          <p:cNvSpPr txBox="1"/>
          <p:nvPr/>
        </p:nvSpPr>
        <p:spPr>
          <a:xfrm>
            <a:off x="6400800" y="4497832"/>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492861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2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2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2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2804160"/>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891737" y="1298448"/>
            <a:ext cx="2413084" cy="1068832"/>
          </a:xfrm>
          <a:prstGeom prst="rect">
            <a:avLst/>
          </a:prstGeom>
        </p:spPr>
      </p:pic>
      <p:sp>
        <p:nvSpPr>
          <p:cNvPr id="7" name="TextBox 6"/>
          <p:cNvSpPr txBox="1"/>
          <p:nvPr/>
        </p:nvSpPr>
        <p:spPr>
          <a:xfrm>
            <a:off x="6400800" y="23855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7274555" y="2816352"/>
            <a:ext cx="3647449" cy="1955292"/>
          </a:xfrm>
          <a:prstGeom prst="rect">
            <a:avLst/>
          </a:prstGeom>
        </p:spPr>
      </p:pic>
      <p:sp>
        <p:nvSpPr>
          <p:cNvPr id="9" name="TextBox 8"/>
          <p:cNvSpPr txBox="1"/>
          <p:nvPr/>
        </p:nvSpPr>
        <p:spPr>
          <a:xfrm>
            <a:off x="6400800" y="4789932"/>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53858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2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2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7079575" y="1298448"/>
            <a:ext cx="4037408" cy="2806192"/>
          </a:xfrm>
          <a:prstGeom prst="rect">
            <a:avLst/>
          </a:prstGeom>
        </p:spPr>
      </p:pic>
      <p:sp>
        <p:nvSpPr>
          <p:cNvPr id="6" name="TextBox 5"/>
          <p:cNvSpPr txBox="1"/>
          <p:nvPr/>
        </p:nvSpPr>
        <p:spPr>
          <a:xfrm>
            <a:off x="6400800" y="4122927"/>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4553712"/>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2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2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2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6400800" y="1298448"/>
            <a:ext cx="5394960" cy="1205662"/>
          </a:xfrm>
          <a:prstGeom prst="rect">
            <a:avLst/>
          </a:prstGeom>
        </p:spPr>
      </p:pic>
      <p:sp>
        <p:nvSpPr>
          <p:cNvPr id="6" name="TextBox 5"/>
          <p:cNvSpPr txBox="1"/>
          <p:nvPr/>
        </p:nvSpPr>
        <p:spPr>
          <a:xfrm>
            <a:off x="6400800" y="2522398"/>
            <a:ext cx="53949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sub-nanometer command maps.</a:t>
            </a:r>
          </a:p>
        </p:txBody>
      </p:sp>
      <p:pic>
        <p:nvPicPr>
          <p:cNvPr id="7" name="Picture 6" descr="ctb_vortex_bandwidth.png"/>
          <p:cNvPicPr>
            <a:picLocks noChangeAspect="1"/>
          </p:cNvPicPr>
          <p:nvPr/>
        </p:nvPicPr>
        <p:blipFill>
          <a:blip r:embed="rId3"/>
          <a:stretch>
            <a:fillRect/>
          </a:stretch>
        </p:blipFill>
        <p:spPr>
          <a:xfrm>
            <a:off x="8011995" y="2953182"/>
            <a:ext cx="2172568" cy="1617472"/>
          </a:xfrm>
          <a:prstGeom prst="rect">
            <a:avLst/>
          </a:prstGeom>
        </p:spPr>
      </p:pic>
      <p:sp>
        <p:nvSpPr>
          <p:cNvPr id="8" name="TextBox 7"/>
          <p:cNvSpPr txBox="1"/>
          <p:nvPr/>
        </p:nvSpPr>
        <p:spPr>
          <a:xfrm>
            <a:off x="6400800" y="4588942"/>
            <a:ext cx="5394960" cy="394208"/>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6400800" y="5019726"/>
            <a:ext cx="5394960"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packaged to an 8 m launch shroud, drawn and checked.</a:t>
            </a:r>
          </a:p>
        </p:txBody>
      </p:sp>
      <p:pic>
        <p:nvPicPr>
          <p:cNvPr id="5" name="Picture 4" descr="crop_r2_train_iso.png"/>
          <p:cNvPicPr>
            <a:picLocks noChangeAspect="1"/>
          </p:cNvPicPr>
          <p:nvPr/>
        </p:nvPicPr>
        <p:blipFill>
          <a:blip r:embed="rId2"/>
          <a:stretch>
            <a:fillRect/>
          </a:stretch>
        </p:blipFill>
        <p:spPr>
          <a:xfrm>
            <a:off x="859353" y="2218182"/>
            <a:ext cx="4910692" cy="3537712"/>
          </a:xfrm>
          <a:prstGeom prst="rect">
            <a:avLst/>
          </a:prstGeom>
        </p:spPr>
      </p:pic>
      <p:sp>
        <p:nvSpPr>
          <p:cNvPr id="6" name="TextBox 5"/>
          <p:cNvSpPr txBox="1"/>
          <p:nvPr/>
        </p:nvSpPr>
        <p:spPr>
          <a:xfrm>
            <a:off x="411480" y="5774181"/>
            <a:ext cx="5806440" cy="394208"/>
          </a:xfrm>
          <a:prstGeom prst="rect">
            <a:avLst/>
          </a:prstGeom>
          <a:noFill/>
        </p:spPr>
        <p:txBody>
          <a:bodyPr wrap="square">
            <a:spAutoFit/>
          </a:bodyPr>
          <a:lstStyle/>
          <a:p>
            <a:pPr algn="ctr">
              <a:spcAft>
                <a:spcPts val="0"/>
              </a:spcAft>
            </a:pPr>
            <a:r>
              <a:rPr sz="1000" b="0">
                <a:solidFill>
                  <a:srgbClr val="6E6E6E"/>
                </a:solidFill>
                <a:latin typeface="Arial"/>
              </a:rPr>
              <a:t>The full train, traced: the segmented 6 m primary feeding the DM-bearing back end — 37 elements across the two instrument legs.</a:t>
            </a:r>
          </a:p>
        </p:txBody>
      </p:sp>
      <p:pic>
        <p:nvPicPr>
          <p:cNvPr id="7" name="Picture 6" descr="r1_seg_d110_shroud.png"/>
          <p:cNvPicPr>
            <a:picLocks noChangeAspect="1"/>
          </p:cNvPicPr>
          <p:nvPr/>
        </p:nvPicPr>
        <p:blipFill>
          <a:blip r:embed="rId3"/>
          <a:stretch>
            <a:fillRect/>
          </a:stretch>
        </p:blipFill>
        <p:spPr>
          <a:xfrm>
            <a:off x="7030679" y="2218182"/>
            <a:ext cx="4135200" cy="2989072"/>
          </a:xfrm>
          <a:prstGeom prst="rect">
            <a:avLst/>
          </a:prstGeom>
        </p:spPr>
      </p:pic>
      <p:sp>
        <p:nvSpPr>
          <p:cNvPr id="8" name="TextBox 7"/>
          <p:cNvSpPr txBox="1"/>
          <p:nvPr/>
        </p:nvSpPr>
        <p:spPr>
          <a:xfrm>
            <a:off x="6400800" y="5225542"/>
            <a:ext cx="5394960"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
        <p:nvSpPr>
          <p:cNvPr id="9" name="TextBox 8"/>
          <p:cNvSpPr txBox="1"/>
          <p:nvPr/>
        </p:nvSpPr>
        <p:spPr>
          <a:xfrm>
            <a:off x="6400800" y="5656326"/>
            <a:ext cx="5394960" cy="274320"/>
          </a:xfrm>
          <a:prstGeom prst="rect">
            <a:avLst/>
          </a:prstGeom>
          <a:noFill/>
        </p:spPr>
        <p:txBody>
          <a:bodyPr wrap="square">
            <a:spAutoFit/>
          </a:bodyPr>
          <a:lstStyle/>
          <a:p>
            <a:pPr>
              <a:spcAft>
                <a:spcPts val="600"/>
              </a:spcAft>
            </a:pPr>
            <a:r>
              <a:rPr sz="1050" b="0">
                <a:solidFill>
                  <a:srgbClr val="6E6E6E"/>
                </a:solidFill>
                <a:latin typeface="Arial"/>
              </a:rPr>
              <a:t>The telescope is one of the design-layer templates, diffraction-limited at 500 nm (imaging-leg Strehl 0.9993); the two-leg light-order chart is in the record.  Record: templates/80_end_to_end/e2e6m_r2.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200" b="0">
                <a:solidFill>
                  <a:srgbClr val="282828"/>
                </a:solidFill>
                <a:latin typeface="Arial"/>
              </a:rPr>
              <a:t>•  Metrology and edge sensors are designed ON that Jacobian — 114 beams from the launcher stations shown — and the same matrices drive the estimator and the closed loop.</a:t>
            </a:r>
          </a:p>
        </p:txBody>
      </p:sp>
      <p:pic>
        <p:nvPicPr>
          <p:cNvPr id="5" name="Picture 4" descr="r3_met_view_rx.png"/>
          <p:cNvPicPr>
            <a:picLocks noChangeAspect="1"/>
          </p:cNvPicPr>
          <p:nvPr/>
        </p:nvPicPr>
        <p:blipFill>
          <a:blip r:embed="rId2"/>
          <a:stretch>
            <a:fillRect/>
          </a:stretch>
        </p:blipFill>
        <p:spPr>
          <a:xfrm>
            <a:off x="511032" y="2804160"/>
            <a:ext cx="5607334" cy="3660140"/>
          </a:xfrm>
          <a:prstGeom prst="rect">
            <a:avLst/>
          </a:prstGeom>
        </p:spPr>
      </p:pic>
      <p:sp>
        <p:nvSpPr>
          <p:cNvPr id="6" name="TextBox 5"/>
          <p:cNvSpPr txBox="1"/>
          <p:nvPr/>
        </p:nvSpPr>
        <p:spPr>
          <a:xfrm>
            <a:off x="411480" y="6482588"/>
            <a:ext cx="5806440" cy="229107"/>
          </a:xfrm>
          <a:prstGeom prst="rect">
            <a:avLst/>
          </a:prstGeom>
          <a:noFill/>
        </p:spPr>
        <p:txBody>
          <a:bodyPr wrap="square">
            <a:spAutoFit/>
          </a:bodyPr>
          <a:lstStyle/>
          <a:p>
            <a:pPr algn="ctr">
              <a:spcAft>
                <a:spcPts val="0"/>
              </a:spcAft>
            </a:pPr>
            <a:r>
              <a:rPr sz="1000" b="0">
                <a:solidFill>
                  <a:srgbClr val="6E6E6E"/>
                </a:solidFill>
                <a:latin typeface="Arial"/>
              </a:rPr>
              <a:t>The metrology on the observatory: 24 elements, 114 MET beams to the aft launcher station.</a:t>
            </a:r>
          </a:p>
        </p:txBody>
      </p:sp>
      <p:pic>
        <p:nvPicPr>
          <p:cNvPr id="7" name="Picture 6" descr="r3_dwdx_channels.png"/>
          <p:cNvPicPr>
            <a:picLocks noChangeAspect="1"/>
          </p:cNvPicPr>
          <p:nvPr/>
        </p:nvPicPr>
        <p:blipFill>
          <a:blip r:embed="rId3"/>
          <a:stretch>
            <a:fillRect/>
          </a:stretch>
        </p:blipFill>
        <p:spPr>
          <a:xfrm>
            <a:off x="6908717" y="1298448"/>
            <a:ext cx="4379125" cy="4342892"/>
          </a:xfrm>
          <a:prstGeom prst="rect">
            <a:avLst/>
          </a:prstGeom>
        </p:spPr>
      </p:pic>
      <p:sp>
        <p:nvSpPr>
          <p:cNvPr id="8" name="TextBox 7"/>
          <p:cNvSpPr txBox="1"/>
          <p:nvPr/>
        </p:nvSpPr>
        <p:spPr>
          <a:xfrm>
            <a:off x="6400800" y="5659627"/>
            <a:ext cx="5394960" cy="229107"/>
          </a:xfrm>
          <a:prstGeom prst="rect">
            <a:avLst/>
          </a:prstGeom>
          <a:noFill/>
        </p:spPr>
        <p:txBody>
          <a:bodyPr wrap="square">
            <a:spAutoFit/>
          </a:bodyPr>
          <a:lstStyle/>
          <a:p>
            <a:pPr algn="ctr">
              <a:spcAft>
                <a:spcPts val="0"/>
              </a:spcAft>
            </a:pPr>
            <a:r>
              <a:rPr sz="1000" b="0">
                <a:solidFill>
                  <a:srgbClr val="6E6E6E"/>
                </a:solidFill>
                <a:latin typeface="Arial"/>
              </a:rPr>
              <a:t>Per-segment wavefront sensitivity channels — the control basis.</a:t>
            </a:r>
          </a:p>
        </p:txBody>
      </p:sp>
      <p:sp>
        <p:nvSpPr>
          <p:cNvPr id="9" name="TextBox 8"/>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segmented-pupil contrast floor sits above the clear-pupil testbed's — the gaps and edges carry it, not the control.</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result verified when the designer is a machine?  Here: regression checks with negative controls, layout figures read against every claim, and corrected signed measures — the checks caught the errors shown today.</a:t>
            </a:r>
          </a:p>
          <a:p>
            <a:pPr>
              <a:spcAft>
                <a:spcPts val="600"/>
              </a:spcAft>
            </a:pPr>
            <a:r>
              <a:rPr sz="1500" b="0">
                <a:solidFill>
                  <a:srgbClr val="282828"/>
                </a:solidFill>
                <a:latin typeface="Arial"/>
              </a:rPr>
              <a:t>•  Where does the human rule?  Constraint choices, metric definitions, and every outward claim carry a human sign-off;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These are offered as discussion questions, not settled doctrine.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Summary</a:t>
            </a:r>
          </a:p>
          <a:p>
            <a:pPr>
              <a:spcAft>
                <a:spcPts val="0"/>
              </a:spcAft>
            </a:pPr>
            <a:r>
              <a:rPr sz="1250" b="0">
                <a:solidFill>
                  <a:srgbClr val="6E6E6E"/>
                </a:solidFill>
                <a:latin typeface="Arial"/>
              </a:rPr>
              <a:t>One engine, validated; a toolbox that designs; an AI that drives it — all public</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One validated engine behind four language surfaces; a MATLAB design layer that took three CODE V benchmark studies from reproduction to extension.</a:t>
            </a:r>
          </a:p>
          <a:p>
            <a:pPr>
              <a:spcAft>
                <a:spcPts val="600"/>
              </a:spcAft>
            </a:pPr>
            <a:r>
              <a:rPr sz="1500" b="0">
                <a:solidFill>
                  <a:srgbClr val="282828"/>
                </a:solidFill>
                <a:latin typeface="Arial"/>
              </a:rPr>
              <a:t>•  Two things happened live: a telescope designed to the audience's field specification in one warm-started step, and a polarization interferometer measuring a deformable mirror to 0.18 nm.</a:t>
            </a:r>
          </a:p>
          <a:p>
            <a:pPr>
              <a:spcAft>
                <a:spcPts val="600"/>
              </a:spcAft>
            </a:pPr>
            <a:r>
              <a:rPr sz="1500" b="0">
                <a:solidFill>
                  <a:srgbClr val="282828"/>
                </a:solidFill>
                <a:latin typeface="Arial"/>
              </a:rPr>
              <a:t>•  The code is public: github.com/nasa-jpl/macos.</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Contact and records: all studies cited are committed with packets and regression checks.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MACOS does today</a:t>
            </a:r>
          </a:p>
          <a:p>
            <a:pPr>
              <a:spcAft>
                <a:spcPts val="0"/>
              </a:spcAft>
            </a:pPr>
            <a:r>
              <a:rPr sz="1250" b="0">
                <a:solidFill>
                  <a:srgbClr val="6E6E6E"/>
                </a:solidFill>
                <a:latin typeface="Arial"/>
              </a:rPr>
              <a:t>System-level modeling from design through control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Applications: error budgeting, integrated observatory simulation, wavefront sensing and control for segmented telescopes, coronagraph testbeds and instruments.</a:t>
            </a:r>
          </a:p>
          <a:p>
            <a:pPr>
              <a:spcAft>
                <a:spcPts val="600"/>
              </a:spcAft>
            </a:pPr>
            <a:r>
              <a:rPr sz="1500" b="0">
                <a:solidFill>
                  <a:srgbClr val="282828"/>
                </a:solidFill>
                <a:latin typeface="Arial"/>
              </a:rPr>
              <a:t>•  The linear-model workflow: w = J·x + w₀ — wavefront sensitivity channels per element, per segment, per surface mode; stacked over fields and configurations; element groups move as one.</a:t>
            </a:r>
          </a:p>
          <a:p>
            <a:pPr>
              <a:spcAft>
                <a:spcPts val="600"/>
              </a:spcAft>
            </a:pPr>
            <a:r>
              <a:rPr sz="1500" b="0">
                <a:solidFill>
                  <a:srgbClr val="282828"/>
                </a:solidFill>
                <a:latin typeface="Arial"/>
              </a:rPr>
              <a:t>•  From model to control: the same sensitivity matrices drive metrology design, estimator synthesis, and closed-loop simulation — one model, one bookkeeping, design to control.</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Every capability shown today is in the committed test suites; validation anchors: next slide.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MATLAB toolbox and the design layer</a:t>
            </a:r>
          </a:p>
          <a:p>
            <a:pPr>
              <a:spcAft>
                <a:spcPts val="0"/>
              </a:spcAft>
            </a:pPr>
            <a:r>
              <a:rPr sz="1250" b="0">
                <a:solidFill>
                  <a:srgbClr val="6E6E6E"/>
                </a:solidFill>
                <a:latin typeface="Arial"/>
              </a:rPr>
              <a:t>Design → segmentation → sensitivities → metrology → simulation, each one call — fully public-domain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Drivers: telescope/bench design builders, sensitivity supervisors (rigid-body, alignment, surface-grid), metrology placement, model-vs-model comparison, closed-loop simulators, study orchestrators.</a:t>
            </a:r>
          </a:p>
          <a:p>
            <a:pPr>
              <a:spcAft>
                <a:spcPts val="600"/>
              </a:spcAft>
            </a:pPr>
            <a:r>
              <a:rPr sz="1200" b="0">
                <a:solidFill>
                  <a:srgbClr val="282828"/>
                </a:solidFill>
                <a:latin typeface="Arial"/>
              </a:rPr>
              <a:t>•  One-call reconstructible studies: every figure in this deck rebuilds from a committed script and committed records.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Utilities: trace, wavefront, perturb, pupil find; layout and ray-bundle viewers; Jones pupils, polarization elements; segment grid bases and grid file IO; multi-wavelength composition; spot, intensity, complex field.</a:t>
            </a:r>
          </a:p>
          <a:p>
            <a:pPr>
              <a:spcAft>
                <a:spcPts val="600"/>
              </a:spcAft>
            </a:pPr>
            <a:r>
              <a:rPr sz="1200" b="0">
                <a:solidFill>
                  <a:srgbClr val="282828"/>
                </a:solidFill>
                <a:latin typeface="Arial"/>
              </a:rPr>
              <a:t>•  Why a design layer: the whole stack is public-domain — a design study needs no proprietary prescription to start from.</a:t>
            </a:r>
          </a:p>
        </p:txBody>
      </p:sp>
      <p:sp>
        <p:nvSpPr>
          <p:cNvPr id="6" name="TextBox 5"/>
          <p:cNvSpPr txBox="1"/>
          <p:nvPr/>
        </p:nvSpPr>
        <p:spPr>
          <a:xfrm>
            <a:off x="6400800" y="2804160"/>
            <a:ext cx="5394960" cy="274320"/>
          </a:xfrm>
          <a:prstGeom prst="rect">
            <a:avLst/>
          </a:prstGeom>
          <a:noFill/>
        </p:spPr>
        <p:txBody>
          <a:bodyPr wrap="square">
            <a:spAutoFit/>
          </a:bodyPr>
          <a:lstStyle/>
          <a:p>
            <a:pPr>
              <a:spcAft>
                <a:spcPts val="600"/>
              </a:spcAft>
            </a:pPr>
            <a:r>
              <a:rPr sz="1050" b="0">
                <a:solidFill>
                  <a:srgbClr val="6E6E6E"/>
                </a:solidFill>
                <a:latin typeface="Arial"/>
              </a:rPr>
              <a:t>The two live demonstrations exercised exactly these layers: the bench builder and a design-family driver.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