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Control using wavefront measurements:   u  =  −J⁺·w ,    J⁺  =  ( JᵀJ + ρI )⁻¹ Jᵀ</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4684268"/>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4535424" y="4169663"/>
            <a:ext cx="2514600" cy="1054608"/>
          </a:xfrm>
          <a:prstGeom prst="rect">
            <a:avLst/>
          </a:prstGeom>
          <a:noFill/>
        </p:spPr>
        <p:txBody>
          <a:bodyPr wrap="square">
            <a:spAutoFit/>
          </a:bodyPr>
          <a:lstStyle/>
          <a:p>
            <a:pPr algn="ct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M2-M4,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M2-M4,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 — the same machinery the DM Jacobians use.</a:t>
            </a:r>
          </a:p>
        </p:txBody>
      </p:sp>
      <p:sp>
        <p:nvSpPr>
          <p:cNvPr id="7" name="TextBox 6"/>
          <p:cNvSpPr txBox="1"/>
          <p:nvPr/>
        </p:nvSpPr>
        <p:spPr>
          <a:xfrm>
            <a:off x="411480" y="6018784"/>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this study,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 Run the compiled tool, no agent — what ships today.  The walk ran unattended on a fresh instance; the checks, caps, and continuation runner are versioned and regression-tested.  Inspectable and maintenance-stable — but 1 of 15 frictions did not compile, and the docs alone did not carry a cold user.</a:t>
            </a:r>
          </a:p>
          <a:p>
            <a:pPr>
              <a:spcAft>
                <a:spcPts val="600"/>
              </a:spcAft>
            </a:pPr>
            <a:r>
              <a:rPr sz="1500" b="0">
                <a:solidFill>
                  <a:srgbClr val="282828"/>
                </a:solidFill>
                <a:latin typeface="Arial"/>
              </a:rPr>
              <a:t>•  B · Invoke an agent to guide the work — what this study actually did.  An AI agent in the loop, under expert prompting, found and fixed every conceptual defect in hours and chose the strategies worth compiling — including the walk.  Available to any user now; its knowledge is current, but not versioned with the tool.</a:t>
            </a:r>
          </a:p>
          <a:p>
            <a:pPr>
              <a:spcAft>
                <a:spcPts val="600"/>
              </a:spcAft>
            </a:pPr>
            <a:r>
              <a:rPr sz="1500" b="0">
                <a:solidFill>
                  <a:srgbClr val="282828"/>
                </a:solidFill>
                <a:latin typeface="Arial"/>
              </a:rPr>
              <a:t>•  C · Embed a helper in the tool — the open question: advice at call time — "your step 1 runs 8× deeper than the reference; expect the offset box to lose rays" — the one failure that was documented and still fatal.</a:t>
            </a:r>
          </a:p>
          <a:p>
            <a:pPr>
              <a:spcAft>
                <a:spcPts val="600"/>
              </a:spcAft>
            </a:pPr>
            <a:r>
              <a:rPr sz="1500" b="0">
                <a:solidFill>
                  <a:srgbClr val="282828"/>
                </a:solidFill>
                <a:latin typeface="Arial"/>
              </a:rPr>
              <a:t>•  How embedding could work — three shapes in increasing order of authority:</a:t>
            </a:r>
          </a:p>
          <a:p>
            <a:pPr marL="594360" indent="-137160">
              <a:spcAft>
                <a:spcPts val="500"/>
              </a:spcAft>
            </a:pPr>
            <a:r>
              <a:rPr sz="1300" b="0">
                <a:solidFill>
                  <a:srgbClr val="6E6E6E"/>
                </a:solidFill>
                <a:latin typeface="Arial"/>
              </a:rPr>
              <a:t>–  Make the tool agent-readable (lightest): expose the tool's state as structured output — deck, residual history, check results — with machine-readable docs and runnable checks, so the user's own assistant drives the tool well.  The tool's knowledge stays in the code and its tests.</a:t>
            </a:r>
          </a:p>
          <a:p>
            <a:pPr marL="594360" indent="-137160">
              <a:spcAft>
                <a:spcPts val="500"/>
              </a:spcAft>
            </a:pPr>
            <a:r>
              <a:rPr sz="1300" b="0">
                <a:solidFill>
                  <a:srgbClr val="6E6E6E"/>
                </a:solidFill>
                <a:latin typeface="Arial"/>
              </a:rPr>
              <a:t>–  A failure-triage assistant: invoked only when a check fires or a solve stalls; it reads the saved state and returns a one-line diagnosis and a suggested next command, which the person runs.</a:t>
            </a:r>
          </a:p>
          <a:p>
            <a:pPr marL="594360" indent="-137160">
              <a:spcAft>
                <a:spcPts val="500"/>
              </a:spcAft>
            </a:pPr>
            <a:r>
              <a:rPr sz="1300" b="0">
                <a:solidFill>
                  <a:srgbClr val="6E6E6E"/>
                </a:solidFill>
                <a:latin typeface="Arial"/>
              </a:rPr>
              <a:t>–  A policy assistant inside hard limits: it chooses solve-field counts, penalty targets, and walk schedules between stages; the code enforces the limits, validates every action through the same checks, and logs every choice for replay.</a:t>
            </a:r>
          </a:p>
          <a:p>
            <a:pPr marL="594360" indent="-137160">
              <a:spcAft>
                <a:spcPts val="500"/>
              </a:spcAft>
            </a:pPr>
            <a:r>
              <a:rPr sz="1300" b="0">
                <a:solidFill>
                  <a:srgbClr val="6E6E6E"/>
                </a:solidFill>
                <a:latin typeface="Arial"/>
              </a:rPr>
              <a:t>–  Tier the agents, at any of these levels — an orchestrating agent plans and delegates; each sub-agent gets one bounded task with only the files it needs; the committed records, not any agent's memory, are the shared memory.</a:t>
            </a:r>
          </a:p>
        </p:txBody>
      </p:sp>
      <p:sp>
        <p:nvSpPr>
          <p:cNvPr id="5" name="TextBox 4"/>
          <p:cNvSpPr txBox="1"/>
          <p:nvPr/>
        </p:nvSpPr>
        <p:spPr>
          <a:xfrm>
            <a:off x="411480" y="6566408"/>
            <a:ext cx="11368735" cy="274320"/>
          </a:xfrm>
          <a:prstGeom prst="rect">
            <a:avLst/>
          </a:prstGeom>
          <a:noFill/>
        </p:spPr>
        <p:txBody>
          <a:bodyPr wrap="square">
            <a:spAutoFit/>
          </a:bodyPr>
          <a:lstStyle/>
          <a:p>
            <a:pPr>
              <a:spcAft>
                <a:spcPts val="600"/>
              </a:spcAft>
            </a:pPr>
            <a:r>
              <a:rPr sz="1050" b="0">
                <a:solidFill>
                  <a:srgbClr val="6E6E6E"/>
                </a:solidFill>
                <a:latin typeface="Arial"/>
              </a:rPr>
              <a:t>Where is the line between knowledge in the code as checks and knowledge served as advice?  A stale check fails loudly; stale advice fails silently.  Measured: the tool alone did not carry a new user; an agent alongside it closed every gap — most of what it learned is now checks and defaults.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