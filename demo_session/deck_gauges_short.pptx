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 photon noise driven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806065"/>
        </p:xfrm>
        <a:graphic>
          <a:graphicData uri="http://schemas.openxmlformats.org/drawingml/2006/table">
            <a:tbl>
              <a:tblPr firstRow="1" bandRow="1">
                <a:tableStyleId>{5C22544A-7EE6-4342-B048-85BDC9FD1C3A}</a:tableStyleId>
              </a:tblPr>
              <a:tblGrid>
                <a:gridCol w="1450493"/>
                <a:gridCol w="6076392"/>
                <a:gridCol w="1920924"/>
                <a:gridCol w="1920924"/>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 the polarization snapshot / the hybrid's piezo four-step</a:t>
                      </a:r>
                    </a:p>
                  </a:txBody>
                  <a:tcPr marL="54864" marR="54864" marT="18288" marB="18288">
                    <a:solidFill>
                      <a:srgbClr val="ECF1F6"/>
                    </a:solidFill>
                  </a:tcPr>
                </a:tc>
                <a:tc>
                  <a:txBody>
                    <a:bodyPr wrap="square"/>
                    <a:lstStyle/>
                    <a:p>
                      <a:r>
                        <a:rPr sz="1100" b="0">
                          <a:solidFill>
                            <a:srgbClr val="282828"/>
                          </a:solidFill>
                          <a:latin typeface="Arial"/>
                        </a:rPr>
                        <a:t>1.3 % (392 pm), gain 0.993 / 0.01 pm, gain 1.0000</a:t>
                      </a:r>
                    </a:p>
                  </a:txBody>
                  <a:tcPr marL="54864" marR="54864" marT="18288" marB="18288">
                    <a:solidFill>
                      <a:srgbClr val="ECF1F6"/>
                    </a:solidFill>
                  </a:tcPr>
                </a:tc>
                <a:tc>
                  <a:txBody>
                    <a:bodyPr wrap="square"/>
                    <a:lstStyle/>
                    <a:p>
                      <a:r>
                        <a:rPr sz="1100" b="0">
                          <a:solidFill>
                            <a:srgbClr val="282828"/>
                          </a:solidFill>
                          <a:latin typeface="Arial"/>
                        </a:rPr>
                        <a:t>1.8 % (551 pm), gain 0.987 / 0.01 pm, gain 1.0000</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250817"/>
            <a:ext cx="11368735" cy="274320"/>
          </a:xfrm>
          <a:prstGeom prst="rect">
            <a:avLst/>
          </a:prstGeom>
          <a:noFill/>
        </p:spPr>
        <p:txBody>
          <a:bodyPr wrap="square">
            <a:spAutoFit/>
          </a:bodyPr>
          <a:lstStyle/>
          <a:p>
            <a:pPr>
              <a:spcAft>
                <a:spcPts val="600"/>
              </a:spcAft>
            </a:pPr>
            <a:r>
              <a:rPr sz="1100" b="0">
                <a:solidFill>
                  <a:srgbClr val="282828"/>
                </a:solidFill>
                <a:latin typeface="Arial"/>
              </a:rPr>
              <a:t>•  </a:t>
            </a:r>
            <a:r>
              <a:rPr sz="1100" b="1">
                <a:solidFill>
                  <a:srgbClr val="282828"/>
                </a:solidFill>
                <a:latin typeface="Arial"/>
              </a:rPr>
              <a:t>Picometer measurement is photon-limited, not bench-limited.</a:t>
            </a:r>
            <a:r>
              <a:rPr sz="1100" b="0">
                <a:solidFill>
                  <a:srgbClr val="282828"/>
                </a:solidFill>
                <a:latin typeface="Arial"/>
              </a:rPr>
              <a:t>  One measurement at 1e15 photons — 0.31 mJ, 1.3 s of a 1 mW laser — repeats to 0.7 pm, and a servo fed at that rate holds under half a picometer; both front ends agree within 10 %.</a:t>
            </a:r>
          </a:p>
          <a:p>
            <a:pPr>
              <a:spcAft>
                <a:spcPts val="600"/>
              </a:spcAft>
            </a:pPr>
            <a:r>
              <a:rPr sz="1100" b="0">
                <a:solidFill>
                  <a:srgbClr val="282828"/>
                </a:solidFill>
                <a:latin typeface="Arial"/>
              </a:rPr>
              <a:t>•  </a:t>
            </a:r>
            <a:r>
              <a:rPr sz="1100" b="1">
                <a:solidFill>
                  <a:srgbClr val="282828"/>
                </a:solidFill>
                <a:latin typeface="Arial"/>
              </a:rPr>
              <a:t>Steeves et al. (2020, Optica 7, 1267) demonstrate 1.6 pm in 4.3 s on a real interferometer:</a:t>
            </a:r>
            <a:r>
              <a:rPr sz="1100" b="0">
                <a:solidFill>
                  <a:srgbClr val="282828"/>
                </a:solidFill>
                <a:latin typeface="Arial"/>
              </a:rPr>
              <a:t> ours is photon-limited only (no vibration, thermal drift or detector systematics), the floor this design allows rather than a prediction of the built bench; agreeing within a factor of two says the model is in the right regime.</a:t>
            </a:r>
          </a:p>
          <a:p>
            <a:pPr>
              <a:spcAft>
                <a:spcPts val="600"/>
              </a:spcAft>
            </a:pPr>
            <a:r>
              <a:rPr sz="1100" b="0">
                <a:solidFill>
                  <a:srgbClr val="282828"/>
                </a:solidFill>
                <a:latin typeface="Arial"/>
              </a:rPr>
              <a:t>•  </a:t>
            </a:r>
            <a:r>
              <a:rPr sz="1100" b="1">
                <a:solidFill>
                  <a:srgbClr val="282828"/>
                </a:solidFill>
                <a:latin typeface="Arial"/>
              </a:rPr>
              <a:t>Accuracy is a gain: systematic and proportional to the figure read.</a:t>
            </a:r>
            <a:r>
              <a:rPr sz="1100" b="0">
                <a:solidFill>
                  <a:srgbClr val="282828"/>
                </a:solidFill>
                <a:latin typeface="Arial"/>
              </a:rPr>
              <a:t>  Raw, the four-step reads the 30 nm surface 0.7 % low on lenses (392 pm) and 1.3 % low on mirrors (551 pm); through the matrix measured on the surface a 10 nm change reads at gain 1.004 on lenses and 0.986 on mirrors, with floors of 1.4 and 2.3 pm.  The gain is the polarization snapshot's -- the hybrid's piezo four-step reads the same surface at gain 1.0000 against the engine, which is what its absolute-calibration leg is for -- and the matrix measured on the surface carries it; the pupil imaging is the smaller part (0.13 % / 0.29 %).</a:t>
            </a:r>
          </a:p>
          <a:p>
            <a:pPr>
              <a:spcAft>
                <a:spcPts val="600"/>
              </a:spcAft>
            </a:pPr>
            <a:r>
              <a:rPr sz="1100" b="0">
                <a:solidFill>
                  <a:srgbClr val="282828"/>
                </a:solidFill>
                <a:latin typeface="Arial"/>
              </a:rPr>
              <a:t>•  </a:t>
            </a:r>
            <a:r>
              <a:rPr sz="1100" b="1">
                <a:solidFill>
                  <a:srgbClr val="282828"/>
                </a:solidFill>
                <a:latin typeface="Arial"/>
              </a:rPr>
              <a:t>One disturbance is not photon-limited:</a:t>
            </a:r>
            <a:r>
              <a:rPr sz="1100" b="0">
                <a:solidFill>
                  <a:srgbClr val="282828"/>
                </a:solidFill>
                <a:latin typeface="Arial"/>
              </a:rPr>
              <a:t> under a 5 pm per cycle thermal ramp — a low-order change of the mirror's figure growing at a steady rate, the model's stand-in for a thermal drift of the DM; nothing in the bench or the sensor is given a temperature — the loop lags at rate ÷ (gain × response), about 10 pm, however many photons it is given: a cadence and thermal-control requirement, not a sensing one.</a:t>
            </a:r>
          </a:p>
        </p:txBody>
      </p:sp>
      <p:sp>
        <p:nvSpPr>
          <p:cNvPr id="6" name="TextBox 5"/>
          <p:cNvSpPr txBox="1"/>
          <p:nvPr/>
        </p:nvSpPr>
        <p:spPr>
          <a:xfrm>
            <a:off x="457200" y="6309360"/>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(the side-by-side slide).  Scope: gain / floor rows are single noiseless runs (systematics only); photon rows Monte Carlo, 6–24 realizations per level; servo rows one 60-cycle run per level, rms over the last 30, one drift realization for all.  Raw-map rows: the station figures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749808" y="1216152"/>
            <a:ext cx="4718304" cy="2350008"/>
          </a:xfrm>
          <a:prstGeom prst="rect">
            <a:avLst/>
          </a:prstGeom>
        </p:spPr>
      </p:pic>
      <p:sp>
        <p:nvSpPr>
          <p:cNvPr id="5" name="TextBox 4"/>
          <p:cNvSpPr txBox="1"/>
          <p:nvPr/>
        </p:nvSpPr>
        <p:spPr>
          <a:xfrm>
            <a:off x="365760" y="3419856"/>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diverge.</a:t>
            </a:r>
          </a:p>
        </p:txBody>
      </p:sp>
      <p:pic>
        <p:nvPicPr>
          <p:cNvPr id="6" name="Picture 5" descr="crop_lay96_oap_train.png"/>
          <p:cNvPicPr>
            <a:picLocks noChangeAspect="1"/>
          </p:cNvPicPr>
          <p:nvPr/>
        </p:nvPicPr>
        <p:blipFill>
          <a:blip r:embed="rId3"/>
          <a:stretch>
            <a:fillRect/>
          </a:stretch>
        </p:blipFill>
        <p:spPr>
          <a:xfrm>
            <a:off x="7680960" y="1298448"/>
            <a:ext cx="2322576" cy="2121408"/>
          </a:xfrm>
          <a:prstGeom prst="rect">
            <a:avLst/>
          </a:prstGeom>
        </p:spPr>
      </p:pic>
      <p:sp>
        <p:nvSpPr>
          <p:cNvPr id="7" name="TextBox 6"/>
          <p:cNvSpPr txBox="1"/>
          <p:nvPr/>
        </p:nvSpPr>
        <p:spPr>
          <a:xfrm>
            <a:off x="6355080" y="3419856"/>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38912" y="4151376"/>
          <a:ext cx="11365991" cy="2628900"/>
        </p:xfrm>
        <a:graphic>
          <a:graphicData uri="http://schemas.openxmlformats.org/drawingml/2006/table">
            <a:tbl>
              <a:tblPr firstRow="1" bandRow="1">
                <a:tableStyleId>{5C22544A-7EE6-4342-B048-85BDC9FD1C3A}</a:tableStyleId>
              </a:tblPr>
              <a:tblGrid>
                <a:gridCol w="1235964"/>
                <a:gridCol w="3634574"/>
                <a:gridCol w="649545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Hybrid form: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200" b="0">
                <a:solidFill>
                  <a:srgbClr val="282828"/>
                </a:solidFill>
                <a:latin typeface="Arial"/>
              </a:rPr>
              <a:t>•  </a:t>
            </a:r>
            <a:r>
              <a:rPr sz="1200" b="1">
                <a:solidFill>
                  <a:srgbClr val="282828"/>
                </a:solidFill>
                <a:latin typeface="Arial"/>
              </a:rPr>
              <a:t>Reads:</a:t>
            </a:r>
            <a:r>
              <a:rPr sz="1200" b="0">
                <a:solidFill>
                  <a:srgbClr val="282828"/>
                </a:solidFill>
                <a:latin typeface="Arial"/>
              </a:rPr>
              <a:t> the test beam from the mirror interferes with a flat's beam; four frames at four phase steps give the phase at every pixel.</a:t>
            </a:r>
          </a:p>
          <a:p>
            <a:pPr>
              <a:spcAft>
                <a:spcPts val="500"/>
              </a:spcAft>
            </a:pPr>
            <a:r>
              <a:rPr sz="1200" b="0">
                <a:solidFill>
                  <a:srgbClr val="282828"/>
                </a:solidFill>
                <a:latin typeface="Arial"/>
              </a:rPr>
              <a:t>•  </a:t>
            </a:r>
            <a:r>
              <a:rPr sz="1200" b="1">
                <a:solidFill>
                  <a:srgbClr val="282828"/>
                </a:solidFill>
                <a:latin typeface="Arial"/>
              </a:rPr>
              <a:t>Frames per measurement: 4.</a:t>
            </a:r>
            <a:r>
              <a:rPr sz="1200" b="0">
                <a:solidFill>
                  <a:srgbClr val="282828"/>
                </a:solidFill>
                <a:latin typeface="Arial"/>
              </a:rPr>
              <a:t>  Snapshot: the input polarizer at 45° and a double-passed quarter-wave plate in each arm return the two arms in orthogonal polarizations; an output quarter-wave plate turns their phase difference into the orientation of a linear state, and a polarization camera (a micro-polarizer array at 0 / 45 / 90 / 135° in 2 × 2 super-pixels) reads the four steps in one exposure.  Piezo: one camera, the flat stepped in time by λ/8 of surface.</a:t>
            </a:r>
          </a:p>
          <a:p>
            <a:pPr>
              <a:spcAft>
                <a:spcPts val="500"/>
              </a:spcAft>
            </a:pPr>
            <a:r>
              <a:rPr sz="1200" b="0">
                <a:solidFill>
                  <a:srgbClr val="282828"/>
                </a:solidFill>
                <a:latin typeface="Arial"/>
              </a:rPr>
              <a:t>•  </a:t>
            </a:r>
            <a:r>
              <a:rPr sz="1200" b="1">
                <a:solidFill>
                  <a:srgbClr val="282828"/>
                </a:solidFill>
                <a:latin typeface="Arial"/>
              </a:rPr>
              <a:t>Reconstruction:</a:t>
            </a:r>
            <a:r>
              <a:rPr sz="1200" b="0">
                <a:solidFill>
                  <a:srgbClr val="282828"/>
                </a:solidFill>
                <a:latin typeface="Arial"/>
              </a:rPr>
              <a:t> the four-step phase per pixel, atan2(I₂ − I₄, I₁ − I₃), wrapped against the flat's null; the map is then fitted by regularized least squares to the response matrix measured through the gauge (one poke per lit actuator, on the working surface), in actuator units, piston removed — the same last step for every gauge in this deck.</a:t>
            </a:r>
          </a:p>
          <a:p>
            <a:pPr>
              <a:spcAft>
                <a:spcPts val="500"/>
              </a:spcAft>
            </a:pPr>
            <a:r>
              <a:rPr sz="1200" b="0">
                <a:solidFill>
                  <a:srgbClr val="282828"/>
                </a:solidFill>
                <a:latin typeface="Arial"/>
              </a:rPr>
              <a:t>•  </a:t>
            </a:r>
            <a:r>
              <a:rPr sz="1200" b="1">
                <a:solidFill>
                  <a:srgbClr val="282828"/>
                </a:solidFill>
                <a:latin typeface="Arial"/>
              </a:rPr>
              <a:t>Gets right:</a:t>
            </a:r>
            <a:r>
              <a:rPr sz="1200" b="0">
                <a:solidFill>
                  <a:srgbClr val="282828"/>
                </a:solidFill>
                <a:latin typeface="Arial"/>
              </a:rPr>
              <a:t> an external reference, so it reads any figure (capture range 480 nm and beyond) and captures from 200 nm of wavefront with unwrapping alone.</a:t>
            </a:r>
          </a:p>
          <a:p>
            <a:pPr>
              <a:spcAft>
                <a:spcPts val="500"/>
              </a:spcAft>
            </a:pPr>
            <a:r>
              <a:rPr sz="1200" b="0">
                <a:solidFill>
                  <a:srgbClr val="282828"/>
                </a:solidFill>
                <a:latin typeface="Arial"/>
              </a:rPr>
              <a:t>•  </a:t>
            </a:r>
            <a:r>
              <a:rPr sz="1200" b="1">
                <a:solidFill>
                  <a:srgbClr val="282828"/>
                </a:solidFill>
                <a:latin typeface="Arial"/>
              </a:rPr>
              <a:t>Gets wrong:</a:t>
            </a:r>
            <a:r>
              <a:rPr sz="1200" b="0">
                <a:solidFill>
                  <a:srgbClr val="282828"/>
                </a:solidFill>
                <a:latin typeface="Arial"/>
              </a:rPr>
              <a:t> the snapshot carries a polarization gain (raw map 0.993 lens / 0.987 mirror); the piezo four-step reads the same surface at gain 1.0000 and sets it.  Costs 10× the sensors' photons: the reference arm's light is not signal.</a:t>
            </a:r>
          </a:p>
          <a:p>
            <a:pPr>
              <a:spcAft>
                <a:spcPts val="500"/>
              </a:spcAft>
            </a:pPr>
            <a:r>
              <a:rPr sz="1200" b="0">
                <a:solidFill>
                  <a:srgbClr val="282828"/>
                </a:solidFill>
                <a:latin typeface="Arial"/>
              </a:rPr>
              <a:t>•  </a:t>
            </a:r>
            <a:r>
              <a:rPr sz="1200" b="1">
                <a:solidFill>
                  <a:srgbClr val="282828"/>
                </a:solidFill>
                <a:latin typeface="Arial"/>
              </a:rPr>
              <a:t>Scored, 30 nm surface, matrix on it:</a:t>
            </a:r>
            <a:r>
              <a:rPr sz="1200" b="0">
                <a:solidFill>
                  <a:srgbClr val="282828"/>
                </a:solidFill>
                <a:latin typeface="Arial"/>
              </a:rPr>
              <a:t> 10 nm change at gain 1.004 / 1.4 pm (lens), 0.986 / 2.3 pm (mirror); holds 3 pm from 2.3e13 / 2.0e13 photons per cycle; the servo's noiseless step settles to 0.015 / 2.8 pm.</a:t>
            </a:r>
          </a:p>
        </p:txBody>
      </p:sp>
      <p:pic>
        <p:nvPicPr>
          <p:cNvPr id="5" name="Picture 4" descr="crop_lay96_oap_node.png"/>
          <p:cNvPicPr>
            <a:picLocks noChangeAspect="1"/>
          </p:cNvPicPr>
          <p:nvPr/>
        </p:nvPicPr>
        <p:blipFill>
          <a:blip r:embed="rId2"/>
          <a:stretch>
            <a:fillRect/>
          </a:stretch>
        </p:blipFill>
        <p:spPr>
          <a:xfrm>
            <a:off x="6675120" y="1234440"/>
            <a:ext cx="5120640" cy="2862072"/>
          </a:xfrm>
          <a:prstGeom prst="rect">
            <a:avLst/>
          </a:prstGeom>
        </p:spPr>
      </p:pic>
      <p:sp>
        <p:nvSpPr>
          <p:cNvPr id="6" name="TextBox 5"/>
          <p:cNvSpPr txBox="1"/>
          <p:nvPr/>
        </p:nvSpPr>
        <p:spPr>
          <a:xfrm>
            <a:off x="6309360" y="4306824"/>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splitter node, the tool's own render: the reference flat's arm at 22.5°, the compensator in the mirror leg, the output plate and analyzer ahead of the focuser.</a:t>
            </a:r>
          </a:p>
        </p:txBody>
      </p:sp>
      <p:sp>
        <p:nvSpPr>
          <p:cNvPr id="7" name="TextBox 6"/>
          <p:cNvSpPr txBox="1"/>
          <p:nvPr/>
        </p:nvSpPr>
        <p:spPr>
          <a:xfrm>
            <a:off x="6400800" y="4946904"/>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interferometer".  Run tags redo96_lens, redo96_oap, redo96_lensloop, redo96_oaploop, redo96_lensstn2, redo96_oapstn2.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the mirror rig's image is distorted by more than a pitch at the edge, which the response matrix measured on the surface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cost, after calibration, is resolution only:</a:t>
            </a:r>
            <a:r>
              <a:rPr sz="1200" b="0">
                <a:solidFill>
                  <a:srgbClr val="282828"/>
                </a:solidFill>
                <a:latin typeface="Arial"/>
              </a:rPr>
              <a:t> the distortion is absorbed by the matrix measured through the camera, and the blur (0.05–0.14 mm against the 1 mm pitch) leaves 0.13 % of the figure on lenses and 0.29 % on mirrors (42 / 92 pm on 30 nm), 0.5 / 0.9 % in the top spatial band.  Adequate for 96 × 96: the blur's transfer at the actuator Nyquist is 0.98 before calibration and 0.9994–1.0000 after.  The limit is the blur: it would halve the transfer at a 0.2–0.4 mm pitch, 250–500 actuators across this aperture (Gaussian estimate).</a:t>
            </a:r>
          </a:p>
          <a:p>
            <a:pPr>
              <a:spcAft>
                <a:spcPts val="600"/>
              </a:spcAft>
            </a:pPr>
            <a:r>
              <a:rPr sz="1200" b="0">
                <a:solidFill>
                  <a:srgbClr val="282828"/>
                </a:solidFill>
                <a:latin typeface="Arial"/>
              </a:rPr>
              <a:t>•  </a:t>
            </a:r>
            <a:r>
              <a:rPr sz="1200" b="1">
                <a:solidFill>
                  <a:srgbClr val="282828"/>
                </a:solidFill>
                <a:latin typeface="Arial"/>
              </a:rPr>
              <a:t>Lenses image the DM flat</a:t>
            </a:r>
            <a:r>
              <a:rPr sz="1200" b="0">
                <a:solidFill>
                  <a:srgbClr val="282828"/>
                </a:solidFill>
                <a:latin typeface="Arial"/>
              </a:rPr>
              <a:t> (0.5 µm of defocus across the pupil) and hold the mapping to a seventh of a pitch.  </a:t>
            </a:r>
            <a:r>
              <a:rPr sz="1200" b="1">
                <a:solidFill>
                  <a:srgbClr val="282828"/>
                </a:solidFill>
                <a:latin typeface="Arial"/>
              </a:rPr>
              <a:t>Mirrors trade mapping for the front end:</a:t>
            </a:r>
            <a:r>
              <a:rPr sz="1200" b="0">
                <a:solidFill>
                  <a:srgbClr val="282828"/>
                </a:solidFill>
                <a:latin typeface="Arial"/>
              </a:rPr>
              <a:t> the OAP pair distorts the image by more than a pitch at the edge; the measured matrix absorbs it.</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two traces a small field step apart cross at each zone's image at the camera; scored in DM mm against the 1 mm pitch.</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2026-09-18); REPORT_bench_realism.md section 6.  Requested by Fang Shi.  λF/D = 2.83 µm on the 96 mm beam.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a 5.3 µm etched dimple (2.0 λF/D) delays the center of the focal spot a quarter wave; that light spreads back over the pupil and is the reference.</a:t>
            </a:r>
          </a:p>
          <a:p>
            <a:pPr>
              <a:spcAft>
                <a:spcPts val="800"/>
              </a:spcAft>
            </a:pPr>
            <a:r>
              <a:rPr sz="1300" b="0">
                <a:solidFill>
                  <a:srgbClr val="282828"/>
                </a:solidFill>
                <a:latin typeface="Arial"/>
              </a:rPr>
              <a:t>•  </a:t>
            </a:r>
            <a:r>
              <a:rPr sz="1300" b="1">
                <a:solidFill>
                  <a:srgbClr val="282828"/>
                </a:solidFill>
                <a:latin typeface="Arial"/>
              </a:rPr>
              <a:t>Frames per measurement: 4</a:t>
            </a:r>
            <a:r>
              <a:rPr sz="1300" b="0">
                <a:solidFill>
                  <a:srgbClr val="282828"/>
                </a:solidFill>
                <a:latin typeface="Arial"/>
              </a:rPr>
              <a:t> — three etch depths and a clear frame; no branch fold.</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four frames give, pixel by pixel, the field's projection on the reference wave (the dimple's core, modeled from the flat) in cosine and sine, hence the phase; then the matrix fit as for every gauge.</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common path, one plate, no reference arm; a tenth of the interferometer's photons.</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the reference is made from the beam, so it changes with the surface: the raw map reads a 30 nm surface 22 % low (gain 0.78), and with the matrix left as calibrated the reading holds 10 % only to 42 nm of surface.</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0.993 / 5 pm, SNR 1987; 1 nm on 120 sites 0.995 / 4 pm; holds 3 pm from 3.5e12 photons per cycle (9.1e12 under the 2 pm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559307"/>
          </a:xfrm>
          <a:prstGeom prst="rect">
            <a:avLst/>
          </a:prstGeom>
          <a:noFill/>
        </p:spPr>
        <p:txBody>
          <a:bodyPr wrap="square">
            <a:spAutoFit/>
          </a:bodyPr>
          <a:lstStyle/>
          <a:p>
            <a:pPr algn="ctr">
              <a:spcAft>
                <a:spcPts val="0"/>
              </a:spcAft>
            </a:pPr>
            <a:r>
              <a:rPr sz="1000" b="0">
                <a:solidFill>
                  <a:srgbClr val="6E6E6E"/>
                </a:solidFill>
                <a:latin typeface="Arial"/>
              </a:rPr>
              <a:t>The sensors' tail, the tool's own render: from the focuser through the mask seat and the field lens to the camera at the pupil image; the vector form's split to two cameras is drawn, the stepped reading uses camera A alone.</a:t>
            </a:r>
          </a:p>
        </p:txBody>
      </p:sp>
      <p:sp>
        <p:nvSpPr>
          <p:cNvPr id="7" name="TextBox 6"/>
          <p:cNvSpPr txBox="1"/>
          <p:nvPr/>
        </p:nvSpPr>
        <p:spPr>
          <a:xfrm>
            <a:off x="6400800" y="55793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(one fused-silica plate with a 3×3 array of etched spots, on a stage; the 346 nm etch is a quarter wave at 632.8 nm).  Run tags redo96_oapsens, redo96_sensloop2, stations193_oap.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800"/>
              </a:spcAft>
            </a:pPr>
            <a:r>
              <a:rPr sz="1300" b="0">
                <a:solidFill>
                  <a:srgbClr val="282828"/>
                </a:solidFill>
                <a:latin typeface="Arial"/>
              </a:rPr>
              <a:t>•  </a:t>
            </a:r>
            <a:r>
              <a:rPr sz="1300" b="1">
                <a:solidFill>
                  <a:srgbClr val="282828"/>
                </a:solidFill>
                <a:latin typeface="Arial"/>
              </a:rPr>
              <a:t>Reads:</a:t>
            </a:r>
            <a:r>
              <a:rPr sz="1300" b="0">
                <a:solidFill>
                  <a:srgbClr val="282828"/>
                </a:solidFill>
                <a:latin typeface="Arial"/>
              </a:rPr>
              <a:t> the two images are the sensor with its dimple sign flipped; per pixel they give the cosine and sine of the phase together, so the inversion is exact with no branch choice and no stepping.</a:t>
            </a:r>
          </a:p>
          <a:p>
            <a:pPr>
              <a:spcAft>
                <a:spcPts val="800"/>
              </a:spcAft>
            </a:pPr>
            <a:r>
              <a:rPr sz="1300" b="0">
                <a:solidFill>
                  <a:srgbClr val="282828"/>
                </a:solidFill>
                <a:latin typeface="Arial"/>
              </a:rPr>
              <a:t>•  </a:t>
            </a:r>
            <a:r>
              <a:rPr sz="1300" b="1">
                <a:solidFill>
                  <a:srgbClr val="282828"/>
                </a:solidFill>
                <a:latin typeface="Arial"/>
              </a:rPr>
              <a:t>Frames per measurement: 2, simultaneous.</a:t>
            </a:r>
          </a:p>
          <a:p>
            <a:pPr>
              <a:spcAft>
                <a:spcPts val="800"/>
              </a:spcAft>
            </a:pPr>
            <a:r>
              <a:rPr sz="1300" b="0">
                <a:solidFill>
                  <a:srgbClr val="282828"/>
                </a:solidFill>
                <a:latin typeface="Arial"/>
              </a:rPr>
              <a:t>•  </a:t>
            </a:r>
            <a:r>
              <a:rPr sz="1300" b="1">
                <a:solidFill>
                  <a:srgbClr val="282828"/>
                </a:solidFill>
                <a:latin typeface="Arial"/>
              </a:rPr>
              <a:t>Reconstruction:</a:t>
            </a:r>
            <a:r>
              <a:rPr sz="1300" b="0">
                <a:solidFill>
                  <a:srgbClr val="282828"/>
                </a:solidFill>
                <a:latin typeface="Arial"/>
              </a:rPr>
              <a:t> the two images are the dimple's +90° and −90° readings; their difference and sum give the sine and cosine of the phase per pixel, with the amplitude taken from the pair — no reference amplitude from the flat; then the matrix fit.</a:t>
            </a:r>
          </a:p>
          <a:p>
            <a:pPr>
              <a:spcAft>
                <a:spcPts val="800"/>
              </a:spcAft>
            </a:pPr>
            <a:r>
              <a:rPr sz="1300" b="0">
                <a:solidFill>
                  <a:srgbClr val="282828"/>
                </a:solidFill>
                <a:latin typeface="Arial"/>
              </a:rPr>
              <a:t>•  </a:t>
            </a:r>
            <a:r>
              <a:rPr sz="1300" b="1">
                <a:solidFill>
                  <a:srgbClr val="282828"/>
                </a:solidFill>
                <a:latin typeface="Arial"/>
              </a:rPr>
              <a:t>Gets right:</a:t>
            </a:r>
            <a:r>
              <a:rPr sz="1300" b="0">
                <a:solidFill>
                  <a:srgbClr val="282828"/>
                </a:solidFill>
                <a:latin typeface="Arial"/>
              </a:rPr>
              <a:t> the best line in the comparison — fewest photons, no stepping, no within-scan drift; its per-pixel solve needs no reference amplitude from the flat (raw map gain 0.993).</a:t>
            </a:r>
          </a:p>
          <a:p>
            <a:pPr>
              <a:spcAft>
                <a:spcPts val="800"/>
              </a:spcAft>
            </a:pPr>
            <a:r>
              <a:rPr sz="1300" b="0">
                <a:solidFill>
                  <a:srgbClr val="282828"/>
                </a:solidFill>
                <a:latin typeface="Arial"/>
              </a:rPr>
              <a:t>•  </a:t>
            </a:r>
            <a:r>
              <a:rPr sz="1300" b="1">
                <a:solidFill>
                  <a:srgbClr val="282828"/>
                </a:solidFill>
                <a:latin typeface="Arial"/>
              </a:rPr>
              <a:t>Gets wrong:</a:t>
            </a:r>
            <a:r>
              <a:rPr sz="1300" b="0">
                <a:solidFill>
                  <a:srgbClr val="282828"/>
                </a:solidFill>
                <a:latin typeface="Arial"/>
              </a:rPr>
              <a:t> two cameras (the 7.5 mm pupil image would need a 17° split for side-by-side images); a metasurface and plate whose errors are priced, not yet calibrated out; capture range to 10 % only 70 nm.</a:t>
            </a:r>
          </a:p>
          <a:p>
            <a:pPr>
              <a:spcAft>
                <a:spcPts val="800"/>
              </a:spcAft>
            </a:pPr>
            <a:r>
              <a:rPr sz="1300" b="0">
                <a:solidFill>
                  <a:srgbClr val="282828"/>
                </a:solidFill>
                <a:latin typeface="Arial"/>
              </a:rPr>
              <a:t>•  </a:t>
            </a:r>
            <a:r>
              <a:rPr sz="1300" b="1">
                <a:solidFill>
                  <a:srgbClr val="282828"/>
                </a:solidFill>
                <a:latin typeface="Arial"/>
              </a:rPr>
              <a:t>Scored, 30 nm surface, matrix on it (mirror rig):</a:t>
            </a:r>
            <a:r>
              <a:rPr sz="1300" b="0">
                <a:solidFill>
                  <a:srgbClr val="282828"/>
                </a:solidFill>
                <a:latin typeface="Arial"/>
              </a:rPr>
              <a:t> 10 nm change at gain 1.008 / 2 pm, SNR 6364; 1 nm on 120 sites 1.001 / 4 pm; dense 10 nm 1.0035 / 0.44 nm; holds 3 pm from 2.2e12 photons per cycle (6.8e12 under the walk); no fixed error.</a:t>
            </a:r>
          </a:p>
        </p:txBody>
      </p:sp>
      <p:pic>
        <p:nvPicPr>
          <p:cNvPr id="5" name="Picture 4" descr="crop_zwfs_vlayout_tail.png"/>
          <p:cNvPicPr>
            <a:picLocks noChangeAspect="1"/>
          </p:cNvPicPr>
          <p:nvPr/>
        </p:nvPicPr>
        <p:blipFill>
          <a:blip r:embed="rId2"/>
          <a:stretch>
            <a:fillRect/>
          </a:stretch>
        </p:blipFill>
        <p:spPr>
          <a:xfrm>
            <a:off x="6309360" y="1234440"/>
            <a:ext cx="5394960" cy="3730752"/>
          </a:xfrm>
          <a:prstGeom prst="rect">
            <a:avLst/>
          </a:prstGeom>
        </p:spPr>
      </p:pic>
      <p:sp>
        <p:nvSpPr>
          <p:cNvPr id="6" name="TextBox 5"/>
          <p:cNvSpPr txBox="1"/>
          <p:nvPr/>
        </p:nvSpPr>
        <p:spPr>
          <a:xfrm>
            <a:off x="6309360" y="4983479"/>
            <a:ext cx="5394960" cy="394208"/>
          </a:xfrm>
          <a:prstGeom prst="rect">
            <a:avLst/>
          </a:prstGeom>
          <a:noFill/>
        </p:spPr>
        <p:txBody>
          <a:bodyPr wrap="square">
            <a:spAutoFit/>
          </a:bodyPr>
          <a:lstStyle/>
          <a:p>
            <a:pPr algn="ctr">
              <a:spcAft>
                <a:spcPts val="0"/>
              </a:spcAft>
            </a:pPr>
            <a:r>
              <a:rPr sz="1000" b="0">
                <a:solidFill>
                  <a:srgbClr val="6E6E6E"/>
                </a:solidFill>
                <a:latin typeface="Arial"/>
              </a:rPr>
              <a:t>The vector sensor's leg from the focus to the two cameras, both channel decks traced by the engine.</a:t>
            </a:r>
          </a:p>
        </p:txBody>
      </p:sp>
      <p:sp>
        <p:nvSpPr>
          <p:cNvPr id="7" name="TextBox 6"/>
          <p:cNvSpPr txBox="1"/>
          <p:nvPr/>
        </p:nvSpPr>
        <p:spPr>
          <a:xfrm>
            <a:off x="6400800" y="5414263"/>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(metasurface in the etched plate's seat; zero-order quarter-wave plate; 12.7 mm MacNeille cube behind the field lens; two cameras 20.7 mm behind the cube).  Run tags redo96_oapsens, redo96_sensloop2, stations193_oap.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surround, plus one pinhole-only frame per state that keeps the calibration honest far from null; the P/SRI is its photonic two-arm sibling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500"/>
              </a:spcAft>
            </a:pPr>
            <a:r>
              <a:rPr sz="1100" b="0">
                <a:solidFill>
                  <a:srgbClr val="282828"/>
                </a:solidFill>
                <a:latin typeface="Arial"/>
              </a:rPr>
              <a:t>•  </a:t>
            </a:r>
            <a:r>
              <a:rPr sz="1100" b="1">
                <a:solidFill>
                  <a:srgbClr val="282828"/>
                </a:solidFill>
                <a:latin typeface="Arial"/>
              </a:rPr>
              <a:t>Reads:</a:t>
            </a:r>
            <a:r>
              <a:rPr sz="1100" b="0">
                <a:solidFill>
                  <a:srgbClr val="282828"/>
                </a:solidFill>
                <a:latin typeface="Arial"/>
              </a:rPr>
              <a:t> the pinhole passes the core of the focal spot as the reference; the surround, attenuated to 0.72 in amplitude, passes the rest; the two interfere at the pupil image.</a:t>
            </a:r>
          </a:p>
          <a:p>
            <a:pPr>
              <a:spcAft>
                <a:spcPts val="500"/>
              </a:spcAft>
            </a:pPr>
            <a:r>
              <a:rPr sz="1100" b="0">
                <a:solidFill>
                  <a:srgbClr val="282828"/>
                </a:solidFill>
                <a:latin typeface="Arial"/>
              </a:rPr>
              <a:t>•  </a:t>
            </a:r>
            <a:r>
              <a:rPr sz="1100" b="1">
                <a:solidFill>
                  <a:srgbClr val="282828"/>
                </a:solidFill>
                <a:latin typeface="Arial"/>
              </a:rPr>
              <a:t>Frames per measurement: 6</a:t>
            </a:r>
            <a:r>
              <a:rPr sz="1100" b="0">
                <a:solidFill>
                  <a:srgbClr val="282828"/>
                </a:solidFill>
                <a:latin typeface="Arial"/>
              </a:rPr>
              <a:t> — the surround's phase stepped through five (the Schwider-Hariharan scan, insensitive to step error) plus one frame with the surround shuttered, which measures the reference by itself.</a:t>
            </a:r>
          </a:p>
          <a:p>
            <a:pPr>
              <a:spcAft>
                <a:spcPts val="500"/>
              </a:spcAft>
            </a:pPr>
            <a:r>
              <a:rPr sz="1100" b="0">
                <a:solidFill>
                  <a:srgbClr val="282828"/>
                </a:solidFill>
                <a:latin typeface="Arial"/>
              </a:rPr>
              <a:t>•  </a:t>
            </a:r>
            <a:r>
              <a:rPr sz="1100" b="1">
                <a:solidFill>
                  <a:srgbClr val="282828"/>
                </a:solidFill>
                <a:latin typeface="Arial"/>
              </a:rPr>
              <a:t>Reconstruction:</a:t>
            </a:r>
            <a:r>
              <a:rPr sz="1100" b="0">
                <a:solidFill>
                  <a:srgbClr val="282828"/>
                </a:solidFill>
                <a:latin typeface="Arial"/>
              </a:rPr>
              <a:t> the five-frame Schwider-Hariharan sums give the phase per pixel against the pinhole's reference, whose amplitude the shutter frame measures state by state; then the matrix fit.</a:t>
            </a:r>
          </a:p>
          <a:p>
            <a:pPr>
              <a:spcAft>
                <a:spcPts val="500"/>
              </a:spcAft>
            </a:pPr>
            <a:r>
              <a:rPr sz="1100" b="0">
                <a:solidFill>
                  <a:srgbClr val="282828"/>
                </a:solidFill>
                <a:latin typeface="Arial"/>
              </a:rPr>
              <a:t>•  </a:t>
            </a:r>
            <a:r>
              <a:rPr sz="1100" b="1">
                <a:solidFill>
                  <a:srgbClr val="282828"/>
                </a:solidFill>
                <a:latin typeface="Arial"/>
              </a:rPr>
              <a:t>Scanned how:</a:t>
            </a:r>
            <a:r>
              <a:rPr sz="1100" b="0">
                <a:solidFill>
                  <a:srgbClr val="282828"/>
                </a:solidFill>
                <a:latin typeface="Arial"/>
              </a:rPr>
              <a:t> fixed etches, no moving part in the beam.  One fused-silica plate carries a row of pinhole sites whose surrounds are etched 0 to 4 steps of 346 nm (a quarter wave of phase each at 632.8 nm, the Zernike plate's own etch) and a sixth site with the surround chromed, the shutter frame; the mask seat's translation stage moves site to site, as for the Zernike plate's 3×3 array.  Modeled so far: the step increment and its error; not yet the stage, the etch tolerances or the attenuator's own phase.</a:t>
            </a:r>
          </a:p>
          <a:p>
            <a:pPr>
              <a:spcAft>
                <a:spcPts val="500"/>
              </a:spcAft>
            </a:pPr>
            <a:r>
              <a:rPr sz="1100" b="0">
                <a:solidFill>
                  <a:srgbClr val="282828"/>
                </a:solidFill>
                <a:latin typeface="Arial"/>
              </a:rPr>
              <a:t>•  </a:t>
            </a:r>
            <a:r>
              <a:rPr sz="1100" b="1">
                <a:solidFill>
                  <a:srgbClr val="282828"/>
                </a:solidFill>
                <a:latin typeface="Arial"/>
              </a:rPr>
              <a:t>Gets right:</a:t>
            </a:r>
            <a:r>
              <a:rPr sz="1100" b="0">
                <a:solidFill>
                  <a:srgbClr val="282828"/>
                </a:solidFill>
                <a:latin typeface="Arial"/>
              </a:rPr>
              <a:t> the shutter frame keeps the calibration honest far from null: 10 % accuracy to 480 nm of surface and beyond, where the dimple's self-reference fails at 42-70 nm.</a:t>
            </a:r>
          </a:p>
          <a:p>
            <a:pPr>
              <a:spcAft>
                <a:spcPts val="500"/>
              </a:spcAft>
            </a:pPr>
            <a:r>
              <a:rPr sz="1100" b="0">
                <a:solidFill>
                  <a:srgbClr val="282828"/>
                </a:solidFill>
                <a:latin typeface="Arial"/>
              </a:rPr>
              <a:t>•  </a:t>
            </a:r>
            <a:r>
              <a:rPr sz="1100" b="1">
                <a:solidFill>
                  <a:srgbClr val="282828"/>
                </a:solidFill>
                <a:latin typeface="Arial"/>
              </a:rPr>
              <a:t>Scored, 30 nm surface, matrix on it (mirror rig):</a:t>
            </a:r>
            <a:r>
              <a:rPr sz="1100" b="0">
                <a:solidFill>
                  <a:srgbClr val="282828"/>
                </a:solidFill>
                <a:latin typeface="Arial"/>
              </a:rPr>
              <a:t> 10 nm change at gain 0.995 / 3 pm, SNR 3845; 1 nm on 120 sites 0.998 / 3 pm; holds 3 pm from 3.1e12 photons per cycle (8.4e12 under the walk); no fixed error.</a:t>
            </a:r>
          </a:p>
          <a:p>
            <a:pPr>
              <a:spcAft>
                <a:spcPts val="500"/>
              </a:spcAft>
            </a:pPr>
            <a:r>
              <a:rPr sz="1100" b="0">
                <a:solidFill>
                  <a:srgbClr val="282828"/>
                </a:solidFill>
                <a:latin typeface="Arial"/>
              </a:rPr>
              <a:t>•  </a:t>
            </a:r>
            <a:r>
              <a:rPr sz="1100" b="1">
                <a:solidFill>
                  <a:srgbClr val="282828"/>
                </a:solidFill>
                <a:latin typeface="Arial"/>
              </a:rPr>
              <a:t>The P/SRI (Dube et al. 2024) is this sensor's photonic form:</a:t>
            </a:r>
            <a:r>
              <a:rPr sz="1100" b="0">
                <a:solidFill>
                  <a:srgbClr val="282828"/>
                </a:solidFill>
                <a:latin typeface="Arial"/>
              </a:rPr>
              <a:t> a 60/40 plate feeds a reference arm that focuses onto a single-mode waveguide in a photonic chip; the waveguide's mode comes back as a point-diffraction reference fixed in shape, phase-shifted thermo-optically in the chip, and is recombined with the test beam.  Externally referenced like the interferometer (captures to 480 nm and beyond), non-common-path; 6× the pinhole's photons at null, nothing off it.</a:t>
            </a:r>
          </a:p>
        </p:txBody>
      </p:sp>
      <p:pic>
        <p:nvPicPr>
          <p:cNvPr id="5" name="Picture 4" descr="crop_pdi_layout_tail.png"/>
          <p:cNvPicPr>
            <a:picLocks noChangeAspect="1"/>
          </p:cNvPicPr>
          <p:nvPr/>
        </p:nvPicPr>
        <p:blipFill>
          <a:blip r:embed="rId2"/>
          <a:stretch>
            <a:fillRect/>
          </a:stretch>
        </p:blipFill>
        <p:spPr>
          <a:xfrm>
            <a:off x="6309360" y="1234440"/>
            <a:ext cx="5394960" cy="3941063"/>
          </a:xfrm>
          <a:prstGeom prst="rect">
            <a:avLst/>
          </a:prstGeom>
        </p:spPr>
      </p:pic>
      <p:sp>
        <p:nvSpPr>
          <p:cNvPr id="6" name="TextBox 5"/>
          <p:cNvSpPr txBox="1"/>
          <p:nvPr/>
        </p:nvSpPr>
        <p:spPr>
          <a:xfrm>
            <a:off x="6309360" y="5193792"/>
            <a:ext cx="5394960" cy="394208"/>
          </a:xfrm>
          <a:prstGeom prst="rect">
            <a:avLst/>
          </a:prstGeom>
          <a:noFill/>
        </p:spPr>
        <p:txBody>
          <a:bodyPr wrap="square">
            <a:spAutoFit/>
          </a:bodyPr>
          <a:lstStyle/>
          <a:p>
            <a:pPr algn="ctr">
              <a:spcAft>
                <a:spcPts val="0"/>
              </a:spcAft>
            </a:pPr>
            <a:r>
              <a:rPr sz="1000" b="0">
                <a:solidFill>
                  <a:srgbClr val="6E6E6E"/>
                </a:solidFill>
                <a:latin typeface="Arial"/>
              </a:rPr>
              <a:t>The pinhole sensor's tail, the tool's own render: the focuser, the pinhole substrate at the internal focus on its stepping stage, the field lens and the camera.</a:t>
            </a:r>
          </a:p>
        </p:txBody>
      </p:sp>
      <p:sp>
        <p:nvSpPr>
          <p:cNvPr id="7" name="TextBox 6"/>
          <p:cNvSpPr txBox="1"/>
          <p:nvPr/>
        </p:nvSpPr>
        <p:spPr>
          <a:xfrm>
            <a:off x="6400800" y="5624576"/>
            <a:ext cx="5394960" cy="274320"/>
          </a:xfrm>
          <a:prstGeom prst="rect">
            <a:avLst/>
          </a:prstGeom>
          <a:noFill/>
        </p:spPr>
        <p:txBody>
          <a:bodyPr wrap="square">
            <a:spAutoFit/>
          </a:bodyPr>
          <a:lstStyle/>
          <a:p>
            <a:pPr>
              <a:spcAft>
                <a:spcPts val="600"/>
              </a:spcAft>
            </a:pPr>
            <a:r>
              <a:rPr sz="1050" b="0">
                <a:solidFill>
                  <a:srgbClr val="6E6E6E"/>
                </a:solidFill>
                <a:latin typeface="Arial"/>
              </a:rPr>
              <a:t>Parts: the backup's "Parts specific to the sensors".  P/SRI: Dube, Nejadriahi, Sidick, Jewell, Redding, Lou and Basinger, Proc. SPIE 13092, 130926F (2024); modeled here with their mode (V 2.3, core 0.5 λ/D), their split and their five-frame scan, the reference arm traced by the engine.  Run tags redo96_oapsens, redo96_sensloop2, stations193_oap; P/SRI pfdeck, psri_traced.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rcRect t="8640" b="10590"/>
          <a:stretch>
            <a:fillRect/>
          </a:stretch>
        </p:blipFill>
        <p:spPr>
          <a:xfrm>
            <a:off x="2779776" y="1325880"/>
            <a:ext cx="9336024" cy="1280160"/>
          </a:xfrm>
          <a:prstGeom prst="rect">
            <a:avLst/>
          </a:prstGeom>
        </p:spPr>
      </p:pic>
      <p:sp>
        <p:nvSpPr>
          <p:cNvPr id="5" name="TextBox 4"/>
          <p:cNvSpPr txBox="1"/>
          <p:nvPr/>
        </p:nvSpPr>
        <p:spPr>
          <a:xfrm>
            <a:off x="201168" y="1399032"/>
            <a:ext cx="2770632" cy="12197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31.5 nm rms; the snapshot's raw map minus the engine's field, 551 pm, gain 0.987; the piezo four-step's, 0.01 pm, gain 1.0000.</a:t>
            </a:r>
          </a:p>
        </p:txBody>
      </p:sp>
      <p:pic>
        <p:nvPicPr>
          <p:cNvPr id="6" name="Picture 5" descr="crop_stations_row2_S.png"/>
          <p:cNvPicPr>
            <a:picLocks noChangeAspect="1"/>
          </p:cNvPicPr>
          <p:nvPr/>
        </p:nvPicPr>
        <p:blipFill>
          <a:blip r:embed="rId3"/>
          <a:srcRect t="10420" b="10400"/>
          <a:stretch>
            <a:fillRect/>
          </a:stretch>
        </p:blipFill>
        <p:spPr>
          <a:xfrm>
            <a:off x="2779776" y="2624328"/>
            <a:ext cx="9336024" cy="1289304"/>
          </a:xfrm>
          <a:prstGeom prst="rect">
            <a:avLst/>
          </a:prstGeom>
        </p:spPr>
      </p:pic>
      <p:sp>
        <p:nvSpPr>
          <p:cNvPr id="7" name="TextBox 6"/>
          <p:cNvSpPr txBox="1"/>
          <p:nvPr/>
        </p:nvSpPr>
        <p:spPr>
          <a:xfrm>
            <a:off x="201168" y="2660904"/>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rcRect t="10390" b="11610"/>
          <a:stretch>
            <a:fillRect/>
          </a:stretch>
        </p:blipFill>
        <p:spPr>
          <a:xfrm>
            <a:off x="2779776" y="3950208"/>
            <a:ext cx="9336024" cy="1261872"/>
          </a:xfrm>
          <a:prstGeom prst="rect">
            <a:avLst/>
          </a:prstGeom>
        </p:spPr>
      </p:pic>
      <p:sp>
        <p:nvSpPr>
          <p:cNvPr id="9" name="TextBox 8"/>
          <p:cNvSpPr txBox="1"/>
          <p:nvPr/>
        </p:nvSpPr>
        <p:spPr>
          <a:xfrm>
            <a:off x="201168" y="3959352"/>
            <a:ext cx="2770632" cy="10546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rcRect t="9290" b="12140"/>
          <a:stretch>
            <a:fillRect/>
          </a:stretch>
        </p:blipFill>
        <p:spPr>
          <a:xfrm>
            <a:off x="2779776" y="5248656"/>
            <a:ext cx="9336024" cy="1271016"/>
          </a:xfrm>
          <a:prstGeom prst="rect">
            <a:avLst/>
          </a:prstGeom>
        </p:spPr>
      </p:pic>
      <p:sp>
        <p:nvSpPr>
          <p:cNvPr id="11" name="TextBox 10"/>
          <p:cNvSpPr txBox="1"/>
          <p:nvPr/>
        </p:nvSpPr>
        <p:spPr>
          <a:xfrm>
            <a:off x="201168" y="5285232"/>
            <a:ext cx="2770632" cy="10546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6537960"/>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one DM command in all four; the 7.1 nm is a gain error the matrix absorbs (backup).  Runs redo96_oapstn2, stations193_oap.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86100"/>
        </p:xfrm>
        <a:graphic>
          <a:graphicData uri="http://schemas.openxmlformats.org/drawingml/2006/table">
            <a:tbl>
              <a:tblPr firstRow="1" bandRow="1">
                <a:tableStyleId>{5C22544A-7EE6-4342-B048-85BDC9FD1C3A}</a:tableStyleId>
              </a:tblPr>
              <a:tblGrid>
                <a:gridCol w="4297226"/>
                <a:gridCol w="2202328"/>
                <a:gridCol w="2398268"/>
                <a:gridCol w="2470912"/>
              </a:tblGrid>
              <a:tr h="468630">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468630">
                <a:tc>
                  <a:txBody>
                    <a:bodyPr wrap="square"/>
                    <a:lstStyle/>
                    <a:p>
                      <a:r>
                        <a:rPr sz="1100" b="0">
                          <a:solidFill>
                            <a:srgbClr val="282828"/>
                          </a:solidFill>
                          <a:latin typeface="Arial"/>
                        </a:rPr>
                        <a:t>Zernike, linear one frame (1): the small-phase formula with the flat's reference</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468630">
                <a:tc>
                  <a:txBody>
                    <a:bodyPr wrap="square"/>
                    <a:lstStyle/>
                    <a:p>
                      <a:r>
                        <a:rPr sz="1100" b="0">
                          <a:solidFill>
                            <a:srgbClr val="282828"/>
                          </a:solidFill>
                          <a:latin typeface="Arial"/>
                        </a:rPr>
                        <a:t>Zernike, exact one frame (1): the exact per-pixel solve, the reference iterated</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750 pm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440 pm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83844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Controlling two DMs with one sensor: the full complex amplitude</a:t>
            </a:r>
          </a:p>
          <a:p>
            <a:pPr>
              <a:spcAft>
                <a:spcPts val="0"/>
              </a:spcAft>
            </a:pPr>
            <a:r>
              <a:rPr sz="1250" b="0">
                <a:solidFill>
                  <a:srgbClr val="6E6E6E"/>
                </a:solidFill>
                <a:latin typeface="Arial"/>
              </a:rPr>
              <a:t>A second deformable mirror corrects amplitude as well as phase, so its control needs the pupil field's amplitude too; every approach but the one-frame Zernike readings returns it from frames it already takes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the 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411480" y="4256532"/>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vector pair alone cannot:</a:t>
            </a:r>
            <a:r>
              <a:rPr sz="12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a:t>
            </a:r>
            <a:r>
              <a:rPr sz="1200" b="1">
                <a:solidFill>
                  <a:srgbClr val="282828"/>
                </a:solidFill>
                <a:latin typeface="Arial"/>
              </a:rPr>
              <a:t>The pair plus the state's clear frame reads both exactly:</a:t>
            </a:r>
            <a:r>
              <a:rPr sz="1200" b="0">
                <a:solidFill>
                  <a:srgbClr val="282828"/>
                </a:solidFill>
                <a:latin typeface="Arial"/>
              </a:rPr>
              <a:t> through a 5 % and a 20 %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On the telescope:</a:t>
            </a:r>
            <a:r>
              <a:rPr sz="1200" b="0">
                <a:solidFill>
                  <a:srgbClr val="282828"/>
                </a:solidFill>
                <a:latin typeface="Arial"/>
              </a:rPr>
              <a:t> a calibration source after M2, co-aligned with the starlight beam and out of the science band, feeds the gauge through the rest of the train — M3, the fold, both deformable mirrors — so amplitude and phase are read continuously, at the gauge's own light level, without taking starlight or waiting on the science camera — the internal source after the secondary of Redding et al. 2023, 2024, which is also the reference for the telescope's metrology, so the whole beam train is measured directly.  The star's own light then carries only the slow dark-hole loop.</a:t>
            </a:r>
          </a:p>
          <a:p>
            <a:pPr>
              <a:spcAft>
                <a:spcPts val="600"/>
              </a:spcAft>
            </a:pPr>
            <a:r>
              <a:rPr sz="1200" b="0">
                <a:solidFill>
                  <a:srgbClr val="282828"/>
                </a:solidFill>
                <a:latin typeface="Arial"/>
              </a:rPr>
              <a:t>•  </a:t>
            </a:r>
            <a:r>
              <a:rPr sz="1200" b="1">
                <a:solidFill>
                  <a:srgbClr val="282828"/>
                </a:solidFill>
                <a:latin typeface="Arial"/>
              </a:rPr>
              <a:t>What the mode needs from the bench:</a:t>
            </a:r>
            <a:r>
              <a:rPr sz="1200" b="0">
                <a:solidFill>
                  <a:srgbClr val="282828"/>
                </a:solidFill>
                <a:latin typeface="Arial"/>
              </a:rPr>
              <a:t> a reading that returns amplitude (every row above but the one-frame Zernike), the gauge's wavelength outside the band the coronagraph uses, and a response matrix measured through the gauge's own path — the same matrix practice as every row in this deck.</a:t>
            </a:r>
          </a:p>
          <a:p>
            <a:pPr>
              <a:spcAft>
                <a:spcPts val="600"/>
              </a:spcAft>
            </a:pPr>
            <a:r>
              <a:rPr sz="1200" b="0">
                <a:solidFill>
                  <a:srgbClr val="282828"/>
                </a:solidFill>
                <a:latin typeface="Arial"/>
              </a:rPr>
              <a:t>•  </a:t>
            </a:r>
            <a:r>
              <a:rPr sz="1200" b="1">
                <a:solidFill>
                  <a:srgbClr val="282828"/>
                </a:solidFill>
                <a:latin typeface="Arial"/>
              </a:rPr>
              <a:t>What is not yet shown:</a:t>
            </a:r>
            <a:r>
              <a:rPr sz="1200" b="0">
                <a:solidFill>
                  <a:srgbClr val="282828"/>
                </a:solidFill>
                <a:latin typeface="Arial"/>
              </a:rPr>
              <a:t> the second mirror's control law and its rows; the source's co-alignment tolerance; the out-of-band path's chromatic terms through the DMs.  The one-sensor, two-DM loop is the natural next campaign on this bench.</a:t>
            </a:r>
          </a:p>
        </p:txBody>
      </p:sp>
      <p:sp>
        <p:nvSpPr>
          <p:cNvPr id="7" name="TextBox 6"/>
          <p:cNvSpPr txBox="1"/>
          <p:nvPr/>
        </p:nvSpPr>
        <p:spPr>
          <a:xfrm>
            <a:off x="6400800" y="5321807"/>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Redding, Sidick, Lou, Dube, Basinger and Rodgers, "Integrated active control of coronagraph and telescope for high contrast imaging," Proc. SPIE, Optics + Photonics 2023; Redding et al., "Wavefront sensing and control for a future Habitable Worlds Observatory," Proc. SPIE 13092 (2024), Fig. 3 for the source's insertion points.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Calibration removes the systematic errors; what it cannot, priced</a:t>
            </a:r>
          </a:p>
          <a:p>
            <a:pPr>
              <a:spcAft>
                <a:spcPts val="0"/>
              </a:spcAft>
            </a:pPr>
            <a:r>
              <a:rPr sz="1250" b="0">
                <a:solidFill>
                  <a:srgbClr val="6E6E6E"/>
                </a:solidFill>
                <a:latin typeface="Arial"/>
              </a:rPr>
              <a:t>Every systematic we could model is either absorbed by the response matrix — measured through the sensor itself, one poke per actuator, on the working surface —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66335"/>
        </p:xfrm>
        <a:graphic>
          <a:graphicData uri="http://schemas.openxmlformats.org/drawingml/2006/table">
            <a:tbl>
              <a:tblPr firstRow="1" bandRow="1">
                <a:tableStyleId>{5C22544A-7EE6-4342-B048-85BDC9FD1C3A}</a:tableStyleId>
              </a:tblPr>
              <a:tblGrid>
                <a:gridCol w="1889760"/>
                <a:gridCol w="2203445"/>
                <a:gridCol w="3824849"/>
                <a:gridCol w="3450679"/>
              </a:tblGrid>
              <a:tr h="468630">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response matrix is measured through the sensor on the working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411087"/>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Recommendations and conclusions</a:t>
            </a:r>
          </a:p>
          <a:p>
            <a:pPr>
              <a:spcAft>
                <a:spcPts val="0"/>
              </a:spcAft>
            </a:pPr>
            <a:r>
              <a:rPr sz="1250" b="0">
                <a:solidFill>
                  <a:srgbClr val="6E6E6E"/>
                </a:solidFill>
                <a:latin typeface="Arial"/>
              </a:rPr>
              <a:t>Hold with the vector Zernike sensor; capture with the interferometer, or with the stepped pinhole if a second arm is not wanted; either front end builds;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Hold with the ZWFS.</a:t>
            </a:r>
            <a:r>
              <a:rPr sz="1200" b="0">
                <a:solidFill>
                  <a:srgbClr val="282828"/>
                </a:solidFill>
                <a:latin typeface="Arial"/>
              </a:rPr>
              <a:t>  The polarized dimple is the best reading on every line: 3 pm from 2.2e12 photons per cycle, two frames at once, no stepping, no fold, no fixed error, every modeled systematic calibrated by the matrix measured through it.  Fallback: the stepped scalar dimple, no polarization optics, 1.6× the light.</a:t>
            </a:r>
          </a:p>
          <a:p>
            <a:pPr>
              <a:spcAft>
                <a:spcPts val="600"/>
              </a:spcAft>
            </a:pPr>
            <a:r>
              <a:rPr sz="1200" b="0">
                <a:solidFill>
                  <a:srgbClr val="282828"/>
                </a:solidFill>
                <a:latin typeface="Arial"/>
              </a:rPr>
              <a:t>•  </a:t>
            </a:r>
            <a:r>
              <a:rPr sz="1200" b="1">
                <a:solidFill>
                  <a:srgbClr val="282828"/>
                </a:solidFill>
                <a:latin typeface="Arial"/>
              </a:rPr>
              <a:t>Capture with the IFO or the stepped-pinhole PDI.</a:t>
            </a:r>
            <a:r>
              <a:rPr sz="1200" b="0">
                <a:solidFill>
                  <a:srgbClr val="282828"/>
                </a:solidFill>
                <a:latin typeface="Arial"/>
              </a:rPr>
              <a:t>  The interferometer brings 200–400 nm of wavefront to 3 pm in 19–24 cycles with unwrapping alone; in the common path the stepped pinhole with its shutter frame captures 200 nm with unwrapping and three recalibrations.  A second color is the sensors' own route (future work).</a:t>
            </a:r>
          </a:p>
          <a:p>
            <a:pPr>
              <a:spcAft>
                <a:spcPts val="600"/>
              </a:spcAft>
            </a:pPr>
            <a:r>
              <a:rPr sz="1200" b="0">
                <a:solidFill>
                  <a:srgbClr val="282828"/>
                </a:solidFill>
                <a:latin typeface="Arial"/>
              </a:rPr>
              <a:t>•  </a:t>
            </a:r>
            <a:r>
              <a:rPr sz="1200" b="1">
                <a:solidFill>
                  <a:srgbClr val="282828"/>
                </a:solidFill>
                <a:latin typeface="Arial"/>
              </a:rPr>
              <a:t>Build with either front end.</a:t>
            </a:r>
            <a:r>
              <a:rPr sz="1200" b="0">
                <a:solidFill>
                  <a:srgbClr val="282828"/>
                </a:solidFill>
                <a:latin typeface="Arial"/>
              </a:rPr>
              <a:t>  Mirrors match lenses on every row and in the servo (2.0e13 vs 2.3e13 photons per cycle), read 1 pm for 30 % fewer photons, capture faster, take any color with no glass in the beam; they cost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A testbed for four sensor architectures:</a:t>
            </a:r>
            <a:r>
              <a:rPr sz="1200" b="0">
                <a:solidFill>
                  <a:srgbClr val="282828"/>
                </a:solidFill>
                <a:latin typeface="Arial"/>
              </a:rPr>
              <a:t> one layout — reference arm shuttered, mask seat translated, quarter-wave plate in or out, the P/SRI arm behind a flip-in plate.  Capture with the interferometer, hand off inside the sensor's 60 nm reach, hold with the sensor at a tenth of the light.</a:t>
            </a:r>
          </a:p>
          <a:p>
            <a:pPr>
              <a:spcAft>
                <a:spcPts val="600"/>
              </a:spcAft>
            </a:pPr>
            <a:r>
              <a:rPr sz="1200" b="0">
                <a:solidFill>
                  <a:srgbClr val="282828"/>
                </a:solidFill>
                <a:latin typeface="Arial"/>
              </a:rPr>
              <a:t>•  </a:t>
            </a:r>
            <a:r>
              <a:rPr sz="1200" b="1">
                <a:solidFill>
                  <a:srgbClr val="282828"/>
                </a:solidFill>
                <a:latin typeface="Arial"/>
              </a:rPr>
              <a:t>A validation platform:</a:t>
            </a:r>
            <a:r>
              <a:rPr sz="1200" b="0">
                <a:solidFill>
                  <a:srgbClr val="282828"/>
                </a:solidFill>
                <a:latin typeface="Arial"/>
              </a:rPr>
              <a:t> in air, experience and model validation; in vacuum, DM and sensor performance at TRL 5–6.</a:t>
            </a:r>
          </a:p>
          <a:p>
            <a:pPr>
              <a:spcAft>
                <a:spcPts val="600"/>
              </a:spcAft>
            </a:pPr>
            <a:r>
              <a:rPr sz="1200" b="0">
                <a:solidFill>
                  <a:srgbClr val="282828"/>
                </a:solidFill>
                <a:latin typeface="Arial"/>
              </a:rPr>
              <a:t>•  </a:t>
            </a:r>
            <a:r>
              <a:rPr sz="1200" b="1">
                <a:solidFill>
                  <a:srgbClr val="282828"/>
                </a:solidFill>
                <a:latin typeface="Arial"/>
              </a:rPr>
              <a:t>What the numbers do not decide, experience will:</a:t>
            </a:r>
            <a:r>
              <a:rPr sz="12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 and proves both.</a:t>
            </a:r>
          </a:p>
          <a:p>
            <a:pPr>
              <a:spcAft>
                <a:spcPts val="600"/>
              </a:spcAft>
            </a:pPr>
            <a:r>
              <a:rPr sz="1200" b="0">
                <a:solidFill>
                  <a:srgbClr val="282828"/>
                </a:solidFill>
                <a:latin typeface="Arial"/>
              </a:rPr>
              <a:t>•  </a:t>
            </a:r>
            <a:r>
              <a:rPr sz="1200" b="1">
                <a:solidFill>
                  <a:srgbClr val="282828"/>
                </a:solidFill>
                <a:latin typeface="Arial"/>
              </a:rPr>
              <a:t>Technology still to develop:</a:t>
            </a:r>
            <a:r>
              <a:rPr sz="1200" b="0">
                <a:solidFill>
                  <a:srgbClr val="282828"/>
                </a:solidFill>
                <a:latin typeface="Arial"/>
              </a:rPr>
              <a:t> the geometric-phase metasurface dimple (retardance to 0.1 rad) and the polarization optics behind it (plate at λ/300, cube extinction); the polarization camera's calibration; the piezo step's repeatability (a 2 % step error costs 2.6 % of gain uncalibrated); the stepped pinhole's phase stepping and attenuator (no device physics yet); the P/SRI's photonic chip (coupling, loss, drift); the camera's within-scan drift at 1e-3 of signal; a second color for capture.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the commands that reproduce every number in the deck,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 and the one-sensor, two-DM loop.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 batch: ./tg96_batch.sh TAG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battery, figures); mirror rig, all readings: zwfs_run('bench.optics','oap','readings',{'S','V','P','PF'},'stages',{'bench','battery','noise','loop'},'mask.v_arm','engine'); batch: ./zwfs_batch.sh TAG "...".</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github nasa-jpl/macos and nasa-jpl/MACOS_resources: MACOS_resources/mmacos/templates/40_benches/{tg_psi_dm96_oap, zwfs_dm96, pdi_dm96} and the shared dm_gauge_lib, branch dev-candidate; each README carries the full command list and the run-tag index.  One parameter sheet and one runner per approach; a model-1024 run needs about 11 GB, and the batch wrappers run one at a time.</a:t>
            </a:r>
          </a:p>
        </p:txBody>
      </p:sp>
      <p:sp>
        <p:nvSpPr>
          <p:cNvPr id="6" name="TextBox 5"/>
          <p:cNvSpPr txBox="1"/>
          <p:nvPr/>
        </p:nvSpPr>
        <p:spPr>
          <a:xfrm>
            <a:off x="6400800" y="5404104"/>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559/0 (2026-10-07).  All code and documentation is public: nasa-jpl/macos and nasa-jpl/MACOS_resources on github.</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mirror rig: the snapshot's absolute map is within 1.8 % of the engine's field (gain 0.987), the piezo four-step's exact,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226862" y="1298448"/>
            <a:ext cx="9737969"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551 pm on the 30 nm surface (1.8 % of the figure, gain 0.987);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392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  The figure's mask is the test beam's support: the shared mask is taken from the interference frame and includes an annulus where only the wider reference beam arrives, which drew as a flat ring and diluted the rms values of the 09-17 figure (463 pm, 25.8 nm read) by the annulus area.  The eighth column is the hybrid's piezo four-step on the same frames' fields: 0.01 pm, gain 1.0000 on both rigs -- the snapshot's gain is a polarization term and the piezo leg is its calibration.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