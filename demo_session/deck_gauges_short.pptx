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only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  For scale,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327648"/>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The raw-map rows are the station figures' (runs redo96_lensstn2, redo96_oapstn2), the snapshot's sign set by a +50 nm push: the two rigs' polarization inputs run the fringe opposite ways, which the matrix carries and an absolute map does not.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The hybrid form: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test beam from the mirror interferes with a flat's beam; four frames at four phase steps give the phase at every pixel.</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Snapshot: all four at once through polarization optics.  Piezo: the flat stepped in time.</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an external reference, so it reads any figure (capture range 480 nm and beyond) and captures from 200 nm of wavefront with unwrapping alone.</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p>
          <a:p>
            <a:pPr>
              <a:spcAft>
                <a:spcPts val="800"/>
              </a:spcAft>
            </a:pPr>
            <a:r>
              <a:rPr sz="1300" b="0">
                <a:solidFill>
                  <a:srgbClr val="282828"/>
                </a:solidFill>
                <a:latin typeface="Arial"/>
              </a:rPr>
              <a:t>•  </a:t>
            </a:r>
            <a:r>
              <a:rPr sz="1300" b="1">
                <a:solidFill>
                  <a:srgbClr val="282828"/>
                </a:solidFill>
                <a:latin typeface="Arial"/>
              </a:rPr>
              <a:t>Scored, 30 nm surface, matrix on it:</a:t>
            </a:r>
            <a:r>
              <a:rPr sz="1300" b="0">
                <a:solidFill>
                  <a:srgbClr val="282828"/>
                </a:solidFill>
                <a:latin typeface="Arial"/>
              </a:rPr>
              <a:t> 10 nm change at gain 1.004 / 1.4 pm (lens), 0.986 / 2.3 pm (mirror); holds 3 pm from 2.3e13 / 2.0e13 photons per cycle; the servo's noiseless step settles to 0.015 / 2.8 pm.</a:t>
            </a:r>
          </a:p>
        </p:txBody>
      </p:sp>
      <p:pic>
        <p:nvPicPr>
          <p:cNvPr id="5" name="Picture 4" descr="crop_lay96_oap_node.png"/>
          <p:cNvPicPr>
            <a:picLocks noChangeAspect="1"/>
          </p:cNvPicPr>
          <p:nvPr/>
        </p:nvPicPr>
        <p:blipFill>
          <a:blip r:embed="rId2"/>
          <a:stretch>
            <a:fillRect/>
          </a:stretch>
        </p:blipFill>
        <p:spPr>
          <a:xfrm>
            <a:off x="6309360" y="1234440"/>
            <a:ext cx="5394960" cy="3300984"/>
          </a:xfrm>
          <a:prstGeom prst="rect">
            <a:avLst/>
          </a:prstGeom>
        </p:spPr>
      </p:pic>
      <p:sp>
        <p:nvSpPr>
          <p:cNvPr id="6" name="TextBox 5"/>
          <p:cNvSpPr txBox="1"/>
          <p:nvPr/>
        </p:nvSpPr>
        <p:spPr>
          <a:xfrm>
            <a:off x="6309360" y="4553712"/>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splitter node, the tool's own render: the reference flat's arm at 22.5°, the compensator in the mirror leg, the output plate and analyzer ahead of the focuser.</a:t>
            </a:r>
          </a:p>
        </p:txBody>
      </p:sp>
      <p:sp>
        <p:nvSpPr>
          <p:cNvPr id="7" name="TextBox 6"/>
          <p:cNvSpPr txBox="1"/>
          <p:nvPr/>
        </p:nvSpPr>
        <p:spPr>
          <a:xfrm>
            <a:off x="6400800" y="5149595"/>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interferometer".  Run tags redo96_lens, redo96_oap, redo96_lensloop, redo96_oaploop, redo96_lensstn2, redo96_oapstn2.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it costs a reading:</a:t>
            </a:r>
            <a:r>
              <a:rPr sz="1200" b="0">
                <a:solidFill>
                  <a:srgbClr val="282828"/>
                </a:solidFill>
                <a:latin typeface="Arial"/>
              </a:rPr>
              <a:t> 0.13 % of the figure on lenses, 0.29 % on mirrors (42 / 92 pm on 30 nm); 0.5 / 0.9 % in the top spatial band.  The smaller part of the accuracy term (slide 2).</a:t>
            </a:r>
          </a:p>
          <a:p>
            <a:pPr>
              <a:spcAft>
                <a:spcPts val="600"/>
              </a:spcAft>
            </a:pPr>
            <a:r>
              <a:rPr sz="1200" b="0">
                <a:solidFill>
                  <a:srgbClr val="282828"/>
                </a:solidFill>
                <a:latin typeface="Arial"/>
              </a:rPr>
              <a:t>•  </a:t>
            </a:r>
            <a:r>
              <a:rPr sz="1200" b="1">
                <a:solidFill>
                  <a:srgbClr val="282828"/>
                </a:solidFill>
                <a:latin typeface="Arial"/>
              </a:rPr>
              <a:t>Lenses image the DM flat</a:t>
            </a:r>
            <a:r>
              <a:rPr sz="1200" b="0">
                <a:solidFill>
                  <a:srgbClr val="282828"/>
                </a:solidFill>
                <a:latin typeface="Arial"/>
              </a:rPr>
              <a:t> (0.5 µm of defocus across the pupil) and hold the mapping to a seventh of a pitch.  </a:t>
            </a:r>
            <a:r>
              <a:rPr sz="1200" b="1">
                <a:solidFill>
                  <a:srgbClr val="282828"/>
                </a:solidFill>
                <a:latin typeface="Arial"/>
              </a:rPr>
              <a:t>Mirrors trade mapping for the front end:</a:t>
            </a:r>
            <a:r>
              <a:rPr sz="1200" b="0">
                <a:solidFill>
                  <a:srgbClr val="282828"/>
                </a:solidFill>
                <a:latin typeface="Arial"/>
              </a:rPr>
              <a:t> the OAP pair distorts the image by more than a pitch at the edge; the measured matrix absorbs it.</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two traces a small field step apart cross at each zone's image at the camera; scored in DM mm against the 1 mm pitch.</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2026-09-18); REPORT_bench_realism.md section 6.  Requested by Fang Shi.  λF/D = 2.83 µm on the 96 mm beam.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a 5.3 µm etched dimple (2.0 λF/D) delays the center of the focal spot a quarter wave; that light spreads back over the pupil and is the reference.</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 three etch depths and a clear frame; no branch fold.</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common path, one plate, no reference arm; a tenth of the interferometer's photons.</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0.993 / 5 pm, SNR 1987; 1 nm on 120 sites 0.995 / 4 pm; holds 3 pm from 3.5e12 photons per cycle (9.1e12 under the 2 pm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559307"/>
          </a:xfrm>
          <a:prstGeom prst="rect">
            <a:avLst/>
          </a:prstGeom>
          <a:noFill/>
        </p:spPr>
        <p:txBody>
          <a:bodyPr wrap="square">
            <a:spAutoFit/>
          </a:bodyPr>
          <a:lstStyle/>
          <a:p>
            <a:pPr algn="ctr">
              <a:spcAft>
                <a:spcPts val="0"/>
              </a:spcAft>
            </a:pPr>
            <a:r>
              <a:rPr sz="1000" b="0">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p>
        </p:txBody>
      </p:sp>
      <p:sp>
        <p:nvSpPr>
          <p:cNvPr id="7" name="TextBox 6"/>
          <p:cNvSpPr txBox="1"/>
          <p:nvPr/>
        </p:nvSpPr>
        <p:spPr>
          <a:xfrm>
            <a:off x="6400800" y="55793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two images are the sensor with its dimple sign flipped; per pixel they give the cosine and sine of the phase together, so the inversion is exact with no branch choice and no stepping.</a:t>
            </a:r>
          </a:p>
          <a:p>
            <a:pPr>
              <a:spcAft>
                <a:spcPts val="800"/>
              </a:spcAft>
            </a:pPr>
            <a:r>
              <a:rPr sz="1300" b="0">
                <a:solidFill>
                  <a:srgbClr val="282828"/>
                </a:solidFill>
                <a:latin typeface="Arial"/>
              </a:rPr>
              <a:t>•  </a:t>
            </a:r>
            <a:r>
              <a:rPr sz="1300" b="1">
                <a:solidFill>
                  <a:srgbClr val="282828"/>
                </a:solidFill>
                <a:latin typeface="Arial"/>
              </a:rPr>
              <a:t>Frames per measurement: 2, simultaneous.</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the best line in the comparison — fewest photons, no stepping, no within-scan drift; its per-pixel solve needs no reference amplitude from the flat (raw map gain 0.993).</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two cameras (the 7.5 mm pupil image would need a 17° split for side-by-side images); a metasurface and plate whose errors are priced, not yet calibrated out; capture range to 10 % only 70 nm.</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1.008 / 2 pm, SNR 6364; 1 nm on 120 sites 1.001 / 4 pm; dense 10 nm 1.0035 / 0.44 nm; holds 3 pm from 2.2e12 photons per cycle (6.8e12 under the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394208"/>
          </a:xfrm>
          <a:prstGeom prst="rect">
            <a:avLst/>
          </a:prstGeom>
          <a:noFill/>
        </p:spPr>
        <p:txBody>
          <a:bodyPr wrap="square">
            <a:spAutoFit/>
          </a:bodyPr>
          <a:lstStyle/>
          <a:p>
            <a:pPr algn="ctr">
              <a:spcAft>
                <a:spcPts val="0"/>
              </a:spcAft>
            </a:pPr>
            <a:r>
              <a:rPr sz="1000" b="0">
                <a:solidFill>
                  <a:srgbClr val="6E6E6E"/>
                </a:solidFill>
                <a:latin typeface="Arial"/>
              </a:rPr>
              <a:t>The vector sensor's leg from the focus to the two cameras, both channel decks traced by the engine.</a:t>
            </a:r>
          </a:p>
        </p:txBody>
      </p:sp>
      <p:sp>
        <p:nvSpPr>
          <p:cNvPr id="7" name="TextBox 6"/>
          <p:cNvSpPr txBox="1"/>
          <p:nvPr/>
        </p:nvSpPr>
        <p:spPr>
          <a:xfrm>
            <a:off x="6400800" y="54142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100" b="0">
                <a:solidFill>
                  <a:srgbClr val="282828"/>
                </a:solidFill>
                <a:latin typeface="Arial"/>
              </a:rPr>
              <a:t>•  </a:t>
            </a:r>
            <a:r>
              <a:rPr sz="1100" b="1">
                <a:solidFill>
                  <a:srgbClr val="282828"/>
                </a:solidFill>
                <a:latin typeface="Arial"/>
              </a:rPr>
              <a:t>Reads:</a:t>
            </a:r>
            <a:r>
              <a:rPr sz="1100" b="0">
                <a:solidFill>
                  <a:srgbClr val="282828"/>
                </a:solidFill>
                <a:latin typeface="Arial"/>
              </a:rPr>
              <a:t> the pinhole passes the core of the focal spot as the reference; the surround, attenuated to 0.72 in amplitude, passes the rest; the two interfere at the pupil image.</a:t>
            </a:r>
          </a:p>
          <a:p>
            <a:pPr>
              <a:spcAft>
                <a:spcPts val="500"/>
              </a:spcAft>
            </a:pPr>
            <a:r>
              <a:rPr sz="1100" b="0">
                <a:solidFill>
                  <a:srgbClr val="282828"/>
                </a:solidFill>
                <a:latin typeface="Arial"/>
              </a:rPr>
              <a:t>•  </a:t>
            </a:r>
            <a:r>
              <a:rPr sz="1100" b="1">
                <a:solidFill>
                  <a:srgbClr val="282828"/>
                </a:solidFill>
                <a:latin typeface="Arial"/>
              </a:rPr>
              <a:t>Frames per measurement: 6</a:t>
            </a:r>
            <a:r>
              <a:rPr sz="1100" b="0">
                <a:solidFill>
                  <a:srgbClr val="282828"/>
                </a:solidFill>
                <a:latin typeface="Arial"/>
              </a:rPr>
              <a:t> — the surround's phase stepped through five (the Schwider-Hariharan scan, insensitive to step error) plus one frame with the surround shuttered, which measures the reference by itself.</a:t>
            </a:r>
          </a:p>
          <a:p>
            <a:pPr>
              <a:spcAft>
                <a:spcPts val="500"/>
              </a:spcAft>
            </a:pPr>
            <a:r>
              <a:rPr sz="1100" b="0">
                <a:solidFill>
                  <a:srgbClr val="282828"/>
                </a:solidFill>
                <a:latin typeface="Arial"/>
              </a:rPr>
              <a:t>•  </a:t>
            </a:r>
            <a:r>
              <a:rPr sz="1100" b="1">
                <a:solidFill>
                  <a:srgbClr val="282828"/>
                </a:solidFill>
                <a:latin typeface="Arial"/>
              </a:rPr>
              <a:t>Scanned how:</a:t>
            </a:r>
            <a:r>
              <a:rPr sz="1100" b="0">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p>
          <a:p>
            <a:pPr>
              <a:spcAft>
                <a:spcPts val="500"/>
              </a:spcAft>
            </a:pPr>
            <a:r>
              <a:rPr sz="1100" b="0">
                <a:solidFill>
                  <a:srgbClr val="282828"/>
                </a:solidFill>
                <a:latin typeface="Arial"/>
              </a:rPr>
              <a:t>•  </a:t>
            </a:r>
            <a:r>
              <a:rPr sz="1100" b="1">
                <a:solidFill>
                  <a:srgbClr val="282828"/>
                </a:solidFill>
                <a:latin typeface="Arial"/>
              </a:rPr>
              <a:t>Gets right:</a:t>
            </a:r>
            <a:r>
              <a:rPr sz="1100" b="0">
                <a:solidFill>
                  <a:srgbClr val="282828"/>
                </a:solidFill>
                <a:latin typeface="Arial"/>
              </a:rPr>
              <a:t> the shutter frame keeps the calibration honest far from null: 10 % accuracy to 480 nm of surface and beyond, where the dimple's self-reference fails at 42-70 nm.</a:t>
            </a:r>
          </a:p>
          <a:p>
            <a:pPr>
              <a:spcAft>
                <a:spcPts val="500"/>
              </a:spcAft>
            </a:pPr>
            <a:r>
              <a:rPr sz="1100" b="0">
                <a:solidFill>
                  <a:srgbClr val="282828"/>
                </a:solidFill>
                <a:latin typeface="Arial"/>
              </a:rPr>
              <a:t>•  </a:t>
            </a:r>
            <a:r>
              <a:rPr sz="1100" b="1">
                <a:solidFill>
                  <a:srgbClr val="282828"/>
                </a:solidFill>
                <a:latin typeface="Arial"/>
              </a:rPr>
              <a:t>Scored, 30 nm surface, matrix on it (mirror rig):</a:t>
            </a:r>
            <a:r>
              <a:rPr sz="1100" b="0">
                <a:solidFill>
                  <a:srgbClr val="282828"/>
                </a:solidFill>
                <a:latin typeface="Arial"/>
              </a:rPr>
              <a:t> 10 nm change at gain 0.995 / 3 pm, SNR 3845; 1 nm on 120 sites 0.998 / 3 pm; holds 3 pm from 3.1e12 photons per cycle (8.4e12 under the walk); no fixed error.</a:t>
            </a:r>
          </a:p>
          <a:p>
            <a:pPr>
              <a:spcAft>
                <a:spcPts val="500"/>
              </a:spcAft>
            </a:pPr>
            <a:r>
              <a:rPr sz="1100" b="0">
                <a:solidFill>
                  <a:srgbClr val="282828"/>
                </a:solidFill>
                <a:latin typeface="Arial"/>
              </a:rPr>
              <a:t>•  </a:t>
            </a:r>
            <a:r>
              <a:rPr sz="1100" b="1">
                <a:solidFill>
                  <a:srgbClr val="282828"/>
                </a:solidFill>
                <a:latin typeface="Arial"/>
              </a:rPr>
              <a:t>The P/SRI (Dube et al. 2024) is this sensor's photonic form:</a:t>
            </a:r>
            <a:r>
              <a:rPr sz="1100" b="0">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p>
        </p:txBody>
      </p:sp>
      <p:pic>
        <p:nvPicPr>
          <p:cNvPr id="5" name="Picture 4" descr="crop_pdi_layout_tail.png"/>
          <p:cNvPicPr>
            <a:picLocks noChangeAspect="1"/>
          </p:cNvPicPr>
          <p:nvPr/>
        </p:nvPicPr>
        <p:blipFill>
          <a:blip r:embed="rId2"/>
          <a:stretch>
            <a:fillRect/>
          </a:stretch>
        </p:blipFill>
        <p:spPr>
          <a:xfrm>
            <a:off x="6309360" y="1234440"/>
            <a:ext cx="5394960" cy="3941063"/>
          </a:xfrm>
          <a:prstGeom prst="rect">
            <a:avLst/>
          </a:prstGeom>
        </p:spPr>
      </p:pic>
      <p:sp>
        <p:nvSpPr>
          <p:cNvPr id="6" name="TextBox 5"/>
          <p:cNvSpPr txBox="1"/>
          <p:nvPr/>
        </p:nvSpPr>
        <p:spPr>
          <a:xfrm>
            <a:off x="6309360" y="5193792"/>
            <a:ext cx="5394960" cy="394208"/>
          </a:xfrm>
          <a:prstGeom prst="rect">
            <a:avLst/>
          </a:prstGeom>
          <a:noFill/>
        </p:spPr>
        <p:txBody>
          <a:bodyPr wrap="square">
            <a:spAutoFit/>
          </a:bodyPr>
          <a:lstStyle/>
          <a:p>
            <a:pPr algn="ctr">
              <a:spcAft>
                <a:spcPts val="0"/>
              </a:spcAft>
            </a:pPr>
            <a:r>
              <a:rPr sz="1000" b="0">
                <a:solidFill>
                  <a:srgbClr val="6E6E6E"/>
                </a:solidFill>
                <a:latin typeface="Arial"/>
              </a:rPr>
              <a:t>The pinhole sensor's tail, the tool's own render: the focuser, the pinhole substrate at the internal focus on its stepping stage, the field lens and the camera.</a:t>
            </a:r>
          </a:p>
        </p:txBody>
      </p:sp>
      <p:sp>
        <p:nvSpPr>
          <p:cNvPr id="7" name="TextBox 6"/>
          <p:cNvSpPr txBox="1"/>
          <p:nvPr/>
        </p:nvSpPr>
        <p:spPr>
          <a:xfrm>
            <a:off x="6400800" y="5624576"/>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4251960" y="1024128"/>
            <a:ext cx="7589520" cy="1289304"/>
          </a:xfrm>
          <a:prstGeom prst="rect">
            <a:avLst/>
          </a:prstGeom>
        </p:spPr>
      </p:pic>
      <p:sp>
        <p:nvSpPr>
          <p:cNvPr id="5" name="TextBox 4"/>
          <p:cNvSpPr txBox="1"/>
          <p:nvPr/>
        </p:nvSpPr>
        <p:spPr>
          <a:xfrm>
            <a:off x="201168" y="1115568"/>
            <a:ext cx="3840480" cy="8895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tretch>
            <a:fillRect/>
          </a:stretch>
        </p:blipFill>
        <p:spPr>
          <a:xfrm>
            <a:off x="4251960" y="2359152"/>
            <a:ext cx="7589520" cy="1325880"/>
          </a:xfrm>
          <a:prstGeom prst="rect">
            <a:avLst/>
          </a:prstGeom>
        </p:spPr>
      </p:pic>
      <p:sp>
        <p:nvSpPr>
          <p:cNvPr id="7" name="TextBox 6"/>
          <p:cNvSpPr txBox="1"/>
          <p:nvPr/>
        </p:nvSpPr>
        <p:spPr>
          <a:xfrm>
            <a:off x="201168" y="2450592"/>
            <a:ext cx="384048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4251960" y="3730752"/>
            <a:ext cx="7589520" cy="1307592"/>
          </a:xfrm>
          <a:prstGeom prst="rect">
            <a:avLst/>
          </a:prstGeom>
        </p:spPr>
      </p:pic>
      <p:sp>
        <p:nvSpPr>
          <p:cNvPr id="9" name="TextBox 8"/>
          <p:cNvSpPr txBox="1"/>
          <p:nvPr/>
        </p:nvSpPr>
        <p:spPr>
          <a:xfrm>
            <a:off x="201168" y="3822191"/>
            <a:ext cx="3840480" cy="8895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4251960" y="5084064"/>
            <a:ext cx="7589520" cy="1307592"/>
          </a:xfrm>
          <a:prstGeom prst="rect">
            <a:avLst/>
          </a:prstGeom>
        </p:spPr>
      </p:pic>
      <p:sp>
        <p:nvSpPr>
          <p:cNvPr id="11" name="TextBox 10"/>
          <p:cNvSpPr txBox="1"/>
          <p:nvPr/>
        </p:nvSpPr>
        <p:spPr>
          <a:xfrm>
            <a:off x="201168" y="5175504"/>
            <a:ext cx="3840480"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each camera reads it at 31 nm rms).  The stepped Zernike's 7.1 nm is a gain error (0.78, the reference amplitude taken from the flat) that the matrix on the surface absorbs.  Runs redo96_oapstn2, stations193_oap; full figures in the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Controlling two DMs with one sensor: the full complex amplitude</a:t>
            </a:r>
          </a:p>
          <a:p>
            <a:pPr>
              <a:spcAft>
                <a:spcPts val="0"/>
              </a:spcAft>
            </a:pPr>
            <a:r>
              <a:rPr sz="1250" b="0">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the 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411480" y="425653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vector pair alone cannot:</a:t>
            </a:r>
            <a:r>
              <a:rPr sz="12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a:t>
            </a:r>
            <a:r>
              <a:rPr sz="1200" b="1">
                <a:solidFill>
                  <a:srgbClr val="282828"/>
                </a:solidFill>
                <a:latin typeface="Arial"/>
              </a:rPr>
              <a:t>The pair plus the state's clear frame reads both exactly:</a:t>
            </a:r>
            <a:r>
              <a:rPr sz="1200" b="0">
                <a:solidFill>
                  <a:srgbClr val="282828"/>
                </a:solidFill>
                <a:latin typeface="Arial"/>
              </a:rPr>
              <a:t> through a 5 % and a 20 %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On the telescope:</a:t>
            </a:r>
            <a:r>
              <a:rPr sz="1200" b="0">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p>
          <a:p>
            <a:pPr>
              <a:spcAft>
                <a:spcPts val="600"/>
              </a:spcAft>
            </a:pPr>
            <a:r>
              <a:rPr sz="1200" b="0">
                <a:solidFill>
                  <a:srgbClr val="282828"/>
                </a:solidFill>
                <a:latin typeface="Arial"/>
              </a:rPr>
              <a:t>•  </a:t>
            </a:r>
            <a:r>
              <a:rPr sz="1200" b="1">
                <a:solidFill>
                  <a:srgbClr val="282828"/>
                </a:solidFill>
                <a:latin typeface="Arial"/>
              </a:rPr>
              <a:t>What the mode needs from the bench:</a:t>
            </a:r>
            <a:r>
              <a:rPr sz="1200" b="0">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p>
          <a:p>
            <a:pPr>
              <a:spcAft>
                <a:spcPts val="600"/>
              </a:spcAft>
            </a:pPr>
            <a:r>
              <a:rPr sz="1200" b="0">
                <a:solidFill>
                  <a:srgbClr val="282828"/>
                </a:solidFill>
                <a:latin typeface="Arial"/>
              </a:rPr>
              <a:t>•  </a:t>
            </a:r>
            <a:r>
              <a:rPr sz="1200" b="1">
                <a:solidFill>
                  <a:srgbClr val="282828"/>
                </a:solidFill>
                <a:latin typeface="Arial"/>
              </a:rPr>
              <a:t>What is not yet shown:</a:t>
            </a:r>
            <a:r>
              <a:rPr sz="1200" b="0">
                <a:solidFill>
                  <a:srgbClr val="282828"/>
                </a:solidFill>
                <a:latin typeface="Arial"/>
              </a:rPr>
              <a:t> the second mirror's control law and its rows; the source's co-alignment tolerance; the out-of-band path's chromatic terms through the DMs.  The one-sensor, two-DM loop is the natural next campaign on this bench.</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the commands that reproduce every number in the deck,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 and the one-sensor, two-DM loop.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 batch: ./tg96_batch.sh TAG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battery, figures); mirror rig, all readings: zwfs_run('bench.optics','oap','readings',{'S','V','P','PF'},'stages',{'bench','battery','noise','loop'},'mask.v_arm','engine'); batch: ./zwfs_batch.sh TAG "...".</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p>
        </p:txBody>
      </p:sp>
      <p:sp>
        <p:nvSpPr>
          <p:cNvPr id="6" name="TextBox 5"/>
          <p:cNvSpPr txBox="1"/>
          <p:nvPr/>
        </p:nvSpPr>
        <p:spPr>
          <a:xfrm>
            <a:off x="6400800" y="5205984"/>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