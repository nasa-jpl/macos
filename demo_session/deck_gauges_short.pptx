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three jobs: measure the surface, capture its shape after launch, and hold the surface to &lt;&lt;10 pm in a servo.</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October 2026.  For the JPL HWO WFS&amp;C discussion group, 2026-10-08.</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optical bench to demo 4 surface gauges, in mirror and lens forms</a:t>
            </a:r>
          </a:p>
          <a:p>
            <a:pPr>
              <a:spcAft>
                <a:spcPts val="0"/>
              </a:spcAft>
            </a:pPr>
            <a:r>
              <a:rPr sz="1250" b="0">
                <a:solidFill>
                  <a:srgbClr val="6E6E6E"/>
                </a:solidFill>
                <a:latin typeface="Arial"/>
              </a:rPr>
              <a:t>Comparing accuracy, precision, repeatability and hold, for interferometers, scalar and vector Zernike WF sensors, and a point-diffraction sensor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1960245"/>
        </p:xfrm>
        <a:graphic>
          <a:graphicData uri="http://schemas.openxmlformats.org/drawingml/2006/table">
            <a:tbl>
              <a:tblPr firstRow="1" bandRow="1">
                <a:tableStyleId>{5C22544A-7EE6-4342-B048-85BDC9FD1C3A}</a:tableStyleId>
              </a:tblPr>
              <a:tblGrid>
                <a:gridCol w="1090676"/>
                <a:gridCol w="7951419"/>
                <a:gridCol w="1163320"/>
                <a:gridCol w="1163320"/>
              </a:tblGrid>
              <a:tr h="280035">
                <a:tc>
                  <a:txBody>
                    <a:bodyPr wrap="square"/>
                    <a:lstStyle/>
                    <a:p>
                      <a:r>
                        <a:rPr sz="1100" b="1">
                          <a:solidFill>
                            <a:srgbClr val="FFFFFF"/>
                          </a:solidFill>
                          <a:latin typeface="Arial"/>
                        </a:rPr>
                        <a:t>the claim</a:t>
                      </a:r>
                    </a:p>
                  </a:txBody>
                  <a:tcPr marL="54864" marR="54864" marT="18288" marB="18288">
                    <a:solidFill>
                      <a:srgbClr val="1F4E79"/>
                    </a:solidFill>
                  </a:tcPr>
                </a:tc>
                <a:tc>
                  <a:txBody>
                    <a:bodyPr wrap="square"/>
                    <a:lstStyle/>
                    <a:p>
                      <a:r>
                        <a:rPr sz="1100" b="1">
                          <a:solidFill>
                            <a:srgbClr val="FFFFFF"/>
                          </a:solidFill>
                          <a:latin typeface="Arial"/>
                        </a:rPr>
                        <a:t>what it means here</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mirror rig</a:t>
                      </a:r>
                    </a:p>
                  </a:txBody>
                  <a:tcPr marL="54864" marR="54864" marT="18288" marB="18288">
                    <a:solidFill>
                      <a:srgbClr val="1F4E79"/>
                    </a:solidFill>
                  </a:tcPr>
                </a:tc>
              </a:tr>
              <a:tr h="280035">
                <a:tc>
                  <a:txBody>
                    <a:bodyPr wrap="square"/>
                    <a:lstStyle/>
                    <a:p>
                      <a:r>
                        <a:rPr sz="1100" b="0">
                          <a:solidFill>
                            <a:srgbClr val="282828"/>
                          </a:solidFill>
                          <a:latin typeface="Arial"/>
                        </a:rPr>
                        <a:t>accuracy</a:t>
                      </a:r>
                    </a:p>
                  </a:txBody>
                  <a:tcPr marL="54864" marR="54864" marT="18288" marB="18288">
                    <a:solidFill>
                      <a:srgbClr val="FFFFFF"/>
                    </a:solidFill>
                  </a:tcPr>
                </a:tc>
                <a:tc>
                  <a:txBody>
                    <a:bodyPr wrap="square"/>
                    <a:lstStyle/>
                    <a:p>
                      <a:r>
                        <a:rPr sz="1100" b="0">
                          <a:solidFill>
                            <a:srgbClr val="282828"/>
                          </a:solidFill>
                          <a:latin typeface="Arial"/>
                        </a:rPr>
                        <a:t>the imaging's error in reading a 30 nm working surface, piston and tilt removed</a:t>
                      </a:r>
                    </a:p>
                  </a:txBody>
                  <a:tcPr marL="54864" marR="54864" marT="18288" marB="18288">
                    <a:solidFill>
                      <a:srgbClr val="FFFFFF"/>
                    </a:solidFill>
                  </a:tcPr>
                </a:tc>
                <a:tc>
                  <a:txBody>
                    <a:bodyPr wrap="square"/>
                    <a:lstStyle/>
                    <a:p>
                      <a:r>
                        <a:rPr sz="1100" b="0">
                          <a:solidFill>
                            <a:srgbClr val="282828"/>
                          </a:solidFill>
                          <a:latin typeface="Arial"/>
                        </a:rPr>
                        <a:t>0.13 % (42 pm)</a:t>
                      </a:r>
                    </a:p>
                  </a:txBody>
                  <a:tcPr marL="54864" marR="54864" marT="18288" marB="18288">
                    <a:solidFill>
                      <a:srgbClr val="FFFFFF"/>
                    </a:solidFill>
                  </a:tcPr>
                </a:tc>
                <a:tc>
                  <a:txBody>
                    <a:bodyPr wrap="square"/>
                    <a:lstStyle/>
                    <a:p>
                      <a:r>
                        <a:rPr sz="1100" b="0">
                          <a:solidFill>
                            <a:srgbClr val="282828"/>
                          </a:solidFill>
                          <a:latin typeface="Arial"/>
                        </a:rPr>
                        <a:t>0.29 % (92 pm)</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in the top spatial band (at the actuator Nyquist)</a:t>
                      </a:r>
                    </a:p>
                  </a:txBody>
                  <a:tcPr marL="54864" marR="54864" marT="18288" marB="18288">
                    <a:solidFill>
                      <a:srgbClr val="ECF1F6"/>
                    </a:solidFill>
                  </a:tcPr>
                </a:tc>
                <a:tc>
                  <a:txBody>
                    <a:bodyPr wrap="square"/>
                    <a:lstStyle/>
                    <a:p>
                      <a:r>
                        <a:rPr sz="1100" b="0">
                          <a:solidFill>
                            <a:srgbClr val="282828"/>
                          </a:solidFill>
                          <a:latin typeface="Arial"/>
                        </a:rPr>
                        <a:t>0.5 %</a:t>
                      </a:r>
                    </a:p>
                  </a:txBody>
                  <a:tcPr marL="54864" marR="54864" marT="18288" marB="18288">
                    <a:solidFill>
                      <a:srgbClr val="ECF1F6"/>
                    </a:solidFill>
                  </a:tcPr>
                </a:tc>
                <a:tc>
                  <a:txBody>
                    <a:bodyPr wrap="square"/>
                    <a:lstStyle/>
                    <a:p>
                      <a:r>
                        <a:rPr sz="1100" b="0">
                          <a:solidFill>
                            <a:srgbClr val="282828"/>
                          </a:solidFill>
                          <a:latin typeface="Arial"/>
                        </a:rPr>
                        <a:t>0.9 %</a:t>
                      </a:r>
                    </a:p>
                  </a:txBody>
                  <a:tcPr marL="54864" marR="54864" marT="18288" marB="18288">
                    <a:solidFill>
                      <a:srgbClr val="ECF1F6"/>
                    </a:solidFill>
                  </a:tcPr>
                </a:tc>
              </a:tr>
              <a:tr h="280035">
                <a:tc>
                  <a:txBody>
                    <a:bodyPr wrap="square"/>
                    <a:lstStyle/>
                    <a:p>
                      <a:r>
                        <a:rPr sz="1100" b="0">
                          <a:solidFill>
                            <a:srgbClr val="282828"/>
                          </a:solidFill>
                          <a:latin typeface="Arial"/>
                        </a:rPr>
                        <a:t>precision</a:t>
                      </a:r>
                    </a:p>
                  </a:txBody>
                  <a:tcPr marL="54864" marR="54864" marT="18288" marB="18288">
                    <a:solidFill>
                      <a:srgbClr val="FFFFFF"/>
                    </a:solidFill>
                  </a:tcPr>
                </a:tc>
                <a:tc>
                  <a:txBody>
                    <a:bodyPr wrap="square"/>
                    <a:lstStyle/>
                    <a:p>
                      <a:r>
                        <a:rPr sz="1100" b="0">
                          <a:solidFill>
                            <a:srgbClr val="282828"/>
                          </a:solidFill>
                          <a:latin typeface="Arial"/>
                        </a:rPr>
                        <a:t>one measurement, photon-limited, at 1e14 / 1e15 photons</a:t>
                      </a:r>
                    </a:p>
                  </a:txBody>
                  <a:tcPr marL="54864" marR="54864" marT="18288" marB="18288">
                    <a:solidFill>
                      <a:srgbClr val="FFFFFF"/>
                    </a:solidFill>
                  </a:tcPr>
                </a:tc>
                <a:tc>
                  <a:txBody>
                    <a:bodyPr wrap="square"/>
                    <a:lstStyle/>
                    <a:p>
                      <a:r>
                        <a:rPr sz="1100" b="0">
                          <a:solidFill>
                            <a:srgbClr val="282828"/>
                          </a:solidFill>
                          <a:latin typeface="Arial"/>
                        </a:rPr>
                        <a:t>2.3 / 0.7 pm</a:t>
                      </a:r>
                    </a:p>
                  </a:txBody>
                  <a:tcPr marL="54864" marR="54864" marT="18288" marB="18288">
                    <a:solidFill>
                      <a:srgbClr val="FFFFFF"/>
                    </a:solidFill>
                  </a:tcPr>
                </a:tc>
                <a:tc>
                  <a:txBody>
                    <a:bodyPr wrap="square"/>
                    <a:lstStyle/>
                    <a:p>
                      <a:r>
                        <a:rPr sz="1100" b="0">
                          <a:solidFill>
                            <a:srgbClr val="282828"/>
                          </a:solidFill>
                          <a:latin typeface="Arial"/>
                        </a:rPr>
                        <a:t>2.1 / 0.7 pm</a:t>
                      </a:r>
                    </a:p>
                  </a:txBody>
                  <a:tcPr marL="54864" marR="54864" marT="18288" marB="18288">
                    <a:solidFill>
                      <a:srgbClr val="FFFFFF"/>
                    </a:solidFill>
                  </a:tcPr>
                </a:tc>
              </a:tr>
              <a:tr h="280035">
                <a:tc>
                  <a:txBody>
                    <a:bodyPr wrap="square"/>
                    <a:lstStyle/>
                    <a:p>
                      <a:r>
                        <a:rPr sz="1100" b="0">
                          <a:solidFill>
                            <a:srgbClr val="282828"/>
                          </a:solidFill>
                          <a:latin typeface="Arial"/>
                        </a:rPr>
                        <a:t>repeatability</a:t>
                      </a:r>
                    </a:p>
                  </a:txBody>
                  <a:tcPr marL="54864" marR="54864" marT="18288" marB="18288">
                    <a:solidFill>
                      <a:srgbClr val="ECF1F6"/>
                    </a:solidFill>
                  </a:tcPr>
                </a:tc>
                <a:tc>
                  <a:txBody>
                    <a:bodyPr wrap="square"/>
                    <a:lstStyle/>
                    <a:p>
                      <a:r>
                        <a:rPr sz="1100" b="0">
                          <a:solidFill>
                            <a:srgbClr val="282828"/>
                          </a:solidFill>
                          <a:latin typeface="Arial"/>
                        </a:rPr>
                        <a:t>the same surface held in a servo, rms over 30 cycles, same photons</a:t>
                      </a:r>
                    </a:p>
                  </a:txBody>
                  <a:tcPr marL="54864" marR="54864" marT="18288" marB="18288">
                    <a:solidFill>
                      <a:srgbClr val="ECF1F6"/>
                    </a:solidFill>
                  </a:tcPr>
                </a:tc>
                <a:tc>
                  <a:txBody>
                    <a:bodyPr wrap="square"/>
                    <a:lstStyle/>
                    <a:p>
                      <a:r>
                        <a:rPr sz="1100" b="0">
                          <a:solidFill>
                            <a:srgbClr val="282828"/>
                          </a:solidFill>
                          <a:latin typeface="Arial"/>
                        </a:rPr>
                        <a:t>1.4 / 0.5 pm</a:t>
                      </a:r>
                    </a:p>
                  </a:txBody>
                  <a:tcPr marL="54864" marR="54864" marT="18288" marB="18288">
                    <a:solidFill>
                      <a:srgbClr val="ECF1F6"/>
                    </a:solidFill>
                  </a:tcPr>
                </a:tc>
                <a:tc>
                  <a:txBody>
                    <a:bodyPr wrap="square"/>
                    <a:lstStyle/>
                    <a:p>
                      <a:r>
                        <a:rPr sz="1100" b="0">
                          <a:solidFill>
                            <a:srgbClr val="282828"/>
                          </a:solidFill>
                          <a:latin typeface="Arial"/>
                        </a:rPr>
                        <a:t>1.3 / 0.4 pm</a:t>
                      </a:r>
                    </a:p>
                  </a:txBody>
                  <a:tcPr marL="54864" marR="54864" marT="18288" marB="18288">
                    <a:solidFill>
                      <a:srgbClr val="ECF1F6"/>
                    </a:solidFill>
                  </a:tcPr>
                </a:tc>
              </a:tr>
              <a:tr h="280035">
                <a:tc>
                  <a:txBody>
                    <a:bodyPr wrap="square"/>
                    <a:lstStyle/>
                    <a:p>
                      <a:r>
                        <a:rPr sz="1100" b="0">
                          <a:solidFill>
                            <a:srgbClr val="282828"/>
                          </a:solidFill>
                          <a:latin typeface="Arial"/>
                        </a:rPr>
                        <a:t>hold</a:t>
                      </a:r>
                    </a:p>
                  </a:txBody>
                  <a:tcPr marL="54864" marR="54864" marT="18288" marB="18288">
                    <a:solidFill>
                      <a:srgbClr val="FFFFFF"/>
                    </a:solidFill>
                  </a:tcPr>
                </a:tc>
                <a:tc>
                  <a:txBody>
                    <a:bodyPr wrap="square"/>
                    <a:lstStyle/>
                    <a:p>
                      <a:r>
                        <a:rPr sz="1100" b="0">
                          <a:solidFill>
                            <a:srgbClr val="282828"/>
                          </a:solidFill>
                          <a:latin typeface="Arial"/>
                        </a:rPr>
                        <a:t>photons per cycle to keep the surface inside 3 pm</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2.0e13</a:t>
                      </a:r>
                    </a:p>
                  </a:txBody>
                  <a:tcPr marL="54864" marR="54864" marT="18288" marB="18288">
                    <a:solidFill>
                      <a:srgbClr val="FFFFFF"/>
                    </a:solidFill>
                  </a:tcPr>
                </a:tc>
              </a:tr>
              <a:tr h="280035">
                <a:tc>
                  <a:txBody>
                    <a:bodyPr wrap="square"/>
                    <a:lstStyle/>
                    <a:p/>
                  </a:txBody>
                  <a:tcPr marL="54864" marR="54864" marT="18288" marB="18288">
                    <a:solidFill>
                      <a:srgbClr val="ECF1F6"/>
                    </a:solidFill>
                  </a:tcPr>
                </a:tc>
                <a:tc>
                  <a:txBody>
                    <a:bodyPr wrap="square"/>
                    <a:lstStyle/>
                    <a:p>
                      <a:r>
                        <a:rPr sz="1100" b="0">
                          <a:solidFill>
                            <a:srgbClr val="282828"/>
                          </a:solidFill>
                          <a:latin typeface="Arial"/>
                        </a:rPr>
                        <a:t>the same under a 2 pm per actuator per cycle random walk</a:t>
                      </a:r>
                    </a:p>
                  </a:txBody>
                  <a:tcPr marL="54864" marR="54864" marT="18288" marB="18288">
                    <a:solidFill>
                      <a:srgbClr val="ECF1F6"/>
                    </a:solidFill>
                  </a:tcPr>
                </a:tc>
                <a:tc>
                  <a:txBody>
                    <a:bodyPr wrap="square"/>
                    <a:lstStyle/>
                    <a:p>
                      <a:r>
                        <a:rPr sz="1100" b="0">
                          <a:solidFill>
                            <a:srgbClr val="282828"/>
                          </a:solidFill>
                          <a:latin typeface="Arial"/>
                        </a:rPr>
                        <a:t>7.1e13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r>
            </a:tbl>
          </a:graphicData>
        </a:graphic>
      </p:graphicFrame>
      <p:sp>
        <p:nvSpPr>
          <p:cNvPr id="5" name="TextBox 4"/>
          <p:cNvSpPr txBox="1"/>
          <p:nvPr/>
        </p:nvSpPr>
        <p:spPr>
          <a:xfrm>
            <a:off x="411480" y="340499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Picometer measurement is photon-limited, not bench-limited.</a:t>
            </a:r>
            <a:r>
              <a:rPr sz="1500" b="0">
                <a:solidFill>
                  <a:srgbClr val="282828"/>
                </a:solidFill>
                <a:latin typeface="Arial"/>
              </a:rPr>
              <a:t>  One measurement at 1e15 photons — 0.31 mJ, about 1.3 s of a 1 mW laser — repeats to 0.7 pm, and a servo fed at that rate holds under half a picometer.  Both front ends agree to within 10 %.  For scale, </a:t>
            </a:r>
            <a:r>
              <a:rPr sz="1500" b="1">
                <a:solidFill>
                  <a:srgbClr val="282828"/>
                </a:solidFill>
                <a:latin typeface="Arial"/>
              </a:rPr>
              <a:t>Steeves et al. (2020, Optica 7, 1267) demonstrate 1.6 pm in 4.3 s on a real interferometer</a:t>
            </a:r>
            <a:r>
              <a:rPr sz="1500" b="0">
                <a:solidFill>
                  <a:srgbClr val="282828"/>
                </a:solidFill>
                <a:latin typeface="Arial"/>
              </a:rPr>
              <a:t>: ours is photon-limited only, carrying no vibration, thermal drift or detector systematics, so it is the floor this design allows rather than a prediction of the built bench — and agreeing within a factor of two is the check that the model is in the right regime.</a:t>
            </a:r>
          </a:p>
          <a:p>
            <a:pPr>
              <a:spcAft>
                <a:spcPts val="600"/>
              </a:spcAft>
            </a:pPr>
            <a:r>
              <a:rPr sz="1500" b="0">
                <a:solidFill>
                  <a:srgbClr val="282828"/>
                </a:solidFill>
                <a:latin typeface="Arial"/>
              </a:rPr>
              <a:t>•  </a:t>
            </a:r>
            <a:r>
              <a:rPr sz="1500" b="1">
                <a:solidFill>
                  <a:srgbClr val="282828"/>
                </a:solidFill>
                <a:latin typeface="Arial"/>
              </a:rPr>
              <a:t>Accuracy is systematic and proportional</a:t>
            </a:r>
            <a:r>
              <a:rPr sz="1500" b="0">
                <a:solidFill>
                  <a:srgbClr val="282828"/>
                </a:solidFill>
                <a:latin typeface="Arial"/>
              </a:rPr>
              <a:t> — a fraction of the figure read, so 30 nm costs tens of picometers and a 200 nm capture figure costs hundreds.  It holds because the response matrix is measured on the surface, not assumed geometric.</a:t>
            </a:r>
          </a:p>
          <a:p>
            <a:pPr>
              <a:spcAft>
                <a:spcPts val="600"/>
              </a:spcAft>
            </a:pPr>
            <a:r>
              <a:rPr sz="1500" b="0">
                <a:solidFill>
                  <a:srgbClr val="282828"/>
                </a:solidFill>
                <a:latin typeface="Arial"/>
              </a:rPr>
              <a:t>•  </a:t>
            </a:r>
            <a:r>
              <a:rPr sz="1500" b="1">
                <a:solidFill>
                  <a:srgbClr val="282828"/>
                </a:solidFill>
                <a:latin typeface="Arial"/>
              </a:rPr>
              <a:t>One disturbance is not photon-limited:</a:t>
            </a:r>
            <a:r>
              <a:rPr sz="1500" b="0">
                <a:solidFill>
                  <a:srgbClr val="282828"/>
                </a:solidFill>
                <a:latin typeface="Arial"/>
              </a:rPr>
              <a:t> under a 5 pm per cycle thermal ramp the loop lags at about 10 pm however many photons it is given — a cadence and thermal-control requirement, not a sensing one.</a:t>
            </a:r>
          </a:p>
        </p:txBody>
      </p:sp>
      <p:sp>
        <p:nvSpPr>
          <p:cNvPr id="6" name="TextBox 5"/>
          <p:cNvSpPr txBox="1"/>
          <p:nvPr/>
        </p:nvSpPr>
        <p:spPr>
          <a:xfrm>
            <a:off x="457200" y="5989320"/>
            <a:ext cx="11365992" cy="274320"/>
          </a:xfrm>
          <a:prstGeom prst="rect">
            <a:avLst/>
          </a:prstGeom>
          <a:noFill/>
        </p:spPr>
        <p:txBody>
          <a:bodyPr wrap="square">
            <a:spAutoFit/>
          </a:bodyPr>
          <a:lstStyle/>
          <a:p>
            <a:pPr>
              <a:spcAft>
                <a:spcPts val="600"/>
              </a:spcAft>
            </a:pPr>
            <a:r>
              <a:rPr sz="1050" b="0">
                <a:solidFill>
                  <a:srgbClr val="6E6E6E"/>
                </a:solidFill>
                <a:latin typeface="Arial"/>
              </a:rPr>
              <a:t>A 10 nm single-actuator change — what the servo actually corrects — reads against truth to 1.5 pm at gain 1.001 on lenses and 1.8 pm at 0.993 on mirrors.  Every number here is a committed run of the shared model; the run tags are on the provenance slide and each is repeated on the slide that derives it.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400" b="0">
                <a:solidFill>
                  <a:srgbClr val="282828"/>
                </a:solidFill>
                <a:latin typeface="Arial"/>
              </a:rPr>
              <a:t>•  </a:t>
            </a:r>
            <a:r>
              <a:rPr sz="1400" b="1">
                <a:solidFill>
                  <a:srgbClr val="282828"/>
                </a:solidFill>
                <a:latin typeface="Arial"/>
              </a:rPr>
              <a:t>The DM:</a:t>
            </a:r>
            <a:r>
              <a:rPr sz="1400" b="0">
                <a:solidFill>
                  <a:srgbClr val="282828"/>
                </a:solidFill>
                <a:latin typeface="Arial"/>
              </a:rPr>
              <a:t>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400" b="0">
                <a:solidFill>
                  <a:srgbClr val="282828"/>
                </a:solidFill>
                <a:latin typeface="Arial"/>
              </a:rPr>
              <a:t>•  </a:t>
            </a:r>
            <a:r>
              <a:rPr sz="1400" b="1">
                <a:solidFill>
                  <a:srgbClr val="282828"/>
                </a:solidFill>
                <a:latin typeface="Arial"/>
              </a:rPr>
              <a:t>Job 1, measure:</a:t>
            </a:r>
            <a:r>
              <a:rPr sz="1400" b="0">
                <a:solidFill>
                  <a:srgbClr val="282828"/>
                </a:solidFill>
                <a:latin typeface="Arial"/>
              </a:rPr>
              <a:t>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400" b="0">
                <a:solidFill>
                  <a:srgbClr val="282828"/>
                </a:solidFill>
                <a:latin typeface="Arial"/>
              </a:rPr>
              <a:t>•  </a:t>
            </a:r>
            <a:r>
              <a:rPr sz="1400" b="1">
                <a:solidFill>
                  <a:srgbClr val="282828"/>
                </a:solidFill>
                <a:latin typeface="Arial"/>
              </a:rPr>
              <a:t>Job 2, capture:</a:t>
            </a:r>
            <a:r>
              <a:rPr sz="1400" b="0">
                <a:solidFill>
                  <a:srgbClr val="282828"/>
                </a:solidFill>
                <a:latin typeface="Arial"/>
              </a:rPr>
              <a:t> bring a large starting surface, 100-200 nm of wavefront, down to the servo's floor; every phase reading wraps at ±158 nm of surface (±π at 632.8 nm, double pass), so this is a wrapping problem before it is a noise problem.</a:t>
            </a:r>
          </a:p>
          <a:p>
            <a:pPr>
              <a:spcAft>
                <a:spcPts val="600"/>
              </a:spcAft>
            </a:pPr>
            <a:r>
              <a:rPr sz="1400" b="0">
                <a:solidFill>
                  <a:srgbClr val="282828"/>
                </a:solidFill>
                <a:latin typeface="Arial"/>
              </a:rPr>
              <a:t>•  </a:t>
            </a:r>
            <a:r>
              <a:rPr sz="1400" b="1">
                <a:solidFill>
                  <a:srgbClr val="282828"/>
                </a:solidFill>
                <a:latin typeface="Arial"/>
              </a:rPr>
              <a:t>Job 3, hold:</a:t>
            </a:r>
            <a:r>
              <a:rPr sz="1400" b="0">
                <a:solidFill>
                  <a:srgbClr val="282828"/>
                </a:solidFill>
                <a:latin typeface="Arial"/>
              </a:rPr>
              <a:t>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two forms,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657732" y="1298448"/>
            <a:ext cx="3313935"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lay96_oap_train.png"/>
          <p:cNvPicPr>
            <a:picLocks noChangeAspect="1"/>
          </p:cNvPicPr>
          <p:nvPr/>
        </p:nvPicPr>
        <p:blipFill>
          <a:blip r:embed="rId3"/>
          <a:stretch>
            <a:fillRect/>
          </a:stretch>
        </p:blipFill>
        <p:spPr>
          <a:xfrm>
            <a:off x="8195414" y="1298448"/>
            <a:ext cx="1805731"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reads 1.004 / 1.4 pm on a 10 nm change; holds 3 pm from 2.3e13 photons per cycle; captures from 200 nm to 3.1 pm in 60 cycles</a:t>
                      </a:r>
                    </a:p>
                  </a:txBody>
                  <a:tcPr marL="54864" marR="54864" marT="18288" marB="18288">
                    <a:solidFill>
                      <a:srgbClr val="FFFFFF"/>
                    </a:solidFill>
                  </a:tcPr>
                </a:tc>
                <a:tc>
                  <a:txBody>
                    <a:bodyPr wrap="square"/>
                    <a:lstStyle/>
                    <a:p>
                      <a:r>
                        <a:rPr sz="1100" b="0">
                          <a:solidFill>
                            <a:srgbClr val="282828"/>
                          </a:solidFill>
                          <a:latin typeface="Arial"/>
                        </a:rPr>
                        <a:t>reads 0.986 / 2.3 pm; holds 3 pm from 2.0e13; captures from 200 nm in 24 cycles;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364224"/>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redo96_lens, redo96_oap, redo96_lensloop, redo96_oaploop, capt96_oap, capt96_lens, redo96_oapsens; the priced comparison is on the lenses-versus-mirrors slide.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front end</a:t>
            </a:r>
          </a:p>
          <a:p>
            <a:pPr>
              <a:spcAft>
                <a:spcPts val="0"/>
              </a:spcAft>
            </a:pPr>
            <a:r>
              <a:rPr sz="1250" b="0">
                <a:solidFill>
                  <a:srgbClr val="6E6E6E"/>
                </a:solidFill>
                <a:latin typeface="Arial"/>
              </a:rPr>
              <a:t>The source, the collimator and the splitter node, from the parameter sheet; the substrates are now decided (10 mm splitter and compensator, 2 mm fused-silica plates under every polarizing element, a 2 mm mask plate, 4 mm lens edges) and go into every deck from here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937635"/>
        </p:xfrm>
        <a:graphic>
          <a:graphicData uri="http://schemas.openxmlformats.org/drawingml/2006/table">
            <a:tbl>
              <a:tblPr firstRow="1" bandRow="1">
                <a:tableStyleId>{5C22544A-7EE6-4342-B048-85BDC9FD1C3A}</a:tableStyleId>
              </a:tblPr>
              <a:tblGrid>
                <a:gridCol w="1962404"/>
                <a:gridCol w="5301770"/>
                <a:gridCol w="1561480"/>
                <a:gridCol w="509524"/>
                <a:gridCol w="2033555"/>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the source cone is baffled to 59 mm radius, overfilling the mirror by 11 mm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657225">
                <a:tc>
                  <a:txBody>
                    <a:bodyPr wrap="square"/>
                    <a:lstStyle/>
                    <a:p>
                      <a:r>
                        <a:rPr sz="1100" b="0">
                          <a:solidFill>
                            <a:srgbClr val="282828"/>
                          </a:solidFill>
                          <a:latin typeface="Arial"/>
                        </a:rPr>
                        <a:t>collimator: L1 or OAP1</a:t>
                      </a:r>
                    </a:p>
                  </a:txBody>
                  <a:tcPr marL="54864" marR="54864" marT="18288" marB="18288">
                    <a:solidFill>
                      <a:srgbClr val="ECF1F6"/>
                    </a:solidFill>
                  </a:tcPr>
                </a:tc>
                <a:tc>
                  <a:txBody>
                    <a:bodyPr wrap="square"/>
                    <a:lstStyle/>
                    <a:p>
                      <a:r>
                        <a:rPr sz="1100" b="0">
                          <a:solidFill>
                            <a:srgbClr val="282828"/>
                          </a:solidFill>
                          <a:latin typeface="Arial"/>
                        </a:rPr>
                        <a:t>L1: f 857 mm, 103 mm, plano-convex conic (R 427.3, conic −0.583), 5 mm center.  OAP1: parent f 757 mm (R −1514), 551 mm off-axis, 20° fold, 113 mm</a:t>
                      </a:r>
                    </a:p>
                  </a:txBody>
                  <a:tcPr marL="54864" marR="54864" marT="18288" marB="18288">
                    <a:solidFill>
                      <a:srgbClr val="ECF1F6"/>
                    </a:solidFill>
                  </a:tcPr>
                </a:tc>
                <a:tc>
                  <a:txBody>
                    <a:bodyPr wrap="square"/>
                    <a:lstStyle/>
                    <a:p>
                      <a:r>
                        <a:rPr sz="1100" b="0">
                          <a:solidFill>
                            <a:srgbClr val="282828"/>
                          </a:solidFill>
                          <a:latin typeface="Arial"/>
                        </a:rPr>
                        <a:t>L1 anti-reflection; OAP1 protected aluminum</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468630">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50/50, 10 mm thick; the glass shifts the transmitted beam 1.39 mm and takes the flat null 0.13 → 20 nm</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46863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46863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657225">
                <a:tc>
                  <a:txBody>
                    <a:bodyPr wrap="square"/>
                    <a:lstStyle/>
                    <a:p>
                      <a:r>
                        <a:rPr sz="1100" b="0">
                          <a:solidFill>
                            <a:srgbClr val="282828"/>
                          </a:solidFill>
                          <a:latin typeface="Arial"/>
                        </a:rPr>
                        <a:t>aperture on the mirror</a:t>
                      </a:r>
                    </a:p>
                  </a:txBody>
                  <a:tcPr marL="54864" marR="54864" marT="18288" marB="18288">
                    <a:solidFill>
                      <a:srgbClr val="ECF1F6"/>
                    </a:solidFill>
                  </a:tcPr>
                </a:tc>
                <a:tc>
                  <a:txBody>
                    <a:bodyPr wrap="square"/>
                    <a:lstStyle/>
                    <a:p>
                      <a:r>
                        <a:rPr sz="1100" b="0">
                          <a:solidFill>
                            <a:srgbClr val="282828"/>
                          </a:solidFill>
                          <a:latin typeface="Arial"/>
                        </a:rPr>
                        <a:t>96 mm, at the actuator footprint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stop: it defines the pupil, so the baffle never does</a:t>
                      </a:r>
                    </a:p>
                  </a:txBody>
                  <a:tcPr marL="54864" marR="54864" marT="18288" marB="18288">
                    <a:solidFill>
                      <a:srgbClr val="ECF1F6"/>
                    </a:solidFill>
                  </a:tcPr>
                </a:tc>
              </a:tr>
              <a:tr h="468630">
                <a:tc>
                  <a:txBody>
                    <a:bodyPr wrap="square"/>
                    <a:lstStyle/>
                    <a:p>
                      <a:r>
                        <a:rPr sz="1100" b="0">
                          <a:solidFill>
                            <a:srgbClr val="282828"/>
                          </a:solidFill>
                          <a:latin typeface="Arial"/>
                        </a:rPr>
                        <a:t>mounts, bench</a:t>
                      </a:r>
                    </a:p>
                  </a:txBody>
                  <a:tcPr marL="54864" marR="54864" marT="18288" marB="18288">
                    <a:solidFill>
                      <a:srgbClr val="FFFFFF"/>
                    </a:solidFill>
                  </a:tcPr>
                </a:tc>
                <a:tc>
                  <a:txBody>
                    <a:bodyPr wrap="square"/>
                    <a:lstStyle/>
                    <a:p>
                      <a:r>
                        <a:rPr sz="1100" b="0">
                          <a:solidFill>
                            <a:srgbClr val="282828"/>
                          </a:solidFill>
                          <a:latin typeface="Arial"/>
                        </a:rPr>
                        <a:t>2 m × 1 m table; 103 mm mounts, 25 mm clearance</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the 22.5° layout clears every part</a:t>
                      </a:r>
                    </a:p>
                  </a:txBody>
                  <a:tcPr marL="54864" marR="54864" marT="18288" marB="18288">
                    <a:solidFill>
                      <a:srgbClr val="FFFFFF"/>
                    </a:solidFill>
                  </a:tcPr>
                </a:tc>
              </a:tr>
            </a:tbl>
          </a:graphicData>
        </a:graphic>
      </p:graphicFrame>
      <p:sp>
        <p:nvSpPr>
          <p:cNvPr id="5" name="TextBox 4"/>
          <p:cNvSpPr txBox="1"/>
          <p:nvPr/>
        </p:nvSpPr>
        <p:spPr>
          <a:xfrm>
            <a:off x="411480" y="5382387"/>
            <a:ext cx="11368735" cy="274320"/>
          </a:xfrm>
          <a:prstGeom prst="rect">
            <a:avLst/>
          </a:prstGeom>
          <a:noFill/>
        </p:spPr>
        <p:txBody>
          <a:bodyPr wrap="square">
            <a:spAutoFit/>
          </a:bodyPr>
          <a:lstStyle/>
          <a:p>
            <a:pPr>
              <a:spcAft>
                <a:spcPts val="600"/>
              </a:spcAft>
            </a:pPr>
            <a:r>
              <a:rPr sz="1050" b="0">
                <a:solidFill>
                  <a:srgbClr val="6E6E6E"/>
                </a:solidFill>
                <a:latin typeface="Arial"/>
              </a:rPr>
              <a:t>The two front ends are alternatives, not additions: a rig is all lenses or all mirrors, and the conjugates are identical either way.  One coating entry still needs a decision — the overcoat on the parabolas is modeled as a half wave of </a:t>
            </a:r>
            <a:r>
              <a:rPr sz="1050" b="0">
                <a:solidFill>
                  <a:srgbClr val="6E6E6E"/>
                </a:solidFill>
                <a:latin typeface="Arial"/>
              </a:rPr>
              <a:t>MgF</a:t>
            </a:r>
            <a:r>
              <a:rPr sz="1050" b="0" baseline="-25000">
                <a:solidFill>
                  <a:srgbClr val="6E6E6E"/>
                </a:solidFill>
                <a:latin typeface="Arial"/>
              </a:rPr>
              <a:t>2</a:t>
            </a:r>
            <a:r>
              <a:rPr sz="1050" b="0">
                <a:solidFill>
                  <a:srgbClr val="6E6E6E"/>
                </a:solidFill>
                <a:latin typeface="Arial"/>
              </a:rPr>
              <a:t>, and the polarization cost of an overcoat reverses sign across the quarter-wave condition, so a quarter wave AT 632.8 nm is the specification to order if the mirror rig is built.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500" b="0">
                <a:solidFill>
                  <a:srgbClr val="282828"/>
                </a:solidFill>
                <a:latin typeface="Arial"/>
              </a:rPr>
              <a:t>•  </a:t>
            </a:r>
            <a:r>
              <a:rPr sz="1500" b="1">
                <a:solidFill>
                  <a:srgbClr val="282828"/>
                </a:solidFill>
                <a:latin typeface="Arial"/>
              </a:rPr>
              <a:t>On the 30 nm surface, matrix measured on it (lens rig; mirror rig in parentheses):</a:t>
            </a:r>
            <a:r>
              <a:rPr sz="1500" b="0">
                <a:solidFill>
                  <a:srgbClr val="282828"/>
                </a:solidFill>
                <a:latin typeface="Arial"/>
              </a:rPr>
              <a:t> 10 nm on one actuator 1.004 / 1.4 pm / SNR 7741 (0.986 / 2.3 pm / 6044); 1 nm on 120 sites 0.993 / 10 pm (0.981 / 4.4 pm); dense 10 nm 0.9995, 500 pm (0.977, 698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2.3e13 photons per cycle with noise only, 7.1e13 under a 2 pm per-cycle actuator walk (mirror rig 2.0e13 / 6.6e13); a noiseless 1 nm step settles to 0.015 pm (2.8 pm on the mirror rig), so no fixed error.</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the three phase-shift forms are priced in backup (lens_deck_se2).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seventh of a pitch at the edge on lenses and more than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96_lens_pupil.png"/>
          <p:cNvPicPr>
            <a:picLocks noChangeAspect="1"/>
          </p:cNvPicPr>
          <p:nvPr/>
        </p:nvPicPr>
        <p:blipFill>
          <a:blip r:embed="rId2"/>
          <a:srcRect l="7850" r="7850" b="4270"/>
          <a:stretch>
            <a:fillRect/>
          </a:stretch>
        </p:blipFill>
        <p:spPr>
          <a:xfrm>
            <a:off x="0" y="1298448"/>
            <a:ext cx="6400800" cy="3273552"/>
          </a:xfrm>
          <a:prstGeom prst="rect">
            <a:avLst/>
          </a:prstGeom>
        </p:spPr>
      </p:pic>
      <p:sp>
        <p:nvSpPr>
          <p:cNvPr id="5" name="TextBox 4"/>
          <p:cNvSpPr txBox="1"/>
          <p:nvPr/>
        </p:nvSpPr>
        <p:spPr>
          <a:xfrm>
            <a:off x="228600" y="4937760"/>
            <a:ext cx="594360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657350"/>
        </p:xfrm>
        <a:graphic>
          <a:graphicData uri="http://schemas.openxmlformats.org/drawingml/2006/table">
            <a:tbl>
              <a:tblPr firstRow="1" bandRow="1">
                <a:tableStyleId>{5C22544A-7EE6-4342-B048-85BDC9FD1C3A}</a:tableStyleId>
              </a:tblPr>
              <a:tblGrid>
                <a:gridCol w="2873402"/>
                <a:gridCol w="1407380"/>
                <a:gridCol w="1114176"/>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0.047 / 0.138</a:t>
                      </a:r>
                    </a:p>
                  </a:txBody>
                  <a:tcPr marL="54864" marR="54864" marT="18288" marB="18288">
                    <a:solidFill>
                      <a:srgbClr val="FFFFFF"/>
                    </a:solidFill>
                  </a:tcPr>
                </a:tc>
                <a:tc>
                  <a:txBody>
                    <a:bodyPr wrap="square"/>
                    <a:lstStyle/>
                    <a:p>
                      <a:r>
                        <a:rPr sz="1000" b="0">
                          <a:solidFill>
                            <a:srgbClr val="282828"/>
                          </a:solidFill>
                          <a:latin typeface="Arial"/>
                        </a:rPr>
                        <a:t>0.62 / 1.19</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0.066 / 0.133</a:t>
                      </a:r>
                    </a:p>
                  </a:txBody>
                  <a:tcPr marL="54864" marR="54864" marT="18288" marB="18288">
                    <a:solidFill>
                      <a:srgbClr val="ECF1F6"/>
                    </a:solidFill>
                  </a:tcPr>
                </a:tc>
                <a:tc>
                  <a:txBody>
                    <a:bodyPr wrap="square"/>
                    <a:lstStyle/>
                    <a:p>
                      <a:r>
                        <a:rPr sz="1000" b="0">
                          <a:solidFill>
                            <a:srgbClr val="282828"/>
                          </a:solidFill>
                          <a:latin typeface="Arial"/>
                        </a:rPr>
                        <a:t>0.051 / 0.143</a:t>
                      </a:r>
                    </a:p>
                  </a:txBody>
                  <a:tcPr marL="54864" marR="54864" marT="18288" marB="18288">
                    <a:solidFill>
                      <a:srgbClr val="ECF1F6"/>
                    </a:solidFill>
                  </a:tcPr>
                </a:tc>
              </a:tr>
              <a:tr h="434340">
                <a:tc>
                  <a:txBody>
                    <a:bodyPr wrap="square"/>
                    <a:lstStyle/>
                    <a:p>
                      <a:r>
                        <a:rPr sz="1000" b="0">
                          <a:solidFill>
                            <a:srgbClr val="282828"/>
                          </a:solidFill>
                          <a:latin typeface="Arial"/>
                        </a:rPr>
                        <a:t>image surface: defocus / astig / tilt (mm of sag)</a:t>
                      </a:r>
                    </a:p>
                  </a:txBody>
                  <a:tcPr marL="54864" marR="54864" marT="18288" marB="18288">
                    <a:solidFill>
                      <a:srgbClr val="FFFFFF"/>
                    </a:solidFill>
                  </a:tcPr>
                </a:tc>
                <a:tc>
                  <a:txBody>
                    <a:bodyPr wrap="square"/>
                    <a:lstStyle/>
                    <a:p>
                      <a:r>
                        <a:rPr sz="1000" b="0">
                          <a:solidFill>
                            <a:srgbClr val="282828"/>
                          </a:solidFill>
                          <a:latin typeface="Arial"/>
                        </a:rPr>
                        <a:t>-0.0005 / -0.095 / 0.002</a:t>
                      </a:r>
                    </a:p>
                  </a:txBody>
                  <a:tcPr marL="54864" marR="54864" marT="18288" marB="18288">
                    <a:solidFill>
                      <a:srgbClr val="FFFFFF"/>
                    </a:solidFill>
                  </a:tcPr>
                </a:tc>
                <a:tc>
                  <a:txBody>
                    <a:bodyPr wrap="square"/>
                    <a:lstStyle/>
                    <a:p>
                      <a:r>
                        <a:rPr sz="1000" b="0">
                          <a:solidFill>
                            <a:srgbClr val="282828"/>
                          </a:solidFill>
                          <a:latin typeface="Arial"/>
                        </a:rPr>
                        <a:t>-0.45 / 0.14 / 0.42</a:t>
                      </a:r>
                    </a:p>
                  </a:txBody>
                  <a:tcPr marL="54864" marR="54864" marT="18288" marB="18288">
                    <a:solidFill>
                      <a:srgbClr val="FFFFFF"/>
                    </a:solidFill>
                  </a:tcPr>
                </a:tc>
              </a:tr>
              <a:tr h="43434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0.06 / 0.09 λF/D</a:t>
                      </a:r>
                    </a:p>
                  </a:txBody>
                  <a:tcPr marL="54864" marR="54864" marT="18288" marB="18288">
                    <a:solidFill>
                      <a:srgbClr val="ECF1F6"/>
                    </a:solidFill>
                  </a:tcPr>
                </a:tc>
                <a:tc>
                  <a:txBody>
                    <a:bodyPr wrap="square"/>
                    <a:lstStyle/>
                    <a:p>
                      <a:r>
                        <a:rPr sz="1000" b="0">
                          <a:solidFill>
                            <a:srgbClr val="282828"/>
                          </a:solidFill>
                          <a:latin typeface="Arial"/>
                        </a:rPr>
                        <a:t>0.03 / 2.2 λF/D</a:t>
                      </a:r>
                    </a:p>
                  </a:txBody>
                  <a:tcPr marL="54864" marR="54864" marT="18288" marB="18288">
                    <a:solidFill>
                      <a:srgbClr val="ECF1F6"/>
                    </a:solidFill>
                  </a:tcPr>
                </a:tc>
              </a:tr>
            </a:tbl>
          </a:graphicData>
        </a:graphic>
      </p:graphicFrame>
      <p:sp>
        <p:nvSpPr>
          <p:cNvPr id="7" name="TextBox 6"/>
          <p:cNvSpPr txBox="1"/>
          <p:nvPr/>
        </p:nvSpPr>
        <p:spPr>
          <a:xfrm>
            <a:off x="6400800" y="3102102"/>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Pupil image quality supports picometer measurement on both rigs.</a:t>
            </a:r>
            <a:r>
              <a:rPr sz="1200" b="0">
                <a:solidFill>
                  <a:srgbClr val="282828"/>
                </a:solidFill>
                <a:latin typeface="Arial"/>
              </a:rPr>
              <a:t>  Carried through to a reading it costs </a:t>
            </a:r>
            <a:r>
              <a:rPr sz="1200" b="1">
                <a:solidFill>
                  <a:srgbClr val="282828"/>
                </a:solidFill>
                <a:latin typeface="Arial"/>
              </a:rPr>
              <a:t>0.13 %</a:t>
            </a:r>
            <a:r>
              <a:rPr sz="1200" b="0">
                <a:solidFill>
                  <a:srgbClr val="282828"/>
                </a:solidFill>
                <a:latin typeface="Arial"/>
              </a:rPr>
              <a:t> of the figure on lenses and </a:t>
            </a:r>
            <a:r>
              <a:rPr sz="1200" b="1">
                <a:solidFill>
                  <a:srgbClr val="282828"/>
                </a:solidFill>
                <a:latin typeface="Arial"/>
              </a:rPr>
              <a:t>0.29 %</a:t>
            </a:r>
            <a:r>
              <a:rPr sz="1200" b="0">
                <a:solidFill>
                  <a:srgbClr val="282828"/>
                </a:solidFill>
                <a:latin typeface="Arial"/>
              </a:rPr>
              <a:t> on mirrors — 42 and 92 pm on a 30 nm working surface — and </a:t>
            </a:r>
            <a:r>
              <a:rPr sz="1200" b="1">
                <a:solidFill>
                  <a:srgbClr val="282828"/>
                </a:solidFill>
                <a:latin typeface="Arial"/>
              </a:rPr>
              <a:t>0.5 % / 0.9 %</a:t>
            </a:r>
            <a:r>
              <a:rPr sz="1200" b="0">
                <a:solidFill>
                  <a:srgbClr val="282828"/>
                </a:solidFill>
                <a:latin typeface="Arial"/>
              </a:rPr>
              <a:t> in the top spatial band, where it is worst.  That is the accuracy term; precision and repeatability are photon-limited and sub-picometer.  It holds because the response matrix is MEASURED on the surface: the mirror rig's image is distorted by more than an actuator pitch at the edge, which a geometric mapping would carry straight into the surface.</a:t>
            </a:r>
          </a:p>
          <a:p>
            <a:pPr>
              <a:spcAft>
                <a:spcPts val="600"/>
              </a:spcAft>
            </a:pPr>
            <a:r>
              <a:rPr sz="1200" b="0">
                <a:solidFill>
                  <a:srgbClr val="282828"/>
                </a:solidFill>
                <a:latin typeface="Arial"/>
              </a:rPr>
              <a:t>•  </a:t>
            </a:r>
            <a:r>
              <a:rPr sz="1200" b="1">
                <a:solidFill>
                  <a:srgbClr val="282828"/>
                </a:solidFill>
                <a:latin typeface="Arial"/>
              </a:rPr>
              <a:t>Method:</a:t>
            </a:r>
            <a:r>
              <a:rPr sz="1200" b="0">
                <a:solidFill>
                  <a:srgbClr val="282828"/>
                </a:solidFill>
                <a:latin typeface="Arial"/>
              </a:rPr>
              <a:t> the DM declared the stop, the field a tilt about it; two traces a small field step apart cross at each zone's image at the camera; scored in DM mm against the 1 mm pitch.</a:t>
            </a:r>
          </a:p>
          <a:p>
            <a:pPr>
              <a:spcAft>
                <a:spcPts val="600"/>
              </a:spcAft>
            </a:pPr>
            <a:r>
              <a:rPr sz="1200" b="0">
                <a:solidFill>
                  <a:srgbClr val="282828"/>
                </a:solidFill>
                <a:latin typeface="Arial"/>
              </a:rPr>
              <a:t>•  </a:t>
            </a:r>
            <a:r>
              <a:rPr sz="1200" b="1">
                <a:solidFill>
                  <a:srgbClr val="282828"/>
                </a:solidFill>
                <a:latin typeface="Arial"/>
              </a:rPr>
              <a:t>The lens rig images the DM flat</a:t>
            </a:r>
            <a:r>
              <a:rPr sz="1200" b="0">
                <a:solidFill>
                  <a:srgbClr val="282828"/>
                </a:solidFill>
                <a:latin typeface="Arial"/>
              </a:rPr>
              <a:t> (0.5 µm of defocus across the pupil) and holds its mapping to a seventh of an actuator pitch.  </a:t>
            </a:r>
            <a:r>
              <a:rPr sz="1200" b="1">
                <a:solidFill>
                  <a:srgbClr val="282828"/>
                </a:solidFill>
                <a:latin typeface="Arial"/>
              </a:rPr>
              <a:t>The mirror rig trades mapping for the front end</a:t>
            </a:r>
            <a:r>
              <a:rPr sz="1200" b="0">
                <a:solidFill>
                  <a:srgbClr val="282828"/>
                </a:solidFill>
                <a:latin typeface="Arial"/>
              </a:rPr>
              <a:t>: the OAP pair distorts the image by more than a pitch at the edge, which the measured matrix absorbs and the numbers above already include.</a:t>
            </a:r>
          </a:p>
          <a:p>
            <a:pPr>
              <a:spcAft>
                <a:spcPts val="600"/>
              </a:spcAft>
            </a:pPr>
            <a:r>
              <a:rPr sz="1200" b="0">
                <a:solidFill>
                  <a:srgbClr val="282828"/>
                </a:solidFill>
                <a:latin typeface="Arial"/>
              </a:rPr>
              <a:t>•  </a:t>
            </a:r>
            <a:r>
              <a:rPr sz="1200" b="1">
                <a:solidFill>
                  <a:srgbClr val="282828"/>
                </a:solidFill>
                <a:latin typeface="Arial"/>
              </a:rPr>
              <a:t>The mirror rig's focus is perfect on axis and coma-limited off it</a:t>
            </a:r>
            <a:r>
              <a:rPr sz="1200" b="0">
                <a:solidFill>
                  <a:srgbClr val="282828"/>
                </a:solidFill>
                <a:latin typeface="Arial"/>
              </a:rPr>
              <a:t> (2.2 λF/D at the actuator-band tilt); not a pupil-image cost, a number to know for any off-axis reading at the seat.</a:t>
            </a:r>
          </a:p>
        </p:txBody>
      </p:sp>
      <p:sp>
        <p:nvSpPr>
          <p:cNvPr id="8" name="TextBox 7"/>
          <p:cNvSpPr txBox="1"/>
          <p:nvPr/>
        </p:nvSpPr>
        <p:spPr>
          <a:xfrm>
            <a:off x="548640" y="574243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pupilq96_lens, pupilq96_oap (tg96_pupilq, model 512, on the emitted redo decks, 2026-09-18); tg_psi_dm96_oap/REPORT_bench_realism.md section 6.  Requested by Fang Shi.  λF/D = 2.83 µm on the 96 mm beam, which the DM's aperture defines.  Blur is quoted over the actuator band, edge zones included.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0.993 / 5 pm / SNR 1987; 1 nm on 120 sites 0.995 / 4 pm; dense 10 nm 0.978, 0.75 nm.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model's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1.008 / 2 pm / SNR 6364; 1 nm on 120 sites 1.001 / 4 pm; dense 10 nm 1.0035, 0.44 nm — the best line in the comparison.</a:t>
            </a:r>
          </a:p>
          <a:p>
            <a:pPr>
              <a:spcAft>
                <a:spcPts val="600"/>
              </a:spcAft>
            </a:pPr>
            <a:r>
              <a:rPr sz="1500" b="0">
                <a:solidFill>
                  <a:srgbClr val="282828"/>
                </a:solidFill>
                <a:latin typeface="Arial"/>
              </a:rPr>
              <a:t>•  </a:t>
            </a:r>
            <a:r>
              <a:rPr sz="1500" b="1">
                <a:solidFill>
                  <a:srgbClr val="282828"/>
                </a:solidFill>
                <a:latin typeface="Arial"/>
              </a:rPr>
              <a:t>Servo (mirror rig):</a:t>
            </a:r>
            <a:r>
              <a:rPr sz="1500" b="0">
                <a:solidFill>
                  <a:srgbClr val="282828"/>
                </a:solidFill>
                <a:latin typeface="Arial"/>
              </a:rPr>
              <a:t> 3 pm from 2.2e12 photons per cycle noise only, 6.8e12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How it reads:</a:t>
            </a:r>
            <a:r>
              <a:rPr sz="1500" b="0">
                <a:solidFill>
                  <a:srgbClr val="282828"/>
                </a:solidFill>
                <a:latin typeface="Arial"/>
              </a:rPr>
              <a:t>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500" b="0">
                <a:solidFill>
                  <a:srgbClr val="282828"/>
                </a:solidFill>
                <a:latin typeface="Arial"/>
              </a:rPr>
              <a:t>•  </a:t>
            </a:r>
            <a:r>
              <a:rPr sz="1500" b="1">
                <a:solidFill>
                  <a:srgbClr val="282828"/>
                </a:solidFill>
                <a:latin typeface="Arial"/>
              </a:rPr>
              <a:t>On the 30 nm surface, matrix measured on it (mirror rig, 385 px):</a:t>
            </a:r>
            <a:r>
              <a:rPr sz="1500" b="0">
                <a:solidFill>
                  <a:srgbClr val="282828"/>
                </a:solidFill>
                <a:latin typeface="Arial"/>
              </a:rPr>
              <a:t> 10 nm on one actuator 0.995 / 3 pm / SNR 3845; 1 nm on 120 sites 0.998 / 3 pm; dense 10 nm 0.994, 313 pm.</a:t>
            </a:r>
          </a:p>
          <a:p>
            <a:pPr>
              <a:spcAft>
                <a:spcPts val="600"/>
              </a:spcAft>
            </a:pPr>
            <a:r>
              <a:rPr sz="1500" b="0">
                <a:solidFill>
                  <a:srgbClr val="282828"/>
                </a:solidFill>
                <a:latin typeface="Arial"/>
              </a:rPr>
              <a:t>•  </a:t>
            </a:r>
            <a:r>
              <a:rPr sz="1500" b="1">
                <a:solidFill>
                  <a:srgbClr val="282828"/>
                </a:solidFill>
                <a:latin typeface="Arial"/>
              </a:rPr>
              <a:t>Servo:</a:t>
            </a:r>
            <a:r>
              <a:rPr sz="1500" b="0">
                <a:solidFill>
                  <a:srgbClr val="282828"/>
                </a:solidFill>
                <a:latin typeface="Arial"/>
              </a:rPr>
              <a:t> 3 pm from 2.3e12 photons per cycle noise only, 7.0e12 under the walk; no fixed error.  The shutter frame is what lets it read to 480 nm of surface (next slides).</a:t>
            </a:r>
          </a:p>
          <a:p>
            <a:pPr>
              <a:spcAft>
                <a:spcPts val="600"/>
              </a:spcAft>
            </a:pPr>
            <a:r>
              <a:rPr sz="1500" b="0">
                <a:solidFill>
                  <a:srgbClr val="282828"/>
                </a:solidFill>
                <a:latin typeface="Arial"/>
              </a:rPr>
              <a:t>•  </a:t>
            </a:r>
            <a:r>
              <a:rPr sz="1500" b="1">
                <a:solidFill>
                  <a:srgbClr val="282828"/>
                </a:solidFill>
                <a:latin typeface="Arial"/>
              </a:rPr>
              <a:t>Not yet modeled: how the phase is stepped.</a:t>
            </a:r>
            <a:r>
              <a:rPr sz="1500" b="0">
                <a:solidFill>
                  <a:srgbClr val="282828"/>
                </a:solidFill>
                <a:latin typeface="Arial"/>
              </a:rPr>
              <a:t>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P/SRI is this sensor's two-arm form and differs from it in more than the phase shifter: a 60/40 pickoff, a reference lens, a 3.7 µm pinhole feeding a single-mode waveguide with a thermo-optic shifter, a recombiner and its own camera — a non-common-path reference where the stepped pinhole's reference shares the plate and the leg.  It pays 6× the photons at null and nothing off null; a capture instrument here, its trade in backup.  Run tags pdi193fbase, ploop193, pdi193state.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74996"/>
                <a:gridCol w="3427339"/>
                <a:gridCol w="2591402"/>
                <a:gridCol w="2674996"/>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120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1.004 / 1.4 pm / 7741</a:t>
                      </a:r>
                    </a:p>
                  </a:txBody>
                  <a:tcPr marL="54864" marR="54864" marT="18288" marB="18288">
                    <a:solidFill>
                      <a:srgbClr val="FFFFFF"/>
                    </a:solidFill>
                  </a:tcPr>
                </a:tc>
                <a:tc>
                  <a:txBody>
                    <a:bodyPr wrap="square"/>
                    <a:lstStyle/>
                    <a:p>
                      <a:r>
                        <a:rPr sz="1100" b="0">
                          <a:solidFill>
                            <a:srgbClr val="282828"/>
                          </a:solidFill>
                          <a:latin typeface="Arial"/>
                        </a:rPr>
                        <a:t>0.993 / 10 pm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0.986 / 2.3 pm / 6044</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c>
                  <a:txBody>
                    <a:bodyPr wrap="square"/>
                    <a:lstStyle/>
                    <a:p>
                      <a:r>
                        <a:rPr sz="1100" b="0">
                          <a:solidFill>
                            <a:srgbClr val="282828"/>
                          </a:solidFill>
                          <a:latin typeface="Arial"/>
                        </a:rPr>
                        <a:t>0.977 / 698 pm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0.993 / 5 pm / 1987</a:t>
                      </a:r>
                    </a:p>
                  </a:txBody>
                  <a:tcPr marL="54864" marR="54864" marT="18288" marB="18288">
                    <a:solidFill>
                      <a:srgbClr val="FFFFFF"/>
                    </a:solidFill>
                  </a:tcPr>
                </a:tc>
                <a:tc>
                  <a:txBody>
                    <a:bodyPr wrap="square"/>
                    <a:lstStyle/>
                    <a:p>
                      <a:r>
                        <a:rPr sz="1100" b="0">
                          <a:solidFill>
                            <a:srgbClr val="282828"/>
                          </a:solidFill>
                          <a:latin typeface="Arial"/>
                        </a:rPr>
                        <a:t>0.995 / 4 pm</a:t>
                      </a:r>
                    </a:p>
                  </a:txBody>
                  <a:tcPr marL="54864" marR="54864" marT="18288" marB="18288">
                    <a:solidFill>
                      <a:srgbClr val="FFFFFF"/>
                    </a:solidFill>
                  </a:tcPr>
                </a:tc>
                <a:tc>
                  <a:txBody>
                    <a:bodyPr wrap="square"/>
                    <a:lstStyle/>
                    <a:p>
                      <a:r>
                        <a:rPr sz="1100" b="0">
                          <a:solidFill>
                            <a:srgbClr val="282828"/>
                          </a:solidFill>
                          <a:latin typeface="Arial"/>
                        </a:rPr>
                        <a:t>0.978 / 0.75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1.008 / 2 pm / 6364</a:t>
                      </a:r>
                    </a:p>
                  </a:txBody>
                  <a:tcPr marL="54864" marR="54864" marT="18288" marB="18288">
                    <a:solidFill>
                      <a:srgbClr val="ECF1F6"/>
                    </a:solidFill>
                  </a:tcPr>
                </a:tc>
                <a:tc>
                  <a:txBody>
                    <a:bodyPr wrap="square"/>
                    <a:lstStyle/>
                    <a:p>
                      <a:r>
                        <a:rPr sz="1100" b="0">
                          <a:solidFill>
                            <a:srgbClr val="282828"/>
                          </a:solidFill>
                          <a:latin typeface="Arial"/>
                        </a:rPr>
                        <a:t>1.001 / 4 pm</a:t>
                      </a:r>
                    </a:p>
                  </a:txBody>
                  <a:tcPr marL="54864" marR="54864" marT="18288" marB="18288">
                    <a:solidFill>
                      <a:srgbClr val="ECF1F6"/>
                    </a:solidFill>
                  </a:tcPr>
                </a:tc>
                <a:tc>
                  <a:txBody>
                    <a:bodyPr wrap="square"/>
                    <a:lstStyle/>
                    <a:p>
                      <a:r>
                        <a:rPr sz="1100" b="0">
                          <a:solidFill>
                            <a:srgbClr val="282828"/>
                          </a:solidFill>
                          <a:latin typeface="Arial"/>
                        </a:rPr>
                        <a:t>1.0035 / 0.44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0.995 / 3 pm / 3845</a:t>
                      </a:r>
                    </a:p>
                  </a:txBody>
                  <a:tcPr marL="54864" marR="54864" marT="18288" marB="18288">
                    <a:solidFill>
                      <a:srgbClr val="FFFFFF"/>
                    </a:solidFill>
                  </a:tcPr>
                </a:tc>
                <a:tc>
                  <a:txBody>
                    <a:bodyPr wrap="square"/>
                    <a:lstStyle/>
                    <a:p>
                      <a:r>
                        <a:rPr sz="1100" b="0">
                          <a:solidFill>
                            <a:srgbClr val="282828"/>
                          </a:solidFill>
                          <a:latin typeface="Arial"/>
                        </a:rPr>
                        <a:t>0.998 / 3 pm</a:t>
                      </a:r>
                    </a:p>
                  </a:txBody>
                  <a:tcPr marL="54864" marR="54864" marT="18288" marB="18288">
                    <a:solidFill>
                      <a:srgbClr val="FFFFFF"/>
                    </a:solidFill>
                  </a:tcPr>
                </a:tc>
                <a:tc>
                  <a:txBody>
                    <a:bodyPr wrap="square"/>
                    <a:lstStyle/>
                    <a:p>
                      <a:r>
                        <a:rPr sz="1100" b="0">
                          <a:solidFill>
                            <a:srgbClr val="282828"/>
                          </a:solidFill>
                          <a:latin typeface="Arial"/>
                        </a:rPr>
                        <a:t>0.994 / 313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one-frame Zernike readings lose:</a:t>
            </a:r>
            <a:r>
              <a:rPr sz="1500" b="0">
                <a:solidFill>
                  <a:srgbClr val="282828"/>
                </a:solidFill>
                <a:latin typeface="Arial"/>
              </a:rPr>
              <a:t>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a:t>
            </a:r>
            <a:r>
              <a:rPr sz="1500" b="1">
                <a:solidFill>
                  <a:srgbClr val="282828"/>
                </a:solidFill>
                <a:latin typeface="Arial"/>
              </a:rPr>
              <a:t>The dense-pattern error is 0.3-0.75 nm for every reading, the interferometer's included;</a:t>
            </a:r>
            <a:r>
              <a:rPr sz="1500" b="0">
                <a:solidFill>
                  <a:srgbClr val="282828"/>
                </a:solidFill>
                <a:latin typeface="Arial"/>
              </a:rPr>
              <a:t> the single-actuator and grid rows, which the servo uses, are at 1-10 pm.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(interferometer, 385 px), redo96_oapsens (the three sensors on the mirror rig, 385 px); the one-frame Zernike readings and the P/SRI at 193 px (matbase, pfdeck).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554730"/>
        </p:xfrm>
        <a:graphic>
          <a:graphicData uri="http://schemas.openxmlformats.org/drawingml/2006/table">
            <a:tbl>
              <a:tblPr firstRow="1" bandRow="1">
                <a:tableStyleId>{5C22544A-7EE6-4342-B048-85BDC9FD1C3A}</a:tableStyleId>
              </a:tblPr>
              <a:tblGrid>
                <a:gridCol w="2977661"/>
                <a:gridCol w="2828778"/>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468630">
                <a:tc>
                  <a:txBody>
                    <a:bodyPr wrap="square"/>
                    <a:lstStyle/>
                    <a:p>
                      <a:r>
                        <a:rPr sz="1100" b="0">
                          <a:solidFill>
                            <a:srgbClr val="282828"/>
                          </a:solidFill>
                          <a:latin typeface="Arial"/>
                        </a:rPr>
                        <a:t>interferometer, both rigs</a:t>
                      </a:r>
                    </a:p>
                  </a:txBody>
                  <a:tcPr marL="54864" marR="54864" marT="18288" marB="18288">
                    <a:solidFill>
                      <a:srgbClr val="ECF1F6"/>
                    </a:solidFill>
                  </a:tcPr>
                </a:tc>
                <a:tc>
                  <a:txBody>
                    <a:bodyPr wrap="square"/>
                    <a:lstStyle/>
                    <a:p>
                      <a:r>
                        <a:rPr sz="1100" b="0">
                          <a:solidFill>
                            <a:srgbClr val="282828"/>
                          </a:solidFill>
                          <a:latin typeface="Arial"/>
                        </a:rPr>
                        <a:t>480 nm and beyond, single site and grid</a:t>
                      </a:r>
                    </a:p>
                  </a:txBody>
                  <a:tcPr marL="54864" marR="54864" marT="18288" marB="18288">
                    <a:solidFill>
                      <a:srgbClr val="ECF1F6"/>
                    </a:solidFill>
                  </a:tcPr>
                </a:tc>
              </a:tr>
              <a:tr h="468630">
                <a:tc>
                  <a:txBody>
                    <a:bodyPr wrap="square"/>
                    <a:lstStyle/>
                    <a:p>
                      <a:r>
                        <a:rPr sz="1100" b="0">
                          <a:solidFill>
                            <a:srgbClr val="282828"/>
                          </a:solidFill>
                          <a:latin typeface="Arial"/>
                        </a:rPr>
                        <a:t>Zernike stepped / vector / pinhole on the mirror rig, 385 px</a:t>
                      </a:r>
                    </a:p>
                  </a:txBody>
                  <a:tcPr marL="54864" marR="54864" marT="18288" marB="18288">
                    <a:solidFill>
                      <a:srgbClr val="FFFFFF"/>
                    </a:solidFill>
                  </a:tcPr>
                </a:tc>
                <a:tc>
                  <a:txBody>
                    <a:bodyPr wrap="square"/>
                    <a:lstStyle/>
                    <a:p>
                      <a:r>
                        <a:rPr sz="1100" b="0">
                          <a:solidFill>
                            <a:srgbClr val="282828"/>
                          </a:solidFill>
                          <a:latin typeface="Arial"/>
                        </a:rPr>
                        <a:t>35 / 51 / 42 nm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Why the sensors age:</a:t>
            </a:r>
            <a:r>
              <a:rPr sz="1500" b="0">
                <a:solidFill>
                  <a:srgbClr val="282828"/>
                </a:solidFill>
                <a:latin typeface="Arial"/>
              </a:rPr>
              <a:t> their reference is made from the beam's own core, and the core changes with the surface.  Past 100 nm rms (2 rad of phase) the core collapses and the reading goes blind.</a:t>
            </a:r>
          </a:p>
          <a:p>
            <a:pPr>
              <a:spcAft>
                <a:spcPts val="600"/>
              </a:spcAft>
            </a:pPr>
            <a:r>
              <a:rPr sz="1500" b="0">
                <a:solidFill>
                  <a:srgbClr val="282828"/>
                </a:solidFill>
                <a:latin typeface="Arial"/>
              </a:rPr>
              <a:t>•  </a:t>
            </a:r>
            <a:r>
              <a:rPr sz="1500" b="1">
                <a:solidFill>
                  <a:srgbClr val="282828"/>
                </a:solidFill>
                <a:latin typeface="Arial"/>
              </a:rPr>
              <a:t>The shutter frame fixes the pinhole's version of this:</a:t>
            </a:r>
            <a:r>
              <a:rPr sz="1500" b="0">
                <a:solidFill>
                  <a:srgbClr val="282828"/>
                </a:solidFill>
                <a:latin typeface="Arial"/>
              </a:rPr>
              <a:t> measuring the reference by itself each state removes the surface dependence, for one more frame.</a:t>
            </a:r>
          </a:p>
          <a:p>
            <a:pPr>
              <a:spcAft>
                <a:spcPts val="600"/>
              </a:spcAft>
            </a:pPr>
            <a:r>
              <a:rPr sz="1500" b="0">
                <a:solidFill>
                  <a:srgbClr val="282828"/>
                </a:solidFill>
                <a:latin typeface="Arial"/>
              </a:rPr>
              <a:t>•  </a:t>
            </a:r>
            <a:r>
              <a:rPr sz="1500" b="1">
                <a:solidFill>
                  <a:srgbClr val="282828"/>
                </a:solidFill>
                <a:latin typeface="Arial"/>
              </a:rPr>
              <a:t>Re-measuring the matrix on the surface restores every reading's gain</a:t>
            </a:r>
            <a:r>
              <a:rPr sz="1500" b="0">
                <a:solidFill>
                  <a:srgbClr val="282828"/>
                </a:solidFill>
                <a:latin typeface="Arial"/>
              </a:rPr>
              <a:t> to within 5% at 60-160 nm — at a photon price (next slide).</a:t>
            </a:r>
          </a:p>
        </p:txBody>
      </p:sp>
      <p:sp>
        <p:nvSpPr>
          <p:cNvPr id="6" name="TextBox 5"/>
          <p:cNvSpPr txBox="1"/>
          <p:nvPr/>
        </p:nvSpPr>
        <p:spPr>
          <a:xfrm>
            <a:off x="6355080" y="4343400"/>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oapsens385 (the mirror rig at 385 px, the Mac); 385 pixels per pupil, 47 sites (52 for the interferometer).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30 nm working surface the vector Zernike needs 4.6e13 photons per measurement, the stepped Zernike 1.2e14, the pinhole 1.5e14, the interferometer 7e14 (mirror rig) to 1e15 (lens rig); a matrix measured on the flat costs the sensors less, the vector pair's cost barely moves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2811780"/>
        </p:xfrm>
        <a:graphic>
          <a:graphicData uri="http://schemas.openxmlformats.org/drawingml/2006/table">
            <a:tbl>
              <a:tblPr firstRow="1" bandRow="1">
                <a:tableStyleId>{5C22544A-7EE6-4342-B048-85BDC9FD1C3A}</a:tableStyleId>
              </a:tblPr>
              <a:tblGrid>
                <a:gridCol w="1741931"/>
                <a:gridCol w="2322576"/>
                <a:gridCol w="17419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matrix on the flat</a:t>
                      </a:r>
                    </a:p>
                  </a:txBody>
                  <a:tcPr marL="54864" marR="54864" marT="18288" marB="18288">
                    <a:solidFill>
                      <a:srgbClr val="1F4E79"/>
                    </a:solidFill>
                  </a:tcPr>
                </a:tc>
                <a:tc>
                  <a:txBody>
                    <a:bodyPr wrap="square"/>
                    <a:lstStyle/>
                    <a:p>
                      <a:r>
                        <a:rPr sz="1100" b="1">
                          <a:solidFill>
                            <a:srgbClr val="FFFFFF"/>
                          </a:solidFill>
                          <a:latin typeface="Arial"/>
                        </a:rPr>
                        <a:t>matrix on the 30 nm surface</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4.3e13</a:t>
                      </a:r>
                    </a:p>
                  </a:txBody>
                  <a:tcPr marL="54864" marR="54864" marT="18288" marB="18288">
                    <a:solidFill>
                      <a:srgbClr val="FFFFFF"/>
                    </a:solidFill>
                  </a:tcPr>
                </a:tc>
                <a:tc>
                  <a:txBody>
                    <a:bodyPr wrap="square"/>
                    <a:lstStyle/>
                    <a:p>
                      <a:r>
                        <a:rPr sz="1100" b="0">
                          <a:solidFill>
                            <a:srgbClr val="282828"/>
                          </a:solidFill>
                          <a:latin typeface="Arial"/>
                        </a:rPr>
                        <a:t>4.6e13</a:t>
                      </a:r>
                    </a:p>
                  </a:txBody>
                  <a:tcPr marL="54864" marR="54864" marT="18288" marB="18288">
                    <a:solidFill>
                      <a:srgbClr val="FFFFFF"/>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c>
                  <a:txBody>
                    <a:bodyPr wrap="square"/>
                    <a:lstStyle/>
                    <a:p>
                      <a:r>
                        <a:rPr sz="1100" b="0">
                          <a:solidFill>
                            <a:srgbClr val="282828"/>
                          </a:solidFill>
                          <a:latin typeface="Arial"/>
                        </a:rPr>
                        <a:t>1.2e14</a:t>
                      </a:r>
                    </a:p>
                  </a:txBody>
                  <a:tcPr marL="54864" marR="54864" marT="18288" marB="18288">
                    <a:solidFill>
                      <a:srgbClr val="ECF1F6"/>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FFFFFF"/>
                    </a:solidFill>
                  </a:tcPr>
                </a:tc>
                <a:tc>
                  <a:txBody>
                    <a:bodyPr wrap="square"/>
                    <a:lstStyle/>
                    <a:p>
                      <a:r>
                        <a:rPr sz="1100" b="0">
                          <a:solidFill>
                            <a:srgbClr val="282828"/>
                          </a:solidFill>
                          <a:latin typeface="Arial"/>
                        </a:rPr>
                        <a:t>1.3e14</a:t>
                      </a:r>
                    </a:p>
                  </a:txBody>
                  <a:tcPr marL="54864" marR="54864" marT="18288" marB="18288">
                    <a:solidFill>
                      <a:srgbClr val="FFFFFF"/>
                    </a:solidFill>
                  </a:tcPr>
                </a:tc>
                <a:tc>
                  <a:txBody>
                    <a:bodyPr wrap="square"/>
                    <a:lstStyle/>
                    <a:p>
                      <a:r>
                        <a:rPr sz="1100" b="0">
                          <a:solidFill>
                            <a:srgbClr val="282828"/>
                          </a:solidFill>
                          <a:latin typeface="Arial"/>
                        </a:rPr>
                        <a:t>1.5e14</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9.9e14</a:t>
                      </a:r>
                    </a:p>
                  </a:txBody>
                  <a:tcPr marL="54864" marR="54864" marT="18288" marB="18288">
                    <a:solidFill>
                      <a:srgbClr val="FFFFFF"/>
                    </a:solidFill>
                  </a:tcPr>
                </a:tc>
              </a:tr>
            </a:tbl>
          </a:graphicData>
        </a:graphic>
      </p:graphicFrame>
      <p:pic>
        <p:nvPicPr>
          <p:cNvPr id="5" name="Picture 4" descr="zwfs_redo96_noise.png"/>
          <p:cNvPicPr>
            <a:picLocks noChangeAspect="1"/>
          </p:cNvPicPr>
          <p:nvPr/>
        </p:nvPicPr>
        <p:blipFill>
          <a:blip r:embed="rId2"/>
          <a:stretch>
            <a:fillRect/>
          </a:stretch>
        </p:blipFill>
        <p:spPr>
          <a:xfrm>
            <a:off x="6501384" y="1298448"/>
            <a:ext cx="4928616" cy="3895344"/>
          </a:xfrm>
          <a:prstGeom prst="rect">
            <a:avLst/>
          </a:prstGeom>
        </p:spPr>
      </p:pic>
      <p:sp>
        <p:nvSpPr>
          <p:cNvPr id="6" name="TextBox 5"/>
          <p:cNvSpPr txBox="1"/>
          <p:nvPr/>
        </p:nvSpPr>
        <p:spPr>
          <a:xfrm>
            <a:off x="6428232" y="5212080"/>
            <a:ext cx="4928616"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reading, with the 1 pm line: the runner's own figure.</a:t>
            </a:r>
          </a:p>
        </p:txBody>
      </p:sp>
      <p:sp>
        <p:nvSpPr>
          <p:cNvPr id="7" name="TextBox 6"/>
          <p:cNvSpPr txBox="1"/>
          <p:nvPr/>
        </p:nvSpPr>
        <p:spPr>
          <a:xfrm>
            <a:off x="6428232" y="5641848"/>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The interferometer's single-shot cost on larger surfaces: 5.3-4.4e14 at 60-160 nm on the mirror rig, 8.6-6.6e14 on the lens rig.  Run tags redo96_sensnoisef (flat matrix), redo96_sensnoise (on the surface), redo96_oapph, redo96_lensph; 6 noise realizations per point.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2.2e12 photons per cycle, the pinhole from 3.1e12, the stepped Zernike from 3.5e12, and the interferometer from 2.0e13 on the mirror rig and 2.3e13 on the lens rig;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2811780"/>
        </p:xfrm>
        <a:graphic>
          <a:graphicData uri="http://schemas.openxmlformats.org/drawingml/2006/table">
            <a:tbl>
              <a:tblPr firstRow="1" bandRow="1">
                <a:tableStyleId>{5C22544A-7EE6-4342-B048-85BDC9FD1C3A}</a:tableStyleId>
              </a:tblPr>
              <a:tblGrid>
                <a:gridCol w="1096320"/>
                <a:gridCol w="649671"/>
                <a:gridCol w="1299343"/>
                <a:gridCol w="1339947"/>
                <a:gridCol w="1421156"/>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2.2e12</a:t>
                      </a:r>
                    </a:p>
                  </a:txBody>
                  <a:tcPr marL="54864" marR="54864" marT="18288" marB="18288">
                    <a:solidFill>
                      <a:srgbClr val="FFFFFF"/>
                    </a:solidFill>
                  </a:tcPr>
                </a:tc>
                <a:tc>
                  <a:txBody>
                    <a:bodyPr wrap="square"/>
                    <a:lstStyle/>
                    <a:p>
                      <a:r>
                        <a:rPr sz="1100" b="0">
                          <a:solidFill>
                            <a:srgbClr val="282828"/>
                          </a:solidFill>
                          <a:latin typeface="Arial"/>
                        </a:rPr>
                        <a:t>6.8e12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3.1e12</a:t>
                      </a:r>
                    </a:p>
                  </a:txBody>
                  <a:tcPr marL="54864" marR="54864" marT="18288" marB="18288">
                    <a:solidFill>
                      <a:srgbClr val="ECF1F6"/>
                    </a:solidFill>
                  </a:tcPr>
                </a:tc>
                <a:tc>
                  <a:txBody>
                    <a:bodyPr wrap="square"/>
                    <a:lstStyle/>
                    <a:p>
                      <a:r>
                        <a:rPr sz="1100" b="0">
                          <a:solidFill>
                            <a:srgbClr val="282828"/>
                          </a:solidFill>
                          <a:latin typeface="Arial"/>
                        </a:rPr>
                        <a:t>8.4e12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468630">
                <a:tc>
                  <a:txBody>
                    <a:bodyPr wrap="square"/>
                    <a:lstStyle/>
                    <a:p>
                      <a:r>
                        <a:rPr sz="1100" b="0">
                          <a:solidFill>
                            <a:srgbClr val="282828"/>
                          </a:solidFill>
                          <a:latin typeface="Arial"/>
                        </a:rPr>
                        <a:t>stepped Zernike, mirror rig</a:t>
                      </a:r>
                    </a:p>
                  </a:txBody>
                  <a:tcPr marL="54864" marR="54864" marT="18288" marB="18288">
                    <a:solidFill>
                      <a:srgbClr val="FFFFFF"/>
                    </a:solidFill>
                  </a:tcPr>
                </a:tc>
                <a:tc>
                  <a:txBody>
                    <a:bodyPr wrap="square"/>
                    <a:lstStyle/>
                    <a:p>
                      <a:r>
                        <a:rPr sz="1100" b="0">
                          <a:solidFill>
                            <a:srgbClr val="282828"/>
                          </a:solidFill>
                          <a:latin typeface="Arial"/>
                        </a:rPr>
                        <a:t>3.5e12</a:t>
                      </a:r>
                    </a:p>
                  </a:txBody>
                  <a:tcPr marL="54864" marR="54864" marT="18288" marB="18288">
                    <a:solidFill>
                      <a:srgbClr val="FFFFFF"/>
                    </a:solidFill>
                  </a:tcPr>
                </a:tc>
                <a:tc>
                  <a:txBody>
                    <a:bodyPr wrap="square"/>
                    <a:lstStyle/>
                    <a:p>
                      <a:r>
                        <a:rPr sz="1100" b="0">
                          <a:solidFill>
                            <a:srgbClr val="282828"/>
                          </a:solidFill>
                          <a:latin typeface="Arial"/>
                        </a:rPr>
                        <a:t>9.1e12</a:t>
                      </a:r>
                    </a:p>
                  </a:txBody>
                  <a:tcPr marL="54864" marR="54864" marT="18288" marB="18288">
                    <a:solidFill>
                      <a:srgbClr val="FFFFFF"/>
                    </a:solidFill>
                  </a:tcPr>
                </a:tc>
                <a:tc>
                  <a:txBody>
                    <a:bodyPr wrap="square"/>
                    <a:lstStyle/>
                    <a:p>
                      <a:r>
                        <a:rPr sz="1100" b="0">
                          <a:solidFill>
                            <a:srgbClr val="282828"/>
                          </a:solidFill>
                          <a:latin typeface="Arial"/>
                        </a:rPr>
                        <a:t>10.5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6.6e13</a:t>
                      </a:r>
                    </a:p>
                  </a:txBody>
                  <a:tcPr marL="54864" marR="54864" marT="18288" marB="18288">
                    <a:solidFill>
                      <a:srgbClr val="ECF1F6"/>
                    </a:solidFill>
                  </a:tcPr>
                </a:tc>
                <a:tc>
                  <a:txBody>
                    <a:bodyPr wrap="square"/>
                    <a:lstStyle/>
                    <a:p>
                      <a:r>
                        <a:rPr sz="1100" b="0">
                          <a:solidFill>
                            <a:srgbClr val="282828"/>
                          </a:solidFill>
                          <a:latin typeface="Arial"/>
                        </a:rPr>
                        <a:t>11.5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468630">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2.3e13</a:t>
                      </a:r>
                    </a:p>
                  </a:txBody>
                  <a:tcPr marL="54864" marR="54864" marT="18288" marB="18288">
                    <a:solidFill>
                      <a:srgbClr val="FFFFFF"/>
                    </a:solidFill>
                  </a:tcPr>
                </a:tc>
                <a:tc>
                  <a:txBody>
                    <a:bodyPr wrap="square"/>
                    <a:lstStyle/>
                    <a:p>
                      <a:r>
                        <a:rPr sz="1100" b="0">
                          <a:solidFill>
                            <a:srgbClr val="282828"/>
                          </a:solidFill>
                          <a:latin typeface="Arial"/>
                        </a:rPr>
                        <a:t>7.1e13</a:t>
                      </a:r>
                    </a:p>
                  </a:txBody>
                  <a:tcPr marL="54864" marR="54864" marT="18288" marB="18288">
                    <a:solidFill>
                      <a:srgbClr val="FFFFFF"/>
                    </a:solidFill>
                  </a:tcPr>
                </a:tc>
                <a:tc>
                  <a:txBody>
                    <a:bodyPr wrap="square"/>
                    <a:lstStyle/>
                    <a:p>
                      <a:r>
                        <a:rPr sz="1100" b="0">
                          <a:solidFill>
                            <a:srgbClr val="282828"/>
                          </a:solidFill>
                          <a:latin typeface="Arial"/>
                        </a:rPr>
                        <a:t>10.2 pm</a:t>
                      </a:r>
                    </a:p>
                  </a:txBody>
                  <a:tcPr marL="54864" marR="54864" marT="18288" marB="18288">
                    <a:solidFill>
                      <a:srgbClr val="FFFFFF"/>
                    </a:solidFill>
                  </a:tcPr>
                </a:tc>
                <a:tc>
                  <a:txBody>
                    <a:bodyPr wrap="square"/>
                    <a:lstStyle/>
                    <a:p>
                      <a:r>
                        <a:rPr sz="1100" b="0">
                          <a:solidFill>
                            <a:srgbClr val="282828"/>
                          </a:solidFill>
                          <a:latin typeface="Arial"/>
                        </a:rPr>
                        <a:t>0.015 pm</a:t>
                      </a:r>
                    </a:p>
                  </a:txBody>
                  <a:tcPr marL="54864" marR="54864" marT="18288" marB="18288">
                    <a:solidFill>
                      <a:srgbClr val="FFFFFF"/>
                    </a:solidFill>
                  </a:tcPr>
                </a:tc>
              </a:tr>
            </a:tbl>
          </a:graphicData>
        </a:graphic>
      </p:graphicFrame>
      <p:pic>
        <p:nvPicPr>
          <p:cNvPr id="5" name="Picture 4" descr="crop_zwfs_redo96_loop_right.png"/>
          <p:cNvPicPr>
            <a:picLocks noChangeAspect="1"/>
          </p:cNvPicPr>
          <p:nvPr/>
        </p:nvPicPr>
        <p:blipFill>
          <a:blip r:embed="rId2"/>
          <a:stretch>
            <a:fillRect/>
          </a:stretch>
        </p:blipFill>
        <p:spPr>
          <a:xfrm>
            <a:off x="7086600" y="1271016"/>
            <a:ext cx="4005072" cy="3374136"/>
          </a:xfrm>
          <a:prstGeom prst="rect">
            <a:avLst/>
          </a:prstGeom>
        </p:spPr>
      </p:pic>
      <p:sp>
        <p:nvSpPr>
          <p:cNvPr id="6" name="TextBox 5"/>
          <p:cNvSpPr txBox="1"/>
          <p:nvPr/>
        </p:nvSpPr>
        <p:spPr>
          <a:xfrm>
            <a:off x="6400800" y="4700016"/>
            <a:ext cx="4005072" cy="724408"/>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Zernike (green), the vector pair (purple) and the pinhole (red), with no drift, a 2 pm walk, and a 5 pm ramp: the runner's own figure.</a:t>
            </a:r>
          </a:p>
        </p:txBody>
      </p:sp>
      <p:sp>
        <p:nvSpPr>
          <p:cNvPr id="7" name="TextBox 6"/>
          <p:cNvSpPr txBox="1"/>
          <p:nvPr/>
        </p:nvSpPr>
        <p:spPr>
          <a:xfrm>
            <a:off x="6400800" y="5193792"/>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9.1-9.7 of its 10 pm sits below 4 cycles per aperture, so a faster or higher-gain low-order loop removes it while light buys nothing.  Both drift floors are the textbook formulas, reproduced by the engine to 1%.  The step response contracts by 0.49-0.51 per cycle for the vector pair and the pinhole, 0.66 for the stepped Zernike.  Run tags redo96_sensloop2 (the sensors, mirror rig), redo96_lensloop, redo96_oaploop (the interferometer).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mirror rig to 3 pm in 19-24 cycles, the lens rig to 3.1 pm at cycle 60);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4126230"/>
        </p:xfrm>
        <a:graphic>
          <a:graphicData uri="http://schemas.openxmlformats.org/drawingml/2006/table">
            <a:tbl>
              <a:tblPr firstRow="1" bandRow="1">
                <a:tableStyleId>{5C22544A-7EE6-4342-B048-85BDC9FD1C3A}</a:tableStyleId>
              </a:tblPr>
              <a:tblGrid>
                <a:gridCol w="1090712"/>
                <a:gridCol w="930313"/>
                <a:gridCol w="3785413"/>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657225">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ECF1F6"/>
                    </a:solidFill>
                  </a:tcPr>
                </a:tc>
                <a:tc>
                  <a:txBody>
                    <a:bodyPr wrap="square"/>
                    <a:lstStyle/>
                    <a:p>
                      <a:r>
                        <a:rPr sz="1100" b="0">
                          <a:solidFill>
                            <a:srgbClr val="282828"/>
                          </a:solidFill>
                          <a:latin typeface="Arial"/>
                        </a:rPr>
                        <a:t>200 nm (400 nm WFE)</a:t>
                      </a:r>
                    </a:p>
                  </a:txBody>
                  <a:tcPr marL="54864" marR="54864" marT="18288" marB="18288">
                    <a:solidFill>
                      <a:srgbClr val="ECF1F6"/>
                    </a:solidFill>
                  </a:tcPr>
                </a:tc>
                <a:tc>
                  <a:txBody>
                    <a:bodyPr wrap="square"/>
                    <a:lstStyle/>
                    <a:p>
                      <a:r>
                        <a:rPr sz="1100" b="0">
                          <a:solidFill>
                            <a:srgbClr val="282828"/>
                          </a:solidFill>
                          <a:latin typeface="Arial"/>
                        </a:rPr>
                        <a:t>unwrap alone: 3 pm in 19 / 24 cycles from 100 / 200 nm, contraction 0.52</a:t>
                      </a:r>
                    </a:p>
                  </a:txBody>
                  <a:tcPr marL="54864" marR="54864" marT="18288" marB="18288">
                    <a:solidFill>
                      <a:srgbClr val="ECF1F6"/>
                    </a:solidFill>
                  </a:tcPr>
                </a:tc>
              </a:tr>
              <a:tr h="657225">
                <a:tc>
                  <a:txBody>
                    <a:bodyPr wrap="square"/>
                    <a:lstStyle/>
                    <a:p>
                      <a:r>
                        <a:rPr sz="1100" b="0">
                          <a:solidFill>
                            <a:srgbClr val="282828"/>
                          </a:solidFill>
                          <a:latin typeface="Arial"/>
                        </a:rPr>
                        <a:t>interferometer, lens rig</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3.1 pm at cycle 60 from 30, 100 and 200 nm alike, contraction 0.50-0.69; not under 3 pm within 60 cycles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wrap is not the limit for the self-referenced sensors:</a:t>
            </a:r>
            <a:r>
              <a:rPr sz="1500" b="0">
                <a:solidFill>
                  <a:srgbClr val="282828"/>
                </a:solidFill>
                <a:latin typeface="Arial"/>
              </a:rPr>
              <a:t> past 60 nm their differential comes back at 24-28 nm whatever the truth, with zero residues — the focal reference has collapsed, the reading is blind, not folded.</a:t>
            </a:r>
          </a:p>
          <a:p>
            <a:pPr>
              <a:spcAft>
                <a:spcPts val="600"/>
              </a:spcAft>
            </a:pPr>
            <a:r>
              <a:rPr sz="1500" b="0">
                <a:solidFill>
                  <a:srgbClr val="282828"/>
                </a:solidFill>
                <a:latin typeface="Arial"/>
              </a:rPr>
              <a:t>•  </a:t>
            </a:r>
            <a:r>
              <a:rPr sz="1500" b="1">
                <a:solidFill>
                  <a:srgbClr val="282828"/>
                </a:solidFill>
                <a:latin typeface="Arial"/>
              </a:rPr>
              <a:t>Unwrapping alone is not enough for the pinhole or the P/SRI:</a:t>
            </a:r>
            <a:r>
              <a:rPr sz="1500" b="0">
                <a:solidFill>
                  <a:srgbClr val="282828"/>
                </a:solidFill>
                <a:latin typeface="Arial"/>
              </a:rPr>
              <a:t> the calibration measured at the start is wrong by the time the surface has moved; re-measuring it every 10 cycles (3 times in the descent) closes the loop.  Cadence is not the constraint; the cycle count is.</a:t>
            </a:r>
          </a:p>
          <a:p>
            <a:pPr>
              <a:spcAft>
                <a:spcPts val="600"/>
              </a:spcAft>
            </a:pPr>
            <a:r>
              <a:rPr sz="1500" b="0">
                <a:solidFill>
                  <a:srgbClr val="282828"/>
                </a:solidFill>
                <a:latin typeface="Arial"/>
              </a:rPr>
              <a:t>•  </a:t>
            </a:r>
            <a:r>
              <a:rPr sz="1500" b="1">
                <a:solidFill>
                  <a:srgbClr val="282828"/>
                </a:solidFill>
                <a:latin typeface="Arial"/>
              </a:rPr>
              <a:t>The interferometer needs no recalibration</a:t>
            </a:r>
            <a:r>
              <a:rPr sz="1500" b="0">
                <a:solidFill>
                  <a:srgbClr val="282828"/>
                </a:solidFill>
                <a:latin typeface="Arial"/>
              </a:rPr>
              <a:t> because its reference is the flat, not the beam.</a:t>
            </a:r>
          </a:p>
        </p:txBody>
      </p:sp>
      <p:sp>
        <p:nvSpPr>
          <p:cNvPr id="6" name="TextBox 5"/>
          <p:cNvSpPr txBox="1"/>
          <p:nvPr/>
        </p:nvSpPr>
        <p:spPr>
          <a:xfrm>
            <a:off x="6419088" y="4553712"/>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capt96_oap and capt96_lens (the interferometer on the two built rigs, the control set inside the DM aperture: mirror rig 2.98 pm at cycle 60 from 100 and 200 nm, the 30 nm control at 2.97 pm; lens rig 3.08 / 3.06 / 3.12 pm); the sensor rows are the campaign's capture runs cap_nouw, cap_uw, cap_state_uw_recal, descent193, not yet repeated on the built bench.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two front ends</a:t>
            </a:r>
          </a:p>
          <a:p>
            <a:pPr>
              <a:spcAft>
                <a:spcPts val="0"/>
              </a:spcAft>
            </a:pPr>
            <a:r>
              <a:rPr sz="1250" b="0">
                <a:solidFill>
                  <a:srgbClr val="6E6E6E"/>
                </a:solidFill>
                <a:latin typeface="Arial"/>
              </a:rPr>
              <a:t>Both rigs hold 3 pm at the same photon cost within 15 % and the mirror rig reads 1 pm for 30 % fewer photons; it is achromatic, puts no glass in the beam, captures faster, and is where the sensors were scored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360420"/>
        </p:xfrm>
        <a:graphic>
          <a:graphicData uri="http://schemas.openxmlformats.org/drawingml/2006/table">
            <a:tbl>
              <a:tblPr firstRow="1" bandRow="1">
                <a:tableStyleId>{5C22544A-7EE6-4342-B048-85BDC9FD1C3A}</a:tableStyleId>
              </a:tblPr>
              <a:tblGrid>
                <a:gridCol w="4625899"/>
                <a:gridCol w="2979392"/>
                <a:gridCol w="3763443"/>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(protected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1.004 / 1.4 pm / SNR 7741</a:t>
                      </a:r>
                    </a:p>
                  </a:txBody>
                  <a:tcPr marL="54864" marR="54864" marT="18288" marB="18288">
                    <a:solidFill>
                      <a:srgbClr val="FFFFFF"/>
                    </a:solidFill>
                  </a:tcPr>
                </a:tc>
                <a:tc>
                  <a:txBody>
                    <a:bodyPr wrap="square"/>
                    <a:lstStyle/>
                    <a:p>
                      <a:r>
                        <a:rPr sz="1100" b="0">
                          <a:solidFill>
                            <a:srgbClr val="282828"/>
                          </a:solidFill>
                          <a:latin typeface="Arial"/>
                        </a:rPr>
                        <a:t>0.986 / 2.3 pm / 6044</a:t>
                      </a:r>
                    </a:p>
                  </a:txBody>
                  <a:tcPr marL="54864" marR="54864" marT="18288" marB="18288">
                    <a:solidFill>
                      <a:srgbClr val="FFFFFF"/>
                    </a:solidFill>
                  </a:tcPr>
                </a:tc>
              </a:tr>
              <a:tr h="280035">
                <a:tc>
                  <a:txBody>
                    <a:bodyPr wrap="square"/>
                    <a:lstStyle/>
                    <a:p>
                      <a:r>
                        <a:rPr sz="1100" b="0">
                          <a:solidFill>
                            <a:srgbClr val="282828"/>
                          </a:solidFill>
                          <a:latin typeface="Arial"/>
                        </a:rPr>
                        <a:t>interferometer, 1 nm on 120 sites</a:t>
                      </a:r>
                    </a:p>
                  </a:txBody>
                  <a:tcPr marL="54864" marR="54864" marT="18288" marB="18288">
                    <a:solidFill>
                      <a:srgbClr val="ECF1F6"/>
                    </a:solidFill>
                  </a:tcPr>
                </a:tc>
                <a:tc>
                  <a:txBody>
                    <a:bodyPr wrap="square"/>
                    <a:lstStyle/>
                    <a:p>
                      <a:r>
                        <a:rPr sz="1100" b="0">
                          <a:solidFill>
                            <a:srgbClr val="282828"/>
                          </a:solidFill>
                          <a:latin typeface="Arial"/>
                        </a:rPr>
                        <a:t>0.993 / 10 pm</a:t>
                      </a:r>
                    </a:p>
                  </a:txBody>
                  <a:tcPr marL="54864" marR="54864" marT="18288" marB="18288">
                    <a:solidFill>
                      <a:srgbClr val="ECF1F6"/>
                    </a:solidFill>
                  </a:tcPr>
                </a:tc>
                <a:tc>
                  <a:txBody>
                    <a:bodyPr wrap="square"/>
                    <a:lstStyle/>
                    <a:p>
                      <a:r>
                        <a:rPr sz="1100" b="0">
                          <a:solidFill>
                            <a:srgbClr val="282828"/>
                          </a:solidFill>
                          <a:latin typeface="Arial"/>
                        </a:rPr>
                        <a:t>0.981 / 4.4 pm</a:t>
                      </a:r>
                    </a:p>
                  </a:txBody>
                  <a:tcPr marL="54864" marR="54864" marT="18288" marB="18288">
                    <a:solidFill>
                      <a:srgbClr val="ECF1F6"/>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FFFFFF"/>
                    </a:solidFill>
                  </a:tcPr>
                </a:tc>
                <a:tc>
                  <a:txBody>
                    <a:bodyPr wrap="square"/>
                    <a:lstStyle/>
                    <a:p>
                      <a:r>
                        <a:rPr sz="1100" b="0">
                          <a:solidFill>
                            <a:srgbClr val="282828"/>
                          </a:solidFill>
                          <a:latin typeface="Arial"/>
                        </a:rPr>
                        <a:t>0.9995 / 500 pm</a:t>
                      </a:r>
                    </a:p>
                  </a:txBody>
                  <a:tcPr marL="54864" marR="54864" marT="18288" marB="18288">
                    <a:solidFill>
                      <a:srgbClr val="FFFFFF"/>
                    </a:solidFill>
                  </a:tcPr>
                </a:tc>
                <a:tc>
                  <a:txBody>
                    <a:bodyPr wrap="square"/>
                    <a:lstStyle/>
                    <a:p>
                      <a:r>
                        <a:rPr sz="1100" b="0">
                          <a:solidFill>
                            <a:srgbClr val="282828"/>
                          </a:solidFill>
                          <a:latin typeface="Arial"/>
                        </a:rPr>
                        <a:t>0.977 / 698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photons for 1 pm on the 30 nm surface</a:t>
                      </a:r>
                    </a:p>
                  </a:txBody>
                  <a:tcPr marL="54864" marR="54864" marT="18288" marB="18288">
                    <a:solidFill>
                      <a:srgbClr val="ECF1F6"/>
                    </a:solidFill>
                  </a:tcPr>
                </a:tc>
                <a:tc>
                  <a:txBody>
                    <a:bodyPr wrap="square"/>
                    <a:lstStyle/>
                    <a:p>
                      <a:r>
                        <a:rPr sz="1100" b="0">
                          <a:solidFill>
                            <a:srgbClr val="282828"/>
                          </a:solidFill>
                          <a:latin typeface="Arial"/>
                        </a:rPr>
                        <a:t>9.9e14</a:t>
                      </a:r>
                    </a:p>
                  </a:txBody>
                  <a:tcPr marL="54864" marR="54864" marT="18288" marB="18288">
                    <a:solidFill>
                      <a:srgbClr val="ECF1F6"/>
                    </a:solidFill>
                  </a:tcPr>
                </a:tc>
                <a:tc>
                  <a:txBody>
                    <a:bodyPr wrap="square"/>
                    <a:lstStyle/>
                    <a:p>
                      <a:r>
                        <a:rPr sz="1100" b="0">
                          <a:solidFill>
                            <a:srgbClr val="282828"/>
                          </a:solidFill>
                          <a:latin typeface="Arial"/>
                        </a:rPr>
                        <a:t>7.0e14</a:t>
                      </a:r>
                    </a:p>
                  </a:txBody>
                  <a:tcPr marL="54864" marR="54864" marT="18288" marB="18288">
                    <a:solidFill>
                      <a:srgbClr val="ECF1F6"/>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FFFFFF"/>
                    </a:solidFill>
                  </a:tcPr>
                </a:tc>
                <a:tc>
                  <a:txBody>
                    <a:bodyPr wrap="square"/>
                    <a:lstStyle/>
                    <a:p>
                      <a:r>
                        <a:rPr sz="1100" b="0">
                          <a:solidFill>
                            <a:srgbClr val="282828"/>
                          </a:solidFill>
                          <a:latin typeface="Arial"/>
                        </a:rPr>
                        <a:t>2.3e13 / 7.1e13</a:t>
                      </a:r>
                    </a:p>
                  </a:txBody>
                  <a:tcPr marL="54864" marR="54864" marT="18288" marB="18288">
                    <a:solidFill>
                      <a:srgbClr val="FFFFFF"/>
                    </a:solidFill>
                  </a:tcPr>
                </a:tc>
                <a:tc>
                  <a:txBody>
                    <a:bodyPr wrap="square"/>
                    <a:lstStyle/>
                    <a:p>
                      <a:r>
                        <a:rPr sz="1100" b="0">
                          <a:solidFill>
                            <a:srgbClr val="282828"/>
                          </a:solidFill>
                          <a:latin typeface="Arial"/>
                        </a:rPr>
                        <a:t>2.0e13 / 6.6e13</a:t>
                      </a:r>
                    </a:p>
                  </a:txBody>
                  <a:tcPr marL="54864" marR="54864" marT="18288" marB="18288">
                    <a:solidFill>
                      <a:srgbClr val="FFFFFF"/>
                    </a:solidFill>
                  </a:tcPr>
                </a:tc>
              </a:tr>
              <a:tr h="280035">
                <a:tc>
                  <a:txBody>
                    <a:bodyPr wrap="square"/>
                    <a:lstStyle/>
                    <a:p>
                      <a:r>
                        <a:rPr sz="1100" b="0">
                          <a:solidFill>
                            <a:srgbClr val="282828"/>
                          </a:solidFill>
                          <a:latin typeface="Arial"/>
                        </a:rPr>
                        <a:t>noiseless 1 nm step, residual at cycle 60</a:t>
                      </a:r>
                    </a:p>
                  </a:txBody>
                  <a:tcPr marL="54864" marR="54864" marT="18288" marB="18288">
                    <a:solidFill>
                      <a:srgbClr val="ECF1F6"/>
                    </a:solidFill>
                  </a:tcPr>
                </a:tc>
                <a:tc>
                  <a:txBody>
                    <a:bodyPr wrap="square"/>
                    <a:lstStyle/>
                    <a:p>
                      <a:r>
                        <a:rPr sz="1100" b="0">
                          <a:solidFill>
                            <a:srgbClr val="282828"/>
                          </a:solidFill>
                          <a:latin typeface="Arial"/>
                        </a:rPr>
                        <a:t>0.015 pm</a:t>
                      </a:r>
                    </a:p>
                  </a:txBody>
                  <a:tcPr marL="54864" marR="54864" marT="18288" marB="18288">
                    <a:solidFill>
                      <a:srgbClr val="ECF1F6"/>
                    </a:solidFill>
                  </a:tcPr>
                </a:tc>
                <a:tc>
                  <a:txBody>
                    <a:bodyPr wrap="square"/>
                    <a:lstStyle/>
                    <a:p>
                      <a:r>
                        <a:rPr sz="1100" b="0">
                          <a:solidFill>
                            <a:srgbClr val="282828"/>
                          </a:solidFill>
                          <a:latin typeface="Arial"/>
                        </a:rPr>
                        <a:t>2.8 pm</a:t>
                      </a:r>
                    </a:p>
                  </a:txBody>
                  <a:tcPr marL="54864" marR="54864" marT="18288" marB="18288">
                    <a:solidFill>
                      <a:srgbClr val="ECF1F6"/>
                    </a:solidFill>
                  </a:tcPr>
                </a:tc>
              </a:tr>
              <a:tr h="280035">
                <a:tc>
                  <a:txBody>
                    <a:bodyPr wrap="square"/>
                    <a:lstStyle/>
                    <a:p>
                      <a:r>
                        <a:rPr sz="1100" b="0">
                          <a:solidFill>
                            <a:srgbClr val="282828"/>
                          </a:solidFill>
                          <a:latin typeface="Arial"/>
                        </a:rPr>
                        <a:t>capture with unwrapping</a:t>
                      </a:r>
                    </a:p>
                  </a:txBody>
                  <a:tcPr marL="54864" marR="54864" marT="18288" marB="18288">
                    <a:solidFill>
                      <a:srgbClr val="FFFFFF"/>
                    </a:solidFill>
                  </a:tcPr>
                </a:tc>
                <a:tc>
                  <a:txBody>
                    <a:bodyPr wrap="square"/>
                    <a:lstStyle/>
                    <a:p>
                      <a:r>
                        <a:rPr sz="1100" b="0">
                          <a:solidFill>
                            <a:srgbClr val="282828"/>
                          </a:solidFill>
                          <a:latin typeface="Arial"/>
                        </a:rPr>
                        <a:t>3.1 pm at cycle 60 from 100 and 200 nm</a:t>
                      </a:r>
                    </a:p>
                  </a:txBody>
                  <a:tcPr marL="54864" marR="54864" marT="18288" marB="18288">
                    <a:solidFill>
                      <a:srgbClr val="FFFFFF"/>
                    </a:solidFill>
                  </a:tcPr>
                </a:tc>
                <a:tc>
                  <a:txBody>
                    <a:bodyPr wrap="square"/>
                    <a:lstStyle/>
                    <a:p>
                      <a:r>
                        <a:rPr sz="1100" b="0">
                          <a:solidFill>
                            <a:srgbClr val="282828"/>
                          </a:solidFill>
                          <a:latin typeface="Arial"/>
                        </a:rPr>
                        <a:t>3 pm from 100 nm in 19 cycles, from 200 nm in 24</a:t>
                      </a:r>
                    </a:p>
                  </a:txBody>
                  <a:tcPr marL="54864" marR="54864" marT="18288" marB="18288">
                    <a:solidFill>
                      <a:srgbClr val="FFFFFF"/>
                    </a:solidFill>
                  </a:tcPr>
                </a:tc>
              </a:tr>
              <a:tr h="280035">
                <a:tc>
                  <a:txBody>
                    <a:bodyPr wrap="square"/>
                    <a:lstStyle/>
                    <a:p>
                      <a:r>
                        <a:rPr sz="1100" b="0">
                          <a:solidFill>
                            <a:srgbClr val="282828"/>
                          </a:solidFill>
                          <a:latin typeface="Arial"/>
                        </a:rPr>
                        <a:t>flat-mirror null with the substrates in</a:t>
                      </a:r>
                    </a:p>
                  </a:txBody>
                  <a:tcPr marL="54864" marR="54864" marT="18288" marB="18288">
                    <a:solidFill>
                      <a:srgbClr val="ECF1F6"/>
                    </a:solidFill>
                  </a:tcPr>
                </a:tc>
                <a:tc>
                  <a:txBody>
                    <a:bodyPr wrap="square"/>
                    <a:lstStyle/>
                    <a:p>
                      <a:r>
                        <a:rPr sz="1100" b="0">
                          <a:solidFill>
                            <a:srgbClr val="282828"/>
                          </a:solidFill>
                          <a:latin typeface="Arial"/>
                        </a:rPr>
                        <a:t>59 nm</a:t>
                      </a:r>
                    </a:p>
                  </a:txBody>
                  <a:tcPr marL="54864" marR="54864" marT="18288" marB="18288">
                    <a:solidFill>
                      <a:srgbClr val="ECF1F6"/>
                    </a:solidFill>
                  </a:tcPr>
                </a:tc>
                <a:tc>
                  <a:txBody>
                    <a:bodyPr wrap="square"/>
                    <a:lstStyle/>
                    <a:p>
                      <a:r>
                        <a:rPr sz="1100" b="0">
                          <a:solidFill>
                            <a:srgbClr val="282828"/>
                          </a:solidFill>
                          <a:latin typeface="Arial"/>
                        </a:rPr>
                        <a:t>26.5 nm</a:t>
                      </a:r>
                    </a:p>
                  </a:txBody>
                  <a:tcPr marL="54864" marR="54864" marT="18288" marB="18288">
                    <a:solidFill>
                      <a:srgbClr val="ECF1F6"/>
                    </a:solidFill>
                  </a:tcPr>
                </a:tc>
              </a:tr>
              <a:tr h="280035">
                <a:tc>
                  <a:txBody>
                    <a:bodyPr wrap="square"/>
                    <a:lstStyle/>
                    <a:p>
                      <a:r>
                        <a:rPr sz="1100" b="0">
                          <a:solidFill>
                            <a:srgbClr val="282828"/>
                          </a:solidFill>
                          <a:latin typeface="Arial"/>
                        </a:rPr>
                        <a:t>sensors, 10 nm on one actuator (stepped / vector / pinhole)</a:t>
                      </a:r>
                    </a:p>
                  </a:txBody>
                  <a:tcPr marL="54864" marR="54864" marT="18288" marB="18288">
                    <a:solidFill>
                      <a:srgbClr val="FFFFFF"/>
                    </a:solidFill>
                  </a:tcPr>
                </a:tc>
                <a:tc>
                  <a:txBody>
                    <a:bodyPr wrap="square"/>
                    <a:lstStyle/>
                    <a:p>
                      <a:r>
                        <a:rPr sz="1100" b="0">
                          <a:solidFill>
                            <a:srgbClr val="282828"/>
                          </a:solidFill>
                          <a:latin typeface="Arial"/>
                        </a:rPr>
                        <a:t>not run on the lens rig</a:t>
                      </a:r>
                    </a:p>
                  </a:txBody>
                  <a:tcPr marL="54864" marR="54864" marT="18288" marB="18288">
                    <a:solidFill>
                      <a:srgbClr val="FFFFFF"/>
                    </a:solidFill>
                  </a:tcPr>
                </a:tc>
                <a:tc>
                  <a:txBody>
                    <a:bodyPr wrap="square"/>
                    <a:lstStyle/>
                    <a:p>
                      <a:r>
                        <a:rPr sz="1100" b="0">
                          <a:solidFill>
                            <a:srgbClr val="282828"/>
                          </a:solidFill>
                          <a:latin typeface="Arial"/>
                        </a:rPr>
                        <a:t>0.993 / 5, 1.008 / 2, 0.995 / 3 pm</a:t>
                      </a:r>
                    </a:p>
                  </a:txBody>
                  <a:tcPr marL="54864" marR="54864" marT="18288" marB="18288">
                    <a:solidFill>
                      <a:srgbClr val="FFFFFF"/>
                    </a:solidFill>
                  </a:tcPr>
                </a:tc>
              </a:tr>
              <a:tr h="280035">
                <a:tc>
                  <a:txBody>
                    <a:bodyPr wrap="square"/>
                    <a:lstStyle/>
                    <a:p>
                      <a:r>
                        <a:rPr sz="1100" b="0">
                          <a:solidFill>
                            <a:srgbClr val="282828"/>
                          </a:solidFill>
                          <a:latin typeface="Arial"/>
                        </a:rPr>
                        <a:t>sensors' capture range to 10% (stepped / vector / pinhole)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35 / 51 / 42 nm</a:t>
                      </a:r>
                    </a:p>
                  </a:txBody>
                  <a:tcPr marL="54864" marR="54864" marT="18288" marB="18288">
                    <a:solidFill>
                      <a:srgbClr val="ECF1F6"/>
                    </a:solidFill>
                  </a:tcPr>
                </a:tc>
              </a:tr>
              <a:tr h="280035">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(D4 not yet run on this bench)</a:t>
                      </a:r>
                    </a:p>
                  </a:txBody>
                  <a:tcPr marL="54864" marR="54864" marT="18288" marB="18288">
                    <a:solidFill>
                      <a:srgbClr val="FFFFFF"/>
                    </a:solidFill>
                  </a:tcPr>
                </a:tc>
              </a:tr>
            </a:tbl>
          </a:graphicData>
        </a:graphic>
      </p:graphicFrame>
      <p:sp>
        <p:nvSpPr>
          <p:cNvPr id="5" name="TextBox 4"/>
          <p:cNvSpPr txBox="1"/>
          <p:nvPr/>
        </p:nvSpPr>
        <p:spPr>
          <a:xfrm>
            <a:off x="411480" y="48051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pair's raw error on the mirror rig is channel amplitude imbalance from the metal folds</a:t>
            </a:r>
            <a:r>
              <a:rPr sz="1500" b="0">
                <a:solidFill>
                  <a:srgbClr val="282828"/>
                </a:solidFill>
                <a:latin typeface="Arial"/>
              </a:rPr>
              <a:t> (1.08 between its two circular channels on bare aluminum; a quarter-wave overcoat halves the error), not channel phase; the calibrated reading passes its gate.</a:t>
            </a:r>
          </a:p>
          <a:p>
            <a:pPr>
              <a:spcAft>
                <a:spcPts val="600"/>
              </a:spcAft>
            </a:pPr>
            <a:r>
              <a:rPr sz="1500" b="0">
                <a:solidFill>
                  <a:srgbClr val="282828"/>
                </a:solidFill>
                <a:latin typeface="Arial"/>
              </a:rPr>
              <a:t>•  </a:t>
            </a:r>
            <a:r>
              <a:rPr sz="1500" b="1">
                <a:solidFill>
                  <a:srgbClr val="282828"/>
                </a:solidFill>
                <a:latin typeface="Arial"/>
              </a:rPr>
              <a:t>Both rigs wrap between 60 and 120 nm of surface</a:t>
            </a:r>
            <a:r>
              <a:rPr sz="1500" b="0">
                <a:solidFill>
                  <a:srgbClr val="282828"/>
                </a:solidFill>
                <a:latin typeface="Arial"/>
              </a:rPr>
              <a:t> (a base the four-step cannot follow reads λ/2 ÷ √12 = 91 nm rms); the capture range is set by the unwrapping, not by the front end.</a:t>
            </a:r>
          </a:p>
        </p:txBody>
      </p:sp>
      <p:sp>
        <p:nvSpPr>
          <p:cNvPr id="6" name="TextBox 5"/>
          <p:cNvSpPr txBox="1"/>
          <p:nvPr/>
        </p:nvSpPr>
        <p:spPr>
          <a:xfrm>
            <a:off x="411480" y="6360414"/>
            <a:ext cx="11368735" cy="274320"/>
          </a:xfrm>
          <a:prstGeom prst="rect">
            <a:avLst/>
          </a:prstGeom>
          <a:noFill/>
        </p:spPr>
        <p:txBody>
          <a:bodyPr wrap="square">
            <a:spAutoFit/>
          </a:bodyPr>
          <a:lstStyle/>
          <a:p>
            <a:pPr>
              <a:spcAft>
                <a:spcPts val="600"/>
              </a:spcAft>
            </a:pPr>
            <a:r>
              <a:rPr sz="1050" b="0">
                <a:solidFill>
                  <a:srgbClr val="6E6E6E"/>
                </a:solidFill>
                <a:latin typeface="Arial"/>
              </a:rPr>
              <a:t>Run tags redo96_lens, redo96_oap, redo96_lensloop, redo96_oaploop, capt96_oap, redo96_oapsens.  The two cells not run (the sensors on the lens rig; the 10 µrad tilt on this bench) are listed on the provenance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203445"/>
                <a:gridCol w="3824849"/>
                <a:gridCol w="3450679"/>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Hold:</a:t>
            </a:r>
            <a:r>
              <a:rPr sz="1500" b="0">
                <a:solidFill>
                  <a:srgbClr val="282828"/>
                </a:solidFill>
                <a:latin typeface="Arial"/>
              </a:rPr>
              <a:t> the polarized dimple is the best reading on every line — 3 pm from 2.2e12 photons per cycle, two frames taken at once, no stepping, no fold, no fixed error, and every systematic we modeled calibrated by the matrix measured through it.  The stepped scalar dimple is the fallback with no polarization optics, at 1.6× the light.</a:t>
            </a:r>
          </a:p>
          <a:p>
            <a:pPr>
              <a:spcAft>
                <a:spcPts val="600"/>
              </a:spcAft>
            </a:pPr>
            <a:r>
              <a:rPr sz="1500" b="0">
                <a:solidFill>
                  <a:srgbClr val="282828"/>
                </a:solidFill>
                <a:latin typeface="Arial"/>
              </a:rPr>
              <a:t>•  </a:t>
            </a:r>
            <a:r>
              <a:rPr sz="1500" b="1">
                <a:solidFill>
                  <a:srgbClr val="282828"/>
                </a:solidFill>
                <a:latin typeface="Arial"/>
              </a:rPr>
              <a:t>Capture:</a:t>
            </a:r>
            <a:r>
              <a:rPr sz="1500" b="0">
                <a:solidFill>
                  <a:srgbClr val="282828"/>
                </a:solidFill>
                <a:latin typeface="Arial"/>
              </a:rPr>
              <a:t> the interferometer takes 200-400 nm of wavefront to 3 pm in 19-24 cycles on the mirror rig with unwrapping alone (3.1 pm at cycle 60 on the lens rig).  In the common path, the stepped pinhole with a shutter frame captures 200 nm of wavefront with unwrapping and three recalibrations.  A second color is the sensors' own route (future work).</a:t>
            </a:r>
          </a:p>
          <a:p>
            <a:pPr>
              <a:spcAft>
                <a:spcPts val="600"/>
              </a:spcAft>
            </a:pPr>
            <a:r>
              <a:rPr sz="1500" b="0">
                <a:solidFill>
                  <a:srgbClr val="282828"/>
                </a:solidFill>
                <a:latin typeface="Arial"/>
              </a:rPr>
              <a:t>•  </a:t>
            </a:r>
            <a:r>
              <a:rPr sz="1500" b="1">
                <a:solidFill>
                  <a:srgbClr val="282828"/>
                </a:solidFill>
                <a:latin typeface="Arial"/>
              </a:rPr>
              <a:t>Front end:</a:t>
            </a:r>
            <a:r>
              <a:rPr sz="1500" b="0">
                <a:solidFill>
                  <a:srgbClr val="282828"/>
                </a:solidFill>
                <a:latin typeface="Arial"/>
              </a:rPr>
              <a:t> either builds.  The mirror rig matches the lens rig on the rows and the servo (interferometer 2.0e13 vs 2.3e13 photons per cycle noise only, 6.6e13 vs 7.1e13 under the walk), reads 1 pm for 30 % fewer photons (7.0e14 vs 9.9e14) and captures from 200 nm in 24 cycles where the lens rig stops at 3.1 pm; its sensors pass once calibrated; it buys any color and no glass in the beam, and costs alignment tolerance (10 µrad = 100 nm of null) and a polarization calibration of the vector reading.  The measured trade is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bench:</a:t>
            </a:r>
            <a:r>
              <a:rPr sz="1500" b="0">
                <a:solidFill>
                  <a:srgbClr val="282828"/>
                </a:solidFill>
                <a:latin typeface="Arial"/>
              </a:rPr>
              <a:t> one layout with the reference arm shuttered, the mask seat translated, the quarter-wave plate in or out, and the P/SRI arm behind a flip-in plate (the one-bench slide).  Capture with the interferometer, hand off inside the sensor's 60 nm reach, hold with the sensor at a tenth of the light.</a:t>
            </a:r>
          </a:p>
          <a:p>
            <a:pPr>
              <a:spcAft>
                <a:spcPts val="600"/>
              </a:spcAft>
            </a:pPr>
            <a:r>
              <a:rPr sz="1500" b="0">
                <a:solidFill>
                  <a:srgbClr val="282828"/>
                </a:solidFill>
                <a:latin typeface="Arial"/>
              </a:rPr>
              <a:t>•  </a:t>
            </a:r>
            <a:r>
              <a:rPr sz="1500" b="1">
                <a:solidFill>
                  <a:srgbClr val="282828"/>
                </a:solidFill>
                <a:latin typeface="Arial"/>
              </a:rPr>
              <a:t>What the numbers do not decide:</a:t>
            </a:r>
            <a:r>
              <a:rPr sz="1500" b="0">
                <a:solidFill>
                  <a:srgbClr val="282828"/>
                </a:solidFill>
                <a:latin typeface="Arial"/>
              </a:rPr>
              <a:t> the pinhole and the vector dimple read the working surface alike (0.995 / 3 and 1.008 / 2 pm); the dimple wins the servo by 1.4×, the pinhole wins capture range for one extra frame.  A bench that carries both costs one substrate.</a:t>
            </a:r>
          </a:p>
        </p:txBody>
      </p:sp>
      <p:sp>
        <p:nvSpPr>
          <p:cNvPr id="6" name="TextBox 5"/>
          <p:cNvSpPr txBox="1"/>
          <p:nvPr/>
        </p:nvSpPr>
        <p:spPr>
          <a:xfrm>
            <a:off x="6400800" y="4572000"/>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comes next, and how to run it</a:t>
            </a:r>
          </a:p>
          <a:p>
            <a:pPr>
              <a:spcAft>
                <a:spcPts val="0"/>
              </a:spcAft>
            </a:pPr>
            <a:r>
              <a:rPr sz="1250" b="0">
                <a:solidFill>
                  <a:srgbClr val="6E6E6E"/>
                </a:solidFill>
                <a:latin typeface="Arial"/>
              </a:rPr>
              <a:t>Three threads of future work, and one command line per gauge; every number in the deck is reproduced by the runners in the public repositories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Capture beyond one wave with a second color:</a:t>
            </a:r>
            <a:r>
              <a:rPr sz="1200" b="0">
                <a:solidFill>
                  <a:srgbClr val="282828"/>
                </a:solidFill>
                <a:latin typeface="Arial"/>
              </a:rPr>
              <a:t> 632.8 + 700 nm gives a 6.6 µm synthetic wavelength and 1.6 µm of unambiguous surface at 10× the noise; the coarse pair captures, the single color holds.  The runner already traces one mask at five colors (Backup).</a:t>
            </a:r>
          </a:p>
          <a:p>
            <a:pPr>
              <a:spcAft>
                <a:spcPts val="600"/>
              </a:spcAft>
            </a:pPr>
            <a:r>
              <a:rPr sz="1200" b="0">
                <a:solidFill>
                  <a:srgbClr val="282828"/>
                </a:solidFill>
                <a:latin typeface="Arial"/>
              </a:rPr>
              <a:t>•  </a:t>
            </a:r>
            <a:r>
              <a:rPr sz="1200" b="1">
                <a:solidFill>
                  <a:srgbClr val="282828"/>
                </a:solidFill>
                <a:latin typeface="Arial"/>
              </a:rPr>
              <a:t>From this model to as-built performance:</a:t>
            </a:r>
            <a:r>
              <a:rPr sz="1200" b="0">
                <a:solidFill>
                  <a:srgbClr val="282828"/>
                </a:solidFill>
                <a:latin typeface="Arial"/>
              </a:rPr>
              <a:t> the camera's well depth sets the measurement time (1e14 photons is 1600 frames at 60 ke per pixel); surface, alignment, stability and polarization errors priced per reading (Backup).</a:t>
            </a:r>
          </a:p>
          <a:p>
            <a:pPr>
              <a:spcAft>
                <a:spcPts val="600"/>
              </a:spcAft>
            </a:pPr>
            <a:r>
              <a:rPr sz="1200" b="0">
                <a:solidFill>
                  <a:srgbClr val="282828"/>
                </a:solidFill>
                <a:latin typeface="Arial"/>
              </a:rPr>
              <a:t>•  </a:t>
            </a:r>
            <a:r>
              <a:rPr sz="1200" b="1">
                <a:solidFill>
                  <a:srgbClr val="282828"/>
                </a:solidFill>
                <a:latin typeface="Arial"/>
              </a:rPr>
              <a:t>Other approaches worth a look:</a:t>
            </a:r>
            <a:r>
              <a:rPr sz="1200" b="0">
                <a:solidFill>
                  <a:srgbClr val="282828"/>
                </a:solidFill>
                <a:latin typeface="Arial"/>
              </a:rPr>
              <a:t> a modeled large-figure solve, phase diversity, white-light scanning, heterodyne detection, direct-sequence metrology (Backup).</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(lens rig); tg96_run('bench.optics','oap') (mirror rig).</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zwfs_run (bench, battery, figures); zwfs_run('bench.optics','oap','readings',{'S','V','P'},'stages',{'bench','battery','noise','loop'}) for the mirror rig.</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and the shared dm_gauge_lib, branch dev-candidate; each directory's README carries the full command list and the run-tag index.  A model-1024 run needs about 11 GB.</a:t>
            </a:r>
          </a:p>
        </p:txBody>
      </p:sp>
      <p:sp>
        <p:nvSpPr>
          <p:cNvPr id="6" name="TextBox 5"/>
          <p:cNvSpPr txBox="1"/>
          <p:nvPr/>
        </p:nvSpPr>
        <p:spPr>
          <a:xfrm>
            <a:off x="6400800" y="3877056"/>
            <a:ext cx="5394960" cy="274320"/>
          </a:xfrm>
          <a:prstGeom prst="rect">
            <a:avLst/>
          </a:prstGeom>
          <a:noFill/>
        </p:spPr>
        <p:txBody>
          <a:bodyPr wrap="square">
            <a:spAutoFit/>
          </a:bodyPr>
          <a:lstStyle/>
          <a:p>
            <a:pPr>
              <a:spcAft>
                <a:spcPts val="600"/>
              </a:spcAft>
            </a:pPr>
            <a:r>
              <a:rPr sz="1050" b="0">
                <a:solidFill>
                  <a:srgbClr val="6E6E6E"/>
                </a:solidFill>
                <a:latin typeface="Arial"/>
              </a:rPr>
              <a:t>Every stage asserts its own gates (the mask round trip, the reference-wave surrogate, the fold, the pinhole, the analyzer); tDmgLoop 15/15; the mmacos fast suite 551/0 (2026-10-06).  All code and documentation is public: nasa-jpl/macos and nasa-jpl/MACOS_resources on github.</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a:t>
            </a:r>
          </a:p>
        </p:txBody>
      </p:sp>
      <p:sp>
        <p:nvSpPr>
          <p:cNvPr id="3" name="Rectangle 2"/>
          <p:cNvSpPr/>
          <p:nvPr/>
        </p:nvSpPr>
        <p:spPr>
          <a:xfrm>
            <a:off x="411480" y="914400"/>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390317" y="1298448"/>
            <a:ext cx="7411060"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400800"/>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 the detector leg</a:t>
            </a:r>
          </a:p>
          <a:p>
            <a:pPr>
              <a:spcAft>
                <a:spcPts val="0"/>
              </a:spcAft>
            </a:pPr>
            <a:r>
              <a:rPr sz="1250" b="0">
                <a:solidFill>
                  <a:srgbClr val="6E6E6E"/>
                </a:solidFill>
                <a:latin typeface="Arial"/>
              </a:rPr>
              <a:t>From the focuser to the camera: focused once and shared by every configuration, so only the mask seat's contents and what follows the field lens change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154555"/>
        </p:xfrm>
        <a:graphic>
          <a:graphicData uri="http://schemas.openxmlformats.org/drawingml/2006/table">
            <a:tbl>
              <a:tblPr firstRow="1" bandRow="1">
                <a:tableStyleId>{5C22544A-7EE6-4342-B048-85BDC9FD1C3A}</a:tableStyleId>
              </a:tblPr>
              <a:tblGrid>
                <a:gridCol w="1526540"/>
                <a:gridCol w="5300957"/>
                <a:gridCol w="1605219"/>
                <a:gridCol w="509524"/>
                <a:gridCol w="2426494"/>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468630">
                <a:tc>
                  <a:txBody>
                    <a:bodyPr wrap="square"/>
                    <a:lstStyle/>
                    <a:p>
                      <a:r>
                        <a:rPr sz="1100" b="0">
                          <a:solidFill>
                            <a:srgbClr val="282828"/>
                          </a:solidFill>
                          <a:latin typeface="Arial"/>
                        </a:rPr>
                        <a:t>focuser: L2 or OAP2</a:t>
                      </a:r>
                    </a:p>
                  </a:txBody>
                  <a:tcPr marL="54864" marR="54864" marT="18288" marB="18288">
                    <a:solidFill>
                      <a:srgbClr val="FFFFFF"/>
                    </a:solidFill>
                  </a:tcPr>
                </a:tc>
                <a:tc>
                  <a:txBody>
                    <a:bodyPr wrap="square"/>
                    <a:lstStyle/>
                    <a:p>
                      <a:r>
                        <a:rPr sz="1100" b="0">
                          <a:solidFill>
                            <a:srgbClr val="282828"/>
                          </a:solidFill>
                          <a:latin typeface="Arial"/>
                        </a:rPr>
                        <a:t>L2: f 429 mm, 103 mm, plano-convex conic (conic −0.582), 8 mm center.  OAP2: parent f 352 mm (R −704), 328 mm off-axis, 25° fold, 113 mm</a:t>
                      </a:r>
                    </a:p>
                  </a:txBody>
                  <a:tcPr marL="54864" marR="54864" marT="18288" marB="18288">
                    <a:solidFill>
                      <a:srgbClr val="FFFFFF"/>
                    </a:solidFill>
                  </a:tcPr>
                </a:tc>
                <a:tc>
                  <a:txBody>
                    <a:bodyPr wrap="square"/>
                    <a:lstStyle/>
                    <a:p>
                      <a:r>
                        <a:rPr sz="1100" b="0">
                          <a:solidFill>
                            <a:srgbClr val="282828"/>
                          </a:solidFill>
                          <a:latin typeface="Arial"/>
                        </a:rPr>
                        <a:t>L2 anti-reflection; OAP2 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FFFFFF"/>
                    </a:solidFill>
                  </a:tcPr>
                </a:tc>
              </a:tr>
              <a:tr h="468630">
                <a:tc>
                  <a:txBody>
                    <a:bodyPr wrap="square"/>
                    <a:lstStyle/>
                    <a:p>
                      <a:r>
                        <a:rPr sz="1100" b="0">
                          <a:solidFill>
                            <a:srgbClr val="282828"/>
                          </a:solidFill>
                          <a:latin typeface="Arial"/>
                        </a:rPr>
                        <a:t>mask seat</a:t>
                      </a:r>
                    </a:p>
                  </a:txBody>
                  <a:tcPr marL="54864" marR="54864" marT="18288" marB="18288">
                    <a:solidFill>
                      <a:srgbClr val="ECF1F6"/>
                    </a:solidFill>
                  </a:tcPr>
                </a:tc>
                <a:tc>
                  <a:txBody>
                    <a:bodyPr wrap="square"/>
                    <a:lstStyle/>
                    <a:p>
                      <a:r>
                        <a:rPr sz="1100" b="0">
                          <a:solidFill>
                            <a:srgbClr val="282828"/>
                          </a:solidFill>
                          <a:latin typeface="Arial"/>
                        </a:rPr>
                        <a:t>translation stage at the internal focus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ECF1F6"/>
                    </a:solidFill>
                  </a:tcPr>
                </a:tc>
              </a:tr>
              <a:tr h="468630">
                <a:tc>
                  <a:txBody>
                    <a:bodyPr wrap="square"/>
                    <a:lstStyle/>
                    <a:p>
                      <a:r>
                        <a:rPr sz="1100" b="0">
                          <a:solidFill>
                            <a:srgbClr val="282828"/>
                          </a:solidFill>
                          <a:latin typeface="Arial"/>
                        </a:rPr>
                        <a:t>field lens</a:t>
                      </a:r>
                    </a:p>
                  </a:txBody>
                  <a:tcPr marL="54864" marR="54864" marT="18288" marB="18288">
                    <a:solidFill>
                      <a:srgbClr val="FFFFFF"/>
                    </a:solidFill>
                  </a:tcPr>
                </a:tc>
                <a:tc>
                  <a:txBody>
                    <a:bodyPr wrap="square"/>
                    <a:lstStyle/>
                    <a:p>
                      <a:r>
                        <a:rPr sz="1100" b="0">
                          <a:solidFill>
                            <a:srgbClr val="282828"/>
                          </a:solidFill>
                          <a:latin typeface="Arial"/>
                        </a:rPr>
                        <a:t>f 43 mm, 21 mm, a conic: −2.11 at the seed station 10.8 mm past the focus, or −7.77 tuned — over the 2.4 mm of it the beam uses, 0.20 µm apart</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reimages the DM: 9.8 mm across on the 96 mm beam, 38 mm behind it</a:t>
                      </a:r>
                    </a:p>
                  </a:txBody>
                  <a:tcPr marL="54864" marR="54864" marT="18288" marB="18288">
                    <a:solidFill>
                      <a:srgbClr val="FFFFFF"/>
                    </a:solidFill>
                  </a:tcPr>
                </a:tc>
              </a:tr>
              <a:tr h="468630">
                <a:tc>
                  <a:txBody>
                    <a:bodyPr wrap="square"/>
                    <a:lstStyle/>
                    <a:p>
                      <a:r>
                        <a:rPr sz="1100" b="0">
                          <a:solidFill>
                            <a:srgbClr val="282828"/>
                          </a:solidFill>
                          <a:latin typeface="Arial"/>
                        </a:rPr>
                        <a:t>camera A</a:t>
                      </a:r>
                    </a:p>
                  </a:txBody>
                  <a:tcPr marL="54864" marR="54864" marT="18288" marB="18288">
                    <a:solidFill>
                      <a:srgbClr val="ECF1F6"/>
                    </a:solidFill>
                  </a:tcPr>
                </a:tc>
                <a:tc>
                  <a:txBody>
                    <a:bodyPr wrap="square"/>
                    <a:lstStyle/>
                    <a:p>
                      <a:r>
                        <a:rPr sz="1100" b="0">
                          <a:solidFill>
                            <a:srgbClr val="282828"/>
                          </a:solidFill>
                          <a:latin typeface="Arial"/>
                        </a:rPr>
                        <a:t>sCMOS 2048×2048, 6.5 µm binned 4 to 377 px across the 9.8 mm image; or 24 µm pixels unbinned (408)</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every configuration's pupil image</a:t>
                      </a:r>
                    </a:p>
                  </a:txBody>
                  <a:tcPr marL="54864" marR="54864" marT="18288" marB="18288">
                    <a:solidFill>
                      <a:srgbClr val="ECF1F6"/>
                    </a:solidFill>
                  </a:tcPr>
                </a:tc>
              </a:tr>
            </a:tbl>
          </a:graphicData>
        </a:graphic>
      </p:graphicFrame>
      <p:sp>
        <p:nvSpPr>
          <p:cNvPr id="5" name="TextBox 4"/>
          <p:cNvSpPr txBox="1"/>
          <p:nvPr/>
        </p:nvSpPr>
        <p:spPr>
          <a:xfrm>
            <a:off x="411480" y="3599307"/>
            <a:ext cx="11368735" cy="274320"/>
          </a:xfrm>
          <a:prstGeom prst="rect">
            <a:avLst/>
          </a:prstGeom>
          <a:noFill/>
        </p:spPr>
        <p:txBody>
          <a:bodyPr wrap="square">
            <a:spAutoFit/>
          </a:bodyPr>
          <a:lstStyle/>
          <a:p>
            <a:pPr>
              <a:spcAft>
                <a:spcPts val="600"/>
              </a:spcAft>
            </a:pPr>
            <a:r>
              <a:rPr sz="1050" b="0">
                <a:solidFill>
                  <a:srgbClr val="6E6E6E"/>
                </a:solidFill>
                <a:latin typeface="Arial"/>
              </a:rPr>
              <a:t>The field lens's conic is the one part still open: the seed station images the mirror flat, the tuned station reads it 2.3x better, and the two differ by 0.20 µm over the 2.4 mm the beam uses.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977765"/>
        </p:xfrm>
        <a:graphic>
          <a:graphicData uri="http://schemas.openxmlformats.org/drawingml/2006/table">
            <a:tbl>
              <a:tblPr firstRow="1" bandRow="1">
                <a:tableStyleId>{5C22544A-7EE6-4342-B048-85BDC9FD1C3A}</a:tableStyleId>
              </a:tblPr>
              <a:tblGrid>
                <a:gridCol w="1090676"/>
                <a:gridCol w="1930802"/>
                <a:gridCol w="2844300"/>
                <a:gridCol w="2398268"/>
                <a:gridCol w="509524"/>
                <a:gridCol w="259516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a:t>
                      </a:r>
                    </a:p>
                  </a:txBody>
                  <a:tcPr marL="54864" marR="54864" marT="18288" marB="18288">
                    <a:solidFill>
                      <a:srgbClr val="FFFFFF"/>
                    </a:solidFill>
                  </a:tcPr>
                </a:tc>
                <a:tc>
                  <a:txBody>
                    <a:bodyPr wrap="square"/>
                    <a:lstStyle/>
                    <a:p>
                      <a:r>
                        <a:rPr sz="1100" b="0">
                          <a:solidFill>
                            <a:srgbClr val="282828"/>
                          </a:solidFill>
                          <a:latin typeface="Arial"/>
                        </a:rPr>
                        <a:t>103 mm, λ/20; 564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arm that makes this the one gauge to capture a whole wave</a:t>
                      </a:r>
                    </a:p>
                  </a:txBody>
                  <a:tcPr marL="54864" marR="54864" marT="18288" marB="18288">
                    <a:solidFill>
                      <a:srgbClr val="FFFFFF"/>
                    </a:solidFill>
                  </a:tcPr>
                </a:tc>
              </a:tr>
              <a:tr h="845820">
                <a:tc>
                  <a:txBody>
                    <a:bodyPr wrap="square"/>
                    <a:lstStyle/>
                    <a:p>
                      <a:r>
                        <a:rPr sz="1100" b="0">
                          <a:solidFill>
                            <a:srgbClr val="282828"/>
                          </a:solidFill>
                          <a:latin typeface="Arial"/>
                        </a:rPr>
                        <a:t>piezo form</a:t>
                      </a:r>
                    </a:p>
                  </a:txBody>
                  <a:tcPr marL="54864" marR="54864" marT="18288" marB="18288">
                    <a:solidFill>
                      <a:srgbClr val="ECF1F6"/>
                    </a:solidFill>
                  </a:tcPr>
                </a:tc>
                <a:tc>
                  <a:txBody>
                    <a:bodyPr wrap="square"/>
                    <a:lstStyle/>
                    <a:p>
                      <a:r>
                        <a:rPr sz="1100" b="0">
                          <a:solidFill>
                            <a:srgbClr val="282828"/>
                          </a:solidFill>
                          <a:latin typeface="Arial"/>
                        </a:rPr>
                        <a:t>closed-loop piezo stage under the flat</a:t>
                      </a:r>
                    </a:p>
                  </a:txBody>
                  <a:tcPr marL="54864" marR="54864" marT="18288" marB="18288">
                    <a:solidFill>
                      <a:srgbClr val="ECF1F6"/>
                    </a:solidFill>
                  </a:tcPr>
                </a:tc>
                <a:tc>
                  <a:txBody>
                    <a:bodyPr wrap="square"/>
                    <a:lstStyle/>
                    <a:p>
                      <a:r>
                        <a:rPr sz="1100" b="0">
                          <a:solidFill>
                            <a:srgbClr val="282828"/>
                          </a:solidFill>
                          <a:latin typeface="Arial"/>
                        </a:rPr>
                        <a:t>stroke over one wave (633 nm) in four steps of λ/8 of surface; closed-loop, since the step error is read directly as phase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steps the reference phase; a 2% step error is priced in the servo, and the stepping is what exposes it to within-scan drift</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input polarizer; one quarter-wave plate in each arm, double-passed; output quarter-wave plate</a:t>
                      </a:r>
                    </a:p>
                  </a:txBody>
                  <a:tcPr marL="54864" marR="54864" marT="18288" marB="18288">
                    <a:solidFill>
                      <a:srgbClr val="FFFFFF"/>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FFFFFF"/>
                    </a:solidFill>
                  </a:tcPr>
                </a:tc>
                <a:tc>
                  <a:txBody>
                    <a:bodyPr wrap="square"/>
                    <a:lstStyle/>
                    <a:p>
                      <a:r>
                        <a:rPr sz="1100" b="0">
                          <a:solidFill>
                            <a:srgbClr val="282828"/>
                          </a:solidFill>
                          <a:latin typeface="Arial"/>
                        </a:rPr>
                        <a:t>AR</a:t>
                      </a:r>
                    </a:p>
                  </a:txBody>
                  <a:tcPr marL="54864" marR="54864" marT="18288" marB="18288">
                    <a:solidFill>
                      <a:srgbClr val="FFFFFF"/>
                    </a:solidFill>
                  </a:tcPr>
                </a:tc>
                <a:tc>
                  <a:txBody>
                    <a:bodyPr wrap="square"/>
                    <a:lstStyle/>
                    <a:p>
                      <a:r>
                        <a:rPr sz="1100" b="0">
                          <a:solidFill>
                            <a:srgbClr val="282828"/>
                          </a:solidFill>
                          <a:latin typeface="Arial"/>
                        </a:rPr>
                        <a:t>4</a:t>
                      </a:r>
                    </a:p>
                  </a:txBody>
                  <a:tcPr marL="54864" marR="54864" marT="18288" marB="18288">
                    <a:solidFill>
                      <a:srgbClr val="FFFFFF"/>
                    </a:solidFill>
                  </a:tcPr>
                </a:tc>
                <a:tc>
                  <a:txBody>
                    <a:bodyPr wrap="square"/>
                    <a:lstStyle/>
                    <a:p>
                      <a:r>
                        <a:rPr sz="1100" b="0">
                          <a:solidFill>
                            <a:srgbClr val="282828"/>
                          </a:solidFill>
                          <a:latin typeface="Arial"/>
                        </a:rPr>
                        <a:t>codes the four channels in polarization</a:t>
                      </a:r>
                    </a:p>
                  </a:txBody>
                  <a:tcPr marL="54864" marR="54864" marT="18288" marB="18288">
                    <a:solidFill>
                      <a:srgbClr val="FFFFFF"/>
                    </a:solidFill>
                  </a:tcPr>
                </a:tc>
              </a:tr>
              <a:tr h="845820">
                <a:tc>
                  <a:txBody>
                    <a:bodyPr wrap="square"/>
                    <a:lstStyle/>
                    <a:p>
                      <a:r>
                        <a:rPr sz="1100" b="0">
                          <a:solidFill>
                            <a:srgbClr val="282828"/>
                          </a:solidFill>
                          <a:latin typeface="Arial"/>
                        </a:rPr>
                        <a:t>piezo</a:t>
                      </a:r>
                    </a:p>
                  </a:txBody>
                  <a:tcPr marL="54864" marR="54864" marT="18288" marB="18288">
                    <a:solidFill>
                      <a:srgbClr val="ECF1F6"/>
                    </a:solidFill>
                  </a:tcPr>
                </a:tc>
                <a:tc>
                  <a:txBody>
                    <a:bodyPr wrap="square"/>
                    <a:lstStyle/>
                    <a:p>
                      <a:r>
                        <a:rPr sz="1100" b="0">
                          <a:solidFill>
                            <a:srgbClr val="282828"/>
                          </a:solidFill>
                          <a:latin typeface="Arial"/>
                        </a:rPr>
                        <a:t>analyzer</a:t>
                      </a:r>
                    </a:p>
                  </a:txBody>
                  <a:tcPr marL="54864" marR="54864" marT="18288" marB="18288">
                    <a:solidFill>
                      <a:srgbClr val="ECF1F6"/>
                    </a:solidFill>
                  </a:tcPr>
                </a:tc>
                <a:tc>
                  <a:txBody>
                    <a:bodyPr wrap="square"/>
                    <a:lstStyle/>
                    <a:p>
                      <a:r>
                        <a:rPr sz="1100" b="0">
                          <a:solidFill>
                            <a:srgbClr val="282828"/>
                          </a:solidFill>
                          <a:latin typeface="Arial"/>
                        </a:rPr>
                        <a:t>103 mm polarizer on a 2 mm substrate, 160 mm behind the splitter with the output plate</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sets the interference to be read; in the snapshot form the camera's own micro-polarizer array does this job four ways at once</a:t>
                      </a:r>
                    </a:p>
                  </a:txBody>
                  <a:tcPr marL="54864" marR="54864" marT="18288" marB="18288">
                    <a:solidFill>
                      <a:srgbClr val="ECF1F6"/>
                    </a:solidFill>
                  </a:tcPr>
                </a:tc>
              </a:tr>
              <a:tr h="845820">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replacing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over a 2048×2048 sCMOS, 3.45 µm pixels in 2×2 super-pixels,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in one frame: no moving part, and immune to the drift within a scan that the piezo form pays for</a:t>
                      </a:r>
                    </a:p>
                  </a:txBody>
                  <a:tcPr marL="54864" marR="54864" marT="18288" marB="18288">
                    <a:solidFill>
                      <a:srgbClr val="FFFFFF"/>
                    </a:solidFill>
                  </a:tcPr>
                </a:tc>
              </a:tr>
              <a:tr h="657225">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6422517"/>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3566160"/>
        </p:xfrm>
        <a:graphic>
          <a:graphicData uri="http://schemas.openxmlformats.org/drawingml/2006/table">
            <a:tbl>
              <a:tblPr firstRow="1" bandRow="1">
                <a:tableStyleId>{5C22544A-7EE6-4342-B048-85BDC9FD1C3A}</a:tableStyleId>
              </a:tblPr>
              <a:tblGrid>
                <a:gridCol w="1671828"/>
                <a:gridCol w="2188758"/>
                <a:gridCol w="2918345"/>
                <a:gridCol w="1026825"/>
                <a:gridCol w="509524"/>
                <a:gridCol w="3053453"/>
              </a:tblGrid>
              <a:tr h="280035">
                <a:tc>
                  <a:txBody>
                    <a:bodyPr wrap="square"/>
                    <a:lstStyle/>
                    <a:p>
                      <a:r>
                        <a:rPr sz="1100" b="1">
                          <a:solidFill>
                            <a:srgbClr val="FFFFFF"/>
                          </a:solidFill>
                          <a:latin typeface="Arial"/>
                        </a:rPr>
                        <a:t>sensor</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chosen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657225">
                <a:tc>
                  <a:txBody>
                    <a:bodyPr wrap="square"/>
                    <a:lstStyle/>
                    <a:p>
                      <a:r>
                        <a:rPr sz="1100" b="0">
                          <a:solidFill>
                            <a:srgbClr val="282828"/>
                          </a:solidFill>
                          <a:latin typeface="Arial"/>
                        </a:rPr>
                        <a:t>vector</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split form</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657225">
                <a:tc>
                  <a:txBody>
                    <a:bodyPr wrap="square"/>
                    <a:lstStyle/>
                    <a:p>
                      <a:r>
                        <a:rPr sz="1100" b="0">
                          <a:solidFill>
                            <a:srgbClr val="282828"/>
                          </a:solidFill>
                          <a:latin typeface="Arial"/>
                        </a:rPr>
                        <a:t>vector, snapshot form</a:t>
                      </a:r>
                    </a:p>
                  </a:txBody>
                  <a:tcPr marL="54864" marR="54864" marT="18288" marB="18288">
                    <a:solidFill>
                      <a:srgbClr val="ECF1F6"/>
                    </a:solidFill>
                  </a:tcPr>
                </a:tc>
                <a:tc>
                  <a:txBody>
                    <a:bodyPr wrap="square"/>
                    <a:lstStyle/>
                    <a:p>
                      <a:r>
                        <a:rPr sz="1100" b="0">
                          <a:solidFill>
                            <a:srgbClr val="282828"/>
                          </a:solidFill>
                          <a:latin typeface="Arial"/>
                        </a:rPr>
                        <a:t>quarter-wave plate; the interferometer's polarization camera in place of camera A</a:t>
                      </a:r>
                    </a:p>
                  </a:txBody>
                  <a:tcPr marL="54864" marR="54864" marT="18288" marB="18288">
                    <a:solidFill>
                      <a:srgbClr val="ECF1F6"/>
                    </a:solidFill>
                  </a:tcPr>
                </a:tc>
                <a:tc>
                  <a:txBody>
                    <a:bodyPr wrap="square"/>
                    <a:lstStyle/>
                    <a:p>
                      <a:r>
                        <a:rPr sz="1100" b="0">
                          <a:solidFill>
                            <a:srgbClr val="282828"/>
                          </a:solidFill>
                          <a:latin typeface="Arial"/>
                        </a:rPr>
                        <a:t>the same zero-order plate; the micro-polarizer array already on the bench for the snapshot interferometer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same two states read on one camera: one detector, no split leg to align, at a quarter of the pixels per state</a:t>
                      </a:r>
                    </a:p>
                  </a:txBody>
                  <a:tcPr marL="54864" marR="54864" marT="18288" marB="18288">
                    <a:solidFill>
                      <a:srgbClr val="ECF1F6"/>
                    </a:solidFill>
                  </a:tcPr>
                </a:tc>
              </a:tr>
              <a:tr h="65722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FFFFFF"/>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FFFFFF"/>
                    </a:solidFill>
                  </a:tcPr>
                </a:tc>
                <a:tc>
                  <a:txBody>
                    <a:bodyPr wrap="square"/>
                    <a:lstStyle/>
                    <a:p>
                      <a:r>
                        <a:rPr sz="1100" b="0">
                          <a:solidFill>
                            <a:srgbClr val="282828"/>
                          </a:solidFill>
                          <a:latin typeface="Arial"/>
                        </a:rPr>
                        <a:t>metal-film attenuator</a:t>
                      </a:r>
                    </a:p>
                  </a:txBody>
                  <a:tcPr marL="54864" marR="54864" marT="18288" marB="18288">
                    <a:solidFill>
                      <a:srgbClr val="FFFFFF"/>
                    </a:solidFill>
                  </a:tcPr>
                </a:tc>
                <a:tc>
                  <a:txBody>
                    <a:bodyPr wrap="square"/>
                    <a:lstStyle/>
                    <a:p>
                      <a:r>
                        <a:rPr sz="1100" b="0">
                          <a:solidFill>
                            <a:srgbClr val="282828"/>
                          </a:solidFill>
                          <a:latin typeface="Arial"/>
                        </a:rPr>
                        <a:t>2</a:t>
                      </a:r>
                    </a:p>
                  </a:txBody>
                  <a:tcPr marL="54864" marR="54864" marT="18288" marB="18288">
                    <a:solidFill>
                      <a:srgbClr val="FFFFFF"/>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FFFFFF"/>
                    </a:solidFill>
                  </a:tcPr>
                </a:tc>
              </a:tr>
            </a:tbl>
          </a:graphicData>
        </a:graphic>
      </p:graphicFrame>
      <p:sp>
        <p:nvSpPr>
          <p:cNvPr id="5" name="TextBox 4"/>
          <p:cNvSpPr txBox="1"/>
          <p:nvPr/>
        </p:nvSpPr>
        <p:spPr>
          <a:xfrm>
            <a:off x="292608" y="5742432"/>
            <a:ext cx="11368735" cy="274320"/>
          </a:xfrm>
          <a:prstGeom prst="rect">
            <a:avLst/>
          </a:prstGeom>
          <a:noFill/>
        </p:spPr>
        <p:txBody>
          <a:bodyPr wrap="square">
            <a:spAutoFit/>
          </a:bodyPr>
          <a:lstStyle/>
          <a:p>
            <a:pPr>
              <a:spcAft>
                <a:spcPts val="600"/>
              </a:spcAft>
            </a:pPr>
            <a:r>
              <a:rPr sz="1050" b="0">
                <a:solidFill>
                  <a:srgbClr val="6E6E6E"/>
                </a:solidFill>
                <a:latin typeface="Arial"/>
              </a:rPr>
              <a:t>The vector sensor is the one configuration with a choice of readout: the split form buys full pixel count per state, the snapshot form reuses the interferometer's camera.  The Zernike, vector and pinhole plates share one substrate on the seat; full parts tables are in each lane's README.  The P/SRI's nine parts are on its backup slide.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309591" y="1298448"/>
            <a:ext cx="5572512"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1.5% of the engine's field, the differential rows within 1.8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redo96_oapstn_stations.png"/>
          <p:cNvPicPr>
            <a:picLocks noChangeAspect="1"/>
          </p:cNvPicPr>
          <p:nvPr/>
        </p:nvPicPr>
        <p:blipFill>
          <a:blip r:embed="rId2"/>
          <a:stretch>
            <a:fillRect/>
          </a:stretch>
        </p:blipFill>
        <p:spPr>
          <a:xfrm>
            <a:off x="2028583" y="1298448"/>
            <a:ext cx="8134528"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residual column is the absolute read against the engine:</a:t>
            </a:r>
            <a:r>
              <a:rPr sz="1500" b="0">
                <a:solidFill>
                  <a:srgbClr val="282828"/>
                </a:solidFill>
                <a:latin typeface="Arial"/>
              </a:rPr>
              <a:t> 0.00 pm on the flat, 463 pm on the 30 nm surface (1.5% of the figure); the differential rows the servo uses read the same surface's changes to 1.8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redo96_oapstn (the mirror rig).  The lens rig's figure exists but its absolute residual reads 51 nm against the engine — a fold of the phase, not an imaging error (its differential rows read the same as the mirror rig's); under investigation, so it is not shown.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800" b="0">
                <a:solidFill>
                  <a:srgbClr val="282828"/>
                </a:solidFill>
                <a:latin typeface="Arial"/>
              </a:rPr>
              <a:t>•  </a:t>
            </a:r>
            <a:r>
              <a:rPr sz="1800" b="1">
                <a:solidFill>
                  <a:srgbClr val="282828"/>
                </a:solidFill>
                <a:latin typeface="Arial"/>
              </a:rPr>
              <a:t>The right model is coherent imaging:</a:t>
            </a:r>
            <a:r>
              <a:rPr sz="1800" b="0">
                <a:solidFill>
                  <a:srgbClr val="282828"/>
                </a:solidFill>
                <a:latin typeface="Arial"/>
              </a:rPr>
              <a:t>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800" b="0">
                <a:solidFill>
                  <a:srgbClr val="282828"/>
                </a:solidFill>
                <a:latin typeface="Arial"/>
              </a:rPr>
              <a:t>•  </a:t>
            </a:r>
            <a:r>
              <a:rPr sz="1800" b="1">
                <a:solidFill>
                  <a:srgbClr val="282828"/>
                </a:solidFill>
                <a:latin typeface="Arial"/>
              </a:rPr>
              <a:t>For the mask sensors it is already in the runner:</a:t>
            </a:r>
            <a:r>
              <a:rPr sz="1800" b="0">
                <a:solidFill>
                  <a:srgbClr val="282828"/>
                </a:solidFill>
                <a:latin typeface="Arial"/>
              </a:rPr>
              <a:t> the mask sandwich propagates the field to the seat, applies the mask, and propagates back to the pupil image, mask shape and all.</a:t>
            </a:r>
          </a:p>
          <a:p>
            <a:pPr>
              <a:spcAft>
                <a:spcPts val="600"/>
              </a:spcAft>
            </a:pPr>
            <a:r>
              <a:rPr sz="1800" b="0">
                <a:solidFill>
                  <a:srgbClr val="282828"/>
                </a:solidFill>
                <a:latin typeface="Arial"/>
              </a:rPr>
              <a:t>•  </a:t>
            </a:r>
            <a:r>
              <a:rPr sz="1800" b="1">
                <a:solidFill>
                  <a:srgbClr val="282828"/>
                </a:solidFill>
                <a:latin typeface="Arial"/>
              </a:rPr>
              <a:t>For the interferometer the aperture at the focus is wide</a:t>
            </a:r>
            <a:r>
              <a:rPr sz="1800" b="0">
                <a:solidFill>
                  <a:srgbClr val="282828"/>
                </a:solidFill>
                <a:latin typeface="Arial"/>
              </a:rPr>
              <a:t>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800" b="0">
                <a:solidFill>
                  <a:srgbClr val="282828"/>
                </a:solidFill>
                <a:latin typeface="Arial"/>
              </a:rPr>
              <a:t>•  </a:t>
            </a:r>
            <a:r>
              <a:rPr sz="1800" b="1">
                <a:solidFill>
                  <a:srgbClr val="282828"/>
                </a:solidFill>
                <a:latin typeface="Arial"/>
              </a:rPr>
              <a:t>When a small field stop sits at the focus</a:t>
            </a:r>
            <a:r>
              <a:rPr sz="1800" b="0">
                <a:solidFill>
                  <a:srgbClr val="282828"/>
                </a:solidFill>
                <a:latin typeface="Arial"/>
              </a:rPr>
              <a:t>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566013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the DM can make is observable, and the camera sits at the pupil image on both rigs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redo_lens_gain.png"/>
          <p:cNvPicPr>
            <a:picLocks noChangeAspect="1"/>
          </p:cNvPicPr>
          <p:nvPr/>
        </p:nvPicPr>
        <p:blipFill>
          <a:blip r:embed="rId2"/>
          <a:srcRect l="8740" r="8080" b="1760"/>
          <a:stretch>
            <a:fillRect/>
          </a:stretch>
        </p:blipFill>
        <p:spPr>
          <a:xfrm>
            <a:off x="45720" y="1691640"/>
            <a:ext cx="6967728" cy="2743200"/>
          </a:xfrm>
          <a:prstGeom prst="rect">
            <a:avLst/>
          </a:prstGeom>
        </p:spPr>
      </p:pic>
      <p:sp>
        <p:nvSpPr>
          <p:cNvPr id="5" name="TextBox 4"/>
          <p:cNvSpPr txBox="1"/>
          <p:nvPr/>
        </p:nvSpPr>
        <p:spPr>
          <a:xfrm>
            <a:off x="411480" y="5394960"/>
            <a:ext cx="6967728"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7086600" y="1298448"/>
          <a:ext cx="4709159" cy="960120"/>
        </p:xfrm>
        <a:graphic>
          <a:graphicData uri="http://schemas.openxmlformats.org/drawingml/2006/table">
            <a:tbl>
              <a:tblPr firstRow="1" bandRow="1">
                <a:tableStyleId>{5C22544A-7EE6-4342-B048-85BDC9FD1C3A}</a:tableStyleId>
              </a:tblPr>
              <a:tblGrid>
                <a:gridCol w="1960972"/>
                <a:gridCol w="542544"/>
                <a:gridCol w="542544"/>
                <a:gridCol w="542544"/>
                <a:gridCol w="1120555"/>
              </a:tblGrid>
              <a:tr h="43434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1.0000</a:t>
                      </a:r>
                    </a:p>
                  </a:txBody>
                  <a:tcPr marL="54864" marR="54864" marT="18288" marB="18288">
                    <a:solidFill>
                      <a:srgbClr val="FFFFFF"/>
                    </a:solidFill>
                  </a:tcPr>
                </a:tc>
                <a:tc>
                  <a:txBody>
                    <a:bodyPr wrap="square"/>
                    <a:lstStyle/>
                    <a:p>
                      <a:r>
                        <a:rPr sz="1000" b="0">
                          <a:solidFill>
                            <a:srgbClr val="282828"/>
                          </a:solidFill>
                          <a:latin typeface="Arial"/>
                        </a:rPr>
                        <a:t>42 pm</a:t>
                      </a:r>
                    </a:p>
                  </a:txBody>
                  <a:tcPr marL="54864" marR="54864" marT="18288" marB="18288">
                    <a:solidFill>
                      <a:srgbClr val="FFFFFF"/>
                    </a:solidFill>
                  </a:tcPr>
                </a:tc>
              </a:tr>
              <a:tr h="262890">
                <a:tc>
                  <a:txBody>
                    <a:bodyPr wrap="square"/>
                    <a:lstStyle/>
                    <a:p>
                      <a:r>
                        <a:rPr sz="1000" b="0">
                          <a:solidFill>
                            <a:srgbClr val="282828"/>
                          </a:solidFill>
                          <a:latin typeface="Arial"/>
                        </a:rPr>
                        <a:t>mirror rig</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0.9994</a:t>
                      </a:r>
                    </a:p>
                  </a:txBody>
                  <a:tcPr marL="54864" marR="54864" marT="18288" marB="18288">
                    <a:solidFill>
                      <a:srgbClr val="ECF1F6"/>
                    </a:solidFill>
                  </a:tcPr>
                </a:tc>
                <a:tc>
                  <a:txBody>
                    <a:bodyPr wrap="square"/>
                    <a:lstStyle/>
                    <a:p>
                      <a:r>
                        <a:rPr sz="1000" b="0">
                          <a:solidFill>
                            <a:srgbClr val="282828"/>
                          </a:solidFill>
                          <a:latin typeface="Arial"/>
                        </a:rPr>
                        <a:t>92 pm</a:t>
                      </a:r>
                    </a:p>
                  </a:txBody>
                  <a:tcPr marL="54864" marR="54864" marT="18288" marB="18288">
                    <a:solidFill>
                      <a:srgbClr val="ECF1F6"/>
                    </a:solidFill>
                  </a:tcPr>
                </a:tc>
              </a:tr>
            </a:tbl>
          </a:graphicData>
        </a:graphic>
      </p:graphicFrame>
      <p:sp>
        <p:nvSpPr>
          <p:cNvPr id="7" name="TextBox 6"/>
          <p:cNvSpPr txBox="1"/>
          <p:nvPr/>
        </p:nvSpPr>
        <p:spPr>
          <a:xfrm>
            <a:off x="7086600" y="2688336"/>
            <a:ext cx="4709160" cy="274320"/>
          </a:xfrm>
          <a:prstGeom prst="rect">
            <a:avLst/>
          </a:prstGeom>
          <a:noFill/>
        </p:spPr>
        <p:txBody>
          <a:bodyPr wrap="square">
            <a:spAutoFit/>
          </a:bodyPr>
          <a:lstStyle/>
          <a:p>
            <a:pPr>
              <a:spcAft>
                <a:spcPts val="600"/>
              </a:spcAft>
            </a:pPr>
            <a:r>
              <a:rPr sz="1150" b="0">
                <a:solidFill>
                  <a:srgbClr val="282828"/>
                </a:solidFill>
                <a:latin typeface="Arial"/>
              </a:rPr>
              <a:t>•  </a:t>
            </a:r>
            <a:r>
              <a:rPr sz="1150" b="1">
                <a:solidFill>
                  <a:srgbClr val="282828"/>
                </a:solidFill>
                <a:latin typeface="Arial"/>
              </a:rPr>
              <a:t>How:</a:t>
            </a:r>
            <a:r>
              <a:rPr sz="1150" b="0">
                <a:solidFill>
                  <a:srgbClr val="282828"/>
                </a:solidFill>
                <a:latin typeface="Arial"/>
              </a:rPr>
              <a:t>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150" b="0">
                <a:solidFill>
                  <a:srgbClr val="282828"/>
                </a:solidFill>
                <a:latin typeface="Arial"/>
              </a:rPr>
              <a:t>•  </a:t>
            </a:r>
            <a:r>
              <a:rPr sz="1150" b="1">
                <a:solidFill>
                  <a:srgbClr val="282828"/>
                </a:solidFill>
                <a:latin typeface="Arial"/>
              </a:rPr>
              <a:t>The camera is at the pupil image</a:t>
            </a:r>
            <a:r>
              <a:rPr sz="1150" b="0">
                <a:solidFill>
                  <a:srgbClr val="282828"/>
                </a:solidFill>
                <a:latin typeface="Arial"/>
              </a:rPr>
              <a:t>, and the best detector move from here is </a:t>
            </a:r>
            <a:r>
              <a:rPr sz="1150" b="1">
                <a:solidFill>
                  <a:srgbClr val="282828"/>
                </a:solidFill>
                <a:latin typeface="Arial"/>
              </a:rPr>
              <a:t>−0.00 mm</a:t>
            </a:r>
            <a:r>
              <a:rPr sz="1150" b="0">
                <a:solidFill>
                  <a:srgbClr val="282828"/>
                </a:solidFill>
                <a:latin typeface="Arial"/>
              </a:rPr>
              <a:t>: there is nothing left to correct.  The band-edge quadratic phase is 0.000 rad rms on lenses and 0.013 on mirrors, so the gain at the actuator Nyquist is 1.0000 and 0.9994.</a:t>
            </a:r>
          </a:p>
          <a:p>
            <a:pPr>
              <a:spcAft>
                <a:spcPts val="600"/>
              </a:spcAft>
            </a:pPr>
            <a:r>
              <a:rPr sz="1150" b="0">
                <a:solidFill>
                  <a:srgbClr val="282828"/>
                </a:solidFill>
                <a:latin typeface="Arial"/>
              </a:rPr>
              <a:t>•  </a:t>
            </a:r>
            <a:r>
              <a:rPr sz="1150" b="1">
                <a:solidFill>
                  <a:srgbClr val="282828"/>
                </a:solidFill>
                <a:latin typeface="Arial"/>
              </a:rPr>
              <a:t>The beam of record under-filled the DM</a:t>
            </a:r>
            <a:r>
              <a:rPr sz="1150" b="0">
                <a:solidFill>
                  <a:srgbClr val="282828"/>
                </a:solidFill>
                <a:latin typeface="Arial"/>
              </a:rPr>
              <a:t> (77 / 82 mm of 96): the baffle is now opened and the aperture sits on the DM; runs from 2026-09-17 carry the full 96 mm.</a:t>
            </a:r>
          </a:p>
        </p:txBody>
      </p:sp>
      <p:sp>
        <p:nvSpPr>
          <p:cNvPr id="8" name="TextBox 7"/>
          <p:cNvSpPr txBox="1"/>
          <p:nvPr/>
        </p:nvSpPr>
        <p:spPr>
          <a:xfrm>
            <a:off x="7315200" y="5614416"/>
            <a:ext cx="4480560" cy="274320"/>
          </a:xfrm>
          <a:prstGeom prst="rect">
            <a:avLst/>
          </a:prstGeom>
          <a:noFill/>
        </p:spPr>
        <p:txBody>
          <a:bodyPr wrap="square">
            <a:spAutoFit/>
          </a:bodyPr>
          <a:lstStyle/>
          <a:p>
            <a:pPr>
              <a:spcAft>
                <a:spcPts val="600"/>
              </a:spcAft>
            </a:pPr>
            <a:r>
              <a:rPr sz="1050" b="0">
                <a:solidFill>
                  <a:srgbClr val="6E6E6E"/>
                </a:solidFill>
                <a:latin typeface="Arial"/>
              </a:rPr>
              <a:t>Run tags pupilsim_redo_lens, pupilsim_redo_oap (tg96_pupilsim on the emitted decks, 2026-09-17;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Scalar 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reference wave</a:t>
            </a:r>
            <a:r>
              <a:rPr sz="1500" b="0">
                <a:solidFill>
                  <a:srgbClr val="282828"/>
                </a:solidFill>
                <a:latin typeface="Arial"/>
              </a:rPr>
              <a:t>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601256" y="1298448"/>
            <a:ext cx="4989182"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same polarization camera as the interferometer's snapshot form would replace the cube and one camera:</a:t>
            </a:r>
            <a:r>
              <a:rPr sz="1500" b="0">
                <a:solidFill>
                  <a:srgbClr val="282828"/>
                </a:solidFill>
                <a:latin typeface="Arial"/>
              </a:rPr>
              <a:t>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On the flat the two images are complementary</a:t>
            </a:r>
            <a:r>
              <a:rPr sz="1500" b="0">
                <a:solidFill>
                  <a:srgbClr val="282828"/>
                </a:solidFill>
                <a:latin typeface="Arial"/>
              </a:rPr>
              <a:t>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3485248" y="1298448"/>
            <a:ext cx="5221198"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shutter frame measures the reference by itself</a:t>
            </a:r>
            <a:r>
              <a:rPr sz="1500" b="0">
                <a:solidFill>
                  <a:srgbClr val="282828"/>
                </a:solidFill>
                <a:latin typeface="Arial"/>
              </a:rPr>
              <a:t>,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4406265"/>
        </p:xfrm>
        <a:graphic>
          <a:graphicData uri="http://schemas.openxmlformats.org/drawingml/2006/table">
            <a:tbl>
              <a:tblPr firstRow="1" bandRow="1">
                <a:tableStyleId>{5C22544A-7EE6-4342-B048-85BDC9FD1C3A}</a:tableStyleId>
              </a:tblPr>
              <a:tblGrid>
                <a:gridCol w="2035048"/>
                <a:gridCol w="7275307"/>
                <a:gridCol w="2058379"/>
              </a:tblGrid>
              <a:tr h="65722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468630">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1.001 / 2, 0.998 / 2, 0.996 / 2, 0.996 / 2 pm</a:t>
                      </a:r>
                    </a:p>
                  </a:txBody>
                  <a:tcPr marL="54864" marR="54864" marT="18288" marB="18288">
                    <a:solidFill>
                      <a:srgbClr val="ECF1F6"/>
                    </a:solidFill>
                  </a:tcPr>
                </a:tc>
                <a:tc>
                  <a:txBody>
                    <a:bodyPr wrap="square"/>
                    <a:lstStyle/>
                    <a:p>
                      <a:r>
                        <a:rPr sz="1100" b="0">
                          <a:solidFill>
                            <a:srgbClr val="282828"/>
                          </a:solidFill>
                          <a:latin typeface="Arial"/>
                        </a:rPr>
                        <a:t>9.9e14, 8.6e14, 5.9e14, 6.6e14</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a:t>
                      </a:r>
                    </a:p>
                  </a:txBody>
                  <a:tcPr marL="54864" marR="54864" marT="18288" marB="18288">
                    <a:solidFill>
                      <a:srgbClr val="FFFFFF"/>
                    </a:solidFill>
                  </a:tcPr>
                </a:tc>
                <a:tc>
                  <a:txBody>
                    <a:bodyPr wrap="square"/>
                    <a:lstStyle/>
                    <a:p>
                      <a:r>
                        <a:rPr sz="1100" b="0">
                          <a:solidFill>
                            <a:srgbClr val="282828"/>
                          </a:solidFill>
                          <a:latin typeface="Arial"/>
                        </a:rPr>
                        <a:t>0.989 / 2, 0.993 / 2, 0.995 / 2, 0.995 / 2 pm</a:t>
                      </a:r>
                    </a:p>
                  </a:txBody>
                  <a:tcPr marL="54864" marR="54864" marT="18288" marB="18288">
                    <a:solidFill>
                      <a:srgbClr val="FFFFFF"/>
                    </a:solidFill>
                  </a:tcPr>
                </a:tc>
                <a:tc>
                  <a:txBody>
                    <a:bodyPr wrap="square"/>
                    <a:lstStyle/>
                    <a:p>
                      <a:r>
                        <a:rPr sz="1100" b="0">
                          <a:solidFill>
                            <a:srgbClr val="282828"/>
                          </a:solidFill>
                          <a:latin typeface="Arial"/>
                        </a:rPr>
                        <a:t>7.0e14, 5.3e14, 4.9e14, 4.4e14</a:t>
                      </a:r>
                    </a:p>
                  </a:txBody>
                  <a:tcPr marL="54864" marR="54864" marT="18288" marB="18288">
                    <a:solidFill>
                      <a:srgbClr val="FFFFFF"/>
                    </a:solidFill>
                  </a:tcPr>
                </a:tc>
              </a:tr>
              <a:tr h="657225">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5851017"/>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What this says:</a:t>
            </a:r>
            <a:r>
              <a:rPr sz="1500" b="0">
                <a:solidFill>
                  <a:srgbClr val="282828"/>
                </a:solidFill>
                <a:latin typeface="Arial"/>
              </a:rPr>
              <a:t>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6770751"/>
            <a:ext cx="11368735" cy="274320"/>
          </a:xfrm>
          <a:prstGeom prst="rect">
            <a:avLst/>
          </a:prstGeom>
          <a:noFill/>
        </p:spPr>
        <p:txBody>
          <a:bodyPr wrap="square">
            <a:spAutoFit/>
          </a:bodyPr>
          <a:lstStyle/>
          <a:p>
            <a:pPr>
              <a:spcAft>
                <a:spcPts val="600"/>
              </a:spcAft>
            </a:pPr>
            <a:r>
              <a:rPr sz="1050" b="0">
                <a:solidFill>
                  <a:srgbClr val="6E6E6E"/>
                </a:solidFill>
                <a:latin typeface="Arial"/>
              </a:rPr>
              <a:t>Interferometer rows: redo96_lensph, redo96_oapph (the built rigs; the re-measured matrix on each surface, 1 nm on 112 sites).  Sensor rows: cap385_b60-b160, cap385p_b60-b160, noise193_b30-b160, noise193p_b30-b160 at 385 px, pending their repeat on the built bench.  Photons are per measurement, all frames summed, 6 noise realizations per point.</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the design</a:t>
            </a:r>
          </a:p>
          <a:p>
            <a:pPr>
              <a:spcAft>
                <a:spcPts val="0"/>
              </a:spcAft>
            </a:pPr>
            <a:r>
              <a:rPr sz="1250" b="0">
                <a:solidFill>
                  <a:srgbClr val="6E6E6E"/>
                </a:solidFill>
                <a:latin typeface="Arial"/>
              </a:rPr>
              <a:t>Fed at its focus and solved at the 22.5° splitter: every part clears by 33 mm, the focus lands on the mask seat without adjustment, and the residual with a flat mirror is 0.029 nm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lay96_oap_train.png"/>
          <p:cNvPicPr>
            <a:picLocks noChangeAspect="1"/>
          </p:cNvPicPr>
          <p:nvPr/>
        </p:nvPicPr>
        <p:blipFill>
          <a:blip r:embed="rId2"/>
          <a:stretch>
            <a:fillRect/>
          </a:stretch>
        </p:blipFill>
        <p:spPr>
          <a:xfrm>
            <a:off x="2012287" y="1298448"/>
            <a:ext cx="2604825"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9" cy="2091690"/>
        </p:xfrm>
        <a:graphic>
          <a:graphicData uri="http://schemas.openxmlformats.org/drawingml/2006/table">
            <a:tbl>
              <a:tblPr firstRow="1" bandRow="1">
                <a:tableStyleId>{5C22544A-7EE6-4342-B048-85BDC9FD1C3A}</a:tableStyleId>
              </a:tblPr>
              <a:tblGrid>
                <a:gridCol w="1854517"/>
                <a:gridCol w="3540442"/>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0.00 µrad residual (the source at the parabola's focus)</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0.029 nm with no adjustment (lens rig 0.13 nm after adjustment)</a:t>
                      </a:r>
                    </a:p>
                  </a:txBody>
                  <a:tcPr marL="54864" marR="54864" marT="18288" marB="18288">
                    <a:solidFill>
                      <a:srgbClr val="FFFFFF"/>
                    </a:solidFill>
                  </a:tcPr>
                </a:tc>
              </a:tr>
              <a:tr h="26289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536441"/>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rule a parabola enforces and a lens hides:</a:t>
            </a:r>
            <a:r>
              <a:rPr sz="1200" b="0">
                <a:solidFill>
                  <a:srgbClr val="282828"/>
                </a:solidFill>
                <a:latin typeface="Arial"/>
              </a:rPr>
              <a:t> an off-axis collimator must be fed at its focus — a 25 mm conjugate error becomes coma at the fold, linear in the fold angle (in the model that had it: 926 µrad of residual, 1.1 λF/D of blur at the mask seat, 12.9 nm of flat-mirror residual); a lens absorbs the same error into its tuned figure.  Fed at the focus there is nothing left for a smaller fold angle to recover.</a:t>
            </a:r>
          </a:p>
          <a:p>
            <a:pPr>
              <a:spcAft>
                <a:spcPts val="600"/>
              </a:spcAft>
            </a:pPr>
            <a:r>
              <a:rPr sz="1200" b="0">
                <a:solidFill>
                  <a:srgbClr val="282828"/>
                </a:solidFill>
                <a:latin typeface="Arial"/>
              </a:rPr>
              <a:t>•  </a:t>
            </a:r>
            <a:r>
              <a:rPr sz="1200" b="1">
                <a:solidFill>
                  <a:srgbClr val="282828"/>
                </a:solidFill>
                <a:latin typeface="Arial"/>
              </a:rPr>
              <a:t>Coatings:</a:t>
            </a:r>
            <a:r>
              <a:rPr sz="1200" b="0">
                <a:solidFill>
                  <a:srgbClr val="282828"/>
                </a:solidFill>
                <a:latin typeface="Arial"/>
              </a:rPr>
              <a:t> bare and protected aluminum give the same rows; the retardance variation they add is 0.5 mrad, a floor.</a:t>
            </a:r>
          </a:p>
        </p:txBody>
      </p:sp>
      <p:sp>
        <p:nvSpPr>
          <p:cNvPr id="8" name="TextBox 7"/>
          <p:cNvSpPr txBox="1"/>
          <p:nvPr/>
        </p:nvSpPr>
        <p:spPr>
          <a:xfrm>
            <a:off x="6400800" y="543839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oap22d, oapdraw3 (the layout), redo96_oap, redo96_oaploop, capt96_oap, redo96_oapsens (the rows).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Measuring the full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vector pair alone cannot:</a:t>
            </a:r>
            <a:r>
              <a:rPr sz="1500" b="0">
                <a:solidFill>
                  <a:srgbClr val="282828"/>
                </a:solidFill>
                <a:latin typeface="Arial"/>
              </a:rPr>
              <a:t> its two images fix the field only up to a mirror image about the reference wave, and at gauge-level phases (a 100 nm poke is 1.9 rad) the true field crosses that line.  Solving both from the pair diverges.</a:t>
            </a:r>
          </a:p>
          <a:p>
            <a:pPr>
              <a:spcAft>
                <a:spcPts val="600"/>
              </a:spcAft>
            </a:pPr>
            <a:r>
              <a:rPr sz="1500" b="0">
                <a:solidFill>
                  <a:srgbClr val="282828"/>
                </a:solidFill>
                <a:latin typeface="Arial"/>
              </a:rPr>
              <a:t>•  </a:t>
            </a:r>
            <a:r>
              <a:rPr sz="1500" b="1">
                <a:solidFill>
                  <a:srgbClr val="282828"/>
                </a:solidFill>
                <a:latin typeface="Arial"/>
              </a:rPr>
              <a:t>The pair plus the state's clear frame reads both exactly:</a:t>
            </a:r>
            <a:r>
              <a:rPr sz="1500" b="0">
                <a:solidFill>
                  <a:srgbClr val="282828"/>
                </a:solidFill>
                <a:latin typeface="Arial"/>
              </a:rPr>
              <a:t>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92240" y="48006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Where unwrapping stops:</a:t>
            </a:r>
            <a:r>
              <a:rPr sz="1500" b="0">
                <a:solidFill>
                  <a:srgbClr val="282828"/>
                </a:solidFill>
                <a:latin typeface="Arial"/>
              </a:rPr>
              <a:t> at 4 pixels per actuator a 100-200 nm rms actuator pattern is 0.7-1.4 rad per pixel and unwraps; quilting, print-through or a stuck actuator at more than a wave does not.</a:t>
            </a:r>
          </a:p>
          <a:p>
            <a:pPr>
              <a:spcAft>
                <a:spcPts val="600"/>
              </a:spcAft>
            </a:pPr>
            <a:r>
              <a:rPr sz="1500" b="0">
                <a:solidFill>
                  <a:srgbClr val="282828"/>
                </a:solidFill>
                <a:latin typeface="Arial"/>
              </a:rPr>
              <a:t>•  </a:t>
            </a:r>
            <a:r>
              <a:rPr sz="1500" b="1">
                <a:solidFill>
                  <a:srgbClr val="282828"/>
                </a:solidFill>
                <a:latin typeface="Arial"/>
              </a:rPr>
              <a:t>A second color makes a synthetic wavelength:</a:t>
            </a:r>
            <a:r>
              <a:rPr sz="1500" b="0">
                <a:solidFill>
                  <a:srgbClr val="282828"/>
                </a:solidFill>
                <a:latin typeface="Arial"/>
              </a:rPr>
              <a:t> 632.8 + 700 nm gives 6.6 µm, an unambiguous surface range of 1.6 µm (double pass); 632.8 + 780 nm gives 3.35 µm and 0.84 µm.  The coarse pair captures, the single color holds; the coarse solve is 5-10× noisier.</a:t>
            </a:r>
          </a:p>
          <a:p>
            <a:pPr>
              <a:spcAft>
                <a:spcPts val="600"/>
              </a:spcAft>
            </a:pPr>
            <a:r>
              <a:rPr sz="1500" b="0">
                <a:solidFill>
                  <a:srgbClr val="282828"/>
                </a:solidFill>
                <a:latin typeface="Arial"/>
              </a:rPr>
              <a:t>•  </a:t>
            </a:r>
            <a:r>
              <a:rPr sz="1500" b="1">
                <a:solidFill>
                  <a:srgbClr val="282828"/>
                </a:solidFill>
                <a:latin typeface="Arial"/>
              </a:rPr>
              <a:t>The machinery exists:</a:t>
            </a:r>
            <a:r>
              <a:rPr sz="1500" b="0">
                <a:solidFill>
                  <a:srgbClr val="282828"/>
                </a:solidFill>
                <a:latin typeface="Arial"/>
              </a:rPr>
              <a:t>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Eight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A model-based large-figure solve:</a:t>
            </a:r>
            <a:r>
              <a:rPr sz="1500" b="0">
                <a:solidFill>
                  <a:srgbClr val="282828"/>
                </a:solidFill>
                <a:latin typeface="Arial"/>
              </a:rPr>
              <a:t> the mirror's influence functions as the basis of a nonlinear fit to the sensor's frames; the estimator already carries the basis.</a:t>
            </a:r>
          </a:p>
          <a:p>
            <a:pPr>
              <a:spcAft>
                <a:spcPts val="600"/>
              </a:spcAft>
            </a:pPr>
            <a:r>
              <a:rPr sz="1500" b="0">
                <a:solidFill>
                  <a:srgbClr val="282828"/>
                </a:solidFill>
                <a:latin typeface="Arial"/>
              </a:rPr>
              <a:t>•  </a:t>
            </a:r>
            <a:r>
              <a:rPr sz="1500" b="1">
                <a:solidFill>
                  <a:srgbClr val="282828"/>
                </a:solidFill>
                <a:latin typeface="Arial"/>
              </a:rPr>
              <a:t>Shack-Hartmann or modulated pyramid as the capture stage:</a:t>
            </a:r>
            <a:r>
              <a:rPr sz="1500" b="0">
                <a:solidFill>
                  <a:srgbClr val="282828"/>
                </a:solidFill>
                <a:latin typeface="Arial"/>
              </a:rPr>
              <a:t> many waves of range, no wrap, far from picometers; hands off to the gauge inside its range.</a:t>
            </a:r>
          </a:p>
          <a:p>
            <a:pPr>
              <a:spcAft>
                <a:spcPts val="600"/>
              </a:spcAft>
            </a:pPr>
            <a:r>
              <a:rPr sz="1500" b="0">
                <a:solidFill>
                  <a:srgbClr val="282828"/>
                </a:solidFill>
                <a:latin typeface="Arial"/>
              </a:rPr>
              <a:t>•  </a:t>
            </a:r>
            <a:r>
              <a:rPr sz="1500" b="1">
                <a:solidFill>
                  <a:srgbClr val="282828"/>
                </a:solidFill>
                <a:latin typeface="Arial"/>
              </a:rPr>
              <a:t>Redesign the lenses as multi-element assemblies.</a:t>
            </a:r>
          </a:p>
          <a:p>
            <a:pPr>
              <a:spcAft>
                <a:spcPts val="600"/>
              </a:spcAft>
            </a:pPr>
            <a:r>
              <a:rPr sz="1500" b="0">
                <a:solidFill>
                  <a:srgbClr val="282828"/>
                </a:solidFill>
                <a:latin typeface="Arial"/>
              </a:rPr>
              <a:t>•  </a:t>
            </a:r>
            <a:r>
              <a:rPr sz="1500" b="1">
                <a:solidFill>
                  <a:srgbClr val="282828"/>
                </a:solidFill>
                <a:latin typeface="Arial"/>
              </a:rPr>
              <a:t>Phase diversity (two defocused pupil images):</a:t>
            </a:r>
            <a:r>
              <a:rPr sz="1500" b="0">
                <a:solidFill>
                  <a:srgbClr val="282828"/>
                </a:solidFill>
                <a:latin typeface="Arial"/>
              </a:rPr>
              <a:t> wide range, common path, iterative; a capture candidate with the existing camera and one translation stage.</a:t>
            </a:r>
          </a:p>
          <a:p>
            <a:pPr>
              <a:spcAft>
                <a:spcPts val="600"/>
              </a:spcAft>
            </a:pPr>
            <a:r>
              <a:rPr sz="1500" b="0">
                <a:solidFill>
                  <a:srgbClr val="282828"/>
                </a:solidFill>
                <a:latin typeface="Arial"/>
              </a:rPr>
              <a:t>•  </a:t>
            </a:r>
            <a:r>
              <a:rPr sz="1500" b="1">
                <a:solidFill>
                  <a:srgbClr val="282828"/>
                </a:solidFill>
                <a:latin typeface="Arial"/>
              </a:rPr>
              <a:t>White-light scanning in the interferometer:</a:t>
            </a:r>
            <a:r>
              <a:rPr sz="1500" b="0">
                <a:solidFill>
                  <a:srgbClr val="282828"/>
                </a:solidFill>
                <a:latin typeface="Arial"/>
              </a:rPr>
              <a:t> an absolute surface with no wrap, slow; a one-time capture tool.</a:t>
            </a:r>
          </a:p>
          <a:p>
            <a:pPr>
              <a:spcAft>
                <a:spcPts val="600"/>
              </a:spcAft>
            </a:pPr>
            <a:r>
              <a:rPr sz="1500" b="0">
                <a:solidFill>
                  <a:srgbClr val="282828"/>
                </a:solidFill>
                <a:latin typeface="Arial"/>
              </a:rPr>
              <a:t>•  </a:t>
            </a:r>
            <a:r>
              <a:rPr sz="1500" b="1">
                <a:solidFill>
                  <a:srgbClr val="282828"/>
                </a:solidFill>
                <a:latin typeface="Arial"/>
              </a:rPr>
              <a:t>Vector Zernike with a polarization camera:</a:t>
            </a:r>
            <a:r>
              <a:rPr sz="1500" b="0">
                <a:solidFill>
                  <a:srgbClr val="282828"/>
                </a:solidFill>
                <a:latin typeface="Arial"/>
              </a:rPr>
              <a:t> one camera instead of the cube and two, at a quarter of the pixels per image.</a:t>
            </a:r>
          </a:p>
          <a:p>
            <a:pPr>
              <a:spcAft>
                <a:spcPts val="600"/>
              </a:spcAft>
            </a:pPr>
            <a:r>
              <a:rPr sz="1500" b="0">
                <a:solidFill>
                  <a:srgbClr val="282828"/>
                </a:solidFill>
                <a:latin typeface="Arial"/>
              </a:rPr>
              <a:t>•  </a:t>
            </a:r>
            <a:r>
              <a:rPr sz="1500" b="1">
                <a:solidFill>
                  <a:srgbClr val="282828"/>
                </a:solidFill>
                <a:latin typeface="Arial"/>
              </a:rPr>
              <a:t>Heterodyne or lock-in detection:</a:t>
            </a:r>
            <a:r>
              <a:rPr sz="1500" b="0">
                <a:solidFill>
                  <a:srgbClr val="282828"/>
                </a:solidFill>
                <a:latin typeface="Arial"/>
              </a:rPr>
              <a:t>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a:t>
            </a:r>
            <a:r>
              <a:rPr sz="1500" b="1">
                <a:solidFill>
                  <a:srgbClr val="282828"/>
                </a:solidFill>
                <a:latin typeface="Arial"/>
              </a:rPr>
              <a:t>Direct actuator metrology (capacitive, optical):</a:t>
            </a:r>
            <a:r>
              <a:rPr sz="1500" b="0">
                <a:solidFill>
                  <a:srgbClr val="282828"/>
                </a:solidFill>
                <a:latin typeface="Arial"/>
              </a:rPr>
              <a:t> a coarse reference the optical gauge is calibrated against.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camera sets the measurement time, not the laser:</a:t>
            </a:r>
            <a:r>
              <a:rPr sz="1500" b="0">
                <a:solidFill>
                  <a:srgbClr val="282828"/>
                </a:solidFill>
                <a:latin typeface="Arial"/>
              </a:rPr>
              <a:t>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a:t>
            </a:r>
            <a:r>
              <a:rPr sz="1500" b="1">
                <a:solidFill>
                  <a:srgbClr val="282828"/>
                </a:solidFill>
                <a:latin typeface="Arial"/>
              </a:rPr>
              <a:t>Optical surface errors:</a:t>
            </a:r>
            <a:r>
              <a:rPr sz="1500" b="0">
                <a:solidFill>
                  <a:srgbClr val="282828"/>
                </a:solidFill>
                <a:latin typeface="Arial"/>
              </a:rPr>
              <a:t>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t>
            </a:r>
            <a:r>
              <a:rPr sz="1500" b="1">
                <a:solidFill>
                  <a:srgbClr val="282828"/>
                </a:solidFill>
                <a:latin typeface="Arial"/>
              </a:rPr>
              <a:t>Alignment and stability:</a:t>
            </a:r>
            <a:r>
              <a:rPr sz="1500" b="0">
                <a:solidFill>
                  <a:srgbClr val="282828"/>
                </a:solidFill>
                <a:latin typeface="Arial"/>
              </a:rPr>
              <a:t>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a:t>
            </a:r>
            <a:r>
              <a:rPr sz="1500" b="1">
                <a:solidFill>
                  <a:srgbClr val="282828"/>
                </a:solidFill>
                <a:latin typeface="Arial"/>
              </a:rPr>
              <a:t>More drift in the loop:</a:t>
            </a:r>
            <a:r>
              <a:rPr sz="1500" b="0">
                <a:solidFill>
                  <a:srgbClr val="282828"/>
                </a:solidFill>
                <a:latin typeface="Arial"/>
              </a:rPr>
              <a:t>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a:t>
            </a:r>
            <a:r>
              <a:rPr sz="1500" b="1">
                <a:solidFill>
                  <a:srgbClr val="282828"/>
                </a:solidFill>
                <a:latin typeface="Arial"/>
              </a:rPr>
              <a:t>The error budget in the JPL form:</a:t>
            </a:r>
            <a:r>
              <a:rPr sz="1500" b="0">
                <a:solidFill>
                  <a:srgbClr val="282828"/>
                </a:solidFill>
                <a:latin typeface="Arial"/>
              </a:rPr>
              <a:t>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Interferometer</a:t>
            </a:r>
            <a:r>
              <a:rPr sz="1200" b="0">
                <a:solidFill>
                  <a:srgbClr val="282828"/>
                </a:solidFill>
                <a:latin typeface="Arial"/>
              </a:rPr>
              <a:t>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a:t>
            </a:r>
            <a:r>
              <a:rPr sz="1200" b="1">
                <a:solidFill>
                  <a:srgbClr val="282828"/>
                </a:solidFill>
                <a:latin typeface="Arial"/>
              </a:rPr>
              <a:t>Pupil image</a:t>
            </a:r>
            <a:r>
              <a:rPr sz="1200" b="0">
                <a:solidFill>
                  <a:srgbClr val="282828"/>
                </a:solidFill>
                <a:latin typeface="Arial"/>
              </a:rPr>
              <a:t> (tg_psi_dm96_oap): tg96_pupilq('rig','lens'), tg96_pupilsim('rig','oap'); both tools, both rigs: ./tg96_pupil_batch.sh both (knobs: P.pupil in tg96_params).</a:t>
            </a:r>
          </a:p>
          <a:p>
            <a:pPr>
              <a:spcAft>
                <a:spcPts val="600"/>
              </a:spcAft>
            </a:pPr>
            <a:r>
              <a:rPr sz="1200" b="0">
                <a:solidFill>
                  <a:srgbClr val="282828"/>
                </a:solidFill>
                <a:latin typeface="Arial"/>
              </a:rPr>
              <a:t>•  </a:t>
            </a:r>
            <a:r>
              <a:rPr sz="1200" b="1">
                <a:solidFill>
                  <a:srgbClr val="282828"/>
                </a:solidFill>
                <a:latin typeface="Arial"/>
              </a:rPr>
              <a:t>Zernike sensors</a:t>
            </a:r>
            <a:r>
              <a:rPr sz="1200" b="0">
                <a:solidFill>
                  <a:srgbClr val="282828"/>
                </a:solidFill>
                <a:latin typeface="Arial"/>
              </a:rPr>
              <a:t>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a:t>
            </a:r>
            <a:r>
              <a:rPr sz="1200" b="1">
                <a:solidFill>
                  <a:srgbClr val="282828"/>
                </a:solidFill>
                <a:latin typeface="Arial"/>
              </a:rPr>
              <a:t>Point-diffraction</a:t>
            </a:r>
            <a:r>
              <a:rPr sz="1200" b="0">
                <a:solidFill>
                  <a:srgbClr val="282828"/>
                </a:solidFill>
                <a:latin typeface="Arial"/>
              </a:rPr>
              <a:t>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other gauges on the mirror rig:</a:t>
            </a:r>
            <a:r>
              <a:rPr sz="1200" b="0">
                <a:solidFill>
                  <a:srgbClr val="282828"/>
                </a:solidFill>
                <a:latin typeface="Arial"/>
              </a:rPr>
              <a:t> zwfs_run('bench.optics','oap','bench.coat_oap','bareAl','readings',{'L','S','V','P','PF'},'stages',{'bench','battery','noise','loop'},'mask.v_arm','engine').</a:t>
            </a:r>
          </a:p>
          <a:p>
            <a:pPr>
              <a:spcAft>
                <a:spcPts val="600"/>
              </a:spcAft>
            </a:pPr>
            <a:r>
              <a:rPr sz="1200" b="0">
                <a:solidFill>
                  <a:srgbClr val="282828"/>
                </a:solidFill>
                <a:latin typeface="Arial"/>
              </a:rPr>
              <a:t>•  </a:t>
            </a:r>
            <a:r>
              <a:rPr sz="1200" b="1">
                <a:solidFill>
                  <a:srgbClr val="282828"/>
                </a:solidFill>
                <a:latin typeface="Arial"/>
              </a:rPr>
              <a:t>Where:</a:t>
            </a:r>
            <a:r>
              <a:rPr sz="1200" b="0">
                <a:solidFill>
                  <a:srgbClr val="282828"/>
                </a:solidFill>
                <a:latin typeface="Arial"/>
              </a:rPr>
              <a:t>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a:t>
            </a:r>
            <a:r>
              <a:rPr sz="1200" b="1">
                <a:solidFill>
                  <a:srgbClr val="282828"/>
                </a:solidFill>
                <a:latin typeface="Arial"/>
              </a:rPr>
              <a:t>Gates:</a:t>
            </a:r>
            <a:r>
              <a:rPr sz="1200" b="0">
                <a:solidFill>
                  <a:srgbClr val="282828"/>
                </a:solidFill>
                <a:latin typeface="Arial"/>
              </a:rPr>
              <a:t>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 All code and documentation is available from the public nasa-jpl github macos and MACOS_resources repos.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Improving the pupil image: the options, assessed</a:t>
            </a:r>
          </a:p>
          <a:p>
            <a:pPr>
              <a:spcAft>
                <a:spcPts val="0"/>
              </a:spcAft>
            </a:pPr>
            <a:r>
              <a:rPr sz="1250" b="0">
                <a:solidFill>
                  <a:srgbClr val="6E6E6E"/>
                </a:solidFill>
                <a:latin typeface="Arial"/>
              </a:rPr>
              <a:t>The tail geometry is the whole story: the seed field-lens station images the DM flat; the detector move is second-order once the tail is right; no flattener can fix the tuned bowl; true collimation is worth doing for itself</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903220"/>
        </p:xfrm>
        <a:graphic>
          <a:graphicData uri="http://schemas.openxmlformats.org/drawingml/2006/table">
            <a:tbl>
              <a:tblPr firstRow="1" bandRow="1">
                <a:tableStyleId>{5C22544A-7EE6-4342-B048-85BDC9FD1C3A}</a:tableStyleId>
              </a:tblPr>
              <a:tblGrid>
                <a:gridCol w="2271675"/>
                <a:gridCol w="2079160"/>
                <a:gridCol w="945388"/>
                <a:gridCol w="2325624"/>
                <a:gridCol w="1347603"/>
                <a:gridCol w="1526540"/>
                <a:gridCol w="872744"/>
              </a:tblGrid>
              <a:tr h="468630">
                <a:tc>
                  <a:txBody>
                    <a:bodyPr wrap="square"/>
                    <a:lstStyle/>
                    <a:p>
                      <a:r>
                        <a:rPr sz="1100" b="1">
                          <a:solidFill>
                            <a:srgbClr val="FFFFFF"/>
                          </a:solidFill>
                          <a:latin typeface="Arial"/>
                        </a:rPr>
                        <a:t>lens rig variant</a:t>
                      </a:r>
                    </a:p>
                  </a:txBody>
                  <a:tcPr marL="54864" marR="54864" marT="18288" marB="18288">
                    <a:solidFill>
                      <a:srgbClr val="1F4E79"/>
                    </a:solidFill>
                  </a:tcPr>
                </a:tc>
                <a:tc>
                  <a:txBody>
                    <a:bodyPr wrap="square"/>
                    <a:lstStyle/>
                    <a:p>
                      <a:r>
                        <a:rPr sz="1100" b="1">
                          <a:solidFill>
                            <a:srgbClr val="FFFFFF"/>
                          </a:solidFill>
                          <a:latin typeface="Arial"/>
                        </a:rPr>
                        <a:t>zone image vs the detector, mm (on axis / mean / edge)</a:t>
                      </a:r>
                    </a:p>
                  </a:txBody>
                  <a:tcPr marL="54864" marR="54864" marT="18288" marB="18288">
                    <a:solidFill>
                      <a:srgbClr val="1F4E79"/>
                    </a:solidFill>
                  </a:tcPr>
                </a:tc>
                <a:tc>
                  <a:txBody>
                    <a:bodyPr wrap="square"/>
                    <a:lstStyle/>
                    <a:p>
                      <a:r>
                        <a:rPr sz="1100" b="1">
                          <a:solidFill>
                            <a:srgbClr val="FFFFFF"/>
                          </a:solidFill>
                          <a:latin typeface="Arial"/>
                        </a:rPr>
                        <a:t>astigmatism</a:t>
                      </a:r>
                    </a:p>
                  </a:txBody>
                  <a:tcPr marL="54864" marR="54864" marT="18288" marB="18288">
                    <a:solidFill>
                      <a:srgbClr val="1F4E79"/>
                    </a:solidFill>
                  </a:tcPr>
                </a:tc>
                <a:tc>
                  <a:txBody>
                    <a:bodyPr wrap="square"/>
                    <a:lstStyle/>
                    <a:p>
                      <a:r>
                        <a:rPr sz="1100" b="1">
                          <a:solidFill>
                            <a:srgbClr val="FFFFFF"/>
                          </a:solidFill>
                          <a:latin typeface="Arial"/>
                        </a:rPr>
                        <a:t>Nyquist gain, as built / worst</a:t>
                      </a:r>
                    </a:p>
                  </a:txBody>
                  <a:tcPr marL="54864" marR="54864" marT="18288" marB="18288">
                    <a:solidFill>
                      <a:srgbClr val="1F4E79"/>
                    </a:solidFill>
                  </a:tcPr>
                </a:tc>
                <a:tc>
                  <a:txBody>
                    <a:bodyPr wrap="square"/>
                    <a:lstStyle/>
                    <a:p>
                      <a:r>
                        <a:rPr sz="1100" b="1">
                          <a:solidFill>
                            <a:srgbClr val="FFFFFF"/>
                          </a:solidFill>
                          <a:latin typeface="Arial"/>
                        </a:rPr>
                        <a:t>with the detector at the image mean</a:t>
                      </a:r>
                    </a:p>
                  </a:txBody>
                  <a:tcPr marL="54864" marR="54864" marT="18288" marB="18288">
                    <a:solidFill>
                      <a:srgbClr val="1F4E79"/>
                    </a:solidFill>
                  </a:tcPr>
                </a:tc>
                <a:tc>
                  <a:txBody>
                    <a:bodyPr wrap="square"/>
                    <a:lstStyle/>
                    <a:p>
                      <a:r>
                        <a:rPr sz="1100" b="1">
                          <a:solidFill>
                            <a:srgbClr val="FFFFFF"/>
                          </a:solidFill>
                          <a:latin typeface="Arial"/>
                        </a:rPr>
                        <a:t>30 nm surface error</a:t>
                      </a:r>
                    </a:p>
                  </a:txBody>
                  <a:tcPr marL="54864" marR="54864" marT="18288" marB="18288">
                    <a:solidFill>
                      <a:srgbClr val="1F4E79"/>
                    </a:solidFill>
                  </a:tcPr>
                </a:tc>
                <a:tc>
                  <a:txBody>
                    <a:bodyPr wrap="square"/>
                    <a:lstStyle/>
                    <a:p>
                      <a:r>
                        <a:rPr sz="1100" b="1">
                          <a:solidFill>
                            <a:srgbClr val="FFFFFF"/>
                          </a:solidFill>
                          <a:latin typeface="Arial"/>
                        </a:rPr>
                        <a:t>distortion</a:t>
                      </a:r>
                    </a:p>
                  </a:txBody>
                  <a:tcPr marL="54864" marR="54864" marT="18288" marB="18288">
                    <a:solidFill>
                      <a:srgbClr val="1F4E79"/>
                    </a:solidFill>
                  </a:tcPr>
                </a:tc>
              </a:tr>
              <a:tr h="468630">
                <a:tc>
                  <a:txBody>
                    <a:bodyPr wrap="square"/>
                    <a:lstStyle/>
                    <a:p>
                      <a:r>
                        <a:rPr sz="1100" b="0">
                          <a:solidFill>
                            <a:srgbClr val="282828"/>
                          </a:solidFill>
                          <a:latin typeface="Arial"/>
                        </a:rPr>
                        <a:t>tuned tail (field lens 39.8 mm past the focus, conic −2.59)</a:t>
                      </a:r>
                    </a:p>
                  </a:txBody>
                  <a:tcPr marL="54864" marR="54864" marT="18288" marB="18288">
                    <a:solidFill>
                      <a:srgbClr val="FFFFFF"/>
                    </a:solidFill>
                  </a:tcPr>
                </a:tc>
                <a:tc>
                  <a:txBody>
                    <a:bodyPr wrap="square"/>
                    <a:lstStyle/>
                    <a:p>
                      <a:r>
                        <a:rPr sz="1100" b="0">
                          <a:solidFill>
                            <a:srgbClr val="282828"/>
                          </a:solidFill>
                          <a:latin typeface="Arial"/>
                        </a:rPr>
                        <a:t>+2.6 / +4.3 / +6.0</a:t>
                      </a:r>
                    </a:p>
                  </a:txBody>
                  <a:tcPr marL="54864" marR="54864" marT="18288" marB="18288">
                    <a:solidFill>
                      <a:srgbClr val="FFFFFF"/>
                    </a:solidFill>
                  </a:tcPr>
                </a:tc>
                <a:tc>
                  <a:txBody>
                    <a:bodyPr wrap="square"/>
                    <a:lstStyle/>
                    <a:p>
                      <a:r>
                        <a:rPr sz="1100" b="0">
                          <a:solidFill>
                            <a:srgbClr val="282828"/>
                          </a:solidFill>
                          <a:latin typeface="Arial"/>
                        </a:rPr>
                        <a:t>1.05 mm</a:t>
                      </a:r>
                    </a:p>
                  </a:txBody>
                  <a:tcPr marL="54864" marR="54864" marT="18288" marB="18288">
                    <a:solidFill>
                      <a:srgbClr val="FFFFFF"/>
                    </a:solidFill>
                  </a:tcPr>
                </a:tc>
                <a:tc>
                  <a:txBody>
                    <a:bodyPr wrap="square"/>
                    <a:lstStyle/>
                    <a:p>
                      <a:r>
                        <a:rPr sz="1100" b="0">
                          <a:solidFill>
                            <a:srgbClr val="282828"/>
                          </a:solidFill>
                          <a:latin typeface="Arial"/>
                        </a:rPr>
                        <a:t>0.979 / 0.954</a:t>
                      </a:r>
                    </a:p>
                  </a:txBody>
                  <a:tcPr marL="54864" marR="54864" marT="18288" marB="18288">
                    <a:solidFill>
                      <a:srgbClr val="FFFFFF"/>
                    </a:solidFill>
                  </a:tcPr>
                </a:tc>
                <a:tc>
                  <a:txBody>
                    <a:bodyPr wrap="square"/>
                    <a:lstStyle/>
                    <a:p>
                      <a:r>
                        <a:rPr sz="1100" b="0">
                          <a:solidFill>
                            <a:srgbClr val="282828"/>
                          </a:solidFill>
                          <a:latin typeface="Arial"/>
                        </a:rPr>
                        <a:t>+4.3 mm: 0.993 worst</a:t>
                      </a:r>
                    </a:p>
                  </a:txBody>
                  <a:tcPr marL="54864" marR="54864" marT="18288" marB="18288">
                    <a:solidFill>
                      <a:srgbClr val="FFFFFF"/>
                    </a:solidFill>
                  </a:tcPr>
                </a:tc>
                <a:tc>
                  <a:txBody>
                    <a:bodyPr wrap="square"/>
                    <a:lstStyle/>
                    <a:p>
                      <a:r>
                        <a:rPr sz="1100" b="0">
                          <a:solidFill>
                            <a:srgbClr val="282828"/>
                          </a:solidFill>
                          <a:latin typeface="Arial"/>
                        </a:rPr>
                        <a:t>1.2 → 0.4 nm</a:t>
                      </a:r>
                    </a:p>
                  </a:txBody>
                  <a:tcPr marL="54864" marR="54864" marT="18288" marB="18288">
                    <a:solidFill>
                      <a:srgbClr val="FFFFFF"/>
                    </a:solidFill>
                  </a:tcPr>
                </a:tc>
                <a:tc>
                  <a:txBody>
                    <a:bodyPr wrap="square"/>
                    <a:lstStyle/>
                    <a:p>
                      <a:r>
                        <a:rPr sz="1100" b="0">
                          <a:solidFill>
                            <a:srgbClr val="282828"/>
                          </a:solidFill>
                          <a:latin typeface="Arial"/>
                        </a:rPr>
                        <a:t>0.27 mm</a:t>
                      </a:r>
                    </a:p>
                  </a:txBody>
                  <a:tcPr marL="54864" marR="54864" marT="18288" marB="18288">
                    <a:solidFill>
                      <a:srgbClr val="FFFFFF"/>
                    </a:solidFill>
                  </a:tcPr>
                </a:tc>
              </a:tr>
              <a:tr h="468630">
                <a:tc>
                  <a:txBody>
                    <a:bodyPr wrap="square"/>
                    <a:lstStyle/>
                    <a:p>
                      <a:r>
                        <a:rPr sz="1100" b="0">
                          <a:solidFill>
                            <a:srgbClr val="282828"/>
                          </a:solidFill>
                          <a:latin typeface="Arial"/>
                        </a:rPr>
                        <a:t>seed tail (field lens 10.8 mm past the focus, conic −2.11)</a:t>
                      </a:r>
                    </a:p>
                  </a:txBody>
                  <a:tcPr marL="54864" marR="54864" marT="18288" marB="18288">
                    <a:solidFill>
                      <a:srgbClr val="ECF1F6"/>
                    </a:solidFill>
                  </a:tcPr>
                </a:tc>
                <a:tc>
                  <a:txBody>
                    <a:bodyPr wrap="square"/>
                    <a:lstStyle/>
                    <a:p>
                      <a:r>
                        <a:rPr sz="1100" b="0">
                          <a:solidFill>
                            <a:srgbClr val="282828"/>
                          </a:solidFill>
                          <a:latin typeface="Arial"/>
                        </a:rPr>
                        <a:t>−0.5 / −0.7 / −1.0</a:t>
                      </a:r>
                    </a:p>
                  </a:txBody>
                  <a:tcPr marL="54864" marR="54864" marT="18288" marB="18288">
                    <a:solidFill>
                      <a:srgbClr val="ECF1F6"/>
                    </a:solidFill>
                  </a:tcPr>
                </a:tc>
                <a:tc>
                  <a:txBody>
                    <a:bodyPr wrap="square"/>
                    <a:lstStyle/>
                    <a:p>
                      <a:r>
                        <a:rPr sz="1100" b="0">
                          <a:solidFill>
                            <a:srgbClr val="282828"/>
                          </a:solidFill>
                          <a:latin typeface="Arial"/>
                        </a:rPr>
                        <a:t>0.08 mm</a:t>
                      </a:r>
                    </a:p>
                  </a:txBody>
                  <a:tcPr marL="54864" marR="54864" marT="18288" marB="18288">
                    <a:solidFill>
                      <a:srgbClr val="ECF1F6"/>
                    </a:solidFill>
                  </a:tcPr>
                </a:tc>
                <a:tc>
                  <a:txBody>
                    <a:bodyPr wrap="square"/>
                    <a:lstStyle/>
                    <a:p>
                      <a:r>
                        <a:rPr sz="1100" b="0">
                          <a:solidFill>
                            <a:srgbClr val="282828"/>
                          </a:solidFill>
                          <a:latin typeface="Arial"/>
                        </a:rPr>
                        <a:t>0.9992 / 0.9986</a:t>
                      </a:r>
                    </a:p>
                  </a:txBody>
                  <a:tcPr marL="54864" marR="54864" marT="18288" marB="18288">
                    <a:solidFill>
                      <a:srgbClr val="ECF1F6"/>
                    </a:solidFill>
                  </a:tcPr>
                </a:tc>
                <a:tc>
                  <a:txBody>
                    <a:bodyPr wrap="square"/>
                    <a:lstStyle/>
                    <a:p>
                      <a:r>
                        <a:rPr sz="1100" b="0">
                          <a:solidFill>
                            <a:srgbClr val="282828"/>
                          </a:solidFill>
                          <a:latin typeface="Arial"/>
                        </a:rPr>
                        <a:t>−0.7 mm: 0.9999</a:t>
                      </a:r>
                    </a:p>
                  </a:txBody>
                  <a:tcPr marL="54864" marR="54864" marT="18288" marB="18288">
                    <a:solidFill>
                      <a:srgbClr val="ECF1F6"/>
                    </a:solidFill>
                  </a:tcPr>
                </a:tc>
                <a:tc>
                  <a:txBody>
                    <a:bodyPr wrap="square"/>
                    <a:lstStyle/>
                    <a:p>
                      <a:r>
                        <a:rPr sz="1100" b="0">
                          <a:solidFill>
                            <a:srgbClr val="282828"/>
                          </a:solidFill>
                          <a:latin typeface="Arial"/>
                        </a:rPr>
                        <a:t>0.24 → 0.06 nm</a:t>
                      </a:r>
                    </a:p>
                  </a:txBody>
                  <a:tcPr marL="54864" marR="54864" marT="18288" marB="18288">
                    <a:solidFill>
                      <a:srgbClr val="ECF1F6"/>
                    </a:solidFill>
                  </a:tcPr>
                </a:tc>
                <a:tc>
                  <a:txBody>
                    <a:bodyPr wrap="square"/>
                    <a:lstStyle/>
                    <a:p>
                      <a:r>
                        <a:rPr sz="1100" b="0">
                          <a:solidFill>
                            <a:srgbClr val="282828"/>
                          </a:solidFill>
                          <a:latin typeface="Arial"/>
                        </a:rPr>
                        <a:t>0.003 mm</a:t>
                      </a:r>
                    </a:p>
                  </a:txBody>
                  <a:tcPr marL="54864" marR="54864" marT="18288" marB="18288">
                    <a:solidFill>
                      <a:srgbClr val="ECF1F6"/>
                    </a:solidFill>
                  </a:tcPr>
                </a:tc>
              </a:tr>
              <a:tr h="468630">
                <a:tc>
                  <a:txBody>
                    <a:bodyPr wrap="square"/>
                    <a:lstStyle/>
                    <a:p>
                      <a:r>
                        <a:rPr sz="1100" b="0">
                          <a:solidFill>
                            <a:srgbClr val="282828"/>
                          </a:solidFill>
                          <a:latin typeface="Arial"/>
                        </a:rPr>
                        <a:t>tuned tail, spherical field lens</a:t>
                      </a:r>
                    </a:p>
                  </a:txBody>
                  <a:tcPr marL="54864" marR="54864" marT="18288" marB="18288">
                    <a:solidFill>
                      <a:srgbClr val="FFFFFF"/>
                    </a:solidFill>
                  </a:tcPr>
                </a:tc>
                <a:tc>
                  <a:txBody>
                    <a:bodyPr wrap="square"/>
                    <a:lstStyle/>
                    <a:p>
                      <a:r>
                        <a:rPr sz="1100" b="0">
                          <a:solidFill>
                            <a:srgbClr val="282828"/>
                          </a:solidFill>
                          <a:latin typeface="Arial"/>
                        </a:rPr>
                        <a:t>+2.6 / +1.5 / +0.3</a:t>
                      </a:r>
                    </a:p>
                  </a:txBody>
                  <a:tcPr marL="54864" marR="54864" marT="18288" marB="18288">
                    <a:solidFill>
                      <a:srgbClr val="FFFFFF"/>
                    </a:solidFill>
                  </a:tcPr>
                </a:tc>
                <a:tc>
                  <a:txBody>
                    <a:bodyPr wrap="square"/>
                    <a:lstStyle/>
                    <a:p>
                      <a:r>
                        <a:rPr sz="1100" b="0">
                          <a:solidFill>
                            <a:srgbClr val="282828"/>
                          </a:solidFill>
                          <a:latin typeface="Arial"/>
                        </a:rPr>
                        <a:t>0.59 mm</a:t>
                      </a:r>
                    </a:p>
                  </a:txBody>
                  <a:tcPr marL="54864" marR="54864" marT="18288" marB="18288">
                    <a:solidFill>
                      <a:srgbClr val="FFFFFF"/>
                    </a:solidFill>
                  </a:tcPr>
                </a:tc>
                <a:tc>
                  <a:txBody>
                    <a:bodyPr wrap="square"/>
                    <a:lstStyle/>
                    <a:p>
                      <a:r>
                        <a:rPr sz="1100" b="0">
                          <a:solidFill>
                            <a:srgbClr val="282828"/>
                          </a:solidFill>
                          <a:latin typeface="Arial"/>
                        </a:rPr>
                        <a:t>0.996 / 0.992</a:t>
                      </a:r>
                    </a:p>
                  </a:txBody>
                  <a:tcPr marL="54864" marR="54864" marT="18288" marB="18288">
                    <a:solidFill>
                      <a:srgbClr val="FFFFFF"/>
                    </a:solidFill>
                  </a:tcPr>
                </a:tc>
                <a:tc>
                  <a:txBody>
                    <a:bodyPr wrap="square"/>
                    <a:lstStyle/>
                    <a:p>
                      <a:r>
                        <a:rPr sz="1100" b="0">
                          <a:solidFill>
                            <a:srgbClr val="282828"/>
                          </a:solidFill>
                          <a:latin typeface="Arial"/>
                        </a:rPr>
                        <a:t>+1.5 mm: 0.994</a:t>
                      </a:r>
                    </a:p>
                  </a:txBody>
                  <a:tcPr marL="54864" marR="54864" marT="18288" marB="18288">
                    <a:solidFill>
                      <a:srgbClr val="FFFFFF"/>
                    </a:solidFill>
                  </a:tcPr>
                </a:tc>
                <a:tc>
                  <a:txBody>
                    <a:bodyPr wrap="square"/>
                    <a:lstStyle/>
                    <a:p>
                      <a:r>
                        <a:rPr sz="1100" b="0">
                          <a:solidFill>
                            <a:srgbClr val="282828"/>
                          </a:solidFill>
                          <a:latin typeface="Arial"/>
                        </a:rPr>
                        <a:t>0.54 → 0.34 nm</a:t>
                      </a:r>
                    </a:p>
                  </a:txBody>
                  <a:tcPr marL="54864" marR="54864" marT="18288" marB="18288">
                    <a:solidFill>
                      <a:srgbClr val="FFFFFF"/>
                    </a:solidFill>
                  </a:tcPr>
                </a:tc>
                <a:tc>
                  <a:txBody>
                    <a:bodyPr wrap="square"/>
                    <a:lstStyle/>
                    <a:p>
                      <a:r>
                        <a:rPr sz="1100" b="0">
                          <a:solidFill>
                            <a:srgbClr val="282828"/>
                          </a:solidFill>
                          <a:latin typeface="Arial"/>
                        </a:rPr>
                        <a:t>0.30 mm</a:t>
                      </a:r>
                    </a:p>
                  </a:txBody>
                  <a:tcPr marL="54864" marR="54864" marT="18288" marB="18288">
                    <a:solidFill>
                      <a:srgbClr val="FFFFFF"/>
                    </a:solidFill>
                  </a:tcPr>
                </a:tc>
              </a:tr>
              <a:tr h="280035">
                <a:tc>
                  <a:txBody>
                    <a:bodyPr wrap="square"/>
                    <a:lstStyle/>
                    <a:p>
                      <a:r>
                        <a:rPr sz="1100" b="0">
                          <a:solidFill>
                            <a:srgbClr val="282828"/>
                          </a:solidFill>
                          <a:latin typeface="Arial"/>
                        </a:rPr>
                        <a:t>true collimation, tuned tail</a:t>
                      </a:r>
                    </a:p>
                  </a:txBody>
                  <a:tcPr marL="54864" marR="54864" marT="18288" marB="18288">
                    <a:solidFill>
                      <a:srgbClr val="ECF1F6"/>
                    </a:solidFill>
                  </a:tcPr>
                </a:tc>
                <a:tc>
                  <a:txBody>
                    <a:bodyPr wrap="square"/>
                    <a:lstStyle/>
                    <a:p>
                      <a:r>
                        <a:rPr sz="1100" b="0">
                          <a:solidFill>
                            <a:srgbClr val="282828"/>
                          </a:solidFill>
                          <a:latin typeface="Arial"/>
                        </a:rPr>
                        <a:t>+2.7 / +3.9 / +5.1</a:t>
                      </a:r>
                    </a:p>
                  </a:txBody>
                  <a:tcPr marL="54864" marR="54864" marT="18288" marB="18288">
                    <a:solidFill>
                      <a:srgbClr val="ECF1F6"/>
                    </a:solidFill>
                  </a:tcPr>
                </a:tc>
                <a:tc>
                  <a:txBody>
                    <a:bodyPr wrap="square"/>
                    <a:lstStyle/>
                    <a:p>
                      <a:r>
                        <a:rPr sz="1100" b="0">
                          <a:solidFill>
                            <a:srgbClr val="282828"/>
                          </a:solidFill>
                          <a:latin typeface="Arial"/>
                        </a:rPr>
                        <a:t>0.80 mm</a:t>
                      </a:r>
                    </a:p>
                  </a:txBody>
                  <a:tcPr marL="54864" marR="54864" marT="18288" marB="18288">
                    <a:solidFill>
                      <a:srgbClr val="ECF1F6"/>
                    </a:solidFill>
                  </a:tcPr>
                </a:tc>
                <a:tc>
                  <a:txBody>
                    <a:bodyPr wrap="square"/>
                    <a:lstStyle/>
                    <a:p>
                      <a:r>
                        <a:rPr sz="1100" b="0">
                          <a:solidFill>
                            <a:srgbClr val="282828"/>
                          </a:solidFill>
                          <a:latin typeface="Arial"/>
                        </a:rPr>
                        <a:t>0.982 / 0.965</a:t>
                      </a:r>
                    </a:p>
                  </a:txBody>
                  <a:tcPr marL="54864" marR="54864" marT="18288" marB="18288">
                    <a:solidFill>
                      <a:srgbClr val="ECF1F6"/>
                    </a:solidFill>
                  </a:tcPr>
                </a:tc>
                <a:tc>
                  <a:txBody>
                    <a:bodyPr wrap="square"/>
                    <a:lstStyle/>
                    <a:p>
                      <a:r>
                        <a:rPr sz="1100" b="0">
                          <a:solidFill>
                            <a:srgbClr val="282828"/>
                          </a:solidFill>
                          <a:latin typeface="Arial"/>
                        </a:rPr>
                        <a:t>+3.9 mm: 0.996</a:t>
                      </a:r>
                    </a:p>
                  </a:txBody>
                  <a:tcPr marL="54864" marR="54864" marT="18288" marB="18288">
                    <a:solidFill>
                      <a:srgbClr val="ECF1F6"/>
                    </a:solidFill>
                  </a:tcPr>
                </a:tc>
                <a:tc>
                  <a:txBody>
                    <a:bodyPr wrap="square"/>
                    <a:lstStyle/>
                    <a:p>
                      <a:r>
                        <a:rPr sz="1100" b="0">
                          <a:solidFill>
                            <a:srgbClr val="282828"/>
                          </a:solidFill>
                          <a:latin typeface="Arial"/>
                        </a:rPr>
                        <a:t>1.1 → 0.3 nm</a:t>
                      </a:r>
                    </a:p>
                  </a:txBody>
                  <a:tcPr marL="54864" marR="54864" marT="18288" marB="18288">
                    <a:solidFill>
                      <a:srgbClr val="ECF1F6"/>
                    </a:solidFill>
                  </a:tcPr>
                </a:tc>
                <a:tc>
                  <a:txBody>
                    <a:bodyPr wrap="square"/>
                    <a:lstStyle/>
                    <a:p>
                      <a:r>
                        <a:rPr sz="1100" b="0">
                          <a:solidFill>
                            <a:srgbClr val="282828"/>
                          </a:solidFill>
                          <a:latin typeface="Arial"/>
                        </a:rPr>
                        <a:t>0.13 mm</a:t>
                      </a:r>
                    </a:p>
                  </a:txBody>
                  <a:tcPr marL="54864" marR="54864" marT="18288" marB="18288">
                    <a:solidFill>
                      <a:srgbClr val="ECF1F6"/>
                    </a:solidFill>
                  </a:tcPr>
                </a:tc>
              </a:tr>
              <a:tr h="280035">
                <a:tc>
                  <a:txBody>
                    <a:bodyPr wrap="square"/>
                    <a:lstStyle/>
                    <a:p>
                      <a:r>
                        <a:rPr sz="1100" b="0">
                          <a:solidFill>
                            <a:srgbClr val="282828"/>
                          </a:solidFill>
                          <a:latin typeface="Arial"/>
                        </a:rPr>
                        <a:t>true collimation, seed tail</a:t>
                      </a:r>
                    </a:p>
                  </a:txBody>
                  <a:tcPr marL="54864" marR="54864" marT="18288" marB="18288">
                    <a:solidFill>
                      <a:srgbClr val="FFFFFF"/>
                    </a:solidFill>
                  </a:tcPr>
                </a:tc>
                <a:tc>
                  <a:txBody>
                    <a:bodyPr wrap="square"/>
                    <a:lstStyle/>
                    <a:p>
                      <a:r>
                        <a:rPr sz="1100" b="0">
                          <a:solidFill>
                            <a:srgbClr val="282828"/>
                          </a:solidFill>
                          <a:latin typeface="Arial"/>
                        </a:rPr>
                        <a:t>−0.5 / −0.8 / −1.1</a:t>
                      </a:r>
                    </a:p>
                  </a:txBody>
                  <a:tcPr marL="54864" marR="54864" marT="18288" marB="18288">
                    <a:solidFill>
                      <a:srgbClr val="FFFFFF"/>
                    </a:solidFill>
                  </a:tcPr>
                </a:tc>
                <a:tc>
                  <a:txBody>
                    <a:bodyPr wrap="square"/>
                    <a:lstStyle/>
                    <a:p>
                      <a:r>
                        <a:rPr sz="1100" b="0">
                          <a:solidFill>
                            <a:srgbClr val="282828"/>
                          </a:solidFill>
                          <a:latin typeface="Arial"/>
                        </a:rPr>
                        <a:t>0.11 mm</a:t>
                      </a:r>
                    </a:p>
                  </a:txBody>
                  <a:tcPr marL="54864" marR="54864" marT="18288" marB="18288">
                    <a:solidFill>
                      <a:srgbClr val="FFFFFF"/>
                    </a:solidFill>
                  </a:tcPr>
                </a:tc>
                <a:tc>
                  <a:txBody>
                    <a:bodyPr wrap="square"/>
                    <a:lstStyle/>
                    <a:p>
                      <a:r>
                        <a:rPr sz="1100" b="0">
                          <a:solidFill>
                            <a:srgbClr val="282828"/>
                          </a:solidFill>
                          <a:latin typeface="Arial"/>
                        </a:rPr>
                        <a:t>0.9991 / 0.9980</a:t>
                      </a:r>
                    </a:p>
                  </a:txBody>
                  <a:tcPr marL="54864" marR="54864" marT="18288" marB="18288">
                    <a:solidFill>
                      <a:srgbClr val="FFFFFF"/>
                    </a:solidFill>
                  </a:tcPr>
                </a:tc>
                <a:tc>
                  <a:txBody>
                    <a:bodyPr wrap="square"/>
                    <a:lstStyle/>
                    <a:p>
                      <a:r>
                        <a:rPr sz="1100" b="0">
                          <a:solidFill>
                            <a:srgbClr val="282828"/>
                          </a:solidFill>
                          <a:latin typeface="Arial"/>
                        </a:rPr>
                        <a:t>−0.8 mm: 0.9999</a:t>
                      </a:r>
                    </a:p>
                  </a:txBody>
                  <a:tcPr marL="54864" marR="54864" marT="18288" marB="18288">
                    <a:solidFill>
                      <a:srgbClr val="FFFFFF"/>
                    </a:solidFill>
                  </a:tcPr>
                </a:tc>
                <a:tc>
                  <a:txBody>
                    <a:bodyPr wrap="square"/>
                    <a:lstStyle/>
                    <a:p>
                      <a:r>
                        <a:rPr sz="1100" b="0">
                          <a:solidFill>
                            <a:srgbClr val="282828"/>
                          </a:solidFill>
                          <a:latin typeface="Arial"/>
                        </a:rPr>
                        <a:t>0.26 → 0.08 nm</a:t>
                      </a:r>
                    </a:p>
                  </a:txBody>
                  <a:tcPr marL="54864" marR="54864" marT="18288" marB="18288">
                    <a:solidFill>
                      <a:srgbClr val="FFFFFF"/>
                    </a:solidFill>
                  </a:tcPr>
                </a:tc>
                <a:tc>
                  <a:txBody>
                    <a:bodyPr wrap="square"/>
                    <a:lstStyle/>
                    <a:p>
                      <a:r>
                        <a:rPr sz="1100" b="0">
                          <a:solidFill>
                            <a:srgbClr val="282828"/>
                          </a:solidFill>
                          <a:latin typeface="Arial"/>
                        </a:rPr>
                        <a:t>0.035 mm</a:t>
                      </a:r>
                    </a:p>
                  </a:txBody>
                  <a:tcPr marL="54864" marR="54864" marT="18288" marB="18288">
                    <a:solidFill>
                      <a:srgbClr val="FFFFFF"/>
                    </a:solidFill>
                  </a:tcPr>
                </a:tc>
              </a:tr>
              <a:tr h="468630">
                <a:tc>
                  <a:txBody>
                    <a:bodyPr wrap="square"/>
                    <a:lstStyle/>
                    <a:p>
                      <a:r>
                        <a:rPr sz="1100" b="0">
                          <a:solidFill>
                            <a:srgbClr val="282828"/>
                          </a:solidFill>
                          <a:latin typeface="Arial"/>
                        </a:rPr>
                        <a:t>mirror rig, as built (seed tail)</a:t>
                      </a:r>
                    </a:p>
                  </a:txBody>
                  <a:tcPr marL="54864" marR="54864" marT="18288" marB="18288">
                    <a:solidFill>
                      <a:srgbClr val="ECF1F6"/>
                    </a:solidFill>
                  </a:tcPr>
                </a:tc>
                <a:tc>
                  <a:txBody>
                    <a:bodyPr wrap="square"/>
                    <a:lstStyle/>
                    <a:p>
                      <a:r>
                        <a:rPr sz="1100" b="0">
                          <a:solidFill>
                            <a:srgbClr val="282828"/>
                          </a:solidFill>
                          <a:latin typeface="Arial"/>
                        </a:rPr>
                        <a:t>−0.4 / −0.6 / −1.3</a:t>
                      </a:r>
                    </a:p>
                  </a:txBody>
                  <a:tcPr marL="54864" marR="54864" marT="18288" marB="18288">
                    <a:solidFill>
                      <a:srgbClr val="ECF1F6"/>
                    </a:solidFill>
                  </a:tcPr>
                </a:tc>
                <a:tc>
                  <a:txBody>
                    <a:bodyPr wrap="square"/>
                    <a:lstStyle/>
                    <a:p>
                      <a:r>
                        <a:rPr sz="1100" b="0">
                          <a:solidFill>
                            <a:srgbClr val="282828"/>
                          </a:solidFill>
                          <a:latin typeface="Arial"/>
                        </a:rPr>
                        <a:t>0.09 mm</a:t>
                      </a:r>
                    </a:p>
                  </a:txBody>
                  <a:tcPr marL="54864" marR="54864" marT="18288" marB="18288">
                    <a:solidFill>
                      <a:srgbClr val="ECF1F6"/>
                    </a:solidFill>
                  </a:tcPr>
                </a:tc>
                <a:tc>
                  <a:txBody>
                    <a:bodyPr wrap="square"/>
                    <a:lstStyle/>
                    <a:p>
                      <a:r>
                        <a:rPr sz="1100" b="0">
                          <a:solidFill>
                            <a:srgbClr val="282828"/>
                          </a:solidFill>
                          <a:latin typeface="Arial"/>
                        </a:rPr>
                        <a:t>0.9993 / 0.9974</a:t>
                      </a:r>
                    </a:p>
                  </a:txBody>
                  <a:tcPr marL="54864" marR="54864" marT="18288" marB="18288">
                    <a:solidFill>
                      <a:srgbClr val="ECF1F6"/>
                    </a:solidFill>
                  </a:tcPr>
                </a:tc>
                <a:tc>
                  <a:txBody>
                    <a:bodyPr wrap="square"/>
                    <a:lstStyle/>
                    <a:p>
                      <a:r>
                        <a:rPr sz="1100" b="0">
                          <a:solidFill>
                            <a:srgbClr val="282828"/>
                          </a:solidFill>
                          <a:latin typeface="Arial"/>
                        </a:rPr>
                        <a:t>−0.6 mm: 0.9994</a:t>
                      </a:r>
                    </a:p>
                  </a:txBody>
                  <a:tcPr marL="54864" marR="54864" marT="18288" marB="18288">
                    <a:solidFill>
                      <a:srgbClr val="ECF1F6"/>
                    </a:solidFill>
                  </a:tcPr>
                </a:tc>
                <a:tc>
                  <a:txBody>
                    <a:bodyPr wrap="square"/>
                    <a:lstStyle/>
                    <a:p>
                      <a:r>
                        <a:rPr sz="1100" b="0">
                          <a:solidFill>
                            <a:srgbClr val="282828"/>
                          </a:solidFill>
                          <a:latin typeface="Arial"/>
                        </a:rPr>
                        <a:t>0.23 → 0.09 nm</a:t>
                      </a:r>
                    </a:p>
                  </a:txBody>
                  <a:tcPr marL="54864" marR="54864" marT="18288" marB="18288">
                    <a:solidFill>
                      <a:srgbClr val="ECF1F6"/>
                    </a:solidFill>
                  </a:tcPr>
                </a:tc>
                <a:tc>
                  <a:txBody>
                    <a:bodyPr wrap="square"/>
                    <a:lstStyle/>
                    <a:p>
                      <a:r>
                        <a:rPr sz="1100" b="0">
                          <a:solidFill>
                            <a:srgbClr val="282828"/>
                          </a:solidFill>
                          <a:latin typeface="Arial"/>
                        </a:rPr>
                        <a:t>0.72 mm</a:t>
                      </a:r>
                    </a:p>
                  </a:txBody>
                  <a:tcPr marL="54864" marR="54864" marT="18288" marB="18288">
                    <a:solidFill>
                      <a:srgbClr val="ECF1F6"/>
                    </a:solidFill>
                  </a:tcPr>
                </a:tc>
              </a:tr>
            </a:tbl>
          </a:graphicData>
        </a:graphic>
      </p:graphicFrame>
      <p:sp>
        <p:nvSpPr>
          <p:cNvPr id="5" name="TextBox 4"/>
          <p:cNvSpPr txBox="1"/>
          <p:nvPr/>
        </p:nvSpPr>
        <p:spPr>
          <a:xfrm>
            <a:off x="411480" y="4347972"/>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The null tuner bought its 0.13 nm flat-mirror null with the pupil image:</a:t>
            </a:r>
            <a:r>
              <a:rPr sz="1500" b="0">
                <a:solidFill>
                  <a:srgbClr val="282828"/>
                </a:solidFill>
                <a:latin typeface="Arial"/>
              </a:rPr>
              <a:t> it moved the field lens to its own focal length behind the focus, where the pupil rides 4.6 mm high on a 12 mm asphere.  At the seed station the pupil rides 1.2 mm high and the DM images flat.  The null it gives up (9 nm) is a fixed pattern the reference frame removes.</a:t>
            </a:r>
          </a:p>
          <a:p>
            <a:pPr>
              <a:spcAft>
                <a:spcPts val="600"/>
              </a:spcAft>
            </a:pPr>
            <a:r>
              <a:rPr sz="1500" b="0">
                <a:solidFill>
                  <a:srgbClr val="282828"/>
                </a:solidFill>
                <a:latin typeface="Arial"/>
              </a:rPr>
              <a:t>•  </a:t>
            </a:r>
            <a:r>
              <a:rPr sz="1500" b="1">
                <a:solidFill>
                  <a:srgbClr val="282828"/>
                </a:solidFill>
                <a:latin typeface="Arial"/>
              </a:rPr>
              <a:t>A flattener behind the tuned tail is not an optic:</a:t>
            </a:r>
            <a:r>
              <a:rPr sz="1500" b="0">
                <a:solidFill>
                  <a:srgbClr val="282828"/>
                </a:solidFill>
                <a:latin typeface="Arial"/>
              </a:rPr>
              <a:t> its bowl is a 5 mm-radius surface in image space.  </a:t>
            </a:r>
            <a:r>
              <a:rPr sz="1500" b="1">
                <a:solidFill>
                  <a:srgbClr val="282828"/>
                </a:solidFill>
                <a:latin typeface="Arial"/>
              </a:rPr>
              <a:t>True collimation</a:t>
            </a:r>
            <a:r>
              <a:rPr sz="1500" b="0">
                <a:solidFill>
                  <a:srgbClr val="282828"/>
                </a:solidFill>
                <a:latin typeface="Arial"/>
              </a:rPr>
              <a:t> (a source 14 mm inside the hyperbolic collimator's focus, the case assessed here, is what the bench corrects) halves the distortion and is needed for any re-tune and for the physical-optics chain.</a:t>
            </a:r>
          </a:p>
        </p:txBody>
      </p:sp>
      <p:sp>
        <p:nvSpPr>
          <p:cNvPr id="6" name="TextBox 5"/>
          <p:cNvSpPr txBox="1"/>
          <p:nvPr/>
        </p:nvSpPr>
        <p:spPr>
          <a:xfrm>
            <a:off x="411480" y="6150864"/>
            <a:ext cx="11368735" cy="274320"/>
          </a:xfrm>
          <a:prstGeom prst="rect">
            <a:avLst/>
          </a:prstGeom>
          <a:noFill/>
        </p:spPr>
        <p:txBody>
          <a:bodyPr wrap="square">
            <a:spAutoFit/>
          </a:bodyPr>
          <a:lstStyle/>
          <a:p>
            <a:pPr>
              <a:spcAft>
                <a:spcPts val="600"/>
              </a:spcAft>
            </a:pPr>
            <a:r>
              <a:rPr sz="1050" b="0">
                <a:solidFill>
                  <a:srgbClr val="6E6E6E"/>
                </a:solidFill>
                <a:latin typeface="Arial"/>
              </a:rPr>
              <a:t>Recommendation: lens rig, field lens held at the seed station, conic and trim re-tuned with the image surface in the objective, detector at the image mean; mirror rig, the 0.6 mm move; collimator fixed first; rows re-run on the corrected tail and the 96 mm beam together.  Run tag pupil_options (tg96_pupil_options); REPORT_bench_realism 7.1.</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Linear, one frame:</a:t>
            </a:r>
            <a:r>
              <a:rPr sz="1200" b="0">
                <a:solidFill>
                  <a:srgbClr val="282828"/>
                </a:solidFill>
                <a:latin typeface="Arial"/>
              </a:rPr>
              <a:t>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a:t>
            </a:r>
            <a:r>
              <a:rPr sz="1200" b="1">
                <a:solidFill>
                  <a:srgbClr val="282828"/>
                </a:solidFill>
                <a:latin typeface="Arial"/>
              </a:rPr>
              <a:t>Exact, one frame with a sign prior:</a:t>
            </a:r>
            <a:r>
              <a:rPr sz="1200" b="0">
                <a:solidFill>
                  <a:srgbClr val="282828"/>
                </a:solidFill>
                <a:latin typeface="Arial"/>
              </a:rPr>
              <a:t> a 1 nm step grows to 99 nm in 60 cycles, 10 nm to 178 nm; the actuators whose footprint lies past the fold read with the wrong sign.</a:t>
            </a:r>
          </a:p>
          <a:p>
            <a:pPr>
              <a:spcAft>
                <a:spcPts val="600"/>
              </a:spcAft>
            </a:pPr>
            <a:r>
              <a:rPr sz="1200" b="0">
                <a:solidFill>
                  <a:srgbClr val="282828"/>
                </a:solidFill>
                <a:latin typeface="Arial"/>
              </a:rPr>
              <a:t>•  </a:t>
            </a:r>
            <a:r>
              <a:rPr sz="1200" b="1">
                <a:solidFill>
                  <a:srgbClr val="282828"/>
                </a:solidFill>
                <a:latin typeface="Arial"/>
              </a:rPr>
              <a:t>The fold:</a:t>
            </a:r>
            <a:r>
              <a:rPr sz="1200" b="0">
                <a:solidFill>
                  <a:srgbClr val="282828"/>
                </a:solidFill>
                <a:latin typeface="Arial"/>
              </a:rPr>
              <a:t>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range the small pinhole buys, the shutter frame gives free</a:t>
            </a:r>
            <a:r>
              <a:rPr sz="1200" b="0">
                <a:solidFill>
                  <a:srgbClr val="282828"/>
                </a:solidFill>
                <a:latin typeface="Arial"/>
              </a:rPr>
              <a:t> at the large one's throughput: 1.02 / 1.06 / 1.13 at 120 / 240 / 480 nm.</a:t>
            </a:r>
          </a:p>
          <a:p>
            <a:pPr>
              <a:spcAft>
                <a:spcPts val="600"/>
              </a:spcAft>
            </a:pPr>
            <a:r>
              <a:rPr sz="1200" b="0">
                <a:solidFill>
                  <a:srgbClr val="282828"/>
                </a:solidFill>
                <a:latin typeface="Arial"/>
              </a:rPr>
              <a:t>•  </a:t>
            </a:r>
            <a:r>
              <a:rPr sz="1200" b="1">
                <a:solidFill>
                  <a:srgbClr val="282828"/>
                </a:solidFill>
                <a:latin typeface="Arial"/>
              </a:rPr>
              <a:t>The P/SRI</a:t>
            </a:r>
            <a:r>
              <a:rPr sz="1200" b="0">
                <a:solidFill>
                  <a:srgbClr val="282828"/>
                </a:solidFill>
                <a:latin typeface="Arial"/>
              </a:rPr>
              <a:t>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a:t>
            </a:r>
            <a:r>
              <a:rPr sz="1200" b="1">
                <a:solidFill>
                  <a:srgbClr val="282828"/>
                </a:solidFill>
                <a:latin typeface="Arial"/>
              </a:rPr>
              <a:t>Five frames beat four:</a:t>
            </a:r>
            <a:r>
              <a:rPr sz="1200" b="0">
                <a:solidFill>
                  <a:srgbClr val="282828"/>
                </a:solidFill>
                <a:latin typeface="Arial"/>
              </a:rPr>
              <a:t>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
        <p:nvSpPr>
          <p:cNvPr id="7" name="TextBox 6"/>
          <p:cNvSpPr txBox="1"/>
          <p:nvPr/>
        </p:nvSpPr>
        <p:spPr>
          <a:xfrm>
            <a:off x="6400800" y="4458462"/>
            <a:ext cx="5394960" cy="274320"/>
          </a:xfrm>
          <a:prstGeom prst="rect">
            <a:avLst/>
          </a:prstGeom>
          <a:noFill/>
        </p:spPr>
        <p:txBody>
          <a:bodyPr wrap="square">
            <a:spAutoFit/>
          </a:bodyPr>
          <a:lstStyle/>
          <a:p>
            <a:pPr>
              <a:spcAft>
                <a:spcPts val="600"/>
              </a:spcAft>
            </a:pPr>
            <a:r>
              <a:rPr sz="1050" b="0">
                <a:solidFill>
                  <a:srgbClr val="6E6E6E"/>
                </a:solidFill>
                <a:latin typeface="Arial"/>
              </a:rPr>
              <a:t>P/SRI parts (9): a 60/40 pickoff plate; two f 300 mm F/2.9 lenses; a 3.7 µm pinhole into a single-mode waveguide with a thermo-optic phase shifter; two 150 mm protected-metal folds; a 50/50 recombiner; camera C (sCMOS).  Its photonic reference is modeled as the recollimated LP01 mode of a single-mode fiber (pickoff fraction, coupling and phase-step miscalibration priced); the waveguide's own loss, dispersion and thermal drift are not yet in these numbers.</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Why the mirror's drift helps:</a:t>
            </a:r>
            <a:r>
              <a:rPr sz="1200" b="0">
                <a:solidFill>
                  <a:srgbClr val="282828"/>
                </a:solidFill>
                <a:latin typeface="Arial"/>
              </a:rPr>
              <a:t>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a:t>
            </a:r>
            <a:r>
              <a:rPr sz="1200" b="1">
                <a:solidFill>
                  <a:srgbClr val="282828"/>
                </a:solidFill>
                <a:latin typeface="Arial"/>
              </a:rPr>
              <a:t>The P/SRI's reference arm walking</a:t>
            </a:r>
            <a:r>
              <a:rPr sz="1200" b="0">
                <a:solidFill>
                  <a:srgbClr val="282828"/>
                </a:solidFill>
                <a:latin typeface="Arial"/>
              </a:rPr>
              <a:t>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a:t>
            </a:r>
            <a:r>
              <a:rPr sz="1200" b="1">
                <a:solidFill>
                  <a:srgbClr val="282828"/>
                </a:solidFill>
                <a:latin typeface="Arial"/>
              </a:rPr>
              <a:t>The paper's camera number</a:t>
            </a:r>
            <a:r>
              <a:rPr sz="1200" b="0">
                <a:solidFill>
                  <a:srgbClr val="282828"/>
                </a:solidFill>
                <a:latin typeface="Arial"/>
              </a:rPr>
              <a:t>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arm:</a:t>
            </a:r>
            <a:r>
              <a:rPr sz="1200" b="0">
                <a:solidFill>
                  <a:srgbClr val="282828"/>
                </a:solidFill>
                <a:latin typeface="Arial"/>
              </a:rPr>
              <a:t>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a:t>
            </a:r>
            <a:r>
              <a:rPr sz="1200" b="1">
                <a:solidFill>
                  <a:srgbClr val="282828"/>
                </a:solidFill>
                <a:latin typeface="Arial"/>
              </a:rPr>
              <a:t>The analyzer:</a:t>
            </a:r>
            <a:r>
              <a:rPr sz="1200" b="0">
                <a:solidFill>
                  <a:srgbClr val="282828"/>
                </a:solidFill>
                <a:latin typeface="Arial"/>
              </a:rPr>
              <a:t>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t>
            </a:r>
            <a:r>
              <a:rPr sz="1200" b="1">
                <a:solidFill>
                  <a:srgbClr val="282828"/>
                </a:solidFill>
                <a:latin typeface="Arial"/>
              </a:rPr>
              <a:t>A three-number fit on the flat's two images</a:t>
            </a:r>
            <a:r>
              <a:rPr sz="1200" b="0">
                <a:solidFill>
                  <a:srgbClr val="282828"/>
                </a:solidFill>
                <a:latin typeface="Arial"/>
              </a:rPr>
              <a:t>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The correction:</a:t>
            </a:r>
            <a:r>
              <a:rPr sz="1200" b="0">
                <a:solidFill>
                  <a:srgbClr val="282828"/>
                </a:solidFill>
                <a:latin typeface="Arial"/>
              </a:rPr>
              <a:t>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a:t>
            </a:r>
            <a:r>
              <a:rPr sz="1200" b="1">
                <a:solidFill>
                  <a:srgbClr val="282828"/>
                </a:solidFill>
                <a:latin typeface="Arial"/>
              </a:rPr>
              <a:t>Sampling:</a:t>
            </a:r>
            <a:r>
              <a:rPr sz="1200" b="0">
                <a:solidFill>
                  <a:srgbClr val="282828"/>
                </a:solidFill>
                <a:latin typeface="Arial"/>
              </a:rPr>
              <a:t>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a:t>
            </a:r>
            <a:r>
              <a:rPr sz="1200" b="1">
                <a:solidFill>
                  <a:srgbClr val="282828"/>
                </a:solidFill>
                <a:latin typeface="Arial"/>
              </a:rPr>
              <a:t>Color:</a:t>
            </a:r>
            <a:r>
              <a:rPr sz="1200" b="0">
                <a:solidFill>
                  <a:srgbClr val="282828"/>
                </a:solidFill>
                <a:latin typeface="Arial"/>
              </a:rPr>
              <a:t>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727456"/>
                <a:gridCol w="958298"/>
                <a:gridCol w="4120685"/>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a:t>
            </a:r>
            <a:r>
              <a:rPr sz="1200" b="1">
                <a:solidFill>
                  <a:srgbClr val="282828"/>
                </a:solidFill>
                <a:latin typeface="Arial"/>
              </a:rPr>
              <a:t>What moves:</a:t>
            </a:r>
            <a:r>
              <a:rPr sz="1200" b="0">
                <a:solidFill>
                  <a:srgbClr val="282828"/>
                </a:solidFill>
                <a:latin typeface="Arial"/>
              </a:rPr>
              <a:t>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a:t>
            </a:r>
            <a:r>
              <a:rPr sz="1200" b="1">
                <a:solidFill>
                  <a:srgbClr val="282828"/>
                </a:solidFill>
                <a:latin typeface="Arial"/>
              </a:rPr>
              <a:t>What it costs the sensors: nothing.</a:t>
            </a:r>
            <a:r>
              <a:rPr sz="1200" b="0">
                <a:solidFill>
                  <a:srgbClr val="282828"/>
                </a:solidFill>
                <a:latin typeface="Arial"/>
              </a:rPr>
              <a:t>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420327" y="1298448"/>
            <a:ext cx="3355904"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443648" y="3547872"/>
            <a:ext cx="3309263"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the Zernike-sensor literature offers, in priority order</a:t>
            </a:r>
          </a:p>
          <a:p>
            <a:pPr>
              <a:spcAft>
                <a:spcPts val="0"/>
              </a:spcAft>
            </a:pPr>
            <a:r>
              <a:rPr sz="1250" b="0">
                <a:solidFill>
                  <a:srgbClr val="6E6E6E"/>
                </a:solidFill>
                <a:latin typeface="Arial"/>
              </a:rPr>
              <a:t>Twelve papers read; the first import — re-computing the reference wave — is built and measured here (the S and V readings)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18948"/>
                <a:gridCol w="2691327"/>
                <a:gridCol w="8458459"/>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Ruane, Wallace, Steeves et al. 2020, JATIS 6, 045005</a:t>
                      </a:r>
                    </a:p>
                  </a:txBody>
                  <a:tcPr marL="54864" marR="54864" marT="18288" marB="18288">
                    <a:solidFill>
                      <a:srgbClr val="FFFFFF"/>
                    </a:solidFill>
                  </a:tcPr>
                </a:tc>
                <a:tc>
                  <a:txBody>
                    <a:bodyPr wrap="square"/>
                    <a:lstStyle/>
                    <a:p>
                      <a:r>
                        <a:rPr sz="1100" b="0">
                          <a:solidFill>
                            <a:srgbClr val="282828"/>
                          </a:solidFill>
                          <a:latin typeface="Arial"/>
                        </a:rPr>
                        <a:t>Exact per-pixel reconstruction from the pupil amplitude, the reference wave b and the masked image; a sensitivity factor per pixel; a four-term systematic budget; 1 pm reached at 4.4×10⁵ frames; no loss to 25 % bandwidth</a:t>
                      </a:r>
                    </a:p>
                  </a:txBody>
                  <a:tcPr marL="54864" marR="54864" marT="18288" marB="18288">
                    <a:solidFill>
                      <a:srgbClr val="FFFFFF"/>
                    </a:solidFill>
                  </a:tcPr>
                </a:tc>
              </a:tr>
              <a:tr h="468630">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Doelman, Fagginger Auer, Escuti, Snik 2019, Opt. Lett. 44, 17</a:t>
                      </a:r>
                    </a:p>
                  </a:txBody>
                  <a:tcPr marL="54864" marR="54864" marT="18288" marB="18288">
                    <a:solidFill>
                      <a:srgbClr val="ECF1F6"/>
                    </a:solidFill>
                  </a:tcPr>
                </a:tc>
                <a:tc>
                  <a:txBody>
                    <a:bodyPr wrap="square"/>
                    <a:lstStyle/>
                    <a:p>
                      <a:r>
                        <a:rPr sz="1100" b="0">
                          <a:solidFill>
                            <a:srgbClr val="282828"/>
                          </a:solidFill>
                          <a:latin typeface="Arial"/>
                        </a:rPr>
                        <a:t>Vector Zernike: ±π/2 on opposite circular polarizations gives two pupil images, an exact phase-and-amplitude solution, an iterated b, achromatic to 100 % bandwidth; the leakage terms are written down</a:t>
                      </a:r>
                    </a:p>
                  </a:txBody>
                  <a:tcPr marL="54864" marR="54864" marT="18288" marB="18288">
                    <a:solidFill>
                      <a:srgbClr val="ECF1F6"/>
                    </a:solidFill>
                  </a:tcPr>
                </a:tc>
              </a:tr>
              <a:tr h="468630">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N'Diaye, Vigan, Dohlen et al. 2016, A&amp;A 592, A79 (ZELDA II)</a:t>
                      </a:r>
                    </a:p>
                  </a:txBody>
                  <a:tcPr marL="54864" marR="54864" marT="18288" marB="18288">
                    <a:solidFill>
                      <a:srgbClr val="FFFFFF"/>
                    </a:solidFill>
                  </a:tcPr>
                </a:tc>
                <a:tc>
                  <a:txBody>
                    <a:bodyPr wrap="square"/>
                    <a:lstStyle/>
                    <a:p>
                      <a:r>
                        <a:rPr sz="1100" b="0">
                          <a:solidFill>
                            <a:srgbClr val="282828"/>
                          </a:solidFill>
                          <a:latin typeface="Arial"/>
                        </a:rPr>
                        <a:t>Second-order reconstruction with b from the mask model; 1.06 λ/D at π/2; range −0.14 to +0.36 λ; the sensitivity factor drifts 10 % day to day on SPHERE</a:t>
                      </a:r>
                    </a:p>
                  </a:txBody>
                  <a:tcPr marL="54864" marR="54864" marT="18288" marB="18288">
                    <a:solidFill>
                      <a:srgbClr val="FFFFFF"/>
                    </a:solidFill>
                  </a:tcPr>
                </a:tc>
              </a:tr>
              <a:tr h="468630">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Chambouleyron, Cissé, Salama, Haffert, Wallace et al. 2024, SPIE 13097</a:t>
                      </a:r>
                    </a:p>
                  </a:txBody>
                  <a:tcPr marL="54864" marR="54864" marT="18288" marB="18288">
                    <a:solidFill>
                      <a:srgbClr val="ECF1F6"/>
                    </a:solidFill>
                  </a:tcPr>
                </a:tc>
                <a:tc>
                  <a:txBody>
                    <a:bodyPr wrap="square"/>
                    <a:lstStyle/>
                    <a:p>
                      <a:r>
                        <a:rPr sz="1100" b="0">
                          <a:solidFill>
                            <a:srgbClr val="282828"/>
                          </a:solidFill>
                          <a:latin typeface="Arial"/>
                        </a:rPr>
                        <a:t>A phase-shifted pair (±π/2) yields cos φ and sin φ; iterative reconstructors reach about 1 rad rms; the bench limits were polarization crosstalk and defocus between the two pupils</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Haffert 2024, A&amp;A 683, A113</a:t>
                      </a:r>
                    </a:p>
                  </a:txBody>
                  <a:tcPr marL="54864" marR="54864" marT="18288" marB="18288">
                    <a:solidFill>
                      <a:srgbClr val="FFFFFF"/>
                    </a:solidFill>
                  </a:tcPr>
                </a:tc>
                <a:tc>
                  <a:txBody>
                    <a:bodyPr wrap="square"/>
                    <a:lstStyle/>
                    <a:p>
                      <a:r>
                        <a:rPr sz="1100" b="0">
                          <a:solidFill>
                            <a:srgbClr val="282828"/>
                          </a:solidFill>
                          <a:latin typeface="Arial"/>
                        </a:rPr>
                        <a:t>Iterative nonlinear reconstructors reach machine precision below 0.25 rad rms; phase sorting extends to 0.75 rad; adding wavelengths to 1.4 rad rms</a:t>
                      </a:r>
                    </a:p>
                  </a:txBody>
                  <a:tcPr marL="54864" marR="54864" marT="18288" marB="18288">
                    <a:solidFill>
                      <a:srgbClr val="FFFFFF"/>
                    </a:solidFill>
                  </a:tcPr>
                </a:tc>
              </a:tr>
              <a:tr h="468630">
                <a:tc>
                  <a:txBody>
                    <a:bodyPr wrap="square"/>
                    <a:lstStyle/>
                    <a:p>
                      <a:r>
                        <a:rPr sz="1100" b="0">
                          <a:solidFill>
                            <a:srgbClr val="282828"/>
                          </a:solidFill>
                          <a:latin typeface="Arial"/>
                        </a:rPr>
                        <a:t>6</a:t>
                      </a:r>
                    </a:p>
                  </a:txBody>
                  <a:tcPr marL="54864" marR="54864" marT="18288" marB="18288">
                    <a:solidFill>
                      <a:srgbClr val="ECF1F6"/>
                    </a:solidFill>
                  </a:tcPr>
                </a:tc>
                <a:tc>
                  <a:txBody>
                    <a:bodyPr wrap="square"/>
                    <a:lstStyle/>
                    <a:p>
                      <a:r>
                        <a:rPr sz="1100" b="0">
                          <a:solidFill>
                            <a:srgbClr val="282828"/>
                          </a:solidFill>
                          <a:latin typeface="Arial"/>
                        </a:rPr>
                        <a:t>Darcis, Haffert, Chambouleyron, Doelman et al. 2025, A&amp;A</a:t>
                      </a:r>
                    </a:p>
                  </a:txBody>
                  <a:tcPr marL="54864" marR="54864" marT="18288" marB="18288">
                    <a:solidFill>
                      <a:srgbClr val="ECF1F6"/>
                    </a:solidFill>
                  </a:tcPr>
                </a:tc>
                <a:tc>
                  <a:txBody>
                    <a:bodyPr wrap="square"/>
                    <a:lstStyle/>
                    <a:p>
                      <a:r>
                        <a:rPr sz="1100" b="0">
                          <a:solidFill>
                            <a:srgbClr val="282828"/>
                          </a:solidFill>
                          <a:latin typeface="Arial"/>
                        </a:rPr>
                        <a:t>Multi-wavelength gradient descent through the forward model: dynamic range for the scalar sensor, photon robustness across a wider band, two-wavelength unwrapping of petal errors</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Priority = payoff against this campaign's measured weak results.  Synopses and links: macos/REPORT_zwfs_lit_scan.md.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Demonstrations, segmented mirrors, and the in-house precedent</a:t>
            </a:r>
          </a:p>
          <a:p>
            <a:pPr>
              <a:spcAft>
                <a:spcPts val="0"/>
              </a:spcAft>
            </a:pPr>
            <a:r>
              <a:rPr sz="1250" b="0">
                <a:solidFill>
                  <a:srgbClr val="6E6E6E"/>
                </a:solidFill>
                <a:latin typeface="Arial"/>
              </a:rPr>
              <a:t>Picometers by alternating DM shapes and averaging; segment piston by model iteration, underestimated below 50 % Strehl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091815"/>
        </p:xfrm>
        <a:graphic>
          <a:graphicData uri="http://schemas.openxmlformats.org/drawingml/2006/table">
            <a:tbl>
              <a:tblPr firstRow="1" bandRow="1">
                <a:tableStyleId>{5C22544A-7EE6-4342-B048-85BDC9FD1C3A}</a:tableStyleId>
              </a:tblPr>
              <a:tblGrid>
                <a:gridCol w="291592"/>
                <a:gridCol w="3730058"/>
                <a:gridCol w="7347084"/>
              </a:tblGrid>
              <a:tr h="280035">
                <a:tc>
                  <a:txBody>
                    <a:bodyPr wrap="square"/>
                    <a:lstStyle/>
                    <a:p>
                      <a:r>
                        <a:rPr sz="1100" b="1">
                          <a:solidFill>
                            <a:srgbClr val="FFFFFF"/>
                          </a:solidFill>
                          <a:latin typeface="Arial"/>
                        </a:rPr>
                        <a:t>#</a:t>
                      </a:r>
                    </a:p>
                  </a:txBody>
                  <a:tcPr marL="54864" marR="54864" marT="18288" marB="18288">
                    <a:solidFill>
                      <a:srgbClr val="1F4E79"/>
                    </a:solidFill>
                  </a:tcPr>
                </a:tc>
                <a:tc>
                  <a:txBody>
                    <a:bodyPr wrap="square"/>
                    <a:lstStyle/>
                    <a:p>
                      <a:r>
                        <a:rPr sz="1100" b="1">
                          <a:solidFill>
                            <a:srgbClr val="FFFFFF"/>
                          </a:solidFill>
                          <a:latin typeface="Arial"/>
                        </a:rPr>
                        <a:t>paper</a:t>
                      </a:r>
                    </a:p>
                  </a:txBody>
                  <a:tcPr marL="54864" marR="54864" marT="18288" marB="18288">
                    <a:solidFill>
                      <a:srgbClr val="1F4E79"/>
                    </a:solidFill>
                  </a:tcPr>
                </a:tc>
                <a:tc>
                  <a:txBody>
                    <a:bodyPr wrap="square"/>
                    <a:lstStyle/>
                    <a:p>
                      <a:r>
                        <a:rPr sz="1100" b="1">
                          <a:solidFill>
                            <a:srgbClr val="FFFFFF"/>
                          </a:solidFill>
                          <a:latin typeface="Arial"/>
                        </a:rPr>
                        <a:t>what it gives this model</a:t>
                      </a:r>
                    </a:p>
                  </a:txBody>
                  <a:tcPr marL="54864" marR="54864" marT="18288" marB="18288">
                    <a:solidFill>
                      <a:srgbClr val="1F4E79"/>
                    </a:solidFill>
                  </a:tcPr>
                </a:tc>
              </a:tr>
              <a:tr h="468630">
                <a:tc>
                  <a:txBody>
                    <a:bodyPr wrap="square"/>
                    <a:lstStyle/>
                    <a:p>
                      <a:r>
                        <a:rPr sz="1100" b="0">
                          <a:solidFill>
                            <a:srgbClr val="282828"/>
                          </a:solidFill>
                          <a:latin typeface="Arial"/>
                        </a:rPr>
                        <a:t>7</a:t>
                      </a:r>
                    </a:p>
                  </a:txBody>
                  <a:tcPr marL="54864" marR="54864" marT="18288" marB="18288">
                    <a:solidFill>
                      <a:srgbClr val="FFFFFF"/>
                    </a:solidFill>
                  </a:tcPr>
                </a:tc>
                <a:tc>
                  <a:txBody>
                    <a:bodyPr wrap="square"/>
                    <a:lstStyle/>
                    <a:p>
                      <a:r>
                        <a:rPr sz="1100" b="0">
                          <a:solidFill>
                            <a:srgbClr val="282828"/>
                          </a:solidFill>
                          <a:latin typeface="Arial"/>
                        </a:rPr>
                        <a:t>Steeves, Wallace, Kettenbeil, Jewell 2020, Optica 7, 1267</a:t>
                      </a:r>
                    </a:p>
                  </a:txBody>
                  <a:tcPr marL="54864" marR="54864" marT="18288" marB="18288">
                    <a:solidFill>
                      <a:srgbClr val="FFFFFF"/>
                    </a:solidFill>
                  </a:tcPr>
                </a:tc>
                <a:tc>
                  <a:txBody>
                    <a:bodyPr wrap="square"/>
                    <a:lstStyle/>
                    <a:p>
                      <a:r>
                        <a:rPr sz="1100" b="0">
                          <a:solidFill>
                            <a:srgbClr val="282828"/>
                          </a:solidFill>
                          <a:latin typeface="Arial"/>
                        </a:rPr>
                        <a:t>1.6 pm repeatability in 4.3 s by alternating flat and waffle DM shapes and averaging the differences; a reconstruction robust at the highest spatial frequencies</a:t>
                      </a:r>
                    </a:p>
                  </a:txBody>
                  <a:tcPr marL="54864" marR="54864" marT="18288" marB="18288">
                    <a:solidFill>
                      <a:srgbClr val="FFFFFF"/>
                    </a:solidFill>
                  </a:tcPr>
                </a:tc>
              </a:tr>
              <a:tr h="468630">
                <a:tc>
                  <a:txBody>
                    <a:bodyPr wrap="square"/>
                    <a:lstStyle/>
                    <a:p>
                      <a:r>
                        <a:rPr sz="1100" b="0">
                          <a:solidFill>
                            <a:srgbClr val="282828"/>
                          </a:solidFill>
                          <a:latin typeface="Arial"/>
                        </a:rPr>
                        <a:t>8</a:t>
                      </a:r>
                    </a:p>
                  </a:txBody>
                  <a:tcPr marL="54864" marR="54864" marT="18288" marB="18288">
                    <a:solidFill>
                      <a:srgbClr val="ECF1F6"/>
                    </a:solidFill>
                  </a:tcPr>
                </a:tc>
                <a:tc>
                  <a:txBody>
                    <a:bodyPr wrap="square"/>
                    <a:lstStyle/>
                    <a:p>
                      <a:r>
                        <a:rPr sz="1100" b="0">
                          <a:solidFill>
                            <a:srgbClr val="282828"/>
                          </a:solidFill>
                          <a:latin typeface="Arial"/>
                        </a:rPr>
                        <a:t>Wallace, Rao, Jensen-Clem, Serabyn 2011, SPIE 8126</a:t>
                      </a:r>
                    </a:p>
                  </a:txBody>
                  <a:tcPr marL="54864" marR="54864" marT="18288" marB="18288">
                    <a:solidFill>
                      <a:srgbClr val="ECF1F6"/>
                    </a:solidFill>
                  </a:tcPr>
                </a:tc>
                <a:tc>
                  <a:txBody>
                    <a:bodyPr wrap="square"/>
                    <a:lstStyle/>
                    <a:p>
                      <a:r>
                        <a:rPr sz="1100" b="0">
                          <a:solidFill>
                            <a:srgbClr val="282828"/>
                          </a:solidFill>
                          <a:latin typeface="Arial"/>
                        </a:rPr>
                        <a:t>All-reflective phase-shifting Zernike interferometer: a dynamic, arbitrary core phase shift read in four steps gives phase and amplitude; low sensitivity to vibration, polarization and wavelength</a:t>
                      </a:r>
                    </a:p>
                  </a:txBody>
                  <a:tcPr marL="54864" marR="54864" marT="18288" marB="18288">
                    <a:solidFill>
                      <a:srgbClr val="ECF1F6"/>
                    </a:solidFill>
                  </a:tcPr>
                </a:tc>
              </a:tr>
              <a:tr h="468630">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Moore and Redding 2018, SPIE 10698</a:t>
                      </a:r>
                    </a:p>
                  </a:txBody>
                  <a:tcPr marL="54864" marR="54864" marT="18288" marB="18288">
                    <a:solidFill>
                      <a:srgbClr val="FFFFFF"/>
                    </a:solidFill>
                  </a:tcPr>
                </a:tc>
                <a:tc>
                  <a:txBody>
                    <a:bodyPr wrap="square"/>
                    <a:lstStyle/>
                    <a:p>
                      <a:r>
                        <a:rPr sz="1100" b="0">
                          <a:solidFill>
                            <a:srgbClr val="282828"/>
                          </a:solidFill>
                          <a:latin typeface="Arial"/>
                        </a:rPr>
                        <a:t>Nonlinear polychromatic physical-optics reconstruction for picometer differential metrology on LUVOIR; the in-house precedent for the reconstructor above</a:t>
                      </a:r>
                    </a:p>
                  </a:txBody>
                  <a:tcPr marL="54864" marR="54864" marT="18288" marB="18288">
                    <a:solidFill>
                      <a:srgbClr val="FFFFFF"/>
                    </a:solidFill>
                  </a:tcPr>
                </a:tc>
              </a:tr>
              <a:tr h="468630">
                <a:tc>
                  <a:txBody>
                    <a:bodyPr wrap="square"/>
                    <a:lstStyle/>
                    <a:p>
                      <a:r>
                        <a:rPr sz="1100" b="0">
                          <a:solidFill>
                            <a:srgbClr val="282828"/>
                          </a:solidFill>
                          <a:latin typeface="Arial"/>
                        </a:rPr>
                        <a:t>10</a:t>
                      </a:r>
                    </a:p>
                  </a:txBody>
                  <a:tcPr marL="54864" marR="54864" marT="18288" marB="18288">
                    <a:solidFill>
                      <a:srgbClr val="ECF1F6"/>
                    </a:solidFill>
                  </a:tcPr>
                </a:tc>
                <a:tc>
                  <a:txBody>
                    <a:bodyPr wrap="square"/>
                    <a:lstStyle/>
                    <a:p>
                      <a:r>
                        <a:rPr sz="1100" b="0">
                          <a:solidFill>
                            <a:srgbClr val="282828"/>
                          </a:solidFill>
                          <a:latin typeface="Arial"/>
                        </a:rPr>
                        <a:t>Keck vector-Zernike segment control 2024 (arXiv 2404.08728); Wallace et al. 2022 (arXiv 2205.02241)</a:t>
                      </a:r>
                    </a:p>
                  </a:txBody>
                  <a:tcPr marL="54864" marR="54864" marT="18288" marB="18288">
                    <a:solidFill>
                      <a:srgbClr val="ECF1F6"/>
                    </a:solidFill>
                  </a:tcPr>
                </a:tc>
                <a:tc>
                  <a:txBody>
                    <a:bodyPr wrap="square"/>
                    <a:lstStyle/>
                    <a:p>
                      <a:r>
                        <a:rPr sz="1100" b="0">
                          <a:solidFill>
                            <a:srgbClr val="282828"/>
                          </a:solidFill>
                          <a:latin typeface="Arial"/>
                        </a:rPr>
                        <a:t>Segment piston by model-based iteration; 11 nm rms piston uncertainty; underestimation 2 to 4× below 50 % Strehl; fabricated shifts 0.30π and 0.68π instead of ±0.5π</a:t>
                      </a:r>
                    </a:p>
                  </a:txBody>
                  <a:tcPr marL="54864" marR="54864" marT="18288" marB="18288">
                    <a:solidFill>
                      <a:srgbClr val="ECF1F6"/>
                    </a:solidFill>
                  </a:tcPr>
                </a:tc>
              </a:tr>
              <a:tr h="468630">
                <a:tc>
                  <a:txBody>
                    <a:bodyPr wrap="square"/>
                    <a:lstStyle/>
                    <a:p>
                      <a:r>
                        <a:rPr sz="1100" b="0">
                          <a:solidFill>
                            <a:srgbClr val="282828"/>
                          </a:solidFill>
                          <a:latin typeface="Arial"/>
                        </a:rPr>
                        <a:t>11</a:t>
                      </a:r>
                    </a:p>
                  </a:txBody>
                  <a:tcPr marL="54864" marR="54864" marT="18288" marB="18288">
                    <a:solidFill>
                      <a:srgbClr val="FFFFFF"/>
                    </a:solidFill>
                  </a:tcPr>
                </a:tc>
                <a:tc>
                  <a:txBody>
                    <a:bodyPr wrap="square"/>
                    <a:lstStyle/>
                    <a:p>
                      <a:r>
                        <a:rPr sz="1100" b="0">
                          <a:solidFill>
                            <a:srgbClr val="282828"/>
                          </a:solidFill>
                          <a:latin typeface="Arial"/>
                        </a:rPr>
                        <a:t>HiCAT mid-order Zernike sensor 2024 (arXiv 2409.03411)</a:t>
                      </a:r>
                    </a:p>
                  </a:txBody>
                  <a:tcPr marL="54864" marR="54864" marT="18288" marB="18288">
                    <a:solidFill>
                      <a:srgbClr val="FFFFFF"/>
                    </a:solidFill>
                  </a:tcPr>
                </a:tc>
                <a:tc>
                  <a:txBody>
                    <a:bodyPr wrap="square"/>
                    <a:lstStyle/>
                    <a:p>
                      <a:r>
                        <a:rPr sz="1100" b="0">
                          <a:solidFill>
                            <a:srgbClr val="282828"/>
                          </a:solidFill>
                          <a:latin typeface="Arial"/>
                        </a:rPr>
                        <a:t>Per-segment piston, tip and tilt by interaction matrix; a minimal step of 125 ± 31 pm at SNR 4; 14-bit DM quantization reads as steps in the response</a:t>
                      </a:r>
                    </a:p>
                  </a:txBody>
                  <a:tcPr marL="54864" marR="54864" marT="18288" marB="18288">
                    <a:solidFill>
                      <a:srgbClr val="FFFFFF"/>
                    </a:solidFill>
                  </a:tcPr>
                </a:tc>
              </a:tr>
              <a:tr h="468630">
                <a:tc>
                  <a:txBody>
                    <a:bodyPr wrap="square"/>
                    <a:lstStyle/>
                    <a:p>
                      <a:r>
                        <a:rPr sz="1100" b="0">
                          <a:solidFill>
                            <a:srgbClr val="282828"/>
                          </a:solidFill>
                          <a:latin typeface="Arial"/>
                        </a:rPr>
                        <a:t>12</a:t>
                      </a:r>
                    </a:p>
                  </a:txBody>
                  <a:tcPr marL="54864" marR="54864" marT="18288" marB="18288">
                    <a:solidFill>
                      <a:srgbClr val="ECF1F6"/>
                    </a:solidFill>
                  </a:tcPr>
                </a:tc>
                <a:tc>
                  <a:txBody>
                    <a:bodyPr wrap="square"/>
                    <a:lstStyle/>
                    <a:p>
                      <a:r>
                        <a:rPr sz="1100" b="0">
                          <a:solidFill>
                            <a:srgbClr val="282828"/>
                          </a:solidFill>
                          <a:latin typeface="Arial"/>
                        </a:rPr>
                        <a:t>Shi et al. 2015, SPIE 9605 (Roman low-order sensor)</a:t>
                      </a:r>
                    </a:p>
                  </a:txBody>
                  <a:tcPr marL="54864" marR="54864" marT="18288" marB="18288">
                    <a:solidFill>
                      <a:srgbClr val="ECF1F6"/>
                    </a:solidFill>
                  </a:tcPr>
                </a:tc>
                <a:tc>
                  <a:txBody>
                    <a:bodyPr wrap="square"/>
                    <a:lstStyle/>
                    <a:p>
                      <a:r>
                        <a:rPr sz="1100" b="0">
                          <a:solidFill>
                            <a:srgbClr val="282828"/>
                          </a:solidFill>
                          <a:latin typeface="Arial"/>
                        </a:rPr>
                        <a:t>A reflective dimple on the focal-plane mask senses Z2 to Z11 from the rejected starlight: the spatially filtered form of the same sensor</a:t>
                      </a:r>
                    </a:p>
                  </a:txBody>
                  <a:tcPr marL="54864" marR="54864" marT="18288" marB="18288">
                    <a:solidFill>
                      <a:srgbClr val="ECF1F6"/>
                    </a:solidFill>
                  </a:tcPr>
                </a:tc>
              </a:tr>
            </a:tbl>
          </a:graphicData>
        </a:graphic>
      </p:graphicFrame>
      <p:sp>
        <p:nvSpPr>
          <p:cNvPr id="5" name="TextBox 4"/>
          <p:cNvSpPr txBox="1"/>
          <p:nvPr/>
        </p:nvSpPr>
        <p:spPr>
          <a:xfrm>
            <a:off x="411480" y="4536567"/>
            <a:ext cx="11368735" cy="274320"/>
          </a:xfrm>
          <a:prstGeom prst="rect">
            <a:avLst/>
          </a:prstGeom>
          <a:noFill/>
        </p:spPr>
        <p:txBody>
          <a:bodyPr wrap="square">
            <a:spAutoFit/>
          </a:bodyPr>
          <a:lstStyle/>
          <a:p>
            <a:pPr>
              <a:spcAft>
                <a:spcPts val="600"/>
              </a:spcAft>
            </a:pPr>
            <a:r>
              <a:rPr sz="1050" b="0">
                <a:solidFill>
                  <a:srgbClr val="6E6E6E"/>
                </a:solidFill>
                <a:latin typeface="Arial"/>
              </a:rPr>
              <a:t>Also read: PIAA-ZWFS (2026, arXiv 2606.28136), lossless pupil apodization that closes the gap to the fundamental sensitivity limit by 10× — a design lever, not a model change.</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a:t>
            </a:r>
            <a:r>
              <a:rPr sz="1500" b="1">
                <a:solidFill>
                  <a:srgbClr val="282828"/>
                </a:solidFill>
                <a:latin typeface="Arial"/>
              </a:rPr>
              <a:t>Interferometer</a:t>
            </a:r>
            <a:r>
              <a:rPr sz="1500" b="0">
                <a:solidFill>
                  <a:srgbClr val="282828"/>
                </a:solidFill>
                <a:latin typeface="Arial"/>
              </a:rPr>
              <a:t>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a:t>
            </a:r>
            <a:r>
              <a:rPr sz="1500" b="1">
                <a:solidFill>
                  <a:srgbClr val="282828"/>
                </a:solidFill>
                <a:latin typeface="Arial"/>
              </a:rPr>
              <a:t>Zernike sensors</a:t>
            </a:r>
            <a:r>
              <a:rPr sz="1500" b="0">
                <a:solidFill>
                  <a:srgbClr val="282828"/>
                </a:solidFill>
                <a:latin typeface="Arial"/>
              </a:rPr>
              <a:t>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a:t>
            </a:r>
            <a:r>
              <a:rPr sz="1500" b="1">
                <a:solidFill>
                  <a:srgbClr val="282828"/>
                </a:solidFill>
                <a:latin typeface="Arial"/>
              </a:rPr>
              <a:t>Point-diffraction</a:t>
            </a:r>
            <a:r>
              <a:rPr sz="1500" b="0">
                <a:solidFill>
                  <a:srgbClr val="282828"/>
                </a:solidFill>
                <a:latin typeface="Arial"/>
              </a:rPr>
              <a:t>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a:t>
            </a:r>
            <a:r>
              <a:rPr sz="1500" b="1">
                <a:solidFill>
                  <a:srgbClr val="282828"/>
                </a:solidFill>
                <a:latin typeface="Arial"/>
              </a:rPr>
              <a:t>Plan and rulings:</a:t>
            </a:r>
            <a:r>
              <a:rPr sz="1500" b="0">
                <a:solidFill>
                  <a:srgbClr val="282828"/>
                </a:solidFill>
                <a:latin typeface="Arial"/>
              </a:rPr>
              <a:t> macos/BRIEF_gauge_deck.md sections 5-11.  Raw material with every figure's pixel size: demo_session/deck_gauges_material.md.</a:t>
            </a:r>
          </a:p>
          <a:p>
            <a:pPr>
              <a:spcAft>
                <a:spcPts val="600"/>
              </a:spcAft>
            </a:pPr>
            <a:r>
              <a:rPr sz="1500" b="0">
                <a:solidFill>
                  <a:srgbClr val="282828"/>
                </a:solidFill>
                <a:latin typeface="Arial"/>
              </a:rPr>
              <a:t>•  </a:t>
            </a:r>
            <a:r>
              <a:rPr sz="1500" b="1">
                <a:solidFill>
                  <a:srgbClr val="282828"/>
                </a:solidFill>
                <a:latin typeface="Arial"/>
              </a:rPr>
              <a:t>Engine:</a:t>
            </a:r>
            <a:r>
              <a:rPr sz="1500" b="0">
                <a:solidFill>
                  <a:srgbClr val="282828"/>
                </a:solidFill>
                <a:latin typeface="Arial"/>
              </a:rPr>
              <a:t>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