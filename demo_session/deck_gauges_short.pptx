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960245"/>
        </p:xfrm>
        <a:graphic>
          <a:graphicData uri="http://schemas.openxmlformats.org/drawingml/2006/table">
            <a:tbl>
              <a:tblPr firstRow="1" bandRow="1">
                <a:tableStyleId>{5C22544A-7EE6-4342-B048-85BDC9FD1C3A}</a:tableStyleId>
              </a:tblPr>
              <a:tblGrid>
                <a:gridCol w="2884116"/>
                <a:gridCol w="6157978"/>
                <a:gridCol w="1163320"/>
                <a:gridCol w="1163320"/>
              </a:tblGrid>
              <a:tr h="280035">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Picometer measurement is photon-limited, not bench-limited.</a:t>
            </a:r>
            <a:r>
              <a:rPr sz="15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500" b="1">
                <a:solidFill>
                  <a:srgbClr val="282828"/>
                </a:solidFill>
                <a:latin typeface="Arial"/>
              </a:rPr>
              <a:t>Steeves et al. (2020, Optica 7, 1267) demonstrate 1.6 pm in 4.3 s on a real interferometer</a:t>
            </a:r>
            <a:r>
              <a:rPr sz="15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t>
            </a:r>
            <a:r>
              <a:rPr sz="1500" b="1">
                <a:solidFill>
                  <a:srgbClr val="282828"/>
                </a:solidFill>
                <a:latin typeface="Arial"/>
              </a:rPr>
              <a:t>Accuracy is systematic and proportional</a:t>
            </a:r>
            <a:r>
              <a:rPr sz="1500" b="0">
                <a:solidFill>
                  <a:srgbClr val="282828"/>
                </a:solidFill>
                <a:latin typeface="Arial"/>
              </a:rPr>
              <a:t>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a:t>
            </a:r>
            <a:r>
              <a:rPr sz="1500" b="1">
                <a:solidFill>
                  <a:srgbClr val="282828"/>
                </a:solidFill>
                <a:latin typeface="Arial"/>
              </a:rPr>
              <a:t>One disturbance is not photon-limited:</a:t>
            </a:r>
            <a:r>
              <a:rPr sz="15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5760720"/>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on the same surface (the side-by-side slide).  A 10 nm single-actuator change, what the servo corrects, reads against truth to 1.5 pm at gain 1.001 on lenses and 1.8 pm at 0.993 on mirrors.  Run tags are on the provenance slide and on each slide that derives a number.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5696712" y="1133856"/>
            <a:ext cx="6144768" cy="1225296"/>
          </a:xfrm>
          <a:prstGeom prst="rect">
            <a:avLst/>
          </a:prstGeom>
        </p:spPr>
      </p:pic>
      <p:sp>
        <p:nvSpPr>
          <p:cNvPr id="5" name="TextBox 4"/>
          <p:cNvSpPr txBox="1"/>
          <p:nvPr/>
        </p:nvSpPr>
        <p:spPr>
          <a:xfrm>
            <a:off x="411480" y="1179576"/>
            <a:ext cx="4206240" cy="724408"/>
          </a:xfrm>
          <a:prstGeom prst="rect">
            <a:avLst/>
          </a:prstGeom>
          <a:noFill/>
        </p:spPr>
        <p:txBody>
          <a:bodyPr wrap="square">
            <a:spAutoFit/>
          </a:bodyPr>
          <a:lstStyle/>
          <a:p>
            <a:pPr algn="l">
              <a:spcAft>
                <a:spcPts val="0"/>
              </a:spcAft>
            </a:pPr>
            <a:r>
              <a:rPr sz="1000" b="0">
                <a:solidFill>
                  <a:srgbClr val="6E6E6E"/>
                </a:solidFill>
                <a:latin typeface="Arial"/>
              </a:rPr>
              <a:t>Interferometer (hybrid, mirror rig): the command; the test and reference arms at the camera; two of the four phase-stepped frames; the recovered surface; the raw map minus the engine's field, 463 pm (1.5 %).</a:t>
            </a:r>
          </a:p>
        </p:txBody>
      </p:sp>
      <p:pic>
        <p:nvPicPr>
          <p:cNvPr id="6" name="Picture 5" descr="crop_stations_row2_S.png"/>
          <p:cNvPicPr>
            <a:picLocks noChangeAspect="1"/>
          </p:cNvPicPr>
          <p:nvPr/>
        </p:nvPicPr>
        <p:blipFill>
          <a:blip r:embed="rId3"/>
          <a:stretch>
            <a:fillRect/>
          </a:stretch>
        </p:blipFill>
        <p:spPr>
          <a:xfrm>
            <a:off x="5422392" y="2432304"/>
            <a:ext cx="6419088" cy="1051560"/>
          </a:xfrm>
          <a:prstGeom prst="rect">
            <a:avLst/>
          </a:prstGeom>
        </p:spPr>
      </p:pic>
      <p:sp>
        <p:nvSpPr>
          <p:cNvPr id="7" name="TextBox 6"/>
          <p:cNvSpPr txBox="1"/>
          <p:nvPr/>
        </p:nvSpPr>
        <p:spPr>
          <a:xfrm>
            <a:off x="411480" y="2478024"/>
            <a:ext cx="420624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raw map minus the engine, 4.8 nm (the beam-made reference, which the matrix measured on the surface absorbs).</a:t>
            </a:r>
          </a:p>
        </p:txBody>
      </p:sp>
      <p:pic>
        <p:nvPicPr>
          <p:cNvPr id="8" name="Picture 7" descr="crop_stations_row2_V.png"/>
          <p:cNvPicPr>
            <a:picLocks noChangeAspect="1"/>
          </p:cNvPicPr>
          <p:nvPr/>
        </p:nvPicPr>
        <p:blipFill>
          <a:blip r:embed="rId4"/>
          <a:stretch>
            <a:fillRect/>
          </a:stretch>
        </p:blipFill>
        <p:spPr>
          <a:xfrm>
            <a:off x="5422392" y="3557016"/>
            <a:ext cx="6419088" cy="1051560"/>
          </a:xfrm>
          <a:prstGeom prst="rect">
            <a:avLst/>
          </a:prstGeom>
        </p:spPr>
      </p:pic>
      <p:sp>
        <p:nvSpPr>
          <p:cNvPr id="9" name="TextBox 8"/>
          <p:cNvSpPr txBox="1"/>
          <p:nvPr/>
        </p:nvSpPr>
        <p:spPr>
          <a:xfrm>
            <a:off x="411480" y="3602736"/>
            <a:ext cx="4206240" cy="559307"/>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raw map minus the engine, 25 pm.</a:t>
            </a:r>
          </a:p>
        </p:txBody>
      </p:sp>
      <p:pic>
        <p:nvPicPr>
          <p:cNvPr id="10" name="Picture 9" descr="crop_stations_row2_P.png"/>
          <p:cNvPicPr>
            <a:picLocks noChangeAspect="1"/>
          </p:cNvPicPr>
          <p:nvPr/>
        </p:nvPicPr>
        <p:blipFill>
          <a:blip r:embed="rId5"/>
          <a:stretch>
            <a:fillRect/>
          </a:stretch>
        </p:blipFill>
        <p:spPr>
          <a:xfrm>
            <a:off x="5422392" y="4681728"/>
            <a:ext cx="6419088" cy="1051560"/>
          </a:xfrm>
          <a:prstGeom prst="rect">
            <a:avLst/>
          </a:prstGeom>
        </p:spPr>
      </p:pic>
      <p:sp>
        <p:nvSpPr>
          <p:cNvPr id="11" name="TextBox 10"/>
          <p:cNvSpPr txBox="1"/>
          <p:nvPr/>
        </p:nvSpPr>
        <p:spPr>
          <a:xfrm>
            <a:off x="411480" y="4727448"/>
            <a:ext cx="4206240"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raw map minus the engine, 184 pm.</a:t>
            </a:r>
          </a:p>
        </p:txBody>
      </p:sp>
      <p:sp>
        <p:nvSpPr>
          <p:cNvPr id="12" name="TextBox 11"/>
          <p:cNvSpPr txBox="1"/>
          <p:nvPr/>
        </p:nvSpPr>
        <p:spPr>
          <a:xfrm>
            <a:off x="411480" y="5788152"/>
            <a:ext cx="11384280"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The stepped Zernike's 4.8 nm is a gain error, not noise:</a:t>
            </a:r>
            <a:r>
              <a:rPr sz="1100" b="0">
                <a:solidFill>
                  <a:srgbClr val="282828"/>
                </a:solidFill>
                <a:latin typeface="Arial"/>
              </a:rPr>
              <a:t> its inversion takes the reference wave's amplitude from the flat, and on the 30 nm surface the focal core that makes it is weaker, so the raw map reads about 16 % low, shaped like the surface; the matrix measured on the surface absorbs it (5 pm calibrated).  The vector pair's two simultaneous frames divide the reference out: 25 pm raw.</a:t>
            </a:r>
          </a:p>
        </p:txBody>
      </p:sp>
      <p:sp>
        <p:nvSpPr>
          <p:cNvPr id="13" name="TextBox 12"/>
          <p:cNvSpPr txBox="1"/>
          <p:nvPr/>
        </p:nvSpPr>
        <p:spPr>
          <a:xfrm>
            <a:off x="411480" y="6382512"/>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gauge's station-by-station figure (the full figures, with the flat mirror as row 1, are in the backup).  Run tags redo96_oapstn (interferometer) and stations193 (the three sensors, 193 pixels per pupil).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one command line per gauge; every number in the deck is reproduced by the runners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Capture beyond one wave with a second color:</a:t>
            </a:r>
            <a:r>
              <a:rPr sz="12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200" b="0">
                <a:solidFill>
                  <a:srgbClr val="282828"/>
                </a:solidFill>
                <a:latin typeface="Arial"/>
              </a:rPr>
              <a:t>•  </a:t>
            </a:r>
            <a:r>
              <a:rPr sz="1200" b="1">
                <a:solidFill>
                  <a:srgbClr val="282828"/>
                </a:solidFill>
                <a:latin typeface="Arial"/>
              </a:rPr>
              <a:t>From this model to as-built performance:</a:t>
            </a:r>
            <a:r>
              <a:rPr sz="12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200" b="0">
                <a:solidFill>
                  <a:srgbClr val="282828"/>
                </a:solidFill>
                <a:latin typeface="Arial"/>
              </a:rPr>
              <a:t>•  </a:t>
            </a:r>
            <a:r>
              <a:rPr sz="1200" b="1">
                <a:solidFill>
                  <a:srgbClr val="282828"/>
                </a:solidFill>
                <a:latin typeface="Arial"/>
              </a:rPr>
              <a:t>Other approaches worth a look:</a:t>
            </a:r>
            <a:r>
              <a:rPr sz="1200" b="0">
                <a:solidFill>
                  <a:srgbClr val="282828"/>
                </a:solidFill>
                <a:latin typeface="Arial"/>
              </a:rPr>
              <a:t> a modeled large-figure solve, phase diversity, white-light scanning, heterodyne detection, direct-sequence metrology (Backup).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(lens rig); tg96_run('bench.optics','oap') (mirror rig).</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zwfs_run (bench, battery, figures); zwfs_run('bench.optics','oap','readings',{'S','V','P'},'stages',{'bench','battery','noise','loop'}) for the mirror rig.</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and the shared dm_gauge_lib, branch dev-candidate; each directory's README carries the full command list and the run-tag index.  A model-1024 run needs about 11 GB.</a:t>
            </a:r>
          </a:p>
        </p:txBody>
      </p:sp>
      <p:sp>
        <p:nvSpPr>
          <p:cNvPr id="6" name="TextBox 5"/>
          <p:cNvSpPr txBox="1"/>
          <p:nvPr/>
        </p:nvSpPr>
        <p:spPr>
          <a:xfrm>
            <a:off x="6400800" y="3877056"/>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551/0 (2026-10-06).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about 16 % low -- 4.8 nm,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