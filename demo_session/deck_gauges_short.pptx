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For the JPL HWO WFS&amp;C discussion group, 2026-10-08.</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960245"/>
        </p:xfrm>
        <a:graphic>
          <a:graphicData uri="http://schemas.openxmlformats.org/drawingml/2006/table">
            <a:tbl>
              <a:tblPr firstRow="1" bandRow="1">
                <a:tableStyleId>{5C22544A-7EE6-4342-B048-85BDC9FD1C3A}</a:tableStyleId>
              </a:tblPr>
              <a:tblGrid>
                <a:gridCol w="1090676"/>
                <a:gridCol w="7951419"/>
                <a:gridCol w="1163320"/>
                <a:gridCol w="1163320"/>
              </a:tblGrid>
              <a:tr h="280035">
                <a:tc>
                  <a:txBody>
                    <a:bodyPr wrap="square"/>
                    <a:lstStyle/>
                    <a:p>
                      <a:r>
                        <a:rPr sz="1100" b="1">
                          <a:solidFill>
                            <a:srgbClr val="FFFFFF"/>
                          </a:solidFill>
                          <a:latin typeface="Arial"/>
                        </a:rPr>
                        <a:t>the claim</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280035">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the imaging's error in reading a 30 nm working surface, piston and tilt removed</a:t>
                      </a:r>
                    </a:p>
                  </a:txBody>
                  <a:tcPr marL="54864" marR="54864" marT="18288" marB="18288">
                    <a:solidFill>
                      <a:srgbClr val="FFFFFF"/>
                    </a:solidFill>
                  </a:tcPr>
                </a:tc>
                <a:tc>
                  <a:txBody>
                    <a:bodyPr wrap="square"/>
                    <a:lstStyle/>
                    <a:p>
                      <a:r>
                        <a:rPr sz="1100" b="0">
                          <a:solidFill>
                            <a:srgbClr val="282828"/>
                          </a:solidFill>
                          <a:latin typeface="Arial"/>
                        </a:rPr>
                        <a:t>0.13 % (42 pm)</a:t>
                      </a:r>
                    </a:p>
                  </a:txBody>
                  <a:tcPr marL="54864" marR="54864" marT="18288" marB="18288">
                    <a:solidFill>
                      <a:srgbClr val="FFFFFF"/>
                    </a:solidFill>
                  </a:tcPr>
                </a:tc>
                <a:tc>
                  <a:txBody>
                    <a:bodyPr wrap="square"/>
                    <a:lstStyle/>
                    <a:p>
                      <a:r>
                        <a:rPr sz="1100" b="0">
                          <a:solidFill>
                            <a:srgbClr val="282828"/>
                          </a:solidFill>
                          <a:latin typeface="Arial"/>
                        </a:rPr>
                        <a:t>0.29 % (92 pm)</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in the top spatial band (at the actuator Nyquist)</a:t>
                      </a:r>
                    </a:p>
                  </a:txBody>
                  <a:tcPr marL="54864" marR="54864" marT="18288" marB="18288">
                    <a:solidFill>
                      <a:srgbClr val="ECF1F6"/>
                    </a:solidFill>
                  </a:tcPr>
                </a:tc>
                <a:tc>
                  <a:txBody>
                    <a:bodyPr wrap="square"/>
                    <a:lstStyle/>
                    <a:p>
                      <a:r>
                        <a:rPr sz="1100" b="0">
                          <a:solidFill>
                            <a:srgbClr val="282828"/>
                          </a:solidFill>
                          <a:latin typeface="Arial"/>
                        </a:rPr>
                        <a:t>0.5 %</a:t>
                      </a:r>
                    </a:p>
                  </a:txBody>
                  <a:tcPr marL="54864" marR="54864" marT="18288" marB="18288">
                    <a:solidFill>
                      <a:srgbClr val="ECF1F6"/>
                    </a:solidFill>
                  </a:tcPr>
                </a:tc>
                <a:tc>
                  <a:txBody>
                    <a:bodyPr wrap="square"/>
                    <a:lstStyle/>
                    <a:p>
                      <a:r>
                        <a:rPr sz="1100" b="0">
                          <a:solidFill>
                            <a:srgbClr val="282828"/>
                          </a:solidFill>
                          <a:latin typeface="Arial"/>
                        </a:rPr>
                        <a:t>0.9 %</a:t>
                      </a:r>
                    </a:p>
                  </a:txBody>
                  <a:tcPr marL="54864" marR="54864" marT="18288" marB="18288">
                    <a:solidFill>
                      <a:srgbClr val="ECF1F6"/>
                    </a:solidFill>
                  </a:tcPr>
                </a:tc>
              </a:tr>
              <a:tr h="280035">
                <a:tc>
                  <a:txBody>
                    <a:bodyPr wrap="square"/>
                    <a:lstStyle/>
                    <a:p>
                      <a:r>
                        <a:rPr sz="1100" b="0">
                          <a:solidFill>
                            <a:srgbClr val="282828"/>
                          </a:solidFill>
                          <a:latin typeface="Arial"/>
                        </a:rPr>
                        <a:t>precision</a:t>
                      </a:r>
                    </a:p>
                  </a:txBody>
                  <a:tcPr marL="54864" marR="54864" marT="18288" marB="18288">
                    <a:solidFill>
                      <a:srgbClr val="FFFFFF"/>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FFFFFF"/>
                    </a:solidFill>
                  </a:tcPr>
                </a:tc>
                <a:tc>
                  <a:txBody>
                    <a:bodyPr wrap="square"/>
                    <a:lstStyle/>
                    <a:p>
                      <a:r>
                        <a:rPr sz="1100" b="0">
                          <a:solidFill>
                            <a:srgbClr val="282828"/>
                          </a:solidFill>
                          <a:latin typeface="Arial"/>
                        </a:rPr>
                        <a:t>2.3 / 0.7 pm</a:t>
                      </a:r>
                    </a:p>
                  </a:txBody>
                  <a:tcPr marL="54864" marR="54864" marT="18288" marB="18288">
                    <a:solidFill>
                      <a:srgbClr val="FFFFFF"/>
                    </a:solidFill>
                  </a:tcPr>
                </a:tc>
                <a:tc>
                  <a:txBody>
                    <a:bodyPr wrap="square"/>
                    <a:lstStyle/>
                    <a:p>
                      <a:r>
                        <a:rPr sz="1100" b="0">
                          <a:solidFill>
                            <a:srgbClr val="282828"/>
                          </a:solidFill>
                          <a:latin typeface="Arial"/>
                        </a:rPr>
                        <a:t>2.1 / 0.7 pm</a:t>
                      </a:r>
                    </a:p>
                  </a:txBody>
                  <a:tcPr marL="54864" marR="54864" marT="18288" marB="18288">
                    <a:solidFill>
                      <a:srgbClr val="FFFFFF"/>
                    </a:solidFill>
                  </a:tcPr>
                </a:tc>
              </a:tr>
              <a:tr h="280035">
                <a:tc>
                  <a:txBody>
                    <a:bodyPr wrap="square"/>
                    <a:lstStyle/>
                    <a:p>
                      <a:r>
                        <a:rPr sz="1100" b="0">
                          <a:solidFill>
                            <a:srgbClr val="282828"/>
                          </a:solidFill>
                          <a:latin typeface="Arial"/>
                        </a:rPr>
                        <a:t>repeatability</a:t>
                      </a:r>
                    </a:p>
                  </a:txBody>
                  <a:tcPr marL="54864" marR="54864" marT="18288" marB="18288">
                    <a:solidFill>
                      <a:srgbClr val="ECF1F6"/>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ECF1F6"/>
                    </a:solidFill>
                  </a:tcPr>
                </a:tc>
                <a:tc>
                  <a:txBody>
                    <a:bodyPr wrap="square"/>
                    <a:lstStyle/>
                    <a:p>
                      <a:r>
                        <a:rPr sz="1100" b="0">
                          <a:solidFill>
                            <a:srgbClr val="282828"/>
                          </a:solidFill>
                          <a:latin typeface="Arial"/>
                        </a:rPr>
                        <a:t>1.4 / 0.5 pm</a:t>
                      </a:r>
                    </a:p>
                  </a:txBody>
                  <a:tcPr marL="54864" marR="54864" marT="18288" marB="18288">
                    <a:solidFill>
                      <a:srgbClr val="ECF1F6"/>
                    </a:solidFill>
                  </a:tcPr>
                </a:tc>
                <a:tc>
                  <a:txBody>
                    <a:bodyPr wrap="square"/>
                    <a:lstStyle/>
                    <a:p>
                      <a:r>
                        <a:rPr sz="1100" b="0">
                          <a:solidFill>
                            <a:srgbClr val="282828"/>
                          </a:solidFill>
                          <a:latin typeface="Arial"/>
                        </a:rPr>
                        <a:t>1.3 / 0.4 pm</a:t>
                      </a:r>
                    </a:p>
                  </a:txBody>
                  <a:tcPr marL="54864" marR="54864" marT="18288" marB="18288">
                    <a:solidFill>
                      <a:srgbClr val="ECF1F6"/>
                    </a:solidFill>
                  </a:tcPr>
                </a:tc>
              </a:tr>
              <a:tr h="280035">
                <a:tc>
                  <a:txBody>
                    <a:bodyPr wrap="square"/>
                    <a:lstStyle/>
                    <a:p>
                      <a:r>
                        <a:rPr sz="1100" b="0">
                          <a:solidFill>
                            <a:srgbClr val="282828"/>
                          </a:solidFill>
                          <a:latin typeface="Arial"/>
                        </a:rPr>
                        <a:t>hold</a:t>
                      </a:r>
                    </a:p>
                  </a:txBody>
                  <a:tcPr marL="54864" marR="54864" marT="18288" marB="18288">
                    <a:solidFill>
                      <a:srgbClr val="FFFFFF"/>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2.0e13</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ECF1F6"/>
                    </a:solidFill>
                  </a:tcPr>
                </a:tc>
                <a:tc>
                  <a:txBody>
                    <a:bodyPr wrap="square"/>
                    <a:lstStyle/>
                    <a:p>
                      <a:r>
                        <a:rPr sz="1100" b="0">
                          <a:solidFill>
                            <a:srgbClr val="282828"/>
                          </a:solidFill>
                          <a:latin typeface="Arial"/>
                        </a:rPr>
                        <a:t>7.1e13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Picometer measurement is photon-limited, not bench-limited.</a:t>
            </a:r>
            <a:r>
              <a:rPr sz="1500" b="0">
                <a:solidFill>
                  <a:srgbClr val="282828"/>
                </a:solidFill>
                <a:latin typeface="Arial"/>
              </a:rPr>
              <a:t>  One measurement at 1e15 photons — 0.31 mJ, about 1.3 s of a 1 mW laser — repeats to 0.7 pm, and a servo fed at that rate holds under half a picometer.  Both front ends agree to within 10 %.  For scale, </a:t>
            </a:r>
            <a:r>
              <a:rPr sz="1500" b="1">
                <a:solidFill>
                  <a:srgbClr val="282828"/>
                </a:solidFill>
                <a:latin typeface="Arial"/>
              </a:rPr>
              <a:t>Steeves et al. (2020, Optica 7, 1267) demonstrate 1.6 pm in 4.3 s on a real interferometer</a:t>
            </a:r>
            <a:r>
              <a:rPr sz="1500" b="0">
                <a:solidFill>
                  <a:srgbClr val="282828"/>
                </a:solidFill>
                <a:latin typeface="Arial"/>
              </a:rPr>
              <a:t>: ours is photon-limited only, carrying no vibration, thermal drift or detector systematics, so it is the floor this design allows rather than a prediction of the built bench — and agreeing within a factor of two is the check that the model is in the right regime.</a:t>
            </a:r>
          </a:p>
          <a:p>
            <a:pPr>
              <a:spcAft>
                <a:spcPts val="600"/>
              </a:spcAft>
            </a:pPr>
            <a:r>
              <a:rPr sz="1500" b="0">
                <a:solidFill>
                  <a:srgbClr val="282828"/>
                </a:solidFill>
                <a:latin typeface="Arial"/>
              </a:rPr>
              <a:t>•  </a:t>
            </a:r>
            <a:r>
              <a:rPr sz="1500" b="1">
                <a:solidFill>
                  <a:srgbClr val="282828"/>
                </a:solidFill>
                <a:latin typeface="Arial"/>
              </a:rPr>
              <a:t>Accuracy is systematic and proportional</a:t>
            </a:r>
            <a:r>
              <a:rPr sz="1500" b="0">
                <a:solidFill>
                  <a:srgbClr val="282828"/>
                </a:solidFill>
                <a:latin typeface="Arial"/>
              </a:rPr>
              <a:t> — a fraction of the figure read, so 30 nm costs tens of picometers and a 200 nm capture figure costs hundreds.  It holds because the response matrix is measured on the surface, not assumed geometric.</a:t>
            </a:r>
          </a:p>
          <a:p>
            <a:pPr>
              <a:spcAft>
                <a:spcPts val="600"/>
              </a:spcAft>
            </a:pPr>
            <a:r>
              <a:rPr sz="1500" b="0">
                <a:solidFill>
                  <a:srgbClr val="282828"/>
                </a:solidFill>
                <a:latin typeface="Arial"/>
              </a:rPr>
              <a:t>•  </a:t>
            </a:r>
            <a:r>
              <a:rPr sz="1500" b="1">
                <a:solidFill>
                  <a:srgbClr val="282828"/>
                </a:solidFill>
                <a:latin typeface="Arial"/>
              </a:rPr>
              <a:t>One disturbance is not photon-limited:</a:t>
            </a:r>
            <a:r>
              <a:rPr sz="1500" b="0">
                <a:solidFill>
                  <a:srgbClr val="282828"/>
                </a:solidFill>
                <a:latin typeface="Arial"/>
              </a:rPr>
              <a:t> under a 5 pm per cycle thermal ramp the loop lags at about 10 pm however many photons it is given — a cadence and thermal-control requirement, not a sensing one.</a:t>
            </a:r>
          </a:p>
        </p:txBody>
      </p:sp>
      <p:sp>
        <p:nvSpPr>
          <p:cNvPr id="6" name="TextBox 5"/>
          <p:cNvSpPr txBox="1"/>
          <p:nvPr/>
        </p:nvSpPr>
        <p:spPr>
          <a:xfrm>
            <a:off x="457200" y="5989320"/>
            <a:ext cx="11365992" cy="274320"/>
          </a:xfrm>
          <a:prstGeom prst="rect">
            <a:avLst/>
          </a:prstGeom>
          <a:noFill/>
        </p:spPr>
        <p:txBody>
          <a:bodyPr wrap="square">
            <a:spAutoFit/>
          </a:bodyPr>
          <a:lstStyle/>
          <a:p>
            <a:pPr>
              <a:spcAft>
                <a:spcPts val="600"/>
              </a:spcAft>
            </a:pPr>
            <a:r>
              <a:rPr sz="1050" b="0">
                <a:solidFill>
                  <a:srgbClr val="6E6E6E"/>
                </a:solidFill>
                <a:latin typeface="Arial"/>
              </a:rPr>
              <a:t>A 10 nm single-actuator change — what the servo actually corrects — reads against truth to 1.5 pm at gain 1.001 on lenses and 1.8 pm at 0.993 on mirrors.  Every number here is a committed run of the shared model; the run tags are on the provenance slide and each is repeated on the slide that derives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657732" y="1298448"/>
            <a:ext cx="3313935"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a:t>
            </a:r>
            <a:r>
              <a:rPr sz="1500" b="1">
                <a:solidFill>
                  <a:srgbClr val="282828"/>
                </a:solidFill>
                <a:latin typeface="Arial"/>
              </a:rPr>
              <a:t>On the 30 nm surface, matrix measured on it (lens rig; mirror rig in parentheses):</a:t>
            </a:r>
            <a:r>
              <a:rPr sz="1500" b="0">
                <a:solidFill>
                  <a:srgbClr val="282828"/>
                </a:solidFill>
                <a:latin typeface="Arial"/>
              </a:rPr>
              <a:t> 10 nm on one actuator 1.004 / 1.4 pm / SNR 7741 (0.986 / 2.3 pm / 6044); 1 nm on 120 sites 0.993 / 10 pm (0.981 / 4.4 pm); dense 10 nm 0.9995, 500 pm (0.977, 698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2.3e13 photons per cycle with noise only, 7.1e13 under a 2 pm per-cycle actuator walk (mirror rig 2.0e13 / 6.6e13); a noiseless 1 nm step settles to 0.015 pm (2.8 pm on the mirror rig), so no fixed error.</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the three phase-shift forms are priced in backup (lens_deck_se2).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Pupil image quality supports picometer measurement on both rigs.</a:t>
            </a:r>
            <a:r>
              <a:rPr sz="1200" b="0">
                <a:solidFill>
                  <a:srgbClr val="282828"/>
                </a:solidFill>
                <a:latin typeface="Arial"/>
              </a:rPr>
              <a:t>  Carried through to a reading it costs </a:t>
            </a:r>
            <a:r>
              <a:rPr sz="1200" b="1">
                <a:solidFill>
                  <a:srgbClr val="282828"/>
                </a:solidFill>
                <a:latin typeface="Arial"/>
              </a:rPr>
              <a:t>0.13 %</a:t>
            </a:r>
            <a:r>
              <a:rPr sz="1200" b="0">
                <a:solidFill>
                  <a:srgbClr val="282828"/>
                </a:solidFill>
                <a:latin typeface="Arial"/>
              </a:rPr>
              <a:t> of the figure on lenses and </a:t>
            </a:r>
            <a:r>
              <a:rPr sz="1200" b="1">
                <a:solidFill>
                  <a:srgbClr val="282828"/>
                </a:solidFill>
                <a:latin typeface="Arial"/>
              </a:rPr>
              <a:t>0.29 %</a:t>
            </a:r>
            <a:r>
              <a:rPr sz="1200" b="0">
                <a:solidFill>
                  <a:srgbClr val="282828"/>
                </a:solidFill>
                <a:latin typeface="Arial"/>
              </a:rPr>
              <a:t> on mirrors — 42 and 92 pm on a 30 nm working surface — and </a:t>
            </a:r>
            <a:r>
              <a:rPr sz="1200" b="1">
                <a:solidFill>
                  <a:srgbClr val="282828"/>
                </a:solidFill>
                <a:latin typeface="Arial"/>
              </a:rPr>
              <a:t>0.5 % / 0.9 %</a:t>
            </a:r>
            <a:r>
              <a:rPr sz="1200" b="0">
                <a:solidFill>
                  <a:srgbClr val="282828"/>
                </a:solidFill>
                <a:latin typeface="Arial"/>
              </a:rPr>
              <a:t>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a:t>
            </a:r>
            <a:r>
              <a:rPr sz="1200" b="1">
                <a:solidFill>
                  <a:srgbClr val="282828"/>
                </a:solidFill>
                <a:latin typeface="Arial"/>
              </a:rPr>
              <a:t>The lens rig images the DM flat</a:t>
            </a:r>
            <a:r>
              <a:rPr sz="1200" b="0">
                <a:solidFill>
                  <a:srgbClr val="282828"/>
                </a:solidFill>
                <a:latin typeface="Arial"/>
              </a:rPr>
              <a:t> (0.5 µm of defocus across the pupil) and holds its mapping to a seventh of an actuator pitch.  </a:t>
            </a:r>
            <a:r>
              <a:rPr sz="1200" b="1">
                <a:solidFill>
                  <a:srgbClr val="282828"/>
                </a:solidFill>
                <a:latin typeface="Arial"/>
              </a:rPr>
              <a:t>The mirror rig trades mapping for the front end</a:t>
            </a:r>
            <a:r>
              <a:rPr sz="1200" b="0">
                <a:solidFill>
                  <a:srgbClr val="282828"/>
                </a:solidFill>
                <a:latin typeface="Arial"/>
              </a:rPr>
              <a:t>: the OAP pair distorts the image by more than a pitch at the edge, which the measured matrix absorbs and the numbers above already include.</a:t>
            </a:r>
          </a:p>
          <a:p>
            <a:pPr>
              <a:spcAft>
                <a:spcPts val="600"/>
              </a:spcAft>
            </a:pPr>
            <a:r>
              <a:rPr sz="1200" b="0">
                <a:solidFill>
                  <a:srgbClr val="282828"/>
                </a:solidFill>
                <a:latin typeface="Arial"/>
              </a:rPr>
              <a:t>•  </a:t>
            </a:r>
            <a:r>
              <a:rPr sz="1200" b="1">
                <a:solidFill>
                  <a:srgbClr val="282828"/>
                </a:solidFill>
                <a:latin typeface="Arial"/>
              </a:rPr>
              <a:t>The mirror rig's focus is perfect on axis and coma-limited off it</a:t>
            </a:r>
            <a:r>
              <a:rPr sz="1200" b="0">
                <a:solidFill>
                  <a:srgbClr val="282828"/>
                </a:solidFill>
                <a:latin typeface="Arial"/>
              </a:rPr>
              <a: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0.993 / 5 pm / SNR 1987; 1 nm on 120 sites 0.995 / 4 pm; dense 10 nm 0.978, 0.75 nm.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model's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1.008 / 2 pm / SNR 6364; 1 nm on 120 sites 1.001 / 4 pm; dense 10 nm 1.0035, 0.44 nm — the best line in the comparison.</a:t>
            </a:r>
          </a:p>
          <a:p>
            <a:pPr>
              <a:spcAft>
                <a:spcPts val="600"/>
              </a:spcAft>
            </a:pPr>
            <a:r>
              <a:rPr sz="1500" b="0">
                <a:solidFill>
                  <a:srgbClr val="282828"/>
                </a:solidFill>
                <a:latin typeface="Arial"/>
              </a:rPr>
              <a:t>•  </a:t>
            </a:r>
            <a:r>
              <a:rPr sz="1500" b="1">
                <a:solidFill>
                  <a:srgbClr val="282828"/>
                </a:solidFill>
                <a:latin typeface="Arial"/>
              </a:rPr>
              <a:t>Servo (mirror rig):</a:t>
            </a:r>
            <a:r>
              <a:rPr sz="1500" b="0">
                <a:solidFill>
                  <a:srgbClr val="282828"/>
                </a:solidFill>
                <a:latin typeface="Arial"/>
              </a:rPr>
              <a:t> 3 pm from 2.2e12 photons per cycle noise only, 6.8e12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0.995 / 3 pm / SNR 3845; 1 nm on 120 sites 0.998 / 3 pm; dense 10 nm 0.994, 313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a:t>
            </a:r>
            <a:r>
              <a:rPr sz="1500" b="1">
                <a:solidFill>
                  <a:srgbClr val="282828"/>
                </a:solidFill>
                <a:latin typeface="Arial"/>
              </a:rPr>
              <a:t>Not yet modeled: how the phase is stepped.</a:t>
            </a:r>
            <a:r>
              <a:rPr sz="1500" b="0">
                <a:solidFill>
                  <a:srgbClr val="282828"/>
                </a:solidFill>
                <a:latin typeface="Arial"/>
              </a:rPr>
              <a:t>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P/SRI is this sensor's two-arm form and differs from it in more than the phase shifter: a 60/40 pickoff, a reference lens, a 3.7 µm pinhole feeding a single-mode waveguide with a thermo-optic shifter, a recombiner and its own camera — a non-common-path reference where the stepped pinhole's reference shares the plate and the leg.  It pays 6× the photons at null and nothing off null; a capture instrument here, its trade in backup.  Run tags pdi193fbase, ploop193, pdi193state.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74996"/>
                <a:gridCol w="3427339"/>
                <a:gridCol w="2591402"/>
                <a:gridCol w="2674996"/>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0.75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0.44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203445"/>
                <a:gridCol w="3824849"/>
                <a:gridCol w="3450679"/>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Hold:</a:t>
            </a:r>
            <a:r>
              <a:rPr sz="1500" b="0">
                <a:solidFill>
                  <a:srgbClr val="282828"/>
                </a:solidFill>
                <a:latin typeface="Arial"/>
              </a:rPr>
              <a:t> the polarized dimple is the best reading on every line — 3 pm from 2.2e12 photons per cycle, two frames taken at once, no stepping, no fold, no fixed error, and every systematic we modeled calibrated by the matrix measured through it.  The stepped scalar dimple is the fallback with no polarization optics, at 1.6× the light.</a:t>
            </a:r>
          </a:p>
          <a:p>
            <a:pPr>
              <a:spcAft>
                <a:spcPts val="600"/>
              </a:spcAft>
            </a:pPr>
            <a:r>
              <a:rPr sz="1500" b="0">
                <a:solidFill>
                  <a:srgbClr val="282828"/>
                </a:solidFill>
                <a:latin typeface="Arial"/>
              </a:rPr>
              <a:t>•  </a:t>
            </a:r>
            <a:r>
              <a:rPr sz="1500" b="1">
                <a:solidFill>
                  <a:srgbClr val="282828"/>
                </a:solidFill>
                <a:latin typeface="Arial"/>
              </a:rPr>
              <a:t>Capture:</a:t>
            </a:r>
            <a:r>
              <a:rPr sz="1500" b="0">
                <a:solidFill>
                  <a:srgbClr val="282828"/>
                </a:solidFill>
                <a:latin typeface="Arial"/>
              </a:rPr>
              <a:t> the interferometer takes 200-400 nm of wavefront to 3 pm in 19-24 cycles on the mirror rig with unwrapping alone (3.1 pm at cycle 60 on the lens rig).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a:t>
            </a:r>
            <a:r>
              <a:rPr sz="1500" b="1">
                <a:solidFill>
                  <a:srgbClr val="282828"/>
                </a:solidFill>
                <a:latin typeface="Arial"/>
              </a:rPr>
              <a:t>Front end:</a:t>
            </a:r>
            <a:r>
              <a:rPr sz="1500" b="0">
                <a:solidFill>
                  <a:srgbClr val="282828"/>
                </a:solidFill>
                <a:latin typeface="Arial"/>
              </a:rPr>
              <a:t> either builds.  The mirror rig matches the lens rig on the rows and the servo (interferometer 2.0e13 vs 2.3e13 photons per cycle noise only, 6.6e13 vs 7.1e13 under the walk), reads 1 pm for 30 % fewer photons (7.0e14 vs 9.9e14) and captures from 200 nm in 24 cycles where the lens rig stops at 3.1 pm; its sensors pass once calibrated; it buys any color and no glass in the beam, and costs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bench:</a:t>
            </a:r>
            <a:r>
              <a:rPr sz="1500" b="0">
                <a:solidFill>
                  <a:srgbClr val="282828"/>
                </a:solidFill>
                <a:latin typeface="Arial"/>
              </a:rPr>
              <a:t> one layout with the reference arm shuttered, the mask seat translated, the quarter-wave plate in or out, and the P/SRI arm behind a flip-in plate (the one-bench slide).  Capture with the interferometer, hand off inside the sensor's 60 nm reach, hold with the sensor at a tenth of the light.</a:t>
            </a:r>
          </a:p>
          <a:p>
            <a:pPr>
              <a:spcAft>
                <a:spcPts val="600"/>
              </a:spcAft>
            </a:pPr>
            <a:r>
              <a:rPr sz="1500" b="0">
                <a:solidFill>
                  <a:srgbClr val="282828"/>
                </a:solidFill>
                <a:latin typeface="Arial"/>
              </a:rPr>
              <a:t>•  </a:t>
            </a:r>
            <a:r>
              <a:rPr sz="1500" b="1">
                <a:solidFill>
                  <a:srgbClr val="282828"/>
                </a:solidFill>
                <a:latin typeface="Arial"/>
              </a:rPr>
              <a:t>What the numbers do not decide:</a:t>
            </a:r>
            <a:r>
              <a:rPr sz="15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comes next, and how to run it</a:t>
            </a:r>
          </a:p>
          <a:p>
            <a:pPr>
              <a:spcAft>
                <a:spcPts val="0"/>
              </a:spcAft>
            </a:pPr>
            <a:r>
              <a:rPr sz="1250" b="0">
                <a:solidFill>
                  <a:srgbClr val="6E6E6E"/>
                </a:solidFill>
                <a:latin typeface="Arial"/>
              </a:rPr>
              <a:t>Three threads of future work, and one command line per gauge; every number in the deck is reproduced by the runners in the public repositories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Capture beyond one wave with a second color:</a:t>
            </a:r>
            <a:r>
              <a:rPr sz="1200" b="0">
                <a:solidFill>
                  <a:srgbClr val="282828"/>
                </a:solidFill>
                <a:latin typeface="Arial"/>
              </a:rPr>
              <a:t> 632.8 + 700 nm gives a 6.6 µm synthetic wavelength and 1.6 µm of unambiguous surface at 10× the noise; the coarse pair captures, the single color holds.  The runner already traces one mask at five colors (Backup).</a:t>
            </a:r>
          </a:p>
          <a:p>
            <a:pPr>
              <a:spcAft>
                <a:spcPts val="600"/>
              </a:spcAft>
            </a:pPr>
            <a:r>
              <a:rPr sz="1200" b="0">
                <a:solidFill>
                  <a:srgbClr val="282828"/>
                </a:solidFill>
                <a:latin typeface="Arial"/>
              </a:rPr>
              <a:t>•  </a:t>
            </a:r>
            <a:r>
              <a:rPr sz="1200" b="1">
                <a:solidFill>
                  <a:srgbClr val="282828"/>
                </a:solidFill>
                <a:latin typeface="Arial"/>
              </a:rPr>
              <a:t>From this model to as-built performance:</a:t>
            </a:r>
            <a:r>
              <a:rPr sz="1200" b="0">
                <a:solidFill>
                  <a:srgbClr val="282828"/>
                </a:solidFill>
                <a:latin typeface="Arial"/>
              </a:rPr>
              <a:t> the camera's well depth sets the measurement time (1e14 photons is 1600 frames at 60 ke per pixel); surface, alignment, stability and polarization errors priced per reading (Backup).</a:t>
            </a:r>
          </a:p>
          <a:p>
            <a:pPr>
              <a:spcAft>
                <a:spcPts val="600"/>
              </a:spcAft>
            </a:pPr>
            <a:r>
              <a:rPr sz="1200" b="0">
                <a:solidFill>
                  <a:srgbClr val="282828"/>
                </a:solidFill>
                <a:latin typeface="Arial"/>
              </a:rPr>
              <a:t>•  </a:t>
            </a:r>
            <a:r>
              <a:rPr sz="1200" b="1">
                <a:solidFill>
                  <a:srgbClr val="282828"/>
                </a:solidFill>
                <a:latin typeface="Arial"/>
              </a:rPr>
              <a:t>Other approaches worth a look:</a:t>
            </a:r>
            <a:r>
              <a:rPr sz="1200" b="0">
                <a:solidFill>
                  <a:srgbClr val="282828"/>
                </a:solidFill>
                <a:latin typeface="Arial"/>
              </a:rPr>
              <a:t> a modeled large-figure solve, phase diversity, white-light scanning, heterodyne detection, direct-sequence metrology (Backup).</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(lens rig); tg96_run('bench.optics','oap') (mirror rig).</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zwfs_run (bench, battery, figures); zwfs_run('bench.optics','oap','readings',{'S','V','P'},'stages',{'bench','battery','noise','loop'}) for the mirror rig.</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and the shared dm_gauge_lib, branch dev-candidate; each directory's README carries the full command list and the run-tag index.  A model-1024 run needs about 11 GB.</a:t>
            </a:r>
          </a:p>
        </p:txBody>
      </p:sp>
      <p:sp>
        <p:nvSpPr>
          <p:cNvPr id="6" name="TextBox 5"/>
          <p:cNvSpPr txBox="1"/>
          <p:nvPr/>
        </p:nvSpPr>
        <p:spPr>
          <a:xfrm>
            <a:off x="6400800" y="3877056"/>
            <a:ext cx="5394960" cy="274320"/>
          </a:xfrm>
          <a:prstGeom prst="rect">
            <a:avLst/>
          </a:prstGeom>
          <a:noFill/>
        </p:spPr>
        <p:txBody>
          <a:bodyPr wrap="square">
            <a:spAutoFit/>
          </a:bodyPr>
          <a:lstStyle/>
          <a:p>
            <a:pPr>
              <a:spcAft>
                <a:spcPts val="600"/>
              </a:spcAft>
            </a:pPr>
            <a:r>
              <a:rPr sz="1050" b="0">
                <a:solidFill>
                  <a:srgbClr val="6E6E6E"/>
                </a:solidFill>
                <a:latin typeface="Arial"/>
              </a:rPr>
              <a:t>Every stage asserts its own gates (the mask round trip, the reference-wave surrogate, the fold, the pinhole, the analyzer); tDmgLoop 15/15; the mmacos fast suite 551/0 (2026-10-06).  All code and documentation is public: nasa-jpl/macos and nasa-jpl/MACOS_resources on github.</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_stations.png"/>
          <p:cNvPicPr>
            <a:picLocks noChangeAspect="1"/>
          </p:cNvPicPr>
          <p:nvPr/>
        </p:nvPicPr>
        <p:blipFill>
          <a:blip r:embed="rId2"/>
          <a:stretch>
            <a:fillRect/>
          </a:stretch>
        </p:blipFill>
        <p:spPr>
          <a:xfrm>
            <a:off x="2028583" y="1298448"/>
            <a:ext cx="8134528"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 (the mirror rig).  The lens rig's figure exists but its absolute residual reads 51 nm against the engine — a fold of the phase, not an imaging error (its differential rows read the same as the mirror rig's); under investigation, so it is not shown.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a:t>
            </a:r>
            <a:r>
              <a:rPr sz="1800" b="1">
                <a:solidFill>
                  <a:srgbClr val="282828"/>
                </a:solidFill>
                <a:latin typeface="Arial"/>
              </a:rPr>
              <a:t>The right model is coherent imaging:</a:t>
            </a:r>
            <a:r>
              <a:rPr sz="1800" b="0">
                <a:solidFill>
                  <a:srgbClr val="282828"/>
                </a:solidFill>
                <a:latin typeface="Arial"/>
              </a:rPr>
              <a:t>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a:t>
            </a:r>
            <a:r>
              <a:rPr sz="1800" b="1">
                <a:solidFill>
                  <a:srgbClr val="282828"/>
                </a:solidFill>
                <a:latin typeface="Arial"/>
              </a:rPr>
              <a:t>For the mask sensors it is already in the runner:</a:t>
            </a:r>
            <a:r>
              <a:rPr sz="1800" b="0">
                <a:solidFill>
                  <a:srgbClr val="282828"/>
                </a:solidFill>
                <a:latin typeface="Arial"/>
              </a:rPr>
              <a:t> the mask sandwich propagates the field to the seat, applies the mask, and propagates back to the pupil image, mask shape and all.</a:t>
            </a:r>
          </a:p>
          <a:p>
            <a:pPr>
              <a:spcAft>
                <a:spcPts val="600"/>
              </a:spcAft>
            </a:pPr>
            <a:r>
              <a:rPr sz="1800" b="0">
                <a:solidFill>
                  <a:srgbClr val="282828"/>
                </a:solidFill>
                <a:latin typeface="Arial"/>
              </a:rPr>
              <a:t>•  </a:t>
            </a:r>
            <a:r>
              <a:rPr sz="1800" b="1">
                <a:solidFill>
                  <a:srgbClr val="282828"/>
                </a:solidFill>
                <a:latin typeface="Arial"/>
              </a:rPr>
              <a:t>For the interferometer the aperture at the focus is wide</a:t>
            </a:r>
            <a:r>
              <a:rPr sz="1800" b="0">
                <a:solidFill>
                  <a:srgbClr val="282828"/>
                </a:solidFill>
                <a:latin typeface="Arial"/>
              </a:rPr>
              <a:t>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a:t>
            </a:r>
            <a:r>
              <a:rPr sz="1800" b="1">
                <a:solidFill>
                  <a:srgbClr val="282828"/>
                </a:solidFill>
                <a:latin typeface="Arial"/>
              </a:rPr>
              <a:t>When a small field stop sits at the focus</a:t>
            </a:r>
            <a:r>
              <a:rPr sz="1800" b="0">
                <a:solidFill>
                  <a:srgbClr val="282828"/>
                </a:solidFill>
                <a:latin typeface="Arial"/>
              </a:rPr>
              <a:t>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a:t>
            </a:r>
            <a:r>
              <a:rPr sz="1200" b="1">
                <a:solidFill>
                  <a:srgbClr val="282828"/>
                </a:solidFill>
                <a:latin typeface="Arial"/>
              </a:rPr>
              <a:t>Pupil image</a:t>
            </a:r>
            <a:r>
              <a:rPr sz="1200" b="0">
                <a:solidFill>
                  <a:srgbClr val="282828"/>
                </a:solidFill>
                <a:latin typeface="Arial"/>
              </a:rPr>
              <a:t> (tg_psi_dm96_oap): tg96_pupilq('rig','lens'), tg96_pupilsim('rig','oap'); both tools, both rigs: ./tg96_pupil_batch.sh both (knobs: P.pupil in tg96_params).</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other gauges on the mirror rig:</a:t>
            </a:r>
            <a:r>
              <a:rPr sz="1200" b="0">
                <a:solidFill>
                  <a:srgbClr val="282828"/>
                </a:solidFill>
                <a:latin typeface="Arial"/>
              </a:rPr>
              <a:t> zwfs_run('bench.optics','oap','bench.coat_oap','bareAl','readings',{'L','S','V','P','PF'},'stages',{'bench','battery','noise','loop'},'mask.v_arm','engine').</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a:t>
            </a:r>
            <a:r>
              <a:rPr sz="1200" b="1">
                <a:solidFill>
                  <a:srgbClr val="282828"/>
                </a:solidFill>
                <a:latin typeface="Arial"/>
              </a:rPr>
              <a:t>Gates:</a:t>
            </a:r>
            <a:r>
              <a:rPr sz="1200" b="0">
                <a:solidFill>
                  <a:srgbClr val="282828"/>
                </a:solidFill>
                <a:latin typeface="Arial"/>
              </a:rPr>
              <a:t>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