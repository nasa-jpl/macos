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1737360"/>
            <a:ext cx="10545775" cy="2926080"/>
          </a:xfrm>
          <a:prstGeom prst="rect">
            <a:avLst/>
          </a:prstGeom>
          <a:noFill/>
        </p:spPr>
        <p:txBody>
          <a:bodyPr wrap="square">
            <a:spAutoFit/>
          </a:bodyPr>
          <a:lstStyle/>
          <a:p>
            <a:pPr>
              <a:spcAft>
                <a:spcPts val="400"/>
              </a:spcAft>
            </a:pPr>
            <a:r>
              <a:rPr sz="4000" b="1">
                <a:solidFill>
                  <a:srgbClr val="1F4E79"/>
                </a:solidFill>
                <a:latin typeface="Arial"/>
              </a:rPr>
              <a:t>The 3k Dyson Module Brought to the Pixel</a:t>
            </a:r>
          </a:p>
          <a:p>
            <a:pPr>
              <a:spcAft>
                <a:spcPts val="1400"/>
              </a:spcAft>
            </a:pPr>
            <a:r>
              <a:rPr sz="2200" b="0">
                <a:solidFill>
                  <a:srgbClr val="282828"/>
                </a:solidFill>
                <a:latin typeface="Arial"/>
              </a:rPr>
              <a:t>A freeform three-mirror telescope of the SBG VSWIR form, seeded from the published layout and solved to Joe's specification, feeding the 240 mm </a:t>
            </a:r>
            <a:r>
              <a:rPr sz="2200" b="0">
                <a:solidFill>
                  <a:srgbClr val="282828"/>
                </a:solidFill>
                <a:latin typeface="Arial"/>
              </a:rPr>
              <a:t>CaF</a:t>
            </a:r>
            <a:r>
              <a:rPr sz="2200" b="0" baseline="-25000">
                <a:solidFill>
                  <a:srgbClr val="282828"/>
                </a:solidFill>
                <a:latin typeface="Arial"/>
              </a:rPr>
              <a:t>2</a:t>
            </a:r>
            <a:r>
              <a:rPr sz="2200" b="0">
                <a:solidFill>
                  <a:srgbClr val="282828"/>
                </a:solidFill>
                <a:latin typeface="Arial"/>
              </a:rPr>
              <a:t> Dyson of record: smile 0.02, keystone 0.006, CRF 1.17 pixels, 0.85 of the energy in one pixel, end to end over the 9.4° strip.</a:t>
            </a:r>
          </a:p>
          <a:p>
            <a:pPr>
              <a:spcAft>
                <a:spcPts val="800"/>
              </a:spcAft>
            </a:pPr>
            <a:r>
              <a:rPr sz="1500" b="0">
                <a:solidFill>
                  <a:srgbClr val="6E6E6E"/>
                </a:solidFill>
                <a:latin typeface="Arial"/>
              </a:rPr>
              <a:t>D. C. Redding, with Claude Code.</a:t>
            </a:r>
          </a:p>
          <a:p>
            <a:pPr>
              <a:spcAft>
                <a:spcPts val="800"/>
              </a:spcAft>
            </a:pPr>
            <a:r>
              <a:rPr sz="1500" b="0">
                <a:solidFill>
                  <a:srgbClr val="6E6E6E"/>
                </a:solidFill>
                <a:latin typeface="Arial"/>
              </a:rPr>
              <a:t>October 2026.  Working record; no proprietary prescription is used.</a:t>
            </a:r>
          </a:p>
          <a:p>
            <a:pPr>
              <a:spcAft>
                <a:spcPts val="800"/>
              </a:spcAft>
            </a:pPr>
            <a:r>
              <a:rPr sz="1500" b="0">
                <a:solidFill>
                  <a:srgbClr val="6E6E6E"/>
                </a:solidFill>
                <a:latin typeface="Arial"/>
              </a:rPr>
              <a:t>DRAFT — pending review.</a:t>
            </a:r>
          </a:p>
        </p:txBody>
      </p:sp>
      <p:sp>
        <p:nvSpPr>
          <p:cNvPr id="3" name="TextBox 2"/>
          <p:cNvSpPr txBox="1"/>
          <p:nvPr/>
        </p:nvSpPr>
        <p:spPr>
          <a:xfrm>
            <a:off x="822960" y="5486400"/>
            <a:ext cx="10545775" cy="914400"/>
          </a:xfrm>
          <a:prstGeom prst="rect">
            <a:avLst/>
          </a:prstGeom>
          <a:noFill/>
        </p:spPr>
        <p:txBody>
          <a:bodyPr wrap="square">
            <a:spAutoFit/>
          </a:bodyPr>
          <a:lstStyle/>
          <a:p>
            <a:pPr>
              <a:spcAft>
                <a:spcPts val="400"/>
              </a:spcAft>
            </a:pPr>
            <a:r>
              <a:rPr sz="1300" b="0">
                <a:solidFill>
                  <a:srgbClr val="6E6E6E"/>
                </a:solidFill>
                <a:latin typeface="Arial"/>
              </a:rPr>
              <a:t>Since the 2026-10-06 deck: Jim's answers and the project's own paper settled the trade toward two 3k modules and pointed at the telescope form; a design template built on that form reaches the pixel at every field of the strip, with the cone bounded and the slit telecentric; the 0.14-pixel "smile" that remained was the scorer's launch convention, not the optics.  Both modules now meet the specification end to end; SRF sits at the two-pixel slit's floor.  What is left is the spectrometer's: tolerances, the aspheric-lens form, throughput by band.</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Contents</a:t>
            </a:r>
          </a:p>
          <a:p>
            <a:pPr>
              <a:spcAft>
                <a:spcPts val="0"/>
              </a:spcAft>
            </a:pPr>
            <a:r>
              <a:rPr sz="1250" b="0">
                <a:solidFill>
                  <a:srgbClr val="6E6E6E"/>
                </a:solidFill>
                <a:latin typeface="Arial"/>
              </a:rPr>
              <a:t>What changed, the seed, the telescope of record, the module scored, how the solve got there, the two smile conventions, the spectrometer, the comparison, the questions</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298448"/>
            <a:ext cx="5806440" cy="274320"/>
          </a:xfrm>
          <a:prstGeom prst="rect">
            <a:avLst/>
          </a:prstGeom>
          <a:noFill/>
        </p:spPr>
        <p:txBody>
          <a:bodyPr wrap="square">
            <a:spAutoFit/>
          </a:bodyPr>
          <a:lstStyle/>
          <a:p>
            <a:pPr>
              <a:spcAft>
                <a:spcPts val="600"/>
              </a:spcAft>
            </a:pPr>
            <a:r>
              <a:rPr sz="1200" b="0">
                <a:solidFill>
                  <a:srgbClr val="282828"/>
                </a:solidFill>
                <a:latin typeface="Arial"/>
              </a:rPr>
              <a:t>•  </a:t>
            </a:r>
            <a:r>
              <a:rPr sz="1200" b="1">
                <a:solidFill>
                  <a:srgbClr val="282828"/>
                </a:solidFill>
                <a:latin typeface="Arial"/>
              </a:rPr>
              <a:t>3</a:t>
            </a:r>
            <a:r>
              <a:rPr sz="1200" b="0">
                <a:solidFill>
                  <a:srgbClr val="282828"/>
                </a:solidFill>
                <a:latin typeface="Arial"/>
              </a:rPr>
              <a:t> The target and how it is scored</a:t>
            </a:r>
          </a:p>
          <a:p>
            <a:pPr>
              <a:spcAft>
                <a:spcPts val="600"/>
              </a:spcAft>
            </a:pPr>
            <a:r>
              <a:rPr sz="1200" b="0">
                <a:solidFill>
                  <a:srgbClr val="282828"/>
                </a:solidFill>
                <a:latin typeface="Arial"/>
              </a:rPr>
              <a:t>•  </a:t>
            </a:r>
            <a:r>
              <a:rPr sz="1200" b="1">
                <a:solidFill>
                  <a:srgbClr val="282828"/>
                </a:solidFill>
                <a:latin typeface="Arial"/>
              </a:rPr>
              <a:t>4</a:t>
            </a:r>
            <a:r>
              <a:rPr sz="1200" b="0">
                <a:solidFill>
                  <a:srgbClr val="282828"/>
                </a:solidFill>
                <a:latin typeface="Arial"/>
              </a:rPr>
              <a:t> What changed since the last deck: Jim's answers and the paper</a:t>
            </a:r>
          </a:p>
          <a:p>
            <a:pPr>
              <a:spcAft>
                <a:spcPts val="600"/>
              </a:spcAft>
            </a:pPr>
            <a:r>
              <a:rPr sz="1200" b="0">
                <a:solidFill>
                  <a:srgbClr val="282828"/>
                </a:solidFill>
                <a:latin typeface="Arial"/>
              </a:rPr>
              <a:t>•  </a:t>
            </a:r>
            <a:r>
              <a:rPr sz="1200" b="1">
                <a:solidFill>
                  <a:srgbClr val="282828"/>
                </a:solidFill>
                <a:latin typeface="Arial"/>
              </a:rPr>
              <a:t>5</a:t>
            </a:r>
            <a:r>
              <a:rPr sz="1200" b="0">
                <a:solidFill>
                  <a:srgbClr val="282828"/>
                </a:solidFill>
                <a:latin typeface="Arial"/>
              </a:rPr>
              <a:t> The seed: the SBG form, first order</a:t>
            </a:r>
          </a:p>
          <a:p>
            <a:pPr>
              <a:spcAft>
                <a:spcPts val="600"/>
              </a:spcAft>
            </a:pPr>
            <a:r>
              <a:rPr sz="1200" b="0">
                <a:solidFill>
                  <a:srgbClr val="282828"/>
                </a:solidFill>
                <a:latin typeface="Arial"/>
              </a:rPr>
              <a:t>•  </a:t>
            </a:r>
            <a:r>
              <a:rPr sz="1200" b="1">
                <a:solidFill>
                  <a:srgbClr val="282828"/>
                </a:solidFill>
                <a:latin typeface="Arial"/>
              </a:rPr>
              <a:t>6</a:t>
            </a:r>
            <a:r>
              <a:rPr sz="1200" b="0">
                <a:solidFill>
                  <a:srgbClr val="282828"/>
                </a:solidFill>
                <a:latin typeface="Arial"/>
              </a:rPr>
              <a:t> The telescope of record: freeform three-mirror, R9</a:t>
            </a:r>
          </a:p>
          <a:p>
            <a:pPr>
              <a:spcAft>
                <a:spcPts val="600"/>
              </a:spcAft>
            </a:pPr>
            <a:r>
              <a:rPr sz="1200" b="0">
                <a:solidFill>
                  <a:srgbClr val="282828"/>
                </a:solidFill>
                <a:latin typeface="Arial"/>
              </a:rPr>
              <a:t>•  </a:t>
            </a:r>
            <a:r>
              <a:rPr sz="1200" b="1">
                <a:solidFill>
                  <a:srgbClr val="282828"/>
                </a:solidFill>
                <a:latin typeface="Arial"/>
              </a:rPr>
              <a:t>7</a:t>
            </a:r>
            <a:r>
              <a:rPr sz="1200" b="0">
                <a:solidFill>
                  <a:srgbClr val="282828"/>
                </a:solidFill>
                <a:latin typeface="Arial"/>
              </a:rPr>
              <a:t> The 3k module, scored: spectrometer, telescope, and the two together</a:t>
            </a:r>
          </a:p>
          <a:p>
            <a:pPr>
              <a:spcAft>
                <a:spcPts val="600"/>
              </a:spcAft>
            </a:pPr>
            <a:r>
              <a:rPr sz="1200" b="0">
                <a:solidFill>
                  <a:srgbClr val="282828"/>
                </a:solidFill>
                <a:latin typeface="Arial"/>
              </a:rPr>
              <a:t>•  </a:t>
            </a:r>
            <a:r>
              <a:rPr sz="1200" b="1">
                <a:solidFill>
                  <a:srgbClr val="282828"/>
                </a:solidFill>
                <a:latin typeface="Arial"/>
              </a:rPr>
              <a:t>8</a:t>
            </a:r>
            <a:r>
              <a:rPr sz="1200" b="0">
                <a:solidFill>
                  <a:srgbClr val="282828"/>
                </a:solidFill>
                <a:latin typeface="Arial"/>
              </a:rPr>
              <a:t> The 3k module, end to end</a:t>
            </a:r>
          </a:p>
          <a:p>
            <a:pPr>
              <a:spcAft>
                <a:spcPts val="600"/>
              </a:spcAft>
            </a:pPr>
            <a:r>
              <a:rPr sz="1200" b="0">
                <a:solidFill>
                  <a:srgbClr val="282828"/>
                </a:solidFill>
                <a:latin typeface="Arial"/>
              </a:rPr>
              <a:t>•  </a:t>
            </a:r>
            <a:r>
              <a:rPr sz="1200" b="1">
                <a:solidFill>
                  <a:srgbClr val="282828"/>
                </a:solidFill>
                <a:latin typeface="Arial"/>
              </a:rPr>
              <a:t>9</a:t>
            </a:r>
            <a:r>
              <a:rPr sz="1200" b="0">
                <a:solidFill>
                  <a:srgbClr val="282828"/>
                </a:solidFill>
                <a:latin typeface="Arial"/>
              </a:rPr>
              <a:t> How the solve got there: six rungs and three lessons</a:t>
            </a:r>
          </a:p>
        </p:txBody>
      </p:sp>
      <p:sp>
        <p:nvSpPr>
          <p:cNvPr id="5" name="TextBox 4"/>
          <p:cNvSpPr txBox="1"/>
          <p:nvPr/>
        </p:nvSpPr>
        <p:spPr>
          <a:xfrm>
            <a:off x="6400800" y="1298448"/>
            <a:ext cx="5394960" cy="274320"/>
          </a:xfrm>
          <a:prstGeom prst="rect">
            <a:avLst/>
          </a:prstGeom>
          <a:noFill/>
        </p:spPr>
        <p:txBody>
          <a:bodyPr wrap="square">
            <a:spAutoFit/>
          </a:bodyPr>
          <a:lstStyle/>
          <a:p>
            <a:pPr>
              <a:spcAft>
                <a:spcPts val="600"/>
              </a:spcAft>
            </a:pPr>
            <a:r>
              <a:rPr sz="1200" b="0">
                <a:solidFill>
                  <a:srgbClr val="282828"/>
                </a:solidFill>
                <a:latin typeface="Arial"/>
              </a:rPr>
              <a:t>•  </a:t>
            </a:r>
            <a:r>
              <a:rPr sz="1200" b="1">
                <a:solidFill>
                  <a:srgbClr val="282828"/>
                </a:solidFill>
                <a:latin typeface="Arial"/>
              </a:rPr>
              <a:t>10</a:t>
            </a:r>
            <a:r>
              <a:rPr sz="1200" b="0">
                <a:solidFill>
                  <a:srgbClr val="282828"/>
                </a:solidFill>
                <a:latin typeface="Arial"/>
              </a:rPr>
              <a:t> Smile is a convention: the launch, not the optics</a:t>
            </a:r>
          </a:p>
          <a:p>
            <a:pPr>
              <a:spcAft>
                <a:spcPts val="600"/>
              </a:spcAft>
            </a:pPr>
            <a:r>
              <a:rPr sz="1200" b="0">
                <a:solidFill>
                  <a:srgbClr val="282828"/>
                </a:solidFill>
                <a:latin typeface="Arial"/>
              </a:rPr>
              <a:t>•  </a:t>
            </a:r>
            <a:r>
              <a:rPr sz="1200" b="1">
                <a:solidFill>
                  <a:srgbClr val="282828"/>
                </a:solidFill>
                <a:latin typeface="Arial"/>
              </a:rPr>
              <a:t>11</a:t>
            </a:r>
            <a:r>
              <a:rPr sz="1200" b="0">
                <a:solidFill>
                  <a:srgbClr val="282828"/>
                </a:solidFill>
                <a:latin typeface="Arial"/>
              </a:rPr>
              <a:t> The cone, the spec and the paper's beam</a:t>
            </a:r>
          </a:p>
          <a:p>
            <a:pPr>
              <a:spcAft>
                <a:spcPts val="600"/>
              </a:spcAft>
            </a:pPr>
            <a:r>
              <a:rPr sz="1200" b="0">
                <a:solidFill>
                  <a:srgbClr val="282828"/>
                </a:solidFill>
                <a:latin typeface="Arial"/>
              </a:rPr>
              <a:t>•  </a:t>
            </a:r>
            <a:r>
              <a:rPr sz="1200" b="1">
                <a:solidFill>
                  <a:srgbClr val="282828"/>
                </a:solidFill>
                <a:latin typeface="Arial"/>
              </a:rPr>
              <a:t>12</a:t>
            </a:r>
            <a:r>
              <a:rPr sz="1200" b="0">
                <a:solidFill>
                  <a:srgbClr val="282828"/>
                </a:solidFill>
                <a:latin typeface="Arial"/>
              </a:rPr>
              <a:t> The spectrometer: at the slit floor; what is left</a:t>
            </a:r>
          </a:p>
          <a:p>
            <a:pPr>
              <a:spcAft>
                <a:spcPts val="600"/>
              </a:spcAft>
            </a:pPr>
            <a:r>
              <a:rPr sz="1200" b="0">
                <a:solidFill>
                  <a:srgbClr val="282828"/>
                </a:solidFill>
                <a:latin typeface="Arial"/>
              </a:rPr>
              <a:t>•  </a:t>
            </a:r>
            <a:r>
              <a:rPr sz="1200" b="1">
                <a:solidFill>
                  <a:srgbClr val="282828"/>
                </a:solidFill>
                <a:latin typeface="Arial"/>
              </a:rPr>
              <a:t>13</a:t>
            </a:r>
            <a:r>
              <a:rPr sz="1200" b="0">
                <a:solidFill>
                  <a:srgbClr val="282828"/>
                </a:solidFill>
                <a:latin typeface="Arial"/>
              </a:rPr>
              <a:t> Two of 3k or four of 1.5k, updated</a:t>
            </a:r>
          </a:p>
          <a:p>
            <a:pPr>
              <a:spcAft>
                <a:spcPts val="600"/>
              </a:spcAft>
            </a:pPr>
            <a:r>
              <a:rPr sz="1200" b="0">
                <a:solidFill>
                  <a:srgbClr val="282828"/>
                </a:solidFill>
                <a:latin typeface="Arial"/>
              </a:rPr>
              <a:t>•  </a:t>
            </a:r>
            <a:r>
              <a:rPr sz="1200" b="1">
                <a:solidFill>
                  <a:srgbClr val="282828"/>
                </a:solidFill>
                <a:latin typeface="Arial"/>
              </a:rPr>
              <a:t>14</a:t>
            </a:r>
            <a:r>
              <a:rPr sz="1200" b="0">
                <a:solidFill>
                  <a:srgbClr val="282828"/>
                </a:solidFill>
                <a:latin typeface="Arial"/>
              </a:rPr>
              <a:t> Questions for Jim and Joe</a:t>
            </a:r>
          </a:p>
          <a:p>
            <a:pPr>
              <a:spcAft>
                <a:spcPts val="600"/>
              </a:spcAft>
            </a:pPr>
            <a:r>
              <a:rPr sz="1200" b="0">
                <a:solidFill>
                  <a:srgbClr val="282828"/>
                </a:solidFill>
                <a:latin typeface="Arial"/>
              </a:rPr>
              <a:t>•  </a:t>
            </a:r>
            <a:r>
              <a:rPr sz="1200" b="1">
                <a:solidFill>
                  <a:srgbClr val="282828"/>
                </a:solidFill>
                <a:latin typeface="Arial"/>
              </a:rPr>
              <a:t>15</a:t>
            </a:r>
            <a:r>
              <a:rPr sz="1200" b="0">
                <a:solidFill>
                  <a:srgbClr val="282828"/>
                </a:solidFill>
                <a:latin typeface="Arial"/>
              </a:rPr>
              <a:t> Next steps</a:t>
            </a:r>
          </a:p>
          <a:p>
            <a:pPr>
              <a:spcAft>
                <a:spcPts val="600"/>
              </a:spcAft>
            </a:pPr>
            <a:r>
              <a:rPr sz="1200" b="0">
                <a:solidFill>
                  <a:srgbClr val="282828"/>
                </a:solidFill>
                <a:latin typeface="Arial"/>
              </a:rPr>
              <a:t>•  </a:t>
            </a:r>
            <a:r>
              <a:rPr sz="1200" b="1">
                <a:solidFill>
                  <a:srgbClr val="282828"/>
                </a:solidFill>
                <a:latin typeface="Arial"/>
              </a:rPr>
              <a:t>16</a:t>
            </a:r>
            <a:r>
              <a:rPr sz="1200" b="0">
                <a:solidFill>
                  <a:srgbClr val="282828"/>
                </a:solidFill>
                <a:latin typeface="Arial"/>
              </a:rPr>
              <a:t> Run it yourself</a:t>
            </a:r>
          </a:p>
          <a:p>
            <a:pPr>
              <a:spcAft>
                <a:spcPts val="600"/>
              </a:spcAft>
            </a:pPr>
            <a:r>
              <a:rPr sz="1200" b="0">
                <a:solidFill>
                  <a:srgbClr val="282828"/>
                </a:solidFill>
                <a:latin typeface="Arial"/>
              </a:rPr>
              <a:t>•  </a:t>
            </a:r>
            <a:r>
              <a:rPr sz="1200" b="1">
                <a:solidFill>
                  <a:srgbClr val="282828"/>
                </a:solidFill>
                <a:latin typeface="Arial"/>
              </a:rPr>
              <a:t>17</a:t>
            </a:r>
            <a:r>
              <a:rPr sz="1200" b="0">
                <a:solidFill>
                  <a:srgbClr val="282828"/>
                </a:solidFill>
                <a:latin typeface="Arial"/>
              </a:rPr>
              <a:t> Backup: the first order by the numbers; the rungs per field; the chief-tilt diagnostic; the engine finding; records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The target and how it is scored</a:t>
            </a:r>
          </a:p>
          <a:p>
            <a:pPr>
              <a:spcAft>
                <a:spcPts val="0"/>
              </a:spcAft>
            </a:pPr>
            <a:r>
              <a:rPr sz="1250" b="0">
                <a:solidFill>
                  <a:srgbClr val="6E6E6E"/>
                </a:solidFill>
                <a:latin typeface="Arial"/>
              </a:rPr>
              <a:t>Joe's specification at Jim's ground sample; the metrics stated once, with the paper's bounds in the same units</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411480" y="1298448"/>
          <a:ext cx="5806438" cy="3646170"/>
        </p:xfrm>
        <a:graphic>
          <a:graphicData uri="http://schemas.openxmlformats.org/drawingml/2006/table">
            <a:tbl>
              <a:tblPr firstRow="1" bandRow="1">
                <a:tableStyleId>{5C22544A-7EE6-4342-B048-85BDC9FD1C3A}</a:tableStyleId>
              </a:tblPr>
              <a:tblGrid>
                <a:gridCol w="1705065"/>
                <a:gridCol w="1705065"/>
                <a:gridCol w="2396308"/>
              </a:tblGrid>
              <a:tr h="280035">
                <a:tc>
                  <a:txBody>
                    <a:bodyPr wrap="square"/>
                    <a:lstStyle/>
                    <a:p>
                      <a:r>
                        <a:rPr sz="1100" b="1">
                          <a:solidFill>
                            <a:srgbClr val="FFFFFF"/>
                          </a:solidFill>
                          <a:latin typeface="Arial"/>
                        </a:rPr>
                        <a:t>item</a:t>
                      </a:r>
                    </a:p>
                  </a:txBody>
                  <a:tcPr marL="54864" marR="54864" marT="18288" marB="18288">
                    <a:solidFill>
                      <a:srgbClr val="1F4E79"/>
                    </a:solidFill>
                  </a:tcPr>
                </a:tc>
                <a:tc>
                  <a:txBody>
                    <a:bodyPr wrap="square"/>
                    <a:lstStyle/>
                    <a:p>
                      <a:r>
                        <a:rPr sz="1100" b="1">
                          <a:solidFill>
                            <a:srgbClr val="FFFFFF"/>
                          </a:solidFill>
                          <a:latin typeface="Arial"/>
                        </a:rPr>
                        <a:t>Joe (this work)</a:t>
                      </a:r>
                    </a:p>
                  </a:txBody>
                  <a:tcPr marL="54864" marR="54864" marT="18288" marB="18288">
                    <a:solidFill>
                      <a:srgbClr val="1F4E79"/>
                    </a:solidFill>
                  </a:tcPr>
                </a:tc>
                <a:tc>
                  <a:txBody>
                    <a:bodyPr wrap="square"/>
                    <a:lstStyle/>
                    <a:p>
                      <a:r>
                        <a:rPr sz="1100" b="1">
                          <a:solidFill>
                            <a:srgbClr val="FFFFFF"/>
                          </a:solidFill>
                          <a:latin typeface="Arial"/>
                        </a:rPr>
                        <a:t>the SBG VSWIR paper</a:t>
                      </a:r>
                    </a:p>
                  </a:txBody>
                  <a:tcPr marL="54864" marR="54864" marT="18288" marB="18288">
                    <a:solidFill>
                      <a:srgbClr val="1F4E79"/>
                    </a:solidFill>
                  </a:tcPr>
                </a:tc>
              </a:tr>
              <a:tr h="280035">
                <a:tc>
                  <a:txBody>
                    <a:bodyPr wrap="square"/>
                    <a:lstStyle/>
                    <a:p>
                      <a:r>
                        <a:rPr sz="1100" b="0">
                          <a:solidFill>
                            <a:srgbClr val="282828"/>
                          </a:solidFill>
                          <a:latin typeface="Arial"/>
                        </a:rPr>
                        <a:t>F-number</a:t>
                      </a:r>
                    </a:p>
                  </a:txBody>
                  <a:tcPr marL="54864" marR="54864" marT="18288" marB="18288">
                    <a:solidFill>
                      <a:srgbClr val="FFFFFF"/>
                    </a:solidFill>
                  </a:tcPr>
                </a:tc>
                <a:tc>
                  <a:txBody>
                    <a:bodyPr wrap="square"/>
                    <a:lstStyle/>
                    <a:p>
                      <a:r>
                        <a:rPr sz="1100" b="0">
                          <a:solidFill>
                            <a:srgbClr val="282828"/>
                          </a:solidFill>
                          <a:latin typeface="Arial"/>
                        </a:rPr>
                        <a:t>1.8</a:t>
                      </a:r>
                    </a:p>
                  </a:txBody>
                  <a:tcPr marL="54864" marR="54864" marT="18288" marB="18288">
                    <a:solidFill>
                      <a:srgbClr val="FFFFFF"/>
                    </a:solidFill>
                  </a:tcPr>
                </a:tc>
                <a:tc>
                  <a:txBody>
                    <a:bodyPr wrap="square"/>
                    <a:lstStyle/>
                    <a:p>
                      <a:r>
                        <a:rPr sz="1100" b="0">
                          <a:solidFill>
                            <a:srgbClr val="282828"/>
                          </a:solidFill>
                          <a:latin typeface="Arial"/>
                        </a:rPr>
                        <a:t>1.8</a:t>
                      </a:r>
                    </a:p>
                  </a:txBody>
                  <a:tcPr marL="54864" marR="54864" marT="18288" marB="18288">
                    <a:solidFill>
                      <a:srgbClr val="FFFFFF"/>
                    </a:solidFill>
                  </a:tcPr>
                </a:tc>
              </a:tr>
              <a:tr h="280035">
                <a:tc>
                  <a:txBody>
                    <a:bodyPr wrap="square"/>
                    <a:lstStyle/>
                    <a:p>
                      <a:r>
                        <a:rPr sz="1100" b="0">
                          <a:solidFill>
                            <a:srgbClr val="282828"/>
                          </a:solidFill>
                          <a:latin typeface="Arial"/>
                        </a:rPr>
                        <a:t>aperture; focal length</a:t>
                      </a:r>
                    </a:p>
                  </a:txBody>
                  <a:tcPr marL="54864" marR="54864" marT="18288" marB="18288">
                    <a:solidFill>
                      <a:srgbClr val="ECF1F6"/>
                    </a:solidFill>
                  </a:tcPr>
                </a:tc>
                <a:tc>
                  <a:txBody>
                    <a:bodyPr wrap="square"/>
                    <a:lstStyle/>
                    <a:p>
                      <a:r>
                        <a:rPr sz="1100" b="0">
                          <a:solidFill>
                            <a:srgbClr val="282828"/>
                          </a:solidFill>
                          <a:latin typeface="Arial"/>
                        </a:rPr>
                        <a:t>183 mm; 330 mm</a:t>
                      </a:r>
                    </a:p>
                  </a:txBody>
                  <a:tcPr marL="54864" marR="54864" marT="18288" marB="18288">
                    <a:solidFill>
                      <a:srgbClr val="ECF1F6"/>
                    </a:solidFill>
                  </a:tcPr>
                </a:tc>
                <a:tc>
                  <a:txBody>
                    <a:bodyPr wrap="square"/>
                    <a:lstStyle/>
                    <a:p>
                      <a:r>
                        <a:rPr sz="1100" b="0">
                          <a:solidFill>
                            <a:srgbClr val="282828"/>
                          </a:solidFill>
                          <a:latin typeface="Arial"/>
                        </a:rPr>
                        <a:t>192 mm; 345 mm</a:t>
                      </a:r>
                    </a:p>
                  </a:txBody>
                  <a:tcPr marL="54864" marR="54864" marT="18288" marB="18288">
                    <a:solidFill>
                      <a:srgbClr val="ECF1F6"/>
                    </a:solidFill>
                  </a:tcPr>
                </a:tc>
              </a:tr>
              <a:tr h="468630">
                <a:tc>
                  <a:txBody>
                    <a:bodyPr wrap="square"/>
                    <a:lstStyle/>
                    <a:p>
                      <a:r>
                        <a:rPr sz="1100" b="0">
                          <a:solidFill>
                            <a:srgbClr val="282828"/>
                          </a:solidFill>
                          <a:latin typeface="Arial"/>
                        </a:rPr>
                        <a:t>pixels</a:t>
                      </a:r>
                    </a:p>
                  </a:txBody>
                  <a:tcPr marL="54864" marR="54864" marT="18288" marB="18288">
                    <a:solidFill>
                      <a:srgbClr val="FFFFFF"/>
                    </a:solidFill>
                  </a:tcPr>
                </a:tc>
                <a:tc>
                  <a:txBody>
                    <a:bodyPr wrap="square"/>
                    <a:lstStyle/>
                    <a:p>
                      <a:r>
                        <a:rPr sz="1100" b="0">
                          <a:solidFill>
                            <a:srgbClr val="282828"/>
                          </a:solidFill>
                          <a:latin typeface="Arial"/>
                        </a:rPr>
                        <a:t>18 µm; 3000 cross-track, 500 spectral</a:t>
                      </a:r>
                    </a:p>
                  </a:txBody>
                  <a:tcPr marL="54864" marR="54864" marT="18288" marB="18288">
                    <a:solidFill>
                      <a:srgbClr val="FFFFFF"/>
                    </a:solidFill>
                  </a:tcPr>
                </a:tc>
                <a:tc>
                  <a:txBody>
                    <a:bodyPr wrap="square"/>
                    <a:lstStyle/>
                    <a:p>
                      <a:r>
                        <a:rPr sz="1100" b="0">
                          <a:solidFill>
                            <a:srgbClr val="282828"/>
                          </a:solidFill>
                          <a:latin typeface="Arial"/>
                        </a:rPr>
                        <a:t>18 µm; 3072 × 512, 2 co-added spectrally</a:t>
                      </a:r>
                    </a:p>
                  </a:txBody>
                  <a:tcPr marL="54864" marR="54864" marT="18288" marB="18288">
                    <a:solidFill>
                      <a:srgbClr val="FFFFFF"/>
                    </a:solidFill>
                  </a:tcPr>
                </a:tc>
              </a:tr>
              <a:tr h="280035">
                <a:tc>
                  <a:txBody>
                    <a:bodyPr wrap="square"/>
                    <a:lstStyle/>
                    <a:p>
                      <a:r>
                        <a:rPr sz="1100" b="0">
                          <a:solidFill>
                            <a:srgbClr val="282828"/>
                          </a:solidFill>
                          <a:latin typeface="Arial"/>
                        </a:rPr>
                        <a:t>slit</a:t>
                      </a:r>
                    </a:p>
                  </a:txBody>
                  <a:tcPr marL="54864" marR="54864" marT="18288" marB="18288">
                    <a:solidFill>
                      <a:srgbClr val="ECF1F6"/>
                    </a:solidFill>
                  </a:tcPr>
                </a:tc>
                <a:tc>
                  <a:txBody>
                    <a:bodyPr wrap="square"/>
                    <a:lstStyle/>
                    <a:p>
                      <a:r>
                        <a:rPr sz="1100" b="0">
                          <a:solidFill>
                            <a:srgbClr val="282828"/>
                          </a:solidFill>
                          <a:latin typeface="Arial"/>
                        </a:rPr>
                        <a:t>54 mm; 2 pixels (36 µm)</a:t>
                      </a:r>
                    </a:p>
                  </a:txBody>
                  <a:tcPr marL="54864" marR="54864" marT="18288" marB="18288">
                    <a:solidFill>
                      <a:srgbClr val="ECF1F6"/>
                    </a:solidFill>
                  </a:tcPr>
                </a:tc>
                <a:tc>
                  <a:txBody>
                    <a:bodyPr wrap="square"/>
                    <a:lstStyle/>
                    <a:p>
                      <a:r>
                        <a:rPr sz="1100" b="0">
                          <a:solidFill>
                            <a:srgbClr val="282828"/>
                          </a:solidFill>
                          <a:latin typeface="Arial"/>
                        </a:rPr>
                        <a:t>54.45 mm; 36 µm</a:t>
                      </a:r>
                    </a:p>
                  </a:txBody>
                  <a:tcPr marL="54864" marR="54864" marT="18288" marB="18288">
                    <a:solidFill>
                      <a:srgbClr val="ECF1F6"/>
                    </a:solidFill>
                  </a:tcPr>
                </a:tc>
              </a:tr>
              <a:tr h="280035">
                <a:tc>
                  <a:txBody>
                    <a:bodyPr wrap="square"/>
                    <a:lstStyle/>
                    <a:p>
                      <a:r>
                        <a:rPr sz="1100" b="0">
                          <a:solidFill>
                            <a:srgbClr val="282828"/>
                          </a:solidFill>
                          <a:latin typeface="Arial"/>
                        </a:rPr>
                        <a:t>band</a:t>
                      </a:r>
                    </a:p>
                  </a:txBody>
                  <a:tcPr marL="54864" marR="54864" marT="18288" marB="18288">
                    <a:solidFill>
                      <a:srgbClr val="FFFFFF"/>
                    </a:solidFill>
                  </a:tcPr>
                </a:tc>
                <a:tc>
                  <a:txBody>
                    <a:bodyPr wrap="square"/>
                    <a:lstStyle/>
                    <a:p>
                      <a:r>
                        <a:rPr sz="1100" b="0">
                          <a:solidFill>
                            <a:srgbClr val="282828"/>
                          </a:solidFill>
                          <a:latin typeface="Arial"/>
                        </a:rPr>
                        <a:t>380–2500 nm</a:t>
                      </a:r>
                    </a:p>
                  </a:txBody>
                  <a:tcPr marL="54864" marR="54864" marT="18288" marB="18288">
                    <a:solidFill>
                      <a:srgbClr val="FFFFFF"/>
                    </a:solidFill>
                  </a:tcPr>
                </a:tc>
                <a:tc>
                  <a:txBody>
                    <a:bodyPr wrap="square"/>
                    <a:lstStyle/>
                    <a:p>
                      <a:r>
                        <a:rPr sz="1100" b="0">
                          <a:solidFill>
                            <a:srgbClr val="282828"/>
                          </a:solidFill>
                          <a:latin typeface="Arial"/>
                        </a:rPr>
                        <a:t>380–2500 nm</a:t>
                      </a:r>
                    </a:p>
                  </a:txBody>
                  <a:tcPr marL="54864" marR="54864" marT="18288" marB="18288">
                    <a:solidFill>
                      <a:srgbClr val="FFFFFF"/>
                    </a:solidFill>
                  </a:tcPr>
                </a:tc>
              </a:tr>
              <a:tr h="468630">
                <a:tc>
                  <a:txBody>
                    <a:bodyPr wrap="square"/>
                    <a:lstStyle/>
                    <a:p>
                      <a:r>
                        <a:rPr sz="1100" b="0">
                          <a:solidFill>
                            <a:srgbClr val="282828"/>
                          </a:solidFill>
                          <a:latin typeface="Arial"/>
                        </a:rPr>
                        <a:t>smile, keystone</a:t>
                      </a:r>
                    </a:p>
                  </a:txBody>
                  <a:tcPr marL="54864" marR="54864" marT="18288" marB="18288">
                    <a:solidFill>
                      <a:srgbClr val="ECF1F6"/>
                    </a:solidFill>
                  </a:tcPr>
                </a:tc>
                <a:tc>
                  <a:txBody>
                    <a:bodyPr wrap="square"/>
                    <a:lstStyle/>
                    <a:p>
                      <a:r>
                        <a:rPr sz="1100" b="0">
                          <a:solidFill>
                            <a:srgbClr val="282828"/>
                          </a:solidFill>
                          <a:latin typeface="Arial"/>
                        </a:rPr>
                        <a:t>&lt; 0.1 px (1.8 µm)</a:t>
                      </a:r>
                    </a:p>
                  </a:txBody>
                  <a:tcPr marL="54864" marR="54864" marT="18288" marB="18288">
                    <a:solidFill>
                      <a:srgbClr val="ECF1F6"/>
                    </a:solidFill>
                  </a:tcPr>
                </a:tc>
                <a:tc>
                  <a:txBody>
                    <a:bodyPr wrap="square"/>
                    <a:lstStyle/>
                    <a:p>
                      <a:r>
                        <a:rPr sz="1100" b="0">
                          <a:solidFill>
                            <a:srgbClr val="282828"/>
                          </a:solidFill>
                          <a:latin typeface="Arial"/>
                        </a:rPr>
                        <a:t>5 % of a co-added px (1.8 µm); 10 % of a px (1.8 µm)</a:t>
                      </a:r>
                    </a:p>
                  </a:txBody>
                  <a:tcPr marL="54864" marR="54864" marT="18288" marB="18288">
                    <a:solidFill>
                      <a:srgbClr val="ECF1F6"/>
                    </a:solidFill>
                  </a:tcPr>
                </a:tc>
              </a:tr>
              <a:tr h="280035">
                <a:tc>
                  <a:txBody>
                    <a:bodyPr wrap="square"/>
                    <a:lstStyle/>
                    <a:p>
                      <a:r>
                        <a:rPr sz="1100" b="0">
                          <a:solidFill>
                            <a:srgbClr val="282828"/>
                          </a:solidFill>
                          <a:latin typeface="Arial"/>
                        </a:rPr>
                        <a:t>SRF FWHM</a:t>
                      </a:r>
                    </a:p>
                  </a:txBody>
                  <a:tcPr marL="54864" marR="54864" marT="18288" marB="18288">
                    <a:solidFill>
                      <a:srgbClr val="FFFFFF"/>
                    </a:solidFill>
                  </a:tcPr>
                </a:tc>
                <a:tc>
                  <a:txBody>
                    <a:bodyPr wrap="square"/>
                    <a:lstStyle/>
                    <a:p>
                      <a:r>
                        <a:rPr sz="1100" b="0">
                          <a:solidFill>
                            <a:srgbClr val="282828"/>
                          </a:solidFill>
                          <a:latin typeface="Arial"/>
                        </a:rPr>
                        <a:t>1.5–2.0 px (27–36 µm)</a:t>
                      </a:r>
                    </a:p>
                  </a:txBody>
                  <a:tcPr marL="54864" marR="54864" marT="18288" marB="18288">
                    <a:solidFill>
                      <a:srgbClr val="FFFFFF"/>
                    </a:solidFill>
                  </a:tcPr>
                </a:tc>
                <a:tc>
                  <a:txBody>
                    <a:bodyPr wrap="square"/>
                    <a:lstStyle/>
                    <a:p>
                      <a:r>
                        <a:rPr sz="1100" b="0">
                          <a:solidFill>
                            <a:srgbClr val="282828"/>
                          </a:solidFill>
                          <a:latin typeface="Arial"/>
                        </a:rPr>
                        <a:t>&lt; 1.8 co-added px (64.8 µm)</a:t>
                      </a:r>
                    </a:p>
                  </a:txBody>
                  <a:tcPr marL="54864" marR="54864" marT="18288" marB="18288">
                    <a:solidFill>
                      <a:srgbClr val="FFFFFF"/>
                    </a:solidFill>
                  </a:tcPr>
                </a:tc>
              </a:tr>
              <a:tr h="280035">
                <a:tc>
                  <a:txBody>
                    <a:bodyPr wrap="square"/>
                    <a:lstStyle/>
                    <a:p>
                      <a:r>
                        <a:rPr sz="1100" b="0">
                          <a:solidFill>
                            <a:srgbClr val="282828"/>
                          </a:solidFill>
                          <a:latin typeface="Arial"/>
                        </a:rPr>
                        <a:t>CRF FWHM</a:t>
                      </a:r>
                    </a:p>
                  </a:txBody>
                  <a:tcPr marL="54864" marR="54864" marT="18288" marB="18288">
                    <a:solidFill>
                      <a:srgbClr val="ECF1F6"/>
                    </a:solidFill>
                  </a:tcPr>
                </a:tc>
                <a:tc>
                  <a:txBody>
                    <a:bodyPr wrap="square"/>
                    <a:lstStyle/>
                    <a:p>
                      <a:r>
                        <a:rPr sz="1100" b="0">
                          <a:solidFill>
                            <a:srgbClr val="282828"/>
                          </a:solidFill>
                          <a:latin typeface="Arial"/>
                        </a:rPr>
                        <a:t>&lt; 1.5 px (27 µm)</a:t>
                      </a:r>
                    </a:p>
                  </a:txBody>
                  <a:tcPr marL="54864" marR="54864" marT="18288" marB="18288">
                    <a:solidFill>
                      <a:srgbClr val="ECF1F6"/>
                    </a:solidFill>
                  </a:tcPr>
                </a:tc>
                <a:tc>
                  <a:txBody>
                    <a:bodyPr wrap="square"/>
                    <a:lstStyle/>
                    <a:p>
                      <a:r>
                        <a:rPr sz="1100" b="0">
                          <a:solidFill>
                            <a:srgbClr val="282828"/>
                          </a:solidFill>
                          <a:latin typeface="Arial"/>
                        </a:rPr>
                        <a:t>&lt; 2.8 px (50.4 µm)</a:t>
                      </a:r>
                    </a:p>
                  </a:txBody>
                  <a:tcPr marL="54864" marR="54864" marT="18288" marB="18288">
                    <a:solidFill>
                      <a:srgbClr val="ECF1F6"/>
                    </a:solidFill>
                  </a:tcPr>
                </a:tc>
              </a:tr>
              <a:tr h="468630">
                <a:tc>
                  <a:txBody>
                    <a:bodyPr wrap="square"/>
                    <a:lstStyle/>
                    <a:p>
                      <a:r>
                        <a:rPr sz="1100" b="0">
                          <a:solidFill>
                            <a:srgbClr val="282828"/>
                          </a:solidFill>
                          <a:latin typeface="Arial"/>
                        </a:rPr>
                        <a:t>ARF FWHM (telescope, across the slit)</a:t>
                      </a:r>
                    </a:p>
                  </a:txBody>
                  <a:tcPr marL="54864" marR="54864" marT="18288" marB="18288">
                    <a:solidFill>
                      <a:srgbClr val="FFFFFF"/>
                    </a:solidFill>
                  </a:tcPr>
                </a:tc>
                <a:tc>
                  <a:txBody>
                    <a:bodyPr wrap="square"/>
                    <a:lstStyle/>
                    <a:p>
                      <a:r>
                        <a:rPr sz="1100" b="0">
                          <a:solidFill>
                            <a:srgbClr val="282828"/>
                          </a:solidFill>
                          <a:latin typeface="Arial"/>
                        </a:rPr>
                        <a:t>–</a:t>
                      </a:r>
                    </a:p>
                  </a:txBody>
                  <a:tcPr marL="54864" marR="54864" marT="18288" marB="18288">
                    <a:solidFill>
                      <a:srgbClr val="FFFFFF"/>
                    </a:solidFill>
                  </a:tcPr>
                </a:tc>
                <a:tc>
                  <a:txBody>
                    <a:bodyPr wrap="square"/>
                    <a:lstStyle/>
                    <a:p>
                      <a:r>
                        <a:rPr sz="1100" b="0">
                          <a:solidFill>
                            <a:srgbClr val="282828"/>
                          </a:solidFill>
                          <a:latin typeface="Arial"/>
                        </a:rPr>
                        <a:t>&lt; 2.8 px (50.4 µm)</a:t>
                      </a:r>
                    </a:p>
                  </a:txBody>
                  <a:tcPr marL="54864" marR="54864" marT="18288" marB="18288">
                    <a:solidFill>
                      <a:srgbClr val="FFFFFF"/>
                    </a:solidFill>
                  </a:tcPr>
                </a:tc>
              </a:tr>
              <a:tr h="280035">
                <a:tc>
                  <a:txBody>
                    <a:bodyPr wrap="square"/>
                    <a:lstStyle/>
                    <a:p>
                      <a:r>
                        <a:rPr sz="1100" b="0">
                          <a:solidFill>
                            <a:srgbClr val="282828"/>
                          </a:solidFill>
                          <a:latin typeface="Arial"/>
                        </a:rPr>
                        <a:t>field per module</a:t>
                      </a:r>
                    </a:p>
                  </a:txBody>
                  <a:tcPr marL="54864" marR="54864" marT="18288" marB="18288">
                    <a:solidFill>
                      <a:srgbClr val="ECF1F6"/>
                    </a:solidFill>
                  </a:tcPr>
                </a:tc>
                <a:tc>
                  <a:txBody>
                    <a:bodyPr wrap="square"/>
                    <a:lstStyle/>
                    <a:p>
                      <a:r>
                        <a:rPr sz="1100" b="0">
                          <a:solidFill>
                            <a:srgbClr val="282828"/>
                          </a:solidFill>
                          <a:latin typeface="Arial"/>
                        </a:rPr>
                        <a:t>9.4° (3k)</a:t>
                      </a:r>
                    </a:p>
                  </a:txBody>
                  <a:tcPr marL="54864" marR="54864" marT="18288" marB="18288">
                    <a:solidFill>
                      <a:srgbClr val="ECF1F6"/>
                    </a:solidFill>
                  </a:tcPr>
                </a:tc>
                <a:tc>
                  <a:txBody>
                    <a:bodyPr wrap="square"/>
                    <a:lstStyle/>
                    <a:p>
                      <a:r>
                        <a:rPr sz="1100" b="0">
                          <a:solidFill>
                            <a:srgbClr val="282828"/>
                          </a:solidFill>
                          <a:latin typeface="Arial"/>
                        </a:rPr>
                        <a:t>8.9°</a:t>
                      </a:r>
                    </a:p>
                  </a:txBody>
                  <a:tcPr marL="54864" marR="54864" marT="18288" marB="18288">
                    <a:solidFill>
                      <a:srgbClr val="ECF1F6"/>
                    </a:solidFill>
                  </a:tcPr>
                </a:tc>
              </a:tr>
            </a:tbl>
          </a:graphicData>
        </a:graphic>
      </p:graphicFrame>
      <p:sp>
        <p:nvSpPr>
          <p:cNvPr id="5" name="TextBox 4"/>
          <p:cNvSpPr txBox="1"/>
          <p:nvPr/>
        </p:nvSpPr>
        <p:spPr>
          <a:xfrm>
            <a:off x="6400800" y="1298448"/>
            <a:ext cx="5394960" cy="274320"/>
          </a:xfrm>
          <a:prstGeom prst="rect">
            <a:avLst/>
          </a:prstGeom>
          <a:noFill/>
        </p:spPr>
        <p:txBody>
          <a:bodyPr wrap="square">
            <a:spAutoFit/>
          </a:bodyPr>
          <a:lstStyle/>
          <a:p>
            <a:pPr>
              <a:spcAft>
                <a:spcPts val="600"/>
              </a:spcAft>
            </a:pPr>
            <a:r>
              <a:rPr sz="1200" b="0">
                <a:solidFill>
                  <a:srgbClr val="282828"/>
                </a:solidFill>
                <a:latin typeface="Arial"/>
              </a:rPr>
              <a:t>•  </a:t>
            </a:r>
            <a:r>
              <a:rPr sz="1200" b="1">
                <a:solidFill>
                  <a:srgbClr val="282828"/>
                </a:solidFill>
                <a:latin typeface="Arial"/>
              </a:rPr>
              <a:t>Smile:</a:t>
            </a:r>
            <a:r>
              <a:rPr sz="1200" b="0">
                <a:solidFill>
                  <a:srgbClr val="282828"/>
                </a:solidFill>
                <a:latin typeface="Arial"/>
              </a:rPr>
              <a:t> centroid drift along the slit at fixed wavelength; </a:t>
            </a:r>
            <a:r>
              <a:rPr sz="1200" b="1">
                <a:solidFill>
                  <a:srgbClr val="282828"/>
                </a:solidFill>
                <a:latin typeface="Arial"/>
              </a:rPr>
              <a:t>keystone:</a:t>
            </a:r>
            <a:r>
              <a:rPr sz="1200" b="0">
                <a:solidFill>
                  <a:srgbClr val="282828"/>
                </a:solidFill>
                <a:latin typeface="Arial"/>
              </a:rPr>
              <a:t> drift across wavelength at fixed slit position; both from ray centroids, in pixels.</a:t>
            </a:r>
          </a:p>
          <a:p>
            <a:pPr>
              <a:spcAft>
                <a:spcPts val="600"/>
              </a:spcAft>
            </a:pPr>
            <a:r>
              <a:rPr sz="1200" b="0">
                <a:solidFill>
                  <a:srgbClr val="282828"/>
                </a:solidFill>
                <a:latin typeface="Arial"/>
              </a:rPr>
              <a:t>•  </a:t>
            </a:r>
            <a:r>
              <a:rPr sz="1200" b="1">
                <a:solidFill>
                  <a:srgbClr val="282828"/>
                </a:solidFill>
                <a:latin typeface="Arial"/>
              </a:rPr>
              <a:t>SRF, CRF:</a:t>
            </a:r>
            <a:r>
              <a:rPr sz="1200" b="0">
                <a:solidFill>
                  <a:srgbClr val="282828"/>
                </a:solidFill>
                <a:latin typeface="Arial"/>
              </a:rPr>
              <a:t> slit ⊗ line-spread function ⊗ pixel ⊗ Airy, FWHM (Mouroulis &amp; Green 2018).  With a 2-pixel slit a perfect spectrometer gives SRF = 2.000 px exactly: the slit's floor.</a:t>
            </a:r>
          </a:p>
          <a:p>
            <a:pPr>
              <a:spcAft>
                <a:spcPts val="600"/>
              </a:spcAft>
            </a:pPr>
            <a:r>
              <a:rPr sz="1200" b="0">
                <a:solidFill>
                  <a:srgbClr val="282828"/>
                </a:solidFill>
                <a:latin typeface="Arial"/>
              </a:rPr>
              <a:t>•  </a:t>
            </a:r>
            <a:r>
              <a:rPr sz="1200" b="1">
                <a:solidFill>
                  <a:srgbClr val="282828"/>
                </a:solidFill>
                <a:latin typeface="Arial"/>
              </a:rPr>
              <a:t>Energy in one pixel:</a:t>
            </a:r>
            <a:r>
              <a:rPr sz="1200" b="0">
                <a:solidFill>
                  <a:srgbClr val="282828"/>
                </a:solidFill>
                <a:latin typeface="Arial"/>
              </a:rPr>
              <a:t> the fraction of a point image inside one 18 µm pixel; design rule 0.75.</a:t>
            </a:r>
          </a:p>
          <a:p>
            <a:pPr>
              <a:spcAft>
                <a:spcPts val="600"/>
              </a:spcAft>
            </a:pPr>
            <a:r>
              <a:rPr sz="1200" b="0">
                <a:solidFill>
                  <a:srgbClr val="282828"/>
                </a:solidFill>
                <a:latin typeface="Arial"/>
              </a:rPr>
              <a:t>•  </a:t>
            </a:r>
            <a:r>
              <a:rPr sz="1200" b="1">
                <a:solidFill>
                  <a:srgbClr val="282828"/>
                </a:solidFill>
                <a:latin typeface="Arial"/>
              </a:rPr>
              <a:t>End to end</a:t>
            </a:r>
            <a:r>
              <a:rPr sz="1200" b="0">
                <a:solidFill>
                  <a:srgbClr val="282828"/>
                </a:solidFill>
                <a:latin typeface="Arial"/>
              </a:rPr>
              <a:t> is one prescription from the sky to the detector, the grating its stop, scored by the spectrometer's own scorer.  Smile end to end depends on how each field is launched onto the slit — slide 10 — so it is given under both conventions.</a:t>
            </a:r>
          </a:p>
          <a:p>
            <a:pPr>
              <a:spcAft>
                <a:spcPts val="600"/>
              </a:spcAft>
            </a:pPr>
            <a:r>
              <a:rPr sz="1200" b="0">
                <a:solidFill>
                  <a:srgbClr val="282828"/>
                </a:solidFill>
                <a:latin typeface="Arial"/>
              </a:rPr>
              <a:t>•  </a:t>
            </a:r>
            <a:r>
              <a:rPr sz="1200" b="1">
                <a:solidFill>
                  <a:srgbClr val="282828"/>
                </a:solidFill>
                <a:latin typeface="Arial"/>
              </a:rPr>
              <a:t>The paper's SRF is in co-added pixels</a:t>
            </a:r>
            <a:r>
              <a:rPr sz="1200" b="0">
                <a:solidFill>
                  <a:srgbClr val="282828"/>
                </a:solidFill>
                <a:latin typeface="Arial"/>
              </a:rPr>
              <a:t> (36 µm); its bounds are converted to micrometers in every table here.</a:t>
            </a:r>
          </a:p>
        </p:txBody>
      </p:sp>
      <p:sp>
        <p:nvSpPr>
          <p:cNvPr id="6" name="TextBox 5"/>
          <p:cNvSpPr txBox="1"/>
          <p:nvPr/>
        </p:nvSpPr>
        <p:spPr>
          <a:xfrm>
            <a:off x="6400800" y="4809744"/>
            <a:ext cx="5394960" cy="274320"/>
          </a:xfrm>
          <a:prstGeom prst="rect">
            <a:avLst/>
          </a:prstGeom>
          <a:noFill/>
        </p:spPr>
        <p:txBody>
          <a:bodyPr wrap="square">
            <a:spAutoFit/>
          </a:bodyPr>
          <a:lstStyle/>
          <a:p>
            <a:pPr>
              <a:spcAft>
                <a:spcPts val="600"/>
              </a:spcAft>
            </a:pPr>
            <a:r>
              <a:rPr sz="1050" b="0">
                <a:solidFill>
                  <a:srgbClr val="6E6E6E"/>
                </a:solidFill>
                <a:latin typeface="Arial"/>
              </a:rPr>
              <a:t>Every number is a MACOS ray trace of a committed prescription; no coatings, no tolerances.  Paper: Bradley et al., "Finalized optical design of the SBG VSWIR Wide Swath Imaging Spectrometer," ICSO 2024, Proc. SPIE 13699, 1369945 (Tables 1–3).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What changed since the last deck: Jim's answers and the paper</a:t>
            </a:r>
          </a:p>
          <a:p>
            <a:pPr>
              <a:spcAft>
                <a:spcPts val="0"/>
              </a:spcAft>
            </a:pPr>
            <a:r>
              <a:rPr sz="1250" b="0">
                <a:solidFill>
                  <a:srgbClr val="6E6E6E"/>
                </a:solidFill>
                <a:latin typeface="Arial"/>
              </a:rPr>
              <a:t>The trade leans to two 3k modules; the telescope is designed alone, telecentric at the slit, with its cone bounded; the air gap stands; the paper's form is the seed</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298448"/>
            <a:ext cx="5806440" cy="274320"/>
          </a:xfrm>
          <a:prstGeom prst="rect">
            <a:avLst/>
          </a:prstGeom>
          <a:noFill/>
        </p:spPr>
        <p:txBody>
          <a:bodyPr wrap="square">
            <a:spAutoFit/>
          </a:bodyPr>
          <a:lstStyle/>
          <a:p>
            <a:pPr>
              <a:spcAft>
                <a:spcPts val="600"/>
              </a:spcAft>
            </a:pPr>
            <a:r>
              <a:rPr sz="1200" b="0">
                <a:solidFill>
                  <a:srgbClr val="282828"/>
                </a:solidFill>
                <a:latin typeface="Arial"/>
              </a:rPr>
              <a:t>•  </a:t>
            </a:r>
            <a:r>
              <a:rPr sz="1200" b="1">
                <a:solidFill>
                  <a:srgbClr val="282828"/>
                </a:solidFill>
                <a:latin typeface="Arial"/>
              </a:rPr>
              <a:t>Two modules, not four.</a:t>
            </a:r>
            <a:r>
              <a:rPr sz="1200" b="0">
                <a:solidFill>
                  <a:srgbClr val="282828"/>
                </a:solidFill>
                <a:latin typeface="Arial"/>
              </a:rPr>
              <a:t>  Jim: four telescopes, spectrometers and detectors cost integration, test and calibration, not mass; detectors come as 2k × 2k and 3k × 0.5k, a 1.5k × 0.5k is NRE.  Materials are "almost always a tiny fraction of the instrument cost," so the </a:t>
            </a:r>
            <a:r>
              <a:rPr sz="1200" b="0">
                <a:solidFill>
                  <a:srgbClr val="282828"/>
                </a:solidFill>
                <a:latin typeface="Arial"/>
              </a:rPr>
              <a:t>CaF</a:t>
            </a:r>
            <a:r>
              <a:rPr sz="1200" b="0" baseline="-25000">
                <a:solidFill>
                  <a:srgbClr val="282828"/>
                </a:solidFill>
                <a:latin typeface="Arial"/>
              </a:rPr>
              <a:t>2</a:t>
            </a:r>
            <a:r>
              <a:rPr sz="1200" b="0">
                <a:solidFill>
                  <a:srgbClr val="282828"/>
                </a:solidFill>
                <a:latin typeface="Arial"/>
              </a:rPr>
              <a:t> volume is not the discriminator.  The paper's own trade reached the same answer: two identical telescope + Dyson modules, each half of the 180 km swath.</a:t>
            </a:r>
          </a:p>
          <a:p>
            <a:pPr>
              <a:spcAft>
                <a:spcPts val="600"/>
              </a:spcAft>
            </a:pPr>
            <a:r>
              <a:rPr sz="1200" b="0">
                <a:solidFill>
                  <a:srgbClr val="282828"/>
                </a:solidFill>
                <a:latin typeface="Arial"/>
              </a:rPr>
              <a:t>•  </a:t>
            </a:r>
            <a:r>
              <a:rPr sz="1200" b="1">
                <a:solidFill>
                  <a:srgbClr val="282828"/>
                </a:solidFill>
                <a:latin typeface="Arial"/>
              </a:rPr>
              <a:t>The telescope, designed separately.</a:t>
            </a:r>
            <a:r>
              <a:rPr sz="1200" b="0">
                <a:solidFill>
                  <a:srgbClr val="282828"/>
                </a:solidFill>
                <a:latin typeface="Arial"/>
              </a:rPr>
              <a:t>  Jim: telescope and spectrometer each telecentric at the slit, the telescope a little faster than the spectrometer, and no rays at F/1.2.  The paper: the telescope optimized alone for uniform small spots along the slit under constraints on F/# anamorphicity, baffle clearance and working distance; then the Dyson added for end-to-end keystone and CRF.</a:t>
            </a:r>
          </a:p>
          <a:p>
            <a:pPr>
              <a:spcAft>
                <a:spcPts val="600"/>
              </a:spcAft>
            </a:pPr>
            <a:r>
              <a:rPr sz="1200" b="0">
                <a:solidFill>
                  <a:srgbClr val="282828"/>
                </a:solidFill>
                <a:latin typeface="Arial"/>
              </a:rPr>
              <a:t>•  </a:t>
            </a:r>
            <a:r>
              <a:rPr sz="1200" b="1">
                <a:solidFill>
                  <a:srgbClr val="282828"/>
                </a:solidFill>
                <a:latin typeface="Arial"/>
              </a:rPr>
              <a:t>The window is an order-sorting filter</a:t>
            </a:r>
            <a:r>
              <a:rPr sz="1200" b="0">
                <a:solidFill>
                  <a:srgbClr val="282828"/>
                </a:solidFill>
                <a:latin typeface="Arial"/>
              </a:rPr>
              <a:t> and cannot be bonded to </a:t>
            </a:r>
            <a:r>
              <a:rPr sz="1200" b="0">
                <a:solidFill>
                  <a:srgbClr val="282828"/>
                </a:solidFill>
                <a:latin typeface="Arial"/>
              </a:rPr>
              <a:t>CaF</a:t>
            </a:r>
            <a:r>
              <a:rPr sz="1200" b="0" baseline="-25000">
                <a:solidFill>
                  <a:srgbClr val="282828"/>
                </a:solidFill>
                <a:latin typeface="Arial"/>
              </a:rPr>
              <a:t>2</a:t>
            </a:r>
            <a:r>
              <a:rPr sz="1200" b="0">
                <a:solidFill>
                  <a:srgbClr val="282828"/>
                </a:solidFill>
                <a:latin typeface="Arial"/>
              </a:rPr>
              <a:t> (CTE); fused silica to silica has a bad bonding history.  Six crossings, 0.81 uncoated, is the baseline.</a:t>
            </a:r>
          </a:p>
        </p:txBody>
      </p:sp>
      <p:sp>
        <p:nvSpPr>
          <p:cNvPr id="5" name="TextBox 4"/>
          <p:cNvSpPr txBox="1"/>
          <p:nvPr/>
        </p:nvSpPr>
        <p:spPr>
          <a:xfrm>
            <a:off x="6400800" y="1298448"/>
            <a:ext cx="5394960" cy="274320"/>
          </a:xfrm>
          <a:prstGeom prst="rect">
            <a:avLst/>
          </a:prstGeom>
          <a:noFill/>
        </p:spPr>
        <p:txBody>
          <a:bodyPr wrap="square">
            <a:spAutoFit/>
          </a:bodyPr>
          <a:lstStyle/>
          <a:p>
            <a:pPr>
              <a:spcAft>
                <a:spcPts val="600"/>
              </a:spcAft>
            </a:pPr>
            <a:r>
              <a:rPr sz="1200" b="0">
                <a:solidFill>
                  <a:srgbClr val="282828"/>
                </a:solidFill>
                <a:latin typeface="Arial"/>
              </a:rPr>
              <a:t>•  </a:t>
            </a:r>
            <a:r>
              <a:rPr sz="1200" b="1">
                <a:solidFill>
                  <a:srgbClr val="282828"/>
                </a:solidFill>
                <a:latin typeface="Arial"/>
              </a:rPr>
              <a:t>The paper's telescope</a:t>
            </a:r>
            <a:r>
              <a:rPr sz="1200" b="0">
                <a:solidFill>
                  <a:srgbClr val="282828"/>
                </a:solidFill>
                <a:latin typeface="Arial"/>
              </a:rPr>
              <a:t> is a freeform TMA at f 345 mm, 192 mm, 8.9°, chosen over an even-asphere TMA for tolerance insensitivity, not nominal performance: spots 2–3 µm, "diffraction limited over most of the band," all aluminum at 280–300 K.</a:t>
            </a:r>
          </a:p>
          <a:p>
            <a:pPr>
              <a:spcAft>
                <a:spcPts val="600"/>
              </a:spcAft>
            </a:pPr>
            <a:r>
              <a:rPr sz="1200" b="0">
                <a:solidFill>
                  <a:srgbClr val="282828"/>
                </a:solidFill>
                <a:latin typeface="Arial"/>
              </a:rPr>
              <a:t>•  </a:t>
            </a:r>
            <a:r>
              <a:rPr sz="1200" b="1">
                <a:solidFill>
                  <a:srgbClr val="282828"/>
                </a:solidFill>
                <a:latin typeface="Arial"/>
              </a:rPr>
              <a:t>The paper's spectrometer</a:t>
            </a:r>
            <a:r>
              <a:rPr sz="1200" b="0">
                <a:solidFill>
                  <a:srgbClr val="282828"/>
                </a:solidFill>
                <a:latin typeface="Arial"/>
              </a:rPr>
              <a:t> is an aspheric </a:t>
            </a:r>
            <a:r>
              <a:rPr sz="1200" b="0">
                <a:solidFill>
                  <a:srgbClr val="282828"/>
                </a:solidFill>
                <a:latin typeface="Arial"/>
              </a:rPr>
              <a:t>CaF</a:t>
            </a:r>
            <a:r>
              <a:rPr sz="1200" b="0" baseline="-25000">
                <a:solidFill>
                  <a:srgbClr val="282828"/>
                </a:solidFill>
                <a:latin typeface="Arial"/>
              </a:rPr>
              <a:t>2</a:t>
            </a:r>
            <a:r>
              <a:rPr sz="1200" b="0">
                <a:solidFill>
                  <a:srgbClr val="282828"/>
                </a:solidFill>
                <a:latin typeface="Arial"/>
              </a:rPr>
              <a:t> Dyson lens with a conic grating (their Option B), no corrector lens, at 240 K; smaller than the telescope.</a:t>
            </a:r>
          </a:p>
          <a:p>
            <a:pPr>
              <a:spcAft>
                <a:spcPts val="600"/>
              </a:spcAft>
            </a:pPr>
            <a:r>
              <a:rPr sz="1200" b="0">
                <a:solidFill>
                  <a:srgbClr val="282828"/>
                </a:solidFill>
                <a:latin typeface="Arial"/>
              </a:rPr>
              <a:t>•  </a:t>
            </a:r>
            <a:r>
              <a:rPr sz="1200" b="1">
                <a:solidFill>
                  <a:srgbClr val="282828"/>
                </a:solidFill>
                <a:latin typeface="Arial"/>
              </a:rPr>
              <a:t>The Offner</a:t>
            </a:r>
            <a:r>
              <a:rPr sz="1200" b="0">
                <a:solidFill>
                  <a:srgbClr val="282828"/>
                </a:solidFill>
                <a:latin typeface="Arial"/>
              </a:rPr>
              <a:t> does not go much below F/3 at reasonable size (Jim), which confirms the F/1.8 Offner's exit in the last deck.</a:t>
            </a:r>
          </a:p>
          <a:p>
            <a:pPr>
              <a:spcAft>
                <a:spcPts val="600"/>
              </a:spcAft>
            </a:pPr>
            <a:r>
              <a:rPr sz="1200" b="0">
                <a:solidFill>
                  <a:srgbClr val="282828"/>
                </a:solidFill>
                <a:latin typeface="Arial"/>
              </a:rPr>
              <a:t>•  </a:t>
            </a:r>
            <a:r>
              <a:rPr sz="1200" b="1">
                <a:solidFill>
                  <a:srgbClr val="282828"/>
                </a:solidFill>
                <a:latin typeface="Arial"/>
              </a:rPr>
              <a:t>AR and blaze</a:t>
            </a:r>
            <a:r>
              <a:rPr sz="1200" b="0">
                <a:solidFill>
                  <a:srgbClr val="282828"/>
                </a:solidFill>
                <a:latin typeface="Arial"/>
              </a:rPr>
              <a:t> are tailored to the photon-starved long-wavelength end; throughput is a per-band number, not one figure.</a:t>
            </a:r>
          </a:p>
        </p:txBody>
      </p:sp>
      <p:sp>
        <p:nvSpPr>
          <p:cNvPr id="6" name="TextBox 5"/>
          <p:cNvSpPr txBox="1"/>
          <p:nvPr/>
        </p:nvSpPr>
        <p:spPr>
          <a:xfrm>
            <a:off x="6400800" y="4075176"/>
            <a:ext cx="5394960" cy="274320"/>
          </a:xfrm>
          <a:prstGeom prst="rect">
            <a:avLst/>
          </a:prstGeom>
          <a:noFill/>
        </p:spPr>
        <p:txBody>
          <a:bodyPr wrap="square">
            <a:spAutoFit/>
          </a:bodyPr>
          <a:lstStyle/>
          <a:p>
            <a:pPr>
              <a:spcAft>
                <a:spcPts val="600"/>
              </a:spcAft>
            </a:pPr>
            <a:r>
              <a:rPr sz="1050" b="0">
                <a:solidFill>
                  <a:srgbClr val="6E6E6E"/>
                </a:solidFill>
                <a:latin typeface="Arial"/>
              </a:rPr>
              <a:t>Jim's comments of 2026-10-07 in line on the 10-06 note; the paper's numbers on this slide are its Tables 1–3 and Figs. 1 and 4.  Recorded in BRIEF_to_dyson5.md addendum 47.</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The seed: the SBG form, first order</a:t>
            </a:r>
          </a:p>
          <a:p>
            <a:pPr>
              <a:spcAft>
                <a:spcPts val="0"/>
              </a:spcAft>
            </a:pPr>
            <a:r>
              <a:rPr sz="1250" b="0">
                <a:solidFill>
                  <a:srgbClr val="6E6E6E"/>
                </a:solidFill>
                <a:latin typeface="Arial"/>
              </a:rPr>
              <a:t>The paper's layout digitized and scaled to Joe's focal length; with the stop at M2 the first order is telecentric in closed form, has no intermediate focus, and gives 299 mm of working distance for the Dyson</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dyson5_cprime_3k_viewyz_rc.png"/>
          <p:cNvPicPr>
            <a:picLocks noChangeAspect="1"/>
          </p:cNvPicPr>
          <p:nvPr/>
        </p:nvPicPr>
        <p:blipFill>
          <a:blip r:embed="rId2"/>
          <a:stretch>
            <a:fillRect/>
          </a:stretch>
        </p:blipFill>
        <p:spPr>
          <a:xfrm>
            <a:off x="1637031" y="1298448"/>
            <a:ext cx="3355337" cy="3646932"/>
          </a:xfrm>
          <a:prstGeom prst="rect">
            <a:avLst/>
          </a:prstGeom>
        </p:spPr>
      </p:pic>
      <p:sp>
        <p:nvSpPr>
          <p:cNvPr id="5" name="TextBox 4"/>
          <p:cNvSpPr txBox="1"/>
          <p:nvPr/>
        </p:nvSpPr>
        <p:spPr>
          <a:xfrm>
            <a:off x="411480" y="4963667"/>
            <a:ext cx="5806440" cy="559307"/>
          </a:xfrm>
          <a:prstGeom prst="rect">
            <a:avLst/>
          </a:prstGeom>
          <a:noFill/>
        </p:spPr>
        <p:txBody>
          <a:bodyPr wrap="square">
            <a:spAutoFit/>
          </a:bodyPr>
          <a:lstStyle/>
          <a:p>
            <a:pPr algn="ctr">
              <a:spcAft>
                <a:spcPts val="0"/>
              </a:spcAft>
            </a:pPr>
            <a:r>
              <a:rPr sz="1000" b="0">
                <a:solidFill>
                  <a:srgbClr val="6E6E6E"/>
                </a:solidFill>
                <a:latin typeface="Arial"/>
              </a:rPr>
              <a:t>The telescope section as the engine traces it (meters): light enters from below; M1 (E1) at the right, M2 (E2) at the top, M3 (E3) at the left, the slit (E4) at the far left — a zig-zag, not a Korsch fold.</a:t>
            </a:r>
          </a:p>
        </p:txBody>
      </p:sp>
      <p:sp>
        <p:nvSpPr>
          <p:cNvPr id="6" name="TextBox 5"/>
          <p:cNvSpPr txBox="1"/>
          <p:nvPr/>
        </p:nvSpPr>
        <p:spPr>
          <a:xfrm>
            <a:off x="6400800" y="1298448"/>
            <a:ext cx="5394960" cy="274320"/>
          </a:xfrm>
          <a:prstGeom prst="rect">
            <a:avLst/>
          </a:prstGeom>
          <a:noFill/>
        </p:spPr>
        <p:txBody>
          <a:bodyPr wrap="square">
            <a:spAutoFit/>
          </a:bodyPr>
          <a:lstStyle/>
          <a:p>
            <a:pPr>
              <a:spcAft>
                <a:spcPts val="600"/>
              </a:spcAft>
            </a:pPr>
            <a:r>
              <a:rPr sz="1200" b="0">
                <a:solidFill>
                  <a:srgbClr val="282828"/>
                </a:solidFill>
                <a:latin typeface="Arial"/>
              </a:rPr>
              <a:t>•  </a:t>
            </a:r>
            <a:r>
              <a:rPr sz="1200" b="1">
                <a:solidFill>
                  <a:srgbClr val="282828"/>
                </a:solidFill>
                <a:latin typeface="Arial"/>
              </a:rPr>
              <a:t>The seed:</a:t>
            </a:r>
            <a:r>
              <a:rPr sz="1200" b="0">
                <a:solidFill>
                  <a:srgbClr val="282828"/>
                </a:solidFill>
                <a:latin typeface="Arial"/>
              </a:rPr>
              <a:t> the paper's Fig. 4b, read off its 200 mm scale bar and scaled by 330/345 — legs M1→M2 258 mm, M2→M3 246 mm, M3→slit 300 mm; chief incidence 30°, 37°, 15°; M2 the small mirror at the stop.</a:t>
            </a:r>
          </a:p>
          <a:p>
            <a:pPr>
              <a:spcAft>
                <a:spcPts val="600"/>
              </a:spcAft>
            </a:pPr>
            <a:r>
              <a:rPr sz="1200" b="0">
                <a:solidFill>
                  <a:srgbClr val="282828"/>
                </a:solidFill>
                <a:latin typeface="Arial"/>
              </a:rPr>
              <a:t>•  </a:t>
            </a:r>
            <a:r>
              <a:rPr sz="1200" b="1">
                <a:solidFill>
                  <a:srgbClr val="282828"/>
                </a:solidFill>
                <a:latin typeface="Arial"/>
              </a:rPr>
              <a:t>Two facts the first order forces.</a:t>
            </a:r>
            <a:r>
              <a:rPr sz="1200" b="0">
                <a:solidFill>
                  <a:srgbClr val="282828"/>
                </a:solidFill>
                <a:latin typeface="Arial"/>
              </a:rPr>
              <a:t>  (1) </a:t>
            </a:r>
            <a:r>
              <a:rPr sz="1200" b="1">
                <a:solidFill>
                  <a:srgbClr val="282828"/>
                </a:solidFill>
                <a:latin typeface="Arial"/>
              </a:rPr>
              <a:t>A tilted sphere cannot do it:</a:t>
            </a:r>
            <a:r>
              <a:rPr sz="1200" b="0">
                <a:solidFill>
                  <a:srgbClr val="282828"/>
                </a:solidFill>
                <a:latin typeface="Arial"/>
              </a:rPr>
              <a:t> the legs are the same in and across the fold plane, so each mirror needs local radii at the chief with R_t / R_s = 1/cos² i (1.33, 1.57, 1.07); an off-axis conic section does this natively, and with the parent axis at the incidence angle all three are off-axis paraboloids — the seed.  (2) </a:t>
            </a:r>
            <a:r>
              <a:rPr sz="1200" b="1">
                <a:solidFill>
                  <a:srgbClr val="282828"/>
                </a:solidFill>
                <a:latin typeface="Arial"/>
              </a:rPr>
              <a:t>The stop at M2 makes telecentricity closed-form:</a:t>
            </a:r>
            <a:r>
              <a:rPr sz="1200" b="0">
                <a:solidFill>
                  <a:srgbClr val="282828"/>
                </a:solidFill>
                <a:latin typeface="Arial"/>
              </a:rPr>
              <a:t> M2 sits at M3's front focus.  M1 weak concave (f +1012 mm), M2 convex (−452), M3 f +246 = the M2→M3 leg; the marginal ray never crosses the axis between mirrors, so there is no intermediate image — the Korsch with a real M2–M3 focus cannot be telecentric with the stop at M2, and this family has no such focus.</a:t>
            </a:r>
          </a:p>
          <a:p>
            <a:pPr>
              <a:spcAft>
                <a:spcPts val="600"/>
              </a:spcAft>
            </a:pPr>
            <a:r>
              <a:rPr sz="1200" b="0">
                <a:solidFill>
                  <a:srgbClr val="282828"/>
                </a:solidFill>
                <a:latin typeface="Arial"/>
              </a:rPr>
              <a:t>•  </a:t>
            </a:r>
            <a:r>
              <a:rPr sz="1200" b="1">
                <a:solidFill>
                  <a:srgbClr val="282828"/>
                </a:solidFill>
                <a:latin typeface="Arial"/>
              </a:rPr>
              <a:t>In the engine, before any figure:</a:t>
            </a:r>
            <a:r>
              <a:rPr sz="1200" b="0">
                <a:solidFill>
                  <a:srgbClr val="282828"/>
                </a:solidFill>
                <a:latin typeface="Arial"/>
              </a:rPr>
              <a:t> chiefs within 0.093° of the slit normal over ±4.7°, plate scale 329.99 mm, every field admitted, M2 footprint 136 mm, clearance +10 mm, working distance 299 mm; not imaging (2 mm spots).</a:t>
            </a:r>
          </a:p>
        </p:txBody>
      </p:sp>
      <p:sp>
        <p:nvSpPr>
          <p:cNvPr id="7" name="TextBox 6"/>
          <p:cNvSpPr txBox="1"/>
          <p:nvPr/>
        </p:nvSpPr>
        <p:spPr>
          <a:xfrm>
            <a:off x="6400800" y="5321807"/>
            <a:ext cx="5394960" cy="274320"/>
          </a:xfrm>
          <a:prstGeom prst="rect">
            <a:avLst/>
          </a:prstGeom>
          <a:noFill/>
        </p:spPr>
        <p:txBody>
          <a:bodyPr wrap="square">
            <a:spAutoFit/>
          </a:bodyPr>
          <a:lstStyle/>
          <a:p>
            <a:pPr>
              <a:spcAft>
                <a:spcPts val="600"/>
              </a:spcAft>
            </a:pPr>
            <a:r>
              <a:rPr sz="1050" b="0">
                <a:solidFill>
                  <a:srgbClr val="6E6E6E"/>
                </a:solidFill>
                <a:latin typeface="Arial"/>
              </a:rPr>
              <a:t>Template templates/10_telescopes/tma_longslit/ (parameters, runner, demo, README, test); first order tls_first_order.txt; BRIEF_to_dyson5.md addendum 48.  Beams: 183 mm at M1, 136 at M2, 166 at M3.</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The telescope of record: freeform three-mirror, R9</a:t>
            </a:r>
          </a:p>
          <a:p>
            <a:pPr>
              <a:spcAft>
                <a:spcPts val="0"/>
              </a:spcAft>
            </a:pPr>
            <a:r>
              <a:rPr sz="1250" b="0">
                <a:solidFill>
                  <a:srgbClr val="6E6E6E"/>
                </a:solidFill>
                <a:latin typeface="Arial"/>
              </a:rPr>
              <a:t>Off-axis conic sections with a pole-frame polynomial of degree 3–6 on each mirror: FWHM 1.02 × 1.02 pixels at every field of the strip, chiefs within 0.033° of the slit normal, marginal rays between F/1.80 and F/1.89, clearance +12 mm</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411480" y="1298448"/>
          <a:ext cx="11368732" cy="1680210"/>
        </p:xfrm>
        <a:graphic>
          <a:graphicData uri="http://schemas.openxmlformats.org/drawingml/2006/table">
            <a:tbl>
              <a:tblPr firstRow="1" bandRow="1">
                <a:tableStyleId>{5C22544A-7EE6-4342-B048-85BDC9FD1C3A}</a:tableStyleId>
              </a:tblPr>
              <a:tblGrid>
                <a:gridCol w="677606"/>
                <a:gridCol w="978765"/>
                <a:gridCol w="2484558"/>
                <a:gridCol w="1279923"/>
                <a:gridCol w="1806951"/>
                <a:gridCol w="1355213"/>
                <a:gridCol w="2785716"/>
              </a:tblGrid>
              <a:tr h="280035">
                <a:tc>
                  <a:txBody>
                    <a:bodyPr wrap="square"/>
                    <a:lstStyle/>
                    <a:p>
                      <a:r>
                        <a:rPr sz="1100" b="1">
                          <a:solidFill>
                            <a:srgbClr val="FFFFFF"/>
                          </a:solidFill>
                          <a:latin typeface="Arial"/>
                        </a:rPr>
                        <a:t>field (±)</a:t>
                      </a:r>
                    </a:p>
                  </a:txBody>
                  <a:tcPr marL="54864" marR="54864" marT="18288" marB="18288">
                    <a:solidFill>
                      <a:srgbClr val="1F4E79"/>
                    </a:solidFill>
                  </a:tcPr>
                </a:tc>
                <a:tc>
                  <a:txBody>
                    <a:bodyPr wrap="square"/>
                    <a:lstStyle/>
                    <a:p>
                      <a:r>
                        <a:rPr sz="1100" b="1">
                          <a:solidFill>
                            <a:srgbClr val="FFFFFF"/>
                          </a:solidFill>
                          <a:latin typeface="Arial"/>
                        </a:rPr>
                        <a:t>spot rms (µm)</a:t>
                      </a:r>
                    </a:p>
                  </a:txBody>
                  <a:tcPr marL="54864" marR="54864" marT="18288" marB="18288">
                    <a:solidFill>
                      <a:srgbClr val="1F4E79"/>
                    </a:solidFill>
                  </a:tcPr>
                </a:tc>
                <a:tc>
                  <a:txBody>
                    <a:bodyPr wrap="square"/>
                    <a:lstStyle/>
                    <a:p>
                      <a:r>
                        <a:rPr sz="1100" b="1">
                          <a:solidFill>
                            <a:srgbClr val="FFFFFF"/>
                          </a:solidFill>
                          <a:latin typeface="Arial"/>
                        </a:rPr>
                        <a:t>FWHM along / across the slit (px)</a:t>
                      </a:r>
                    </a:p>
                  </a:txBody>
                  <a:tcPr marL="54864" marR="54864" marT="18288" marB="18288">
                    <a:solidFill>
                      <a:srgbClr val="1F4E79"/>
                    </a:solidFill>
                  </a:tcPr>
                </a:tc>
                <a:tc>
                  <a:txBody>
                    <a:bodyPr wrap="square"/>
                    <a:lstStyle/>
                    <a:p>
                      <a:r>
                        <a:rPr sz="1100" b="1">
                          <a:solidFill>
                            <a:srgbClr val="FFFFFF"/>
                          </a:solidFill>
                          <a:latin typeface="Arial"/>
                        </a:rPr>
                        <a:t>energy in a pixel</a:t>
                      </a:r>
                    </a:p>
                  </a:txBody>
                  <a:tcPr marL="54864" marR="54864" marT="18288" marB="18288">
                    <a:solidFill>
                      <a:srgbClr val="1F4E79"/>
                    </a:solidFill>
                  </a:tcPr>
                </a:tc>
                <a:tc>
                  <a:txBody>
                    <a:bodyPr wrap="square"/>
                    <a:lstStyle/>
                    <a:p>
                      <a:r>
                        <a:rPr sz="1100" b="1">
                          <a:solidFill>
                            <a:srgbClr val="FFFFFF"/>
                          </a:solidFill>
                          <a:latin typeface="Arial"/>
                        </a:rPr>
                        <a:t>chief to the slit normal</a:t>
                      </a:r>
                    </a:p>
                  </a:txBody>
                  <a:tcPr marL="54864" marR="54864" marT="18288" marB="18288">
                    <a:solidFill>
                      <a:srgbClr val="1F4E79"/>
                    </a:solidFill>
                  </a:tcPr>
                </a:tc>
                <a:tc>
                  <a:txBody>
                    <a:bodyPr wrap="square"/>
                    <a:lstStyle/>
                    <a:p>
                      <a:r>
                        <a:rPr sz="1100" b="1">
                          <a:solidFill>
                            <a:srgbClr val="FFFFFF"/>
                          </a:solidFill>
                          <a:latin typeface="Arial"/>
                        </a:rPr>
                        <a:t>F/# along / across</a:t>
                      </a:r>
                    </a:p>
                  </a:txBody>
                  <a:tcPr marL="54864" marR="54864" marT="18288" marB="18288">
                    <a:solidFill>
                      <a:srgbClr val="1F4E79"/>
                    </a:solidFill>
                  </a:tcPr>
                </a:tc>
                <a:tc>
                  <a:txBody>
                    <a:bodyPr wrap="square"/>
                    <a:lstStyle/>
                    <a:p>
                      <a:r>
                        <a:rPr sz="1100" b="1">
                          <a:solidFill>
                            <a:srgbClr val="FFFFFF"/>
                          </a:solidFill>
                          <a:latin typeface="Arial"/>
                        </a:rPr>
                        <a:t>chief − centroid across the slit (µm)</a:t>
                      </a:r>
                    </a:p>
                  </a:txBody>
                  <a:tcPr marL="54864" marR="54864" marT="18288" marB="18288">
                    <a:solidFill>
                      <a:srgbClr val="1F4E79"/>
                    </a:solidFill>
                  </a:tcPr>
                </a:tc>
              </a:tr>
              <a:tr h="280035">
                <a:tc>
                  <a:txBody>
                    <a:bodyPr wrap="square"/>
                    <a:lstStyle/>
                    <a:p>
                      <a:r>
                        <a:rPr sz="1100" b="0">
                          <a:solidFill>
                            <a:srgbClr val="282828"/>
                          </a:solidFill>
                          <a:latin typeface="Arial"/>
                        </a:rPr>
                        <a:t>0</a:t>
                      </a:r>
                    </a:p>
                  </a:txBody>
                  <a:tcPr marL="54864" marR="54864" marT="18288" marB="18288">
                    <a:solidFill>
                      <a:srgbClr val="FFFFFF"/>
                    </a:solidFill>
                  </a:tcPr>
                </a:tc>
                <a:tc>
                  <a:txBody>
                    <a:bodyPr wrap="square"/>
                    <a:lstStyle/>
                    <a:p>
                      <a:r>
                        <a:rPr sz="1100" b="0">
                          <a:solidFill>
                            <a:srgbClr val="282828"/>
                          </a:solidFill>
                          <a:latin typeface="Arial"/>
                        </a:rPr>
                        <a:t>1.8</a:t>
                      </a:r>
                    </a:p>
                  </a:txBody>
                  <a:tcPr marL="54864" marR="54864" marT="18288" marB="18288">
                    <a:solidFill>
                      <a:srgbClr val="FFFFFF"/>
                    </a:solidFill>
                  </a:tcPr>
                </a:tc>
                <a:tc>
                  <a:txBody>
                    <a:bodyPr wrap="square"/>
                    <a:lstStyle/>
                    <a:p>
                      <a:r>
                        <a:rPr sz="1100" b="0">
                          <a:solidFill>
                            <a:srgbClr val="282828"/>
                          </a:solidFill>
                          <a:latin typeface="Arial"/>
                        </a:rPr>
                        <a:t>1.02 / 1.02</a:t>
                      </a:r>
                    </a:p>
                  </a:txBody>
                  <a:tcPr marL="54864" marR="54864" marT="18288" marB="18288">
                    <a:solidFill>
                      <a:srgbClr val="FFFFFF"/>
                    </a:solidFill>
                  </a:tcPr>
                </a:tc>
                <a:tc>
                  <a:txBody>
                    <a:bodyPr wrap="square"/>
                    <a:lstStyle/>
                    <a:p>
                      <a:r>
                        <a:rPr sz="1100" b="0">
                          <a:solidFill>
                            <a:srgbClr val="282828"/>
                          </a:solidFill>
                          <a:latin typeface="Arial"/>
                        </a:rPr>
                        <a:t>1.00</a:t>
                      </a:r>
                    </a:p>
                  </a:txBody>
                  <a:tcPr marL="54864" marR="54864" marT="18288" marB="18288">
                    <a:solidFill>
                      <a:srgbClr val="FFFFFF"/>
                    </a:solidFill>
                  </a:tcPr>
                </a:tc>
                <a:tc>
                  <a:txBody>
                    <a:bodyPr wrap="square"/>
                    <a:lstStyle/>
                    <a:p>
                      <a:r>
                        <a:rPr sz="1100" b="0">
                          <a:solidFill>
                            <a:srgbClr val="282828"/>
                          </a:solidFill>
                          <a:latin typeface="Arial"/>
                        </a:rPr>
                        <a:t>0.000°</a:t>
                      </a:r>
                    </a:p>
                  </a:txBody>
                  <a:tcPr marL="54864" marR="54864" marT="18288" marB="18288">
                    <a:solidFill>
                      <a:srgbClr val="FFFFFF"/>
                    </a:solidFill>
                  </a:tcPr>
                </a:tc>
                <a:tc>
                  <a:txBody>
                    <a:bodyPr wrap="square"/>
                    <a:lstStyle/>
                    <a:p>
                      <a:r>
                        <a:rPr sz="1100" b="0">
                          <a:solidFill>
                            <a:srgbClr val="282828"/>
                          </a:solidFill>
                          <a:latin typeface="Arial"/>
                        </a:rPr>
                        <a:t>1.894 / 1.806</a:t>
                      </a:r>
                    </a:p>
                  </a:txBody>
                  <a:tcPr marL="54864" marR="54864" marT="18288" marB="18288">
                    <a:solidFill>
                      <a:srgbClr val="FFFFFF"/>
                    </a:solidFill>
                  </a:tcPr>
                </a:tc>
                <a:tc>
                  <a:txBody>
                    <a:bodyPr wrap="square"/>
                    <a:lstStyle/>
                    <a:p>
                      <a:r>
                        <a:rPr sz="1100" b="0">
                          <a:solidFill>
                            <a:srgbClr val="282828"/>
                          </a:solidFill>
                          <a:latin typeface="Arial"/>
                        </a:rPr>
                        <a:t>0.00</a:t>
                      </a:r>
                    </a:p>
                  </a:txBody>
                  <a:tcPr marL="54864" marR="54864" marT="18288" marB="18288">
                    <a:solidFill>
                      <a:srgbClr val="FFFFFF"/>
                    </a:solidFill>
                  </a:tcPr>
                </a:tc>
              </a:tr>
              <a:tr h="280035">
                <a:tc>
                  <a:txBody>
                    <a:bodyPr wrap="square"/>
                    <a:lstStyle/>
                    <a:p>
                      <a:r>
                        <a:rPr sz="1100" b="0">
                          <a:solidFill>
                            <a:srgbClr val="282828"/>
                          </a:solidFill>
                          <a:latin typeface="Arial"/>
                        </a:rPr>
                        <a:t>1.175°</a:t>
                      </a:r>
                    </a:p>
                  </a:txBody>
                  <a:tcPr marL="54864" marR="54864" marT="18288" marB="18288">
                    <a:solidFill>
                      <a:srgbClr val="ECF1F6"/>
                    </a:solidFill>
                  </a:tcPr>
                </a:tc>
                <a:tc>
                  <a:txBody>
                    <a:bodyPr wrap="square"/>
                    <a:lstStyle/>
                    <a:p>
                      <a:r>
                        <a:rPr sz="1100" b="0">
                          <a:solidFill>
                            <a:srgbClr val="282828"/>
                          </a:solidFill>
                          <a:latin typeface="Arial"/>
                        </a:rPr>
                        <a:t>2.2</a:t>
                      </a:r>
                    </a:p>
                  </a:txBody>
                  <a:tcPr marL="54864" marR="54864" marT="18288" marB="18288">
                    <a:solidFill>
                      <a:srgbClr val="ECF1F6"/>
                    </a:solidFill>
                  </a:tcPr>
                </a:tc>
                <a:tc>
                  <a:txBody>
                    <a:bodyPr wrap="square"/>
                    <a:lstStyle/>
                    <a:p>
                      <a:r>
                        <a:rPr sz="1100" b="0">
                          <a:solidFill>
                            <a:srgbClr val="282828"/>
                          </a:solidFill>
                          <a:latin typeface="Arial"/>
                        </a:rPr>
                        <a:t>1.02 / 1.02</a:t>
                      </a:r>
                    </a:p>
                  </a:txBody>
                  <a:tcPr marL="54864" marR="54864" marT="18288" marB="18288">
                    <a:solidFill>
                      <a:srgbClr val="ECF1F6"/>
                    </a:solidFill>
                  </a:tcPr>
                </a:tc>
                <a:tc>
                  <a:txBody>
                    <a:bodyPr wrap="square"/>
                    <a:lstStyle/>
                    <a:p>
                      <a:r>
                        <a:rPr sz="1100" b="0">
                          <a:solidFill>
                            <a:srgbClr val="282828"/>
                          </a:solidFill>
                          <a:latin typeface="Arial"/>
                        </a:rPr>
                        <a:t>1.00</a:t>
                      </a:r>
                    </a:p>
                  </a:txBody>
                  <a:tcPr marL="54864" marR="54864" marT="18288" marB="18288">
                    <a:solidFill>
                      <a:srgbClr val="ECF1F6"/>
                    </a:solidFill>
                  </a:tcPr>
                </a:tc>
                <a:tc>
                  <a:txBody>
                    <a:bodyPr wrap="square"/>
                    <a:lstStyle/>
                    <a:p>
                      <a:r>
                        <a:rPr sz="1100" b="0">
                          <a:solidFill>
                            <a:srgbClr val="282828"/>
                          </a:solidFill>
                          <a:latin typeface="Arial"/>
                        </a:rPr>
                        <a:t>0.002°</a:t>
                      </a:r>
                    </a:p>
                  </a:txBody>
                  <a:tcPr marL="54864" marR="54864" marT="18288" marB="18288">
                    <a:solidFill>
                      <a:srgbClr val="ECF1F6"/>
                    </a:solidFill>
                  </a:tcPr>
                </a:tc>
                <a:tc>
                  <a:txBody>
                    <a:bodyPr wrap="square"/>
                    <a:lstStyle/>
                    <a:p>
                      <a:r>
                        <a:rPr sz="1100" b="0">
                          <a:solidFill>
                            <a:srgbClr val="282828"/>
                          </a:solidFill>
                          <a:latin typeface="Arial"/>
                        </a:rPr>
                        <a:t>1.894 / 1.803</a:t>
                      </a:r>
                    </a:p>
                  </a:txBody>
                  <a:tcPr marL="54864" marR="54864" marT="18288" marB="18288">
                    <a:solidFill>
                      <a:srgbClr val="ECF1F6"/>
                    </a:solidFill>
                  </a:tcPr>
                </a:tc>
                <a:tc>
                  <a:txBody>
                    <a:bodyPr wrap="square"/>
                    <a:lstStyle/>
                    <a:p>
                      <a:r>
                        <a:rPr sz="1100" b="0">
                          <a:solidFill>
                            <a:srgbClr val="282828"/>
                          </a:solidFill>
                          <a:latin typeface="Arial"/>
                        </a:rPr>
                        <a:t>–</a:t>
                      </a:r>
                    </a:p>
                  </a:txBody>
                  <a:tcPr marL="54864" marR="54864" marT="18288" marB="18288">
                    <a:solidFill>
                      <a:srgbClr val="ECF1F6"/>
                    </a:solidFill>
                  </a:tcPr>
                </a:tc>
              </a:tr>
              <a:tr h="280035">
                <a:tc>
                  <a:txBody>
                    <a:bodyPr wrap="square"/>
                    <a:lstStyle/>
                    <a:p>
                      <a:r>
                        <a:rPr sz="1100" b="0">
                          <a:solidFill>
                            <a:srgbClr val="282828"/>
                          </a:solidFill>
                          <a:latin typeface="Arial"/>
                        </a:rPr>
                        <a:t>2.35°</a:t>
                      </a:r>
                    </a:p>
                  </a:txBody>
                  <a:tcPr marL="54864" marR="54864" marT="18288" marB="18288">
                    <a:solidFill>
                      <a:srgbClr val="FFFFFF"/>
                    </a:solidFill>
                  </a:tcPr>
                </a:tc>
                <a:tc>
                  <a:txBody>
                    <a:bodyPr wrap="square"/>
                    <a:lstStyle/>
                    <a:p>
                      <a:r>
                        <a:rPr sz="1100" b="0">
                          <a:solidFill>
                            <a:srgbClr val="282828"/>
                          </a:solidFill>
                          <a:latin typeface="Arial"/>
                        </a:rPr>
                        <a:t>2.5</a:t>
                      </a:r>
                    </a:p>
                  </a:txBody>
                  <a:tcPr marL="54864" marR="54864" marT="18288" marB="18288">
                    <a:solidFill>
                      <a:srgbClr val="FFFFFF"/>
                    </a:solidFill>
                  </a:tcPr>
                </a:tc>
                <a:tc>
                  <a:txBody>
                    <a:bodyPr wrap="square"/>
                    <a:lstStyle/>
                    <a:p>
                      <a:r>
                        <a:rPr sz="1100" b="0">
                          <a:solidFill>
                            <a:srgbClr val="282828"/>
                          </a:solidFill>
                          <a:latin typeface="Arial"/>
                        </a:rPr>
                        <a:t>1.02 / 1.02</a:t>
                      </a:r>
                    </a:p>
                  </a:txBody>
                  <a:tcPr marL="54864" marR="54864" marT="18288" marB="18288">
                    <a:solidFill>
                      <a:srgbClr val="FFFFFF"/>
                    </a:solidFill>
                  </a:tcPr>
                </a:tc>
                <a:tc>
                  <a:txBody>
                    <a:bodyPr wrap="square"/>
                    <a:lstStyle/>
                    <a:p>
                      <a:r>
                        <a:rPr sz="1100" b="0">
                          <a:solidFill>
                            <a:srgbClr val="282828"/>
                          </a:solidFill>
                          <a:latin typeface="Arial"/>
                        </a:rPr>
                        <a:t>1.00</a:t>
                      </a:r>
                    </a:p>
                  </a:txBody>
                  <a:tcPr marL="54864" marR="54864" marT="18288" marB="18288">
                    <a:solidFill>
                      <a:srgbClr val="FFFFFF"/>
                    </a:solidFill>
                  </a:tcPr>
                </a:tc>
                <a:tc>
                  <a:txBody>
                    <a:bodyPr wrap="square"/>
                    <a:lstStyle/>
                    <a:p>
                      <a:r>
                        <a:rPr sz="1100" b="0">
                          <a:solidFill>
                            <a:srgbClr val="282828"/>
                          </a:solidFill>
                          <a:latin typeface="Arial"/>
                        </a:rPr>
                        <a:t>0.008°</a:t>
                      </a:r>
                    </a:p>
                  </a:txBody>
                  <a:tcPr marL="54864" marR="54864" marT="18288" marB="18288">
                    <a:solidFill>
                      <a:srgbClr val="FFFFFF"/>
                    </a:solidFill>
                  </a:tcPr>
                </a:tc>
                <a:tc>
                  <a:txBody>
                    <a:bodyPr wrap="square"/>
                    <a:lstStyle/>
                    <a:p>
                      <a:r>
                        <a:rPr sz="1100" b="0">
                          <a:solidFill>
                            <a:srgbClr val="282828"/>
                          </a:solidFill>
                          <a:latin typeface="Arial"/>
                        </a:rPr>
                        <a:t>1.893 / 1.801</a:t>
                      </a:r>
                    </a:p>
                  </a:txBody>
                  <a:tcPr marL="54864" marR="54864" marT="18288" marB="18288">
                    <a:solidFill>
                      <a:srgbClr val="FFFFFF"/>
                    </a:solidFill>
                  </a:tcPr>
                </a:tc>
                <a:tc>
                  <a:txBody>
                    <a:bodyPr wrap="square"/>
                    <a:lstStyle/>
                    <a:p>
                      <a:r>
                        <a:rPr sz="1100" b="0">
                          <a:solidFill>
                            <a:srgbClr val="282828"/>
                          </a:solidFill>
                          <a:latin typeface="Arial"/>
                        </a:rPr>
                        <a:t>–</a:t>
                      </a:r>
                    </a:p>
                  </a:txBody>
                  <a:tcPr marL="54864" marR="54864" marT="18288" marB="18288">
                    <a:solidFill>
                      <a:srgbClr val="FFFFFF"/>
                    </a:solidFill>
                  </a:tcPr>
                </a:tc>
              </a:tr>
              <a:tr h="280035">
                <a:tc>
                  <a:txBody>
                    <a:bodyPr wrap="square"/>
                    <a:lstStyle/>
                    <a:p>
                      <a:r>
                        <a:rPr sz="1100" b="0">
                          <a:solidFill>
                            <a:srgbClr val="282828"/>
                          </a:solidFill>
                          <a:latin typeface="Arial"/>
                        </a:rPr>
                        <a:t>3.525°</a:t>
                      </a:r>
                    </a:p>
                  </a:txBody>
                  <a:tcPr marL="54864" marR="54864" marT="18288" marB="18288">
                    <a:solidFill>
                      <a:srgbClr val="ECF1F6"/>
                    </a:solidFill>
                  </a:tcPr>
                </a:tc>
                <a:tc>
                  <a:txBody>
                    <a:bodyPr wrap="square"/>
                    <a:lstStyle/>
                    <a:p>
                      <a:r>
                        <a:rPr sz="1100" b="0">
                          <a:solidFill>
                            <a:srgbClr val="282828"/>
                          </a:solidFill>
                          <a:latin typeface="Arial"/>
                        </a:rPr>
                        <a:t>2.0</a:t>
                      </a:r>
                    </a:p>
                  </a:txBody>
                  <a:tcPr marL="54864" marR="54864" marT="18288" marB="18288">
                    <a:solidFill>
                      <a:srgbClr val="ECF1F6"/>
                    </a:solidFill>
                  </a:tcPr>
                </a:tc>
                <a:tc>
                  <a:txBody>
                    <a:bodyPr wrap="square"/>
                    <a:lstStyle/>
                    <a:p>
                      <a:r>
                        <a:rPr sz="1100" b="0">
                          <a:solidFill>
                            <a:srgbClr val="282828"/>
                          </a:solidFill>
                          <a:latin typeface="Arial"/>
                        </a:rPr>
                        <a:t>1.02 / 1.02</a:t>
                      </a:r>
                    </a:p>
                  </a:txBody>
                  <a:tcPr marL="54864" marR="54864" marT="18288" marB="18288">
                    <a:solidFill>
                      <a:srgbClr val="ECF1F6"/>
                    </a:solidFill>
                  </a:tcPr>
                </a:tc>
                <a:tc>
                  <a:txBody>
                    <a:bodyPr wrap="square"/>
                    <a:lstStyle/>
                    <a:p>
                      <a:r>
                        <a:rPr sz="1100" b="0">
                          <a:solidFill>
                            <a:srgbClr val="282828"/>
                          </a:solidFill>
                          <a:latin typeface="Arial"/>
                        </a:rPr>
                        <a:t>1.00</a:t>
                      </a:r>
                    </a:p>
                  </a:txBody>
                  <a:tcPr marL="54864" marR="54864" marT="18288" marB="18288">
                    <a:solidFill>
                      <a:srgbClr val="ECF1F6"/>
                    </a:solidFill>
                  </a:tcPr>
                </a:tc>
                <a:tc>
                  <a:txBody>
                    <a:bodyPr wrap="square"/>
                    <a:lstStyle/>
                    <a:p>
                      <a:r>
                        <a:rPr sz="1100" b="0">
                          <a:solidFill>
                            <a:srgbClr val="282828"/>
                          </a:solidFill>
                          <a:latin typeface="Arial"/>
                        </a:rPr>
                        <a:t>0.018°</a:t>
                      </a:r>
                    </a:p>
                  </a:txBody>
                  <a:tcPr marL="54864" marR="54864" marT="18288" marB="18288">
                    <a:solidFill>
                      <a:srgbClr val="ECF1F6"/>
                    </a:solidFill>
                  </a:tcPr>
                </a:tc>
                <a:tc>
                  <a:txBody>
                    <a:bodyPr wrap="square"/>
                    <a:lstStyle/>
                    <a:p>
                      <a:r>
                        <a:rPr sz="1100" b="0">
                          <a:solidFill>
                            <a:srgbClr val="282828"/>
                          </a:solidFill>
                          <a:latin typeface="Arial"/>
                        </a:rPr>
                        <a:t>1.892 / 1.798</a:t>
                      </a:r>
                    </a:p>
                  </a:txBody>
                  <a:tcPr marL="54864" marR="54864" marT="18288" marB="18288">
                    <a:solidFill>
                      <a:srgbClr val="ECF1F6"/>
                    </a:solidFill>
                  </a:tcPr>
                </a:tc>
                <a:tc>
                  <a:txBody>
                    <a:bodyPr wrap="square"/>
                    <a:lstStyle/>
                    <a:p>
                      <a:r>
                        <a:rPr sz="1100" b="0">
                          <a:solidFill>
                            <a:srgbClr val="282828"/>
                          </a:solidFill>
                          <a:latin typeface="Arial"/>
                        </a:rPr>
                        <a:t>–</a:t>
                      </a:r>
                    </a:p>
                  </a:txBody>
                  <a:tcPr marL="54864" marR="54864" marT="18288" marB="18288">
                    <a:solidFill>
                      <a:srgbClr val="ECF1F6"/>
                    </a:solidFill>
                  </a:tcPr>
                </a:tc>
              </a:tr>
              <a:tr h="280035">
                <a:tc>
                  <a:txBody>
                    <a:bodyPr wrap="square"/>
                    <a:lstStyle/>
                    <a:p>
                      <a:r>
                        <a:rPr sz="1100" b="0">
                          <a:solidFill>
                            <a:srgbClr val="282828"/>
                          </a:solidFill>
                          <a:latin typeface="Arial"/>
                        </a:rPr>
                        <a:t>4.7°</a:t>
                      </a:r>
                    </a:p>
                  </a:txBody>
                  <a:tcPr marL="54864" marR="54864" marT="18288" marB="18288">
                    <a:solidFill>
                      <a:srgbClr val="FFFFFF"/>
                    </a:solidFill>
                  </a:tcPr>
                </a:tc>
                <a:tc>
                  <a:txBody>
                    <a:bodyPr wrap="square"/>
                    <a:lstStyle/>
                    <a:p>
                      <a:r>
                        <a:rPr sz="1100" b="0">
                          <a:solidFill>
                            <a:srgbClr val="282828"/>
                          </a:solidFill>
                          <a:latin typeface="Arial"/>
                        </a:rPr>
                        <a:t>2.3</a:t>
                      </a:r>
                    </a:p>
                  </a:txBody>
                  <a:tcPr marL="54864" marR="54864" marT="18288" marB="18288">
                    <a:solidFill>
                      <a:srgbClr val="FFFFFF"/>
                    </a:solidFill>
                  </a:tcPr>
                </a:tc>
                <a:tc>
                  <a:txBody>
                    <a:bodyPr wrap="square"/>
                    <a:lstStyle/>
                    <a:p>
                      <a:r>
                        <a:rPr sz="1100" b="0">
                          <a:solidFill>
                            <a:srgbClr val="282828"/>
                          </a:solidFill>
                          <a:latin typeface="Arial"/>
                        </a:rPr>
                        <a:t>1.02 / 1.02</a:t>
                      </a:r>
                    </a:p>
                  </a:txBody>
                  <a:tcPr marL="54864" marR="54864" marT="18288" marB="18288">
                    <a:solidFill>
                      <a:srgbClr val="FFFFFF"/>
                    </a:solidFill>
                  </a:tcPr>
                </a:tc>
                <a:tc>
                  <a:txBody>
                    <a:bodyPr wrap="square"/>
                    <a:lstStyle/>
                    <a:p>
                      <a:r>
                        <a:rPr sz="1100" b="0">
                          <a:solidFill>
                            <a:srgbClr val="282828"/>
                          </a:solidFill>
                          <a:latin typeface="Arial"/>
                        </a:rPr>
                        <a:t>1.00</a:t>
                      </a:r>
                    </a:p>
                  </a:txBody>
                  <a:tcPr marL="54864" marR="54864" marT="18288" marB="18288">
                    <a:solidFill>
                      <a:srgbClr val="FFFFFF"/>
                    </a:solidFill>
                  </a:tcPr>
                </a:tc>
                <a:tc>
                  <a:txBody>
                    <a:bodyPr wrap="square"/>
                    <a:lstStyle/>
                    <a:p>
                      <a:r>
                        <a:rPr sz="1100" b="0">
                          <a:solidFill>
                            <a:srgbClr val="282828"/>
                          </a:solidFill>
                          <a:latin typeface="Arial"/>
                        </a:rPr>
                        <a:t>0.033°</a:t>
                      </a:r>
                    </a:p>
                  </a:txBody>
                  <a:tcPr marL="54864" marR="54864" marT="18288" marB="18288">
                    <a:solidFill>
                      <a:srgbClr val="FFFFFF"/>
                    </a:solidFill>
                  </a:tcPr>
                </a:tc>
                <a:tc>
                  <a:txBody>
                    <a:bodyPr wrap="square"/>
                    <a:lstStyle/>
                    <a:p>
                      <a:r>
                        <a:rPr sz="1100" b="0">
                          <a:solidFill>
                            <a:srgbClr val="282828"/>
                          </a:solidFill>
                          <a:latin typeface="Arial"/>
                        </a:rPr>
                        <a:t>1.889 / 1.797</a:t>
                      </a:r>
                    </a:p>
                  </a:txBody>
                  <a:tcPr marL="54864" marR="54864" marT="18288" marB="18288">
                    <a:solidFill>
                      <a:srgbClr val="FFFFFF"/>
                    </a:solidFill>
                  </a:tcPr>
                </a:tc>
                <a:tc>
                  <a:txBody>
                    <a:bodyPr wrap="square"/>
                    <a:lstStyle/>
                    <a:p>
                      <a:r>
                        <a:rPr sz="1100" b="0">
                          <a:solidFill>
                            <a:srgbClr val="282828"/>
                          </a:solidFill>
                          <a:latin typeface="Arial"/>
                        </a:rPr>
                        <a:t>0.03 (R7: 2.43)</a:t>
                      </a:r>
                    </a:p>
                  </a:txBody>
                  <a:tcPr marL="54864" marR="54864" marT="18288" marB="18288">
                    <a:solidFill>
                      <a:srgbClr val="FFFFFF"/>
                    </a:solidFill>
                  </a:tcPr>
                </a:tc>
              </a:tr>
            </a:tbl>
          </a:graphicData>
        </a:graphic>
      </p:graphicFrame>
      <p:sp>
        <p:nvSpPr>
          <p:cNvPr id="5" name="TextBox 4"/>
          <p:cNvSpPr txBox="1"/>
          <p:nvPr/>
        </p:nvSpPr>
        <p:spPr>
          <a:xfrm>
            <a:off x="411480" y="3124962"/>
            <a:ext cx="5806440" cy="274320"/>
          </a:xfrm>
          <a:prstGeom prst="rect">
            <a:avLst/>
          </a:prstGeom>
          <a:noFill/>
        </p:spPr>
        <p:txBody>
          <a:bodyPr wrap="square">
            <a:spAutoFit/>
          </a:bodyPr>
          <a:lstStyle/>
          <a:p>
            <a:pPr>
              <a:spcAft>
                <a:spcPts val="600"/>
              </a:spcAft>
            </a:pPr>
            <a:r>
              <a:rPr sz="1200" b="0">
                <a:solidFill>
                  <a:srgbClr val="282828"/>
                </a:solidFill>
                <a:latin typeface="Arial"/>
              </a:rPr>
              <a:t>•  </a:t>
            </a:r>
            <a:r>
              <a:rPr sz="1200" b="1">
                <a:solidFill>
                  <a:srgbClr val="282828"/>
                </a:solidFill>
                <a:latin typeface="Arial"/>
              </a:rPr>
              <a:t>Geometry:</a:t>
            </a:r>
            <a:r>
              <a:rPr sz="1200" b="0">
                <a:solidFill>
                  <a:srgbClr val="282828"/>
                </a:solidFill>
                <a:latin typeface="Arial"/>
              </a:rPr>
              <a:t> the seed's legs and incidences kept; the layout stays the form (unbounded, the incidence angles collapse to a coaxial train that self-obscures).  Plate scale 329.9 mm local, 330.1 along track.  Footprints M1 235 × 202, M2 132 × 166, M3 215 × 173 mm; freeform departure 0.46 / 0.55 / 1.11 mm P-V over the lit patch (the 1.5k asphere telescope: 2.1 mm on M1).  Clearance +12.1 mm; working distance 299.4 mm.</a:t>
            </a:r>
          </a:p>
          <a:p>
            <a:pPr>
              <a:spcAft>
                <a:spcPts val="600"/>
              </a:spcAft>
            </a:pPr>
            <a:r>
              <a:rPr sz="1200" b="0">
                <a:solidFill>
                  <a:srgbClr val="282828"/>
                </a:solidFill>
                <a:latin typeface="Arial"/>
              </a:rPr>
              <a:t>•  </a:t>
            </a:r>
            <a:r>
              <a:rPr sz="1200" b="1">
                <a:solidFill>
                  <a:srgbClr val="282828"/>
                </a:solidFill>
                <a:latin typeface="Arial"/>
              </a:rPr>
              <a:t>Figure:</a:t>
            </a:r>
            <a:r>
              <a:rPr sz="1200" b="0">
                <a:solidFill>
                  <a:srgbClr val="282828"/>
                </a:solidFill>
                <a:latin typeface="Arial"/>
              </a:rPr>
              <a:t> a pole-frame polynomial (Surface= Monomial, degree 3–6, even in x); degree ≥ 3 leaves value, slope and curvature at the pole untouched, so the first order survives the figure.  Even aspheres about the parent axis were the wrong basis on these sections (the poles sit 0.9–1.5 m off axis).</a:t>
            </a:r>
          </a:p>
        </p:txBody>
      </p:sp>
      <p:sp>
        <p:nvSpPr>
          <p:cNvPr id="6" name="TextBox 5"/>
          <p:cNvSpPr txBox="1"/>
          <p:nvPr/>
        </p:nvSpPr>
        <p:spPr>
          <a:xfrm>
            <a:off x="6400800" y="3124962"/>
            <a:ext cx="5394960" cy="274320"/>
          </a:xfrm>
          <a:prstGeom prst="rect">
            <a:avLst/>
          </a:prstGeom>
          <a:noFill/>
        </p:spPr>
        <p:txBody>
          <a:bodyPr wrap="square">
            <a:spAutoFit/>
          </a:bodyPr>
          <a:lstStyle/>
          <a:p>
            <a:pPr>
              <a:spcAft>
                <a:spcPts val="600"/>
              </a:spcAft>
            </a:pPr>
            <a:r>
              <a:rPr sz="1200" b="0">
                <a:solidFill>
                  <a:srgbClr val="282828"/>
                </a:solidFill>
                <a:latin typeface="Arial"/>
              </a:rPr>
              <a:t>•  </a:t>
            </a:r>
            <a:r>
              <a:rPr sz="1200" b="1">
                <a:solidFill>
                  <a:srgbClr val="282828"/>
                </a:solidFill>
                <a:latin typeface="Arial"/>
              </a:rPr>
              <a:t>The constraint rows that make it a long-slit front end, in every rung:</a:t>
            </a:r>
            <a:r>
              <a:rPr sz="1200" b="0">
                <a:solidFill>
                  <a:srgbClr val="282828"/>
                </a:solidFill>
                <a:latin typeface="Arial"/>
              </a:rPr>
              <a:t> the chief angle to the slit normal per field (telecentric); a hinge on the marginal rays' F/# at the slit, along and across, outside [1.7, 1.8] (the paper's F/# anamorphicity); and, in R9, the chief − centroid offset across the slit (slide 10).</a:t>
            </a:r>
          </a:p>
          <a:p>
            <a:pPr>
              <a:spcAft>
                <a:spcPts val="600"/>
              </a:spcAft>
            </a:pPr>
            <a:r>
              <a:rPr sz="1200" b="0">
                <a:solidFill>
                  <a:srgbClr val="282828"/>
                </a:solidFill>
                <a:latin typeface="Arial"/>
              </a:rPr>
              <a:t>•  </a:t>
            </a:r>
            <a:r>
              <a:rPr sz="1200" b="1">
                <a:solidFill>
                  <a:srgbClr val="282828"/>
                </a:solidFill>
                <a:latin typeface="Arial"/>
              </a:rPr>
              <a:t>Not done:</a:t>
            </a:r>
            <a:r>
              <a:rPr sz="1200" b="0">
                <a:solidFill>
                  <a:srgbClr val="282828"/>
                </a:solidFill>
                <a:latin typeface="Arial"/>
              </a:rPr>
              <a:t> no tolerancing, no coatings, no stray-light or mirror sizing beyond the footprints.</a:t>
            </a:r>
          </a:p>
        </p:txBody>
      </p:sp>
      <p:sp>
        <p:nvSpPr>
          <p:cNvPr id="7" name="TextBox 6"/>
          <p:cNvSpPr txBox="1"/>
          <p:nvPr/>
        </p:nvSpPr>
        <p:spPr>
          <a:xfrm>
            <a:off x="6400800" y="4828794"/>
            <a:ext cx="5394960" cy="274320"/>
          </a:xfrm>
          <a:prstGeom prst="rect">
            <a:avLst/>
          </a:prstGeom>
          <a:noFill/>
        </p:spPr>
        <p:txBody>
          <a:bodyPr wrap="square">
            <a:spAutoFit/>
          </a:bodyPr>
          <a:lstStyle/>
          <a:p>
            <a:pPr>
              <a:spcAft>
                <a:spcPts val="600"/>
              </a:spcAft>
            </a:pPr>
            <a:r>
              <a:rPr sz="1050" b="0">
                <a:solidFill>
                  <a:srgbClr val="6E6E6E"/>
                </a:solidFill>
                <a:latin typeface="Arial"/>
              </a:rPr>
              <a:t>Prescription challenges/dyson5/dyson5_cprime_3k.in (= tls_R9_ffo.in); engine numbers, model 256, nine fields over ±4.7°, mirror-symmetric.  The gate tTmaLongslit re-scores it by name.  REPORT_dyson5_cprime.md.</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The 3k module, scored: spectrometer, telescope, and the two together</a:t>
            </a:r>
          </a:p>
          <a:p>
            <a:pPr>
              <a:spcAft>
                <a:spcPts val="0"/>
              </a:spcAft>
            </a:pPr>
            <a:r>
              <a:rPr sz="1250" b="0">
                <a:solidFill>
                  <a:srgbClr val="6E6E6E"/>
                </a:solidFill>
                <a:latin typeface="Arial"/>
              </a:rPr>
              <a:t>Both meet Joe's specification; together they image at the pixel over the strip; SRF is the two-pixel slit's floor</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411480" y="1298448"/>
          <a:ext cx="11368730" cy="4680585"/>
        </p:xfrm>
        <a:graphic>
          <a:graphicData uri="http://schemas.openxmlformats.org/drawingml/2006/table">
            <a:tbl>
              <a:tblPr firstRow="1" bandRow="1">
                <a:tableStyleId>{5C22544A-7EE6-4342-B048-85BDC9FD1C3A}</a:tableStyleId>
              </a:tblPr>
              <a:tblGrid>
                <a:gridCol w="1632743"/>
                <a:gridCol w="665191"/>
                <a:gridCol w="1511799"/>
                <a:gridCol w="2297935"/>
                <a:gridCol w="1753687"/>
                <a:gridCol w="3507375"/>
              </a:tblGrid>
              <a:tr h="468630">
                <a:tc>
                  <a:txBody>
                    <a:bodyPr wrap="square"/>
                    <a:lstStyle/>
                    <a:p>
                      <a:r>
                        <a:rPr sz="1100" b="1">
                          <a:solidFill>
                            <a:srgbClr val="FFFFFF"/>
                          </a:solidFill>
                          <a:latin typeface="Arial"/>
                        </a:rPr>
                        <a:t>criterion</a:t>
                      </a:r>
                    </a:p>
                  </a:txBody>
                  <a:tcPr marL="54864" marR="54864" marT="18288" marB="18288">
                    <a:solidFill>
                      <a:srgbClr val="1F4E79"/>
                    </a:solidFill>
                  </a:tcPr>
                </a:tc>
                <a:tc>
                  <a:txBody>
                    <a:bodyPr wrap="square"/>
                    <a:lstStyle/>
                    <a:p>
                      <a:r>
                        <a:rPr sz="1100" b="1">
                          <a:solidFill>
                            <a:srgbClr val="FFFFFF"/>
                          </a:solidFill>
                          <a:latin typeface="Arial"/>
                        </a:rPr>
                        <a:t>Joe</a:t>
                      </a:r>
                    </a:p>
                  </a:txBody>
                  <a:tcPr marL="54864" marR="54864" marT="18288" marB="18288">
                    <a:solidFill>
                      <a:srgbClr val="1F4E79"/>
                    </a:solidFill>
                  </a:tcPr>
                </a:tc>
                <a:tc>
                  <a:txBody>
                    <a:bodyPr wrap="square"/>
                    <a:lstStyle/>
                    <a:p>
                      <a:r>
                        <a:rPr sz="1100" b="1">
                          <a:solidFill>
                            <a:srgbClr val="FFFFFF"/>
                          </a:solidFill>
                          <a:latin typeface="Arial"/>
                        </a:rPr>
                        <a:t>paper</a:t>
                      </a:r>
                    </a:p>
                  </a:txBody>
                  <a:tcPr marL="54864" marR="54864" marT="18288" marB="18288">
                    <a:solidFill>
                      <a:srgbClr val="1F4E79"/>
                    </a:solidFill>
                  </a:tcPr>
                </a:tc>
                <a:tc>
                  <a:txBody>
                    <a:bodyPr wrap="square"/>
                    <a:lstStyle/>
                    <a:p>
                      <a:r>
                        <a:rPr sz="1100" b="1">
                          <a:solidFill>
                            <a:srgbClr val="FFFFFF"/>
                          </a:solidFill>
                          <a:latin typeface="Arial"/>
                        </a:rPr>
                        <a:t>spectrometer alone (240 mm </a:t>
                      </a:r>
                      <a:r>
                        <a:rPr sz="1100" b="1">
                          <a:solidFill>
                            <a:srgbClr val="FFFFFF"/>
                          </a:solidFill>
                          <a:latin typeface="Arial"/>
                        </a:rPr>
                        <a:t>CaF</a:t>
                      </a:r>
                      <a:r>
                        <a:rPr sz="1100" b="1" baseline="-25000">
                          <a:solidFill>
                            <a:srgbClr val="FFFFFF"/>
                          </a:solidFill>
                          <a:latin typeface="Arial"/>
                        </a:rPr>
                        <a:t>2</a:t>
                      </a:r>
                      <a:r>
                        <a:rPr sz="1100" b="1">
                          <a:solidFill>
                            <a:srgbClr val="FFFFFF"/>
                          </a:solidFill>
                          <a:latin typeface="Arial"/>
                        </a:rPr>
                        <a:t> Dyson)</a:t>
                      </a:r>
                    </a:p>
                  </a:txBody>
                  <a:tcPr marL="54864" marR="54864" marT="18288" marB="18288">
                    <a:solidFill>
                      <a:srgbClr val="1F4E79"/>
                    </a:solidFill>
                  </a:tcPr>
                </a:tc>
                <a:tc>
                  <a:txBody>
                    <a:bodyPr wrap="square"/>
                    <a:lstStyle/>
                    <a:p>
                      <a:r>
                        <a:rPr sz="1100" b="1">
                          <a:solidFill>
                            <a:srgbClr val="FFFFFF"/>
                          </a:solidFill>
                          <a:latin typeface="Arial"/>
                        </a:rPr>
                        <a:t>telescope alone (R9)</a:t>
                      </a:r>
                    </a:p>
                  </a:txBody>
                  <a:tcPr marL="54864" marR="54864" marT="18288" marB="18288">
                    <a:solidFill>
                      <a:srgbClr val="1F4E79"/>
                    </a:solidFill>
                  </a:tcPr>
                </a:tc>
                <a:tc>
                  <a:txBody>
                    <a:bodyPr wrap="square"/>
                    <a:lstStyle/>
                    <a:p>
                      <a:r>
                        <a:rPr sz="1100" b="1">
                          <a:solidFill>
                            <a:srgbClr val="FFFFFF"/>
                          </a:solidFill>
                          <a:latin typeface="Arial"/>
                        </a:rPr>
                        <a:t>together, end to end</a:t>
                      </a:r>
                    </a:p>
                  </a:txBody>
                  <a:tcPr marL="54864" marR="54864" marT="18288" marB="18288">
                    <a:solidFill>
                      <a:srgbClr val="1F4E79"/>
                    </a:solidFill>
                  </a:tcPr>
                </a:tc>
              </a:tr>
              <a:tr h="468630">
                <a:tc>
                  <a:txBody>
                    <a:bodyPr wrap="square"/>
                    <a:lstStyle/>
                    <a:p>
                      <a:r>
                        <a:rPr sz="1100" b="0">
                          <a:solidFill>
                            <a:srgbClr val="282828"/>
                          </a:solidFill>
                          <a:latin typeface="Arial"/>
                        </a:rPr>
                        <a:t>smile</a:t>
                      </a:r>
                    </a:p>
                  </a:txBody>
                  <a:tcPr marL="54864" marR="54864" marT="18288" marB="18288">
                    <a:solidFill>
                      <a:srgbClr val="FFFFFF"/>
                    </a:solidFill>
                  </a:tcPr>
                </a:tc>
                <a:tc>
                  <a:txBody>
                    <a:bodyPr wrap="square"/>
                    <a:lstStyle/>
                    <a:p>
                      <a:r>
                        <a:rPr sz="1100" b="0">
                          <a:solidFill>
                            <a:srgbClr val="282828"/>
                          </a:solidFill>
                          <a:latin typeface="Arial"/>
                        </a:rPr>
                        <a:t>&lt; 0.1 px</a:t>
                      </a:r>
                    </a:p>
                  </a:txBody>
                  <a:tcPr marL="54864" marR="54864" marT="18288" marB="18288">
                    <a:solidFill>
                      <a:srgbClr val="FFFFFF"/>
                    </a:solidFill>
                  </a:tcPr>
                </a:tc>
                <a:tc>
                  <a:txBody>
                    <a:bodyPr wrap="square"/>
                    <a:lstStyle/>
                    <a:p>
                      <a:r>
                        <a:rPr sz="1100" b="0">
                          <a:solidFill>
                            <a:srgbClr val="282828"/>
                          </a:solidFill>
                          <a:latin typeface="Arial"/>
                        </a:rPr>
                        <a:t>&lt; 1.8 µm</a:t>
                      </a:r>
                    </a:p>
                  </a:txBody>
                  <a:tcPr marL="54864" marR="54864" marT="18288" marB="18288">
                    <a:solidFill>
                      <a:srgbClr val="FFFFFF"/>
                    </a:solidFill>
                  </a:tcPr>
                </a:tc>
                <a:tc>
                  <a:txBody>
                    <a:bodyPr wrap="square"/>
                    <a:lstStyle/>
                    <a:p>
                      <a:r>
                        <a:rPr sz="1100" b="0">
                          <a:solidFill>
                            <a:srgbClr val="282828"/>
                          </a:solidFill>
                          <a:latin typeface="Arial"/>
                        </a:rPr>
                        <a:t>0.005 px</a:t>
                      </a:r>
                    </a:p>
                  </a:txBody>
                  <a:tcPr marL="54864" marR="54864" marT="18288" marB="18288">
                    <a:solidFill>
                      <a:srgbClr val="FFFFFF"/>
                    </a:solidFill>
                  </a:tcPr>
                </a:tc>
                <a:tc>
                  <a:txBody>
                    <a:bodyPr wrap="square"/>
                    <a:lstStyle/>
                    <a:p>
                      <a:r>
                        <a:rPr sz="1100" b="0">
                          <a:solidFill>
                            <a:srgbClr val="282828"/>
                          </a:solidFill>
                          <a:latin typeface="Arial"/>
                        </a:rPr>
                        <a:t>–</a:t>
                      </a:r>
                    </a:p>
                  </a:txBody>
                  <a:tcPr marL="54864" marR="54864" marT="18288" marB="18288">
                    <a:solidFill>
                      <a:srgbClr val="FFFFFF"/>
                    </a:solidFill>
                  </a:tcPr>
                </a:tc>
                <a:tc>
                  <a:txBody>
                    <a:bodyPr wrap="square"/>
                    <a:lstStyle/>
                    <a:p>
                      <a:r>
                        <a:rPr sz="1100" b="0">
                          <a:solidFill>
                            <a:srgbClr val="282828"/>
                          </a:solidFill>
                          <a:latin typeface="Arial"/>
                        </a:rPr>
                        <a:t>0.022 px slit-filled (0.4 µm); 0.016 px point-source shift</a:t>
                      </a:r>
                    </a:p>
                  </a:txBody>
                  <a:tcPr marL="54864" marR="54864" marT="18288" marB="18288">
                    <a:solidFill>
                      <a:srgbClr val="FFFFFF"/>
                    </a:solidFill>
                  </a:tcPr>
                </a:tc>
              </a:tr>
              <a:tr h="280035">
                <a:tc>
                  <a:txBody>
                    <a:bodyPr wrap="square"/>
                    <a:lstStyle/>
                    <a:p>
                      <a:r>
                        <a:rPr sz="1100" b="0">
                          <a:solidFill>
                            <a:srgbClr val="282828"/>
                          </a:solidFill>
                          <a:latin typeface="Arial"/>
                        </a:rPr>
                        <a:t>keystone</a:t>
                      </a:r>
                    </a:p>
                  </a:txBody>
                  <a:tcPr marL="54864" marR="54864" marT="18288" marB="18288">
                    <a:solidFill>
                      <a:srgbClr val="ECF1F6"/>
                    </a:solidFill>
                  </a:tcPr>
                </a:tc>
                <a:tc>
                  <a:txBody>
                    <a:bodyPr wrap="square"/>
                    <a:lstStyle/>
                    <a:p>
                      <a:r>
                        <a:rPr sz="1100" b="0">
                          <a:solidFill>
                            <a:srgbClr val="282828"/>
                          </a:solidFill>
                          <a:latin typeface="Arial"/>
                        </a:rPr>
                        <a:t>&lt; 0.1 px</a:t>
                      </a:r>
                    </a:p>
                  </a:txBody>
                  <a:tcPr marL="54864" marR="54864" marT="18288" marB="18288">
                    <a:solidFill>
                      <a:srgbClr val="ECF1F6"/>
                    </a:solidFill>
                  </a:tcPr>
                </a:tc>
                <a:tc>
                  <a:txBody>
                    <a:bodyPr wrap="square"/>
                    <a:lstStyle/>
                    <a:p>
                      <a:r>
                        <a:rPr sz="1100" b="0">
                          <a:solidFill>
                            <a:srgbClr val="282828"/>
                          </a:solidFill>
                          <a:latin typeface="Arial"/>
                        </a:rPr>
                        <a:t>&lt; 1.8 µm</a:t>
                      </a:r>
                    </a:p>
                  </a:txBody>
                  <a:tcPr marL="54864" marR="54864" marT="18288" marB="18288">
                    <a:solidFill>
                      <a:srgbClr val="ECF1F6"/>
                    </a:solidFill>
                  </a:tcPr>
                </a:tc>
                <a:tc>
                  <a:txBody>
                    <a:bodyPr wrap="square"/>
                    <a:lstStyle/>
                    <a:p>
                      <a:r>
                        <a:rPr sz="1100" b="0">
                          <a:solidFill>
                            <a:srgbClr val="282828"/>
                          </a:solidFill>
                          <a:latin typeface="Arial"/>
                        </a:rPr>
                        <a:t>0.006 px</a:t>
                      </a:r>
                    </a:p>
                  </a:txBody>
                  <a:tcPr marL="54864" marR="54864" marT="18288" marB="18288">
                    <a:solidFill>
                      <a:srgbClr val="ECF1F6"/>
                    </a:solidFill>
                  </a:tcPr>
                </a:tc>
                <a:tc>
                  <a:txBody>
                    <a:bodyPr wrap="square"/>
                    <a:lstStyle/>
                    <a:p>
                      <a:r>
                        <a:rPr sz="1100" b="0">
                          <a:solidFill>
                            <a:srgbClr val="282828"/>
                          </a:solidFill>
                          <a:latin typeface="Arial"/>
                        </a:rPr>
                        <a:t>–</a:t>
                      </a:r>
                    </a:p>
                  </a:txBody>
                  <a:tcPr marL="54864" marR="54864" marT="18288" marB="18288">
                    <a:solidFill>
                      <a:srgbClr val="ECF1F6"/>
                    </a:solidFill>
                  </a:tcPr>
                </a:tc>
                <a:tc>
                  <a:txBody>
                    <a:bodyPr wrap="square"/>
                    <a:lstStyle/>
                    <a:p>
                      <a:r>
                        <a:rPr sz="1100" b="0">
                          <a:solidFill>
                            <a:srgbClr val="282828"/>
                          </a:solidFill>
                          <a:latin typeface="Arial"/>
                        </a:rPr>
                        <a:t>0.006 px (0.1 µm)</a:t>
                      </a:r>
                    </a:p>
                  </a:txBody>
                  <a:tcPr marL="54864" marR="54864" marT="18288" marB="18288">
                    <a:solidFill>
                      <a:srgbClr val="ECF1F6"/>
                    </a:solidFill>
                  </a:tcPr>
                </a:tc>
              </a:tr>
              <a:tr h="280035">
                <a:tc>
                  <a:txBody>
                    <a:bodyPr wrap="square"/>
                    <a:lstStyle/>
                    <a:p>
                      <a:r>
                        <a:rPr sz="1100" b="0">
                          <a:solidFill>
                            <a:srgbClr val="282828"/>
                          </a:solidFill>
                          <a:latin typeface="Arial"/>
                        </a:rPr>
                        <a:t>CRF FWHM</a:t>
                      </a:r>
                    </a:p>
                  </a:txBody>
                  <a:tcPr marL="54864" marR="54864" marT="18288" marB="18288">
                    <a:solidFill>
                      <a:srgbClr val="FFFFFF"/>
                    </a:solidFill>
                  </a:tcPr>
                </a:tc>
                <a:tc>
                  <a:txBody>
                    <a:bodyPr wrap="square"/>
                    <a:lstStyle/>
                    <a:p>
                      <a:r>
                        <a:rPr sz="1100" b="0">
                          <a:solidFill>
                            <a:srgbClr val="282828"/>
                          </a:solidFill>
                          <a:latin typeface="Arial"/>
                        </a:rPr>
                        <a:t>&lt; 1.5 px</a:t>
                      </a:r>
                    </a:p>
                  </a:txBody>
                  <a:tcPr marL="54864" marR="54864" marT="18288" marB="18288">
                    <a:solidFill>
                      <a:srgbClr val="FFFFFF"/>
                    </a:solidFill>
                  </a:tcPr>
                </a:tc>
                <a:tc>
                  <a:txBody>
                    <a:bodyPr wrap="square"/>
                    <a:lstStyle/>
                    <a:p>
                      <a:r>
                        <a:rPr sz="1100" b="0">
                          <a:solidFill>
                            <a:srgbClr val="282828"/>
                          </a:solidFill>
                          <a:latin typeface="Arial"/>
                        </a:rPr>
                        <a:t>&lt; 50.4 µm</a:t>
                      </a:r>
                    </a:p>
                  </a:txBody>
                  <a:tcPr marL="54864" marR="54864" marT="18288" marB="18288">
                    <a:solidFill>
                      <a:srgbClr val="FFFFFF"/>
                    </a:solidFill>
                  </a:tcPr>
                </a:tc>
                <a:tc>
                  <a:txBody>
                    <a:bodyPr wrap="square"/>
                    <a:lstStyle/>
                    <a:p>
                      <a:r>
                        <a:rPr sz="1100" b="0">
                          <a:solidFill>
                            <a:srgbClr val="282828"/>
                          </a:solidFill>
                          <a:latin typeface="Arial"/>
                        </a:rPr>
                        <a:t>1.21 px</a:t>
                      </a:r>
                    </a:p>
                  </a:txBody>
                  <a:tcPr marL="54864" marR="54864" marT="18288" marB="18288">
                    <a:solidFill>
                      <a:srgbClr val="FFFFFF"/>
                    </a:solidFill>
                  </a:tcPr>
                </a:tc>
                <a:tc>
                  <a:txBody>
                    <a:bodyPr wrap="square"/>
                    <a:lstStyle/>
                    <a:p>
                      <a:r>
                        <a:rPr sz="1100" b="0">
                          <a:solidFill>
                            <a:srgbClr val="282828"/>
                          </a:solidFill>
                          <a:latin typeface="Arial"/>
                        </a:rPr>
                        <a:t>1.02 px along the slit</a:t>
                      </a:r>
                    </a:p>
                  </a:txBody>
                  <a:tcPr marL="54864" marR="54864" marT="18288" marB="18288">
                    <a:solidFill>
                      <a:srgbClr val="FFFFFF"/>
                    </a:solidFill>
                  </a:tcPr>
                </a:tc>
                <a:tc>
                  <a:txBody>
                    <a:bodyPr wrap="square"/>
                    <a:lstStyle/>
                    <a:p>
                      <a:r>
                        <a:rPr sz="1100" b="0">
                          <a:solidFill>
                            <a:srgbClr val="282828"/>
                          </a:solidFill>
                          <a:latin typeface="Arial"/>
                        </a:rPr>
                        <a:t>1.17 px (21 µm); 1.26 at roll 180°</a:t>
                      </a:r>
                    </a:p>
                  </a:txBody>
                  <a:tcPr marL="54864" marR="54864" marT="18288" marB="18288">
                    <a:solidFill>
                      <a:srgbClr val="FFFFFF"/>
                    </a:solidFill>
                  </a:tcPr>
                </a:tc>
              </a:tr>
              <a:tr h="468630">
                <a:tc>
                  <a:txBody>
                    <a:bodyPr wrap="square"/>
                    <a:lstStyle/>
                    <a:p>
                      <a:r>
                        <a:rPr sz="1100" b="0">
                          <a:solidFill>
                            <a:srgbClr val="282828"/>
                          </a:solidFill>
                          <a:latin typeface="Arial"/>
                        </a:rPr>
                        <a:t>SRF FWHM</a:t>
                      </a:r>
                    </a:p>
                  </a:txBody>
                  <a:tcPr marL="54864" marR="54864" marT="18288" marB="18288">
                    <a:solidFill>
                      <a:srgbClr val="ECF1F6"/>
                    </a:solidFill>
                  </a:tcPr>
                </a:tc>
                <a:tc>
                  <a:txBody>
                    <a:bodyPr wrap="square"/>
                    <a:lstStyle/>
                    <a:p>
                      <a:r>
                        <a:rPr sz="1100" b="0">
                          <a:solidFill>
                            <a:srgbClr val="282828"/>
                          </a:solidFill>
                          <a:latin typeface="Arial"/>
                        </a:rPr>
                        <a:t>1.5–2.0 px</a:t>
                      </a:r>
                    </a:p>
                  </a:txBody>
                  <a:tcPr marL="54864" marR="54864" marT="18288" marB="18288">
                    <a:solidFill>
                      <a:srgbClr val="ECF1F6"/>
                    </a:solidFill>
                  </a:tcPr>
                </a:tc>
                <a:tc>
                  <a:txBody>
                    <a:bodyPr wrap="square"/>
                    <a:lstStyle/>
                    <a:p>
                      <a:r>
                        <a:rPr sz="1100" b="0">
                          <a:solidFill>
                            <a:srgbClr val="282828"/>
                          </a:solidFill>
                          <a:latin typeface="Arial"/>
                        </a:rPr>
                        <a:t>&lt; 64.8 µm</a:t>
                      </a:r>
                    </a:p>
                  </a:txBody>
                  <a:tcPr marL="54864" marR="54864" marT="18288" marB="18288">
                    <a:solidFill>
                      <a:srgbClr val="ECF1F6"/>
                    </a:solidFill>
                  </a:tcPr>
                </a:tc>
                <a:tc>
                  <a:txBody>
                    <a:bodyPr wrap="square"/>
                    <a:lstStyle/>
                    <a:p>
                      <a:r>
                        <a:rPr sz="1100" b="0">
                          <a:solidFill>
                            <a:srgbClr val="282828"/>
                          </a:solidFill>
                          <a:latin typeface="Arial"/>
                        </a:rPr>
                        <a:t>2.024 px (2-px slit)</a:t>
                      </a:r>
                    </a:p>
                  </a:txBody>
                  <a:tcPr marL="54864" marR="54864" marT="18288" marB="18288">
                    <a:solidFill>
                      <a:srgbClr val="ECF1F6"/>
                    </a:solidFill>
                  </a:tcPr>
                </a:tc>
                <a:tc>
                  <a:txBody>
                    <a:bodyPr wrap="square"/>
                    <a:lstStyle/>
                    <a:p>
                      <a:r>
                        <a:rPr sz="1100" b="0">
                          <a:solidFill>
                            <a:srgbClr val="282828"/>
                          </a:solidFill>
                          <a:latin typeface="Arial"/>
                        </a:rPr>
                        <a:t>1.02 px across the slit (ARF)</a:t>
                      </a:r>
                    </a:p>
                  </a:txBody>
                  <a:tcPr marL="54864" marR="54864" marT="18288" marB="18288">
                    <a:solidFill>
                      <a:srgbClr val="ECF1F6"/>
                    </a:solidFill>
                  </a:tcPr>
                </a:tc>
                <a:tc>
                  <a:txBody>
                    <a:bodyPr wrap="square"/>
                    <a:lstStyle/>
                    <a:p>
                      <a:r>
                        <a:rPr sz="1100" b="0">
                          <a:solidFill>
                            <a:srgbClr val="282828"/>
                          </a:solidFill>
                          <a:latin typeface="Arial"/>
                        </a:rPr>
                        <a:t>2.025 px (36.5 µm)</a:t>
                      </a:r>
                    </a:p>
                  </a:txBody>
                  <a:tcPr marL="54864" marR="54864" marT="18288" marB="18288">
                    <a:solidFill>
                      <a:srgbClr val="ECF1F6"/>
                    </a:solidFill>
                  </a:tcPr>
                </a:tc>
              </a:tr>
              <a:tr h="468630">
                <a:tc>
                  <a:txBody>
                    <a:bodyPr wrap="square"/>
                    <a:lstStyle/>
                    <a:p>
                      <a:r>
                        <a:rPr sz="1100" b="0">
                          <a:solidFill>
                            <a:srgbClr val="282828"/>
                          </a:solidFill>
                          <a:latin typeface="Arial"/>
                        </a:rPr>
                        <a:t>energy in one 18 µm pixel</a:t>
                      </a:r>
                    </a:p>
                  </a:txBody>
                  <a:tcPr marL="54864" marR="54864" marT="18288" marB="18288">
                    <a:solidFill>
                      <a:srgbClr val="FFFFFF"/>
                    </a:solidFill>
                  </a:tcPr>
                </a:tc>
                <a:tc>
                  <a:txBody>
                    <a:bodyPr wrap="square"/>
                    <a:lstStyle/>
                    <a:p>
                      <a:r>
                        <a:rPr sz="1100" b="0">
                          <a:solidFill>
                            <a:srgbClr val="282828"/>
                          </a:solidFill>
                          <a:latin typeface="Arial"/>
                        </a:rPr>
                        <a:t>&gt; 0.75</a:t>
                      </a:r>
                    </a:p>
                  </a:txBody>
                  <a:tcPr marL="54864" marR="54864" marT="18288" marB="18288">
                    <a:solidFill>
                      <a:srgbClr val="FFFFFF"/>
                    </a:solidFill>
                  </a:tcPr>
                </a:tc>
                <a:tc>
                  <a:txBody>
                    <a:bodyPr wrap="square"/>
                    <a:lstStyle/>
                    <a:p>
                      <a:r>
                        <a:rPr sz="1100" b="0">
                          <a:solidFill>
                            <a:srgbClr val="282828"/>
                          </a:solidFill>
                          <a:latin typeface="Arial"/>
                        </a:rPr>
                        <a:t>–</a:t>
                      </a:r>
                    </a:p>
                  </a:txBody>
                  <a:tcPr marL="54864" marR="54864" marT="18288" marB="18288">
                    <a:solidFill>
                      <a:srgbClr val="FFFFFF"/>
                    </a:solidFill>
                  </a:tcPr>
                </a:tc>
                <a:tc>
                  <a:txBody>
                    <a:bodyPr wrap="square"/>
                    <a:lstStyle/>
                    <a:p>
                      <a:r>
                        <a:rPr sz="1100" b="0">
                          <a:solidFill>
                            <a:srgbClr val="282828"/>
                          </a:solidFill>
                          <a:latin typeface="Arial"/>
                        </a:rPr>
                        <a:t>0.82</a:t>
                      </a:r>
                    </a:p>
                  </a:txBody>
                  <a:tcPr marL="54864" marR="54864" marT="18288" marB="18288">
                    <a:solidFill>
                      <a:srgbClr val="FFFFFF"/>
                    </a:solidFill>
                  </a:tcPr>
                </a:tc>
                <a:tc>
                  <a:txBody>
                    <a:bodyPr wrap="square"/>
                    <a:lstStyle/>
                    <a:p>
                      <a:r>
                        <a:rPr sz="1100" b="0">
                          <a:solidFill>
                            <a:srgbClr val="282828"/>
                          </a:solidFill>
                          <a:latin typeface="Arial"/>
                        </a:rPr>
                        <a:t>1.00</a:t>
                      </a:r>
                    </a:p>
                  </a:txBody>
                  <a:tcPr marL="54864" marR="54864" marT="18288" marB="18288">
                    <a:solidFill>
                      <a:srgbClr val="FFFFFF"/>
                    </a:solidFill>
                  </a:tcPr>
                </a:tc>
                <a:tc>
                  <a:txBody>
                    <a:bodyPr wrap="square"/>
                    <a:lstStyle/>
                    <a:p>
                      <a:r>
                        <a:rPr sz="1100" b="0">
                          <a:solidFill>
                            <a:srgbClr val="282828"/>
                          </a:solidFill>
                          <a:latin typeface="Arial"/>
                        </a:rPr>
                        <a:t>0.85 (0.81 at roll 180°)</a:t>
                      </a:r>
                    </a:p>
                  </a:txBody>
                  <a:tcPr marL="54864" marR="54864" marT="18288" marB="18288">
                    <a:solidFill>
                      <a:srgbClr val="FFFFFF"/>
                    </a:solidFill>
                  </a:tcPr>
                </a:tc>
              </a:tr>
              <a:tr h="468630">
                <a:tc>
                  <a:txBody>
                    <a:bodyPr wrap="square"/>
                    <a:lstStyle/>
                    <a:p>
                      <a:r>
                        <a:rPr sz="1100" b="0">
                          <a:solidFill>
                            <a:srgbClr val="282828"/>
                          </a:solidFill>
                          <a:latin typeface="Arial"/>
                        </a:rPr>
                        <a:t>image blur (rms, as placed)</a:t>
                      </a:r>
                    </a:p>
                  </a:txBody>
                  <a:tcPr marL="54864" marR="54864" marT="18288" marB="18288">
                    <a:solidFill>
                      <a:srgbClr val="ECF1F6"/>
                    </a:solidFill>
                  </a:tcPr>
                </a:tc>
                <a:tc>
                  <a:txBody>
                    <a:bodyPr wrap="square"/>
                    <a:lstStyle/>
                    <a:p>
                      <a:r>
                        <a:rPr sz="1100" b="0">
                          <a:solidFill>
                            <a:srgbClr val="282828"/>
                          </a:solidFill>
                          <a:latin typeface="Arial"/>
                        </a:rPr>
                        <a:t>–</a:t>
                      </a:r>
                    </a:p>
                  </a:txBody>
                  <a:tcPr marL="54864" marR="54864" marT="18288" marB="18288">
                    <a:solidFill>
                      <a:srgbClr val="ECF1F6"/>
                    </a:solidFill>
                  </a:tcPr>
                </a:tc>
                <a:tc>
                  <a:txBody>
                    <a:bodyPr wrap="square"/>
                    <a:lstStyle/>
                    <a:p>
                      <a:r>
                        <a:rPr sz="1100" b="0">
                          <a:solidFill>
                            <a:srgbClr val="282828"/>
                          </a:solidFill>
                          <a:latin typeface="Arial"/>
                        </a:rPr>
                        <a:t>2–3 µm (paper)</a:t>
                      </a:r>
                    </a:p>
                  </a:txBody>
                  <a:tcPr marL="54864" marR="54864" marT="18288" marB="18288">
                    <a:solidFill>
                      <a:srgbClr val="ECF1F6"/>
                    </a:solidFill>
                  </a:tcPr>
                </a:tc>
                <a:tc>
                  <a:txBody>
                    <a:bodyPr wrap="square"/>
                    <a:lstStyle/>
                    <a:p>
                      <a:r>
                        <a:rPr sz="1100" b="0">
                          <a:solidFill>
                            <a:srgbClr val="282828"/>
                          </a:solidFill>
                          <a:latin typeface="Arial"/>
                        </a:rPr>
                        <a:t>–</a:t>
                      </a:r>
                    </a:p>
                  </a:txBody>
                  <a:tcPr marL="54864" marR="54864" marT="18288" marB="18288">
                    <a:solidFill>
                      <a:srgbClr val="ECF1F6"/>
                    </a:solidFill>
                  </a:tcPr>
                </a:tc>
                <a:tc>
                  <a:txBody>
                    <a:bodyPr wrap="square"/>
                    <a:lstStyle/>
                    <a:p>
                      <a:r>
                        <a:rPr sz="1100" b="0">
                          <a:solidFill>
                            <a:srgbClr val="282828"/>
                          </a:solidFill>
                          <a:latin typeface="Arial"/>
                        </a:rPr>
                        <a:t>1.8–2.5 µm</a:t>
                      </a:r>
                    </a:p>
                  </a:txBody>
                  <a:tcPr marL="54864" marR="54864" marT="18288" marB="18288">
                    <a:solidFill>
                      <a:srgbClr val="ECF1F6"/>
                    </a:solidFill>
                  </a:tcPr>
                </a:tc>
                <a:tc>
                  <a:txBody>
                    <a:bodyPr wrap="square"/>
                    <a:lstStyle/>
                    <a:p>
                      <a:r>
                        <a:rPr sz="1100" b="0">
                          <a:solidFill>
                            <a:srgbClr val="282828"/>
                          </a:solidFill>
                          <a:latin typeface="Arial"/>
                        </a:rPr>
                        <a:t>–</a:t>
                      </a:r>
                    </a:p>
                  </a:txBody>
                  <a:tcPr marL="54864" marR="54864" marT="18288" marB="18288">
                    <a:solidFill>
                      <a:srgbClr val="ECF1F6"/>
                    </a:solidFill>
                  </a:tcPr>
                </a:tc>
              </a:tr>
              <a:tr h="280035">
                <a:tc>
                  <a:txBody>
                    <a:bodyPr wrap="square"/>
                    <a:lstStyle/>
                    <a:p>
                      <a:r>
                        <a:rPr sz="1100" b="0">
                          <a:solidFill>
                            <a:srgbClr val="282828"/>
                          </a:solidFill>
                          <a:latin typeface="Arial"/>
                        </a:rPr>
                        <a:t>plate scale</a:t>
                      </a:r>
                    </a:p>
                  </a:txBody>
                  <a:tcPr marL="54864" marR="54864" marT="18288" marB="18288">
                    <a:solidFill>
                      <a:srgbClr val="FFFFFF"/>
                    </a:solidFill>
                  </a:tcPr>
                </a:tc>
                <a:tc>
                  <a:txBody>
                    <a:bodyPr wrap="square"/>
                    <a:lstStyle/>
                    <a:p>
                      <a:r>
                        <a:rPr sz="1100" b="0">
                          <a:solidFill>
                            <a:srgbClr val="282828"/>
                          </a:solidFill>
                          <a:latin typeface="Arial"/>
                        </a:rPr>
                        <a:t>330 mm</a:t>
                      </a:r>
                    </a:p>
                  </a:txBody>
                  <a:tcPr marL="54864" marR="54864" marT="18288" marB="18288">
                    <a:solidFill>
                      <a:srgbClr val="FFFFFF"/>
                    </a:solidFill>
                  </a:tcPr>
                </a:tc>
                <a:tc>
                  <a:txBody>
                    <a:bodyPr wrap="square"/>
                    <a:lstStyle/>
                    <a:p>
                      <a:r>
                        <a:rPr sz="1100" b="0">
                          <a:solidFill>
                            <a:srgbClr val="282828"/>
                          </a:solidFill>
                          <a:latin typeface="Arial"/>
                        </a:rPr>
                        <a:t>345</a:t>
                      </a:r>
                    </a:p>
                  </a:txBody>
                  <a:tcPr marL="54864" marR="54864" marT="18288" marB="18288">
                    <a:solidFill>
                      <a:srgbClr val="FFFFFF"/>
                    </a:solidFill>
                  </a:tcPr>
                </a:tc>
                <a:tc>
                  <a:txBody>
                    <a:bodyPr wrap="square"/>
                    <a:lstStyle/>
                    <a:p>
                      <a:r>
                        <a:rPr sz="1100" b="0">
                          <a:solidFill>
                            <a:srgbClr val="282828"/>
                          </a:solidFill>
                          <a:latin typeface="Arial"/>
                        </a:rPr>
                        <a:t>–</a:t>
                      </a:r>
                    </a:p>
                  </a:txBody>
                  <a:tcPr marL="54864" marR="54864" marT="18288" marB="18288">
                    <a:solidFill>
                      <a:srgbClr val="FFFFFF"/>
                    </a:solidFill>
                  </a:tcPr>
                </a:tc>
                <a:tc>
                  <a:txBody>
                    <a:bodyPr wrap="square"/>
                    <a:lstStyle/>
                    <a:p>
                      <a:r>
                        <a:rPr sz="1100" b="0">
                          <a:solidFill>
                            <a:srgbClr val="282828"/>
                          </a:solidFill>
                          <a:latin typeface="Arial"/>
                        </a:rPr>
                        <a:t>329.9 / 330.1 mm</a:t>
                      </a:r>
                    </a:p>
                  </a:txBody>
                  <a:tcPr marL="54864" marR="54864" marT="18288" marB="18288">
                    <a:solidFill>
                      <a:srgbClr val="FFFFFF"/>
                    </a:solidFill>
                  </a:tcPr>
                </a:tc>
                <a:tc>
                  <a:txBody>
                    <a:bodyPr wrap="square"/>
                    <a:lstStyle/>
                    <a:p>
                      <a:r>
                        <a:rPr sz="1100" b="0">
                          <a:solidFill>
                            <a:srgbClr val="282828"/>
                          </a:solidFill>
                          <a:latin typeface="Arial"/>
                        </a:rPr>
                        <a:t>330.1 mm</a:t>
                      </a:r>
                    </a:p>
                  </a:txBody>
                  <a:tcPr marL="54864" marR="54864" marT="18288" marB="18288">
                    <a:solidFill>
                      <a:srgbClr val="FFFFFF"/>
                    </a:solidFill>
                  </a:tcPr>
                </a:tc>
              </a:tr>
              <a:tr h="468630">
                <a:tc>
                  <a:txBody>
                    <a:bodyPr wrap="square"/>
                    <a:lstStyle/>
                    <a:p>
                      <a:r>
                        <a:rPr sz="1100" b="0">
                          <a:solidFill>
                            <a:srgbClr val="282828"/>
                          </a:solidFill>
                          <a:latin typeface="Arial"/>
                        </a:rPr>
                        <a:t>chief rays at the slit</a:t>
                      </a:r>
                    </a:p>
                  </a:txBody>
                  <a:tcPr marL="54864" marR="54864" marT="18288" marB="18288">
                    <a:solidFill>
                      <a:srgbClr val="ECF1F6"/>
                    </a:solidFill>
                  </a:tcPr>
                </a:tc>
                <a:tc>
                  <a:txBody>
                    <a:bodyPr wrap="square"/>
                    <a:lstStyle/>
                    <a:p>
                      <a:r>
                        <a:rPr sz="1100" b="0">
                          <a:solidFill>
                            <a:srgbClr val="282828"/>
                          </a:solidFill>
                          <a:latin typeface="Arial"/>
                        </a:rPr>
                        <a:t>telecentric</a:t>
                      </a:r>
                    </a:p>
                  </a:txBody>
                  <a:tcPr marL="54864" marR="54864" marT="18288" marB="18288">
                    <a:solidFill>
                      <a:srgbClr val="ECF1F6"/>
                    </a:solidFill>
                  </a:tcPr>
                </a:tc>
                <a:tc>
                  <a:txBody>
                    <a:bodyPr wrap="square"/>
                    <a:lstStyle/>
                    <a:p>
                      <a:r>
                        <a:rPr sz="1100" b="0">
                          <a:solidFill>
                            <a:srgbClr val="282828"/>
                          </a:solidFill>
                          <a:latin typeface="Arial"/>
                        </a:rPr>
                        <a:t>telecentric</a:t>
                      </a:r>
                    </a:p>
                  </a:txBody>
                  <a:tcPr marL="54864" marR="54864" marT="18288" marB="18288">
                    <a:solidFill>
                      <a:srgbClr val="ECF1F6"/>
                    </a:solidFill>
                  </a:tcPr>
                </a:tc>
                <a:tc>
                  <a:txBody>
                    <a:bodyPr wrap="square"/>
                    <a:lstStyle/>
                    <a:p>
                      <a:r>
                        <a:rPr sz="1100" b="0">
                          <a:solidFill>
                            <a:srgbClr val="282828"/>
                          </a:solidFill>
                          <a:latin typeface="Arial"/>
                        </a:rPr>
                        <a:t>–</a:t>
                      </a:r>
                    </a:p>
                  </a:txBody>
                  <a:tcPr marL="54864" marR="54864" marT="18288" marB="18288">
                    <a:solidFill>
                      <a:srgbClr val="ECF1F6"/>
                    </a:solidFill>
                  </a:tcPr>
                </a:tc>
                <a:tc>
                  <a:txBody>
                    <a:bodyPr wrap="square"/>
                    <a:lstStyle/>
                    <a:p>
                      <a:r>
                        <a:rPr sz="1100" b="0">
                          <a:solidFill>
                            <a:srgbClr val="282828"/>
                          </a:solidFill>
                          <a:latin typeface="Arial"/>
                        </a:rPr>
                        <a:t>within 0.033°</a:t>
                      </a:r>
                    </a:p>
                  </a:txBody>
                  <a:tcPr marL="54864" marR="54864" marT="18288" marB="18288">
                    <a:solidFill>
                      <a:srgbClr val="ECF1F6"/>
                    </a:solidFill>
                  </a:tcPr>
                </a:tc>
                <a:tc>
                  <a:txBody>
                    <a:bodyPr wrap="square"/>
                    <a:lstStyle/>
                    <a:p>
                      <a:r>
                        <a:rPr sz="1100" b="0">
                          <a:solidFill>
                            <a:srgbClr val="282828"/>
                          </a:solidFill>
                          <a:latin typeface="Arial"/>
                        </a:rPr>
                        <a:t>–</a:t>
                      </a:r>
                    </a:p>
                  </a:txBody>
                  <a:tcPr marL="54864" marR="54864" marT="18288" marB="18288">
                    <a:solidFill>
                      <a:srgbClr val="ECF1F6"/>
                    </a:solidFill>
                  </a:tcPr>
                </a:tc>
              </a:tr>
              <a:tr h="468630">
                <a:tc>
                  <a:txBody>
                    <a:bodyPr wrap="square"/>
                    <a:lstStyle/>
                    <a:p>
                      <a:r>
                        <a:rPr sz="1100" b="0">
                          <a:solidFill>
                            <a:srgbClr val="282828"/>
                          </a:solidFill>
                          <a:latin typeface="Arial"/>
                        </a:rPr>
                        <a:t>marginal rays at the slit</a:t>
                      </a:r>
                    </a:p>
                  </a:txBody>
                  <a:tcPr marL="54864" marR="54864" marT="18288" marB="18288">
                    <a:solidFill>
                      <a:srgbClr val="FFFFFF"/>
                    </a:solidFill>
                  </a:tcPr>
                </a:tc>
                <a:tc>
                  <a:txBody>
                    <a:bodyPr wrap="square"/>
                    <a:lstStyle/>
                    <a:p>
                      <a:r>
                        <a:rPr sz="1100" b="0">
                          <a:solidFill>
                            <a:srgbClr val="282828"/>
                          </a:solidFill>
                          <a:latin typeface="Arial"/>
                        </a:rPr>
                        <a:t>–</a:t>
                      </a:r>
                    </a:p>
                  </a:txBody>
                  <a:tcPr marL="54864" marR="54864" marT="18288" marB="18288">
                    <a:solidFill>
                      <a:srgbClr val="FFFFFF"/>
                    </a:solidFill>
                  </a:tcPr>
                </a:tc>
                <a:tc>
                  <a:txBody>
                    <a:bodyPr wrap="square"/>
                    <a:lstStyle/>
                    <a:p>
                      <a:r>
                        <a:rPr sz="1100" b="0">
                          <a:solidFill>
                            <a:srgbClr val="282828"/>
                          </a:solidFill>
                          <a:latin typeface="Arial"/>
                        </a:rPr>
                        <a:t>F/# anamorphicity bounded</a:t>
                      </a:r>
                    </a:p>
                  </a:txBody>
                  <a:tcPr marL="54864" marR="54864" marT="18288" marB="18288">
                    <a:solidFill>
                      <a:srgbClr val="FFFFFF"/>
                    </a:solidFill>
                  </a:tcPr>
                </a:tc>
                <a:tc>
                  <a:txBody>
                    <a:bodyPr wrap="square"/>
                    <a:lstStyle/>
                    <a:p>
                      <a:r>
                        <a:rPr sz="1100" b="0">
                          <a:solidFill>
                            <a:srgbClr val="282828"/>
                          </a:solidFill>
                          <a:latin typeface="Arial"/>
                        </a:rPr>
                        <a:t>–</a:t>
                      </a:r>
                    </a:p>
                  </a:txBody>
                  <a:tcPr marL="54864" marR="54864" marT="18288" marB="18288">
                    <a:solidFill>
                      <a:srgbClr val="FFFFFF"/>
                    </a:solidFill>
                  </a:tcPr>
                </a:tc>
                <a:tc>
                  <a:txBody>
                    <a:bodyPr wrap="square"/>
                    <a:lstStyle/>
                    <a:p>
                      <a:r>
                        <a:rPr sz="1100" b="0">
                          <a:solidFill>
                            <a:srgbClr val="282828"/>
                          </a:solidFill>
                          <a:latin typeface="Arial"/>
                        </a:rPr>
                        <a:t>F/1.80–1.89, none below 1.7</a:t>
                      </a:r>
                    </a:p>
                  </a:txBody>
                  <a:tcPr marL="54864" marR="54864" marT="18288" marB="18288">
                    <a:solidFill>
                      <a:srgbClr val="FFFFFF"/>
                    </a:solidFill>
                  </a:tcPr>
                </a:tc>
                <a:tc>
                  <a:txBody>
                    <a:bodyPr wrap="square"/>
                    <a:lstStyle/>
                    <a:p>
                      <a:r>
                        <a:rPr sz="1100" b="0">
                          <a:solidFill>
                            <a:srgbClr val="282828"/>
                          </a:solidFill>
                          <a:latin typeface="Arial"/>
                        </a:rPr>
                        <a:t>grating admits 98.9 %</a:t>
                      </a:r>
                    </a:p>
                  </a:txBody>
                  <a:tcPr marL="54864" marR="54864" marT="18288" marB="18288">
                    <a:solidFill>
                      <a:srgbClr val="FFFFFF"/>
                    </a:solidFill>
                  </a:tcPr>
                </a:tc>
              </a:tr>
              <a:tr h="280035">
                <a:tc>
                  <a:txBody>
                    <a:bodyPr wrap="square"/>
                    <a:lstStyle/>
                    <a:p>
                      <a:r>
                        <a:rPr sz="1100" b="0">
                          <a:solidFill>
                            <a:srgbClr val="282828"/>
                          </a:solidFill>
                          <a:latin typeface="Arial"/>
                        </a:rPr>
                        <a:t>clearance, worst pair</a:t>
                      </a:r>
                    </a:p>
                  </a:txBody>
                  <a:tcPr marL="54864" marR="54864" marT="18288" marB="18288">
                    <a:solidFill>
                      <a:srgbClr val="ECF1F6"/>
                    </a:solidFill>
                  </a:tcPr>
                </a:tc>
                <a:tc>
                  <a:txBody>
                    <a:bodyPr wrap="square"/>
                    <a:lstStyle/>
                    <a:p>
                      <a:r>
                        <a:rPr sz="1100" b="0">
                          <a:solidFill>
                            <a:srgbClr val="282828"/>
                          </a:solidFill>
                          <a:latin typeface="Arial"/>
                        </a:rPr>
                        <a:t>&gt; 0</a:t>
                      </a:r>
                    </a:p>
                  </a:txBody>
                  <a:tcPr marL="54864" marR="54864" marT="18288" marB="18288">
                    <a:solidFill>
                      <a:srgbClr val="ECF1F6"/>
                    </a:solidFill>
                  </a:tcPr>
                </a:tc>
                <a:tc>
                  <a:txBody>
                    <a:bodyPr wrap="square"/>
                    <a:lstStyle/>
                    <a:p>
                      <a:r>
                        <a:rPr sz="1100" b="0">
                          <a:solidFill>
                            <a:srgbClr val="282828"/>
                          </a:solidFill>
                          <a:latin typeface="Arial"/>
                        </a:rPr>
                        <a:t>–</a:t>
                      </a:r>
                    </a:p>
                  </a:txBody>
                  <a:tcPr marL="54864" marR="54864" marT="18288" marB="18288">
                    <a:solidFill>
                      <a:srgbClr val="ECF1F6"/>
                    </a:solidFill>
                  </a:tcPr>
                </a:tc>
                <a:tc>
                  <a:txBody>
                    <a:bodyPr wrap="square"/>
                    <a:lstStyle/>
                    <a:p>
                      <a:r>
                        <a:rPr sz="1100" b="0">
                          <a:solidFill>
                            <a:srgbClr val="282828"/>
                          </a:solidFill>
                          <a:latin typeface="Arial"/>
                        </a:rPr>
                        <a:t>+0.54 mm (slit vs block face)</a:t>
                      </a:r>
                    </a:p>
                  </a:txBody>
                  <a:tcPr marL="54864" marR="54864" marT="18288" marB="18288">
                    <a:solidFill>
                      <a:srgbClr val="ECF1F6"/>
                    </a:solidFill>
                  </a:tcPr>
                </a:tc>
                <a:tc>
                  <a:txBody>
                    <a:bodyPr wrap="square"/>
                    <a:lstStyle/>
                    <a:p>
                      <a:r>
                        <a:rPr sz="1100" b="0">
                          <a:solidFill>
                            <a:srgbClr val="282828"/>
                          </a:solidFill>
                          <a:latin typeface="Arial"/>
                        </a:rPr>
                        <a:t>+12.1 mm</a:t>
                      </a:r>
                    </a:p>
                  </a:txBody>
                  <a:tcPr marL="54864" marR="54864" marT="18288" marB="18288">
                    <a:solidFill>
                      <a:srgbClr val="ECF1F6"/>
                    </a:solidFill>
                  </a:tcPr>
                </a:tc>
                <a:tc>
                  <a:txBody>
                    <a:bodyPr wrap="square"/>
                    <a:lstStyle/>
                    <a:p>
                      <a:r>
                        <a:rPr sz="1100" b="0">
                          <a:solidFill>
                            <a:srgbClr val="282828"/>
                          </a:solidFill>
                          <a:latin typeface="Arial"/>
                        </a:rPr>
                        <a:t>+0.6 mm (the spectrometer's pair)</a:t>
                      </a:r>
                    </a:p>
                  </a:txBody>
                  <a:tcPr marL="54864" marR="54864" marT="18288" marB="18288">
                    <a:solidFill>
                      <a:srgbClr val="ECF1F6"/>
                    </a:solidFill>
                  </a:tcPr>
                </a:tc>
              </a:tr>
              <a:tr h="280035">
                <a:tc>
                  <a:txBody>
                    <a:bodyPr wrap="square"/>
                    <a:lstStyle/>
                    <a:p>
                      <a:r>
                        <a:rPr sz="1100" b="0">
                          <a:solidFill>
                            <a:srgbClr val="282828"/>
                          </a:solidFill>
                          <a:latin typeface="Arial"/>
                        </a:rPr>
                        <a:t>glass, mass</a:t>
                      </a:r>
                    </a:p>
                  </a:txBody>
                  <a:tcPr marL="54864" marR="54864" marT="18288" marB="18288">
                    <a:solidFill>
                      <a:srgbClr val="FFFFFF"/>
                    </a:solidFill>
                  </a:tcPr>
                </a:tc>
                <a:tc>
                  <a:txBody>
                    <a:bodyPr wrap="square"/>
                    <a:lstStyle/>
                    <a:p>
                      <a:r>
                        <a:rPr sz="1100" b="0">
                          <a:solidFill>
                            <a:srgbClr val="282828"/>
                          </a:solidFill>
                          <a:latin typeface="Arial"/>
                        </a:rPr>
                        <a:t>–</a:t>
                      </a:r>
                    </a:p>
                  </a:txBody>
                  <a:tcPr marL="54864" marR="54864" marT="18288" marB="18288">
                    <a:solidFill>
                      <a:srgbClr val="FFFFFF"/>
                    </a:solidFill>
                  </a:tcPr>
                </a:tc>
                <a:tc>
                  <a:txBody>
                    <a:bodyPr wrap="square"/>
                    <a:lstStyle/>
                    <a:p>
                      <a:r>
                        <a:rPr sz="1100" b="0">
                          <a:solidFill>
                            <a:srgbClr val="282828"/>
                          </a:solidFill>
                          <a:latin typeface="Arial"/>
                        </a:rPr>
                        <a:t>–</a:t>
                      </a:r>
                    </a:p>
                  </a:txBody>
                  <a:tcPr marL="54864" marR="54864" marT="18288" marB="18288">
                    <a:solidFill>
                      <a:srgbClr val="FFFFFF"/>
                    </a:solidFill>
                  </a:tcPr>
                </a:tc>
                <a:tc>
                  <a:txBody>
                    <a:bodyPr wrap="square"/>
                    <a:lstStyle/>
                    <a:p>
                      <a:r>
                        <a:rPr sz="1100" b="0">
                          <a:solidFill>
                            <a:srgbClr val="282828"/>
                          </a:solidFill>
                          <a:latin typeface="Arial"/>
                        </a:rPr>
                        <a:t>4.5 L, 14.3 kg</a:t>
                      </a:r>
                    </a:p>
                  </a:txBody>
                  <a:tcPr marL="54864" marR="54864" marT="18288" marB="18288">
                    <a:solidFill>
                      <a:srgbClr val="FFFFFF"/>
                    </a:solidFill>
                  </a:tcPr>
                </a:tc>
                <a:tc>
                  <a:txBody>
                    <a:bodyPr wrap="square"/>
                    <a:lstStyle/>
                    <a:p>
                      <a:r>
                        <a:rPr sz="1100" b="0">
                          <a:solidFill>
                            <a:srgbClr val="282828"/>
                          </a:solidFill>
                          <a:latin typeface="Arial"/>
                        </a:rPr>
                        <a:t>mirrors not yet sized</a:t>
                      </a:r>
                    </a:p>
                  </a:txBody>
                  <a:tcPr marL="54864" marR="54864" marT="18288" marB="18288">
                    <a:solidFill>
                      <a:srgbClr val="FFFFFF"/>
                    </a:solidFill>
                  </a:tcPr>
                </a:tc>
                <a:tc>
                  <a:txBody>
                    <a:bodyPr wrap="square"/>
                    <a:lstStyle/>
                    <a:p>
                      <a:r>
                        <a:rPr sz="1100" b="0">
                          <a:solidFill>
                            <a:srgbClr val="282828"/>
                          </a:solidFill>
                          <a:latin typeface="Arial"/>
                        </a:rPr>
                        <a:t>–</a:t>
                      </a:r>
                    </a:p>
                  </a:txBody>
                  <a:tcPr marL="54864" marR="54864" marT="18288" marB="18288">
                    <a:solidFill>
                      <a:srgbClr val="FFFFFF"/>
                    </a:solidFill>
                  </a:tcPr>
                </a:tc>
              </a:tr>
            </a:tbl>
          </a:graphicData>
        </a:graphic>
      </p:graphicFrame>
      <p:sp>
        <p:nvSpPr>
          <p:cNvPr id="5" name="TextBox 4"/>
          <p:cNvSpPr txBox="1"/>
          <p:nvPr/>
        </p:nvSpPr>
        <p:spPr>
          <a:xfrm>
            <a:off x="411480" y="6125337"/>
            <a:ext cx="11368735" cy="274320"/>
          </a:xfrm>
          <a:prstGeom prst="rect">
            <a:avLst/>
          </a:prstGeom>
          <a:noFill/>
        </p:spPr>
        <p:txBody>
          <a:bodyPr wrap="square">
            <a:spAutoFit/>
          </a:bodyPr>
          <a:lstStyle/>
          <a:p>
            <a:pPr>
              <a:spcAft>
                <a:spcPts val="600"/>
              </a:spcAft>
            </a:pPr>
            <a:r>
              <a:rPr sz="1050" b="0">
                <a:solidFill>
                  <a:srgbClr val="6E6E6E"/>
                </a:solidFill>
                <a:latin typeface="Arial"/>
              </a:rPr>
              <a:t>Spectrometer: dyson5_jim_3a.txt (size:F:240); telescope: dyson5_cprime_3k.in, REPORT_dyson5_cprime.md; together: dyson5_t5f_cprime_centroid_roll000.txt / _roll180, _chief_roll000 (the point-source shift), 7 fields × 7 wavelengths.  No coatings, no tolerances in any column.  SRF 2.025 against a 2.000 floor: the Dyson adds 0.45 µm.</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The 3k module, end to end</a:t>
            </a:r>
          </a:p>
          <a:p>
            <a:pPr>
              <a:spcAft>
                <a:spcPts val="0"/>
              </a:spcAft>
            </a:pPr>
            <a:r>
              <a:rPr sz="1250" b="0">
                <a:solidFill>
                  <a:srgbClr val="6E6E6E"/>
                </a:solidFill>
                <a:latin typeface="Arial"/>
              </a:rPr>
              <a:t>The freeform telescope feeding the 240 mm </a:t>
            </a:r>
            <a:r>
              <a:rPr sz="1250" b="0">
                <a:solidFill>
                  <a:srgbClr val="6E6E6E"/>
                </a:solidFill>
                <a:latin typeface="Arial"/>
              </a:rPr>
              <a:t>CaF</a:t>
            </a:r>
            <a:r>
              <a:rPr sz="1250" b="0" baseline="-25000">
                <a:solidFill>
                  <a:srgbClr val="6E6E6E"/>
                </a:solidFill>
                <a:latin typeface="Arial"/>
              </a:rPr>
              <a:t>2</a:t>
            </a:r>
            <a:r>
              <a:rPr sz="1250" b="0">
                <a:solidFill>
                  <a:srgbClr val="6E6E6E"/>
                </a:solidFill>
                <a:latin typeface="Arial"/>
              </a:rPr>
              <a:t> Dyson: smile 0.02, keystone 0.006, CRF 1.17, SRF 2.025 px at every slit position and wavelength; 98.9 % of the light through the grating; clearance +0.6 mm, the Dyson's own slit-to-block-face margin</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dyson5_t5f_cprime_e2e_viewyz_rc.png"/>
          <p:cNvPicPr>
            <a:picLocks noChangeAspect="1"/>
          </p:cNvPicPr>
          <p:nvPr/>
        </p:nvPicPr>
        <p:blipFill>
          <a:blip r:embed="rId2"/>
          <a:stretch>
            <a:fillRect/>
          </a:stretch>
        </p:blipFill>
        <p:spPr>
          <a:xfrm>
            <a:off x="1934170" y="1298448"/>
            <a:ext cx="2761058" cy="3481831"/>
          </a:xfrm>
          <a:prstGeom prst="rect">
            <a:avLst/>
          </a:prstGeom>
        </p:spPr>
      </p:pic>
      <p:sp>
        <p:nvSpPr>
          <p:cNvPr id="5" name="TextBox 4"/>
          <p:cNvSpPr txBox="1"/>
          <p:nvPr/>
        </p:nvSpPr>
        <p:spPr>
          <a:xfrm>
            <a:off x="411480" y="4798567"/>
            <a:ext cx="5806440" cy="724408"/>
          </a:xfrm>
          <a:prstGeom prst="rect">
            <a:avLst/>
          </a:prstGeom>
          <a:noFill/>
        </p:spPr>
        <p:txBody>
          <a:bodyPr wrap="square">
            <a:spAutoFit/>
          </a:bodyPr>
          <a:lstStyle/>
          <a:p>
            <a:pPr algn="ctr">
              <a:spcAft>
                <a:spcPts val="0"/>
              </a:spcAft>
            </a:pPr>
            <a:r>
              <a:rPr sz="1000" b="0">
                <a:solidFill>
                  <a:srgbClr val="6E6E6E"/>
                </a:solidFill>
                <a:latin typeface="Arial"/>
              </a:rPr>
              <a:t>As the engine traces it (meters), the dispersion plane: the telescope's M1–M3 (E1–E3) below, the slit (E4) on the block's face at the origin, the 240 mm </a:t>
            </a:r>
            <a:r>
              <a:rPr sz="1000" b="0">
                <a:solidFill>
                  <a:srgbClr val="6E6E6E"/>
                </a:solidFill>
                <a:latin typeface="Arial"/>
              </a:rPr>
              <a:t>CaF</a:t>
            </a:r>
            <a:r>
              <a:rPr sz="1000" b="0" baseline="-25000">
                <a:solidFill>
                  <a:srgbClr val="6E6E6E"/>
                </a:solidFill>
                <a:latin typeface="Arial"/>
              </a:rPr>
              <a:t>2</a:t>
            </a:r>
            <a:r>
              <a:rPr sz="1000" b="0">
                <a:solidFill>
                  <a:srgbClr val="6E6E6E"/>
                </a:solidFill>
                <a:latin typeface="Arial"/>
              </a:rPr>
              <a:t> block, the grating (E7) at the top, the detector (E9) beside the slit.  The 1 % of rays the grating stops are drawn in red.</a:t>
            </a:r>
          </a:p>
        </p:txBody>
      </p:sp>
      <p:pic>
        <p:nvPicPr>
          <p:cNvPr id="6" name="Picture 5" descr="dyson5_t5f_cprime_centroid_roll000_maps_rc.png"/>
          <p:cNvPicPr>
            <a:picLocks noChangeAspect="1"/>
          </p:cNvPicPr>
          <p:nvPr/>
        </p:nvPicPr>
        <p:blipFill>
          <a:blip r:embed="rId3"/>
          <a:stretch>
            <a:fillRect/>
          </a:stretch>
        </p:blipFill>
        <p:spPr>
          <a:xfrm>
            <a:off x="7680120" y="1298448"/>
            <a:ext cx="2836319" cy="2549652"/>
          </a:xfrm>
          <a:prstGeom prst="rect">
            <a:avLst/>
          </a:prstGeom>
        </p:spPr>
      </p:pic>
      <p:sp>
        <p:nvSpPr>
          <p:cNvPr id="7" name="TextBox 6"/>
          <p:cNvSpPr txBox="1"/>
          <p:nvPr/>
        </p:nvSpPr>
        <p:spPr>
          <a:xfrm>
            <a:off x="6400800" y="3866387"/>
            <a:ext cx="5394960" cy="559307"/>
          </a:xfrm>
          <a:prstGeom prst="rect">
            <a:avLst/>
          </a:prstGeom>
          <a:noFill/>
        </p:spPr>
        <p:txBody>
          <a:bodyPr wrap="square">
            <a:spAutoFit/>
          </a:bodyPr>
          <a:lstStyle/>
          <a:p>
            <a:pPr algn="ctr">
              <a:spcAft>
                <a:spcPts val="0"/>
              </a:spcAft>
            </a:pPr>
            <a:r>
              <a:rPr sz="1000" b="0">
                <a:solidFill>
                  <a:srgbClr val="6E6E6E"/>
                </a:solidFill>
                <a:latin typeface="Arial"/>
              </a:rPr>
              <a:t>Per slit position and wavelength (7 × 7): field angle, keystone, smile, the two response widths and the energy in one pixel, uniform over the strip.  The runner's own figure.</a:t>
            </a:r>
          </a:p>
        </p:txBody>
      </p:sp>
      <p:sp>
        <p:nvSpPr>
          <p:cNvPr id="8" name="TextBox 7"/>
          <p:cNvSpPr txBox="1"/>
          <p:nvPr/>
        </p:nvSpPr>
        <p:spPr>
          <a:xfrm>
            <a:off x="6400800" y="4462271"/>
            <a:ext cx="5394960" cy="274320"/>
          </a:xfrm>
          <a:prstGeom prst="rect">
            <a:avLst/>
          </a:prstGeom>
          <a:noFill/>
        </p:spPr>
        <p:txBody>
          <a:bodyPr wrap="square">
            <a:spAutoFit/>
          </a:bodyPr>
          <a:lstStyle/>
          <a:p>
            <a:pPr>
              <a:spcAft>
                <a:spcPts val="600"/>
              </a:spcAft>
            </a:pPr>
            <a:r>
              <a:rPr sz="1200" b="0">
                <a:solidFill>
                  <a:srgbClr val="282828"/>
                </a:solidFill>
                <a:latin typeface="Arial"/>
              </a:rPr>
              <a:t>•  </a:t>
            </a:r>
            <a:r>
              <a:rPr sz="1200" b="1">
                <a:solidFill>
                  <a:srgbClr val="282828"/>
                </a:solidFill>
                <a:latin typeface="Arial"/>
              </a:rPr>
              <a:t>CRF 1.02 px at the inner fields and 1.17 at the strip ends; SRF 2.02 everywhere; smile 0.022 → 0.018 px from 380 to 2500 nm; keystone 0.006 px at the ends, 0 at the center.</a:t>
            </a:r>
            <a:r>
              <a:rPr sz="1200" b="0">
                <a:solidFill>
                  <a:srgbClr val="282828"/>
                </a:solidFill>
                <a:latin typeface="Arial"/>
              </a:rPr>
              <a:t>  Against the (c) solve of the last deck (smile 1.64, CRF 4.02, SRF 4.99, 4–10 % in a pixel), every line moved to the pixel.</a:t>
            </a:r>
          </a:p>
        </p:txBody>
      </p:sp>
      <p:sp>
        <p:nvSpPr>
          <p:cNvPr id="9" name="TextBox 8"/>
          <p:cNvSpPr txBox="1"/>
          <p:nvPr/>
        </p:nvSpPr>
        <p:spPr>
          <a:xfrm>
            <a:off x="6400800" y="5629655"/>
            <a:ext cx="5394960" cy="274320"/>
          </a:xfrm>
          <a:prstGeom prst="rect">
            <a:avLst/>
          </a:prstGeom>
          <a:noFill/>
        </p:spPr>
        <p:txBody>
          <a:bodyPr wrap="square">
            <a:spAutoFit/>
          </a:bodyPr>
          <a:lstStyle/>
          <a:p>
            <a:pPr>
              <a:spcAft>
                <a:spcPts val="600"/>
              </a:spcAft>
            </a:pPr>
            <a:r>
              <a:rPr sz="1050" b="0">
                <a:solidFill>
                  <a:srgbClr val="6E6E6E"/>
                </a:solidFill>
                <a:latin typeface="Arial"/>
              </a:rPr>
              <a:t>Record dyson5_t5f_cprime_centroid_roll000.txt (each field's centroid on the slit line); the chief-launched twin _chief_roll000.txt gives the point-source shift 0.016 px; roll 180° about the chief: CRF 1.26, energy 0.81, the rest unchanged.  Prescription dyson5_t5f_cprime_centroid_roll000_e2e.in (3 telescope + 8 slit/Dyson elements).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How the solve got there: six rungs and three lessons</a:t>
            </a:r>
          </a:p>
          <a:p>
            <a:pPr>
              <a:spcAft>
                <a:spcPts val="0"/>
              </a:spcAft>
            </a:pPr>
            <a:r>
              <a:rPr sz="1250" b="0">
                <a:solidFill>
                  <a:srgbClr val="6E6E6E"/>
                </a:solidFill>
                <a:latin typeface="Arial"/>
              </a:rPr>
              <a:t>The merit decided every step: equal weights spent the budget on the strip center; a constraint set weighted below one percent of the merit is not a test; the last tenth of a pixel of "smile" was the launch</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411480" y="1298448"/>
          <a:ext cx="11368734" cy="2337435"/>
        </p:xfrm>
        <a:graphic>
          <a:graphicData uri="http://schemas.openxmlformats.org/drawingml/2006/table">
            <a:tbl>
              <a:tblPr firstRow="1" bandRow="1">
                <a:tableStyleId>{5C22544A-7EE6-4342-B048-85BDC9FD1C3A}</a:tableStyleId>
              </a:tblPr>
              <a:tblGrid>
                <a:gridCol w="436880"/>
                <a:gridCol w="4015602"/>
                <a:gridCol w="2190328"/>
                <a:gridCol w="2180336"/>
                <a:gridCol w="1090676"/>
                <a:gridCol w="727456"/>
                <a:gridCol w="727456"/>
              </a:tblGrid>
              <a:tr h="468630">
                <a:tc>
                  <a:txBody>
                    <a:bodyPr wrap="square"/>
                    <a:lstStyle/>
                    <a:p>
                      <a:r>
                        <a:rPr sz="1100" b="1">
                          <a:solidFill>
                            <a:srgbClr val="FFFFFF"/>
                          </a:solidFill>
                          <a:latin typeface="Arial"/>
                        </a:rPr>
                        <a:t>rung</a:t>
                      </a:r>
                    </a:p>
                  </a:txBody>
                  <a:tcPr marL="54864" marR="54864" marT="18288" marB="18288">
                    <a:solidFill>
                      <a:srgbClr val="1F4E79"/>
                    </a:solidFill>
                  </a:tcPr>
                </a:tc>
                <a:tc>
                  <a:txBody>
                    <a:bodyPr wrap="square"/>
                    <a:lstStyle/>
                    <a:p>
                      <a:r>
                        <a:rPr sz="1100" b="1">
                          <a:solidFill>
                            <a:srgbClr val="FFFFFF"/>
                          </a:solidFill>
                          <a:latin typeface="Arial"/>
                        </a:rPr>
                        <a:t>what changed</a:t>
                      </a:r>
                    </a:p>
                  </a:txBody>
                  <a:tcPr marL="54864" marR="54864" marT="18288" marB="18288">
                    <a:solidFill>
                      <a:srgbClr val="1F4E79"/>
                    </a:solidFill>
                  </a:tcPr>
                </a:tc>
                <a:tc>
                  <a:txBody>
                    <a:bodyPr wrap="square"/>
                    <a:lstStyle/>
                    <a:p>
                      <a:r>
                        <a:rPr sz="1100" b="1">
                          <a:solidFill>
                            <a:srgbClr val="FFFFFF"/>
                          </a:solidFill>
                          <a:latin typeface="Arial"/>
                        </a:rPr>
                        <a:t>outer-field FWHM along the slit (px)</a:t>
                      </a:r>
                    </a:p>
                  </a:txBody>
                  <a:tcPr marL="54864" marR="54864" marT="18288" marB="18288">
                    <a:solidFill>
                      <a:srgbClr val="1F4E79"/>
                    </a:solidFill>
                  </a:tcPr>
                </a:tc>
                <a:tc>
                  <a:txBody>
                    <a:bodyPr wrap="square"/>
                    <a:lstStyle/>
                    <a:p>
                      <a:r>
                        <a:rPr sz="1100" b="1">
                          <a:solidFill>
                            <a:srgbClr val="FFFFFF"/>
                          </a:solidFill>
                          <a:latin typeface="Arial"/>
                        </a:rPr>
                        <a:t>e2e smile, point-source (px)</a:t>
                      </a:r>
                    </a:p>
                  </a:txBody>
                  <a:tcPr marL="54864" marR="54864" marT="18288" marB="18288">
                    <a:solidFill>
                      <a:srgbClr val="1F4E79"/>
                    </a:solidFill>
                  </a:tcPr>
                </a:tc>
                <a:tc>
                  <a:txBody>
                    <a:bodyPr wrap="square"/>
                    <a:lstStyle/>
                    <a:p>
                      <a:r>
                        <a:rPr sz="1100" b="1">
                          <a:solidFill>
                            <a:srgbClr val="FFFFFF"/>
                          </a:solidFill>
                          <a:latin typeface="Arial"/>
                        </a:rPr>
                        <a:t>keystone (px)</a:t>
                      </a:r>
                    </a:p>
                  </a:txBody>
                  <a:tcPr marL="54864" marR="54864" marT="18288" marB="18288">
                    <a:solidFill>
                      <a:srgbClr val="1F4E79"/>
                    </a:solidFill>
                  </a:tcPr>
                </a:tc>
                <a:tc>
                  <a:txBody>
                    <a:bodyPr wrap="square"/>
                    <a:lstStyle/>
                    <a:p>
                      <a:r>
                        <a:rPr sz="1100" b="1">
                          <a:solidFill>
                            <a:srgbClr val="FFFFFF"/>
                          </a:solidFill>
                          <a:latin typeface="Arial"/>
                        </a:rPr>
                        <a:t>CRF (px)</a:t>
                      </a:r>
                    </a:p>
                  </a:txBody>
                  <a:tcPr marL="54864" marR="54864" marT="18288" marB="18288">
                    <a:solidFill>
                      <a:srgbClr val="1F4E79"/>
                    </a:solidFill>
                  </a:tcPr>
                </a:tc>
                <a:tc>
                  <a:txBody>
                    <a:bodyPr wrap="square"/>
                    <a:lstStyle/>
                    <a:p>
                      <a:r>
                        <a:rPr sz="1100" b="1">
                          <a:solidFill>
                            <a:srgbClr val="FFFFFF"/>
                          </a:solidFill>
                          <a:latin typeface="Arial"/>
                        </a:rPr>
                        <a:t>SRF (px)</a:t>
                      </a:r>
                    </a:p>
                  </a:txBody>
                  <a:tcPr marL="54864" marR="54864" marT="18288" marB="18288">
                    <a:solidFill>
                      <a:srgbClr val="1F4E79"/>
                    </a:solidFill>
                  </a:tcPr>
                </a:tc>
              </a:tr>
              <a:tr h="280035">
                <a:tc>
                  <a:txBody>
                    <a:bodyPr wrap="square"/>
                    <a:lstStyle/>
                    <a:p>
                      <a:r>
                        <a:rPr sz="1100" b="0">
                          <a:solidFill>
                            <a:srgbClr val="282828"/>
                          </a:solidFill>
                          <a:latin typeface="Arial"/>
                        </a:rPr>
                        <a:t>R4</a:t>
                      </a:r>
                    </a:p>
                  </a:txBody>
                  <a:tcPr marL="54864" marR="54864" marT="18288" marB="18288">
                    <a:solidFill>
                      <a:srgbClr val="FFFFFF"/>
                    </a:solidFill>
                  </a:tcPr>
                </a:tc>
                <a:tc>
                  <a:txBody>
                    <a:bodyPr wrap="square"/>
                    <a:lstStyle/>
                    <a:p>
                      <a:r>
                        <a:rPr sz="1100" b="0">
                          <a:solidFill>
                            <a:srgbClr val="282828"/>
                          </a:solidFill>
                          <a:latin typeface="Arial"/>
                        </a:rPr>
                        <a:t>conics + even aspheres on the seed layout</a:t>
                      </a:r>
                    </a:p>
                  </a:txBody>
                  <a:tcPr marL="54864" marR="54864" marT="18288" marB="18288">
                    <a:solidFill>
                      <a:srgbClr val="FFFFFF"/>
                    </a:solidFill>
                  </a:tcPr>
                </a:tc>
                <a:tc>
                  <a:txBody>
                    <a:bodyPr wrap="square"/>
                    <a:lstStyle/>
                    <a:p>
                      <a:r>
                        <a:rPr sz="1100" b="0">
                          <a:solidFill>
                            <a:srgbClr val="282828"/>
                          </a:solidFill>
                          <a:latin typeface="Arial"/>
                        </a:rPr>
                        <a:t>5–7</a:t>
                      </a:r>
                    </a:p>
                  </a:txBody>
                  <a:tcPr marL="54864" marR="54864" marT="18288" marB="18288">
                    <a:solidFill>
                      <a:srgbClr val="FFFFFF"/>
                    </a:solidFill>
                  </a:tcPr>
                </a:tc>
                <a:tc>
                  <a:txBody>
                    <a:bodyPr wrap="square"/>
                    <a:lstStyle/>
                    <a:p>
                      <a:r>
                        <a:rPr sz="1100" b="0">
                          <a:solidFill>
                            <a:srgbClr val="282828"/>
                          </a:solidFill>
                          <a:latin typeface="Arial"/>
                        </a:rPr>
                        <a:t>0.73</a:t>
                      </a:r>
                    </a:p>
                  </a:txBody>
                  <a:tcPr marL="54864" marR="54864" marT="18288" marB="18288">
                    <a:solidFill>
                      <a:srgbClr val="FFFFFF"/>
                    </a:solidFill>
                  </a:tcPr>
                </a:tc>
                <a:tc>
                  <a:txBody>
                    <a:bodyPr wrap="square"/>
                    <a:lstStyle/>
                    <a:p>
                      <a:r>
                        <a:rPr sz="1100" b="0">
                          <a:solidFill>
                            <a:srgbClr val="282828"/>
                          </a:solidFill>
                          <a:latin typeface="Arial"/>
                        </a:rPr>
                        <a:t>0.009</a:t>
                      </a:r>
                    </a:p>
                  </a:txBody>
                  <a:tcPr marL="54864" marR="54864" marT="18288" marB="18288">
                    <a:solidFill>
                      <a:srgbClr val="FFFFFF"/>
                    </a:solidFill>
                  </a:tcPr>
                </a:tc>
                <a:tc>
                  <a:txBody>
                    <a:bodyPr wrap="square"/>
                    <a:lstStyle/>
                    <a:p>
                      <a:r>
                        <a:rPr sz="1100" b="0">
                          <a:solidFill>
                            <a:srgbClr val="282828"/>
                          </a:solidFill>
                          <a:latin typeface="Arial"/>
                        </a:rPr>
                        <a:t>2.5</a:t>
                      </a:r>
                    </a:p>
                  </a:txBody>
                  <a:tcPr marL="54864" marR="54864" marT="18288" marB="18288">
                    <a:solidFill>
                      <a:srgbClr val="FFFFFF"/>
                    </a:solidFill>
                  </a:tcPr>
                </a:tc>
                <a:tc>
                  <a:txBody>
                    <a:bodyPr wrap="square"/>
                    <a:lstStyle/>
                    <a:p>
                      <a:r>
                        <a:rPr sz="1100" b="0">
                          <a:solidFill>
                            <a:srgbClr val="282828"/>
                          </a:solidFill>
                          <a:latin typeface="Arial"/>
                        </a:rPr>
                        <a:t>3.9</a:t>
                      </a:r>
                    </a:p>
                  </a:txBody>
                  <a:tcPr marL="54864" marR="54864" marT="18288" marB="18288">
                    <a:solidFill>
                      <a:srgbClr val="FFFFFF"/>
                    </a:solidFill>
                  </a:tcPr>
                </a:tc>
              </a:tr>
              <a:tr h="280035">
                <a:tc>
                  <a:txBody>
                    <a:bodyPr wrap="square"/>
                    <a:lstStyle/>
                    <a:p>
                      <a:r>
                        <a:rPr sz="1100" b="0">
                          <a:solidFill>
                            <a:srgbClr val="282828"/>
                          </a:solidFill>
                          <a:latin typeface="Arial"/>
                        </a:rPr>
                        <a:t>R5</a:t>
                      </a:r>
                    </a:p>
                  </a:txBody>
                  <a:tcPr marL="54864" marR="54864" marT="18288" marB="18288">
                    <a:solidFill>
                      <a:srgbClr val="ECF1F6"/>
                    </a:solidFill>
                  </a:tcPr>
                </a:tc>
                <a:tc>
                  <a:txBody>
                    <a:bodyPr wrap="square"/>
                    <a:lstStyle/>
                    <a:p>
                      <a:r>
                        <a:rPr sz="1100" b="0">
                          <a:solidFill>
                            <a:srgbClr val="282828"/>
                          </a:solidFill>
                          <a:latin typeface="Arial"/>
                        </a:rPr>
                        <a:t>pole-frame freeform, centroid-bow rows added</a:t>
                      </a:r>
                    </a:p>
                  </a:txBody>
                  <a:tcPr marL="54864" marR="54864" marT="18288" marB="18288">
                    <a:solidFill>
                      <a:srgbClr val="ECF1F6"/>
                    </a:solidFill>
                  </a:tcPr>
                </a:tc>
                <a:tc>
                  <a:txBody>
                    <a:bodyPr wrap="square"/>
                    <a:lstStyle/>
                    <a:p>
                      <a:r>
                        <a:rPr sz="1100" b="0">
                          <a:solidFill>
                            <a:srgbClr val="282828"/>
                          </a:solidFill>
                          <a:latin typeface="Arial"/>
                        </a:rPr>
                        <a:t>5–7</a:t>
                      </a:r>
                    </a:p>
                  </a:txBody>
                  <a:tcPr marL="54864" marR="54864" marT="18288" marB="18288">
                    <a:solidFill>
                      <a:srgbClr val="ECF1F6"/>
                    </a:solidFill>
                  </a:tcPr>
                </a:tc>
                <a:tc>
                  <a:txBody>
                    <a:bodyPr wrap="square"/>
                    <a:lstStyle/>
                    <a:p>
                      <a:r>
                        <a:rPr sz="1100" b="0">
                          <a:solidFill>
                            <a:srgbClr val="282828"/>
                          </a:solidFill>
                          <a:latin typeface="Arial"/>
                        </a:rPr>
                        <a:t>0.09</a:t>
                      </a:r>
                    </a:p>
                  </a:txBody>
                  <a:tcPr marL="54864" marR="54864" marT="18288" marB="18288">
                    <a:solidFill>
                      <a:srgbClr val="ECF1F6"/>
                    </a:solidFill>
                  </a:tcPr>
                </a:tc>
                <a:tc>
                  <a:txBody>
                    <a:bodyPr wrap="square"/>
                    <a:lstStyle/>
                    <a:p>
                      <a:r>
                        <a:rPr sz="1100" b="0">
                          <a:solidFill>
                            <a:srgbClr val="282828"/>
                          </a:solidFill>
                          <a:latin typeface="Arial"/>
                        </a:rPr>
                        <a:t>0.03</a:t>
                      </a:r>
                    </a:p>
                  </a:txBody>
                  <a:tcPr marL="54864" marR="54864" marT="18288" marB="18288">
                    <a:solidFill>
                      <a:srgbClr val="ECF1F6"/>
                    </a:solidFill>
                  </a:tcPr>
                </a:tc>
                <a:tc>
                  <a:txBody>
                    <a:bodyPr wrap="square"/>
                    <a:lstStyle/>
                    <a:p>
                      <a:r>
                        <a:rPr sz="1100" b="0">
                          <a:solidFill>
                            <a:srgbClr val="282828"/>
                          </a:solidFill>
                          <a:latin typeface="Arial"/>
                        </a:rPr>
                        <a:t>7.0</a:t>
                      </a:r>
                    </a:p>
                  </a:txBody>
                  <a:tcPr marL="54864" marR="54864" marT="18288" marB="18288">
                    <a:solidFill>
                      <a:srgbClr val="ECF1F6"/>
                    </a:solidFill>
                  </a:tcPr>
                </a:tc>
                <a:tc>
                  <a:txBody>
                    <a:bodyPr wrap="square"/>
                    <a:lstStyle/>
                    <a:p>
                      <a:r>
                        <a:rPr sz="1100" b="0">
                          <a:solidFill>
                            <a:srgbClr val="282828"/>
                          </a:solidFill>
                          <a:latin typeface="Arial"/>
                        </a:rPr>
                        <a:t>2.5</a:t>
                      </a:r>
                    </a:p>
                  </a:txBody>
                  <a:tcPr marL="54864" marR="54864" marT="18288" marB="18288">
                    <a:solidFill>
                      <a:srgbClr val="ECF1F6"/>
                    </a:solidFill>
                  </a:tcPr>
                </a:tc>
              </a:tr>
              <a:tr h="280035">
                <a:tc>
                  <a:txBody>
                    <a:bodyPr wrap="square"/>
                    <a:lstStyle/>
                    <a:p>
                      <a:r>
                        <a:rPr sz="1100" b="0">
                          <a:solidFill>
                            <a:srgbClr val="282828"/>
                          </a:solidFill>
                          <a:latin typeface="Arial"/>
                        </a:rPr>
                        <a:t>R6</a:t>
                      </a:r>
                    </a:p>
                  </a:txBody>
                  <a:tcPr marL="54864" marR="54864" marT="18288" marB="18288">
                    <a:solidFill>
                      <a:srgbClr val="FFFFFF"/>
                    </a:solidFill>
                  </a:tcPr>
                </a:tc>
                <a:tc>
                  <a:txBody>
                    <a:bodyPr wrap="square"/>
                    <a:lstStyle/>
                    <a:p>
                      <a:r>
                        <a:rPr sz="1100" b="0">
                          <a:solidFill>
                            <a:srgbClr val="282828"/>
                          </a:solidFill>
                          <a:latin typeface="Arial"/>
                        </a:rPr>
                        <a:t>R5 + 3000 more evaluations</a:t>
                      </a:r>
                    </a:p>
                  </a:txBody>
                  <a:tcPr marL="54864" marR="54864" marT="18288" marB="18288">
                    <a:solidFill>
                      <a:srgbClr val="FFFFFF"/>
                    </a:solidFill>
                  </a:tcPr>
                </a:tc>
                <a:tc>
                  <a:txBody>
                    <a:bodyPr wrap="square"/>
                    <a:lstStyle/>
                    <a:p>
                      <a:r>
                        <a:rPr sz="1100" b="0">
                          <a:solidFill>
                            <a:srgbClr val="282828"/>
                          </a:solidFill>
                          <a:latin typeface="Arial"/>
                        </a:rPr>
                        <a:t>5–7</a:t>
                      </a:r>
                    </a:p>
                  </a:txBody>
                  <a:tcPr marL="54864" marR="54864" marT="18288" marB="18288">
                    <a:solidFill>
                      <a:srgbClr val="FFFFFF"/>
                    </a:solidFill>
                  </a:tcPr>
                </a:tc>
                <a:tc>
                  <a:txBody>
                    <a:bodyPr wrap="square"/>
                    <a:lstStyle/>
                    <a:p>
                      <a:r>
                        <a:rPr sz="1100" b="0">
                          <a:solidFill>
                            <a:srgbClr val="282828"/>
                          </a:solidFill>
                          <a:latin typeface="Arial"/>
                        </a:rPr>
                        <a:t>0.15</a:t>
                      </a:r>
                    </a:p>
                  </a:txBody>
                  <a:tcPr marL="54864" marR="54864" marT="18288" marB="18288">
                    <a:solidFill>
                      <a:srgbClr val="FFFFFF"/>
                    </a:solidFill>
                  </a:tcPr>
                </a:tc>
                <a:tc>
                  <a:txBody>
                    <a:bodyPr wrap="square"/>
                    <a:lstStyle/>
                    <a:p>
                      <a:r>
                        <a:rPr sz="1100" b="0">
                          <a:solidFill>
                            <a:srgbClr val="282828"/>
                          </a:solidFill>
                          <a:latin typeface="Arial"/>
                        </a:rPr>
                        <a:t>0.04</a:t>
                      </a:r>
                    </a:p>
                  </a:txBody>
                  <a:tcPr marL="54864" marR="54864" marT="18288" marB="18288">
                    <a:solidFill>
                      <a:srgbClr val="FFFFFF"/>
                    </a:solidFill>
                  </a:tcPr>
                </a:tc>
                <a:tc>
                  <a:txBody>
                    <a:bodyPr wrap="square"/>
                    <a:lstStyle/>
                    <a:p>
                      <a:r>
                        <a:rPr sz="1100" b="0">
                          <a:solidFill>
                            <a:srgbClr val="282828"/>
                          </a:solidFill>
                          <a:latin typeface="Arial"/>
                        </a:rPr>
                        <a:t>7.2</a:t>
                      </a:r>
                    </a:p>
                  </a:txBody>
                  <a:tcPr marL="54864" marR="54864" marT="18288" marB="18288">
                    <a:solidFill>
                      <a:srgbClr val="FFFFFF"/>
                    </a:solidFill>
                  </a:tcPr>
                </a:tc>
                <a:tc>
                  <a:txBody>
                    <a:bodyPr wrap="square"/>
                    <a:lstStyle/>
                    <a:p>
                      <a:r>
                        <a:rPr sz="1100" b="0">
                          <a:solidFill>
                            <a:srgbClr val="282828"/>
                          </a:solidFill>
                          <a:latin typeface="Arial"/>
                        </a:rPr>
                        <a:t>2.5</a:t>
                      </a:r>
                    </a:p>
                  </a:txBody>
                  <a:tcPr marL="54864" marR="54864" marT="18288" marB="18288">
                    <a:solidFill>
                      <a:srgbClr val="FFFFFF"/>
                    </a:solidFill>
                  </a:tcPr>
                </a:tc>
              </a:tr>
              <a:tr h="468630">
                <a:tc>
                  <a:txBody>
                    <a:bodyPr wrap="square"/>
                    <a:lstStyle/>
                    <a:p>
                      <a:r>
                        <a:rPr sz="1100" b="0">
                          <a:solidFill>
                            <a:srgbClr val="282828"/>
                          </a:solidFill>
                          <a:latin typeface="Arial"/>
                        </a:rPr>
                        <a:t>R7</a:t>
                      </a:r>
                    </a:p>
                  </a:txBody>
                  <a:tcPr marL="54864" marR="54864" marT="18288" marB="18288">
                    <a:solidFill>
                      <a:srgbClr val="ECF1F6"/>
                    </a:solidFill>
                  </a:tcPr>
                </a:tc>
                <a:tc>
                  <a:txBody>
                    <a:bodyPr wrap="square"/>
                    <a:lstStyle/>
                    <a:p>
                      <a:r>
                        <a:rPr sz="1100" b="0">
                          <a:solidFill>
                            <a:srgbClr val="282828"/>
                          </a:solidFill>
                          <a:latin typeface="Arial"/>
                        </a:rPr>
                        <a:t>warm from R4: along-slit rows ×3, outer fields ×2–3, bow rows kept</a:t>
                      </a:r>
                    </a:p>
                  </a:txBody>
                  <a:tcPr marL="54864" marR="54864" marT="18288" marB="18288">
                    <a:solidFill>
                      <a:srgbClr val="ECF1F6"/>
                    </a:solidFill>
                  </a:tcPr>
                </a:tc>
                <a:tc>
                  <a:txBody>
                    <a:bodyPr wrap="square"/>
                    <a:lstStyle/>
                    <a:p>
                      <a:r>
                        <a:rPr sz="1100" b="0">
                          <a:solidFill>
                            <a:srgbClr val="282828"/>
                          </a:solidFill>
                          <a:latin typeface="Arial"/>
                        </a:rPr>
                        <a:t>1.02</a:t>
                      </a:r>
                    </a:p>
                  </a:txBody>
                  <a:tcPr marL="54864" marR="54864" marT="18288" marB="18288">
                    <a:solidFill>
                      <a:srgbClr val="ECF1F6"/>
                    </a:solidFill>
                  </a:tcPr>
                </a:tc>
                <a:tc>
                  <a:txBody>
                    <a:bodyPr wrap="square"/>
                    <a:lstStyle/>
                    <a:p>
                      <a:r>
                        <a:rPr sz="1100" b="0">
                          <a:solidFill>
                            <a:srgbClr val="282828"/>
                          </a:solidFill>
                          <a:latin typeface="Arial"/>
                        </a:rPr>
                        <a:t>0.14</a:t>
                      </a:r>
                    </a:p>
                  </a:txBody>
                  <a:tcPr marL="54864" marR="54864" marT="18288" marB="18288">
                    <a:solidFill>
                      <a:srgbClr val="ECF1F6"/>
                    </a:solidFill>
                  </a:tcPr>
                </a:tc>
                <a:tc>
                  <a:txBody>
                    <a:bodyPr wrap="square"/>
                    <a:lstStyle/>
                    <a:p>
                      <a:r>
                        <a:rPr sz="1100" b="0">
                          <a:solidFill>
                            <a:srgbClr val="282828"/>
                          </a:solidFill>
                          <a:latin typeface="Arial"/>
                        </a:rPr>
                        <a:t>0.006</a:t>
                      </a:r>
                    </a:p>
                  </a:txBody>
                  <a:tcPr marL="54864" marR="54864" marT="18288" marB="18288">
                    <a:solidFill>
                      <a:srgbClr val="ECF1F6"/>
                    </a:solidFill>
                  </a:tcPr>
                </a:tc>
                <a:tc>
                  <a:txBody>
                    <a:bodyPr wrap="square"/>
                    <a:lstStyle/>
                    <a:p>
                      <a:r>
                        <a:rPr sz="1100" b="0">
                          <a:solidFill>
                            <a:srgbClr val="282828"/>
                          </a:solidFill>
                          <a:latin typeface="Arial"/>
                        </a:rPr>
                        <a:t>1.18</a:t>
                      </a:r>
                    </a:p>
                  </a:txBody>
                  <a:tcPr marL="54864" marR="54864" marT="18288" marB="18288">
                    <a:solidFill>
                      <a:srgbClr val="ECF1F6"/>
                    </a:solidFill>
                  </a:tcPr>
                </a:tc>
                <a:tc>
                  <a:txBody>
                    <a:bodyPr wrap="square"/>
                    <a:lstStyle/>
                    <a:p>
                      <a:r>
                        <a:rPr sz="1100" b="0">
                          <a:solidFill>
                            <a:srgbClr val="282828"/>
                          </a:solidFill>
                          <a:latin typeface="Arial"/>
                        </a:rPr>
                        <a:t>2.025</a:t>
                      </a:r>
                    </a:p>
                  </a:txBody>
                  <a:tcPr marL="54864" marR="54864" marT="18288" marB="18288">
                    <a:solidFill>
                      <a:srgbClr val="ECF1F6"/>
                    </a:solidFill>
                  </a:tcPr>
                </a:tc>
              </a:tr>
              <a:tr h="280035">
                <a:tc>
                  <a:txBody>
                    <a:bodyPr wrap="square"/>
                    <a:lstStyle/>
                    <a:p>
                      <a:r>
                        <a:rPr sz="1100" b="0">
                          <a:solidFill>
                            <a:srgbClr val="282828"/>
                          </a:solidFill>
                          <a:latin typeface="Arial"/>
                        </a:rPr>
                        <a:t>R8</a:t>
                      </a:r>
                    </a:p>
                  </a:txBody>
                  <a:tcPr marL="54864" marR="54864" marT="18288" marB="18288">
                    <a:solidFill>
                      <a:srgbClr val="FFFFFF"/>
                    </a:solidFill>
                  </a:tcPr>
                </a:tc>
                <a:tc>
                  <a:txBody>
                    <a:bodyPr wrap="square"/>
                    <a:lstStyle/>
                    <a:p>
                      <a:r>
                        <a:rPr sz="1100" b="0">
                          <a:solidFill>
                            <a:srgbClr val="282828"/>
                          </a:solidFill>
                          <a:latin typeface="Arial"/>
                        </a:rPr>
                        <a:t>R7 + telecentric rows ×30 (a test of the chief angle)</a:t>
                      </a:r>
                    </a:p>
                  </a:txBody>
                  <a:tcPr marL="54864" marR="54864" marT="18288" marB="18288">
                    <a:solidFill>
                      <a:srgbClr val="FFFFFF"/>
                    </a:solidFill>
                  </a:tcPr>
                </a:tc>
                <a:tc>
                  <a:txBody>
                    <a:bodyPr wrap="square"/>
                    <a:lstStyle/>
                    <a:p>
                      <a:r>
                        <a:rPr sz="1100" b="0">
                          <a:solidFill>
                            <a:srgbClr val="282828"/>
                          </a:solidFill>
                          <a:latin typeface="Arial"/>
                        </a:rPr>
                        <a:t>1.02</a:t>
                      </a:r>
                    </a:p>
                  </a:txBody>
                  <a:tcPr marL="54864" marR="54864" marT="18288" marB="18288">
                    <a:solidFill>
                      <a:srgbClr val="FFFFFF"/>
                    </a:solidFill>
                  </a:tcPr>
                </a:tc>
                <a:tc>
                  <a:txBody>
                    <a:bodyPr wrap="square"/>
                    <a:lstStyle/>
                    <a:p>
                      <a:r>
                        <a:rPr sz="1100" b="0">
                          <a:solidFill>
                            <a:srgbClr val="282828"/>
                          </a:solidFill>
                          <a:latin typeface="Arial"/>
                        </a:rPr>
                        <a:t>0.14</a:t>
                      </a:r>
                    </a:p>
                  </a:txBody>
                  <a:tcPr marL="54864" marR="54864" marT="18288" marB="18288">
                    <a:solidFill>
                      <a:srgbClr val="FFFFFF"/>
                    </a:solidFill>
                  </a:tcPr>
                </a:tc>
                <a:tc>
                  <a:txBody>
                    <a:bodyPr wrap="square"/>
                    <a:lstStyle/>
                    <a:p>
                      <a:r>
                        <a:rPr sz="1100" b="0">
                          <a:solidFill>
                            <a:srgbClr val="282828"/>
                          </a:solidFill>
                          <a:latin typeface="Arial"/>
                        </a:rPr>
                        <a:t>0.005</a:t>
                      </a:r>
                    </a:p>
                  </a:txBody>
                  <a:tcPr marL="54864" marR="54864" marT="18288" marB="18288">
                    <a:solidFill>
                      <a:srgbClr val="FFFFFF"/>
                    </a:solidFill>
                  </a:tcPr>
                </a:tc>
                <a:tc>
                  <a:txBody>
                    <a:bodyPr wrap="square"/>
                    <a:lstStyle/>
                    <a:p>
                      <a:r>
                        <a:rPr sz="1100" b="0">
                          <a:solidFill>
                            <a:srgbClr val="282828"/>
                          </a:solidFill>
                          <a:latin typeface="Arial"/>
                        </a:rPr>
                        <a:t>1.18</a:t>
                      </a:r>
                    </a:p>
                  </a:txBody>
                  <a:tcPr marL="54864" marR="54864" marT="18288" marB="18288">
                    <a:solidFill>
                      <a:srgbClr val="FFFFFF"/>
                    </a:solidFill>
                  </a:tcPr>
                </a:tc>
                <a:tc>
                  <a:txBody>
                    <a:bodyPr wrap="square"/>
                    <a:lstStyle/>
                    <a:p>
                      <a:r>
                        <a:rPr sz="1100" b="0">
                          <a:solidFill>
                            <a:srgbClr val="282828"/>
                          </a:solidFill>
                          <a:latin typeface="Arial"/>
                        </a:rPr>
                        <a:t>2.025</a:t>
                      </a:r>
                    </a:p>
                  </a:txBody>
                  <a:tcPr marL="54864" marR="54864" marT="18288" marB="18288">
                    <a:solidFill>
                      <a:srgbClr val="FFFFFF"/>
                    </a:solidFill>
                  </a:tcPr>
                </a:tc>
              </a:tr>
              <a:tr h="280035">
                <a:tc>
                  <a:txBody>
                    <a:bodyPr wrap="square"/>
                    <a:lstStyle/>
                    <a:p>
                      <a:r>
                        <a:rPr sz="1100" b="0">
                          <a:solidFill>
                            <a:srgbClr val="282828"/>
                          </a:solidFill>
                          <a:latin typeface="Arial"/>
                        </a:rPr>
                        <a:t>R9</a:t>
                      </a:r>
                    </a:p>
                  </a:txBody>
                  <a:tcPr marL="54864" marR="54864" marT="18288" marB="18288">
                    <a:solidFill>
                      <a:srgbClr val="ECF1F6"/>
                    </a:solidFill>
                  </a:tcPr>
                </a:tc>
                <a:tc>
                  <a:txBody>
                    <a:bodyPr wrap="square"/>
                    <a:lstStyle/>
                    <a:p>
                      <a:r>
                        <a:rPr sz="1100" b="0">
                          <a:solidFill>
                            <a:srgbClr val="282828"/>
                          </a:solidFill>
                          <a:latin typeface="Arial"/>
                        </a:rPr>
                        <a:t>R7 + chief − centroid rows across the slit ×1000</a:t>
                      </a:r>
                    </a:p>
                  </a:txBody>
                  <a:tcPr marL="54864" marR="54864" marT="18288" marB="18288">
                    <a:solidFill>
                      <a:srgbClr val="ECF1F6"/>
                    </a:solidFill>
                  </a:tcPr>
                </a:tc>
                <a:tc>
                  <a:txBody>
                    <a:bodyPr wrap="square"/>
                    <a:lstStyle/>
                    <a:p>
                      <a:r>
                        <a:rPr sz="1100" b="0">
                          <a:solidFill>
                            <a:srgbClr val="282828"/>
                          </a:solidFill>
                          <a:latin typeface="Arial"/>
                        </a:rPr>
                        <a:t>1.02</a:t>
                      </a:r>
                    </a:p>
                  </a:txBody>
                  <a:tcPr marL="54864" marR="54864" marT="18288" marB="18288">
                    <a:solidFill>
                      <a:srgbClr val="ECF1F6"/>
                    </a:solidFill>
                  </a:tcPr>
                </a:tc>
                <a:tc>
                  <a:txBody>
                    <a:bodyPr wrap="square"/>
                    <a:lstStyle/>
                    <a:p>
                      <a:r>
                        <a:rPr sz="1100" b="0">
                          <a:solidFill>
                            <a:srgbClr val="282828"/>
                          </a:solidFill>
                          <a:latin typeface="Arial"/>
                        </a:rPr>
                        <a:t>0.016</a:t>
                      </a:r>
                    </a:p>
                  </a:txBody>
                  <a:tcPr marL="54864" marR="54864" marT="18288" marB="18288">
                    <a:solidFill>
                      <a:srgbClr val="ECF1F6"/>
                    </a:solidFill>
                  </a:tcPr>
                </a:tc>
                <a:tc>
                  <a:txBody>
                    <a:bodyPr wrap="square"/>
                    <a:lstStyle/>
                    <a:p>
                      <a:r>
                        <a:rPr sz="1100" b="0">
                          <a:solidFill>
                            <a:srgbClr val="282828"/>
                          </a:solidFill>
                          <a:latin typeface="Arial"/>
                        </a:rPr>
                        <a:t>0.006</a:t>
                      </a:r>
                    </a:p>
                  </a:txBody>
                  <a:tcPr marL="54864" marR="54864" marT="18288" marB="18288">
                    <a:solidFill>
                      <a:srgbClr val="ECF1F6"/>
                    </a:solidFill>
                  </a:tcPr>
                </a:tc>
                <a:tc>
                  <a:txBody>
                    <a:bodyPr wrap="square"/>
                    <a:lstStyle/>
                    <a:p>
                      <a:r>
                        <a:rPr sz="1100" b="0">
                          <a:solidFill>
                            <a:srgbClr val="282828"/>
                          </a:solidFill>
                          <a:latin typeface="Arial"/>
                        </a:rPr>
                        <a:t>1.17</a:t>
                      </a:r>
                    </a:p>
                  </a:txBody>
                  <a:tcPr marL="54864" marR="54864" marT="18288" marB="18288">
                    <a:solidFill>
                      <a:srgbClr val="ECF1F6"/>
                    </a:solidFill>
                  </a:tcPr>
                </a:tc>
                <a:tc>
                  <a:txBody>
                    <a:bodyPr wrap="square"/>
                    <a:lstStyle/>
                    <a:p>
                      <a:r>
                        <a:rPr sz="1100" b="0">
                          <a:solidFill>
                            <a:srgbClr val="282828"/>
                          </a:solidFill>
                          <a:latin typeface="Arial"/>
                        </a:rPr>
                        <a:t>2.025</a:t>
                      </a:r>
                    </a:p>
                  </a:txBody>
                  <a:tcPr marL="54864" marR="54864" marT="18288" marB="18288">
                    <a:solidFill>
                      <a:srgbClr val="ECF1F6"/>
                    </a:solidFill>
                  </a:tcPr>
                </a:tc>
              </a:tr>
            </a:tbl>
          </a:graphicData>
        </a:graphic>
      </p:graphicFrame>
      <p:sp>
        <p:nvSpPr>
          <p:cNvPr id="5" name="TextBox 4"/>
          <p:cNvSpPr txBox="1"/>
          <p:nvPr/>
        </p:nvSpPr>
        <p:spPr>
          <a:xfrm>
            <a:off x="411480" y="3782187"/>
            <a:ext cx="11368735" cy="274320"/>
          </a:xfrm>
          <a:prstGeom prst="rect">
            <a:avLst/>
          </a:prstGeom>
          <a:noFill/>
        </p:spPr>
        <p:txBody>
          <a:bodyPr wrap="square">
            <a:spAutoFit/>
          </a:bodyPr>
          <a:lstStyle/>
          <a:p>
            <a:pPr>
              <a:spcAft>
                <a:spcPts val="600"/>
              </a:spcAft>
            </a:pPr>
            <a:r>
              <a:rPr sz="1500" b="0">
                <a:solidFill>
                  <a:srgbClr val="282828"/>
                </a:solidFill>
                <a:latin typeface="Arial"/>
              </a:rPr>
              <a:t>•  </a:t>
            </a:r>
            <a:r>
              <a:rPr sz="1500" b="1">
                <a:solidFill>
                  <a:srgbClr val="282828"/>
                </a:solidFill>
                <a:latin typeface="Arial"/>
              </a:rPr>
              <a:t>Equal weights were the CRF wall.</a:t>
            </a:r>
            <a:r>
              <a:rPr sz="1500" b="0">
                <a:solidFill>
                  <a:srgbClr val="282828"/>
                </a:solidFill>
                <a:latin typeface="Arial"/>
              </a:rPr>
              <a:t>  R5 and R6 weighted every field and both axes equally on rms spot size and spent it on the strip center (4 µm) while the outer half sat at 5–7 px along the slit; more budget on the same merit moved nothing.  Weighting the along-slit rows and the outer fields, from R4, took every field to the Airy floor in one rung.</a:t>
            </a:r>
          </a:p>
          <a:p>
            <a:pPr>
              <a:spcAft>
                <a:spcPts val="600"/>
              </a:spcAft>
            </a:pPr>
            <a:r>
              <a:rPr sz="1500" b="0">
                <a:solidFill>
                  <a:srgbClr val="282828"/>
                </a:solidFill>
                <a:latin typeface="Arial"/>
              </a:rPr>
              <a:t>•  </a:t>
            </a:r>
            <a:r>
              <a:rPr sz="1500" b="1">
                <a:solidFill>
                  <a:srgbClr val="282828"/>
                </a:solidFill>
                <a:latin typeface="Arial"/>
              </a:rPr>
              <a:t>A row set below one percent of the merit is not a test.</a:t>
            </a:r>
            <a:r>
              <a:rPr sz="1500" b="0">
                <a:solidFill>
                  <a:srgbClr val="282828"/>
                </a:solidFill>
                <a:latin typeface="Arial"/>
              </a:rPr>
              <a:t>  R8's telecentric rows at ×30 were 0.4 % of the merit; the solver never worked on them and R8 is R7 to the third digit.  R9's offset rows at ×30 would have been 0.07 %; at ×1000 they dominated, and the solve converged in 507 evaluations.</a:t>
            </a:r>
          </a:p>
          <a:p>
            <a:pPr>
              <a:spcAft>
                <a:spcPts val="600"/>
              </a:spcAft>
            </a:pPr>
            <a:r>
              <a:rPr sz="1500" b="0">
                <a:solidFill>
                  <a:srgbClr val="282828"/>
                </a:solidFill>
                <a:latin typeface="Arial"/>
              </a:rPr>
              <a:t>•  </a:t>
            </a:r>
            <a:r>
              <a:rPr sz="1500" b="1">
                <a:solidFill>
                  <a:srgbClr val="282828"/>
                </a:solidFill>
                <a:latin typeface="Arial"/>
              </a:rPr>
              <a:t>The remaining 0.14 px of "smile" was the launch convention</a:t>
            </a:r>
            <a:r>
              <a:rPr sz="1500" b="0">
                <a:solidFill>
                  <a:srgbClr val="282828"/>
                </a:solidFill>
                <a:latin typeface="Arial"/>
              </a:rPr>
              <a:t> (slide 10), and the row that removed its cause cost nothing at the pixel.</a:t>
            </a:r>
          </a:p>
        </p:txBody>
      </p:sp>
      <p:sp>
        <p:nvSpPr>
          <p:cNvPr id="6" name="TextBox 5"/>
          <p:cNvSpPr txBox="1"/>
          <p:nvPr/>
        </p:nvSpPr>
        <p:spPr>
          <a:xfrm>
            <a:off x="411480" y="6220587"/>
            <a:ext cx="11368735" cy="274320"/>
          </a:xfrm>
          <a:prstGeom prst="rect">
            <a:avLst/>
          </a:prstGeom>
          <a:noFill/>
        </p:spPr>
        <p:txBody>
          <a:bodyPr wrap="square">
            <a:spAutoFit/>
          </a:bodyPr>
          <a:lstStyle/>
          <a:p>
            <a:pPr>
              <a:spcAft>
                <a:spcPts val="600"/>
              </a:spcAft>
            </a:pPr>
            <a:r>
              <a:rPr sz="1050" b="0">
                <a:solidFill>
                  <a:srgbClr val="6E6E6E"/>
                </a:solidFill>
                <a:latin typeface="Arial"/>
              </a:rPr>
              <a:t>REPORT_dyson5_cprime.md (every rung and the four solves thrown out); the template's README, "What the ladder taught."  Each rung: 3000 evaluations of the engine's own trace (R9: 507), model 256.</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Smile is a convention: the launch, not the optics</a:t>
            </a:r>
          </a:p>
          <a:p>
            <a:pPr>
              <a:spcAft>
                <a:spcPts val="0"/>
              </a:spcAft>
            </a:pPr>
            <a:r>
              <a:rPr sz="1250" b="0">
                <a:solidFill>
                  <a:srgbClr val="6E6E6E"/>
                </a:solidFill>
                <a:latin typeface="Arial"/>
              </a:rPr>
              <a:t>The join lands each field's chief ray on the slit line and scores the centroid, so the telescope's coma — the chief-minus-centroid offset across the slit — read as smile; the Dyson fed with the telescope's chief angles does not move</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411480" y="1298448"/>
          <a:ext cx="5806439" cy="2057400"/>
        </p:xfrm>
        <a:graphic>
          <a:graphicData uri="http://schemas.openxmlformats.org/drawingml/2006/table">
            <a:tbl>
              <a:tblPr firstRow="1" bandRow="1">
                <a:tableStyleId>{5C22544A-7EE6-4342-B048-85BDC9FD1C3A}</a:tableStyleId>
              </a:tblPr>
              <a:tblGrid>
                <a:gridCol w="3477767"/>
                <a:gridCol w="582168"/>
                <a:gridCol w="727456"/>
                <a:gridCol w="509524"/>
                <a:gridCol w="509524"/>
              </a:tblGrid>
              <a:tr h="468630">
                <a:tc>
                  <a:txBody>
                    <a:bodyPr wrap="square"/>
                    <a:lstStyle/>
                    <a:p>
                      <a:r>
                        <a:rPr sz="1100" b="1">
                          <a:solidFill>
                            <a:srgbClr val="FFFFFF"/>
                          </a:solidFill>
                          <a:latin typeface="Arial"/>
                        </a:rPr>
                        <a:t>Dyson alone, each slit point's chief tilted by R7's angles</a:t>
                      </a:r>
                    </a:p>
                  </a:txBody>
                  <a:tcPr marL="54864" marR="54864" marT="18288" marB="18288">
                    <a:solidFill>
                      <a:srgbClr val="1F4E79"/>
                    </a:solidFill>
                  </a:tcPr>
                </a:tc>
                <a:tc>
                  <a:txBody>
                    <a:bodyPr wrap="square"/>
                    <a:lstStyle/>
                    <a:p>
                      <a:r>
                        <a:rPr sz="1100" b="1">
                          <a:solidFill>
                            <a:srgbClr val="FFFFFF"/>
                          </a:solidFill>
                          <a:latin typeface="Arial"/>
                        </a:rPr>
                        <a:t>smile</a:t>
                      </a:r>
                    </a:p>
                  </a:txBody>
                  <a:tcPr marL="54864" marR="54864" marT="18288" marB="18288">
                    <a:solidFill>
                      <a:srgbClr val="1F4E79"/>
                    </a:solidFill>
                  </a:tcPr>
                </a:tc>
                <a:tc>
                  <a:txBody>
                    <a:bodyPr wrap="square"/>
                    <a:lstStyle/>
                    <a:p>
                      <a:r>
                        <a:rPr sz="1100" b="1">
                          <a:solidFill>
                            <a:srgbClr val="FFFFFF"/>
                          </a:solidFill>
                          <a:latin typeface="Arial"/>
                        </a:rPr>
                        <a:t>keystone</a:t>
                      </a:r>
                    </a:p>
                  </a:txBody>
                  <a:tcPr marL="54864" marR="54864" marT="18288" marB="18288">
                    <a:solidFill>
                      <a:srgbClr val="1F4E79"/>
                    </a:solidFill>
                  </a:tcPr>
                </a:tc>
                <a:tc>
                  <a:txBody>
                    <a:bodyPr wrap="square"/>
                    <a:lstStyle/>
                    <a:p>
                      <a:r>
                        <a:rPr sz="1100" b="1">
                          <a:solidFill>
                            <a:srgbClr val="FFFFFF"/>
                          </a:solidFill>
                          <a:latin typeface="Arial"/>
                        </a:rPr>
                        <a:t>CRF</a:t>
                      </a:r>
                    </a:p>
                  </a:txBody>
                  <a:tcPr marL="54864" marR="54864" marT="18288" marB="18288">
                    <a:solidFill>
                      <a:srgbClr val="1F4E79"/>
                    </a:solidFill>
                  </a:tcPr>
                </a:tc>
                <a:tc>
                  <a:txBody>
                    <a:bodyPr wrap="square"/>
                    <a:lstStyle/>
                    <a:p>
                      <a:r>
                        <a:rPr sz="1100" b="1">
                          <a:solidFill>
                            <a:srgbClr val="FFFFFF"/>
                          </a:solidFill>
                          <a:latin typeface="Arial"/>
                        </a:rPr>
                        <a:t>SRF</a:t>
                      </a:r>
                    </a:p>
                  </a:txBody>
                  <a:tcPr marL="54864" marR="54864" marT="18288" marB="18288">
                    <a:solidFill>
                      <a:srgbClr val="1F4E79"/>
                    </a:solidFill>
                  </a:tcPr>
                </a:tc>
              </a:tr>
              <a:tr h="280035">
                <a:tc>
                  <a:txBody>
                    <a:bodyPr wrap="square"/>
                    <a:lstStyle/>
                    <a:p>
                      <a:r>
                        <a:rPr sz="1100" b="0">
                          <a:solidFill>
                            <a:srgbClr val="282828"/>
                          </a:solidFill>
                          <a:latin typeface="Arial"/>
                        </a:rPr>
                        <a:t>base (the record)</a:t>
                      </a:r>
                    </a:p>
                  </a:txBody>
                  <a:tcPr marL="54864" marR="54864" marT="18288" marB="18288">
                    <a:solidFill>
                      <a:srgbClr val="FFFFFF"/>
                    </a:solidFill>
                  </a:tcPr>
                </a:tc>
                <a:tc>
                  <a:txBody>
                    <a:bodyPr wrap="square"/>
                    <a:lstStyle/>
                    <a:p>
                      <a:r>
                        <a:rPr sz="1100" b="0">
                          <a:solidFill>
                            <a:srgbClr val="282828"/>
                          </a:solidFill>
                          <a:latin typeface="Arial"/>
                        </a:rPr>
                        <a:t>0.0050</a:t>
                      </a:r>
                    </a:p>
                  </a:txBody>
                  <a:tcPr marL="54864" marR="54864" marT="18288" marB="18288">
                    <a:solidFill>
                      <a:srgbClr val="FFFFFF"/>
                    </a:solidFill>
                  </a:tcPr>
                </a:tc>
                <a:tc>
                  <a:txBody>
                    <a:bodyPr wrap="square"/>
                    <a:lstStyle/>
                    <a:p>
                      <a:r>
                        <a:rPr sz="1100" b="0">
                          <a:solidFill>
                            <a:srgbClr val="282828"/>
                          </a:solidFill>
                          <a:latin typeface="Arial"/>
                        </a:rPr>
                        <a:t>0.0058</a:t>
                      </a:r>
                    </a:p>
                  </a:txBody>
                  <a:tcPr marL="54864" marR="54864" marT="18288" marB="18288">
                    <a:solidFill>
                      <a:srgbClr val="FFFFFF"/>
                    </a:solidFill>
                  </a:tcPr>
                </a:tc>
                <a:tc>
                  <a:txBody>
                    <a:bodyPr wrap="square"/>
                    <a:lstStyle/>
                    <a:p>
                      <a:r>
                        <a:rPr sz="1100" b="0">
                          <a:solidFill>
                            <a:srgbClr val="282828"/>
                          </a:solidFill>
                          <a:latin typeface="Arial"/>
                        </a:rPr>
                        <a:t>1.213</a:t>
                      </a:r>
                    </a:p>
                  </a:txBody>
                  <a:tcPr marL="54864" marR="54864" marT="18288" marB="18288">
                    <a:solidFill>
                      <a:srgbClr val="FFFFFF"/>
                    </a:solidFill>
                  </a:tcPr>
                </a:tc>
                <a:tc>
                  <a:txBody>
                    <a:bodyPr wrap="square"/>
                    <a:lstStyle/>
                    <a:p>
                      <a:r>
                        <a:rPr sz="1100" b="0">
                          <a:solidFill>
                            <a:srgbClr val="282828"/>
                          </a:solidFill>
                          <a:latin typeface="Arial"/>
                        </a:rPr>
                        <a:t>2.024</a:t>
                      </a:r>
                    </a:p>
                  </a:txBody>
                  <a:tcPr marL="54864" marR="54864" marT="18288" marB="18288">
                    <a:solidFill>
                      <a:srgbClr val="FFFFFF"/>
                    </a:solidFill>
                  </a:tcPr>
                </a:tc>
              </a:tr>
              <a:tr h="468630">
                <a:tc>
                  <a:txBody>
                    <a:bodyPr wrap="square"/>
                    <a:lstStyle/>
                    <a:p>
                      <a:r>
                        <a:rPr sz="1100" b="0">
                          <a:solidFill>
                            <a:srgbClr val="282828"/>
                          </a:solidFill>
                          <a:latin typeface="Arial"/>
                        </a:rPr>
                        <a:t>along-track component (−0.51 mrad at the strip end)</a:t>
                      </a:r>
                    </a:p>
                  </a:txBody>
                  <a:tcPr marL="54864" marR="54864" marT="18288" marB="18288">
                    <a:solidFill>
                      <a:srgbClr val="ECF1F6"/>
                    </a:solidFill>
                  </a:tcPr>
                </a:tc>
                <a:tc>
                  <a:txBody>
                    <a:bodyPr wrap="square"/>
                    <a:lstStyle/>
                    <a:p>
                      <a:r>
                        <a:rPr sz="1100" b="0">
                          <a:solidFill>
                            <a:srgbClr val="282828"/>
                          </a:solidFill>
                          <a:latin typeface="Arial"/>
                        </a:rPr>
                        <a:t>0.0049</a:t>
                      </a:r>
                    </a:p>
                  </a:txBody>
                  <a:tcPr marL="54864" marR="54864" marT="18288" marB="18288">
                    <a:solidFill>
                      <a:srgbClr val="ECF1F6"/>
                    </a:solidFill>
                  </a:tcPr>
                </a:tc>
                <a:tc>
                  <a:txBody>
                    <a:bodyPr wrap="square"/>
                    <a:lstStyle/>
                    <a:p>
                      <a:r>
                        <a:rPr sz="1100" b="0">
                          <a:solidFill>
                            <a:srgbClr val="282828"/>
                          </a:solidFill>
                          <a:latin typeface="Arial"/>
                        </a:rPr>
                        <a:t>0.0061</a:t>
                      </a:r>
                    </a:p>
                  </a:txBody>
                  <a:tcPr marL="54864" marR="54864" marT="18288" marB="18288">
                    <a:solidFill>
                      <a:srgbClr val="ECF1F6"/>
                    </a:solidFill>
                  </a:tcPr>
                </a:tc>
                <a:tc>
                  <a:txBody>
                    <a:bodyPr wrap="square"/>
                    <a:lstStyle/>
                    <a:p>
                      <a:r>
                        <a:rPr sz="1100" b="0">
                          <a:solidFill>
                            <a:srgbClr val="282828"/>
                          </a:solidFill>
                          <a:latin typeface="Arial"/>
                        </a:rPr>
                        <a:t>1.213</a:t>
                      </a:r>
                    </a:p>
                  </a:txBody>
                  <a:tcPr marL="54864" marR="54864" marT="18288" marB="18288">
                    <a:solidFill>
                      <a:srgbClr val="ECF1F6"/>
                    </a:solidFill>
                  </a:tcPr>
                </a:tc>
                <a:tc>
                  <a:txBody>
                    <a:bodyPr wrap="square"/>
                    <a:lstStyle/>
                    <a:p>
                      <a:r>
                        <a:rPr sz="1100" b="0">
                          <a:solidFill>
                            <a:srgbClr val="282828"/>
                          </a:solidFill>
                          <a:latin typeface="Arial"/>
                        </a:rPr>
                        <a:t>2.024</a:t>
                      </a:r>
                    </a:p>
                  </a:txBody>
                  <a:tcPr marL="54864" marR="54864" marT="18288" marB="18288">
                    <a:solidFill>
                      <a:srgbClr val="ECF1F6"/>
                    </a:solidFill>
                  </a:tcPr>
                </a:tc>
              </a:tr>
              <a:tr h="280035">
                <a:tc>
                  <a:txBody>
                    <a:bodyPr wrap="square"/>
                    <a:lstStyle/>
                    <a:p>
                      <a:r>
                        <a:rPr sz="1100" b="0">
                          <a:solidFill>
                            <a:srgbClr val="282828"/>
                          </a:solidFill>
                          <a:latin typeface="Arial"/>
                        </a:rPr>
                        <a:t>cross-track component (±0.27 mrad)</a:t>
                      </a:r>
                    </a:p>
                  </a:txBody>
                  <a:tcPr marL="54864" marR="54864" marT="18288" marB="18288">
                    <a:solidFill>
                      <a:srgbClr val="FFFFFF"/>
                    </a:solidFill>
                  </a:tcPr>
                </a:tc>
                <a:tc>
                  <a:txBody>
                    <a:bodyPr wrap="square"/>
                    <a:lstStyle/>
                    <a:p>
                      <a:r>
                        <a:rPr sz="1100" b="0">
                          <a:solidFill>
                            <a:srgbClr val="282828"/>
                          </a:solidFill>
                          <a:latin typeface="Arial"/>
                        </a:rPr>
                        <a:t>0.0048</a:t>
                      </a:r>
                    </a:p>
                  </a:txBody>
                  <a:tcPr marL="54864" marR="54864" marT="18288" marB="18288">
                    <a:solidFill>
                      <a:srgbClr val="FFFFFF"/>
                    </a:solidFill>
                  </a:tcPr>
                </a:tc>
                <a:tc>
                  <a:txBody>
                    <a:bodyPr wrap="square"/>
                    <a:lstStyle/>
                    <a:p>
                      <a:r>
                        <a:rPr sz="1100" b="0">
                          <a:solidFill>
                            <a:srgbClr val="282828"/>
                          </a:solidFill>
                          <a:latin typeface="Arial"/>
                        </a:rPr>
                        <a:t>0.0063</a:t>
                      </a:r>
                    </a:p>
                  </a:txBody>
                  <a:tcPr marL="54864" marR="54864" marT="18288" marB="18288">
                    <a:solidFill>
                      <a:srgbClr val="FFFFFF"/>
                    </a:solidFill>
                  </a:tcPr>
                </a:tc>
                <a:tc>
                  <a:txBody>
                    <a:bodyPr wrap="square"/>
                    <a:lstStyle/>
                    <a:p>
                      <a:r>
                        <a:rPr sz="1100" b="0">
                          <a:solidFill>
                            <a:srgbClr val="282828"/>
                          </a:solidFill>
                          <a:latin typeface="Arial"/>
                        </a:rPr>
                        <a:t>1.213</a:t>
                      </a:r>
                    </a:p>
                  </a:txBody>
                  <a:tcPr marL="54864" marR="54864" marT="18288" marB="18288">
                    <a:solidFill>
                      <a:srgbClr val="FFFFFF"/>
                    </a:solidFill>
                  </a:tcPr>
                </a:tc>
                <a:tc>
                  <a:txBody>
                    <a:bodyPr wrap="square"/>
                    <a:lstStyle/>
                    <a:p>
                      <a:r>
                        <a:rPr sz="1100" b="0">
                          <a:solidFill>
                            <a:srgbClr val="282828"/>
                          </a:solidFill>
                          <a:latin typeface="Arial"/>
                        </a:rPr>
                        <a:t>2.024</a:t>
                      </a:r>
                    </a:p>
                  </a:txBody>
                  <a:tcPr marL="54864" marR="54864" marT="18288" marB="18288">
                    <a:solidFill>
                      <a:srgbClr val="FFFFFF"/>
                    </a:solidFill>
                  </a:tcPr>
                </a:tc>
              </a:tr>
              <a:tr h="280035">
                <a:tc>
                  <a:txBody>
                    <a:bodyPr wrap="square"/>
                    <a:lstStyle/>
                    <a:p>
                      <a:r>
                        <a:rPr sz="1100" b="0">
                          <a:solidFill>
                            <a:srgbClr val="282828"/>
                          </a:solidFill>
                          <a:latin typeface="Arial"/>
                        </a:rPr>
                        <a:t>along-track × 2</a:t>
                      </a:r>
                    </a:p>
                  </a:txBody>
                  <a:tcPr marL="54864" marR="54864" marT="18288" marB="18288">
                    <a:solidFill>
                      <a:srgbClr val="ECF1F6"/>
                    </a:solidFill>
                  </a:tcPr>
                </a:tc>
                <a:tc>
                  <a:txBody>
                    <a:bodyPr wrap="square"/>
                    <a:lstStyle/>
                    <a:p>
                      <a:r>
                        <a:rPr sz="1100" b="0">
                          <a:solidFill>
                            <a:srgbClr val="282828"/>
                          </a:solidFill>
                          <a:latin typeface="Arial"/>
                        </a:rPr>
                        <a:t>0.0049</a:t>
                      </a:r>
                    </a:p>
                  </a:txBody>
                  <a:tcPr marL="54864" marR="54864" marT="18288" marB="18288">
                    <a:solidFill>
                      <a:srgbClr val="ECF1F6"/>
                    </a:solidFill>
                  </a:tcPr>
                </a:tc>
                <a:tc>
                  <a:txBody>
                    <a:bodyPr wrap="square"/>
                    <a:lstStyle/>
                    <a:p>
                      <a:r>
                        <a:rPr sz="1100" b="0">
                          <a:solidFill>
                            <a:srgbClr val="282828"/>
                          </a:solidFill>
                          <a:latin typeface="Arial"/>
                        </a:rPr>
                        <a:t>0.0064</a:t>
                      </a:r>
                    </a:p>
                  </a:txBody>
                  <a:tcPr marL="54864" marR="54864" marT="18288" marB="18288">
                    <a:solidFill>
                      <a:srgbClr val="ECF1F6"/>
                    </a:solidFill>
                  </a:tcPr>
                </a:tc>
                <a:tc>
                  <a:txBody>
                    <a:bodyPr wrap="square"/>
                    <a:lstStyle/>
                    <a:p>
                      <a:r>
                        <a:rPr sz="1100" b="0">
                          <a:solidFill>
                            <a:srgbClr val="282828"/>
                          </a:solidFill>
                          <a:latin typeface="Arial"/>
                        </a:rPr>
                        <a:t>1.213</a:t>
                      </a:r>
                    </a:p>
                  </a:txBody>
                  <a:tcPr marL="54864" marR="54864" marT="18288" marB="18288">
                    <a:solidFill>
                      <a:srgbClr val="ECF1F6"/>
                    </a:solidFill>
                  </a:tcPr>
                </a:tc>
                <a:tc>
                  <a:txBody>
                    <a:bodyPr wrap="square"/>
                    <a:lstStyle/>
                    <a:p>
                      <a:r>
                        <a:rPr sz="1100" b="0">
                          <a:solidFill>
                            <a:srgbClr val="282828"/>
                          </a:solidFill>
                          <a:latin typeface="Arial"/>
                        </a:rPr>
                        <a:t>2.024</a:t>
                      </a:r>
                    </a:p>
                  </a:txBody>
                  <a:tcPr marL="54864" marR="54864" marT="18288" marB="18288">
                    <a:solidFill>
                      <a:srgbClr val="ECF1F6"/>
                    </a:solidFill>
                  </a:tcPr>
                </a:tc>
              </a:tr>
              <a:tr h="280035">
                <a:tc>
                  <a:txBody>
                    <a:bodyPr wrap="square"/>
                    <a:lstStyle/>
                    <a:p>
                      <a:r>
                        <a:rPr sz="1100" b="0">
                          <a:solidFill>
                            <a:srgbClr val="282828"/>
                          </a:solidFill>
                          <a:latin typeface="Arial"/>
                        </a:rPr>
                        <a:t>both</a:t>
                      </a:r>
                    </a:p>
                  </a:txBody>
                  <a:tcPr marL="54864" marR="54864" marT="18288" marB="18288">
                    <a:solidFill>
                      <a:srgbClr val="FFFFFF"/>
                    </a:solidFill>
                  </a:tcPr>
                </a:tc>
                <a:tc>
                  <a:txBody>
                    <a:bodyPr wrap="square"/>
                    <a:lstStyle/>
                    <a:p>
                      <a:r>
                        <a:rPr sz="1100" b="0">
                          <a:solidFill>
                            <a:srgbClr val="282828"/>
                          </a:solidFill>
                          <a:latin typeface="Arial"/>
                        </a:rPr>
                        <a:t>0.0048</a:t>
                      </a:r>
                    </a:p>
                  </a:txBody>
                  <a:tcPr marL="54864" marR="54864" marT="18288" marB="18288">
                    <a:solidFill>
                      <a:srgbClr val="FFFFFF"/>
                    </a:solidFill>
                  </a:tcPr>
                </a:tc>
                <a:tc>
                  <a:txBody>
                    <a:bodyPr wrap="square"/>
                    <a:lstStyle/>
                    <a:p>
                      <a:r>
                        <a:rPr sz="1100" b="0">
                          <a:solidFill>
                            <a:srgbClr val="282828"/>
                          </a:solidFill>
                          <a:latin typeface="Arial"/>
                        </a:rPr>
                        <a:t>0.0066</a:t>
                      </a:r>
                    </a:p>
                  </a:txBody>
                  <a:tcPr marL="54864" marR="54864" marT="18288" marB="18288">
                    <a:solidFill>
                      <a:srgbClr val="FFFFFF"/>
                    </a:solidFill>
                  </a:tcPr>
                </a:tc>
                <a:tc>
                  <a:txBody>
                    <a:bodyPr wrap="square"/>
                    <a:lstStyle/>
                    <a:p>
                      <a:r>
                        <a:rPr sz="1100" b="0">
                          <a:solidFill>
                            <a:srgbClr val="282828"/>
                          </a:solidFill>
                          <a:latin typeface="Arial"/>
                        </a:rPr>
                        <a:t>1.213</a:t>
                      </a:r>
                    </a:p>
                  </a:txBody>
                  <a:tcPr marL="54864" marR="54864" marT="18288" marB="18288">
                    <a:solidFill>
                      <a:srgbClr val="FFFFFF"/>
                    </a:solidFill>
                  </a:tcPr>
                </a:tc>
                <a:tc>
                  <a:txBody>
                    <a:bodyPr wrap="square"/>
                    <a:lstStyle/>
                    <a:p>
                      <a:r>
                        <a:rPr sz="1100" b="0">
                          <a:solidFill>
                            <a:srgbClr val="282828"/>
                          </a:solidFill>
                          <a:latin typeface="Arial"/>
                        </a:rPr>
                        <a:t>2.024</a:t>
                      </a:r>
                    </a:p>
                  </a:txBody>
                  <a:tcPr marL="54864" marR="54864" marT="18288" marB="18288">
                    <a:solidFill>
                      <a:srgbClr val="FFFFFF"/>
                    </a:solidFill>
                  </a:tcPr>
                </a:tc>
              </a:tr>
            </a:tbl>
          </a:graphicData>
        </a:graphic>
      </p:graphicFrame>
      <p:sp>
        <p:nvSpPr>
          <p:cNvPr id="5" name="TextBox 4"/>
          <p:cNvSpPr txBox="1"/>
          <p:nvPr/>
        </p:nvSpPr>
        <p:spPr>
          <a:xfrm>
            <a:off x="411480" y="3502152"/>
            <a:ext cx="5806440" cy="274320"/>
          </a:xfrm>
          <a:prstGeom prst="rect">
            <a:avLst/>
          </a:prstGeom>
          <a:noFill/>
        </p:spPr>
        <p:txBody>
          <a:bodyPr wrap="square">
            <a:spAutoFit/>
          </a:bodyPr>
          <a:lstStyle/>
          <a:p>
            <a:pPr>
              <a:spcAft>
                <a:spcPts val="600"/>
              </a:spcAft>
            </a:pPr>
            <a:r>
              <a:rPr sz="1200" b="0">
                <a:solidFill>
                  <a:srgbClr val="282828"/>
                </a:solidFill>
                <a:latin typeface="Arial"/>
              </a:rPr>
              <a:t>•  </a:t>
            </a:r>
            <a:r>
              <a:rPr sz="1200" b="1">
                <a:solidFill>
                  <a:srgbClr val="282828"/>
                </a:solidFill>
                <a:latin typeface="Arial"/>
              </a:rPr>
              <a:t>The chief angle is not the cause:</a:t>
            </a:r>
            <a:r>
              <a:rPr sz="1200" b="0">
                <a:solidFill>
                  <a:srgbClr val="282828"/>
                </a:solidFill>
                <a:latin typeface="Arial"/>
              </a:rPr>
              <a:t> keystone moves (the hook is live), smile does not, even at twice the angle.</a:t>
            </a:r>
          </a:p>
        </p:txBody>
      </p:sp>
      <p:graphicFrame>
        <p:nvGraphicFramePr>
          <p:cNvPr id="6" name="Table 5"/>
          <p:cNvGraphicFramePr>
            <a:graphicFrameLocks noGrp="1"/>
          </p:cNvGraphicFramePr>
          <p:nvPr/>
        </p:nvGraphicFramePr>
        <p:xfrm>
          <a:off x="6400800" y="1298448"/>
          <a:ext cx="5394959" cy="1577340"/>
        </p:xfrm>
        <a:graphic>
          <a:graphicData uri="http://schemas.openxmlformats.org/drawingml/2006/table">
            <a:tbl>
              <a:tblPr firstRow="1" bandRow="1">
                <a:tableStyleId>{5C22544A-7EE6-4342-B048-85BDC9FD1C3A}</a:tableStyleId>
              </a:tblPr>
              <a:tblGrid>
                <a:gridCol w="410464"/>
                <a:gridCol w="3073772"/>
                <a:gridCol w="1910723"/>
              </a:tblGrid>
              <a:tr h="262890">
                <a:tc>
                  <a:txBody>
                    <a:bodyPr wrap="square"/>
                    <a:lstStyle/>
                    <a:p>
                      <a:r>
                        <a:rPr sz="1000" b="1">
                          <a:solidFill>
                            <a:srgbClr val="FFFFFF"/>
                          </a:solidFill>
                          <a:latin typeface="Arial"/>
                        </a:rPr>
                        <a:t>rung</a:t>
                      </a:r>
                    </a:p>
                  </a:txBody>
                  <a:tcPr marL="54864" marR="54864" marT="18288" marB="18288">
                    <a:solidFill>
                      <a:srgbClr val="1F4E79"/>
                    </a:solidFill>
                  </a:tcPr>
                </a:tc>
                <a:tc>
                  <a:txBody>
                    <a:bodyPr wrap="square"/>
                    <a:lstStyle/>
                    <a:p>
                      <a:r>
                        <a:rPr sz="1000" b="1">
                          <a:solidFill>
                            <a:srgbClr val="FFFFFF"/>
                          </a:solidFill>
                          <a:latin typeface="Arial"/>
                        </a:rPr>
                        <a:t>predicted from the telescope's offset</a:t>
                      </a:r>
                    </a:p>
                  </a:txBody>
                  <a:tcPr marL="54864" marR="54864" marT="18288" marB="18288">
                    <a:solidFill>
                      <a:srgbClr val="1F4E79"/>
                    </a:solidFill>
                  </a:tcPr>
                </a:tc>
                <a:tc>
                  <a:txBody>
                    <a:bodyPr wrap="square"/>
                    <a:lstStyle/>
                    <a:p>
                      <a:r>
                        <a:rPr sz="1000" b="1">
                          <a:solidFill>
                            <a:srgbClr val="FFFFFF"/>
                          </a:solidFill>
                          <a:latin typeface="Arial"/>
                        </a:rPr>
                        <a:t>e2e smile, chief launch</a:t>
                      </a:r>
                    </a:p>
                  </a:txBody>
                  <a:tcPr marL="54864" marR="54864" marT="18288" marB="18288">
                    <a:solidFill>
                      <a:srgbClr val="1F4E79"/>
                    </a:solidFill>
                  </a:tcPr>
                </a:tc>
              </a:tr>
              <a:tr h="262890">
                <a:tc>
                  <a:txBody>
                    <a:bodyPr wrap="square"/>
                    <a:lstStyle/>
                    <a:p>
                      <a:r>
                        <a:rPr sz="1000" b="0">
                          <a:solidFill>
                            <a:srgbClr val="282828"/>
                          </a:solidFill>
                          <a:latin typeface="Arial"/>
                        </a:rPr>
                        <a:t>R4</a:t>
                      </a:r>
                    </a:p>
                  </a:txBody>
                  <a:tcPr marL="54864" marR="54864" marT="18288" marB="18288">
                    <a:solidFill>
                      <a:srgbClr val="FFFFFF"/>
                    </a:solidFill>
                  </a:tcPr>
                </a:tc>
                <a:tc>
                  <a:txBody>
                    <a:bodyPr wrap="square"/>
                    <a:lstStyle/>
                    <a:p>
                      <a:r>
                        <a:rPr sz="1000" b="0">
                          <a:solidFill>
                            <a:srgbClr val="282828"/>
                          </a:solidFill>
                          <a:latin typeface="Arial"/>
                        </a:rPr>
                        <a:t>0.655</a:t>
                      </a:r>
                    </a:p>
                  </a:txBody>
                  <a:tcPr marL="54864" marR="54864" marT="18288" marB="18288">
                    <a:solidFill>
                      <a:srgbClr val="FFFFFF"/>
                    </a:solidFill>
                  </a:tcPr>
                </a:tc>
                <a:tc>
                  <a:txBody>
                    <a:bodyPr wrap="square"/>
                    <a:lstStyle/>
                    <a:p>
                      <a:r>
                        <a:rPr sz="1000" b="0">
                          <a:solidFill>
                            <a:srgbClr val="282828"/>
                          </a:solidFill>
                          <a:latin typeface="Arial"/>
                        </a:rPr>
                        <a:t>0.732</a:t>
                      </a:r>
                    </a:p>
                  </a:txBody>
                  <a:tcPr marL="54864" marR="54864" marT="18288" marB="18288">
                    <a:solidFill>
                      <a:srgbClr val="FFFFFF"/>
                    </a:solidFill>
                  </a:tcPr>
                </a:tc>
              </a:tr>
              <a:tr h="262890">
                <a:tc>
                  <a:txBody>
                    <a:bodyPr wrap="square"/>
                    <a:lstStyle/>
                    <a:p>
                      <a:r>
                        <a:rPr sz="1000" b="0">
                          <a:solidFill>
                            <a:srgbClr val="282828"/>
                          </a:solidFill>
                          <a:latin typeface="Arial"/>
                        </a:rPr>
                        <a:t>R5</a:t>
                      </a:r>
                    </a:p>
                  </a:txBody>
                  <a:tcPr marL="54864" marR="54864" marT="18288" marB="18288">
                    <a:solidFill>
                      <a:srgbClr val="ECF1F6"/>
                    </a:solidFill>
                  </a:tcPr>
                </a:tc>
                <a:tc>
                  <a:txBody>
                    <a:bodyPr wrap="square"/>
                    <a:lstStyle/>
                    <a:p>
                      <a:r>
                        <a:rPr sz="1000" b="0">
                          <a:solidFill>
                            <a:srgbClr val="282828"/>
                          </a:solidFill>
                          <a:latin typeface="Arial"/>
                        </a:rPr>
                        <a:t>0.086</a:t>
                      </a:r>
                    </a:p>
                  </a:txBody>
                  <a:tcPr marL="54864" marR="54864" marT="18288" marB="18288">
                    <a:solidFill>
                      <a:srgbClr val="ECF1F6"/>
                    </a:solidFill>
                  </a:tcPr>
                </a:tc>
                <a:tc>
                  <a:txBody>
                    <a:bodyPr wrap="square"/>
                    <a:lstStyle/>
                    <a:p>
                      <a:r>
                        <a:rPr sz="1000" b="0">
                          <a:solidFill>
                            <a:srgbClr val="282828"/>
                          </a:solidFill>
                          <a:latin typeface="Arial"/>
                        </a:rPr>
                        <a:t>0.090</a:t>
                      </a:r>
                    </a:p>
                  </a:txBody>
                  <a:tcPr marL="54864" marR="54864" marT="18288" marB="18288">
                    <a:solidFill>
                      <a:srgbClr val="ECF1F6"/>
                    </a:solidFill>
                  </a:tcPr>
                </a:tc>
              </a:tr>
              <a:tr h="262890">
                <a:tc>
                  <a:txBody>
                    <a:bodyPr wrap="square"/>
                    <a:lstStyle/>
                    <a:p>
                      <a:r>
                        <a:rPr sz="1000" b="0">
                          <a:solidFill>
                            <a:srgbClr val="282828"/>
                          </a:solidFill>
                          <a:latin typeface="Arial"/>
                        </a:rPr>
                        <a:t>R6</a:t>
                      </a:r>
                    </a:p>
                  </a:txBody>
                  <a:tcPr marL="54864" marR="54864" marT="18288" marB="18288">
                    <a:solidFill>
                      <a:srgbClr val="FFFFFF"/>
                    </a:solidFill>
                  </a:tcPr>
                </a:tc>
                <a:tc>
                  <a:txBody>
                    <a:bodyPr wrap="square"/>
                    <a:lstStyle/>
                    <a:p>
                      <a:r>
                        <a:rPr sz="1000" b="0">
                          <a:solidFill>
                            <a:srgbClr val="282828"/>
                          </a:solidFill>
                          <a:latin typeface="Arial"/>
                        </a:rPr>
                        <a:t>0.122</a:t>
                      </a:r>
                    </a:p>
                  </a:txBody>
                  <a:tcPr marL="54864" marR="54864" marT="18288" marB="18288">
                    <a:solidFill>
                      <a:srgbClr val="FFFFFF"/>
                    </a:solidFill>
                  </a:tcPr>
                </a:tc>
                <a:tc>
                  <a:txBody>
                    <a:bodyPr wrap="square"/>
                    <a:lstStyle/>
                    <a:p>
                      <a:r>
                        <a:rPr sz="1000" b="0">
                          <a:solidFill>
                            <a:srgbClr val="282828"/>
                          </a:solidFill>
                          <a:latin typeface="Arial"/>
                        </a:rPr>
                        <a:t>0.149</a:t>
                      </a:r>
                    </a:p>
                  </a:txBody>
                  <a:tcPr marL="54864" marR="54864" marT="18288" marB="18288">
                    <a:solidFill>
                      <a:srgbClr val="FFFFFF"/>
                    </a:solidFill>
                  </a:tcPr>
                </a:tc>
              </a:tr>
              <a:tr h="262890">
                <a:tc>
                  <a:txBody>
                    <a:bodyPr wrap="square"/>
                    <a:lstStyle/>
                    <a:p>
                      <a:r>
                        <a:rPr sz="1000" b="0">
                          <a:solidFill>
                            <a:srgbClr val="282828"/>
                          </a:solidFill>
                          <a:latin typeface="Arial"/>
                        </a:rPr>
                        <a:t>R7</a:t>
                      </a:r>
                    </a:p>
                  </a:txBody>
                  <a:tcPr marL="54864" marR="54864" marT="18288" marB="18288">
                    <a:solidFill>
                      <a:srgbClr val="ECF1F6"/>
                    </a:solidFill>
                  </a:tcPr>
                </a:tc>
                <a:tc>
                  <a:txBody>
                    <a:bodyPr wrap="square"/>
                    <a:lstStyle/>
                    <a:p>
                      <a:r>
                        <a:rPr sz="1000" b="0">
                          <a:solidFill>
                            <a:srgbClr val="282828"/>
                          </a:solidFill>
                          <a:latin typeface="Arial"/>
                        </a:rPr>
                        <a:t>0.135</a:t>
                      </a:r>
                    </a:p>
                  </a:txBody>
                  <a:tcPr marL="54864" marR="54864" marT="18288" marB="18288">
                    <a:solidFill>
                      <a:srgbClr val="ECF1F6"/>
                    </a:solidFill>
                  </a:tcPr>
                </a:tc>
                <a:tc>
                  <a:txBody>
                    <a:bodyPr wrap="square"/>
                    <a:lstStyle/>
                    <a:p>
                      <a:r>
                        <a:rPr sz="1000" b="0">
                          <a:solidFill>
                            <a:srgbClr val="282828"/>
                          </a:solidFill>
                          <a:latin typeface="Arial"/>
                        </a:rPr>
                        <a:t>0.140</a:t>
                      </a:r>
                    </a:p>
                  </a:txBody>
                  <a:tcPr marL="54864" marR="54864" marT="18288" marB="18288">
                    <a:solidFill>
                      <a:srgbClr val="ECF1F6"/>
                    </a:solidFill>
                  </a:tcPr>
                </a:tc>
              </a:tr>
              <a:tr h="262890">
                <a:tc>
                  <a:txBody>
                    <a:bodyPr wrap="square"/>
                    <a:lstStyle/>
                    <a:p>
                      <a:r>
                        <a:rPr sz="1000" b="0">
                          <a:solidFill>
                            <a:srgbClr val="282828"/>
                          </a:solidFill>
                          <a:latin typeface="Arial"/>
                        </a:rPr>
                        <a:t>R8</a:t>
                      </a:r>
                    </a:p>
                  </a:txBody>
                  <a:tcPr marL="54864" marR="54864" marT="18288" marB="18288">
                    <a:solidFill>
                      <a:srgbClr val="FFFFFF"/>
                    </a:solidFill>
                  </a:tcPr>
                </a:tc>
                <a:tc>
                  <a:txBody>
                    <a:bodyPr wrap="square"/>
                    <a:lstStyle/>
                    <a:p>
                      <a:r>
                        <a:rPr sz="1000" b="0">
                          <a:solidFill>
                            <a:srgbClr val="282828"/>
                          </a:solidFill>
                          <a:latin typeface="Arial"/>
                        </a:rPr>
                        <a:t>0.133</a:t>
                      </a:r>
                    </a:p>
                  </a:txBody>
                  <a:tcPr marL="54864" marR="54864" marT="18288" marB="18288">
                    <a:solidFill>
                      <a:srgbClr val="FFFFFF"/>
                    </a:solidFill>
                  </a:tcPr>
                </a:tc>
                <a:tc>
                  <a:txBody>
                    <a:bodyPr wrap="square"/>
                    <a:lstStyle/>
                    <a:p>
                      <a:r>
                        <a:rPr sz="1000" b="0">
                          <a:solidFill>
                            <a:srgbClr val="282828"/>
                          </a:solidFill>
                          <a:latin typeface="Arial"/>
                        </a:rPr>
                        <a:t>0.138</a:t>
                      </a:r>
                    </a:p>
                  </a:txBody>
                  <a:tcPr marL="54864" marR="54864" marT="18288" marB="18288">
                    <a:solidFill>
                      <a:srgbClr val="FFFFFF"/>
                    </a:solidFill>
                  </a:tcPr>
                </a:tc>
              </a:tr>
            </a:tbl>
          </a:graphicData>
        </a:graphic>
      </p:graphicFrame>
      <p:sp>
        <p:nvSpPr>
          <p:cNvPr id="7" name="TextBox 6"/>
          <p:cNvSpPr txBox="1"/>
          <p:nvPr/>
        </p:nvSpPr>
        <p:spPr>
          <a:xfrm>
            <a:off x="6400800" y="3022091"/>
            <a:ext cx="5394960" cy="274320"/>
          </a:xfrm>
          <a:prstGeom prst="rect">
            <a:avLst/>
          </a:prstGeom>
          <a:noFill/>
        </p:spPr>
        <p:txBody>
          <a:bodyPr wrap="square">
            <a:spAutoFit/>
          </a:bodyPr>
          <a:lstStyle/>
          <a:p>
            <a:pPr>
              <a:spcAft>
                <a:spcPts val="600"/>
              </a:spcAft>
            </a:pPr>
            <a:r>
              <a:rPr sz="1200" b="0">
                <a:solidFill>
                  <a:srgbClr val="282828"/>
                </a:solidFill>
                <a:latin typeface="Arial"/>
              </a:rPr>
              <a:t>•  </a:t>
            </a:r>
            <a:r>
              <a:rPr sz="1200" b="1">
                <a:solidFill>
                  <a:srgbClr val="282828"/>
                </a:solidFill>
                <a:latin typeface="Arial"/>
              </a:rPr>
              <a:t>The offset predicts every rung:</a:t>
            </a:r>
            <a:r>
              <a:rPr sz="1200" b="0">
                <a:solidFill>
                  <a:srgbClr val="282828"/>
                </a:solidFill>
                <a:latin typeface="Arial"/>
              </a:rPr>
              <a:t> on R7 the chief sits 0 / 0.2 / 0.7 / 1.4 / 2.4 µm from the centroid across the slit at 0 / 1.2 / 2.4 / 3.5 / 4.7°; the spread of that offset is the e2e smile.</a:t>
            </a:r>
          </a:p>
          <a:p>
            <a:pPr>
              <a:spcAft>
                <a:spcPts val="600"/>
              </a:spcAft>
            </a:pPr>
            <a:r>
              <a:rPr sz="1200" b="0">
                <a:solidFill>
                  <a:srgbClr val="282828"/>
                </a:solidFill>
                <a:latin typeface="Arial"/>
              </a:rPr>
              <a:t>•  </a:t>
            </a:r>
            <a:r>
              <a:rPr sz="1200" b="1">
                <a:solidFill>
                  <a:srgbClr val="282828"/>
                </a:solidFill>
                <a:latin typeface="Arial"/>
              </a:rPr>
              <a:t>Two conventions, both reported.</a:t>
            </a:r>
            <a:r>
              <a:rPr sz="1200" b="0">
                <a:solidFill>
                  <a:srgbClr val="282828"/>
                </a:solidFill>
                <a:latin typeface="Arial"/>
              </a:rPr>
              <a:t>  Slit-filled (the paper's: its telescope-fed smile equals its spectrometer-alone smile): each field's centroid on the slit line — the spectrometer's smile, 0.022 px.  Point-source: the chief on the slit line — where a star's spectrum lands, 0.016 px on R9 (0.14 on R7).  R9's row on the offset closed the second without touching the first.</a:t>
            </a:r>
          </a:p>
        </p:txBody>
      </p:sp>
      <p:sp>
        <p:nvSpPr>
          <p:cNvPr id="8" name="TextBox 7"/>
          <p:cNvSpPr txBox="1"/>
          <p:nvPr/>
        </p:nvSpPr>
        <p:spPr>
          <a:xfrm>
            <a:off x="6400800" y="5122164"/>
            <a:ext cx="5394960" cy="274320"/>
          </a:xfrm>
          <a:prstGeom prst="rect">
            <a:avLst/>
          </a:prstGeom>
          <a:noFill/>
        </p:spPr>
        <p:txBody>
          <a:bodyPr wrap="square">
            <a:spAutoFit/>
          </a:bodyPr>
          <a:lstStyle/>
          <a:p>
            <a:pPr>
              <a:spcAft>
                <a:spcPts val="600"/>
              </a:spcAft>
            </a:pPr>
            <a:r>
              <a:rPr sz="1050" b="0">
                <a:solidFill>
                  <a:srgbClr val="6E6E6E"/>
                </a:solidFill>
                <a:latin typeface="Arial"/>
              </a:rPr>
              <a:t>Diagnostic tls_dyson_chief_tilt (the spectrometer alone, the launch tilted per field); the join scorer dyson5_t5f now carries both launches (tel5f_launch chief | centroid), the record's rows reproduce under the first.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The cone, the spec and the paper's beam</a:t>
            </a:r>
          </a:p>
          <a:p>
            <a:pPr>
              <a:spcAft>
                <a:spcPts val="0"/>
              </a:spcAft>
            </a:pPr>
            <a:r>
              <a:rPr sz="1250" b="0">
                <a:solidFill>
                  <a:srgbClr val="6E6E6E"/>
                </a:solidFill>
                <a:latin typeface="Arial"/>
              </a:rPr>
              <a:t>The marginal rays leave the telescope between F/1.80 and F/1.89 in the two directions, none below F/1.7; the along-slit F/1.89 is Joe's own aperture at Joe's focal length</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298448"/>
            <a:ext cx="5806440" cy="274320"/>
          </a:xfrm>
          <a:prstGeom prst="rect">
            <a:avLst/>
          </a:prstGeom>
          <a:noFill/>
        </p:spPr>
        <p:txBody>
          <a:bodyPr wrap="square">
            <a:spAutoFit/>
          </a:bodyPr>
          <a:lstStyle/>
          <a:p>
            <a:pPr>
              <a:spcAft>
                <a:spcPts val="600"/>
              </a:spcAft>
            </a:pPr>
            <a:r>
              <a:rPr sz="1200" b="0">
                <a:solidFill>
                  <a:srgbClr val="282828"/>
                </a:solidFill>
                <a:latin typeface="Arial"/>
              </a:rPr>
              <a:t>•  </a:t>
            </a:r>
            <a:r>
              <a:rPr sz="1200" b="1">
                <a:solidFill>
                  <a:srgbClr val="282828"/>
                </a:solidFill>
                <a:latin typeface="Arial"/>
              </a:rPr>
              <a:t>Why it is a row:</a:t>
            </a:r>
            <a:r>
              <a:rPr sz="1200" b="0">
                <a:solidFill>
                  <a:srgbClr val="282828"/>
                </a:solidFill>
                <a:latin typeface="Arial"/>
              </a:rPr>
              <a:t> the last deck's 3k solve let its marginal rays run to F/1.19 into an F/1.8 spectrometer; the grating, sized for F/1.8, passed 95–98 % of the light, and nothing in the merit knew.  Jim: "I don't see why some rays correspond to an f/1.2 cone."  The paper constrains the F/# anamorphicity.</a:t>
            </a:r>
          </a:p>
          <a:p>
            <a:pPr>
              <a:spcAft>
                <a:spcPts val="600"/>
              </a:spcAft>
            </a:pPr>
            <a:r>
              <a:rPr sz="1200" b="0">
                <a:solidFill>
                  <a:srgbClr val="282828"/>
                </a:solidFill>
                <a:latin typeface="Arial"/>
              </a:rPr>
              <a:t>•  </a:t>
            </a:r>
            <a:r>
              <a:rPr sz="1200" b="1">
                <a:solidFill>
                  <a:srgbClr val="282828"/>
                </a:solidFill>
                <a:latin typeface="Arial"/>
              </a:rPr>
              <a:t>The row:</a:t>
            </a:r>
            <a:r>
              <a:rPr sz="1200" b="0">
                <a:solidFill>
                  <a:srgbClr val="282828"/>
                </a:solidFill>
                <a:latin typeface="Arial"/>
              </a:rPr>
              <a:t> a hinge on the working F/# of the marginal rays at the slit, along and across, outside [1.7, 1.8], in every rung.  R9: F/1.889–1.894 along the slit, F/1.797–1.806 across; the grating admits 98.9 % at every field.</a:t>
            </a:r>
          </a:p>
        </p:txBody>
      </p:sp>
      <p:sp>
        <p:nvSpPr>
          <p:cNvPr id="5" name="TextBox 4"/>
          <p:cNvSpPr txBox="1"/>
          <p:nvPr/>
        </p:nvSpPr>
        <p:spPr>
          <a:xfrm>
            <a:off x="6400800" y="1298448"/>
            <a:ext cx="5394960" cy="274320"/>
          </a:xfrm>
          <a:prstGeom prst="rect">
            <a:avLst/>
          </a:prstGeom>
          <a:noFill/>
        </p:spPr>
        <p:txBody>
          <a:bodyPr wrap="square">
            <a:spAutoFit/>
          </a:bodyPr>
          <a:lstStyle/>
          <a:p>
            <a:pPr>
              <a:spcAft>
                <a:spcPts val="600"/>
              </a:spcAft>
            </a:pPr>
            <a:r>
              <a:rPr sz="1200" b="0">
                <a:solidFill>
                  <a:srgbClr val="282828"/>
                </a:solidFill>
                <a:latin typeface="Arial"/>
              </a:rPr>
              <a:t>•  </a:t>
            </a:r>
            <a:r>
              <a:rPr sz="1200" b="1">
                <a:solidFill>
                  <a:srgbClr val="282828"/>
                </a:solidFill>
                <a:latin typeface="Arial"/>
              </a:rPr>
              <a:t>Along the slit it sits above 1.8, and that is the specification:</a:t>
            </a:r>
            <a:r>
              <a:rPr sz="1200" b="0">
                <a:solidFill>
                  <a:srgbClr val="282828"/>
                </a:solidFill>
                <a:latin typeface="Arial"/>
              </a:rPr>
              <a:t> D 183 mm at f 330 mm is F/1.803; a cone a little faster than the spectrometer's — Jim's "a little faster" — needs a larger entrance beam, the paper's 192 mm.  A spec question for Jim and Joe, not a solve question; the telescope holds Joe's numbers.</a:t>
            </a:r>
          </a:p>
          <a:p>
            <a:pPr>
              <a:spcAft>
                <a:spcPts val="600"/>
              </a:spcAft>
            </a:pPr>
            <a:r>
              <a:rPr sz="1200" b="0">
                <a:solidFill>
                  <a:srgbClr val="282828"/>
                </a:solidFill>
                <a:latin typeface="Arial"/>
              </a:rPr>
              <a:t>•  </a:t>
            </a:r>
            <a:r>
              <a:rPr sz="1200" b="1">
                <a:solidFill>
                  <a:srgbClr val="282828"/>
                </a:solidFill>
                <a:latin typeface="Arial"/>
              </a:rPr>
              <a:t>Across the slit</a:t>
            </a:r>
            <a:r>
              <a:rPr sz="1200" b="0">
                <a:solidFill>
                  <a:srgbClr val="282828"/>
                </a:solidFill>
                <a:latin typeface="Arial"/>
              </a:rPr>
              <a:t> the cone is F/1.80: the slit truncates the image in that direction, and the across-slit FWHM (the paper's ARF) is 1.02 px against its 2.8 px bound.</a:t>
            </a:r>
          </a:p>
        </p:txBody>
      </p:sp>
      <p:sp>
        <p:nvSpPr>
          <p:cNvPr id="6" name="TextBox 5"/>
          <p:cNvSpPr txBox="1"/>
          <p:nvPr/>
        </p:nvSpPr>
        <p:spPr>
          <a:xfrm>
            <a:off x="6400800" y="3200399"/>
            <a:ext cx="5394960" cy="274320"/>
          </a:xfrm>
          <a:prstGeom prst="rect">
            <a:avLst/>
          </a:prstGeom>
          <a:noFill/>
        </p:spPr>
        <p:txBody>
          <a:bodyPr wrap="square">
            <a:spAutoFit/>
          </a:bodyPr>
          <a:lstStyle/>
          <a:p>
            <a:pPr>
              <a:spcAft>
                <a:spcPts val="600"/>
              </a:spcAft>
            </a:pPr>
            <a:r>
              <a:rPr sz="1050" b="0">
                <a:solidFill>
                  <a:srgbClr val="6E6E6E"/>
                </a:solidFill>
                <a:latin typeface="Arial"/>
              </a:rPr>
              <a:t>REPORT_dyson5_cprime.md, R9 per-field table; F/# from the marginal rays as 1/(2 sin u).</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The spectrometer: at the slit floor; what is left</a:t>
            </a:r>
          </a:p>
          <a:p>
            <a:pPr>
              <a:spcAft>
                <a:spcPts val="0"/>
              </a:spcAft>
            </a:pPr>
            <a:r>
              <a:rPr sz="1250" b="0">
                <a:solidFill>
                  <a:srgbClr val="6E6E6E"/>
                </a:solidFill>
                <a:latin typeface="Arial"/>
              </a:rPr>
              <a:t>SRF 2.025 px is the two-pixel slit's 2.000 plus 0.45 µm of blur, and in the paper's units it is 36.5 µm against 64.8; the open spectrometer work is tolerances, the aspheric-lens form, and throughput by band</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298448"/>
            <a:ext cx="5806440" cy="274320"/>
          </a:xfrm>
          <a:prstGeom prst="rect">
            <a:avLst/>
          </a:prstGeom>
          <a:noFill/>
        </p:spPr>
        <p:txBody>
          <a:bodyPr wrap="square">
            <a:spAutoFit/>
          </a:bodyPr>
          <a:lstStyle/>
          <a:p>
            <a:pPr>
              <a:spcAft>
                <a:spcPts val="600"/>
              </a:spcAft>
            </a:pPr>
            <a:r>
              <a:rPr sz="1200" b="0">
                <a:solidFill>
                  <a:srgbClr val="282828"/>
                </a:solidFill>
                <a:latin typeface="Arial"/>
              </a:rPr>
              <a:t>•  </a:t>
            </a:r>
            <a:r>
              <a:rPr sz="1200" b="1">
                <a:solidFill>
                  <a:srgbClr val="282828"/>
                </a:solidFill>
                <a:latin typeface="Arial"/>
              </a:rPr>
              <a:t>SRF is not a miss.</a:t>
            </a:r>
            <a:r>
              <a:rPr sz="1200" b="0">
                <a:solidFill>
                  <a:srgbClr val="282828"/>
                </a:solidFill>
                <a:latin typeface="Arial"/>
              </a:rPr>
              <a:t>  The scorer's SRF is slit ⊗ LSF ⊗ pixel ⊗ Airy; with a 2-pixel slit a perfect spectrometer gives exactly 2.000 px.  The Dyson of record gives 2.024 alone and 2.025 behind the telescope: 0.45 µm of blur.  Joe's "1.5–2.0" is met at its floor; 1.5 would need a narrower slit, not a better spectrometer.  In the paper's co-added pixels our SRF is 1.01 against its 1.33 design and 1.8 requirement; our CRF 21 µm against its 50.</a:t>
            </a:r>
          </a:p>
          <a:p>
            <a:pPr>
              <a:spcAft>
                <a:spcPts val="600"/>
              </a:spcAft>
            </a:pPr>
            <a:r>
              <a:rPr sz="1200" b="0">
                <a:solidFill>
                  <a:srgbClr val="282828"/>
                </a:solidFill>
                <a:latin typeface="Arial"/>
              </a:rPr>
              <a:t>•  </a:t>
            </a:r>
            <a:r>
              <a:rPr sz="1200" b="1">
                <a:solidFill>
                  <a:srgbClr val="282828"/>
                </a:solidFill>
                <a:latin typeface="Arial"/>
              </a:rPr>
              <a:t>The spectrometer of record for 3k</a:t>
            </a:r>
            <a:r>
              <a:rPr sz="1200" b="0">
                <a:solidFill>
                  <a:srgbClr val="282828"/>
                </a:solidFill>
                <a:latin typeface="Arial"/>
              </a:rPr>
              <a:t> stands: 240 mm </a:t>
            </a:r>
            <a:r>
              <a:rPr sz="1200" b="0">
                <a:solidFill>
                  <a:srgbClr val="282828"/>
                </a:solidFill>
                <a:latin typeface="Arial"/>
              </a:rPr>
              <a:t>CaF</a:t>
            </a:r>
            <a:r>
              <a:rPr sz="1200" b="0" baseline="-25000">
                <a:solidFill>
                  <a:srgbClr val="282828"/>
                </a:solidFill>
                <a:latin typeface="Arial"/>
              </a:rPr>
              <a:t>2</a:t>
            </a:r>
            <a:r>
              <a:rPr sz="1200" b="0">
                <a:solidFill>
                  <a:srgbClr val="282828"/>
                </a:solidFill>
                <a:latin typeface="Arial"/>
              </a:rPr>
              <a:t>, spherical lens face and spherical grating, no meniscus; smile 0.005, keystone 0.006, CRF 1.21, 0.82 of the energy in a pixel; 4.5 L, 14.3 kg; the slit's package clears the block face by 0.54 mm.</a:t>
            </a:r>
          </a:p>
        </p:txBody>
      </p:sp>
      <p:sp>
        <p:nvSpPr>
          <p:cNvPr id="5" name="TextBox 4"/>
          <p:cNvSpPr txBox="1"/>
          <p:nvPr/>
        </p:nvSpPr>
        <p:spPr>
          <a:xfrm>
            <a:off x="6400800" y="1298448"/>
            <a:ext cx="5394960" cy="274320"/>
          </a:xfrm>
          <a:prstGeom prst="rect">
            <a:avLst/>
          </a:prstGeom>
          <a:noFill/>
        </p:spPr>
        <p:txBody>
          <a:bodyPr wrap="square">
            <a:spAutoFit/>
          </a:bodyPr>
          <a:lstStyle/>
          <a:p>
            <a:pPr>
              <a:spcAft>
                <a:spcPts val="600"/>
              </a:spcAft>
            </a:pPr>
            <a:r>
              <a:rPr sz="1200" b="0">
                <a:solidFill>
                  <a:srgbClr val="282828"/>
                </a:solidFill>
                <a:latin typeface="Arial"/>
              </a:rPr>
              <a:t>•  </a:t>
            </a:r>
            <a:r>
              <a:rPr sz="1200" b="1">
                <a:solidFill>
                  <a:srgbClr val="282828"/>
                </a:solidFill>
                <a:latin typeface="Arial"/>
              </a:rPr>
              <a:t>Tolerances, first.</a:t>
            </a:r>
            <a:r>
              <a:rPr sz="1200" b="0">
                <a:solidFill>
                  <a:srgbClr val="282828"/>
                </a:solidFill>
                <a:latin typeface="Arial"/>
              </a:rPr>
              <a:t>  Nothing on either module is toleranced, and the paper chose both its forms for tolerance insensitivity (its spherical-grating option lost on exactly that: smile 0.3 % designed, 3.5 % as built).  Next: a sensitivity ladder on both Dysons — lens and grating decenter, tilt, radius, index (the thermal soak), grating period and clocking, slit and detector position — scored alone and through the join with R9, each with its compensator, summed to a budget against the paper's as-built margins.</a:t>
            </a:r>
          </a:p>
          <a:p>
            <a:pPr>
              <a:spcAft>
                <a:spcPts val="600"/>
              </a:spcAft>
            </a:pPr>
            <a:r>
              <a:rPr sz="1200" b="0">
                <a:solidFill>
                  <a:srgbClr val="282828"/>
                </a:solidFill>
                <a:latin typeface="Arial"/>
              </a:rPr>
              <a:t>•  </a:t>
            </a:r>
            <a:r>
              <a:rPr sz="1200" b="1">
                <a:solidFill>
                  <a:srgbClr val="282828"/>
                </a:solidFill>
                <a:latin typeface="Arial"/>
              </a:rPr>
              <a:t>Then the paper's form for margin:</a:t>
            </a:r>
            <a:r>
              <a:rPr sz="1200" b="0">
                <a:solidFill>
                  <a:srgbClr val="282828"/>
                </a:solidFill>
                <a:latin typeface="Arial"/>
              </a:rPr>
              <a:t> an aspheric </a:t>
            </a:r>
            <a:r>
              <a:rPr sz="1200" b="0">
                <a:solidFill>
                  <a:srgbClr val="282828"/>
                </a:solidFill>
                <a:latin typeface="Arial"/>
              </a:rPr>
              <a:t>CaF</a:t>
            </a:r>
            <a:r>
              <a:rPr sz="1200" b="0" baseline="-25000">
                <a:solidFill>
                  <a:srgbClr val="282828"/>
                </a:solidFill>
                <a:latin typeface="Arial"/>
              </a:rPr>
              <a:t>2</a:t>
            </a:r>
            <a:r>
              <a:rPr sz="1200" b="0">
                <a:solidFill>
                  <a:srgbClr val="282828"/>
                </a:solidFill>
                <a:latin typeface="Arial"/>
              </a:rPr>
              <a:t> lens with a conic grating (their Option B) on our 3k geometry, nominal and its own ladder — the claim to test is insensitivity, not nominal performance.</a:t>
            </a:r>
          </a:p>
          <a:p>
            <a:pPr>
              <a:spcAft>
                <a:spcPts val="600"/>
              </a:spcAft>
            </a:pPr>
            <a:r>
              <a:rPr sz="1200" b="0">
                <a:solidFill>
                  <a:srgbClr val="282828"/>
                </a:solidFill>
                <a:latin typeface="Arial"/>
              </a:rPr>
              <a:t>•  </a:t>
            </a:r>
            <a:r>
              <a:rPr sz="1200" b="1">
                <a:solidFill>
                  <a:srgbClr val="282828"/>
                </a:solidFill>
                <a:latin typeface="Arial"/>
              </a:rPr>
              <a:t>Throughput by band:</a:t>
            </a:r>
            <a:r>
              <a:rPr sz="1200" b="0">
                <a:solidFill>
                  <a:srgbClr val="282828"/>
                </a:solidFill>
                <a:latin typeface="Arial"/>
              </a:rPr>
              <a:t> six crossings uncoated (0.81), a single- and a two-layer AR optimized for 2.0–2.5 µm, the blaze; per band, both modules.</a:t>
            </a:r>
          </a:p>
        </p:txBody>
      </p:sp>
      <p:sp>
        <p:nvSpPr>
          <p:cNvPr id="6" name="TextBox 5"/>
          <p:cNvSpPr txBox="1"/>
          <p:nvPr/>
        </p:nvSpPr>
        <p:spPr>
          <a:xfrm>
            <a:off x="6400800" y="4529328"/>
            <a:ext cx="5394960" cy="274320"/>
          </a:xfrm>
          <a:prstGeom prst="rect">
            <a:avLst/>
          </a:prstGeom>
          <a:noFill/>
        </p:spPr>
        <p:txBody>
          <a:bodyPr wrap="square">
            <a:spAutoFit/>
          </a:bodyPr>
          <a:lstStyle/>
          <a:p>
            <a:pPr>
              <a:spcAft>
                <a:spcPts val="600"/>
              </a:spcAft>
            </a:pPr>
            <a:r>
              <a:rPr sz="1050" b="0">
                <a:solidFill>
                  <a:srgbClr val="6E6E6E"/>
                </a:solidFill>
                <a:latin typeface="Arial"/>
              </a:rPr>
              <a:t>BRIEF_to_dyson5.md addendum 49 (in progress).  Energy in a pixel 0.82 alone is the one spectrometer number with room; the paper's Option B is where it would come from.</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Two of 3k or four of 1.5k, updated</a:t>
            </a:r>
          </a:p>
          <a:p>
            <a:pPr>
              <a:spcAft>
                <a:spcPts val="0"/>
              </a:spcAft>
            </a:pPr>
            <a:r>
              <a:rPr sz="1250" b="0">
                <a:solidFill>
                  <a:srgbClr val="6E6E6E"/>
                </a:solidFill>
                <a:latin typeface="Arial"/>
              </a:rPr>
              <a:t>Both modules now image at the pixel end to end; the trade is labor, detectors and integration, not optics or glass — and Jim's and the paper's answer is two</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411480" y="1298448"/>
          <a:ext cx="11368734" cy="3737610"/>
        </p:xfrm>
        <a:graphic>
          <a:graphicData uri="http://schemas.openxmlformats.org/drawingml/2006/table">
            <a:tbl>
              <a:tblPr firstRow="1" bandRow="1">
                <a:tableStyleId>{5C22544A-7EE6-4342-B048-85BDC9FD1C3A}</a:tableStyleId>
              </a:tblPr>
              <a:tblGrid>
                <a:gridCol w="3904414"/>
                <a:gridCol w="3789578"/>
                <a:gridCol w="3674742"/>
              </a:tblGrid>
              <a:tr h="280035">
                <a:tc>
                  <a:txBody>
                    <a:bodyPr wrap="square"/>
                    <a:lstStyle/>
                    <a:p/>
                  </a:txBody>
                  <a:tcPr marL="54864" marR="54864" marT="18288" marB="18288">
                    <a:solidFill>
                      <a:srgbClr val="1F4E79"/>
                    </a:solidFill>
                  </a:tcPr>
                </a:tc>
                <a:tc>
                  <a:txBody>
                    <a:bodyPr wrap="square"/>
                    <a:lstStyle/>
                    <a:p>
                      <a:r>
                        <a:rPr sz="1100" b="1">
                          <a:solidFill>
                            <a:srgbClr val="FFFFFF"/>
                          </a:solidFill>
                          <a:latin typeface="Arial"/>
                        </a:rPr>
                        <a:t>2 × </a:t>
                      </a:r>
                      <a:r>
                        <a:rPr sz="1100" b="1">
                          <a:solidFill>
                            <a:srgbClr val="FFFFFF"/>
                          </a:solidFill>
                          <a:latin typeface="Arial"/>
                        </a:rPr>
                        <a:t>CaF</a:t>
                      </a:r>
                      <a:r>
                        <a:rPr sz="1100" b="1" baseline="-25000">
                          <a:solidFill>
                            <a:srgbClr val="FFFFFF"/>
                          </a:solidFill>
                          <a:latin typeface="Arial"/>
                        </a:rPr>
                        <a:t>2</a:t>
                      </a:r>
                      <a:r>
                        <a:rPr sz="1100" b="1">
                          <a:solidFill>
                            <a:srgbClr val="FFFFFF"/>
                          </a:solidFill>
                          <a:latin typeface="Arial"/>
                        </a:rPr>
                        <a:t>, 3k, 54 mm slit</a:t>
                      </a:r>
                    </a:p>
                  </a:txBody>
                  <a:tcPr marL="54864" marR="54864" marT="18288" marB="18288">
                    <a:solidFill>
                      <a:srgbClr val="1F4E79"/>
                    </a:solidFill>
                  </a:tcPr>
                </a:tc>
                <a:tc>
                  <a:txBody>
                    <a:bodyPr wrap="square"/>
                    <a:lstStyle/>
                    <a:p>
                      <a:r>
                        <a:rPr sz="1100" b="1">
                          <a:solidFill>
                            <a:srgbClr val="FFFFFF"/>
                          </a:solidFill>
                          <a:latin typeface="Arial"/>
                        </a:rPr>
                        <a:t>4 × fused silica, 1.5k, 27 mm slit</a:t>
                      </a:r>
                    </a:p>
                  </a:txBody>
                  <a:tcPr marL="54864" marR="54864" marT="18288" marB="18288">
                    <a:solidFill>
                      <a:srgbClr val="1F4E79"/>
                    </a:solidFill>
                  </a:tcPr>
                </a:tc>
              </a:tr>
              <a:tr h="280035">
                <a:tc>
                  <a:txBody>
                    <a:bodyPr wrap="square"/>
                    <a:lstStyle/>
                    <a:p>
                      <a:r>
                        <a:rPr sz="1100" b="0">
                          <a:solidFill>
                            <a:srgbClr val="282828"/>
                          </a:solidFill>
                          <a:latin typeface="Arial"/>
                        </a:rPr>
                        <a:t>block radius = thickness</a:t>
                      </a:r>
                    </a:p>
                  </a:txBody>
                  <a:tcPr marL="54864" marR="54864" marT="18288" marB="18288">
                    <a:solidFill>
                      <a:srgbClr val="FFFFFF"/>
                    </a:solidFill>
                  </a:tcPr>
                </a:tc>
                <a:tc>
                  <a:txBody>
                    <a:bodyPr wrap="square"/>
                    <a:lstStyle/>
                    <a:p>
                      <a:r>
                        <a:rPr sz="1100" b="0">
                          <a:solidFill>
                            <a:srgbClr val="282828"/>
                          </a:solidFill>
                          <a:latin typeface="Arial"/>
                        </a:rPr>
                        <a:t>240 mm</a:t>
                      </a:r>
                    </a:p>
                  </a:txBody>
                  <a:tcPr marL="54864" marR="54864" marT="18288" marB="18288">
                    <a:solidFill>
                      <a:srgbClr val="FFFFFF"/>
                    </a:solidFill>
                  </a:tcPr>
                </a:tc>
                <a:tc>
                  <a:txBody>
                    <a:bodyPr wrap="square"/>
                    <a:lstStyle/>
                    <a:p>
                      <a:r>
                        <a:rPr sz="1100" b="0">
                          <a:solidFill>
                            <a:srgbClr val="282828"/>
                          </a:solidFill>
                          <a:latin typeface="Arial"/>
                        </a:rPr>
                        <a:t>130 mm</a:t>
                      </a:r>
                    </a:p>
                  </a:txBody>
                  <a:tcPr marL="54864" marR="54864" marT="18288" marB="18288">
                    <a:solidFill>
                      <a:srgbClr val="FFFFFF"/>
                    </a:solidFill>
                  </a:tcPr>
                </a:tc>
              </a:tr>
              <a:tr h="468630">
                <a:tc>
                  <a:txBody>
                    <a:bodyPr wrap="square"/>
                    <a:lstStyle/>
                    <a:p>
                      <a:r>
                        <a:rPr sz="1100" b="0">
                          <a:solidFill>
                            <a:srgbClr val="282828"/>
                          </a:solidFill>
                          <a:latin typeface="Arial"/>
                        </a:rPr>
                        <a:t>spectrometer alone: smile / keystone / CRF / SRF / energy in a pixel</a:t>
                      </a:r>
                    </a:p>
                  </a:txBody>
                  <a:tcPr marL="54864" marR="54864" marT="18288" marB="18288">
                    <a:solidFill>
                      <a:srgbClr val="ECF1F6"/>
                    </a:solidFill>
                  </a:tcPr>
                </a:tc>
                <a:tc>
                  <a:txBody>
                    <a:bodyPr wrap="square"/>
                    <a:lstStyle/>
                    <a:p>
                      <a:r>
                        <a:rPr sz="1100" b="0">
                          <a:solidFill>
                            <a:srgbClr val="282828"/>
                          </a:solidFill>
                          <a:latin typeface="Arial"/>
                        </a:rPr>
                        <a:t>0.005 / 0.006 / 1.21 / 2.02 px / 0.82</a:t>
                      </a:r>
                    </a:p>
                  </a:txBody>
                  <a:tcPr marL="54864" marR="54864" marT="18288" marB="18288">
                    <a:solidFill>
                      <a:srgbClr val="ECF1F6"/>
                    </a:solidFill>
                  </a:tcPr>
                </a:tc>
                <a:tc>
                  <a:txBody>
                    <a:bodyPr wrap="square"/>
                    <a:lstStyle/>
                    <a:p>
                      <a:r>
                        <a:rPr sz="1100" b="0">
                          <a:solidFill>
                            <a:srgbClr val="282828"/>
                          </a:solidFill>
                          <a:latin typeface="Arial"/>
                        </a:rPr>
                        <a:t>0.007 / 0.009 / 1.03 / 2.02 px / 1.00</a:t>
                      </a:r>
                    </a:p>
                  </a:txBody>
                  <a:tcPr marL="54864" marR="54864" marT="18288" marB="18288">
                    <a:solidFill>
                      <a:srgbClr val="ECF1F6"/>
                    </a:solidFill>
                  </a:tcPr>
                </a:tc>
              </a:tr>
              <a:tr h="468630">
                <a:tc>
                  <a:txBody>
                    <a:bodyPr wrap="square"/>
                    <a:lstStyle/>
                    <a:p>
                      <a:r>
                        <a:rPr sz="1100" b="0">
                          <a:solidFill>
                            <a:srgbClr val="282828"/>
                          </a:solidFill>
                          <a:latin typeface="Arial"/>
                        </a:rPr>
                        <a:t>telescope</a:t>
                      </a:r>
                    </a:p>
                  </a:txBody>
                  <a:tcPr marL="54864" marR="54864" marT="18288" marB="18288">
                    <a:solidFill>
                      <a:srgbClr val="FFFFFF"/>
                    </a:solidFill>
                  </a:tcPr>
                </a:tc>
                <a:tc>
                  <a:txBody>
                    <a:bodyPr wrap="square"/>
                    <a:lstStyle/>
                    <a:p>
                      <a:r>
                        <a:rPr sz="1100" b="0">
                          <a:solidFill>
                            <a:srgbClr val="282828"/>
                          </a:solidFill>
                          <a:latin typeface="Arial"/>
                        </a:rPr>
                        <a:t>freeform three-mirror of the SBG form (R9): 1.02 px at every field</a:t>
                      </a:r>
                    </a:p>
                  </a:txBody>
                  <a:tcPr marL="54864" marR="54864" marT="18288" marB="18288">
                    <a:solidFill>
                      <a:srgbClr val="FFFFFF"/>
                    </a:solidFill>
                  </a:tcPr>
                </a:tc>
                <a:tc>
                  <a:txBody>
                    <a:bodyPr wrap="square"/>
                    <a:lstStyle/>
                    <a:p>
                      <a:r>
                        <a:rPr sz="1100" b="0">
                          <a:solidFill>
                            <a:srgbClr val="282828"/>
                          </a:solidFill>
                          <a:latin typeface="Arial"/>
                        </a:rPr>
                        <a:t>three off-axis aspheres: 0.4 px center, 0.8 px at the strip ends</a:t>
                      </a:r>
                    </a:p>
                  </a:txBody>
                  <a:tcPr marL="54864" marR="54864" marT="18288" marB="18288">
                    <a:solidFill>
                      <a:srgbClr val="FFFFFF"/>
                    </a:solidFill>
                  </a:tcPr>
                </a:tc>
              </a:tr>
              <a:tr h="280035">
                <a:tc>
                  <a:txBody>
                    <a:bodyPr wrap="square"/>
                    <a:lstStyle/>
                    <a:p>
                      <a:r>
                        <a:rPr sz="1100" b="0">
                          <a:solidFill>
                            <a:srgbClr val="282828"/>
                          </a:solidFill>
                          <a:latin typeface="Arial"/>
                        </a:rPr>
                        <a:t>end to end: smile / keystone / CRF / SRF</a:t>
                      </a:r>
                    </a:p>
                  </a:txBody>
                  <a:tcPr marL="54864" marR="54864" marT="18288" marB="18288">
                    <a:solidFill>
                      <a:srgbClr val="ECF1F6"/>
                    </a:solidFill>
                  </a:tcPr>
                </a:tc>
                <a:tc>
                  <a:txBody>
                    <a:bodyPr wrap="square"/>
                    <a:lstStyle/>
                    <a:p>
                      <a:r>
                        <a:rPr sz="1100" b="0">
                          <a:solidFill>
                            <a:srgbClr val="282828"/>
                          </a:solidFill>
                          <a:latin typeface="Arial"/>
                        </a:rPr>
                        <a:t>0.02 / 0.006 / 1.17 / 2.025 px</a:t>
                      </a:r>
                    </a:p>
                  </a:txBody>
                  <a:tcPr marL="54864" marR="54864" marT="18288" marB="18288">
                    <a:solidFill>
                      <a:srgbClr val="ECF1F6"/>
                    </a:solidFill>
                  </a:tcPr>
                </a:tc>
                <a:tc>
                  <a:txBody>
                    <a:bodyPr wrap="square"/>
                    <a:lstStyle/>
                    <a:p>
                      <a:r>
                        <a:rPr sz="1100" b="0">
                          <a:solidFill>
                            <a:srgbClr val="282828"/>
                          </a:solidFill>
                          <a:latin typeface="Arial"/>
                        </a:rPr>
                        <a:t>0.50 / 0.01 / 1.22 / 2.20 px</a:t>
                      </a:r>
                    </a:p>
                  </a:txBody>
                  <a:tcPr marL="54864" marR="54864" marT="18288" marB="18288">
                    <a:solidFill>
                      <a:srgbClr val="ECF1F6"/>
                    </a:solidFill>
                  </a:tcPr>
                </a:tc>
              </a:tr>
              <a:tr h="280035">
                <a:tc>
                  <a:txBody>
                    <a:bodyPr wrap="square"/>
                    <a:lstStyle/>
                    <a:p>
                      <a:r>
                        <a:rPr sz="1100" b="0">
                          <a:solidFill>
                            <a:srgbClr val="282828"/>
                          </a:solidFill>
                          <a:latin typeface="Arial"/>
                        </a:rPr>
                        <a:t>end to end: energy in one pixel</a:t>
                      </a:r>
                    </a:p>
                  </a:txBody>
                  <a:tcPr marL="54864" marR="54864" marT="18288" marB="18288">
                    <a:solidFill>
                      <a:srgbClr val="FFFFFF"/>
                    </a:solidFill>
                  </a:tcPr>
                </a:tc>
                <a:tc>
                  <a:txBody>
                    <a:bodyPr wrap="square"/>
                    <a:lstStyle/>
                    <a:p>
                      <a:r>
                        <a:rPr sz="1100" b="0">
                          <a:solidFill>
                            <a:srgbClr val="282828"/>
                          </a:solidFill>
                          <a:latin typeface="Arial"/>
                        </a:rPr>
                        <a:t>0.85 over the strip</a:t>
                      </a:r>
                    </a:p>
                  </a:txBody>
                  <a:tcPr marL="54864" marR="54864" marT="18288" marB="18288">
                    <a:solidFill>
                      <a:srgbClr val="FFFFFF"/>
                    </a:solidFill>
                  </a:tcPr>
                </a:tc>
                <a:tc>
                  <a:txBody>
                    <a:bodyPr wrap="square"/>
                    <a:lstStyle/>
                    <a:p>
                      <a:r>
                        <a:rPr sz="1100" b="0">
                          <a:solidFill>
                            <a:srgbClr val="282828"/>
                          </a:solidFill>
                          <a:latin typeface="Arial"/>
                        </a:rPr>
                        <a:t>0.30–0.89 (0.8 over the central third)</a:t>
                      </a:r>
                    </a:p>
                  </a:txBody>
                  <a:tcPr marL="54864" marR="54864" marT="18288" marB="18288">
                    <a:solidFill>
                      <a:srgbClr val="FFFFFF"/>
                    </a:solidFill>
                  </a:tcPr>
                </a:tc>
              </a:tr>
              <a:tr h="280035">
                <a:tc>
                  <a:txBody>
                    <a:bodyPr wrap="square"/>
                    <a:lstStyle/>
                    <a:p>
                      <a:r>
                        <a:rPr sz="1100" b="0">
                          <a:solidFill>
                            <a:srgbClr val="282828"/>
                          </a:solidFill>
                          <a:latin typeface="Arial"/>
                        </a:rPr>
                        <a:t>light admitted by the grating</a:t>
                      </a:r>
                    </a:p>
                  </a:txBody>
                  <a:tcPr marL="54864" marR="54864" marT="18288" marB="18288">
                    <a:solidFill>
                      <a:srgbClr val="ECF1F6"/>
                    </a:solidFill>
                  </a:tcPr>
                </a:tc>
                <a:tc>
                  <a:txBody>
                    <a:bodyPr wrap="square"/>
                    <a:lstStyle/>
                    <a:p>
                      <a:r>
                        <a:rPr sz="1100" b="0">
                          <a:solidFill>
                            <a:srgbClr val="282828"/>
                          </a:solidFill>
                          <a:latin typeface="Arial"/>
                        </a:rPr>
                        <a:t>98.9 % per field</a:t>
                      </a:r>
                    </a:p>
                  </a:txBody>
                  <a:tcPr marL="54864" marR="54864" marT="18288" marB="18288">
                    <a:solidFill>
                      <a:srgbClr val="ECF1F6"/>
                    </a:solidFill>
                  </a:tcPr>
                </a:tc>
                <a:tc>
                  <a:txBody>
                    <a:bodyPr wrap="square"/>
                    <a:lstStyle/>
                    <a:p>
                      <a:r>
                        <a:rPr sz="1100" b="0">
                          <a:solidFill>
                            <a:srgbClr val="282828"/>
                          </a:solidFill>
                          <a:latin typeface="Arial"/>
                        </a:rPr>
                        <a:t>99 % per field</a:t>
                      </a:r>
                    </a:p>
                  </a:txBody>
                  <a:tcPr marL="54864" marR="54864" marT="18288" marB="18288">
                    <a:solidFill>
                      <a:srgbClr val="ECF1F6"/>
                    </a:solidFill>
                  </a:tcPr>
                </a:tc>
              </a:tr>
              <a:tr h="280035">
                <a:tc>
                  <a:txBody>
                    <a:bodyPr wrap="square"/>
                    <a:lstStyle/>
                    <a:p>
                      <a:r>
                        <a:rPr sz="1100" b="0">
                          <a:solidFill>
                            <a:srgbClr val="282828"/>
                          </a:solidFill>
                          <a:latin typeface="Arial"/>
                        </a:rPr>
                        <a:t>clearance, worst pair</a:t>
                      </a:r>
                    </a:p>
                  </a:txBody>
                  <a:tcPr marL="54864" marR="54864" marT="18288" marB="18288">
                    <a:solidFill>
                      <a:srgbClr val="FFFFFF"/>
                    </a:solidFill>
                  </a:tcPr>
                </a:tc>
                <a:tc>
                  <a:txBody>
                    <a:bodyPr wrap="square"/>
                    <a:lstStyle/>
                    <a:p>
                      <a:r>
                        <a:rPr sz="1100" b="0">
                          <a:solidFill>
                            <a:srgbClr val="282828"/>
                          </a:solidFill>
                          <a:latin typeface="Arial"/>
                        </a:rPr>
                        <a:t>+0.6 mm (slit package vs block face)</a:t>
                      </a:r>
                    </a:p>
                  </a:txBody>
                  <a:tcPr marL="54864" marR="54864" marT="18288" marB="18288">
                    <a:solidFill>
                      <a:srgbClr val="FFFFFF"/>
                    </a:solidFill>
                  </a:tcPr>
                </a:tc>
                <a:tc>
                  <a:txBody>
                    <a:bodyPr wrap="square"/>
                    <a:lstStyle/>
                    <a:p>
                      <a:r>
                        <a:rPr sz="1100" b="0">
                          <a:solidFill>
                            <a:srgbClr val="282828"/>
                          </a:solidFill>
                          <a:latin typeface="Arial"/>
                        </a:rPr>
                        <a:t>+0.38 mm (detector package vs block face)</a:t>
                      </a:r>
                    </a:p>
                  </a:txBody>
                  <a:tcPr marL="54864" marR="54864" marT="18288" marB="18288">
                    <a:solidFill>
                      <a:srgbClr val="FFFFFF"/>
                    </a:solidFill>
                  </a:tcPr>
                </a:tc>
              </a:tr>
              <a:tr h="280035">
                <a:tc>
                  <a:txBody>
                    <a:bodyPr wrap="square"/>
                    <a:lstStyle/>
                    <a:p>
                      <a:r>
                        <a:rPr sz="1100" b="0">
                          <a:solidFill>
                            <a:srgbClr val="282828"/>
                          </a:solidFill>
                          <a:latin typeface="Arial"/>
                        </a:rPr>
                        <a:t>glass for 6000 pixels</a:t>
                      </a:r>
                    </a:p>
                  </a:txBody>
                  <a:tcPr marL="54864" marR="54864" marT="18288" marB="18288">
                    <a:solidFill>
                      <a:srgbClr val="ECF1F6"/>
                    </a:solidFill>
                  </a:tcPr>
                </a:tc>
                <a:tc>
                  <a:txBody>
                    <a:bodyPr wrap="square"/>
                    <a:lstStyle/>
                    <a:p>
                      <a:r>
                        <a:rPr sz="1100" b="0">
                          <a:solidFill>
                            <a:srgbClr val="282828"/>
                          </a:solidFill>
                          <a:latin typeface="Arial"/>
                        </a:rPr>
                        <a:t>9.0 L, 28.5 kg </a:t>
                      </a:r>
                      <a:r>
                        <a:rPr sz="1100" b="0">
                          <a:solidFill>
                            <a:srgbClr val="282828"/>
                          </a:solidFill>
                          <a:latin typeface="Arial"/>
                        </a:rPr>
                        <a:t>CaF</a:t>
                      </a:r>
                      <a:r>
                        <a:rPr sz="1100" b="0" baseline="-25000">
                          <a:solidFill>
                            <a:srgbClr val="282828"/>
                          </a:solidFill>
                          <a:latin typeface="Arial"/>
                        </a:rPr>
                        <a:t>2</a:t>
                      </a:r>
                      <a:r>
                        <a:rPr sz="1100" b="0">
                          <a:solidFill>
                            <a:srgbClr val="282828"/>
                          </a:solidFill>
                          <a:latin typeface="Arial"/>
                        </a:rPr>
                        <a:t> (12.4 L single crystal to carve)</a:t>
                      </a:r>
                    </a:p>
                  </a:txBody>
                  <a:tcPr marL="54864" marR="54864" marT="18288" marB="18288">
                    <a:solidFill>
                      <a:srgbClr val="ECF1F6"/>
                    </a:solidFill>
                  </a:tcPr>
                </a:tc>
                <a:tc>
                  <a:txBody>
                    <a:bodyPr wrap="square"/>
                    <a:lstStyle/>
                    <a:p>
                      <a:r>
                        <a:rPr sz="1100" b="0">
                          <a:solidFill>
                            <a:srgbClr val="282828"/>
                          </a:solidFill>
                          <a:latin typeface="Arial"/>
                        </a:rPr>
                        <a:t>3.0 L, 6.6 kg fused silica</a:t>
                      </a:r>
                    </a:p>
                  </a:txBody>
                  <a:tcPr marL="54864" marR="54864" marT="18288" marB="18288">
                    <a:solidFill>
                      <a:srgbClr val="ECF1F6"/>
                    </a:solidFill>
                  </a:tcPr>
                </a:tc>
              </a:tr>
              <a:tr h="280035">
                <a:tc>
                  <a:txBody>
                    <a:bodyPr wrap="square"/>
                    <a:lstStyle/>
                    <a:p>
                      <a:r>
                        <a:rPr sz="1100" b="0">
                          <a:solidFill>
                            <a:srgbClr val="282828"/>
                          </a:solidFill>
                          <a:latin typeface="Arial"/>
                        </a:rPr>
                        <a:t>telescopes / spectrometers / detectors</a:t>
                      </a:r>
                    </a:p>
                  </a:txBody>
                  <a:tcPr marL="54864" marR="54864" marT="18288" marB="18288">
                    <a:solidFill>
                      <a:srgbClr val="FFFFFF"/>
                    </a:solidFill>
                  </a:tcPr>
                </a:tc>
                <a:tc>
                  <a:txBody>
                    <a:bodyPr wrap="square"/>
                    <a:lstStyle/>
                    <a:p>
                      <a:r>
                        <a:rPr sz="1100" b="0">
                          <a:solidFill>
                            <a:srgbClr val="282828"/>
                          </a:solidFill>
                          <a:latin typeface="Arial"/>
                        </a:rPr>
                        <a:t>2 / 2 / 2 × (3072 × 512, a standard format)</a:t>
                      </a:r>
                    </a:p>
                  </a:txBody>
                  <a:tcPr marL="54864" marR="54864" marT="18288" marB="18288">
                    <a:solidFill>
                      <a:srgbClr val="FFFFFF"/>
                    </a:solidFill>
                  </a:tcPr>
                </a:tc>
                <a:tc>
                  <a:txBody>
                    <a:bodyPr wrap="square"/>
                    <a:lstStyle/>
                    <a:p>
                      <a:r>
                        <a:rPr sz="1100" b="0">
                          <a:solidFill>
                            <a:srgbClr val="282828"/>
                          </a:solidFill>
                          <a:latin typeface="Arial"/>
                        </a:rPr>
                        <a:t>4 / 4 / 4 × (1.5k × 0.5k, NRE)</a:t>
                      </a:r>
                    </a:p>
                  </a:txBody>
                  <a:tcPr marL="54864" marR="54864" marT="18288" marB="18288">
                    <a:solidFill>
                      <a:srgbClr val="FFFFFF"/>
                    </a:solidFill>
                  </a:tcPr>
                </a:tc>
              </a:tr>
              <a:tr h="280035">
                <a:tc>
                  <a:txBody>
                    <a:bodyPr wrap="square"/>
                    <a:lstStyle/>
                    <a:p>
                      <a:r>
                        <a:rPr sz="1100" b="0">
                          <a:solidFill>
                            <a:srgbClr val="282828"/>
                          </a:solidFill>
                          <a:latin typeface="Arial"/>
                        </a:rPr>
                        <a:t>integration, test, calibration</a:t>
                      </a:r>
                    </a:p>
                  </a:txBody>
                  <a:tcPr marL="54864" marR="54864" marT="18288" marB="18288">
                    <a:solidFill>
                      <a:srgbClr val="ECF1F6"/>
                    </a:solidFill>
                  </a:tcPr>
                </a:tc>
                <a:tc>
                  <a:txBody>
                    <a:bodyPr wrap="square"/>
                    <a:lstStyle/>
                    <a:p>
                      <a:r>
                        <a:rPr sz="1100" b="0">
                          <a:solidFill>
                            <a:srgbClr val="282828"/>
                          </a:solidFill>
                          <a:latin typeface="Arial"/>
                        </a:rPr>
                        <a:t>two of each</a:t>
                      </a:r>
                    </a:p>
                  </a:txBody>
                  <a:tcPr marL="54864" marR="54864" marT="18288" marB="18288">
                    <a:solidFill>
                      <a:srgbClr val="ECF1F6"/>
                    </a:solidFill>
                  </a:tcPr>
                </a:tc>
                <a:tc>
                  <a:txBody>
                    <a:bodyPr wrap="square"/>
                    <a:lstStyle/>
                    <a:p>
                      <a:r>
                        <a:rPr sz="1100" b="0">
                          <a:solidFill>
                            <a:srgbClr val="282828"/>
                          </a:solidFill>
                          <a:latin typeface="Arial"/>
                        </a:rPr>
                        <a:t>four of each (Jim: the cost that dominates)</a:t>
                      </a:r>
                    </a:p>
                  </a:txBody>
                  <a:tcPr marL="54864" marR="54864" marT="18288" marB="18288">
                    <a:solidFill>
                      <a:srgbClr val="ECF1F6"/>
                    </a:solidFill>
                  </a:tcPr>
                </a:tc>
              </a:tr>
              <a:tr h="280035">
                <a:tc>
                  <a:txBody>
                    <a:bodyPr wrap="square"/>
                    <a:lstStyle/>
                    <a:p>
                      <a:r>
                        <a:rPr sz="1100" b="0">
                          <a:solidFill>
                            <a:srgbClr val="282828"/>
                          </a:solidFill>
                          <a:latin typeface="Arial"/>
                        </a:rPr>
                        <a:t>materials</a:t>
                      </a:r>
                    </a:p>
                  </a:txBody>
                  <a:tcPr marL="54864" marR="54864" marT="18288" marB="18288">
                    <a:solidFill>
                      <a:srgbClr val="FFFFFF"/>
                    </a:solidFill>
                  </a:tcPr>
                </a:tc>
                <a:tc>
                  <a:txBody>
                    <a:bodyPr wrap="square"/>
                    <a:lstStyle/>
                    <a:p>
                      <a:r>
                        <a:rPr sz="1100" b="0">
                          <a:solidFill>
                            <a:srgbClr val="282828"/>
                          </a:solidFill>
                          <a:latin typeface="Arial"/>
                        </a:rPr>
                        <a:t>"a tiny fraction of the instrument cost" (Jim)</a:t>
                      </a:r>
                    </a:p>
                  </a:txBody>
                  <a:tcPr marL="54864" marR="54864" marT="18288" marB="18288">
                    <a:solidFill>
                      <a:srgbClr val="FFFFFF"/>
                    </a:solidFill>
                  </a:tcPr>
                </a:tc>
                <a:tc>
                  <a:txBody>
                    <a:bodyPr wrap="square"/>
                    <a:lstStyle/>
                    <a:p>
                      <a:r>
                        <a:rPr sz="1100" b="0">
                          <a:solidFill>
                            <a:srgbClr val="282828"/>
                          </a:solidFill>
                          <a:latin typeface="Arial"/>
                        </a:rPr>
                        <a:t>the same</a:t>
                      </a:r>
                    </a:p>
                  </a:txBody>
                  <a:tcPr marL="54864" marR="54864" marT="18288" marB="18288">
                    <a:solidFill>
                      <a:srgbClr val="FFFFFF"/>
                    </a:solidFill>
                  </a:tcPr>
                </a:tc>
              </a:tr>
            </a:tbl>
          </a:graphicData>
        </a:graphic>
      </p:graphicFrame>
      <p:sp>
        <p:nvSpPr>
          <p:cNvPr id="5" name="TextBox 4"/>
          <p:cNvSpPr txBox="1"/>
          <p:nvPr/>
        </p:nvSpPr>
        <p:spPr>
          <a:xfrm>
            <a:off x="411480" y="5182362"/>
            <a:ext cx="11368735" cy="274320"/>
          </a:xfrm>
          <a:prstGeom prst="rect">
            <a:avLst/>
          </a:prstGeom>
          <a:noFill/>
        </p:spPr>
        <p:txBody>
          <a:bodyPr wrap="square">
            <a:spAutoFit/>
          </a:bodyPr>
          <a:lstStyle/>
          <a:p>
            <a:pPr>
              <a:spcAft>
                <a:spcPts val="600"/>
              </a:spcAft>
            </a:pPr>
            <a:r>
              <a:rPr sz="1050" b="0">
                <a:solidFill>
                  <a:srgbClr val="6E6E6E"/>
                </a:solidFill>
                <a:latin typeface="Arial"/>
              </a:rPr>
              <a:t>Records dyson5_jim_3a.txt, dyson5_t5f_GM_1k5_bAs_ap.txt, dyson5_t5f_cprime_centroid_roll000.txt.  The four-module block (0.97 × 0.41 × 0.76 m, 14.6 kg of optics) of the last deck stands as the fallback.  The air gap at the window stands on both (six crossings, 0.81 uncoated).</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Questions for Jim and Joe</a:t>
            </a:r>
          </a:p>
          <a:p>
            <a:pPr>
              <a:spcAft>
                <a:spcPts val="0"/>
              </a:spcAft>
            </a:pPr>
            <a:r>
              <a:rPr sz="1250" b="0">
                <a:solidFill>
                  <a:srgbClr val="6E6E6E"/>
                </a:solidFill>
                <a:latin typeface="Arial"/>
              </a:rPr>
              <a:t>Three the ray trace cannot settle</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298448"/>
            <a:ext cx="11368735" cy="274320"/>
          </a:xfrm>
          <a:prstGeom prst="rect">
            <a:avLst/>
          </a:prstGeom>
          <a:noFill/>
        </p:spPr>
        <p:txBody>
          <a:bodyPr wrap="square">
            <a:spAutoFit/>
          </a:bodyPr>
          <a:lstStyle/>
          <a:p>
            <a:pPr>
              <a:spcAft>
                <a:spcPts val="600"/>
              </a:spcAft>
            </a:pPr>
            <a:r>
              <a:rPr sz="1500" b="0">
                <a:solidFill>
                  <a:srgbClr val="282828"/>
                </a:solidFill>
                <a:latin typeface="Arial"/>
              </a:rPr>
              <a:t>•  </a:t>
            </a:r>
            <a:r>
              <a:rPr sz="1500" b="1">
                <a:solidFill>
                  <a:srgbClr val="282828"/>
                </a:solidFill>
                <a:latin typeface="Arial"/>
              </a:rPr>
              <a:t>The entrance beam.</a:t>
            </a:r>
            <a:r>
              <a:rPr sz="1500" b="0">
                <a:solidFill>
                  <a:srgbClr val="282828"/>
                </a:solidFill>
                <a:latin typeface="Arial"/>
              </a:rPr>
              <a:t>  Joe's 183 mm at f 330 mm is F/1.803, so the telescope's cone along the slit is F/1.89 and cannot be "a little faster than the spectrometer" without a larger beam; the paper's is 192 mm.  Is the aperture Joe's number or the paper's?</a:t>
            </a:r>
          </a:p>
          <a:p>
            <a:pPr>
              <a:spcAft>
                <a:spcPts val="600"/>
              </a:spcAft>
            </a:pPr>
            <a:r>
              <a:rPr sz="1500" b="0">
                <a:solidFill>
                  <a:srgbClr val="282828"/>
                </a:solidFill>
                <a:latin typeface="Arial"/>
              </a:rPr>
              <a:t>•  </a:t>
            </a:r>
            <a:r>
              <a:rPr sz="1500" b="1">
                <a:solidFill>
                  <a:srgbClr val="282828"/>
                </a:solidFill>
                <a:latin typeface="Arial"/>
              </a:rPr>
              <a:t>The slit and SRF.</a:t>
            </a:r>
            <a:r>
              <a:rPr sz="1500" b="0">
                <a:solidFill>
                  <a:srgbClr val="282828"/>
                </a:solidFill>
                <a:latin typeface="Arial"/>
              </a:rPr>
              <a:t>  With a 2-pixel slit the SRF floor is 2.0 px (36 µm), where this design sits; the paper's bound is 64.8 µm.  Is the 1.5–2.0 px range read against a 2-pixel slit, or does the project want a narrower slit at the throughput's expense?</a:t>
            </a:r>
          </a:p>
          <a:p>
            <a:pPr>
              <a:spcAft>
                <a:spcPts val="600"/>
              </a:spcAft>
            </a:pPr>
            <a:r>
              <a:rPr sz="1500" b="0">
                <a:solidFill>
                  <a:srgbClr val="282828"/>
                </a:solidFill>
                <a:latin typeface="Arial"/>
              </a:rPr>
              <a:t>•  </a:t>
            </a:r>
            <a:r>
              <a:rPr sz="1500" b="1">
                <a:solidFill>
                  <a:srgbClr val="282828"/>
                </a:solidFill>
                <a:latin typeface="Arial"/>
              </a:rPr>
              <a:t>The spectrometer's form.</a:t>
            </a:r>
            <a:r>
              <a:rPr sz="1500" b="0">
                <a:solidFill>
                  <a:srgbClr val="282828"/>
                </a:solidFill>
                <a:latin typeface="Arial"/>
              </a:rPr>
              <a:t>  The spherical-faced </a:t>
            </a:r>
            <a:r>
              <a:rPr sz="1500" b="0">
                <a:solidFill>
                  <a:srgbClr val="282828"/>
                </a:solidFill>
                <a:latin typeface="Arial"/>
              </a:rPr>
              <a:t>CaF</a:t>
            </a:r>
            <a:r>
              <a:rPr sz="1500" b="0" baseline="-25000">
                <a:solidFill>
                  <a:srgbClr val="282828"/>
                </a:solidFill>
                <a:latin typeface="Arial"/>
              </a:rPr>
              <a:t>2</a:t>
            </a:r>
            <a:r>
              <a:rPr sz="1500" b="0">
                <a:solidFill>
                  <a:srgbClr val="282828"/>
                </a:solidFill>
                <a:latin typeface="Arial"/>
              </a:rPr>
              <a:t> Dyson meets the specification at nominal.  The paper went to an aspheric lens and a conic grating for tolerances; before we build that ladder, what drove it in the build — smile and keystone as built, or energy in a pixel?</a:t>
            </a:r>
          </a:p>
        </p:txBody>
      </p:sp>
      <p:sp>
        <p:nvSpPr>
          <p:cNvPr id="5" name="TextBox 4"/>
          <p:cNvSpPr txBox="1"/>
          <p:nvPr/>
        </p:nvSpPr>
        <p:spPr>
          <a:xfrm>
            <a:off x="411480" y="3984498"/>
            <a:ext cx="11368735" cy="274320"/>
          </a:xfrm>
          <a:prstGeom prst="rect">
            <a:avLst/>
          </a:prstGeom>
          <a:noFill/>
        </p:spPr>
        <p:txBody>
          <a:bodyPr wrap="square">
            <a:spAutoFit/>
          </a:bodyPr>
          <a:lstStyle/>
          <a:p>
            <a:pPr>
              <a:spcAft>
                <a:spcPts val="600"/>
              </a:spcAft>
            </a:pPr>
            <a:r>
              <a:rPr sz="1050" b="0">
                <a:solidFill>
                  <a:srgbClr val="6E6E6E"/>
                </a:solidFill>
                <a:latin typeface="Arial"/>
              </a:rPr>
              <a:t>Still open from the last round: the detector window's gap (now answered: an order-sorting filter, not bonded) and the AR by band.</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Next steps</a:t>
            </a:r>
          </a:p>
          <a:p>
            <a:pPr>
              <a:spcAft>
                <a:spcPts val="0"/>
              </a:spcAft>
            </a:pPr>
            <a:r>
              <a:rPr sz="1250" b="0">
                <a:solidFill>
                  <a:srgbClr val="6E6E6E"/>
                </a:solidFill>
                <a:latin typeface="Arial"/>
              </a:rPr>
              <a:t>The spectrometer's tolerances and form; the telescope's tolerances and sizing; the record</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298448"/>
            <a:ext cx="5806440" cy="274320"/>
          </a:xfrm>
          <a:prstGeom prst="rect">
            <a:avLst/>
          </a:prstGeom>
          <a:noFill/>
        </p:spPr>
        <p:txBody>
          <a:bodyPr wrap="square">
            <a:spAutoFit/>
          </a:bodyPr>
          <a:lstStyle/>
          <a:p>
            <a:pPr>
              <a:spcAft>
                <a:spcPts val="600"/>
              </a:spcAft>
            </a:pPr>
            <a:r>
              <a:rPr sz="1200" b="0">
                <a:solidFill>
                  <a:srgbClr val="282828"/>
                </a:solidFill>
                <a:latin typeface="Arial"/>
              </a:rPr>
              <a:t>•  </a:t>
            </a:r>
            <a:r>
              <a:rPr sz="1200" b="1">
                <a:solidFill>
                  <a:srgbClr val="282828"/>
                </a:solidFill>
                <a:latin typeface="Arial"/>
              </a:rPr>
              <a:t>Spectrometer (in progress):</a:t>
            </a:r>
            <a:r>
              <a:rPr sz="1200" b="0">
                <a:solidFill>
                  <a:srgbClr val="282828"/>
                </a:solidFill>
                <a:latin typeface="Arial"/>
              </a:rPr>
              <a:t> the sensitivity ladder on both Dysons with compensators, alone and through the join; the aspheric-lens + conic-grating form and its ladder; throughput by band with the blaze.</a:t>
            </a:r>
          </a:p>
          <a:p>
            <a:pPr>
              <a:spcAft>
                <a:spcPts val="600"/>
              </a:spcAft>
            </a:pPr>
            <a:r>
              <a:rPr sz="1200" b="0">
                <a:solidFill>
                  <a:srgbClr val="282828"/>
                </a:solidFill>
                <a:latin typeface="Arial"/>
              </a:rPr>
              <a:t>•  </a:t>
            </a:r>
            <a:r>
              <a:rPr sz="1200" b="1">
                <a:solidFill>
                  <a:srgbClr val="282828"/>
                </a:solidFill>
                <a:latin typeface="Arial"/>
              </a:rPr>
              <a:t>Telescope:</a:t>
            </a:r>
            <a:r>
              <a:rPr sz="1200" b="0">
                <a:solidFill>
                  <a:srgbClr val="282828"/>
                </a:solidFill>
                <a:latin typeface="Arial"/>
              </a:rPr>
              <a:t> the same ladder on R9 (mirror decenter, tilt, figure; the slit's position), the mirrors sized with baffles, the two modules' lines of sight canted to their strips, as the four-module block was.</a:t>
            </a:r>
          </a:p>
        </p:txBody>
      </p:sp>
      <p:sp>
        <p:nvSpPr>
          <p:cNvPr id="5" name="TextBox 4"/>
          <p:cNvSpPr txBox="1"/>
          <p:nvPr/>
        </p:nvSpPr>
        <p:spPr>
          <a:xfrm>
            <a:off x="6400800" y="1298448"/>
            <a:ext cx="5394960" cy="274320"/>
          </a:xfrm>
          <a:prstGeom prst="rect">
            <a:avLst/>
          </a:prstGeom>
          <a:noFill/>
        </p:spPr>
        <p:txBody>
          <a:bodyPr wrap="square">
            <a:spAutoFit/>
          </a:bodyPr>
          <a:lstStyle/>
          <a:p>
            <a:pPr>
              <a:spcAft>
                <a:spcPts val="600"/>
              </a:spcAft>
            </a:pPr>
            <a:r>
              <a:rPr sz="1200" b="0">
                <a:solidFill>
                  <a:srgbClr val="282828"/>
                </a:solidFill>
                <a:latin typeface="Arial"/>
              </a:rPr>
              <a:t>•  </a:t>
            </a:r>
            <a:r>
              <a:rPr sz="1200" b="1">
                <a:solidFill>
                  <a:srgbClr val="282828"/>
                </a:solidFill>
                <a:latin typeface="Arial"/>
              </a:rPr>
              <a:t>The record:</a:t>
            </a:r>
            <a:r>
              <a:rPr sz="1200" b="0">
                <a:solidFill>
                  <a:srgbClr val="282828"/>
                </a:solidFill>
                <a:latin typeface="Arial"/>
              </a:rPr>
              <a:t> the template tma_longslit is general (one parameter file: f, D, F/#, strip, slit, the cone bound, working distance, the seed legs); its default run is this module.  A note to Jim and Joe with this deck, superseding "the 3k module is not there yet."</a:t>
            </a:r>
          </a:p>
          <a:p>
            <a:pPr>
              <a:spcAft>
                <a:spcPts val="600"/>
              </a:spcAft>
            </a:pPr>
            <a:r>
              <a:rPr sz="1200" b="0">
                <a:solidFill>
                  <a:srgbClr val="282828"/>
                </a:solidFill>
                <a:latin typeface="Arial"/>
              </a:rPr>
              <a:t>•  </a:t>
            </a:r>
            <a:r>
              <a:rPr sz="1200" b="1">
                <a:solidFill>
                  <a:srgbClr val="282828"/>
                </a:solidFill>
                <a:latin typeface="Arial"/>
              </a:rPr>
              <a:t>In the engine, from this round:</a:t>
            </a:r>
            <a:r>
              <a:rPr sz="1200" b="0">
                <a:solidFill>
                  <a:srgbClr val="282828"/>
                </a:solidFill>
                <a:latin typeface="Arial"/>
              </a:rPr>
              <a:t> the api's element stop now takes the CLI's range (it refused the secondary of a four-element telescope); both launch conventions in the join scorer; the spectrometer's chief-tilt diagnostic.</a:t>
            </a:r>
          </a:p>
        </p:txBody>
      </p:sp>
      <p:sp>
        <p:nvSpPr>
          <p:cNvPr id="6" name="TextBox 5"/>
          <p:cNvSpPr txBox="1"/>
          <p:nvPr/>
        </p:nvSpPr>
        <p:spPr>
          <a:xfrm>
            <a:off x="6400800" y="3200400"/>
            <a:ext cx="5394960" cy="274320"/>
          </a:xfrm>
          <a:prstGeom prst="rect">
            <a:avLst/>
          </a:prstGeom>
          <a:noFill/>
        </p:spPr>
        <p:txBody>
          <a:bodyPr wrap="square">
            <a:spAutoFit/>
          </a:bodyPr>
          <a:lstStyle/>
          <a:p>
            <a:pPr>
              <a:spcAft>
                <a:spcPts val="600"/>
              </a:spcAft>
            </a:pPr>
            <a:r>
              <a:rPr sz="1050" b="0">
                <a:solidFill>
                  <a:srgbClr val="6E6E6E"/>
                </a:solidFill>
                <a:latin typeface="Arial"/>
              </a:rPr>
              <a:t>BRIEF_to_dyson5.md addenda 48–49.</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Run it yourself</a:t>
            </a:r>
          </a:p>
          <a:p>
            <a:pPr>
              <a:spcAft>
                <a:spcPts val="0"/>
              </a:spcAft>
            </a:pPr>
            <a:r>
              <a:rPr sz="1250" b="0">
                <a:solidFill>
                  <a:srgbClr val="6E6E6E"/>
                </a:solidFill>
                <a:latin typeface="Arial"/>
              </a:rPr>
              <a:t>One parameter file, one runner, every stage through it; the telescope is a template any long-slit spectrometer can use</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11480" y="1298448"/>
            <a:ext cx="11368735" cy="1457957"/>
          </a:xfrm>
          <a:prstGeom prst="rect">
            <a:avLst/>
          </a:prstGeom>
          <a:solidFill>
            <a:srgbClr val="FFFFFF"/>
          </a:solidFill>
          <a:ln w="9525">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t" wrap="square"/>
          <a:lstStyle/>
          <a:p>
            <a:pPr algn="l">
              <a:spcAft>
                <a:spcPts val="100"/>
              </a:spcAft>
            </a:pPr>
            <a:r>
              <a:rPr sz="1102" b="0">
                <a:solidFill>
                  <a:srgbClr val="282828"/>
                </a:solidFill>
                <a:latin typeface="Consolas"/>
              </a:rPr>
              <a:t>cd &lt;path&gt;/MACOS_resources/mmacos                   % the mmacos folder of the repository (the engine is built already)</a:t>
            </a:r>
          </a:p>
          <a:p>
            <a:pPr algn="l">
              <a:spcAft>
                <a:spcPts val="100"/>
              </a:spcAft>
            </a:pPr>
            <a:r>
              <a:rPr sz="1102" b="0">
                <a:solidFill>
                  <a:srgbClr val="282828"/>
                </a:solidFill>
                <a:latin typeface="Consolas"/>
              </a:rPr>
              <a:t>matlab</a:t>
            </a:r>
          </a:p>
          <a:p>
            <a:pPr algn="l">
              <a:spcAft>
                <a:spcPts val="100"/>
              </a:spcAft>
            </a:pPr>
            <a:r>
              <a:rPr sz="1102" b="0">
                <a:solidFill>
                  <a:srgbClr val="282828"/>
                </a:solidFill>
                <a:latin typeface="Consolas"/>
              </a:rPr>
              <a:t>&gt;&gt; run('mmacos_setup.m');</a:t>
            </a:r>
          </a:p>
          <a:p>
            <a:pPr algn="l">
              <a:spcAft>
                <a:spcPts val="100"/>
              </a:spcAft>
            </a:pPr>
            <a:r>
              <a:rPr sz="1102" b="0">
                <a:solidFill>
                  <a:srgbClr val="282828"/>
                </a:solidFill>
                <a:latin typeface="Consolas"/>
              </a:rPr>
              <a:t>&gt;&gt; addpath('templates/10_telescopes/tma_longslit');  addpath('challenges/dyson5');</a:t>
            </a:r>
          </a:p>
          <a:p>
            <a:pPr algn="l">
              <a:spcAft>
                <a:spcPts val="100"/>
              </a:spcAft>
            </a:pPr>
            <a:r>
              <a:rPr sz="1102" b="0">
                <a:solidFill>
                  <a:srgbClr val="282828"/>
                </a:solidFill>
                <a:latin typeface="Consolas"/>
              </a:rPr>
              <a:t>&gt;&gt; P = tma_longslit_params;                        % f, D, F/#, strip, slit, pixel, the telecentric and cone bounds, the seed legs</a:t>
            </a:r>
          </a:p>
          <a:p>
            <a:pPr algn="l">
              <a:spcAft>
                <a:spcPts val="100"/>
              </a:spcAft>
            </a:pPr>
            <a:r>
              <a:rPr sz="1102" b="0">
                <a:solidFill>
                  <a:srgbClr val="282828"/>
                </a:solidFill>
                <a:latin typeface="Consolas"/>
              </a:rPr>
              <a:t>&gt;&gt; OUT = tma_longslit_run({'first_order','section','figure','score','e2e'}, P);   % the ladder to the deck of record, then the join</a:t>
            </a:r>
          </a:p>
          <a:p>
            <a:pPr algn="l">
              <a:spcAft>
                <a:spcPts val="100"/>
              </a:spcAft>
            </a:pPr>
            <a:r>
              <a:rPr sz="1102" b="0">
                <a:solidFill>
                  <a:srgbClr val="282828"/>
                </a:solidFill>
                <a:latin typeface="Consolas"/>
              </a:rPr>
              <a:t>&gt;&gt; OUT = dyson5_run(struct('stages', {{'t5f'}}, 'tel5f_deck', 'dyson5_cprime_3k.in'));   % the 3k module end to end, both launches</a:t>
            </a:r>
          </a:p>
        </p:txBody>
      </p:sp>
      <p:sp>
        <p:nvSpPr>
          <p:cNvPr id="5" name="TextBox 4"/>
          <p:cNvSpPr txBox="1"/>
          <p:nvPr/>
        </p:nvSpPr>
        <p:spPr>
          <a:xfrm>
            <a:off x="411480" y="2866133"/>
            <a:ext cx="11368735" cy="274320"/>
          </a:xfrm>
          <a:prstGeom prst="rect">
            <a:avLst/>
          </a:prstGeom>
          <a:noFill/>
        </p:spPr>
        <p:txBody>
          <a:bodyPr wrap="square">
            <a:spAutoFit/>
          </a:bodyPr>
          <a:lstStyle/>
          <a:p>
            <a:pPr>
              <a:spcAft>
                <a:spcPts val="600"/>
              </a:spcAft>
            </a:pPr>
            <a:r>
              <a:rPr sz="1500" b="0">
                <a:solidFill>
                  <a:srgbClr val="282828"/>
                </a:solidFill>
                <a:latin typeface="Arial"/>
              </a:rPr>
              <a:t>•  </a:t>
            </a:r>
            <a:r>
              <a:rPr sz="1500" b="1">
                <a:solidFill>
                  <a:srgbClr val="282828"/>
                </a:solidFill>
                <a:latin typeface="Arial"/>
              </a:rPr>
              <a:t>Changeable parameters live in two files:</a:t>
            </a:r>
            <a:r>
              <a:rPr sz="1500" b="0">
                <a:solidFill>
                  <a:srgbClr val="282828"/>
                </a:solidFill>
                <a:latin typeface="Arial"/>
              </a:rPr>
              <a:t> tma_longslit_params.m for the telescope (spec, seed, rows and weights, field set), dyson5_params.m for the Dyson (F-number, pixels, band, slit, block radius, glass, order, the join).  Every record in this deck is a stage output under challenges/dyson5/ or the template's folder.</a:t>
            </a:r>
          </a:p>
          <a:p>
            <a:pPr>
              <a:spcAft>
                <a:spcPts val="600"/>
              </a:spcAft>
            </a:pPr>
            <a:r>
              <a:rPr sz="1500" b="0">
                <a:solidFill>
                  <a:srgbClr val="282828"/>
                </a:solidFill>
                <a:latin typeface="Arial"/>
              </a:rPr>
              <a:t>•  </a:t>
            </a:r>
            <a:r>
              <a:rPr sz="1500" b="1">
                <a:solidFill>
                  <a:srgbClr val="282828"/>
                </a:solidFill>
                <a:latin typeface="Arial"/>
              </a:rPr>
              <a:t>Checks:</a:t>
            </a:r>
            <a:r>
              <a:rPr sz="1500" b="0">
                <a:solidFill>
                  <a:srgbClr val="282828"/>
                </a:solidFill>
                <a:latin typeface="Arial"/>
              </a:rPr>
              <a:t> ./run_mmacos_tests.sh tTmaLongslit tSpectrometerRx tTelescopeRx tStopReload and the grating, glass, propagation and root-pick classes, all in the fast suite (559 pass, 0 fail, 2026-10-07).  tTmaLongslit re-scores the deck of record by name.</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Backup</a:t>
            </a:r>
          </a:p>
        </p:txBody>
      </p:sp>
      <p:sp>
        <p:nvSpPr>
          <p:cNvPr id="3" name="Rectangle 2"/>
          <p:cNvSpPr/>
          <p:nvPr/>
        </p:nvSpPr>
        <p:spPr>
          <a:xfrm>
            <a:off x="411480" y="914400"/>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The first order by the numbers</a:t>
            </a:r>
          </a:p>
          <a:p>
            <a:pPr>
              <a:spcAft>
                <a:spcPts val="0"/>
              </a:spcAft>
            </a:pPr>
            <a:r>
              <a:rPr sz="1250" b="0">
                <a:solidFill>
                  <a:srgbClr val="6E6E6E"/>
                </a:solidFill>
                <a:latin typeface="Arial"/>
              </a:rPr>
              <a:t>The seed's legs at f 330 mm, the powers the telecentric closure gives, the beams, and where the alternatives fail</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411480" y="1298448"/>
          <a:ext cx="5806439" cy="3086100"/>
        </p:xfrm>
        <a:graphic>
          <a:graphicData uri="http://schemas.openxmlformats.org/drawingml/2006/table">
            <a:tbl>
              <a:tblPr firstRow="1" bandRow="1">
                <a:tableStyleId>{5C22544A-7EE6-4342-B048-85BDC9FD1C3A}</a:tableStyleId>
              </a:tblPr>
              <a:tblGrid>
                <a:gridCol w="2606973"/>
                <a:gridCol w="3199466"/>
              </a:tblGrid>
              <a:tr h="280035">
                <a:tc>
                  <a:txBody>
                    <a:bodyPr wrap="square"/>
                    <a:lstStyle/>
                    <a:p>
                      <a:r>
                        <a:rPr sz="1100" b="1">
                          <a:solidFill>
                            <a:srgbClr val="FFFFFF"/>
                          </a:solidFill>
                          <a:latin typeface="Arial"/>
                        </a:rPr>
                        <a:t>item</a:t>
                      </a:r>
                    </a:p>
                  </a:txBody>
                  <a:tcPr marL="54864" marR="54864" marT="18288" marB="18288">
                    <a:solidFill>
                      <a:srgbClr val="1F4E79"/>
                    </a:solidFill>
                  </a:tcPr>
                </a:tc>
                <a:tc>
                  <a:txBody>
                    <a:bodyPr wrap="square"/>
                    <a:lstStyle/>
                    <a:p>
                      <a:r>
                        <a:rPr sz="1100" b="1">
                          <a:solidFill>
                            <a:srgbClr val="FFFFFF"/>
                          </a:solidFill>
                          <a:latin typeface="Arial"/>
                        </a:rPr>
                        <a:t>value</a:t>
                      </a:r>
                    </a:p>
                  </a:txBody>
                  <a:tcPr marL="54864" marR="54864" marT="18288" marB="18288">
                    <a:solidFill>
                      <a:srgbClr val="1F4E79"/>
                    </a:solidFill>
                  </a:tcPr>
                </a:tc>
              </a:tr>
              <a:tr h="468630">
                <a:tc>
                  <a:txBody>
                    <a:bodyPr wrap="square"/>
                    <a:lstStyle/>
                    <a:p>
                      <a:r>
                        <a:rPr sz="1100" b="0">
                          <a:solidFill>
                            <a:srgbClr val="282828"/>
                          </a:solidFill>
                          <a:latin typeface="Arial"/>
                        </a:rPr>
                        <a:t>legs M1→M2, M2→M3, M3→slit</a:t>
                      </a:r>
                    </a:p>
                  </a:txBody>
                  <a:tcPr marL="54864" marR="54864" marT="18288" marB="18288">
                    <a:solidFill>
                      <a:srgbClr val="FFFFFF"/>
                    </a:solidFill>
                  </a:tcPr>
                </a:tc>
                <a:tc>
                  <a:txBody>
                    <a:bodyPr wrap="square"/>
                    <a:lstStyle/>
                    <a:p>
                      <a:r>
                        <a:rPr sz="1100" b="0">
                          <a:solidFill>
                            <a:srgbClr val="282828"/>
                          </a:solidFill>
                          <a:latin typeface="Arial"/>
                        </a:rPr>
                        <a:t>258.3, 245.8, 299.4 mm (paper: 270, 257, 313 at f 345)</a:t>
                      </a:r>
                    </a:p>
                  </a:txBody>
                  <a:tcPr marL="54864" marR="54864" marT="18288" marB="18288">
                    <a:solidFill>
                      <a:srgbClr val="FFFFFF"/>
                    </a:solidFill>
                  </a:tcPr>
                </a:tc>
              </a:tr>
              <a:tr h="280035">
                <a:tc>
                  <a:txBody>
                    <a:bodyPr wrap="square"/>
                    <a:lstStyle/>
                    <a:p>
                      <a:r>
                        <a:rPr sz="1100" b="0">
                          <a:solidFill>
                            <a:srgbClr val="282828"/>
                          </a:solidFill>
                          <a:latin typeface="Arial"/>
                        </a:rPr>
                        <a:t>chief incidence M1, M2, M3</a:t>
                      </a:r>
                    </a:p>
                  </a:txBody>
                  <a:tcPr marL="54864" marR="54864" marT="18288" marB="18288">
                    <a:solidFill>
                      <a:srgbClr val="ECF1F6"/>
                    </a:solidFill>
                  </a:tcPr>
                </a:tc>
                <a:tc>
                  <a:txBody>
                    <a:bodyPr wrap="square"/>
                    <a:lstStyle/>
                    <a:p>
                      <a:r>
                        <a:rPr sz="1100" b="0">
                          <a:solidFill>
                            <a:srgbClr val="282828"/>
                          </a:solidFill>
                          <a:latin typeface="Arial"/>
                        </a:rPr>
                        <a:t>30°, 37°, 15°</a:t>
                      </a:r>
                    </a:p>
                  </a:txBody>
                  <a:tcPr marL="54864" marR="54864" marT="18288" marB="18288">
                    <a:solidFill>
                      <a:srgbClr val="ECF1F6"/>
                    </a:solidFill>
                  </a:tcPr>
                </a:tc>
              </a:tr>
              <a:tr h="280035">
                <a:tc>
                  <a:txBody>
                    <a:bodyPr wrap="square"/>
                    <a:lstStyle/>
                    <a:p>
                      <a:r>
                        <a:rPr sz="1100" b="0">
                          <a:solidFill>
                            <a:srgbClr val="282828"/>
                          </a:solidFill>
                          <a:latin typeface="Arial"/>
                        </a:rPr>
                        <a:t>focal lengths M1, M2, M3</a:t>
                      </a:r>
                    </a:p>
                  </a:txBody>
                  <a:tcPr marL="54864" marR="54864" marT="18288" marB="18288">
                    <a:solidFill>
                      <a:srgbClr val="FFFFFF"/>
                    </a:solidFill>
                  </a:tcPr>
                </a:tc>
                <a:tc>
                  <a:txBody>
                    <a:bodyPr wrap="square"/>
                    <a:lstStyle/>
                    <a:p>
                      <a:r>
                        <a:rPr sz="1100" b="0">
                          <a:solidFill>
                            <a:srgbClr val="282828"/>
                          </a:solidFill>
                          <a:latin typeface="Arial"/>
                        </a:rPr>
                        <a:t>+1012, −452, +246 mm (M3's = the M2→M3 leg)</a:t>
                      </a:r>
                    </a:p>
                  </a:txBody>
                  <a:tcPr marL="54864" marR="54864" marT="18288" marB="18288">
                    <a:solidFill>
                      <a:srgbClr val="FFFFFF"/>
                    </a:solidFill>
                  </a:tcPr>
                </a:tc>
              </a:tr>
              <a:tr h="280035">
                <a:tc>
                  <a:txBody>
                    <a:bodyPr wrap="square"/>
                    <a:lstStyle/>
                    <a:p>
                      <a:r>
                        <a:rPr sz="1100" b="0">
                          <a:solidFill>
                            <a:srgbClr val="282828"/>
                          </a:solidFill>
                          <a:latin typeface="Arial"/>
                        </a:rPr>
                        <a:t>entrance pupil</a:t>
                      </a:r>
                    </a:p>
                  </a:txBody>
                  <a:tcPr marL="54864" marR="54864" marT="18288" marB="18288">
                    <a:solidFill>
                      <a:srgbClr val="ECF1F6"/>
                    </a:solidFill>
                  </a:tcPr>
                </a:tc>
                <a:tc>
                  <a:txBody>
                    <a:bodyPr wrap="square"/>
                    <a:lstStyle/>
                    <a:p>
                      <a:r>
                        <a:rPr sz="1100" b="0">
                          <a:solidFill>
                            <a:srgbClr val="282828"/>
                          </a:solidFill>
                          <a:latin typeface="Arial"/>
                        </a:rPr>
                        <a:t>virtual, 347 mm behind M1</a:t>
                      </a:r>
                    </a:p>
                  </a:txBody>
                  <a:tcPr marL="54864" marR="54864" marT="18288" marB="18288">
                    <a:solidFill>
                      <a:srgbClr val="ECF1F6"/>
                    </a:solidFill>
                  </a:tcPr>
                </a:tc>
              </a:tr>
              <a:tr h="280035">
                <a:tc>
                  <a:txBody>
                    <a:bodyPr wrap="square"/>
                    <a:lstStyle/>
                    <a:p>
                      <a:r>
                        <a:rPr sz="1100" b="0">
                          <a:solidFill>
                            <a:srgbClr val="282828"/>
                          </a:solidFill>
                          <a:latin typeface="Arial"/>
                        </a:rPr>
                        <a:t>beams at M1, M2, M3</a:t>
                      </a:r>
                    </a:p>
                  </a:txBody>
                  <a:tcPr marL="54864" marR="54864" marT="18288" marB="18288">
                    <a:solidFill>
                      <a:srgbClr val="FFFFFF"/>
                    </a:solidFill>
                  </a:tcPr>
                </a:tc>
                <a:tc>
                  <a:txBody>
                    <a:bodyPr wrap="square"/>
                    <a:lstStyle/>
                    <a:p>
                      <a:r>
                        <a:rPr sz="1100" b="0">
                          <a:solidFill>
                            <a:srgbClr val="282828"/>
                          </a:solidFill>
                          <a:latin typeface="Arial"/>
                        </a:rPr>
                        <a:t>183, 136, 166 mm</a:t>
                      </a:r>
                    </a:p>
                  </a:txBody>
                  <a:tcPr marL="54864" marR="54864" marT="18288" marB="18288">
                    <a:solidFill>
                      <a:srgbClr val="FFFFFF"/>
                    </a:solidFill>
                  </a:tcPr>
                </a:tc>
              </a:tr>
              <a:tr h="468630">
                <a:tc>
                  <a:txBody>
                    <a:bodyPr wrap="square"/>
                    <a:lstStyle/>
                    <a:p>
                      <a:r>
                        <a:rPr sz="1100" b="0">
                          <a:solidFill>
                            <a:srgbClr val="282828"/>
                          </a:solidFill>
                          <a:latin typeface="Arial"/>
                        </a:rPr>
                        <a:t>intermediate focus</a:t>
                      </a:r>
                    </a:p>
                  </a:txBody>
                  <a:tcPr marL="54864" marR="54864" marT="18288" marB="18288">
                    <a:solidFill>
                      <a:srgbClr val="ECF1F6"/>
                    </a:solidFill>
                  </a:tcPr>
                </a:tc>
                <a:tc>
                  <a:txBody>
                    <a:bodyPr wrap="square"/>
                    <a:lstStyle/>
                    <a:p>
                      <a:r>
                        <a:rPr sz="1100" b="0">
                          <a:solidFill>
                            <a:srgbClr val="282828"/>
                          </a:solidFill>
                          <a:latin typeface="Arial"/>
                        </a:rPr>
                        <a:t>none (the marginal ray never crosses the axis)</a:t>
                      </a:r>
                    </a:p>
                  </a:txBody>
                  <a:tcPr marL="54864" marR="54864" marT="18288" marB="18288">
                    <a:solidFill>
                      <a:srgbClr val="ECF1F6"/>
                    </a:solidFill>
                  </a:tcPr>
                </a:tc>
              </a:tr>
              <a:tr h="468630">
                <a:tc>
                  <a:txBody>
                    <a:bodyPr wrap="square"/>
                    <a:lstStyle/>
                    <a:p>
                      <a:r>
                        <a:rPr sz="1100" b="0">
                          <a:solidFill>
                            <a:srgbClr val="282828"/>
                          </a:solidFill>
                          <a:latin typeface="Arial"/>
                        </a:rPr>
                        <a:t>chief to the slit normal, section as emitted</a:t>
                      </a:r>
                    </a:p>
                  </a:txBody>
                  <a:tcPr marL="54864" marR="54864" marT="18288" marB="18288">
                    <a:solidFill>
                      <a:srgbClr val="FFFFFF"/>
                    </a:solidFill>
                  </a:tcPr>
                </a:tc>
                <a:tc>
                  <a:txBody>
                    <a:bodyPr wrap="square"/>
                    <a:lstStyle/>
                    <a:p>
                      <a:r>
                        <a:rPr sz="1100" b="0">
                          <a:solidFill>
                            <a:srgbClr val="282828"/>
                          </a:solidFill>
                          <a:latin typeface="Arial"/>
                        </a:rPr>
                        <a:t>≤ 0.093° over ±4.7°</a:t>
                      </a:r>
                    </a:p>
                  </a:txBody>
                  <a:tcPr marL="54864" marR="54864" marT="18288" marB="18288">
                    <a:solidFill>
                      <a:srgbClr val="FFFFFF"/>
                    </a:solidFill>
                  </a:tcPr>
                </a:tc>
              </a:tr>
              <a:tr h="280035">
                <a:tc>
                  <a:txBody>
                    <a:bodyPr wrap="square"/>
                    <a:lstStyle/>
                    <a:p>
                      <a:r>
                        <a:rPr sz="1100" b="0">
                          <a:solidFill>
                            <a:srgbClr val="282828"/>
                          </a:solidFill>
                          <a:latin typeface="Arial"/>
                        </a:rPr>
                        <a:t>plate scale as emitted</a:t>
                      </a:r>
                    </a:p>
                  </a:txBody>
                  <a:tcPr marL="54864" marR="54864" marT="18288" marB="18288">
                    <a:solidFill>
                      <a:srgbClr val="ECF1F6"/>
                    </a:solidFill>
                  </a:tcPr>
                </a:tc>
                <a:tc>
                  <a:txBody>
                    <a:bodyPr wrap="square"/>
                    <a:lstStyle/>
                    <a:p>
                      <a:r>
                        <a:rPr sz="1100" b="0">
                          <a:solidFill>
                            <a:srgbClr val="282828"/>
                          </a:solidFill>
                          <a:latin typeface="Arial"/>
                        </a:rPr>
                        <a:t>329.99 mm local, 329.87 at the edge</a:t>
                      </a:r>
                    </a:p>
                  </a:txBody>
                  <a:tcPr marL="54864" marR="54864" marT="18288" marB="18288">
                    <a:solidFill>
                      <a:srgbClr val="ECF1F6"/>
                    </a:solidFill>
                  </a:tcPr>
                </a:tc>
              </a:tr>
            </a:tbl>
          </a:graphicData>
        </a:graphic>
      </p:graphicFrame>
      <p:sp>
        <p:nvSpPr>
          <p:cNvPr id="5" name="TextBox 4"/>
          <p:cNvSpPr txBox="1"/>
          <p:nvPr/>
        </p:nvSpPr>
        <p:spPr>
          <a:xfrm>
            <a:off x="6400800" y="1298448"/>
            <a:ext cx="5394960" cy="274320"/>
          </a:xfrm>
          <a:prstGeom prst="rect">
            <a:avLst/>
          </a:prstGeom>
          <a:noFill/>
        </p:spPr>
        <p:txBody>
          <a:bodyPr wrap="square">
            <a:spAutoFit/>
          </a:bodyPr>
          <a:lstStyle/>
          <a:p>
            <a:pPr>
              <a:spcAft>
                <a:spcPts val="600"/>
              </a:spcAft>
            </a:pPr>
            <a:r>
              <a:rPr sz="1200" b="0">
                <a:solidFill>
                  <a:srgbClr val="282828"/>
                </a:solidFill>
                <a:latin typeface="Arial"/>
              </a:rPr>
              <a:t>•  </a:t>
            </a:r>
            <a:r>
              <a:rPr sz="1200" b="1">
                <a:solidFill>
                  <a:srgbClr val="282828"/>
                </a:solidFill>
                <a:latin typeface="Arial"/>
              </a:rPr>
              <a:t>Stop at M1, or between M1 and M2:</a:t>
            </a:r>
            <a:r>
              <a:rPr sz="1200" b="0">
                <a:solidFill>
                  <a:srgbClr val="282828"/>
                </a:solidFill>
                <a:latin typeface="Arial"/>
              </a:rPr>
              <a:t> also telecentric, but it flips the form and M2 grows to 310 / 220–250 mm.</a:t>
            </a:r>
          </a:p>
          <a:p>
            <a:pPr>
              <a:spcAft>
                <a:spcPts val="600"/>
              </a:spcAft>
            </a:pPr>
            <a:r>
              <a:rPr sz="1200" b="0">
                <a:solidFill>
                  <a:srgbClr val="282828"/>
                </a:solidFill>
                <a:latin typeface="Arial"/>
              </a:rPr>
              <a:t>•  </a:t>
            </a:r>
            <a:r>
              <a:rPr sz="1200" b="1">
                <a:solidFill>
                  <a:srgbClr val="282828"/>
                </a:solidFill>
                <a:latin typeface="Arial"/>
              </a:rPr>
              <a:t>Tilted spheres:</a:t>
            </a:r>
            <a:r>
              <a:rPr sz="1200" b="0">
                <a:solidFill>
                  <a:srgbClr val="282828"/>
                </a:solidFill>
                <a:latin typeface="Arial"/>
              </a:rPr>
              <a:t> cannot meet the first order in both sections (R_t / R_s = 1.33, 1.57, 1.07 needed); off-axis conic sections can — paraboloids when the parent axis is at the incidence angle.</a:t>
            </a:r>
          </a:p>
          <a:p>
            <a:pPr>
              <a:spcAft>
                <a:spcPts val="600"/>
              </a:spcAft>
            </a:pPr>
            <a:r>
              <a:rPr sz="1200" b="0">
                <a:solidFill>
                  <a:srgbClr val="282828"/>
                </a:solidFill>
                <a:latin typeface="Arial"/>
              </a:rPr>
              <a:t>•  </a:t>
            </a:r>
            <a:r>
              <a:rPr sz="1200" b="1">
                <a:solidFill>
                  <a:srgbClr val="282828"/>
                </a:solidFill>
                <a:latin typeface="Arial"/>
              </a:rPr>
              <a:t>The paper's drawing left one thing open</a:t>
            </a:r>
            <a:r>
              <a:rPr sz="1200" b="0">
                <a:solidFill>
                  <a:srgbClr val="282828"/>
                </a:solidFill>
                <a:latin typeface="Arial"/>
              </a:rPr>
              <a:t> — whether the beam passes through a focus between M2 and M3 — and the numbers settled it: it does not.</a:t>
            </a:r>
          </a:p>
        </p:txBody>
      </p:sp>
      <p:sp>
        <p:nvSpPr>
          <p:cNvPr id="6" name="TextBox 5"/>
          <p:cNvSpPr txBox="1"/>
          <p:nvPr/>
        </p:nvSpPr>
        <p:spPr>
          <a:xfrm>
            <a:off x="6400800" y="3340608"/>
            <a:ext cx="5394960" cy="274320"/>
          </a:xfrm>
          <a:prstGeom prst="rect">
            <a:avLst/>
          </a:prstGeom>
          <a:noFill/>
        </p:spPr>
        <p:txBody>
          <a:bodyPr wrap="square">
            <a:spAutoFit/>
          </a:bodyPr>
          <a:lstStyle/>
          <a:p>
            <a:pPr>
              <a:spcAft>
                <a:spcPts val="600"/>
              </a:spcAft>
            </a:pPr>
            <a:r>
              <a:rPr sz="1050" b="0">
                <a:solidFill>
                  <a:srgbClr val="6E6E6E"/>
                </a:solidFill>
                <a:latin typeface="Arial"/>
              </a:rPr>
              <a:t>tls_first_order.txt; template README, "The two facts the first order forces."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The rungs per field</a:t>
            </a:r>
          </a:p>
          <a:p>
            <a:pPr>
              <a:spcAft>
                <a:spcPts val="0"/>
              </a:spcAft>
            </a:pPr>
            <a:r>
              <a:rPr sz="1250" b="0">
                <a:solidFill>
                  <a:srgbClr val="6E6E6E"/>
                </a:solidFill>
                <a:latin typeface="Arial"/>
              </a:rPr>
              <a:t>What each rung's telescope looked like along the slit, and what the join made of it</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411480" y="1298448"/>
          <a:ext cx="11368733" cy="2526030"/>
        </p:xfrm>
        <a:graphic>
          <a:graphicData uri="http://schemas.openxmlformats.org/drawingml/2006/table">
            <a:tbl>
              <a:tblPr firstRow="1" bandRow="1">
                <a:tableStyleId>{5C22544A-7EE6-4342-B048-85BDC9FD1C3A}</a:tableStyleId>
              </a:tblPr>
              <a:tblGrid>
                <a:gridCol w="436880"/>
                <a:gridCol w="2804993"/>
                <a:gridCol w="2932493"/>
                <a:gridCol w="2868743"/>
                <a:gridCol w="2325624"/>
              </a:tblGrid>
              <a:tr h="468630">
                <a:tc>
                  <a:txBody>
                    <a:bodyPr wrap="square"/>
                    <a:lstStyle/>
                    <a:p>
                      <a:r>
                        <a:rPr sz="1100" b="1">
                          <a:solidFill>
                            <a:srgbClr val="FFFFFF"/>
                          </a:solidFill>
                          <a:latin typeface="Arial"/>
                        </a:rPr>
                        <a:t>rung</a:t>
                      </a:r>
                    </a:p>
                  </a:txBody>
                  <a:tcPr marL="54864" marR="54864" marT="18288" marB="18288">
                    <a:solidFill>
                      <a:srgbClr val="1F4E79"/>
                    </a:solidFill>
                  </a:tcPr>
                </a:tc>
                <a:tc>
                  <a:txBody>
                    <a:bodyPr wrap="square"/>
                    <a:lstStyle/>
                    <a:p>
                      <a:r>
                        <a:rPr sz="1100" b="1">
                          <a:solidFill>
                            <a:srgbClr val="FFFFFF"/>
                          </a:solidFill>
                          <a:latin typeface="Arial"/>
                        </a:rPr>
                        <a:t>DOFs</a:t>
                      </a:r>
                    </a:p>
                  </a:txBody>
                  <a:tcPr marL="54864" marR="54864" marT="18288" marB="18288">
                    <a:solidFill>
                      <a:srgbClr val="1F4E79"/>
                    </a:solidFill>
                  </a:tcPr>
                </a:tc>
                <a:tc>
                  <a:txBody>
                    <a:bodyPr wrap="square"/>
                    <a:lstStyle/>
                    <a:p>
                      <a:r>
                        <a:rPr sz="1100" b="1">
                          <a:solidFill>
                            <a:srgbClr val="FFFFFF"/>
                          </a:solidFill>
                          <a:latin typeface="Arial"/>
                        </a:rPr>
                        <a:t>spot FWHM along the slit, fields 0 → 4.7° (px)</a:t>
                      </a:r>
                    </a:p>
                  </a:txBody>
                  <a:tcPr marL="54864" marR="54864" marT="18288" marB="18288">
                    <a:solidFill>
                      <a:srgbClr val="1F4E79"/>
                    </a:solidFill>
                  </a:tcPr>
                </a:tc>
                <a:tc>
                  <a:txBody>
                    <a:bodyPr wrap="square"/>
                    <a:lstStyle/>
                    <a:p>
                      <a:r>
                        <a:rPr sz="1100" b="1">
                          <a:solidFill>
                            <a:srgbClr val="FFFFFF"/>
                          </a:solidFill>
                          <a:latin typeface="Arial"/>
                        </a:rPr>
                        <a:t>chief − centroid across the slit at 4.7° (µm)</a:t>
                      </a:r>
                    </a:p>
                  </a:txBody>
                  <a:tcPr marL="54864" marR="54864" marT="18288" marB="18288">
                    <a:solidFill>
                      <a:srgbClr val="1F4E79"/>
                    </a:solidFill>
                  </a:tcPr>
                </a:tc>
                <a:tc>
                  <a:txBody>
                    <a:bodyPr wrap="square"/>
                    <a:lstStyle/>
                    <a:p>
                      <a:r>
                        <a:rPr sz="1100" b="1">
                          <a:solidFill>
                            <a:srgbClr val="FFFFFF"/>
                          </a:solidFill>
                          <a:latin typeface="Arial"/>
                        </a:rPr>
                        <a:t>e2e CRF / smile (point-source)</a:t>
                      </a:r>
                    </a:p>
                  </a:txBody>
                  <a:tcPr marL="54864" marR="54864" marT="18288" marB="18288">
                    <a:solidFill>
                      <a:srgbClr val="1F4E79"/>
                    </a:solidFill>
                  </a:tcPr>
                </a:tc>
              </a:tr>
              <a:tr h="280035">
                <a:tc>
                  <a:txBody>
                    <a:bodyPr wrap="square"/>
                    <a:lstStyle/>
                    <a:p>
                      <a:r>
                        <a:rPr sz="1100" b="0">
                          <a:solidFill>
                            <a:srgbClr val="282828"/>
                          </a:solidFill>
                          <a:latin typeface="Arial"/>
                        </a:rPr>
                        <a:t>R4</a:t>
                      </a:r>
                    </a:p>
                  </a:txBody>
                  <a:tcPr marL="54864" marR="54864" marT="18288" marB="18288">
                    <a:solidFill>
                      <a:srgbClr val="FFFFFF"/>
                    </a:solidFill>
                  </a:tcPr>
                </a:tc>
                <a:tc>
                  <a:txBody>
                    <a:bodyPr wrap="square"/>
                    <a:lstStyle/>
                    <a:p>
                      <a:r>
                        <a:rPr sz="1100" b="0">
                          <a:solidFill>
                            <a:srgbClr val="282828"/>
                          </a:solidFill>
                          <a:latin typeface="Arial"/>
                        </a:rPr>
                        <a:t>conics, θ, focus, h⁴ h⁶</a:t>
                      </a:r>
                    </a:p>
                  </a:txBody>
                  <a:tcPr marL="54864" marR="54864" marT="18288" marB="18288">
                    <a:solidFill>
                      <a:srgbClr val="FFFFFF"/>
                    </a:solidFill>
                  </a:tcPr>
                </a:tc>
                <a:tc>
                  <a:txBody>
                    <a:bodyPr wrap="square"/>
                    <a:lstStyle/>
                    <a:p>
                      <a:r>
                        <a:rPr sz="1100" b="0">
                          <a:solidFill>
                            <a:srgbClr val="282828"/>
                          </a:solidFill>
                          <a:latin typeface="Arial"/>
                        </a:rPr>
                        <a:t>1–2 center, 5–7 outer</a:t>
                      </a:r>
                    </a:p>
                  </a:txBody>
                  <a:tcPr marL="54864" marR="54864" marT="18288" marB="18288">
                    <a:solidFill>
                      <a:srgbClr val="FFFFFF"/>
                    </a:solidFill>
                  </a:tcPr>
                </a:tc>
                <a:tc>
                  <a:txBody>
                    <a:bodyPr wrap="square"/>
                    <a:lstStyle/>
                    <a:p>
                      <a:r>
                        <a:rPr sz="1100" b="0">
                          <a:solidFill>
                            <a:srgbClr val="282828"/>
                          </a:solidFill>
                          <a:latin typeface="Arial"/>
                        </a:rPr>
                        <a:t>9.1</a:t>
                      </a:r>
                    </a:p>
                  </a:txBody>
                  <a:tcPr marL="54864" marR="54864" marT="18288" marB="18288">
                    <a:solidFill>
                      <a:srgbClr val="FFFFFF"/>
                    </a:solidFill>
                  </a:tcPr>
                </a:tc>
                <a:tc>
                  <a:txBody>
                    <a:bodyPr wrap="square"/>
                    <a:lstStyle/>
                    <a:p>
                      <a:r>
                        <a:rPr sz="1100" b="0">
                          <a:solidFill>
                            <a:srgbClr val="282828"/>
                          </a:solidFill>
                          <a:latin typeface="Arial"/>
                        </a:rPr>
                        <a:t>2.5 / 0.73</a:t>
                      </a:r>
                    </a:p>
                  </a:txBody>
                  <a:tcPr marL="54864" marR="54864" marT="18288" marB="18288">
                    <a:solidFill>
                      <a:srgbClr val="FFFFFF"/>
                    </a:solidFill>
                  </a:tcPr>
                </a:tc>
              </a:tr>
              <a:tr h="468630">
                <a:tc>
                  <a:txBody>
                    <a:bodyPr wrap="square"/>
                    <a:lstStyle/>
                    <a:p>
                      <a:r>
                        <a:rPr sz="1100" b="0">
                          <a:solidFill>
                            <a:srgbClr val="282828"/>
                          </a:solidFill>
                          <a:latin typeface="Arial"/>
                        </a:rPr>
                        <a:t>R5</a:t>
                      </a:r>
                    </a:p>
                  </a:txBody>
                  <a:tcPr marL="54864" marR="54864" marT="18288" marB="18288">
                    <a:solidFill>
                      <a:srgbClr val="ECF1F6"/>
                    </a:solidFill>
                  </a:tcPr>
                </a:tc>
                <a:tc>
                  <a:txBody>
                    <a:bodyPr wrap="square"/>
                    <a:lstStyle/>
                    <a:p>
                      <a:r>
                        <a:rPr sz="1100" b="0">
                          <a:solidFill>
                            <a:srgbClr val="282828"/>
                          </a:solidFill>
                          <a:latin typeface="Arial"/>
                        </a:rPr>
                        <a:t>+ pole-frame freeform 3–6, centroid-bow rows</a:t>
                      </a:r>
                    </a:p>
                  </a:txBody>
                  <a:tcPr marL="54864" marR="54864" marT="18288" marB="18288">
                    <a:solidFill>
                      <a:srgbClr val="ECF1F6"/>
                    </a:solidFill>
                  </a:tcPr>
                </a:tc>
                <a:tc>
                  <a:txBody>
                    <a:bodyPr wrap="square"/>
                    <a:lstStyle/>
                    <a:p>
                      <a:r>
                        <a:rPr sz="1100" b="0">
                          <a:solidFill>
                            <a:srgbClr val="282828"/>
                          </a:solidFill>
                          <a:latin typeface="Arial"/>
                        </a:rPr>
                        <a:t>1 center, 5–7 outer</a:t>
                      </a:r>
                    </a:p>
                  </a:txBody>
                  <a:tcPr marL="54864" marR="54864" marT="18288" marB="18288">
                    <a:solidFill>
                      <a:srgbClr val="ECF1F6"/>
                    </a:solidFill>
                  </a:tcPr>
                </a:tc>
                <a:tc>
                  <a:txBody>
                    <a:bodyPr wrap="square"/>
                    <a:lstStyle/>
                    <a:p>
                      <a:r>
                        <a:rPr sz="1100" b="0">
                          <a:solidFill>
                            <a:srgbClr val="282828"/>
                          </a:solidFill>
                          <a:latin typeface="Arial"/>
                        </a:rPr>
                        <a:t>1.1</a:t>
                      </a:r>
                    </a:p>
                  </a:txBody>
                  <a:tcPr marL="54864" marR="54864" marT="18288" marB="18288">
                    <a:solidFill>
                      <a:srgbClr val="ECF1F6"/>
                    </a:solidFill>
                  </a:tcPr>
                </a:tc>
                <a:tc>
                  <a:txBody>
                    <a:bodyPr wrap="square"/>
                    <a:lstStyle/>
                    <a:p>
                      <a:r>
                        <a:rPr sz="1100" b="0">
                          <a:solidFill>
                            <a:srgbClr val="282828"/>
                          </a:solidFill>
                          <a:latin typeface="Arial"/>
                        </a:rPr>
                        <a:t>7.0 / 0.09</a:t>
                      </a:r>
                    </a:p>
                  </a:txBody>
                  <a:tcPr marL="54864" marR="54864" marT="18288" marB="18288">
                    <a:solidFill>
                      <a:srgbClr val="ECF1F6"/>
                    </a:solidFill>
                  </a:tcPr>
                </a:tc>
              </a:tr>
              <a:tr h="280035">
                <a:tc>
                  <a:txBody>
                    <a:bodyPr wrap="square"/>
                    <a:lstStyle/>
                    <a:p>
                      <a:r>
                        <a:rPr sz="1100" b="0">
                          <a:solidFill>
                            <a:srgbClr val="282828"/>
                          </a:solidFill>
                          <a:latin typeface="Arial"/>
                        </a:rPr>
                        <a:t>R6</a:t>
                      </a:r>
                    </a:p>
                  </a:txBody>
                  <a:tcPr marL="54864" marR="54864" marT="18288" marB="18288">
                    <a:solidFill>
                      <a:srgbClr val="FFFFFF"/>
                    </a:solidFill>
                  </a:tcPr>
                </a:tc>
                <a:tc>
                  <a:txBody>
                    <a:bodyPr wrap="square"/>
                    <a:lstStyle/>
                    <a:p>
                      <a:r>
                        <a:rPr sz="1100" b="0">
                          <a:solidFill>
                            <a:srgbClr val="282828"/>
                          </a:solidFill>
                          <a:latin typeface="Arial"/>
                        </a:rPr>
                        <a:t>R5, +3000 evaluations</a:t>
                      </a:r>
                    </a:p>
                  </a:txBody>
                  <a:tcPr marL="54864" marR="54864" marT="18288" marB="18288">
                    <a:solidFill>
                      <a:srgbClr val="FFFFFF"/>
                    </a:solidFill>
                  </a:tcPr>
                </a:tc>
                <a:tc>
                  <a:txBody>
                    <a:bodyPr wrap="square"/>
                    <a:lstStyle/>
                    <a:p>
                      <a:r>
                        <a:rPr sz="1100" b="0">
                          <a:solidFill>
                            <a:srgbClr val="282828"/>
                          </a:solidFill>
                          <a:latin typeface="Arial"/>
                        </a:rPr>
                        <a:t>as R5</a:t>
                      </a:r>
                    </a:p>
                  </a:txBody>
                  <a:tcPr marL="54864" marR="54864" marT="18288" marB="18288">
                    <a:solidFill>
                      <a:srgbClr val="FFFFFF"/>
                    </a:solidFill>
                  </a:tcPr>
                </a:tc>
                <a:tc>
                  <a:txBody>
                    <a:bodyPr wrap="square"/>
                    <a:lstStyle/>
                    <a:p>
                      <a:r>
                        <a:rPr sz="1100" b="0">
                          <a:solidFill>
                            <a:srgbClr val="282828"/>
                          </a:solidFill>
                          <a:latin typeface="Arial"/>
                        </a:rPr>
                        <a:t>1.5</a:t>
                      </a:r>
                    </a:p>
                  </a:txBody>
                  <a:tcPr marL="54864" marR="54864" marT="18288" marB="18288">
                    <a:solidFill>
                      <a:srgbClr val="FFFFFF"/>
                    </a:solidFill>
                  </a:tcPr>
                </a:tc>
                <a:tc>
                  <a:txBody>
                    <a:bodyPr wrap="square"/>
                    <a:lstStyle/>
                    <a:p>
                      <a:r>
                        <a:rPr sz="1100" b="0">
                          <a:solidFill>
                            <a:srgbClr val="282828"/>
                          </a:solidFill>
                          <a:latin typeface="Arial"/>
                        </a:rPr>
                        <a:t>7.2 / 0.15</a:t>
                      </a:r>
                    </a:p>
                  </a:txBody>
                  <a:tcPr marL="54864" marR="54864" marT="18288" marB="18288">
                    <a:solidFill>
                      <a:srgbClr val="FFFFFF"/>
                    </a:solidFill>
                  </a:tcPr>
                </a:tc>
              </a:tr>
              <a:tr h="468630">
                <a:tc>
                  <a:txBody>
                    <a:bodyPr wrap="square"/>
                    <a:lstStyle/>
                    <a:p>
                      <a:r>
                        <a:rPr sz="1100" b="0">
                          <a:solidFill>
                            <a:srgbClr val="282828"/>
                          </a:solidFill>
                          <a:latin typeface="Arial"/>
                        </a:rPr>
                        <a:t>R7</a:t>
                      </a:r>
                    </a:p>
                  </a:txBody>
                  <a:tcPr marL="54864" marR="54864" marT="18288" marB="18288">
                    <a:solidFill>
                      <a:srgbClr val="ECF1F6"/>
                    </a:solidFill>
                  </a:tcPr>
                </a:tc>
                <a:tc>
                  <a:txBody>
                    <a:bodyPr wrap="square"/>
                    <a:lstStyle/>
                    <a:p>
                      <a:r>
                        <a:rPr sz="1100" b="0">
                          <a:solidFill>
                            <a:srgbClr val="282828"/>
                          </a:solidFill>
                          <a:latin typeface="Arial"/>
                        </a:rPr>
                        <a:t>from R4: along-slit ×3, outer fields ×2–3</a:t>
                      </a:r>
                    </a:p>
                  </a:txBody>
                  <a:tcPr marL="54864" marR="54864" marT="18288" marB="18288">
                    <a:solidFill>
                      <a:srgbClr val="ECF1F6"/>
                    </a:solidFill>
                  </a:tcPr>
                </a:tc>
                <a:tc>
                  <a:txBody>
                    <a:bodyPr wrap="square"/>
                    <a:lstStyle/>
                    <a:p>
                      <a:r>
                        <a:rPr sz="1100" b="0">
                          <a:solidFill>
                            <a:srgbClr val="282828"/>
                          </a:solidFill>
                          <a:latin typeface="Arial"/>
                        </a:rPr>
                        <a:t>1.02 everywhere</a:t>
                      </a:r>
                    </a:p>
                  </a:txBody>
                  <a:tcPr marL="54864" marR="54864" marT="18288" marB="18288">
                    <a:solidFill>
                      <a:srgbClr val="ECF1F6"/>
                    </a:solidFill>
                  </a:tcPr>
                </a:tc>
                <a:tc>
                  <a:txBody>
                    <a:bodyPr wrap="square"/>
                    <a:lstStyle/>
                    <a:p>
                      <a:r>
                        <a:rPr sz="1100" b="0">
                          <a:solidFill>
                            <a:srgbClr val="282828"/>
                          </a:solidFill>
                          <a:latin typeface="Arial"/>
                        </a:rPr>
                        <a:t>2.43</a:t>
                      </a:r>
                    </a:p>
                  </a:txBody>
                  <a:tcPr marL="54864" marR="54864" marT="18288" marB="18288">
                    <a:solidFill>
                      <a:srgbClr val="ECF1F6"/>
                    </a:solidFill>
                  </a:tcPr>
                </a:tc>
                <a:tc>
                  <a:txBody>
                    <a:bodyPr wrap="square"/>
                    <a:lstStyle/>
                    <a:p>
                      <a:r>
                        <a:rPr sz="1100" b="0">
                          <a:solidFill>
                            <a:srgbClr val="282828"/>
                          </a:solidFill>
                          <a:latin typeface="Arial"/>
                        </a:rPr>
                        <a:t>1.18 / 0.14</a:t>
                      </a:r>
                    </a:p>
                  </a:txBody>
                  <a:tcPr marL="54864" marR="54864" marT="18288" marB="18288">
                    <a:solidFill>
                      <a:srgbClr val="ECF1F6"/>
                    </a:solidFill>
                  </a:tcPr>
                </a:tc>
              </a:tr>
              <a:tr h="280035">
                <a:tc>
                  <a:txBody>
                    <a:bodyPr wrap="square"/>
                    <a:lstStyle/>
                    <a:p>
                      <a:r>
                        <a:rPr sz="1100" b="0">
                          <a:solidFill>
                            <a:srgbClr val="282828"/>
                          </a:solidFill>
                          <a:latin typeface="Arial"/>
                        </a:rPr>
                        <a:t>R8</a:t>
                      </a:r>
                    </a:p>
                  </a:txBody>
                  <a:tcPr marL="54864" marR="54864" marT="18288" marB="18288">
                    <a:solidFill>
                      <a:srgbClr val="FFFFFF"/>
                    </a:solidFill>
                  </a:tcPr>
                </a:tc>
                <a:tc>
                  <a:txBody>
                    <a:bodyPr wrap="square"/>
                    <a:lstStyle/>
                    <a:p>
                      <a:r>
                        <a:rPr sz="1100" b="0">
                          <a:solidFill>
                            <a:srgbClr val="282828"/>
                          </a:solidFill>
                          <a:latin typeface="Arial"/>
                        </a:rPr>
                        <a:t>R7 + telecentric ×30</a:t>
                      </a:r>
                    </a:p>
                  </a:txBody>
                  <a:tcPr marL="54864" marR="54864" marT="18288" marB="18288">
                    <a:solidFill>
                      <a:srgbClr val="FFFFFF"/>
                    </a:solidFill>
                  </a:tcPr>
                </a:tc>
                <a:tc>
                  <a:txBody>
                    <a:bodyPr wrap="square"/>
                    <a:lstStyle/>
                    <a:p>
                      <a:r>
                        <a:rPr sz="1100" b="0">
                          <a:solidFill>
                            <a:srgbClr val="282828"/>
                          </a:solidFill>
                          <a:latin typeface="Arial"/>
                        </a:rPr>
                        <a:t>1.02</a:t>
                      </a:r>
                    </a:p>
                  </a:txBody>
                  <a:tcPr marL="54864" marR="54864" marT="18288" marB="18288">
                    <a:solidFill>
                      <a:srgbClr val="FFFFFF"/>
                    </a:solidFill>
                  </a:tcPr>
                </a:tc>
                <a:tc>
                  <a:txBody>
                    <a:bodyPr wrap="square"/>
                    <a:lstStyle/>
                    <a:p>
                      <a:r>
                        <a:rPr sz="1100" b="0">
                          <a:solidFill>
                            <a:srgbClr val="282828"/>
                          </a:solidFill>
                          <a:latin typeface="Arial"/>
                        </a:rPr>
                        <a:t>2.4</a:t>
                      </a:r>
                    </a:p>
                  </a:txBody>
                  <a:tcPr marL="54864" marR="54864" marT="18288" marB="18288">
                    <a:solidFill>
                      <a:srgbClr val="FFFFFF"/>
                    </a:solidFill>
                  </a:tcPr>
                </a:tc>
                <a:tc>
                  <a:txBody>
                    <a:bodyPr wrap="square"/>
                    <a:lstStyle/>
                    <a:p>
                      <a:r>
                        <a:rPr sz="1100" b="0">
                          <a:solidFill>
                            <a:srgbClr val="282828"/>
                          </a:solidFill>
                          <a:latin typeface="Arial"/>
                        </a:rPr>
                        <a:t>1.18 / 0.14</a:t>
                      </a:r>
                    </a:p>
                  </a:txBody>
                  <a:tcPr marL="54864" marR="54864" marT="18288" marB="18288">
                    <a:solidFill>
                      <a:srgbClr val="FFFFFF"/>
                    </a:solidFill>
                  </a:tcPr>
                </a:tc>
              </a:tr>
              <a:tr h="280035">
                <a:tc>
                  <a:txBody>
                    <a:bodyPr wrap="square"/>
                    <a:lstStyle/>
                    <a:p>
                      <a:r>
                        <a:rPr sz="1100" b="0">
                          <a:solidFill>
                            <a:srgbClr val="282828"/>
                          </a:solidFill>
                          <a:latin typeface="Arial"/>
                        </a:rPr>
                        <a:t>R9</a:t>
                      </a:r>
                    </a:p>
                  </a:txBody>
                  <a:tcPr marL="54864" marR="54864" marT="18288" marB="18288">
                    <a:solidFill>
                      <a:srgbClr val="ECF1F6"/>
                    </a:solidFill>
                  </a:tcPr>
                </a:tc>
                <a:tc>
                  <a:txBody>
                    <a:bodyPr wrap="square"/>
                    <a:lstStyle/>
                    <a:p>
                      <a:r>
                        <a:rPr sz="1100" b="0">
                          <a:solidFill>
                            <a:srgbClr val="282828"/>
                          </a:solidFill>
                          <a:latin typeface="Arial"/>
                        </a:rPr>
                        <a:t>R7 + offset rows ×1000</a:t>
                      </a:r>
                    </a:p>
                  </a:txBody>
                  <a:tcPr marL="54864" marR="54864" marT="18288" marB="18288">
                    <a:solidFill>
                      <a:srgbClr val="ECF1F6"/>
                    </a:solidFill>
                  </a:tcPr>
                </a:tc>
                <a:tc>
                  <a:txBody>
                    <a:bodyPr wrap="square"/>
                    <a:lstStyle/>
                    <a:p>
                      <a:r>
                        <a:rPr sz="1100" b="0">
                          <a:solidFill>
                            <a:srgbClr val="282828"/>
                          </a:solidFill>
                          <a:latin typeface="Arial"/>
                        </a:rPr>
                        <a:t>1.02</a:t>
                      </a:r>
                    </a:p>
                  </a:txBody>
                  <a:tcPr marL="54864" marR="54864" marT="18288" marB="18288">
                    <a:solidFill>
                      <a:srgbClr val="ECF1F6"/>
                    </a:solidFill>
                  </a:tcPr>
                </a:tc>
                <a:tc>
                  <a:txBody>
                    <a:bodyPr wrap="square"/>
                    <a:lstStyle/>
                    <a:p>
                      <a:r>
                        <a:rPr sz="1100" b="0">
                          <a:solidFill>
                            <a:srgbClr val="282828"/>
                          </a:solidFill>
                          <a:latin typeface="Arial"/>
                        </a:rPr>
                        <a:t>0.03</a:t>
                      </a:r>
                    </a:p>
                  </a:txBody>
                  <a:tcPr marL="54864" marR="54864" marT="18288" marB="18288">
                    <a:solidFill>
                      <a:srgbClr val="ECF1F6"/>
                    </a:solidFill>
                  </a:tcPr>
                </a:tc>
                <a:tc>
                  <a:txBody>
                    <a:bodyPr wrap="square"/>
                    <a:lstStyle/>
                    <a:p>
                      <a:r>
                        <a:rPr sz="1100" b="0">
                          <a:solidFill>
                            <a:srgbClr val="282828"/>
                          </a:solidFill>
                          <a:latin typeface="Arial"/>
                        </a:rPr>
                        <a:t>1.17 / 0.016</a:t>
                      </a:r>
                    </a:p>
                  </a:txBody>
                  <a:tcPr marL="54864" marR="54864" marT="18288" marB="18288">
                    <a:solidFill>
                      <a:srgbClr val="ECF1F6"/>
                    </a:solidFill>
                  </a:tcPr>
                </a:tc>
              </a:tr>
            </a:tbl>
          </a:graphicData>
        </a:graphic>
      </p:graphicFrame>
      <p:sp>
        <p:nvSpPr>
          <p:cNvPr id="5" name="TextBox 4"/>
          <p:cNvSpPr txBox="1"/>
          <p:nvPr/>
        </p:nvSpPr>
        <p:spPr>
          <a:xfrm>
            <a:off x="411480" y="3970782"/>
            <a:ext cx="11368735" cy="274320"/>
          </a:xfrm>
          <a:prstGeom prst="rect">
            <a:avLst/>
          </a:prstGeom>
          <a:noFill/>
        </p:spPr>
        <p:txBody>
          <a:bodyPr wrap="square">
            <a:spAutoFit/>
          </a:bodyPr>
          <a:lstStyle/>
          <a:p>
            <a:pPr>
              <a:spcAft>
                <a:spcPts val="600"/>
              </a:spcAft>
            </a:pPr>
            <a:r>
              <a:rPr sz="1500" b="0">
                <a:solidFill>
                  <a:srgbClr val="282828"/>
                </a:solidFill>
                <a:latin typeface="Arial"/>
              </a:rPr>
              <a:t>•  The four solves thrown out (unbounded layout, free R_t / R_s, closure variants, a resume defect) are in the report; none changed the form.</a:t>
            </a:r>
          </a:p>
        </p:txBody>
      </p:sp>
      <p:sp>
        <p:nvSpPr>
          <p:cNvPr id="6" name="TextBox 5"/>
          <p:cNvSpPr txBox="1"/>
          <p:nvPr/>
        </p:nvSpPr>
        <p:spPr>
          <a:xfrm>
            <a:off x="411480" y="4642866"/>
            <a:ext cx="11368735" cy="274320"/>
          </a:xfrm>
          <a:prstGeom prst="rect">
            <a:avLst/>
          </a:prstGeom>
          <a:noFill/>
        </p:spPr>
        <p:txBody>
          <a:bodyPr wrap="square">
            <a:spAutoFit/>
          </a:bodyPr>
          <a:lstStyle/>
          <a:p>
            <a:pPr>
              <a:spcAft>
                <a:spcPts val="600"/>
              </a:spcAft>
            </a:pPr>
            <a:r>
              <a:rPr sz="1050" b="0">
                <a:solidFill>
                  <a:srgbClr val="6E6E6E"/>
                </a:solidFill>
                <a:latin typeface="Arial"/>
              </a:rPr>
              <a:t>REPORT_dyson5_cprime.md; tma_longslit/runs_*.log.</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The chief-tilt diagnostic</a:t>
            </a:r>
          </a:p>
          <a:p>
            <a:pPr>
              <a:spcAft>
                <a:spcPts val="0"/>
              </a:spcAft>
            </a:pPr>
            <a:r>
              <a:rPr sz="1250" b="0">
                <a:solidFill>
                  <a:srgbClr val="6E6E6E"/>
                </a:solidFill>
                <a:latin typeface="Arial"/>
              </a:rPr>
              <a:t>How the smile's cause was isolated without a solve</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298448"/>
            <a:ext cx="11368735" cy="274320"/>
          </a:xfrm>
          <a:prstGeom prst="rect">
            <a:avLst/>
          </a:prstGeom>
          <a:noFill/>
        </p:spPr>
        <p:txBody>
          <a:bodyPr wrap="square">
            <a:spAutoFit/>
          </a:bodyPr>
          <a:lstStyle/>
          <a:p>
            <a:pPr>
              <a:spcAft>
                <a:spcPts val="600"/>
              </a:spcAft>
            </a:pPr>
            <a:r>
              <a:rPr sz="1500" b="0">
                <a:solidFill>
                  <a:srgbClr val="282828"/>
                </a:solidFill>
                <a:latin typeface="Arial"/>
              </a:rPr>
              <a:t>•  </a:t>
            </a:r>
            <a:r>
              <a:rPr sz="1500" b="1">
                <a:solidFill>
                  <a:srgbClr val="282828"/>
                </a:solidFill>
                <a:latin typeface="Arial"/>
              </a:rPr>
              <a:t>The hypothesis:</a:t>
            </a:r>
            <a:r>
              <a:rPr sz="1500" b="0">
                <a:solidFill>
                  <a:srgbClr val="282828"/>
                </a:solidFill>
                <a:latin typeface="Arial"/>
              </a:rPr>
              <a:t> the telescope's chief rays reach the slit up to 0.51 mrad from its normal in the dispersion direction, even in field and roughly quadratic — smile's shape — and a Dyson's spectral centroid moves with the input chief angle.</a:t>
            </a:r>
          </a:p>
          <a:p>
            <a:pPr>
              <a:spcAft>
                <a:spcPts val="600"/>
              </a:spcAft>
            </a:pPr>
            <a:r>
              <a:rPr sz="1500" b="0">
                <a:solidFill>
                  <a:srgbClr val="282828"/>
                </a:solidFill>
                <a:latin typeface="Arial"/>
              </a:rPr>
              <a:t>•  </a:t>
            </a:r>
            <a:r>
              <a:rPr sz="1500" b="1">
                <a:solidFill>
                  <a:srgbClr val="282828"/>
                </a:solidFill>
                <a:latin typeface="Arial"/>
              </a:rPr>
              <a:t>Why it could not be tested by hand on the joined deck:</a:t>
            </a:r>
            <a:r>
              <a:rPr sz="1500" b="0">
                <a:solidFill>
                  <a:srgbClr val="282828"/>
                </a:solidFill>
                <a:latin typeface="Arial"/>
              </a:rPr>
              <a:t> each field has two sky angles but needs three conditions (land on the slit line, two chief-angle components), and the join re-aims every launch through the grating, so a telecentric error appears there as a pupil shift.</a:t>
            </a:r>
          </a:p>
          <a:p>
            <a:pPr>
              <a:spcAft>
                <a:spcPts val="600"/>
              </a:spcAft>
            </a:pPr>
            <a:r>
              <a:rPr sz="1500" b="0">
                <a:solidFill>
                  <a:srgbClr val="282828"/>
                </a:solidFill>
                <a:latin typeface="Arial"/>
              </a:rPr>
              <a:t>•  </a:t>
            </a:r>
            <a:r>
              <a:rPr sz="1500" b="1">
                <a:solidFill>
                  <a:srgbClr val="282828"/>
                </a:solidFill>
                <a:latin typeface="Arial"/>
              </a:rPr>
              <a:t>The test:</a:t>
            </a:r>
            <a:r>
              <a:rPr sz="1500" b="0">
                <a:solidFill>
                  <a:srgbClr val="282828"/>
                </a:solidFill>
                <a:latin typeface="Arial"/>
              </a:rPr>
              <a:t> the spectrometer alone, each slit point's input chief tilted by the telescope's measured angles, scored as the record is (slide 10's left table).  Smile 0.0050 → 0.0049; keystone moves, so the hook is live.  The hypothesis is dead; the chief − centroid offset model (right table) predicts all five rungs.</a:t>
            </a:r>
          </a:p>
          <a:p>
            <a:pPr>
              <a:spcAft>
                <a:spcPts val="600"/>
              </a:spcAft>
            </a:pPr>
            <a:r>
              <a:rPr sz="1500" b="0">
                <a:solidFill>
                  <a:srgbClr val="282828"/>
                </a:solidFill>
                <a:latin typeface="Arial"/>
              </a:rPr>
              <a:t>•  </a:t>
            </a:r>
            <a:r>
              <a:rPr sz="1500" b="1">
                <a:solidFill>
                  <a:srgbClr val="282828"/>
                </a:solidFill>
                <a:latin typeface="Arial"/>
              </a:rPr>
              <a:t>Why R8 said nothing:</a:t>
            </a:r>
            <a:r>
              <a:rPr sz="1500" b="0">
                <a:solidFill>
                  <a:srgbClr val="282828"/>
                </a:solidFill>
                <a:latin typeface="Arial"/>
              </a:rPr>
              <a:t> its telecentric rows were 0.4 % of the merit.</a:t>
            </a:r>
          </a:p>
        </p:txBody>
      </p:sp>
      <p:sp>
        <p:nvSpPr>
          <p:cNvPr id="5" name="TextBox 4"/>
          <p:cNvSpPr txBox="1"/>
          <p:nvPr/>
        </p:nvSpPr>
        <p:spPr>
          <a:xfrm>
            <a:off x="411480" y="4372356"/>
            <a:ext cx="11368735" cy="274320"/>
          </a:xfrm>
          <a:prstGeom prst="rect">
            <a:avLst/>
          </a:prstGeom>
          <a:noFill/>
        </p:spPr>
        <p:txBody>
          <a:bodyPr wrap="square">
            <a:spAutoFit/>
          </a:bodyPr>
          <a:lstStyle/>
          <a:p>
            <a:pPr>
              <a:spcAft>
                <a:spcPts val="600"/>
              </a:spcAft>
            </a:pPr>
            <a:r>
              <a:rPr sz="1050" b="0">
                <a:solidFill>
                  <a:srgbClr val="6E6E6E"/>
                </a:solidFill>
                <a:latin typeface="Arial"/>
              </a:rPr>
              <a:t>tls_dyson_chief_tilt.m (wraps the launch; the library untouched), its .mat; the template README.</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An engine finding from this round</a:t>
            </a:r>
          </a:p>
          <a:p>
            <a:pPr>
              <a:spcAft>
                <a:spcPts val="0"/>
              </a:spcAft>
            </a:pPr>
            <a:r>
              <a:rPr sz="1250" b="0">
                <a:solidFill>
                  <a:srgbClr val="6E6E6E"/>
                </a:solidFill>
                <a:latin typeface="Arial"/>
              </a:rPr>
              <a:t>The api refused an element stop on the secondary of a four-element telescope</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298448"/>
            <a:ext cx="11368735" cy="274320"/>
          </a:xfrm>
          <a:prstGeom prst="rect">
            <a:avLst/>
          </a:prstGeom>
          <a:noFill/>
        </p:spPr>
        <p:txBody>
          <a:bodyPr wrap="square">
            <a:spAutoFit/>
          </a:bodyPr>
          <a:lstStyle/>
          <a:p>
            <a:pPr>
              <a:spcAft>
                <a:spcPts val="600"/>
              </a:spcAft>
            </a:pPr>
            <a:r>
              <a:rPr sz="1500" b="0">
                <a:solidFill>
                  <a:srgbClr val="282828"/>
                </a:solidFill>
                <a:latin typeface="Arial"/>
              </a:rPr>
              <a:t>•  </a:t>
            </a:r>
            <a:r>
              <a:rPr sz="1500" b="1">
                <a:solidFill>
                  <a:srgbClr val="282828"/>
                </a:solidFill>
                <a:latin typeface="Arial"/>
              </a:rPr>
              <a:t>stop_info_set refused iElt ≥ nElt−2 and nElt ≤ 3</a:t>
            </a:r>
            <a:r>
              <a:rPr sz="1500" b="0">
                <a:solidFill>
                  <a:srgbClr val="282828"/>
                </a:solidFill>
                <a:latin typeface="Arial"/>
              </a:rPr>
              <a:t> — the original wrapper's range, with no engine reason — so macos.stop(2) failed on every M1-M2-M3-FP deck while the prescription keyword ApStop= and the CLI's STOP (1..nElt) accepted it.  The template worked around it with one deck per field until the fix.  Now the CLI's range; gate tStopReload/test_stop_accepts_the_secondary_of_a_four_element_deck.</a:t>
            </a:r>
          </a:p>
          <a:p>
            <a:pPr>
              <a:spcAft>
                <a:spcPts val="600"/>
              </a:spcAft>
            </a:pPr>
            <a:r>
              <a:rPr sz="1500" b="0">
                <a:solidFill>
                  <a:srgbClr val="282828"/>
                </a:solidFill>
                <a:latin typeface="Arial"/>
              </a:rPr>
              <a:t>•  </a:t>
            </a:r>
            <a:r>
              <a:rPr sz="1500" b="1">
                <a:solidFill>
                  <a:srgbClr val="282828"/>
                </a:solidFill>
                <a:latin typeface="Arial"/>
              </a:rPr>
              <a:t>Also from this round, in the tools:</a:t>
            </a:r>
            <a:r>
              <a:rPr sz="1500" b="0">
                <a:solidFill>
                  <a:srgbClr val="282828"/>
                </a:solidFill>
                <a:latin typeface="Arial"/>
              </a:rPr>
              <a:t> both launch conventions in the join scorer (dyson5_t5f, tel5f_launch), the per-field chief-angle components in every rung table, the spectrometer's chief-tilt diagnostic.</a:t>
            </a:r>
          </a:p>
        </p:txBody>
      </p:sp>
      <p:sp>
        <p:nvSpPr>
          <p:cNvPr id="5" name="TextBox 4"/>
          <p:cNvSpPr txBox="1"/>
          <p:nvPr/>
        </p:nvSpPr>
        <p:spPr>
          <a:xfrm>
            <a:off x="411480" y="3101339"/>
            <a:ext cx="11368735" cy="274320"/>
          </a:xfrm>
          <a:prstGeom prst="rect">
            <a:avLst/>
          </a:prstGeom>
          <a:noFill/>
        </p:spPr>
        <p:txBody>
          <a:bodyPr wrap="square">
            <a:spAutoFit/>
          </a:bodyPr>
          <a:lstStyle/>
          <a:p>
            <a:pPr>
              <a:spcAft>
                <a:spcPts val="600"/>
              </a:spcAft>
            </a:pPr>
            <a:r>
              <a:rPr sz="1050" b="0">
                <a:solidFill>
                  <a:srgbClr val="6E6E6E"/>
                </a:solidFill>
                <a:latin typeface="Arial"/>
              </a:rPr>
              <a:t>macos a09cd59; resources 9845c2d.</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Records behind each slide</a:t>
            </a:r>
          </a:p>
          <a:p>
            <a:pPr>
              <a:spcAft>
                <a:spcPts val="0"/>
              </a:spcAft>
            </a:pPr>
            <a:r>
              <a:rPr sz="1250" b="0">
                <a:solidFill>
                  <a:srgbClr val="6E6E6E"/>
                </a:solidFill>
                <a:latin typeface="Arial"/>
              </a:rPr>
              <a:t>Every number traces to a runner stage and its record file</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411480" y="1298448"/>
          <a:ext cx="11368735" cy="2240280"/>
        </p:xfrm>
        <a:graphic>
          <a:graphicData uri="http://schemas.openxmlformats.org/drawingml/2006/table">
            <a:tbl>
              <a:tblPr firstRow="1" bandRow="1">
                <a:tableStyleId>{5C22544A-7EE6-4342-B048-85BDC9FD1C3A}</a:tableStyleId>
              </a:tblPr>
              <a:tblGrid>
                <a:gridCol w="509524"/>
                <a:gridCol w="10859211"/>
              </a:tblGrid>
              <a:tr h="280035">
                <a:tc>
                  <a:txBody>
                    <a:bodyPr wrap="square"/>
                    <a:lstStyle/>
                    <a:p>
                      <a:r>
                        <a:rPr sz="1100" b="1">
                          <a:solidFill>
                            <a:srgbClr val="FFFFFF"/>
                          </a:solidFill>
                          <a:latin typeface="Arial"/>
                        </a:rPr>
                        <a:t>slide</a:t>
                      </a:r>
                    </a:p>
                  </a:txBody>
                  <a:tcPr marL="54864" marR="54864" marT="18288" marB="18288">
                    <a:solidFill>
                      <a:srgbClr val="1F4E79"/>
                    </a:solidFill>
                  </a:tcPr>
                </a:tc>
                <a:tc>
                  <a:txBody>
                    <a:bodyPr wrap="square"/>
                    <a:lstStyle/>
                    <a:p>
                      <a:r>
                        <a:rPr sz="1100" b="1">
                          <a:solidFill>
                            <a:srgbClr val="FFFFFF"/>
                          </a:solidFill>
                          <a:latin typeface="Arial"/>
                        </a:rPr>
                        <a:t>record</a:t>
                      </a:r>
                    </a:p>
                  </a:txBody>
                  <a:tcPr marL="54864" marR="54864" marT="18288" marB="18288">
                    <a:solidFill>
                      <a:srgbClr val="1F4E79"/>
                    </a:solidFill>
                  </a:tcPr>
                </a:tc>
              </a:tr>
              <a:tr h="280035">
                <a:tc>
                  <a:txBody>
                    <a:bodyPr wrap="square"/>
                    <a:lstStyle/>
                    <a:p>
                      <a:r>
                        <a:rPr sz="1100" b="0">
                          <a:solidFill>
                            <a:srgbClr val="282828"/>
                          </a:solidFill>
                          <a:latin typeface="Arial"/>
                        </a:rPr>
                        <a:t>5</a:t>
                      </a:r>
                    </a:p>
                  </a:txBody>
                  <a:tcPr marL="54864" marR="54864" marT="18288" marB="18288">
                    <a:solidFill>
                      <a:srgbClr val="FFFFFF"/>
                    </a:solidFill>
                  </a:tcPr>
                </a:tc>
                <a:tc>
                  <a:txBody>
                    <a:bodyPr wrap="square"/>
                    <a:lstStyle/>
                    <a:p>
                      <a:r>
                        <a:rPr sz="1100" b="0">
                          <a:solidFill>
                            <a:srgbClr val="282828"/>
                          </a:solidFill>
                          <a:latin typeface="Arial"/>
                        </a:rPr>
                        <a:t>tma_longslit/tls_first_order.txt, tls_section_layout.png; dyson5_cprime_3k_viewyz.png</a:t>
                      </a:r>
                    </a:p>
                  </a:txBody>
                  <a:tcPr marL="54864" marR="54864" marT="18288" marB="18288">
                    <a:solidFill>
                      <a:srgbClr val="FFFFFF"/>
                    </a:solidFill>
                  </a:tcPr>
                </a:tc>
              </a:tr>
              <a:tr h="280035">
                <a:tc>
                  <a:txBody>
                    <a:bodyPr wrap="square"/>
                    <a:lstStyle/>
                    <a:p>
                      <a:r>
                        <a:rPr sz="1100" b="0">
                          <a:solidFill>
                            <a:srgbClr val="282828"/>
                          </a:solidFill>
                          <a:latin typeface="Arial"/>
                        </a:rPr>
                        <a:t>6</a:t>
                      </a:r>
                    </a:p>
                  </a:txBody>
                  <a:tcPr marL="54864" marR="54864" marT="18288" marB="18288">
                    <a:solidFill>
                      <a:srgbClr val="ECF1F6"/>
                    </a:solidFill>
                  </a:tcPr>
                </a:tc>
                <a:tc>
                  <a:txBody>
                    <a:bodyPr wrap="square"/>
                    <a:lstStyle/>
                    <a:p>
                      <a:r>
                        <a:rPr sz="1100" b="0">
                          <a:solidFill>
                            <a:srgbClr val="282828"/>
                          </a:solidFill>
                          <a:latin typeface="Arial"/>
                        </a:rPr>
                        <a:t>challenges/dyson5/dyson5_cprime_3k.in; REPORT_dyson5_cprime.md (R9); tTmaLongslit</a:t>
                      </a:r>
                    </a:p>
                  </a:txBody>
                  <a:tcPr marL="54864" marR="54864" marT="18288" marB="18288">
                    <a:solidFill>
                      <a:srgbClr val="ECF1F6"/>
                    </a:solidFill>
                  </a:tcPr>
                </a:tc>
              </a:tr>
              <a:tr h="280035">
                <a:tc>
                  <a:txBody>
                    <a:bodyPr wrap="square"/>
                    <a:lstStyle/>
                    <a:p>
                      <a:r>
                        <a:rPr sz="1100" b="0">
                          <a:solidFill>
                            <a:srgbClr val="282828"/>
                          </a:solidFill>
                          <a:latin typeface="Arial"/>
                        </a:rPr>
                        <a:t>7, 8</a:t>
                      </a:r>
                    </a:p>
                  </a:txBody>
                  <a:tcPr marL="54864" marR="54864" marT="18288" marB="18288">
                    <a:solidFill>
                      <a:srgbClr val="FFFFFF"/>
                    </a:solidFill>
                  </a:tcPr>
                </a:tc>
                <a:tc>
                  <a:txBody>
                    <a:bodyPr wrap="square"/>
                    <a:lstStyle/>
                    <a:p>
                      <a:r>
                        <a:rPr sz="1100" b="0">
                          <a:solidFill>
                            <a:srgbClr val="282828"/>
                          </a:solidFill>
                          <a:latin typeface="Arial"/>
                        </a:rPr>
                        <a:t>dyson5_jim_3a.txt; dyson5_t5f_cprime_centroid_roll000.txt, _roll180.txt, _chief_roll000.txt; _e2e.in, _maps.png, _e2e_viewyz.png</a:t>
                      </a:r>
                    </a:p>
                  </a:txBody>
                  <a:tcPr marL="54864" marR="54864" marT="18288" marB="18288">
                    <a:solidFill>
                      <a:srgbClr val="FFFFFF"/>
                    </a:solidFill>
                  </a:tcPr>
                </a:tc>
              </a:tr>
              <a:tr h="280035">
                <a:tc>
                  <a:txBody>
                    <a:bodyPr wrap="square"/>
                    <a:lstStyle/>
                    <a:p>
                      <a:r>
                        <a:rPr sz="1100" b="0">
                          <a:solidFill>
                            <a:srgbClr val="282828"/>
                          </a:solidFill>
                          <a:latin typeface="Arial"/>
                        </a:rPr>
                        <a:t>9, 10</a:t>
                      </a:r>
                    </a:p>
                  </a:txBody>
                  <a:tcPr marL="54864" marR="54864" marT="18288" marB="18288">
                    <a:solidFill>
                      <a:srgbClr val="ECF1F6"/>
                    </a:solidFill>
                  </a:tcPr>
                </a:tc>
                <a:tc>
                  <a:txBody>
                    <a:bodyPr wrap="square"/>
                    <a:lstStyle/>
                    <a:p>
                      <a:r>
                        <a:rPr sz="1100" b="0">
                          <a:solidFill>
                            <a:srgbClr val="282828"/>
                          </a:solidFill>
                          <a:latin typeface="Arial"/>
                        </a:rPr>
                        <a:t>REPORT_dyson5_cprime.md (R4–R9); tls_dyson_chief_tilt.mat; tls_e2e_both_conventions.mat</a:t>
                      </a:r>
                    </a:p>
                  </a:txBody>
                  <a:tcPr marL="54864" marR="54864" marT="18288" marB="18288">
                    <a:solidFill>
                      <a:srgbClr val="ECF1F6"/>
                    </a:solidFill>
                  </a:tcPr>
                </a:tc>
              </a:tr>
              <a:tr h="280035">
                <a:tc>
                  <a:txBody>
                    <a:bodyPr wrap="square"/>
                    <a:lstStyle/>
                    <a:p>
                      <a:r>
                        <a:rPr sz="1100" b="0">
                          <a:solidFill>
                            <a:srgbClr val="282828"/>
                          </a:solidFill>
                          <a:latin typeface="Arial"/>
                        </a:rPr>
                        <a:t>11</a:t>
                      </a:r>
                    </a:p>
                  </a:txBody>
                  <a:tcPr marL="54864" marR="54864" marT="18288" marB="18288">
                    <a:solidFill>
                      <a:srgbClr val="FFFFFF"/>
                    </a:solidFill>
                  </a:tcPr>
                </a:tc>
                <a:tc>
                  <a:txBody>
                    <a:bodyPr wrap="square"/>
                    <a:lstStyle/>
                    <a:p>
                      <a:r>
                        <a:rPr sz="1100" b="0">
                          <a:solidFill>
                            <a:srgbClr val="282828"/>
                          </a:solidFill>
                          <a:latin typeface="Arial"/>
                        </a:rPr>
                        <a:t>R9 per-field table (REPORT_dyson5_cprime.md)</a:t>
                      </a:r>
                    </a:p>
                  </a:txBody>
                  <a:tcPr marL="54864" marR="54864" marT="18288" marB="18288">
                    <a:solidFill>
                      <a:srgbClr val="FFFFFF"/>
                    </a:solidFill>
                  </a:tcPr>
                </a:tc>
              </a:tr>
              <a:tr h="280035">
                <a:tc>
                  <a:txBody>
                    <a:bodyPr wrap="square"/>
                    <a:lstStyle/>
                    <a:p>
                      <a:r>
                        <a:rPr sz="1100" b="0">
                          <a:solidFill>
                            <a:srgbClr val="282828"/>
                          </a:solidFill>
                          <a:latin typeface="Arial"/>
                        </a:rPr>
                        <a:t>12</a:t>
                      </a:r>
                    </a:p>
                  </a:txBody>
                  <a:tcPr marL="54864" marR="54864" marT="18288" marB="18288">
                    <a:solidFill>
                      <a:srgbClr val="ECF1F6"/>
                    </a:solidFill>
                  </a:tcPr>
                </a:tc>
                <a:tc>
                  <a:txBody>
                    <a:bodyPr wrap="square"/>
                    <a:lstStyle/>
                    <a:p>
                      <a:r>
                        <a:rPr sz="1100" b="0">
                          <a:solidFill>
                            <a:srgbClr val="282828"/>
                          </a:solidFill>
                          <a:latin typeface="Arial"/>
                        </a:rPr>
                        <a:t>dyson5_jim_3a.txt; BRIEF_to_dyson5.md addendum 49</a:t>
                      </a:r>
                    </a:p>
                  </a:txBody>
                  <a:tcPr marL="54864" marR="54864" marT="18288" marB="18288">
                    <a:solidFill>
                      <a:srgbClr val="ECF1F6"/>
                    </a:solidFill>
                  </a:tcPr>
                </a:tc>
              </a:tr>
              <a:tr h="280035">
                <a:tc>
                  <a:txBody>
                    <a:bodyPr wrap="square"/>
                    <a:lstStyle/>
                    <a:p>
                      <a:r>
                        <a:rPr sz="1100" b="0">
                          <a:solidFill>
                            <a:srgbClr val="282828"/>
                          </a:solidFill>
                          <a:latin typeface="Arial"/>
                        </a:rPr>
                        <a:t>13</a:t>
                      </a:r>
                    </a:p>
                  </a:txBody>
                  <a:tcPr marL="54864" marR="54864" marT="18288" marB="18288">
                    <a:solidFill>
                      <a:srgbClr val="FFFFFF"/>
                    </a:solidFill>
                  </a:tcPr>
                </a:tc>
                <a:tc>
                  <a:txBody>
                    <a:bodyPr wrap="square"/>
                    <a:lstStyle/>
                    <a:p>
                      <a:r>
                        <a:rPr sz="1100" b="0">
                          <a:solidFill>
                            <a:srgbClr val="282828"/>
                          </a:solidFill>
                          <a:latin typeface="Arial"/>
                        </a:rPr>
                        <a:t>dyson5_jim_3a.txt, dyson5_t5f_GM_1k5_bAs_ap.txt, dyson5_block4.txt</a:t>
                      </a:r>
                    </a:p>
                  </a:txBody>
                  <a:tcPr marL="54864" marR="54864" marT="18288" marB="18288">
                    <a:solidFill>
                      <a:srgbClr val="FFFFFF"/>
                    </a:solidFill>
                  </a:tcPr>
                </a:tc>
              </a:tr>
            </a:tbl>
          </a:graphicData>
        </a:graphic>
      </p:graphicFrame>
      <p:sp>
        <p:nvSpPr>
          <p:cNvPr id="5" name="TextBox 4"/>
          <p:cNvSpPr txBox="1"/>
          <p:nvPr/>
        </p:nvSpPr>
        <p:spPr>
          <a:xfrm>
            <a:off x="411480" y="3685032"/>
            <a:ext cx="11368735" cy="274320"/>
          </a:xfrm>
          <a:prstGeom prst="rect">
            <a:avLst/>
          </a:prstGeom>
          <a:noFill/>
        </p:spPr>
        <p:txBody>
          <a:bodyPr wrap="square">
            <a:spAutoFit/>
          </a:bodyPr>
          <a:lstStyle/>
          <a:p>
            <a:pPr>
              <a:spcAft>
                <a:spcPts val="600"/>
              </a:spcAft>
            </a:pPr>
            <a:r>
              <a:rPr sz="1050" b="0">
                <a:solidFill>
                  <a:srgbClr val="6E6E6E"/>
                </a:solidFill>
                <a:latin typeface="Arial"/>
              </a:rPr>
              <a:t>All under MACOS_resources/mmacos/challenges/dyson5/ and templates/10_telescopes/tma_longslit/, branch dev-candidate; the reports under macos/.  Public: nasa-jpl/macos, nasa-jpl/MACOS_resources.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