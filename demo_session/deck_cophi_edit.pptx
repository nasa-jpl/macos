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A73DF2-3815-4D77-8F05-580F8692E6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6BAC262-8624-4A9E-B7EC-ED38DA5CC4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193BAFC-9E7F-4C62-A0F6-5764199C92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9796CB7-B71B-48E9-A3F1-E5F7A84530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E1BD1A3-CAF2-4A10-B7DD-3A6FDDBA07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3725E30-5F1E-4C78-B27B-7FC8B9BB139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36635772-2E38-4C5C-BC31-5D633EF0E1C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76945A9-ACFE-43BC-B180-AEFC47C736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2D61064-BC93-41C4-8244-39C7F582442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454F938-47EE-43BB-B8B6-A24EE83CCC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B927CD5-C222-42F7-9377-2355E22AC4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B91CDB-5099-4E29-A3F6-C2EE73AF7A1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62C40D-378E-4D6A-B479-CD7EFD3379B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F0ABEB-CFD3-4037-980C-1B35B9DD7B5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DFC468-B228-46B6-B8FC-BE1EB3C147A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li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k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o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d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a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y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4FC6106-A0E8-476B-A9A8-E6CCEF296D1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037285-2191-46AE-8024-973DFAC509D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3E95A3-7F77-4A94-8198-B94D39C9D4A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3E571F-2D84-4423-B333-F92D83539CD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197015-6716-4B38-A9A5-0F9A935C391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27A29B-E7E1-499C-92C8-24609863CE4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053961-B30C-4253-B092-2AA76C7ACA4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34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COPHI as the Fifth DM Gauge Bench Sensor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October 2026.  Working record.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DRAFT — pending review.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Feng's proposal, in one slide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411480" y="1298520"/>
            <a:ext cx="5806080" cy="20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Layout: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Algorithm: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6400800" y="1298520"/>
            <a:ext cx="5394600" cy="28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same scoring: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is new: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is absent: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6400800" y="507492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" name="Picture 3" descr="cophi_block_single.png"/>
          <p:cNvPicPr/>
          <p:nvPr/>
        </p:nvPicPr>
        <p:blipFill>
          <a:blip r:embed="rId1"/>
          <a:srcRect l="0" t="3659" r="0" b="2839"/>
          <a:stretch/>
        </p:blipFill>
        <p:spPr>
          <a:xfrm>
            <a:off x="914400" y="1408320"/>
            <a:ext cx="9993960" cy="5394600"/>
          </a:xfrm>
          <a:prstGeom prst="rect">
            <a:avLst/>
          </a:prstGeom>
          <a:ln w="0">
            <a:noFill/>
          </a:ln>
        </p:spPr>
      </p:pic>
      <p:sp>
        <p:nvSpPr>
          <p:cNvPr id="77" name="TextBox 4"/>
          <p:cNvSpPr/>
          <p:nvPr/>
        </p:nvSpPr>
        <p:spPr>
          <a:xfrm>
            <a:off x="411480" y="1115640"/>
            <a:ext cx="11475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3429000" y="1426320"/>
            <a:ext cx="585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6400800" y="19994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2" name="Table 3"/>
          <p:cNvGraphicFramePr/>
          <p:nvPr/>
        </p:nvGraphicFramePr>
        <p:xfrm>
          <a:off x="411480" y="1298520"/>
          <a:ext cx="11368440" cy="4566240"/>
        </p:xfrm>
        <a:graphic>
          <a:graphicData uri="http://schemas.openxmlformats.org/drawingml/2006/table">
            <a:tbl>
              <a:tblPr/>
              <a:tblGrid>
                <a:gridCol w="1671480"/>
                <a:gridCol w="1532880"/>
                <a:gridCol w="6094080"/>
                <a:gridCol w="206964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14–15)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TextBox 4"/>
          <p:cNvSpPr/>
          <p:nvPr/>
        </p:nvSpPr>
        <p:spPr>
          <a:xfrm>
            <a:off x="411480" y="59425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411480" y="1298520"/>
            <a:ext cx="5806080" cy="386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Ruling: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, assumed to exist at 1:1 or better.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Lock-in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(I and Q) stores by the external reference (our Rb-clocked beat, now at kHz), the DC never reaches the well, I and Q leave at the frame rate — the four-bucket replaced by thousands of cycles integrated on-chip.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7" name="Table 4"/>
          <p:cNvGraphicFramePr/>
          <p:nvPr/>
        </p:nvGraphicFramePr>
        <p:xfrm>
          <a:off x="6400800" y="1298520"/>
          <a:ext cx="5394600" cy="3686040"/>
        </p:xfrm>
        <a:graphic>
          <a:graphicData uri="http://schemas.openxmlformats.org/drawingml/2006/table">
            <a:tbl>
              <a:tblPr/>
              <a:tblGrid>
                <a:gridCol w="1604520"/>
                <a:gridCol w="720720"/>
                <a:gridCol w="3069360"/>
              </a:tblGrid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" name="TextBox 5"/>
          <p:cNvSpPr/>
          <p:nvPr/>
        </p:nvSpPr>
        <p:spPr>
          <a:xfrm>
            <a:off x="421200" y="5165280"/>
            <a:ext cx="113382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Even well-capped the lock-in is ~12× the Photonfocus and ~110× Feng's baseline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; a verified well-free device (continuous, or I/Q ≥ 10 kHz) at the sheet's own 2.5 × 10⁹ e⁻/s per element would be ~18 pm per sample, ~0.34 s per pm — 10× the capped form; that is what the vendor question decides.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The vendor question: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6"/>
          <p:cNvSpPr/>
          <p:nvPr/>
        </p:nvSpPr>
        <p:spPr>
          <a:xfrm>
            <a:off x="457200" y="6400800"/>
            <a:ext cx="113382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with a lock-in camera: the block diagram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" name="Picture 3" descr="cophi_block_lockin.png"/>
          <p:cNvPicPr/>
          <p:nvPr/>
        </p:nvPicPr>
        <p:blipFill>
          <a:blip r:embed="rId1"/>
          <a:srcRect l="0" t="3010" r="0" b="2601"/>
          <a:stretch/>
        </p:blipFill>
        <p:spPr>
          <a:xfrm>
            <a:off x="740520" y="1106280"/>
            <a:ext cx="10295640" cy="5614200"/>
          </a:xfrm>
          <a:prstGeom prst="rect">
            <a:avLst/>
          </a:prstGeom>
          <a:ln w="0">
            <a:noFill/>
          </a:ln>
        </p:spPr>
      </p:pic>
      <p:sp>
        <p:nvSpPr>
          <p:cNvPr id="93" name="TextBox 4"/>
          <p:cNvSpPr/>
          <p:nvPr/>
        </p:nvSpPr>
        <p:spPr>
          <a:xfrm>
            <a:off x="4251960" y="1234440"/>
            <a:ext cx="58060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4206240" y="2286000"/>
            <a:ext cx="6080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6172200" y="6611040"/>
            <a:ext cx="56505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reading's algebra, pinned before the bench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" name="Picture 3" descr="cophi_equations.png"/>
          <p:cNvPicPr/>
          <p:nvPr/>
        </p:nvPicPr>
        <p:blipFill>
          <a:blip r:embed="rId1"/>
          <a:stretch/>
        </p:blipFill>
        <p:spPr>
          <a:xfrm>
            <a:off x="761760" y="1298520"/>
            <a:ext cx="10667520" cy="3200040"/>
          </a:xfrm>
          <a:prstGeom prst="rect">
            <a:avLst/>
          </a:prstGeom>
          <a:ln w="0">
            <a:noFill/>
          </a:ln>
        </p:spPr>
      </p:pic>
      <p:sp>
        <p:nvSpPr>
          <p:cNvPr id="99" name="TextBox 4"/>
          <p:cNvSpPr/>
          <p:nvPr/>
        </p:nvSpPr>
        <p:spPr>
          <a:xfrm>
            <a:off x="411480" y="4498920"/>
            <a:ext cx="5806080" cy="16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— nothing else changes.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phase (3)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6400800" y="4498920"/>
            <a:ext cx="5394600" cy="21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 step error (5):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Photons (6):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6400800" y="71931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" name="Picture 3" descr="cophi_layout_oap.png"/>
          <p:cNvPicPr/>
          <p:nvPr/>
        </p:nvPicPr>
        <p:blipFill>
          <a:blip r:embed="rId1"/>
          <a:stretch/>
        </p:blipFill>
        <p:spPr>
          <a:xfrm>
            <a:off x="1380600" y="1298520"/>
            <a:ext cx="3867840" cy="2091960"/>
          </a:xfrm>
          <a:prstGeom prst="rect">
            <a:avLst/>
          </a:prstGeom>
          <a:ln w="0">
            <a:noFill/>
          </a:ln>
        </p:spPr>
      </p:pic>
      <p:sp>
        <p:nvSpPr>
          <p:cNvPr id="105" name="TextBox 4"/>
          <p:cNvSpPr/>
          <p:nvPr/>
        </p:nvSpPr>
        <p:spPr>
          <a:xfrm>
            <a:off x="411480" y="340920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411480" y="4005000"/>
            <a:ext cx="5806080" cy="17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Registration: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Null on the flat DM: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13).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Contrast: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Picture 6" descr="cophi_layout_node.png"/>
          <p:cNvPicPr/>
          <p:nvPr/>
        </p:nvPicPr>
        <p:blipFill>
          <a:blip r:embed="rId2"/>
          <a:stretch/>
        </p:blipFill>
        <p:spPr>
          <a:xfrm>
            <a:off x="8120880" y="1298520"/>
            <a:ext cx="1954800" cy="2091960"/>
          </a:xfrm>
          <a:prstGeom prst="rect">
            <a:avLst/>
          </a:prstGeom>
          <a:ln w="0">
            <a:noFill/>
          </a:ln>
        </p:spPr>
      </p:pic>
      <p:sp>
        <p:nvSpPr>
          <p:cNvPr id="108" name="TextBox 7"/>
          <p:cNvSpPr/>
          <p:nvPr/>
        </p:nvSpPr>
        <p:spPr>
          <a:xfrm>
            <a:off x="6400800" y="3409200"/>
            <a:ext cx="5394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6400800" y="4005000"/>
            <a:ext cx="5394600" cy="19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trains priced: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6400800" y="650124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" name="Picture 3" descr="cophi_stations_oap.png"/>
          <p:cNvPicPr/>
          <p:nvPr/>
        </p:nvPicPr>
        <p:blipFill>
          <a:blip r:embed="rId1"/>
          <a:stretch/>
        </p:blipFill>
        <p:spPr>
          <a:xfrm>
            <a:off x="1293480" y="1298520"/>
            <a:ext cx="9604080" cy="2897280"/>
          </a:xfrm>
          <a:prstGeom prst="rect">
            <a:avLst/>
          </a:prstGeom>
          <a:ln w="0">
            <a:noFill/>
          </a:ln>
        </p:spPr>
      </p:pic>
      <p:sp>
        <p:nvSpPr>
          <p:cNvPr id="114" name="TextBox 4"/>
          <p:cNvSpPr/>
          <p:nvPr/>
        </p:nvSpPr>
        <p:spPr>
          <a:xfrm>
            <a:off x="411480" y="421452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5"/>
          <p:cNvSpPr/>
          <p:nvPr/>
        </p:nvSpPr>
        <p:spPr>
          <a:xfrm>
            <a:off x="411480" y="464508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10).  What resolution buys, and what it costs each gauge, is slide 17.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6"/>
          <p:cNvSpPr/>
          <p:nvPr/>
        </p:nvSpPr>
        <p:spPr>
          <a:xfrm>
            <a:off x="411480" y="581256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Resolution and timing, camera by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19" name="Table 3"/>
          <p:cNvGraphicFramePr/>
          <p:nvPr/>
        </p:nvGraphicFramePr>
        <p:xfrm>
          <a:off x="411480" y="1298520"/>
          <a:ext cx="11368440" cy="3182760"/>
        </p:xfrm>
        <a:graphic>
          <a:graphicData uri="http://schemas.openxmlformats.org/drawingml/2006/table">
            <a:tbl>
              <a:tblPr/>
              <a:tblGrid>
                <a:gridCol w="3484800"/>
                <a:gridCol w="1313640"/>
                <a:gridCol w="1770840"/>
                <a:gridCol w="1770840"/>
                <a:gridCol w="302760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(the 1.3 µm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0" name="TextBox 4"/>
          <p:cNvSpPr/>
          <p:nvPr/>
        </p:nvSpPr>
        <p:spPr>
          <a:xfrm>
            <a:off x="411480" y="4628160"/>
            <a:ext cx="11368440" cy="15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5"/>
          <p:cNvSpPr/>
          <p:nvPr/>
        </p:nvSpPr>
        <p:spPr>
          <a:xfrm>
            <a:off x="411480" y="64310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IFO's reading is not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24" name="Table 3"/>
          <p:cNvGraphicFramePr/>
          <p:nvPr/>
        </p:nvGraphicFramePr>
        <p:xfrm>
          <a:off x="411480" y="1188720"/>
          <a:ext cx="11367720" cy="3611880"/>
        </p:xfrm>
        <a:graphic>
          <a:graphicData uri="http://schemas.openxmlformats.org/drawingml/2006/table">
            <a:tbl>
              <a:tblPr/>
              <a:tblGrid>
                <a:gridCol w="3065400"/>
                <a:gridCol w="2682000"/>
                <a:gridCol w="2325600"/>
                <a:gridCol w="3295080"/>
              </a:tblGrid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10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362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TextBox 4"/>
          <p:cNvSpPr/>
          <p:nvPr/>
        </p:nvSpPr>
        <p:spPr>
          <a:xfrm>
            <a:off x="411480" y="5257800"/>
            <a:ext cx="11368440" cy="10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411480" y="712944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Photons for 1 pm, camera by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29" name="Table 3"/>
          <p:cNvGraphicFramePr/>
          <p:nvPr/>
        </p:nvGraphicFramePr>
        <p:xfrm>
          <a:off x="411480" y="1298520"/>
          <a:ext cx="5806080" cy="4407840"/>
        </p:xfrm>
        <a:graphic>
          <a:graphicData uri="http://schemas.openxmlformats.org/drawingml/2006/table">
            <a:tbl>
              <a:tblPr/>
              <a:tblGrid>
                <a:gridCol w="1471320"/>
                <a:gridCol w="1010520"/>
                <a:gridCol w="868680"/>
                <a:gridCol w="407520"/>
                <a:gridCol w="957240"/>
                <a:gridCol w="1090440"/>
              </a:tblGrid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(the 1.3 µm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TextBox 4"/>
          <p:cNvSpPr/>
          <p:nvPr/>
        </p:nvSpPr>
        <p:spPr>
          <a:xfrm>
            <a:off x="411480" y="5765400"/>
            <a:ext cx="58060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metric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6400800" y="1298520"/>
            <a:ext cx="5394600" cy="35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6400800" y="5403960"/>
            <a:ext cx="53946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Holding 3 pm: the servo at the camera's cadence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5" name="Table 3"/>
          <p:cNvGraphicFramePr/>
          <p:nvPr/>
        </p:nvGraphicFramePr>
        <p:xfrm>
          <a:off x="411480" y="1298520"/>
          <a:ext cx="5806080" cy="4686120"/>
        </p:xfrm>
        <a:graphic>
          <a:graphicData uri="http://schemas.openxmlformats.org/drawingml/2006/table">
            <a:tbl>
              <a:tblPr/>
              <a:tblGrid>
                <a:gridCol w="2529000"/>
                <a:gridCol w="327708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6" name="TextBox 4"/>
          <p:cNvSpPr/>
          <p:nvPr/>
        </p:nvSpPr>
        <p:spPr>
          <a:xfrm>
            <a:off x="6400800" y="1298520"/>
            <a:ext cx="5394600" cy="452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 (mirror rig, median-fill convention):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— co-routed, thermally tied, or servoed.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5"/>
          <p:cNvSpPr/>
          <p:nvPr/>
        </p:nvSpPr>
        <p:spPr>
          <a:xfrm>
            <a:off x="457200" y="6172200"/>
            <a:ext cx="1133820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" name="Picture 3" descr="cophi_block_multi.png"/>
          <p:cNvPicPr/>
          <p:nvPr/>
        </p:nvPicPr>
        <p:blipFill>
          <a:blip r:embed="rId1"/>
          <a:srcRect l="0" t="3061" r="0" b="2370"/>
          <a:stretch/>
        </p:blipFill>
        <p:spPr>
          <a:xfrm>
            <a:off x="731520" y="1179720"/>
            <a:ext cx="9097920" cy="5623200"/>
          </a:xfrm>
          <a:prstGeom prst="rect">
            <a:avLst/>
          </a:prstGeom>
          <a:ln w="0">
            <a:noFill/>
          </a:ln>
        </p:spPr>
      </p:pic>
      <p:sp>
        <p:nvSpPr>
          <p:cNvPr id="141" name="TextBox 4"/>
          <p:cNvSpPr/>
          <p:nvPr/>
        </p:nvSpPr>
        <p:spPr>
          <a:xfrm>
            <a:off x="3657600" y="1152000"/>
            <a:ext cx="8229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5"/>
          <p:cNvSpPr/>
          <p:nvPr/>
        </p:nvSpPr>
        <p:spPr>
          <a:xfrm>
            <a:off x="5257800" y="2468880"/>
            <a:ext cx="585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6"/>
          <p:cNvSpPr/>
          <p:nvPr/>
        </p:nvSpPr>
        <p:spPr>
          <a:xfrm>
            <a:off x="4572000" y="1828800"/>
            <a:ext cx="73148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3"/>
          <p:cNvSpPr/>
          <p:nvPr/>
        </p:nvSpPr>
        <p:spPr>
          <a:xfrm>
            <a:off x="411480" y="1298520"/>
            <a:ext cx="5806080" cy="28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Temporal unwrapping: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one reference at a time, so the two colors are read on alternate I/Q samples (2 ms per pair) — zero wrong orders to 480 nm rms, 0.12 nm per pixel; temporal unwrapping at 1 kHz tolerates 158 µm/s at the peak pixel.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7" name="Table 4"/>
          <p:cNvGraphicFramePr/>
          <p:nvPr/>
        </p:nvGraphicFramePr>
        <p:xfrm>
          <a:off x="6400800" y="1298520"/>
          <a:ext cx="5394600" cy="2572920"/>
        </p:xfrm>
        <a:graphic>
          <a:graphicData uri="http://schemas.openxmlformats.org/drawingml/2006/table">
            <a:tbl>
              <a:tblPr/>
              <a:tblGrid>
                <a:gridCol w="2929680"/>
                <a:gridCol w="674280"/>
                <a:gridCol w="1790280"/>
              </a:tblGrid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5"/>
          <p:cNvSpPr/>
          <p:nvPr/>
        </p:nvSpPr>
        <p:spPr>
          <a:xfrm>
            <a:off x="6400800" y="3970800"/>
            <a:ext cx="53946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51" name="Table 3"/>
          <p:cNvGraphicFramePr/>
          <p:nvPr/>
        </p:nvGraphicFramePr>
        <p:xfrm>
          <a:off x="411480" y="1298520"/>
          <a:ext cx="11367000" cy="4873680"/>
        </p:xfrm>
        <a:graphic>
          <a:graphicData uri="http://schemas.openxmlformats.org/drawingml/2006/table">
            <a:tbl>
              <a:tblPr/>
              <a:tblGrid>
                <a:gridCol w="1520280"/>
                <a:gridCol w="2001600"/>
                <a:gridCol w="2432520"/>
                <a:gridCol w="1216080"/>
                <a:gridCol w="1798920"/>
                <a:gridCol w="2397960"/>
              </a:tblGrid>
              <a:tr h="43344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33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3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3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080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8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52" name="TextBox 4"/>
          <p:cNvSpPr/>
          <p:nvPr/>
        </p:nvSpPr>
        <p:spPr>
          <a:xfrm>
            <a:off x="457200" y="621792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Camera timings are TO's records on an IMX250MZR-class camera (2448 × 2048, 75 fps; well ~10 ke⁻ and read 2.4 e⁻ unconfirmed; the IFO's four analyzer frames in one exposure; S and P on the mono variant at 18.8 readings/s).  The sensors are 10–40× slower than photons ÷ full-sensor rate would say: the ZWFS image's bright core sets the exposure (dynamic range), the frame mean sits at half well, and two polarization orientations go unused — the IFO's uniform pupil does not pay those.  Parts counts and TRL to follow (campaign brief sec. 9.1).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Pricing resolution: IFO, vector ZWFS, HET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55" name="Table 3"/>
          <p:cNvGraphicFramePr/>
          <p:nvPr/>
        </p:nvGraphicFramePr>
        <p:xfrm>
          <a:off x="411480" y="1298520"/>
          <a:ext cx="11368440" cy="2952720"/>
        </p:xfrm>
        <a:graphic>
          <a:graphicData uri="http://schemas.openxmlformats.org/drawingml/2006/table">
            <a:tbl>
              <a:tblPr/>
              <a:tblGrid>
                <a:gridCol w="598320"/>
                <a:gridCol w="3669840"/>
                <a:gridCol w="917280"/>
                <a:gridCol w="877320"/>
                <a:gridCol w="1874520"/>
                <a:gridCol w="1196640"/>
                <a:gridCol w="1116720"/>
                <a:gridCol w="111672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images per pol.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" name="TextBox 4"/>
          <p:cNvSpPr/>
          <p:nvPr/>
        </p:nvSpPr>
        <p:spPr>
          <a:xfrm>
            <a:off x="411480" y="4256640"/>
            <a:ext cx="1136844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411480" y="61668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60" name="Table 3"/>
          <p:cNvGraphicFramePr/>
          <p:nvPr/>
        </p:nvGraphicFramePr>
        <p:xfrm>
          <a:off x="411480" y="1298520"/>
          <a:ext cx="11368440" cy="4034520"/>
        </p:xfrm>
        <a:graphic>
          <a:graphicData uri="http://schemas.openxmlformats.org/drawingml/2006/table">
            <a:tbl>
              <a:tblPr/>
              <a:tblGrid>
                <a:gridCol w="2107440"/>
                <a:gridCol w="4370400"/>
                <a:gridCol w="1268640"/>
                <a:gridCol w="1816920"/>
                <a:gridCol w="180432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61" name="TextBox 4"/>
          <p:cNvSpPr/>
          <p:nvPr/>
        </p:nvSpPr>
        <p:spPr>
          <a:xfrm>
            <a:off x="411480" y="5257800"/>
            <a:ext cx="11368440" cy="11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hold alone,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the vector Zernike is cheapest in photons by ~50× and needs no stabilities of its own — but on the assumed polarization camera it is the slowest in time (~60 s per cycle); Feng's camera makes COPHI slow (16 s), the Photonfocus fast (1.6 s),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the lock-in the fastest reading on the table (0.125 s; records)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if its well is as surveyed — with the fiber term inert.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COPHI in either form.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COPHI, with the lock-in the fastest by 20–500×;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the hybrid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stays the conservative answer until the lock-in's vendor numbers are 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411480" y="666432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Recommendations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411480" y="1298520"/>
            <a:ext cx="5806080" cy="23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Camera: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6400800" y="1298520"/>
            <a:ext cx="5394600" cy="14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Open in the record: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17); the polarization-camera timings through the noise hook (slide 16).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Model next: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6400800" y="30024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What to develop: what, why, how, how long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70" name="Table 3"/>
          <p:cNvGraphicFramePr/>
          <p:nvPr/>
        </p:nvGraphicFramePr>
        <p:xfrm>
          <a:off x="411480" y="1298520"/>
          <a:ext cx="11368440" cy="5401440"/>
        </p:xfrm>
        <a:graphic>
          <a:graphicData uri="http://schemas.openxmlformats.org/drawingml/2006/table">
            <a:tbl>
              <a:tblPr/>
              <a:tblGrid>
                <a:gridCol w="1526400"/>
                <a:gridCol w="2426760"/>
                <a:gridCol w="1870560"/>
                <a:gridCol w="4887360"/>
                <a:gridCol w="6570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8456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TextBox 4"/>
          <p:cNvSpPr/>
          <p:nvPr/>
        </p:nvSpPr>
        <p:spPr>
          <a:xfrm>
            <a:off x="411480" y="67082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Box 1"/>
          <p:cNvSpPr/>
          <p:nvPr/>
        </p:nvSpPr>
        <p:spPr>
          <a:xfrm>
            <a:off x="411480" y="201240"/>
            <a:ext cx="11368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Backup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Rectangle 2"/>
          <p:cNvSpPr/>
          <p:nvPr/>
        </p:nvSpPr>
        <p:spPr>
          <a:xfrm>
            <a:off x="411480" y="9144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Feng's N-frame algebra, and ours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3"/>
          <p:cNvSpPr/>
          <p:nvPr/>
        </p:nvSpPr>
        <p:spPr>
          <a:xfrm>
            <a:off x="411480" y="1298520"/>
            <a:ext cx="58060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Feng: I = I₀(1 + γ cos(φ + 2πf_h t)), α_k = 0, π/2, π, 3π/2; φ = atan2(I₄ − I₂, I₁ − I₃).  N frames: the linear least squares for (I₀, I₀γ cos φ, I₀γ sin φ).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4"/>
          <p:cNvSpPr/>
          <p:nvPr/>
        </p:nvSpPr>
        <p:spPr>
          <a:xfrm>
            <a:off x="6400800" y="1298520"/>
            <a:ext cx="5394600" cy="16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detector survey, and its caveats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80" name="Table 3"/>
          <p:cNvGraphicFramePr/>
          <p:nvPr/>
        </p:nvGraphicFramePr>
        <p:xfrm>
          <a:off x="411480" y="1298520"/>
          <a:ext cx="11368440" cy="1959120"/>
        </p:xfrm>
        <a:graphic>
          <a:graphicData uri="http://schemas.openxmlformats.org/drawingml/2006/table">
            <a:tbl>
              <a:tblPr/>
              <a:tblGrid>
                <a:gridCol w="2034720"/>
                <a:gridCol w="4757040"/>
                <a:gridCol w="457632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1" name="TextBox 4"/>
          <p:cNvSpPr/>
          <p:nvPr/>
        </p:nvSpPr>
        <p:spPr>
          <a:xfrm>
            <a:off x="411480" y="331344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Run tags and records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Every number in this deck, where it came from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84" name="Table 3"/>
          <p:cNvGraphicFramePr/>
          <p:nvPr/>
        </p:nvGraphicFramePr>
        <p:xfrm>
          <a:off x="411480" y="1298520"/>
          <a:ext cx="11368440" cy="3457080"/>
        </p:xfrm>
        <a:graphic>
          <a:graphicData uri="http://schemas.openxmlformats.org/drawingml/2006/table">
            <a:tbl>
              <a:tblPr/>
              <a:tblGrid>
                <a:gridCol w="1694880"/>
                <a:gridCol w="4340520"/>
                <a:gridCol w="53326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85" name="TextBox 4"/>
          <p:cNvSpPr/>
          <p:nvPr/>
        </p:nvSpPr>
        <p:spPr>
          <a:xfrm>
            <a:off x="411480" y="490248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2026-10-12T17:47:14Z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