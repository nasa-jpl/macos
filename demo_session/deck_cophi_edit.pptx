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A09A6A2-2D04-4165-8847-92B68DBC5C7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30A303A6-60DC-455D-B571-9055AA1B382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0E0FFE1D-504C-4B36-8546-96B63C0DD6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7189AB86-214B-40BC-ABB8-3975C23352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3308C82C-6927-433F-B0A9-BDAC62954E6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83EC123A-D253-4A19-9D54-843D108EF95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3DC07D42-934E-437D-AD9C-C138E7DC9E7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476BC572-4522-4B62-9A39-3B5FCA4A52B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F25210B1-1813-463D-BEC9-2ECAB54B6E2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B43B08F2-3E44-4C7F-BF95-EFD590374D5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D8BAD9ED-9980-4DFF-BDC2-07D5024D96D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BB7681E-49A1-4E77-9EFB-71ED892FDC1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B0E12CD-2AA6-4031-B804-486896D52CEC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A6643BD-1200-4B46-998D-4D4C89BB7B9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E0701D7-3346-445B-A9B8-886B478D6EAD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to edit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Maste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r title </a:t>
            </a: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86182C6-2E9B-48A3-80E3-A993FB36F799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5959483-2E82-4A5F-B035-CD68B0833ED7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A671ED8B-B118-4E6F-AFBA-225188E18F23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BB83CB5-6245-4050-9235-7BA4C235D95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BE67C81-FE74-462D-90C7-3DAE64EE559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5A7C17E-393D-4914-B773-0FE58228D49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6745855-7DA4-42AA-B54E-D703FBFC47CB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TextBox 1"/>
          <p:cNvSpPr/>
          <p:nvPr/>
        </p:nvSpPr>
        <p:spPr>
          <a:xfrm>
            <a:off x="822960" y="1737360"/>
            <a:ext cx="10545480" cy="343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4000" spc="-1" strike="noStrike">
                <a:solidFill>
                  <a:srgbClr val="1f4e79"/>
                </a:solidFill>
                <a:latin typeface="Arial"/>
              </a:rPr>
              <a:t>COPHI as the Fifth DM Gauge Bench Sensor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0" lang="en-US" sz="2200" spc="-1" strike="noStrike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6e6e6e"/>
                </a:solidFill>
                <a:latin typeface="Arial"/>
              </a:rPr>
              <a:t>October 2026.  Working record.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6e6e6e"/>
                </a:solidFill>
                <a:latin typeface="Arial"/>
              </a:rPr>
              <a:t>DRAFT — pending review.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TextBox 2"/>
          <p:cNvSpPr/>
          <p:nvPr/>
        </p:nvSpPr>
        <p:spPr>
          <a:xfrm>
            <a:off x="822960" y="5486400"/>
            <a:ext cx="105454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Feng's proposal, in one slide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1" name="TextBox 3"/>
          <p:cNvSpPr/>
          <p:nvPr/>
        </p:nvSpPr>
        <p:spPr>
          <a:xfrm>
            <a:off x="411480" y="1298520"/>
            <a:ext cx="5806080" cy="20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Layout: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 – see next slide.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Algorithm: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Main purpose: stabilize the DM!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 Run each DM in a local loop to hold it — our job 3.  For us to figure out: the camera, the photon budget, the error terms, estimated performance.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Box 4"/>
          <p:cNvSpPr/>
          <p:nvPr/>
        </p:nvSpPr>
        <p:spPr>
          <a:xfrm>
            <a:off x="6400800" y="1298520"/>
            <a:ext cx="5394600" cy="287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Built on our DM Gauge bench: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bench with mirror and lens layouts, the 96 × 96 DM, swappable sensors: the core Twyman-Green interferometer (IFO), scalar and vector Zernike wavefront sensors (ZWFS), point-diffraction interferometers.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same scoring: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on a 30 nm working surface, the response matrix measured through the reading, the hold loop, the capture ladder, the photon rows.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What is new: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Local Oscillator (LO)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What is absent: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IFO carries (0.983–1.004) does not exist here.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Box 5"/>
          <p:cNvSpPr/>
          <p:nvPr/>
        </p:nvSpPr>
        <p:spPr>
          <a:xfrm>
            <a:off x="6400800" y="507492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76" name="Picture 3" descr="cophi_block_single.png"/>
          <p:cNvPicPr/>
          <p:nvPr/>
        </p:nvPicPr>
        <p:blipFill>
          <a:blip r:embed="rId1"/>
          <a:srcRect l="0" t="3659" r="0" b="2839"/>
          <a:stretch/>
        </p:blipFill>
        <p:spPr>
          <a:xfrm>
            <a:off x="914400" y="1408320"/>
            <a:ext cx="9993960" cy="5394600"/>
          </a:xfrm>
          <a:prstGeom prst="rect">
            <a:avLst/>
          </a:prstGeom>
          <a:ln w="0">
            <a:noFill/>
          </a:ln>
        </p:spPr>
      </p:pic>
      <p:sp>
        <p:nvSpPr>
          <p:cNvPr id="77" name="TextBox 4"/>
          <p:cNvSpPr/>
          <p:nvPr/>
        </p:nvSpPr>
        <p:spPr>
          <a:xfrm>
            <a:off x="411480" y="1115640"/>
            <a:ext cx="1147536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Box 5"/>
          <p:cNvSpPr/>
          <p:nvPr/>
        </p:nvSpPr>
        <p:spPr>
          <a:xfrm>
            <a:off x="3429000" y="1426320"/>
            <a:ext cx="5851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Blue = RF / timing · Red = PM fiber · Green = free-space beam · Gray =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Box 6"/>
          <p:cNvSpPr/>
          <p:nvPr/>
        </p:nvSpPr>
        <p:spPr>
          <a:xfrm>
            <a:off x="6172200" y="2103120"/>
            <a:ext cx="43430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6).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Our implementation of Feng's approach: the choices, in one table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Feng's layout kept where he specified it, each unspecified part fixed by a bench number; the lock-in camera (next slide) changes the camera, the beat and the trigger chain only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82" name="Table 3"/>
          <p:cNvGraphicFramePr/>
          <p:nvPr/>
        </p:nvGraphicFramePr>
        <p:xfrm>
          <a:off x="411480" y="1298520"/>
          <a:ext cx="11368440" cy="4566240"/>
        </p:xfrm>
        <a:graphic>
          <a:graphicData uri="http://schemas.openxmlformats.org/drawingml/2006/table">
            <a:tbl>
              <a:tblPr/>
              <a:tblGrid>
                <a:gridCol w="1671480"/>
                <a:gridCol w="1532880"/>
                <a:gridCol w="6094080"/>
                <a:gridCol w="206964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Feng's proposal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our implementation (what the model runs)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single-frequency, λ unstated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632.8 nm, the record bench's; a 1.3 µm row for InGaAs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other four gauges' surface, matrix and photon rows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RF and timing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AOMs 80 MHz / 80 MHz + 7.5 Hz, 10 MHz Rb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as proposed; camera trigger on the same reference, 30 fps = 4 × 7.5 Hz; jitter a knob, nominal 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frequency-set steps on one clock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buckets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four frames per beat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each frame integrates a quarter cycle: contrast × 0.900; N &gt; 4 = the least-squares backup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four-step, with the bucket priced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local oscillator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fiber LO before the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PM fiber tip + collimator at the reference flat's seat (slide 8); LO/test ~1, contrast 0.98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seat registers on both rigs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beam train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polarization, plain splitter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plain splitter scored; the polarizing train priced beside it (same pm, ×1.5 laser)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 analyzer: no polarization gain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30 fps array, part unstated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four surveyed rows, read noise in each: baseline 1k² 60 ke⁻ 30 fps; Photonfocus 200 ke⁻ 150 fps (the "Feng's camera" row); pco.edge GS; C-RED 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well × frame rate decides (slide 12)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exposure, resolution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96 × 96 resolved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frame mean at half the well; model 3.3 px per actuator, real cameras 5–21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oversampling costs no photons (slide 10)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reconstruction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atan2 four-step; surface = φλ/4π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same about the bucket centers; LO-only annulus median-filled; unknowns = control set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record's estimator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errors, hold, capture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"stabilize the DM"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fiber walk, jitter, LO drift, shot + read noise, the record's drifts (slide 13); the record's loop at the camera's cadence; two colors from cold (slides 14–15)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other gauges' loop and ladder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3" name="TextBox 4"/>
          <p:cNvSpPr/>
          <p:nvPr/>
        </p:nvSpPr>
        <p:spPr>
          <a:xfrm>
            <a:off x="411480" y="594252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Sheet cophi_params.m (every row is a field there); records in the footnotes of the slides cited; detector rows from NOTE_detectors_survey.md (web, unverified).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whole lattice in a second — same optics, same RF chain; its rows run through every table that follows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6" name="TextBox 3"/>
          <p:cNvSpPr/>
          <p:nvPr/>
        </p:nvSpPr>
        <p:spPr>
          <a:xfrm>
            <a:off x="411480" y="1298520"/>
            <a:ext cx="5806080" cy="352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Ruling: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 every mode we care about (EFC probes included) runs at full actuator resolution — so the second implementation is a per-pixel demodulating reading at ≥ 1 element per actuator, assumed to exist.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Lock-in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 = synchronous detection inside each pixel: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photocurrent is multiplied by the beat reference and by its 90°-shifted copy, and integrated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stores are I = I₀γ cos φ (in-phase) and Q = I₀γ sin φ (quadrature) — not intensities; φ = atan2(Q, I)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DC term never reaches the well; I and Q leave at the frame rate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 Heliotis heliCam C4 / C4M — 542 × 512 (1024 × 1102), lock-in 1–250 kHz, 500 ke⁻ well, 2 × 10-bit I/Q, external reference; one vendor, four generations.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also ranked: 128² CMOS at 20–40 kfps, time-of-flight demodulators, digital-pixel ROICs, coherent photonic arrays; not fit: SPAD / Geiger arrays (count-rate ceilings)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87" name="Table 4"/>
          <p:cNvGraphicFramePr/>
          <p:nvPr/>
        </p:nvGraphicFramePr>
        <p:xfrm>
          <a:off x="6400800" y="1298520"/>
          <a:ext cx="5394600" cy="3686040"/>
        </p:xfrm>
        <a:graphic>
          <a:graphicData uri="http://schemas.openxmlformats.org/drawingml/2006/table">
            <a:tbl>
              <a:tblPr/>
              <a:tblGrid>
                <a:gridCol w="1604520"/>
                <a:gridCol w="720720"/>
                <a:gridCol w="3069360"/>
              </a:tblGrid>
              <a:tr h="6055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I/Q (in-phase / quadrature) per pixel at 1 kHz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57.9 / 61.1 pm per 1 ms I/Q sample, mirror / lens (63 / 66 at an assumed 100 e⁻ read)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055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3.35 / 3.73 (read 0, mirror / lens; 4.0 / 4.4 at read 100 assumed); ×1.11 for square-wave demodulation — well-capped at the I/Q rate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55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 well-free: 10⁹ / 10¹⁰ e⁻/s per element (the sheet's own 2.5 × 10⁹)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0.84 / 0.084 s (0.34 s at 2.5 × 10⁹) — analytic, one store per sample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I/Q sample, 1 ms (one 0.125 s cycle as the loop's upper bound)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8" name="TextBox 5"/>
          <p:cNvSpPr/>
          <p:nvPr/>
        </p:nvSpPr>
        <p:spPr>
          <a:xfrm>
            <a:off x="420480" y="4849200"/>
            <a:ext cx="11338200" cy="125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T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he lock-in is ~12× the Photonfocus and ~110× Feng's baseline.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well-free device (continuous, or I/Q ≥ 10 kHz) at 2.5 × 10⁹ e⁻/s per element: ~18 pm per sample, ~0.34 s per pm — 10× better again; that is what the vendor question decides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400" spc="-1" strike="noStrike">
                <a:solidFill>
                  <a:srgbClr val="282828"/>
                </a:solidFill>
                <a:latin typeface="Arial"/>
              </a:rPr>
              <a:t>The vendor question:</a:t>
            </a:r>
            <a:r>
              <a:rPr b="0" lang="en-US" sz="1400" spc="-1" strike="noStrike">
                <a:solidFill>
                  <a:srgbClr val="282828"/>
                </a:solidFill>
                <a:latin typeface="Arial"/>
              </a:rPr>
              <a:t> phase noise per pixel vs flux at t_c = 100 ms, and whether the full well bounds each internal 1 MSa/s sample or the 5.6 kSa/s output — for Heliotis, through Dave.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Box 6"/>
          <p:cNvSpPr/>
          <p:nvPr/>
        </p:nvSpPr>
        <p:spPr>
          <a:xfrm>
            <a:off x="457200" y="6400800"/>
            <a:ext cx="1133820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COPHI with a lock-in camera: the block diagram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Same laser, fibers, LO and bench; the beat moves to 5 kHz and goes to the camera's reference input; no frame trigger, no bucket; I/Q frames at 1 kHz go straight to the phase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2" name="Picture 3" descr="cophi_block_lockin.png"/>
          <p:cNvPicPr/>
          <p:nvPr/>
        </p:nvPicPr>
        <p:blipFill>
          <a:blip r:embed="rId1"/>
          <a:srcRect l="0" t="3010" r="0" b="2601"/>
          <a:stretch/>
        </p:blipFill>
        <p:spPr>
          <a:xfrm>
            <a:off x="740520" y="1106280"/>
            <a:ext cx="10295640" cy="5614200"/>
          </a:xfrm>
          <a:prstGeom prst="rect">
            <a:avLst/>
          </a:prstGeom>
          <a:ln w="0">
            <a:noFill/>
          </a:ln>
        </p:spPr>
      </p:pic>
      <p:sp>
        <p:nvSpPr>
          <p:cNvPr id="93" name="TextBox 4"/>
          <p:cNvSpPr/>
          <p:nvPr/>
        </p:nvSpPr>
        <p:spPr>
          <a:xfrm>
            <a:off x="4251960" y="1234440"/>
            <a:ext cx="5806080" cy="82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synthesizer 2 at 80 MHz + 5 kHz; the ×4 / 30 Hz trigger chain becomes the 5 kHz reference; the camera is the lock-in device; the processing is atan2(Q, I) per frame, decimated to the loop rate.  Fiber, LO and hold loop are unchanged.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TextBox 5"/>
          <p:cNvSpPr/>
          <p:nvPr/>
        </p:nvSpPr>
        <p:spPr>
          <a:xfrm>
            <a:off x="4206240" y="2286000"/>
            <a:ext cx="60804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Blue = RF / timing · Red = PM fiber · Green = free-space beam · Gray =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6172200" y="6611040"/>
            <a:ext cx="565056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reading's algebra, pinned before the bench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What the camera records, how the phase and the surface come out, and what the gate measured: the quarter-cycle integration costs 10 % of contrast, a step error is not cured by more frames, read noise is in the photon law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98" name="Picture 3" descr="cophi_equations.png"/>
          <p:cNvPicPr/>
          <p:nvPr/>
        </p:nvPicPr>
        <p:blipFill>
          <a:blip r:embed="rId1"/>
          <a:stretch/>
        </p:blipFill>
        <p:spPr>
          <a:xfrm>
            <a:off x="761760" y="1298520"/>
            <a:ext cx="10667520" cy="3200040"/>
          </a:xfrm>
          <a:prstGeom prst="rect">
            <a:avLst/>
          </a:prstGeom>
          <a:ln w="0">
            <a:noFill/>
          </a:ln>
        </p:spPr>
      </p:pic>
      <p:sp>
        <p:nvSpPr>
          <p:cNvPr id="99" name="TextBox 4"/>
          <p:cNvSpPr/>
          <p:nvPr/>
        </p:nvSpPr>
        <p:spPr>
          <a:xfrm>
            <a:off x="411480" y="4498920"/>
            <a:ext cx="5806080" cy="13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Integrating bucket (1)–(2):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a quarter cycle.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phase is kept (referred to the bucket center ᾱ_k); the amplitude shrinks by sinc(π/4) = </a:t>
            </a:r>
            <a:r>
              <a:rPr b="1" lang="en-US" sz="1050" spc="-1" strike="noStrike">
                <a:solidFill>
                  <a:srgbClr val="6e6e6e"/>
                </a:solidFill>
                <a:latin typeface="Arial"/>
              </a:rPr>
              <a:t>0.900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; nothing else changes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Phase (3):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a least-squares fit of the N frames to a + b cos ᾱ_k + c sin ᾱ_k.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for N = 4 it is Feng's atan2 exactly (his sign is for cos(φ + 2πft))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Box 5"/>
          <p:cNvSpPr/>
          <p:nvPr/>
        </p:nvSpPr>
        <p:spPr>
          <a:xfrm>
            <a:off x="6400800" y="4498920"/>
            <a:ext cx="5394600" cy="20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Step error (5):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steps of D(1 + ε) instead of D give a phase error (ε/2) sin 2φ — a ripple at twice the fringe frequency (Schwider 1983, Creath 1988).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more buckets do not cure it: an 8-bucket fit with the same step error is 1.43× worse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knowing the steps does: the fit at the true ᾱ_k is exact, and a Rb-clocked scan knows them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Photons (6):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shot noise ∝ 1/√I₀ (measured slope −0.500 ± 0.02 over two decades); read noise adds in quadrature.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a fiber walk or trigger jitter within a scan passes through at 0.13 of its size, with 4 or 8 buckets alike — no algorithmic cure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Box 6"/>
          <p:cNvSpPr/>
          <p:nvPr/>
        </p:nvSpPr>
        <p:spPr>
          <a:xfrm>
            <a:off x="6400800" y="722916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fiber tip and collimator, its powered face at the reference flat's seat; it registers on both rigs to a pixel and the flat-DM null is sub-nanometer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4" name="Picture 3" descr="cophi_layout_oap.png"/>
          <p:cNvPicPr/>
          <p:nvPr/>
        </p:nvPicPr>
        <p:blipFill>
          <a:blip r:embed="rId1"/>
          <a:stretch/>
        </p:blipFill>
        <p:spPr>
          <a:xfrm>
            <a:off x="1114920" y="1298520"/>
            <a:ext cx="4399200" cy="2091960"/>
          </a:xfrm>
          <a:prstGeom prst="rect">
            <a:avLst/>
          </a:prstGeom>
          <a:ln w="0">
            <a:noFill/>
          </a:ln>
        </p:spPr>
      </p:pic>
      <p:sp>
        <p:nvSpPr>
          <p:cNvPr id="105" name="TextBox 4"/>
          <p:cNvSpPr/>
          <p:nvPr/>
        </p:nvSpPr>
        <p:spPr>
          <a:xfrm>
            <a:off x="411480" y="3409200"/>
            <a:ext cx="580608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5"/>
          <p:cNvSpPr/>
          <p:nvPr/>
        </p:nvSpPr>
        <p:spPr>
          <a:xfrm>
            <a:off x="411480" y="4005000"/>
            <a:ext cx="5806080" cy="13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Registration: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chief ray 0.000 px on both rigs; the LO overfills the test pupil by 34 px (radius ratio 1.215).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Null on the flat DM: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lens rig 0.000 nm; mirror rig 0.746 nm rms, mostly tilt.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LO collimator's own wavefront, frozen into the null as the IFO freezes its reference; its motion is the LO-drift row (slide 13)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Contrast: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0.982 at LO/test power 1.47, as 2√r/(1 + r) says.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7" name="Picture 6" descr="cophi_layout_node.png"/>
          <p:cNvPicPr/>
          <p:nvPr/>
        </p:nvPicPr>
        <p:blipFill>
          <a:blip r:embed="rId2"/>
          <a:stretch/>
        </p:blipFill>
        <p:spPr>
          <a:xfrm>
            <a:off x="8120880" y="1298520"/>
            <a:ext cx="1954800" cy="2091960"/>
          </a:xfrm>
          <a:prstGeom prst="rect">
            <a:avLst/>
          </a:prstGeom>
          <a:ln w="0">
            <a:noFill/>
          </a:ln>
        </p:spPr>
      </p:pic>
      <p:sp>
        <p:nvSpPr>
          <p:cNvPr id="108" name="TextBox 7"/>
          <p:cNvSpPr/>
          <p:nvPr/>
        </p:nvSpPr>
        <p:spPr>
          <a:xfrm>
            <a:off x="6400800" y="3409200"/>
            <a:ext cx="539460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Box 8"/>
          <p:cNvSpPr/>
          <p:nvPr/>
        </p:nvSpPr>
        <p:spPr>
          <a:xfrm>
            <a:off x="6400800" y="4005000"/>
            <a:ext cx="5394600" cy="184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findings for any traced LO: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geometric tail places the detector field by ray index, not camera position: per-index null 681 nm, by position 0.45 nm — the LO is placed by position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plain mirror train had kept a source trim solved with the polarizer plate; without it OAP1 was fed off focus (84 nm of defocus) — now trimmed to zero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trains priced: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record's polarizing train and Feng's plain splitter read the same picometers (the camera is well-bound); the polarizing train costs light only (throughput 0.271 vs 0.408, ×1.5 laser).  The plain splitter is the layout scored.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Box 9"/>
          <p:cNvSpPr/>
          <p:nvPr/>
        </p:nvSpPr>
        <p:spPr>
          <a:xfrm>
            <a:off x="457200" y="6172200"/>
            <a:ext cx="11338200" cy="41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13" name="Picture 3" descr="cophi_stations_oap.png"/>
          <p:cNvPicPr/>
          <p:nvPr/>
        </p:nvPicPr>
        <p:blipFill>
          <a:blip r:embed="rId1"/>
          <a:stretch/>
        </p:blipFill>
        <p:spPr>
          <a:xfrm>
            <a:off x="1293480" y="1298520"/>
            <a:ext cx="9604080" cy="2897280"/>
          </a:xfrm>
          <a:prstGeom prst="rect">
            <a:avLst/>
          </a:prstGeom>
          <a:ln w="0">
            <a:noFill/>
          </a:ln>
        </p:spPr>
      </p:pic>
      <p:sp>
        <p:nvSpPr>
          <p:cNvPr id="114" name="TextBox 4"/>
          <p:cNvSpPr/>
          <p:nvPr/>
        </p:nvSpPr>
        <p:spPr>
          <a:xfrm>
            <a:off x="411480" y="4214520"/>
            <a:ext cx="11368440" cy="39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b="0" lang="en-US" sz="1000" spc="-1" strike="noStrike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Box 5"/>
          <p:cNvSpPr/>
          <p:nvPr/>
        </p:nvSpPr>
        <p:spPr>
          <a:xfrm>
            <a:off x="411480" y="4645080"/>
            <a:ext cx="11368440" cy="82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Resolution shown: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camera grid 1024 × 1024, pupil 315 px across —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3.3 pixels per actuator across, ~11 per actuator in area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(6948 lit actuators on ~77,900 pupil pixels).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every real camera on the table samples finer (5–21 px per actuator, slide 10); what resolution buys and costs is slide 17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Box 6"/>
          <p:cNvSpPr/>
          <p:nvPr/>
        </p:nvSpPr>
        <p:spPr>
          <a:xfrm>
            <a:off x="411480" y="565920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Resolution and timing, camera by camera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well depth × frame rate, not pixel count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19" name="Table 3"/>
          <p:cNvGraphicFramePr/>
          <p:nvPr/>
        </p:nvGraphicFramePr>
        <p:xfrm>
          <a:off x="411480" y="1298520"/>
          <a:ext cx="11368440" cy="3182760"/>
        </p:xfrm>
        <a:graphic>
          <a:graphicData uri="http://schemas.openxmlformats.org/drawingml/2006/table">
            <a:tbl>
              <a:tblPr/>
              <a:tblGrid>
                <a:gridCol w="3484800"/>
                <a:gridCol w="1313640"/>
                <a:gridCol w="1770840"/>
                <a:gridCol w="1770840"/>
                <a:gridCol w="3027600"/>
              </a:tblGrid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(the 1.3 µm stage)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61.1 / 57.9 per 1 ms I/Q sample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3.73 / 3.35 (well-capped at 1 kHz; ×1.11 square-wave)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 (well × rate per element)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0" name="TextBox 4"/>
          <p:cNvSpPr/>
          <p:nvPr/>
        </p:nvSpPr>
        <p:spPr>
          <a:xfrm>
            <a:off x="411480" y="4628160"/>
            <a:ext cx="11368440" cy="160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Resolution is free down to ~1.5 pixels per actuator: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a camera's photons per second are pixels × well × rate over the pupil; binning finer pixels onto the lattice changes only the read noise per sample.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below ~1.5 px per actuator the actuator fit collapses (the blur demo's box kernel) — 5 px per actuator is the floor on this table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nothing coarser is modeled (ruling: every mode of interest is commanded at full actuator resolution)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Cameras were put on the model grid by binning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(well × k², read × k): the pm-per-reading rows are the full camera's photons at the model's sampling.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Box 5"/>
          <p:cNvSpPr/>
          <p:nvPr/>
        </p:nvSpPr>
        <p:spPr>
          <a:xfrm>
            <a:off x="411480" y="683460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surface and matrix: HET matches the IFO's floor, halves its mirror-rig random-surface error, and is exact where the IFO is not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24" name="Table 3"/>
          <p:cNvGraphicFramePr/>
          <p:nvPr/>
        </p:nvGraphicFramePr>
        <p:xfrm>
          <a:off x="411480" y="1188720"/>
          <a:ext cx="11368440" cy="2800080"/>
        </p:xfrm>
        <a:graphic>
          <a:graphicData uri="http://schemas.openxmlformats.org/drawingml/2006/table">
            <a:tbl>
              <a:tblPr/>
              <a:tblGrid>
                <a:gridCol w="3065400"/>
                <a:gridCol w="2682000"/>
                <a:gridCol w="2325600"/>
                <a:gridCol w="329508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HET, lock-in camera (record, noise-free)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converged 1.0000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1.0005 — the same reading, the same algebra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5" name="TextBox 4"/>
          <p:cNvSpPr/>
          <p:nvPr/>
        </p:nvSpPr>
        <p:spPr>
          <a:xfrm>
            <a:off x="411480" y="4135320"/>
            <a:ext cx="11368440" cy="13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The one-step rows sit 0.5 % low for HET on both rigs — the estimator, not the reading: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the reading is exact (a 1.000 nm poke reads at slope 1.000000); the 0.5 % is the one-step Tikhonov shrinkage at the record's λ_m = 10⁻³ (1.0007 at 10⁻⁵) — the "matrix bias" every gauge carries, now a number.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Driven to convergence (the servo use), HET reads exactly on the mirror rig, and the IFO shows its polarization gain in the open: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IFO/HET = 1.006–1.009 (lens rig), 0.989 (mirror rig); the IFO's lens-rig "1.000" was polarization gain cancelling the shrinkage.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411480" y="5938200"/>
            <a:ext cx="1136844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Photons for 1 pm, camera by camera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seconds, the lock-in 3.4 s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29" name="Table 3"/>
          <p:cNvGraphicFramePr/>
          <p:nvPr/>
        </p:nvGraphicFramePr>
        <p:xfrm>
          <a:off x="411480" y="1298520"/>
          <a:ext cx="5806080" cy="4407840"/>
        </p:xfrm>
        <a:graphic>
          <a:graphicData uri="http://schemas.openxmlformats.org/drawingml/2006/table">
            <a:tbl>
              <a:tblPr/>
              <a:tblGrid>
                <a:gridCol w="1471320"/>
                <a:gridCol w="1010520"/>
                <a:gridCol w="868680"/>
                <a:gridCol w="407520"/>
                <a:gridCol w="957240"/>
                <a:gridCol w="1090440"/>
              </a:tblGrid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(the 1.3 µm stage)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reading; well-capped)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61.1 / 57.9 per 1 ms sample (66 / 63 at read 100)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3.73 / 3.35 (4.4 / 4.0 at read 100; ×1.11 square-wave)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6.2 / 5.6 min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TextBox 4"/>
          <p:cNvSpPr/>
          <p:nvPr/>
        </p:nvSpPr>
        <p:spPr>
          <a:xfrm>
            <a:off x="411480" y="5765400"/>
            <a:ext cx="5806080" cy="85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metric: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piston-free robust floor over the unpoked actuators (1.48 MAD, median of 12 draws).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raw single-actuator noise is mostly a common piston (165 vs 76 pm) — unobservable and inert on a DM; the composite deck puts every gauge on this metric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Box 5"/>
          <p:cNvSpPr/>
          <p:nvPr/>
        </p:nvSpPr>
        <p:spPr>
          <a:xfrm>
            <a:off x="6400800" y="1298520"/>
            <a:ext cx="5394600" cy="335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baseline's and the C-RED's read noise are assumed (not in Feng's deck; the survey's value unconfirmed)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a hold loop never needs SNR 10 in one measurement: it integrates readings (next slide)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Model and bench agree: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per-pixel noise on the bench equals the tCophi formula to 1.000 ± 0.002 on every camera, rig and train.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Rolling-shutter cameras are out: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rows exposed in sequence see different beat phases — a phase ramp across the image.  Needed: true global shutter, hardware trigger from the Rb clock, full-frame streaming.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a 1k camera oversamples the lattice ten to one; well depth × frame rate is the budget.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Box 6"/>
          <p:cNvSpPr/>
          <p:nvPr/>
        </p:nvSpPr>
        <p:spPr>
          <a:xfrm>
            <a:off x="6400800" y="5361840"/>
            <a:ext cx="539460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Holding 3 pm: the servo at the camera's cadence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COPHI holds 3 pm against the record's drifts: Feng's baseline camera needs a 16 s cycle, the Photonfocus 1.6 s, the lock-in camera 0.125 s (3.09 pm, fiber term inert); the LO's pointing is the term the loop cannot see past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35" name="Table 3"/>
          <p:cNvGraphicFramePr/>
          <p:nvPr/>
        </p:nvGraphicFramePr>
        <p:xfrm>
          <a:off x="411480" y="1298520"/>
          <a:ext cx="5806080" cy="4686120"/>
        </p:xfrm>
        <a:graphic>
          <a:graphicData uri="http://schemas.openxmlformats.org/drawingml/2006/table">
            <a:tbl>
              <a:tblPr/>
              <a:tblGrid>
                <a:gridCol w="2529000"/>
                <a:gridCol w="3277080"/>
              </a:tblGrid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(125 I/Q samples per cycle, a cycle every 0.125 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3.09 (converged 3.14); at 44 samples (44 ms cycles) 5.22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for the lock-in one whole 0.125 s cycle as the upper bound)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 4.12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12.7; lock-in 5.22 / 5.22 = its noise-only hold to the digit: a per-sample piston, inert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29.6 / 29.4 (lock-in 29.4: the LO is the same term in every form)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6" name="TextBox 4"/>
          <p:cNvSpPr/>
          <p:nvPr/>
        </p:nvSpPr>
        <p:spPr>
          <a:xfrm>
            <a:off x="6400800" y="1298520"/>
            <a:ext cx="5394600" cy="451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matrix takes an LO tilt as a DM tilt one-for-one (1 nrad reads as a surface tilt of 1.008 × θ/2), and the loop drives the DM to follow it.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1" lang="en-US" sz="1050" spc="-1" strike="noStrike">
                <a:solidFill>
                  <a:srgbClr val="6e6e6e"/>
                </a:solidFill>
                <a:latin typeface="Arial"/>
              </a:rPr>
              <a:t>the LO pointing must hold ~10 prad per cycle (~10 pm of fiber-tip motion at the collimator's focal length), or be referenced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 — the requirement the plain-splitter layout adds, beside the fiber's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budget at the photon floor (mirror rig): </a:t>
            </a:r>
            <a:r>
              <a:rPr b="1" lang="en-US" sz="1050" spc="-1" strike="noStrike">
                <a:solidFill>
                  <a:srgbClr val="6e6e6e"/>
                </a:solidFill>
                <a:latin typeface="Arial"/>
              </a:rPr>
              <a:t>3.9 × 10⁻³ rad per frame = 0.39 nm of differential OPD per 33 ms, ~12 nm/s, ~1.2 mK/s per meter of uncommon fiber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 — co-routed, thermally tied, or servoed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with the lock-in camera the walk is a per-sample piston: inert (record)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estimator's regularization (λ_m) is a spatial low-pass over the matrix's small-singular-value directions, where photon and read noise live; it trades a 0.5 % gain for a lower floor (the converged estimator removes the bias but admits ×2.1 the white noise)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loop averages across cycles at gain g (steady state σ_n √(g/(2 − g)), plus M readings per cycle); in the loop the one-step and converged estimators agree to 0.1 pm on every row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trigger jitter &lt; 2.8 × 10⁻³ rad, AOM drive ripple &lt; 1.8 × 10⁻³ — both easy with a Rb-locked DDS; latency one beat (133 ms at 7.5 Hz).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5"/>
          <p:cNvSpPr/>
          <p:nvPr/>
        </p:nvSpPr>
        <p:spPr>
          <a:xfrm>
            <a:off x="457200" y="6172200"/>
            <a:ext cx="113382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(3.5 × 10⁻³ rad/frame as run; 3.9 × 10⁻³ under the median-fill convention); the noise stage's first fiber number was 2.3× low (a 12-draw Monte Carlo of three random numbers) and is replaced by the exact expectation.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Capture from a cold start: two colors frequency-multiplexed on one camera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40" name="Picture 3" descr="cophi_block_multi.png"/>
          <p:cNvPicPr/>
          <p:nvPr/>
        </p:nvPicPr>
        <p:blipFill>
          <a:blip r:embed="rId1"/>
          <a:srcRect l="0" t="3061" r="0" b="2370"/>
          <a:stretch/>
        </p:blipFill>
        <p:spPr>
          <a:xfrm>
            <a:off x="731520" y="1179720"/>
            <a:ext cx="9097920" cy="5623200"/>
          </a:xfrm>
          <a:prstGeom prst="rect">
            <a:avLst/>
          </a:prstGeom>
          <a:ln w="0">
            <a:noFill/>
          </a:ln>
        </p:spPr>
      </p:pic>
      <p:sp>
        <p:nvSpPr>
          <p:cNvPr id="141" name="TextBox 4"/>
          <p:cNvSpPr/>
          <p:nvPr/>
        </p:nvSpPr>
        <p:spPr>
          <a:xfrm>
            <a:off x="3657600" y="1152000"/>
            <a:ext cx="82292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TextBox 5"/>
          <p:cNvSpPr/>
          <p:nvPr/>
        </p:nvSpPr>
        <p:spPr>
          <a:xfrm>
            <a:off x="5257800" y="2468880"/>
            <a:ext cx="585180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Blue = RF / timing · Red = PM fiber · Green = free-space beam · Gray =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6"/>
          <p:cNvSpPr/>
          <p:nvPr/>
        </p:nvSpPr>
        <p:spPr>
          <a:xfrm>
            <a:off x="4572000" y="1828800"/>
            <a:ext cx="73148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Capture from a cold start: the numbers, and the parts it adds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temporal unwrapping holds a running loop, not a cold start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6" name="TextBox 3"/>
          <p:cNvSpPr/>
          <p:nvPr/>
        </p:nvSpPr>
        <p:spPr>
          <a:xfrm>
            <a:off x="411480" y="1298520"/>
            <a:ext cx="5806080" cy="28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632.8 + 652.8 nm (synthetic Λ = 20.65 µm, range ±5.2 µm), each color read by its own buckets (crosstalk 4 × 10⁻¹⁶ rad).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1" lang="en-US" sz="1050" spc="-1" strike="noStrike">
                <a:solidFill>
                  <a:srgbClr val="6e6e6e"/>
                </a:solidFill>
                <a:latin typeface="Arial"/>
              </a:rPr>
              <a:t>zero wrong orders to 480 nm rms, both cameras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 (0.15 / 0.10 nm per pixel); one color is 74 % wrong at 480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1" lang="en-US" sz="1050" spc="-1" strike="noStrike">
                <a:solidFill>
                  <a:srgbClr val="6e6e6e"/>
                </a:solidFill>
                <a:latin typeface="Arial"/>
              </a:rPr>
              <a:t>a 200 nm rms figure is captured from cold in one 0.27 s reading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any Δλ from 1 to ~100 nm works (the fine requirement at Δλ = 20 nm is 1.7 nm against ~0.1 nm per pixel): one rung of the synthetic-wavelength ladder is enough here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Temporal unwrapping: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With the lock-in camera (record):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one reference at a time, so the two colors alternate on I/Q samples (2 ms per pair) — zero wrong orders to 480 nm rms, 0.12 nm per pixel; temporal unwrapping at 1 kHz tolerates 158 µm/s.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147" name="Table 4"/>
          <p:cNvGraphicFramePr/>
          <p:nvPr/>
        </p:nvGraphicFramePr>
        <p:xfrm>
          <a:off x="6400800" y="1298520"/>
          <a:ext cx="5394600" cy="2572920"/>
        </p:xfrm>
        <a:graphic>
          <a:graphicData uri="http://schemas.openxmlformats.org/drawingml/2006/table">
            <a:tbl>
              <a:tblPr/>
              <a:tblGrid>
                <a:gridCol w="2929680"/>
                <a:gridCol w="674280"/>
                <a:gridCol w="1790280"/>
              </a:tblGrid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0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  <a:endParaRPr b="0" lang="en-US" sz="10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000000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628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341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0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  <a:endParaRPr b="0" lang="en-US" sz="1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48" name="TextBox 5"/>
          <p:cNvSpPr/>
          <p:nvPr/>
        </p:nvSpPr>
        <p:spPr>
          <a:xfrm>
            <a:off x="6400800" y="3970800"/>
            <a:ext cx="5394600" cy="88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51" name="Table 3"/>
          <p:cNvGraphicFramePr/>
          <p:nvPr/>
        </p:nvGraphicFramePr>
        <p:xfrm>
          <a:off x="411480" y="1298520"/>
          <a:ext cx="11367000" cy="5102280"/>
        </p:xfrm>
        <a:graphic>
          <a:graphicData uri="http://schemas.openxmlformats.org/drawingml/2006/table">
            <a:tbl>
              <a:tblPr/>
              <a:tblGrid>
                <a:gridCol w="1520280"/>
                <a:gridCol w="2001600"/>
                <a:gridCol w="2432520"/>
                <a:gridCol w="1216080"/>
                <a:gridCol w="1798920"/>
                <a:gridCol w="2397960"/>
              </a:tblGrid>
              <a:tr h="461520"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15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69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15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15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469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69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84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4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475 s stepped (mono camera, 4 frames) / 519 s vector (polarization camera, mirror rig, camS_oap)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342 s (mono, K frames)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3.35 / 3.73 (mirror / lens)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52" name="TextBox 4"/>
          <p:cNvSpPr/>
          <p:nvPr/>
        </p:nvSpPr>
        <p:spPr>
          <a:xfrm>
            <a:off x="457200" y="6446520"/>
            <a:ext cx="113684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Camera timings on an IMX250MZR-class polarization camera (2448 × 2048, 75 fps; well ~10 ke⁻, read 2.4 e⁻, unconfirmed).  The sensors run 10–40× slower than photons ÷ sensor rate would say: the ZWFS core sets the exposure, the frame mean sits at half well, two orientations go unused.  Parts counts and TRL to follow (campaign brief sec. 9.1).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Pricing resolution: IFO, vector ZWFS, HET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55" name="Table 3"/>
          <p:cNvGraphicFramePr/>
          <p:nvPr/>
        </p:nvGraphicFramePr>
        <p:xfrm>
          <a:off x="411480" y="1298520"/>
          <a:ext cx="11368440" cy="2952720"/>
        </p:xfrm>
        <a:graphic>
          <a:graphicData uri="http://schemas.openxmlformats.org/drawingml/2006/table">
            <a:tbl>
              <a:tblPr/>
              <a:tblGrid>
                <a:gridCol w="598320"/>
                <a:gridCol w="3669840"/>
                <a:gridCol w="917280"/>
                <a:gridCol w="877320"/>
                <a:gridCol w="1874520"/>
                <a:gridCol w="1196640"/>
                <a:gridCol w="1116720"/>
                <a:gridCol w="1116720"/>
              </a:tblGrid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1k²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✓ </a:t>
                      </a: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images per pol.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6" name="TextBox 4"/>
          <p:cNvSpPr/>
          <p:nvPr/>
        </p:nvSpPr>
        <p:spPr>
          <a:xfrm>
            <a:off x="411480" y="4256640"/>
            <a:ext cx="11368440" cy="179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still reads to 2 pm); the collapse band is the blur demo's; the 5–20 rows follow from the well-bound photon rule and the data rates.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30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1" lang="en-US" sz="1300" spc="-1" strike="noStrike">
                <a:solidFill>
                  <a:srgbClr val="6e6e6e"/>
                </a:solidFill>
                <a:latin typeface="Arial"/>
              </a:rPr>
              <a:t>a per-gauge sweep at 1, 1.5, 2 and 4 px per actuator is a one-day format run — the item that turns this table into records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500" spc="-1" strike="noStrike">
                <a:solidFill>
                  <a:srgbClr val="282828"/>
                </a:solidFill>
                <a:latin typeface="Arial"/>
              </a:rPr>
              <a:t>Where the three differ:</a:t>
            </a:r>
            <a:r>
              <a:rPr b="0" lang="en-US" sz="1500" spc="-1" strike="noStrike">
                <a:solidFill>
                  <a:srgbClr val="282828"/>
                </a:solidFill>
                <a:latin typeface="Arial"/>
              </a:rPr>
              <a:t> the IFO and HET read against a reference and are indifferent above 2 px;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Box 5"/>
          <p:cNvSpPr/>
          <p:nvPr/>
        </p:nvSpPr>
        <p:spPr>
          <a:xfrm>
            <a:off x="411480" y="640152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60" name="Table 3"/>
          <p:cNvGraphicFramePr/>
          <p:nvPr/>
        </p:nvGraphicFramePr>
        <p:xfrm>
          <a:off x="411480" y="1298520"/>
          <a:ext cx="11368440" cy="4034520"/>
        </p:xfrm>
        <a:graphic>
          <a:graphicData uri="http://schemas.openxmlformats.org/drawingml/2006/table">
            <a:tbl>
              <a:tblPr/>
              <a:tblGrid>
                <a:gridCol w="2107440"/>
                <a:gridCol w="4370400"/>
                <a:gridCol w="1268640"/>
                <a:gridCol w="1816920"/>
                <a:gridCol w="1804320"/>
              </a:tblGrid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pol. camera)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Photonfocus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COPHI, lock-in camera (C4, as surveyed)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photons per 3 pm hold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~9 × 10¹² (125 samples, capped well)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~60 s on the assumed pol. camera (519 s/pm ÷ 9: its 10 ke⁻ well, the core's dynamic range, two unused orientations — the camera is the ZWFS's own question)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0.125 s (record: 3.09 pm)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519 (pol. camera, record)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3.35 / 3.73 (×1.11 square-wave)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colors, one 0.27 s reading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colors on alternate samples; zero wrong orders to 480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reference iterated or matrix re-measured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exact (slope 1.000000) against the LO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700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fiber 0.39 nm per frame; LO 10 prad per cycle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 the same (29.4 pm); fiber a per-sample piston, inert (record)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61" name="TextBox 4"/>
          <p:cNvSpPr/>
          <p:nvPr/>
        </p:nvSpPr>
        <p:spPr>
          <a:xfrm>
            <a:off x="411480" y="5257800"/>
            <a:ext cx="11368440" cy="108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For hold alone, the vector Zernike is cheapest in photons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(~50×) and needs no stabilities of its own — but on the assumed polarization camera it is the slowest (~60 s per cycle).  Feng's camera makes COPHI slow (16 s), the Photonfocus fast (1.6 s),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the lock-in the fastest on the table (0.125 s)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if its well is as surveyed.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For capture and the absolute figure: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COPHI in either form.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For a flight DM: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hold only and photons scarce → the Zernike sensor with a camera chosen for it; hold + capture + absolute, or speed → COPHI (the lock-in fastest by 20–500×).  </a:t>
            </a:r>
            <a:r>
              <a:rPr b="1" lang="en-US" sz="1100" spc="-1" strike="noStrike">
                <a:solidFill>
                  <a:srgbClr val="282828"/>
                </a:solidFill>
                <a:latin typeface="Arial"/>
              </a:rPr>
              <a:t>The hybrid</a:t>
            </a:r>
            <a:r>
              <a:rPr b="0" lang="en-US" sz="1100" spc="-1" strike="noStrike">
                <a:solidFill>
                  <a:srgbClr val="282828"/>
                </a:solidFill>
                <a:latin typeface="Arial"/>
              </a:rPr>
              <a:t> — Zernike for the hold, COPHI's two-color read for capture and commissioning — stays the conservative answer until the lock-in's vendor numbers are in.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Box 5"/>
          <p:cNvSpPr/>
          <p:nvPr/>
        </p:nvSpPr>
        <p:spPr>
          <a:xfrm>
            <a:off x="411480" y="6986160"/>
            <a:ext cx="113684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The Zernike rows are the gauge deck's (redo96_sens, zloop) with the polarization-camera timing from camS_oap; the COPHI rows this deck's; the lock-in rows are records (runs/lockin_, resources 2a07af9).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TextBox 1"/>
          <p:cNvSpPr/>
          <p:nvPr/>
        </p:nvSpPr>
        <p:spPr>
          <a:xfrm>
            <a:off x="411480" y="201240"/>
            <a:ext cx="11368440" cy="88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Recommendations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its speed is the set by the camera's frame rate, with the lock-in detector the clear winner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65" name="TextBox 3"/>
          <p:cNvSpPr/>
          <p:nvPr/>
        </p:nvSpPr>
        <p:spPr>
          <a:xfrm>
            <a:off x="411480" y="1298520"/>
            <a:ext cx="5806080" cy="257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Add COPHI to the DM Gauge plan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as the fifth column, with the converged estimator and the piston-free photon metric for every gauge (both found here, both apply to the record).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Consider a swappable splitter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(Feng's layout); the current polarizing train costs ×1.5 of laser and nothing else.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Camera: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the lock-in camera faster yet.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verify the survey against the vendor sheets before a part is named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marL="594360" indent="-137160" defTabSz="457200">
              <a:lnSpc>
                <a:spcPct val="100000"/>
              </a:lnSpc>
              <a:spcAft>
                <a:spcPts val="499"/>
              </a:spcAft>
              <a:tabLst>
                <a:tab algn="l" pos="0"/>
              </a:tabLs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–  </a:t>
            </a:r>
            <a:r>
              <a:rPr b="1" lang="en-US" sz="1050" spc="-1" strike="noStrike">
                <a:solidFill>
                  <a:srgbClr val="6e6e6e"/>
                </a:solidFill>
                <a:latin typeface="Arial"/>
              </a:rPr>
              <a:t>the lock-in camera is the fast form</a:t>
            </a: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 (3.4 s per pm as surveyed, 0.125 s cycles) — one vendor question from a number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Implement two colors from the start: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Box 4"/>
          <p:cNvSpPr/>
          <p:nvPr/>
        </p:nvSpPr>
        <p:spPr>
          <a:xfrm>
            <a:off x="6400800" y="1298520"/>
            <a:ext cx="5394600" cy="12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Open in the record: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17); the polarization-camera timings through the noise hook (slide 16).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1" lang="en-US" sz="1200" spc="-1" strike="noStrike">
                <a:solidFill>
                  <a:srgbClr val="282828"/>
                </a:solidFill>
                <a:latin typeface="Arial"/>
              </a:rPr>
              <a:t>Model next: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 the tail's chromatic refocus at Δλ = 20 nm (dispersive glass in the model); the LO referenced against the test arm's own flat; parts counts and TRL for all five gauges; Kent's ZWFS reconstruction.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Box 5"/>
          <p:cNvSpPr/>
          <p:nvPr/>
        </p:nvSpPr>
        <p:spPr>
          <a:xfrm>
            <a:off x="6400800" y="3002400"/>
            <a:ext cx="539460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What to develop: what, why, how, how long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70" name="Table 3"/>
          <p:cNvGraphicFramePr/>
          <p:nvPr/>
        </p:nvGraphicFramePr>
        <p:xfrm>
          <a:off x="411480" y="1298520"/>
          <a:ext cx="11368440" cy="5401440"/>
        </p:xfrm>
        <a:graphic>
          <a:graphicData uri="http://schemas.openxmlformats.org/drawingml/2006/table">
            <a:tbl>
              <a:tblPr/>
              <a:tblGrid>
                <a:gridCol w="1526400"/>
                <a:gridCol w="2426760"/>
                <a:gridCol w="1870560"/>
                <a:gridCol w="4887360"/>
                <a:gridCol w="65700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0.39 nm per 33 ms frame (~12 nm/s; ~1.2 mK/s per m of uncommon fiber)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with a lock-in camera the term is a per-sample piston, inert (record) — the requirement belongs to the four-frame camera form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84564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103428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1" name="TextBox 4"/>
          <p:cNvSpPr/>
          <p:nvPr/>
        </p:nvSpPr>
        <p:spPr>
          <a:xfrm>
            <a:off x="411480" y="670824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TextBox 1"/>
          <p:cNvSpPr/>
          <p:nvPr/>
        </p:nvSpPr>
        <p:spPr>
          <a:xfrm>
            <a:off x="411480" y="201240"/>
            <a:ext cx="1136844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Backup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Rectangle 2"/>
          <p:cNvSpPr/>
          <p:nvPr/>
        </p:nvSpPr>
        <p:spPr>
          <a:xfrm>
            <a:off x="411480" y="9144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Feng's N-frame algebra, and ours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76" name="TextBox 3"/>
          <p:cNvSpPr/>
          <p:nvPr/>
        </p:nvSpPr>
        <p:spPr>
          <a:xfrm>
            <a:off x="411480" y="1298520"/>
            <a:ext cx="5806080" cy="108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Feng: I = I₀(1 + γ cos(φ + 2πf_h t)), α_k = 0, π/2, π, 3π/2; φ = atan2(I₄ − I₂, I₁ − I₃).  N frames: the linear least squares for (I₀, I₀γ cos φ, I₀γ sin φ).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TextBox 4"/>
          <p:cNvSpPr/>
          <p:nvPr/>
        </p:nvSpPr>
        <p:spPr>
          <a:xfrm>
            <a:off x="6400800" y="1298520"/>
            <a:ext cx="5394600" cy="16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•  </a:t>
            </a:r>
            <a:r>
              <a:rPr b="0" lang="en-US" sz="1200" spc="-1" strike="noStrike">
                <a:solidFill>
                  <a:srgbClr val="282828"/>
                </a:solidFill>
                <a:latin typeface="Arial"/>
              </a:rPr>
              <a:t>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The detector survey, and its caveats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80" name="Table 3"/>
          <p:cNvGraphicFramePr/>
          <p:nvPr/>
        </p:nvGraphicFramePr>
        <p:xfrm>
          <a:off x="411480" y="1298520"/>
          <a:ext cx="11368440" cy="1959120"/>
        </p:xfrm>
        <a:graphic>
          <a:graphicData uri="http://schemas.openxmlformats.org/drawingml/2006/table">
            <a:tbl>
              <a:tblPr/>
              <a:tblGrid>
                <a:gridCol w="2034720"/>
                <a:gridCol w="4757040"/>
                <a:gridCol w="457632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1" name="TextBox 4"/>
          <p:cNvSpPr/>
          <p:nvPr/>
        </p:nvSpPr>
        <p:spPr>
          <a:xfrm>
            <a:off x="411480" y="3313440"/>
            <a:ext cx="11368440" cy="40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TextBox 1"/>
          <p:cNvSpPr/>
          <p:nvPr/>
        </p:nvSpPr>
        <p:spPr>
          <a:xfrm>
            <a:off x="411480" y="201240"/>
            <a:ext cx="11368440" cy="69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b="1" lang="en-US" sz="2400" spc="-1" strike="noStrike">
                <a:solidFill>
                  <a:srgbClr val="1f4e79"/>
                </a:solidFill>
                <a:latin typeface="Arial"/>
              </a:rPr>
              <a:t>Run tags and records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50" spc="-1" strike="noStrike">
                <a:solidFill>
                  <a:srgbClr val="6e6e6e"/>
                </a:solidFill>
                <a:latin typeface="Arial"/>
              </a:rPr>
              <a:t>Every number in this deck, where it came from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Rectangle 2"/>
          <p:cNvSpPr/>
          <p:nvPr/>
        </p:nvSpPr>
        <p:spPr>
          <a:xfrm>
            <a:off x="411480" y="1134000"/>
            <a:ext cx="11368440" cy="19800"/>
          </a:xfrm>
          <a:prstGeom prst="rect">
            <a:avLst/>
          </a:prstGeom>
          <a:solidFill>
            <a:srgbClr val="b8c6d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24840" bIns="-2484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84" name="Table 3"/>
          <p:cNvGraphicFramePr/>
          <p:nvPr/>
        </p:nvGraphicFramePr>
        <p:xfrm>
          <a:off x="411480" y="1298520"/>
          <a:ext cx="11368440" cy="3457080"/>
        </p:xfrm>
        <a:graphic>
          <a:graphicData uri="http://schemas.openxmlformats.org/drawingml/2006/table">
            <a:tbl>
              <a:tblPr/>
              <a:tblGrid>
                <a:gridCol w="1694880"/>
                <a:gridCol w="4340520"/>
                <a:gridCol w="5332680"/>
              </a:tblGrid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en-US" sz="1100" spc="-1" strike="noStrike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  <a:endParaRPr b="0" lang="en-US" sz="11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4e79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format / lock-in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runs/format_lens_plain; the lock-in as a READING: runs/lockin_* (noise both rigs, capture, battery, loop)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3.35 / 3.73 s per pm well-capped (the format stage's 1.1 counted four wells per sample); 3 pm held at 0.125 s cycles; fiber inert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  <a:tr h="27972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68360"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the other gauges on a polarization camera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tg_psi_dm96_oap/runs/camI_{lens,oap}, zwfs_dm96/runs/camS_oap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  <a:tc>
                  <a:txBody>
                    <a:bodyPr lIns="54720" rIns="54720" tIns="18000" bIns="1800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100" spc="-1" strike="noStrike">
                          <a:solidFill>
                            <a:srgbClr val="282828"/>
                          </a:solidFill>
                          <a:latin typeface="Arial"/>
                        </a:rPr>
                        <a:t>IFO 189 / 160 s per pm; stepped 475, vector 519, pinhole 342</a:t>
                      </a:r>
                      <a:endParaRPr b="0" lang="en-US" sz="11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54720" marR="54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185" name="TextBox 4"/>
          <p:cNvSpPr/>
          <p:nvPr/>
        </p:nvSpPr>
        <p:spPr>
          <a:xfrm>
            <a:off x="411480" y="4902480"/>
            <a:ext cx="11368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050" spc="-1" strike="noStrike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2026-10-13T05:29:32Z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