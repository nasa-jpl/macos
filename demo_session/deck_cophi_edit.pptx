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11480" y="1225296"/>
            <a:ext cx="11055096" cy="5559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11556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2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8288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43434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a frame camera: Feng's baseline vs the Photonfocus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frames per beat, each a quarter-cycle bucket, phase-locked to the beat by the Rb clock; the computer forms the phase; well depth × frame rate sets the time to a picometer: 7 minutes on the baseline camera, 42 s on the Photonfocus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four-phase, as implemented (slide 2):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beat: AOM 1 at 80 MHz, AOM 2 at 80 MHz + 7.5 Hz, both synthesizers on the 10 MHz Rb standard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trigger: the two RF lines tapped, ×4, mixed and low-passed → a 30 Hz frame clock phase-locked to the beat: four frames per beat at 0°, 90°, 180°, 270°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bucket: each frame integrates a quarter cycle; the phase is kept at the bucket center, the contrast × 0.900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phase, in the computer: φ = atan2(I₂ − I₄, I₁ − I₃) per pixel (N &gt; 4: the least-squares fit); surface = φλ/4π about the frozen null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one beat = one reading = 133 ms of loop latency; a fiber-phase walk within the four frames is the term the four-step cannot cancel (budget 0.39 nm per frame)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the two cameras share: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optics, RF chain, LO and estimator; ~900 pixels across the pupil, 9.4 per actuator; two colors capture from cold in one 0.27 s reading.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between them:</a:t>
            </a:r>
            <a:r>
              <a:rPr sz="1200" b="0">
                <a:solidFill>
                  <a:srgbClr val="282828"/>
                </a:solidFill>
                <a:latin typeface="Arial"/>
              </a:rPr>
              <a:t> photons per second per pixel = well × frame rate; the Photonfocus's 200 ke⁻ × 150 fps is 17× the baseline's 60 ke⁻ × 30 fps, and its 220 e⁻ read noise costs only 22 % in σ.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909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736"/>
                <a:gridCol w="2659487"/>
                <a:gridCol w="1367736"/>
              </a:tblGrid>
              <a:tr h="43434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Photonfocus MV1-D1024E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sensor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5 e⁻ (assumed)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read 220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 pm hold: the cycle it needs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 s (120 readings)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 s (60 readings)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hold at 1.6 s cycles, noise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2.7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best hold against the record's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6.0 pm at 5.5 s cycles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2.7 pm at 2.5 s cycles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temporal unwrapping holds to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1.19 µm/s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5.9 µm/s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needs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true global shutter, Rb-clocked hardware trigger, full-frame streaming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3538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(slide 4) replaces the four frames by demodulation in the pixel:</a:t>
            </a:r>
            <a:r>
              <a:rPr sz="1200" b="0">
                <a:solidFill>
                  <a:srgbClr val="282828"/>
                </a:solidFill>
                <a:latin typeface="Arial"/>
              </a:rPr>
              <a:t> 0.77 s per pm, 3 pm held in ~30 ms cycles.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268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Stages format, noise, loop and capture (runs/format_lens_plain, runs/noise_{lens,oap}[_plain], runs/loop_{lens,oap}_plain, runs/capture_*); hold vs cycle from cophi_hold_vs_cycle; the camera rows are survey values (NOTE_detectors_survey.md), unverified; the read noise of the baseline is assumed.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and Q = I₀γ sin φ,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Heliotis heliCam C4 / C4M (vendor data, 2026-10-28):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542 × 512 (1024 × 1102) px of 24 µm (12)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305 Hz–134 kHz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500 ke⁻ per internal image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2 × 10-bit X/Y at 460 e⁻ per count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quarter-period trigger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QE 73 % at 633 nm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4960 frames/s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$22k / 27.5k, 4 weeks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FPGA averages frames at the sensor's 4960 frames/s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readout at ~20 averaged images/s over GigE (2 × 16-bit I/Q)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040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668"/>
                <a:gridCol w="913900"/>
                <a:gridCol w="3213391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(305 Hz–134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pixel, one frame per beat period (4960/s), averaged on the camera to ~20 images/s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61.8 / 67.2 pm per 0.2 ms frame, mirror / lens (read 489 e⁻ in the row)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0.77 / 0.91 (mirror / lens; the output's full scale at 4960 frames/s;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averaged image, ~50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4851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is ~55× the Photonfocus and ~500×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(42 / 0.77 and 385 / 0.77 s per pm).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bound is the output's full scale (±512 × 460 e⁻ = 236 ke⁻ per frame), not the well; read noise 489 e⁻ = shot noise at full scale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confirmed 2026-10-29: no output gain (X/Y signed ±512); background suppression off (on, it doubles the noise)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the lock-in rows runs/c4_noise_{oap,lens}; NOTE_lockin_arrays_survey.md (web survey; the heliCam row verified by its vendor).  Also ranked there: 128² CMOS at 20–40 kfps, time-of-flight demodulators, digital-pixel ROICs, coherent photonic arrays.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11905488" cy="4599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788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20 kHz square wave (0–5 V; four pulses per beat period f_b = |f₁ − f₂| = 5 kHz; the camera's DivideBy4 input gates the pixels directly, delay stable for hours — vendor), locked to the AOMs through the Rb clock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88152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one beat period per 0.2 ms frame, the frame's I/Q at the output's full scale: 1.2 × 10⁹ e⁻/s per pixel usable vs the Photonfocus's 3 × 10⁷ (200 ke × 150 fps); that 40× in photons is most of 42 → 0.77 s per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its quarter-period trigger goes to the camera's reference input; no bucket; I/Q frames, averaged on the camera,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65176" y="1078992"/>
            <a:ext cx="11320272" cy="5705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784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2: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20 kHz trigger to the pixels' gates; the camera is one pixel's chain (slide 5), frames averaged on its FPGA; atan2(Q, I) per image.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11)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22); what resolution buys and costs is slide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sweep (run on the survey's row) costs the lock-in the same 1.6–1.9× at 2 / 1.5 px that it costs every reading; on the vendor's row that is 0.77 / 1.2 / 1.4 s per pm (scaled by the sweep's ratios) — 55×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under a second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41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305"/>
                <a:gridCol w="1316705"/>
                <a:gridCol w="669902"/>
                <a:gridCol w="531302"/>
                <a:gridCol w="900903"/>
                <a:gridCol w="1163320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 (vendor data)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489 (1.41)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67.2 / 61.8 per frame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0.91 / 0.77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~1.5 / 1.3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7669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(runs/noise_{lens,oap}[_plain]; the lock-in rows runs/c4_noise_{oap,lens}: 236 ke⁻ per 0.2 ms frame at 4960 frames/s, ×1.23 in time for two-tap demodulation),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~30 ms (record 3.20 pm at 25 ms cycles, 1.44 at 0.125 s;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6829"/>
                <a:gridCol w="310961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(620 frames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1.44 (converged 1.46); at 125 frames (25 ms cycles) 3.20 (converged 3.25)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1.91 (+0.5 pm)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1.44 / 1.44 = its noise-only hold: a per-frame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29.3: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per-frame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0.77 s per pm is 500× fewer than Feng's camera — 22×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0.40;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0.75 at 0.7 s — the fast reading holds a drift under a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c4_noise; camI_oap, camS_oap); the lag from stage loop's thermal row; the markers are the loop records (lock-in: c4_loop_oap, c4_loop_oap_m125).  A budget, no new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 on the lock-in camera: two colors on alternate frames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through its own AOM pair, on the same 5 kHz beat, into the same two fibers; the trigger's ÷8 turns one color on per 0.2 ms frame; the pixel demodulates, the camera averages, the computer unwraps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_multi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8138160" cy="4946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1887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color at a time: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accumulator pair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trigger ÷ 8 (2480 Hz) blanks the AOM drivers: color 1 on the odd frames, color 2 on the even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RF off = no beam, so the AOM is the shutter (~1 µs)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both colors on the same 5 kHz beat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Where the work is done: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pixel: the demodulation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camera FPGA: the ADCs; the frames averaged, odd and even apart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computer: the phase per color, the synthetic wavelength, the null, the estimator, the loop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zero wrong orders to 480 nm rms, 0.13 nm per pixel, one 0.4 ms frame pair (slide 14)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 confirm on the hardware: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interleaved average; else blocks of N frames per color, the same reading while the surface is still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Blue = RF / timing · Red = PM fiber · Green = beam · Gray = data.  make_cophi_block_fig.py; record runs/c4_capture_oap; the four-frame camera's frequency-multiplexed form is in the backup.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 on every camera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/ 0.13 nm per pixel: baseline / Photonfocus / lock-in);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  <a:r>
              <a:rPr sz="1050" b="0">
                <a:solidFill>
                  <a:srgbClr val="6E6E6E"/>
                </a:solidFill>
                <a:latin typeface="Arial"/>
              </a:rPr>
              <a:t> (lock-in: one 0.4 ms frame pair)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(Photonfocus), </a:t>
            </a:r>
            <a:r>
              <a:rPr sz="1200" b="1">
                <a:solidFill>
                  <a:srgbClr val="282828"/>
                </a:solidFill>
                <a:latin typeface="Arial"/>
              </a:rPr>
              <a:t>785 µm/s (lock-in, 4960 frames/s)</a:t>
            </a:r>
            <a:r>
              <a:rPr sz="1200" b="0">
                <a:solidFill>
                  <a:srgbClr val="282828"/>
                </a:solidFill>
                <a:latin typeface="Arial"/>
              </a:rPr>
              <a:t> — ~0.24 / 1.2 / 159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(record, slide 13):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0.2 ms frames, each color's AOM pair gated on for its frame, so ONE color is on the sensor at a time (2480 frames/s per color, 0.4 ms per pair) — zero wrong orders to 480 nm rms, 0.13 nm per pixel; temporal unwrapping at 4960 frames/s tolerates 785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frame rates apart (the cross term then integrates to zero over the frame,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040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740"/>
                <a:gridCol w="674624"/>
                <a:gridCol w="1322896"/>
                <a:gridCol w="1232699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frame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same, on the same 5 kHz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none (RF splitters from 1 and 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÷8 blanking line; odd / even averages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4851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five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scalar and vector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rcRect r="10130" t="1380"/>
          <a:stretch>
            <a:fillRect/>
          </a:stretch>
        </p:blipFill>
        <p:spPr>
          <a:xfrm>
            <a:off x="0" y="1307592"/>
            <a:ext cx="8778240" cy="55504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37160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COPHI:</a:t>
            </a:r>
            <a:r>
              <a:rPr sz="11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100" b="1">
                <a:solidFill>
                  <a:srgbClr val="282828"/>
                </a:solidFill>
                <a:latin typeface="Arial"/>
              </a:rPr>
              <a:t>IFO:</a:t>
            </a:r>
            <a:r>
              <a:rPr sz="11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1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77656" y="3538728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The DM Gauge testbed:</a:t>
            </a:r>
            <a:r>
              <a:rPr sz="1100" b="0">
                <a:solidFill>
                  <a:srgbClr val="282828"/>
                </a:solidFill>
                <a:latin typeface="Arial"/>
              </a:rPr>
              <a:t> 5 sensors provide an independent hold cross-check, each gauge's own systematics on the same surface at the same time, and the Zernike's photon economy for a hold-only mode.  Capture from cold stays COPHI's two colors (slide 14):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Costs:</a:t>
            </a:r>
            <a:r>
              <a:rPr sz="11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035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in under a second,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454859"/>
                <a:gridCol w="1293346"/>
                <a:gridCol w="1817116"/>
                <a:gridCol w="1695720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vendor data)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 × 10¹³ (125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~30 ms (3.20 pm at 25 ms; 1.44 at 0.125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(×1.23 for two-tap)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frames;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per-frame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(~30 ms)</a:t>
            </a:r>
            <a:r>
              <a:rPr sz="1100" b="0">
                <a:solidFill>
                  <a:srgbClr val="282828"/>
                </a:solidFill>
                <a:latin typeface="Arial"/>
              </a:rPr>
              <a:t> on the vendor's numbers.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60–2000×).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— stays the conservative answer until the loaner confirms the vendor's numbers on the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on the vendor's row (runs/c4_).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0.77 s per pm on the vendor's numbers, 3 pm held in ~30 ms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two open items are answered (2026-10-29: averaging at 4960 frames/s, no gain); next the offered loaner on the bench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24).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slide 2.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using a framing camera; the lock-in camera (slide 4)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7);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10)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22)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11); the record's loop at the camera's cadence; two colors from cold (slides 13–14)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292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8497"/>
                <a:gridCol w="1817116"/>
                <a:gridCol w="2398268"/>
                <a:gridCol w="1453895"/>
                <a:gridCol w="229095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67.2 / 61.8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0.91 / 0.77 (full scale at 4960 frames/s)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about the same (4× pixels, 1390 frames/s)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  The lock-in rows carry ×1.11 in σ for square-wave (two-tap) demodulation.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25296"/>
          <a:ext cx="11368733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5310"/>
                <a:gridCol w="2245325"/>
                <a:gridCol w="2728496"/>
                <a:gridCol w="1364248"/>
                <a:gridCol w="2017950"/>
                <a:gridCol w="1307404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averaged image (~50 ms); a frame is 0.2 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(61.8 pm per 0.2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45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bench, 20 kHz trigger, on-camera averaging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55× the Photonfocus's speed on the vendor's numbers (0.77 s per pm); the vendor's answers in hand (2026-10-29)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offered loaner on the bench, reading class H unchanged; noise / loop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the vendor's data and stages c4_noise / c4_loop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colors on the four-frame camera, frequency-multiplexed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895344" y="1965960"/>
            <a:ext cx="808329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beats 7.5 and 3.75 Hz = 4 and 8 frames per beat at the same 30 fps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each color demodulated at its own bucket centers from the same frames; no interference (THz apart)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lock-in form: time-multiplexed, one color per 0.2 ms frame (slide 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02920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sourced; the heliCam row verified by its vendor, the others not;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245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165266"/>
                <a:gridCol w="51684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305 Hz–134 kHz, 500 ke⁻ per internal image, 2 × 10-bit X/Y at 460 e⁻ per count, read 489 e⁻ per frame, 4960 frames/s, 20 kHz quarter-period trigger, QE 73 % at 633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VERIFIED by the vendor 2026-10-28 (datasheets, user manual, noise calculator); 2026-10-29: no adjustable gain (X/Y signed ±512; 0–1023 by API), FPGA averaging at the sensor's 4960 frames/s, DivideBy4 confirmed, background suppression off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690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00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465"/>
                <a:gridCol w="6868610"/>
                <a:gridCol w="288165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as a reading on the vendor's row: runs/c4_ (noise both rigs, loop at 0.125 s and 25 ms, capture); the survey-row runs runs/lockin_ (battery: the reading is exact)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s per pm; 1.44 pm held at 0.125 s, 3.20 at 25 ms;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453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