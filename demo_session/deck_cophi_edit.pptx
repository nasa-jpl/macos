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76B9910-8E2E-4275-8BA1-C20D2873264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B0B7314-97F6-4F55-A504-09BD9B80A8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8A4DBE5-143B-4356-9503-BD3DA94C78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66AC79D-C4EA-4E99-A054-E019031CC3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7916560-C2CE-48B2-A41C-DD931FDA1FC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69530343-27F2-401D-B14B-0A1B4A66D9F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9FEEA71-4C71-4A62-89D8-D2BDA469861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94C6ED67-5BD8-45B4-9803-6671DB2E157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B1B97F6-D50A-445E-9E58-6645879D07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E99C3B4-F77E-4AFF-BD92-77A2EDD273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48B28766-5E94-4BB5-A51B-5CAC86C644B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2B30CE-7193-4611-9902-87F578E8AC9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5E13ADF-8262-4680-AB5D-D4E1A1EFC95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9A4543-E3AE-4654-9A70-C6648F3D87F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BF90741-71FB-4EA4-98DC-4D001CEFEF9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li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k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o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d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a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r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ti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l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y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l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298E06F-1B9C-431B-8ECE-9D469F7A67C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FD22396-E328-4339-AE06-D85EFA0D808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F5CE46-BEC7-4100-AB49-B11D3B1FB4F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47633D-7C6A-4B82-BABB-F49439E3528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6F5788-FEF7-4E34-B56F-083C7C0D064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398E9F-BE1D-42B0-B7CF-56A31409AAB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2CC7341-2820-40BA-B47C-64883EA0DFA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822960" y="1737360"/>
            <a:ext cx="10545480" cy="34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4000" spc="-1" strike="noStrike">
                <a:solidFill>
                  <a:srgbClr val="1f4e79"/>
                </a:solidFill>
                <a:latin typeface="Arial"/>
              </a:rPr>
              <a:t>COPHI as the Fifth DM Gauge Bench Sensor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2200" spc="-1" strike="noStrike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October 2026.  Working record.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DRAFT — pending review.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486400"/>
            <a:ext cx="10545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Feng's proposal, in one slide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411480" y="1298520"/>
            <a:ext cx="5806080" cy="20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Layout: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Algorithm: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6400800" y="1298520"/>
            <a:ext cx="5394600" cy="28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same scoring: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is new: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is absent: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6400800" y="507492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" name="Picture 3" descr="cophi_block_single.png"/>
          <p:cNvPicPr/>
          <p:nvPr/>
        </p:nvPicPr>
        <p:blipFill>
          <a:blip r:embed="rId1"/>
          <a:srcRect l="0" t="3659" r="0" b="2839"/>
          <a:stretch/>
        </p:blipFill>
        <p:spPr>
          <a:xfrm>
            <a:off x="914400" y="1408320"/>
            <a:ext cx="9993960" cy="5394600"/>
          </a:xfrm>
          <a:prstGeom prst="rect">
            <a:avLst/>
          </a:prstGeom>
          <a:ln w="0">
            <a:noFill/>
          </a:ln>
        </p:spPr>
      </p:pic>
      <p:sp>
        <p:nvSpPr>
          <p:cNvPr id="77" name="TextBox 4"/>
          <p:cNvSpPr/>
          <p:nvPr/>
        </p:nvSpPr>
        <p:spPr>
          <a:xfrm>
            <a:off x="411480" y="1115640"/>
            <a:ext cx="11475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3429000" y="1426320"/>
            <a:ext cx="585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6"/>
          <p:cNvSpPr/>
          <p:nvPr/>
        </p:nvSpPr>
        <p:spPr>
          <a:xfrm>
            <a:off x="6172200" y="2103120"/>
            <a:ext cx="43430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82" name="Table 3"/>
          <p:cNvGraphicFramePr/>
          <p:nvPr/>
        </p:nvGraphicFramePr>
        <p:xfrm>
          <a:off x="411480" y="1298520"/>
          <a:ext cx="11368440" cy="4566240"/>
        </p:xfrm>
        <a:graphic>
          <a:graphicData uri="http://schemas.openxmlformats.org/drawingml/2006/table">
            <a:tbl>
              <a:tblPr/>
              <a:tblGrid>
                <a:gridCol w="1671480"/>
                <a:gridCol w="1532880"/>
                <a:gridCol w="6094080"/>
                <a:gridCol w="206964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15–16)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" name="TextBox 4"/>
          <p:cNvSpPr/>
          <p:nvPr/>
        </p:nvSpPr>
        <p:spPr>
          <a:xfrm>
            <a:off x="411480" y="59425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411480" y="1298520"/>
            <a:ext cx="5806080" cy="35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Ruling: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Lock-in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= synchronous detection inside each pixel: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photocurrent is multiplied by the beat reference and by its 90°-shifted copy, and integrated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stores are I = I₀γ cos φ (in-phase) and Q = I₀γ sin φ (quadrature) — not intensities; φ = atan2(Q, I)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DC term never reaches the well; I and Q leave at the frame rate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also ranked: 128² CMOS at 20–40 kfps, time-of-flight demodulators, digital-pixel ROICs, coherent photonic arrays; not fit: SPAD / Geiger arrays (count-rate ceilings)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7" name="Table 4"/>
          <p:cNvGraphicFramePr/>
          <p:nvPr/>
        </p:nvGraphicFramePr>
        <p:xfrm>
          <a:off x="6400800" y="1298520"/>
          <a:ext cx="5394600" cy="3686040"/>
        </p:xfrm>
        <a:graphic>
          <a:graphicData uri="http://schemas.openxmlformats.org/drawingml/2006/table">
            <a:tbl>
              <a:tblPr/>
              <a:tblGrid>
                <a:gridCol w="1604520"/>
                <a:gridCol w="720720"/>
                <a:gridCol w="3069360"/>
              </a:tblGrid>
              <a:tr h="605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05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5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8" name="TextBox 5"/>
          <p:cNvSpPr/>
          <p:nvPr/>
        </p:nvSpPr>
        <p:spPr>
          <a:xfrm>
            <a:off x="420480" y="4846320"/>
            <a:ext cx="11338200" cy="12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well-free device (continuous, or I/Q ≥ 10 kHz) at 2.5 × 10⁹ e⁻/s per element: ~18 pm per sample, ~0.34 s per pm — 10× better again; that is what the vendor question decides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The vendor question: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6"/>
          <p:cNvSpPr/>
          <p:nvPr/>
        </p:nvSpPr>
        <p:spPr>
          <a:xfrm>
            <a:off x="457200" y="6400800"/>
            <a:ext cx="113382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with a lock-in camera: the block diagram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" name="Picture 3" descr="cophi_block_lockin.png"/>
          <p:cNvPicPr/>
          <p:nvPr/>
        </p:nvPicPr>
        <p:blipFill>
          <a:blip r:embed="rId1"/>
          <a:srcRect l="0" t="3010" r="0" b="2601"/>
          <a:stretch/>
        </p:blipFill>
        <p:spPr>
          <a:xfrm>
            <a:off x="740520" y="1106280"/>
            <a:ext cx="10295640" cy="5614200"/>
          </a:xfrm>
          <a:prstGeom prst="rect">
            <a:avLst/>
          </a:prstGeom>
          <a:ln w="0">
            <a:noFill/>
          </a:ln>
        </p:spPr>
      </p:pic>
      <p:sp>
        <p:nvSpPr>
          <p:cNvPr id="93" name="TextBox 4"/>
          <p:cNvSpPr/>
          <p:nvPr/>
        </p:nvSpPr>
        <p:spPr>
          <a:xfrm>
            <a:off x="4251960" y="1234440"/>
            <a:ext cx="58060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4206240" y="2286000"/>
            <a:ext cx="6080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6172200" y="6611040"/>
            <a:ext cx="56505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reading's algebra, pinned before the bench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" name="Picture 3" descr="cophi_equations.png"/>
          <p:cNvPicPr/>
          <p:nvPr/>
        </p:nvPicPr>
        <p:blipFill>
          <a:blip r:embed="rId1"/>
          <a:stretch/>
        </p:blipFill>
        <p:spPr>
          <a:xfrm>
            <a:off x="761760" y="1298520"/>
            <a:ext cx="10667520" cy="3200040"/>
          </a:xfrm>
          <a:prstGeom prst="rect">
            <a:avLst/>
          </a:prstGeom>
          <a:ln w="0">
            <a:noFill/>
          </a:ln>
        </p:spPr>
      </p:pic>
      <p:sp>
        <p:nvSpPr>
          <p:cNvPr id="99" name="TextBox 4"/>
          <p:cNvSpPr/>
          <p:nvPr/>
        </p:nvSpPr>
        <p:spPr>
          <a:xfrm>
            <a:off x="411480" y="4498920"/>
            <a:ext cx="5806080" cy="13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phase is kept (referred to the bucket center ᾱ_k); the amplitude shrinks by sinc(π/4) =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0.900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; nothing else changes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Phase (3):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for N = 4 it is Feng's atan2 exactly (his sign is for cos(φ + 2πft))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6400800" y="4498920"/>
            <a:ext cx="5394600" cy="20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Step error (5):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more buckets do not cure it: an 8-bucket fit with the same step error is 1.43× worse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knowing the steps does: the fit at the true ᾱ_k is exact, and a Rb-clocked scan knows them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Photons (6):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 fiber walk or trigger jitter within a scan passes through at 0.13 of its size, with 4 or 8 buckets alike — no algorithmic cure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6400800" y="722916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fiber tip and collimator, its powered face at the reference flat's seat; it registers on both rigs to a pixel and the flat-DM null is sub-nanometer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" name="Picture 3" descr="cophi_layout_oap.png"/>
          <p:cNvPicPr/>
          <p:nvPr/>
        </p:nvPicPr>
        <p:blipFill>
          <a:blip r:embed="rId1"/>
          <a:stretch/>
        </p:blipFill>
        <p:spPr>
          <a:xfrm>
            <a:off x="411480" y="1298520"/>
            <a:ext cx="5760360" cy="2788560"/>
          </a:xfrm>
          <a:prstGeom prst="rect">
            <a:avLst/>
          </a:prstGeom>
          <a:ln w="0">
            <a:noFill/>
          </a:ln>
        </p:spPr>
      </p:pic>
      <p:sp>
        <p:nvSpPr>
          <p:cNvPr id="105" name="TextBox 4"/>
          <p:cNvSpPr/>
          <p:nvPr/>
        </p:nvSpPr>
        <p:spPr>
          <a:xfrm>
            <a:off x="411480" y="4105800"/>
            <a:ext cx="57603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mirror rig from above, the whole LO leg in place: source arm red; LO leg purple, from the fiber tip (right) through the LO collimator at the reference flat's seat to the beamsplitter; test arm to the DM blue; camera leg green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411480" y="4701600"/>
            <a:ext cx="580608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Registration: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Null on the flat DM: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LO collimator's own wavefront, frozen into the null as the IFO freezes its reference; its motion is the LO-drift row (slide 13)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Contrast: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Picture 6" descr="cophi_layout_node.png"/>
          <p:cNvPicPr/>
          <p:nvPr/>
        </p:nvPicPr>
        <p:blipFill>
          <a:blip r:embed="rId2"/>
          <a:stretch/>
        </p:blipFill>
        <p:spPr>
          <a:xfrm>
            <a:off x="8291520" y="1298520"/>
            <a:ext cx="1612800" cy="1726200"/>
          </a:xfrm>
          <a:prstGeom prst="rect">
            <a:avLst/>
          </a:prstGeom>
          <a:ln w="0">
            <a:noFill/>
          </a:ln>
        </p:spPr>
      </p:pic>
      <p:sp>
        <p:nvSpPr>
          <p:cNvPr id="108" name="TextBox 7"/>
          <p:cNvSpPr/>
          <p:nvPr/>
        </p:nvSpPr>
        <p:spPr>
          <a:xfrm>
            <a:off x="6400800" y="3043440"/>
            <a:ext cx="5394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6400800" y="3639240"/>
            <a:ext cx="5394600" cy="166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findings for any traced LO: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tail places the detector field by ray index, not camera position (null 681 nm by index, 0.45 nm by position) — the LO is placed by position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plain mirror train had kept a source trim solved with the polarizer plate: OAP1 fed off focus (84 nm defocus) — now trimmed to zero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trains priced: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457200" y="6172200"/>
            <a:ext cx="113382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" name="Picture 3" descr="cophi_stations_oap.png"/>
          <p:cNvPicPr/>
          <p:nvPr/>
        </p:nvPicPr>
        <p:blipFill>
          <a:blip r:embed="rId1"/>
          <a:stretch/>
        </p:blipFill>
        <p:spPr>
          <a:xfrm>
            <a:off x="1293480" y="1298520"/>
            <a:ext cx="9604080" cy="2897280"/>
          </a:xfrm>
          <a:prstGeom prst="rect">
            <a:avLst/>
          </a:prstGeom>
          <a:ln w="0">
            <a:noFill/>
          </a:ln>
        </p:spPr>
      </p:pic>
      <p:sp>
        <p:nvSpPr>
          <p:cNvPr id="114" name="TextBox 4"/>
          <p:cNvSpPr/>
          <p:nvPr/>
        </p:nvSpPr>
        <p:spPr>
          <a:xfrm>
            <a:off x="411480" y="421452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5"/>
          <p:cNvSpPr/>
          <p:nvPr/>
        </p:nvSpPr>
        <p:spPr>
          <a:xfrm>
            <a:off x="411480" y="4645080"/>
            <a:ext cx="113684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Resolution shown: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(6948 lit actuators on ~77,900 pupil pixels).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every real camera on the table samples finer (5–21 px per actuator, slide 10); what resolution buys and costs is slide 18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6"/>
          <p:cNvSpPr/>
          <p:nvPr/>
        </p:nvSpPr>
        <p:spPr>
          <a:xfrm>
            <a:off x="411480" y="56592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Resolution and timing, camera by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19" name="Table 3"/>
          <p:cNvGraphicFramePr/>
          <p:nvPr/>
        </p:nvGraphicFramePr>
        <p:xfrm>
          <a:off x="411480" y="1298520"/>
          <a:ext cx="11368440" cy="3182760"/>
        </p:xfrm>
        <a:graphic>
          <a:graphicData uri="http://schemas.openxmlformats.org/drawingml/2006/table">
            <a:tbl>
              <a:tblPr/>
              <a:tblGrid>
                <a:gridCol w="3484800"/>
                <a:gridCol w="1313640"/>
                <a:gridCol w="1770840"/>
                <a:gridCol w="1770840"/>
                <a:gridCol w="302760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(the 1.3 µm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0" name="TextBox 4"/>
          <p:cNvSpPr/>
          <p:nvPr/>
        </p:nvSpPr>
        <p:spPr>
          <a:xfrm>
            <a:off x="411480" y="4628160"/>
            <a:ext cx="11368440" cy="16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below ~1.5 px per actuator the actuator fit collapses (the blur demo's box kernel) — 5 px per actuator is the floor on this table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nothing coarser is modeled (ruling: every mode of interest is commanded at full actuator resolution)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5"/>
          <p:cNvSpPr/>
          <p:nvPr/>
        </p:nvSpPr>
        <p:spPr>
          <a:xfrm>
            <a:off x="411480" y="68346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24" name="Table 3"/>
          <p:cNvGraphicFramePr/>
          <p:nvPr/>
        </p:nvGraphicFramePr>
        <p:xfrm>
          <a:off x="411480" y="1188720"/>
          <a:ext cx="11368440" cy="2800080"/>
        </p:xfrm>
        <a:graphic>
          <a:graphicData uri="http://schemas.openxmlformats.org/drawingml/2006/table">
            <a:tbl>
              <a:tblPr/>
              <a:tblGrid>
                <a:gridCol w="3065400"/>
                <a:gridCol w="2682000"/>
                <a:gridCol w="2325600"/>
                <a:gridCol w="32950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TextBox 4"/>
          <p:cNvSpPr/>
          <p:nvPr/>
        </p:nvSpPr>
        <p:spPr>
          <a:xfrm>
            <a:off x="411480" y="4135320"/>
            <a:ext cx="11368440" cy="13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411480" y="5938200"/>
            <a:ext cx="1136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Photons for 1 pm, camera by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29" name="Table 3"/>
          <p:cNvGraphicFramePr/>
          <p:nvPr/>
        </p:nvGraphicFramePr>
        <p:xfrm>
          <a:off x="411480" y="1298520"/>
          <a:ext cx="6903720" cy="4407480"/>
        </p:xfrm>
        <a:graphic>
          <a:graphicData uri="http://schemas.openxmlformats.org/drawingml/2006/table">
            <a:tbl>
              <a:tblPr/>
              <a:tblGrid>
                <a:gridCol w="1749240"/>
                <a:gridCol w="1095120"/>
                <a:gridCol w="1139040"/>
                <a:gridCol w="636120"/>
                <a:gridCol w="1368000"/>
                <a:gridCol w="916200"/>
              </a:tblGrid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(the 1.3 µm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TextBox 4"/>
          <p:cNvSpPr/>
          <p:nvPr/>
        </p:nvSpPr>
        <p:spPr>
          <a:xfrm>
            <a:off x="411480" y="5765400"/>
            <a:ext cx="5806080" cy="8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metric: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raw single-actuator noise is mostly a common piston (165 vs 76 pm) — unobservable and inert on a DM; the composite deck puts every gauge on this metric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7315200" y="1298520"/>
            <a:ext cx="4480200" cy="40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baseline's and the C-RED's read noise are assumed (not in Feng's deck; the survey's value unconfirmed)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 hold loop never needs SNR 10 in one measurement: it integrates readings (next slide)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7315200" y="5361840"/>
            <a:ext cx="4480200" cy="10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Holding 3 pm: the servo at the camera's cadence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35" name="Table 3"/>
          <p:cNvGraphicFramePr/>
          <p:nvPr/>
        </p:nvGraphicFramePr>
        <p:xfrm>
          <a:off x="411480" y="1298520"/>
          <a:ext cx="5806080" cy="4686120"/>
        </p:xfrm>
        <a:graphic>
          <a:graphicData uri="http://schemas.openxmlformats.org/drawingml/2006/table">
            <a:tbl>
              <a:tblPr/>
              <a:tblGrid>
                <a:gridCol w="2529000"/>
                <a:gridCol w="327708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6" name="TextBox 4"/>
          <p:cNvSpPr/>
          <p:nvPr/>
        </p:nvSpPr>
        <p:spPr>
          <a:xfrm>
            <a:off x="6400800" y="1298520"/>
            <a:ext cx="5394600" cy="451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budget at the photon floor (mirror rig):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— co-routed, thermally tied, or servoed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with the lock-in camera the walk is a per-sample piston: inert (record)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loop averages across cycles at gain g (steady state σ_n √(g/(2 − g)), plus M readings per cycle); in the loop the one-step and converged estimators agree to 0.1 pm on every row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5"/>
          <p:cNvSpPr/>
          <p:nvPr/>
        </p:nvSpPr>
        <p:spPr>
          <a:xfrm>
            <a:off x="457200" y="6172200"/>
            <a:ext cx="113382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Hold vs cycle time: what the fast cycle buys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" name="Picture 3" descr="cophi_hold_vs_cycle.png"/>
          <p:cNvPicPr/>
          <p:nvPr/>
        </p:nvPicPr>
        <p:blipFill>
          <a:blip r:embed="rId1"/>
          <a:stretch/>
        </p:blipFill>
        <p:spPr>
          <a:xfrm>
            <a:off x="1816920" y="1298520"/>
            <a:ext cx="8557200" cy="3537360"/>
          </a:xfrm>
          <a:prstGeom prst="rect">
            <a:avLst/>
          </a:prstGeom>
          <a:ln w="0">
            <a:noFill/>
          </a:ln>
        </p:spPr>
      </p:pic>
      <p:sp>
        <p:nvSpPr>
          <p:cNvPr id="141" name="TextBox 4"/>
          <p:cNvSpPr/>
          <p:nvPr/>
        </p:nvSpPr>
        <p:spPr>
          <a:xfrm>
            <a:off x="411480" y="485460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5"/>
          <p:cNvSpPr/>
          <p:nvPr/>
        </p:nvSpPr>
        <p:spPr>
          <a:xfrm>
            <a:off x="411480" y="5285160"/>
            <a:ext cx="5806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At 1.6 s cycles: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6"/>
          <p:cNvSpPr/>
          <p:nvPr/>
        </p:nvSpPr>
        <p:spPr>
          <a:xfrm>
            <a:off x="6400800" y="5285160"/>
            <a:ext cx="5394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7"/>
          <p:cNvSpPr/>
          <p:nvPr/>
        </p:nvSpPr>
        <p:spPr>
          <a:xfrm>
            <a:off x="6400800" y="625464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7" name="Picture 3" descr="cophi_block_multi.png"/>
          <p:cNvPicPr/>
          <p:nvPr/>
        </p:nvPicPr>
        <p:blipFill>
          <a:blip r:embed="rId1"/>
          <a:srcRect l="0" t="3061" r="0" b="2370"/>
          <a:stretch/>
        </p:blipFill>
        <p:spPr>
          <a:xfrm>
            <a:off x="731520" y="1179720"/>
            <a:ext cx="9097920" cy="5623200"/>
          </a:xfrm>
          <a:prstGeom prst="rect">
            <a:avLst/>
          </a:prstGeom>
          <a:ln w="0">
            <a:noFill/>
          </a:ln>
        </p:spPr>
      </p:pic>
      <p:sp>
        <p:nvSpPr>
          <p:cNvPr id="148" name="TextBox 4"/>
          <p:cNvSpPr/>
          <p:nvPr/>
        </p:nvSpPr>
        <p:spPr>
          <a:xfrm>
            <a:off x="3657600" y="1152000"/>
            <a:ext cx="8229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5"/>
          <p:cNvSpPr/>
          <p:nvPr/>
        </p:nvSpPr>
        <p:spPr>
          <a:xfrm>
            <a:off x="5257800" y="2468880"/>
            <a:ext cx="585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6"/>
          <p:cNvSpPr/>
          <p:nvPr/>
        </p:nvSpPr>
        <p:spPr>
          <a:xfrm>
            <a:off x="4572000" y="1828800"/>
            <a:ext cx="73148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3"/>
          <p:cNvSpPr/>
          <p:nvPr/>
        </p:nvSpPr>
        <p:spPr>
          <a:xfrm>
            <a:off x="411480" y="1298520"/>
            <a:ext cx="5806080" cy="28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any Δλ from 1 to ~100 nm works (the fine requirement at Δλ = 20 nm is 1.7 nm against ~0.1 nm per pixel): one rung of the synthetic-wavelength ladder is enough here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Temporal unwrapping: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54" name="Table 4"/>
          <p:cNvGraphicFramePr/>
          <p:nvPr/>
        </p:nvGraphicFramePr>
        <p:xfrm>
          <a:off x="6400800" y="1298520"/>
          <a:ext cx="5394600" cy="2572920"/>
        </p:xfrm>
        <a:graphic>
          <a:graphicData uri="http://schemas.openxmlformats.org/drawingml/2006/table">
            <a:tbl>
              <a:tblPr/>
              <a:tblGrid>
                <a:gridCol w="2929680"/>
                <a:gridCol w="674280"/>
                <a:gridCol w="1790280"/>
              </a:tblGrid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55" name="TextBox 5"/>
          <p:cNvSpPr/>
          <p:nvPr/>
        </p:nvSpPr>
        <p:spPr>
          <a:xfrm>
            <a:off x="6400800" y="3970800"/>
            <a:ext cx="53946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58" name="Table 3"/>
          <p:cNvGraphicFramePr/>
          <p:nvPr/>
        </p:nvGraphicFramePr>
        <p:xfrm>
          <a:off x="411480" y="1298520"/>
          <a:ext cx="11367000" cy="5102280"/>
        </p:xfrm>
        <a:graphic>
          <a:graphicData uri="http://schemas.openxmlformats.org/drawingml/2006/table">
            <a:tbl>
              <a:tblPr/>
              <a:tblGrid>
                <a:gridCol w="1520280"/>
                <a:gridCol w="2001600"/>
                <a:gridCol w="2432520"/>
                <a:gridCol w="1216080"/>
                <a:gridCol w="1798920"/>
                <a:gridCol w="2397960"/>
              </a:tblGrid>
              <a:tr h="4615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1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69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1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1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469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69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84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4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59" name="TextBox 4"/>
          <p:cNvSpPr/>
          <p:nvPr/>
        </p:nvSpPr>
        <p:spPr>
          <a:xfrm>
            <a:off x="457200" y="6446520"/>
            <a:ext cx="1136556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How much resolution? IFO, vector ZWFS, HET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62" name="Table 3"/>
          <p:cNvGraphicFramePr/>
          <p:nvPr/>
        </p:nvGraphicFramePr>
        <p:xfrm>
          <a:off x="411480" y="1298520"/>
          <a:ext cx="11368440" cy="2952720"/>
        </p:xfrm>
        <a:graphic>
          <a:graphicData uri="http://schemas.openxmlformats.org/drawingml/2006/table">
            <a:tbl>
              <a:tblPr/>
              <a:tblGrid>
                <a:gridCol w="598320"/>
                <a:gridCol w="3669840"/>
                <a:gridCol w="917280"/>
                <a:gridCol w="877320"/>
                <a:gridCol w="1874520"/>
                <a:gridCol w="1196640"/>
                <a:gridCol w="1116720"/>
                <a:gridCol w="111672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images per pol.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3" name="TextBox 4"/>
          <p:cNvSpPr/>
          <p:nvPr/>
        </p:nvSpPr>
        <p:spPr>
          <a:xfrm>
            <a:off x="411480" y="4256640"/>
            <a:ext cx="11368440" cy="17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still reads to 2 pm); the collapse band is the blur demo's; the 5–20 rows follow from the well-bound photon rule and the data rates.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300" spc="-1" strike="noStrike">
                <a:solidFill>
                  <a:srgbClr val="6e6e6e"/>
                </a:solidFill>
                <a:latin typeface="Arial"/>
              </a:rPr>
              <a:t>a per-gauge sweep at 1, 1.5, 2 and 4 px per actuator is running now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Where the three differ: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the IFO and HET read against a reference and are indifferent above 2 px;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5"/>
          <p:cNvSpPr/>
          <p:nvPr/>
        </p:nvSpPr>
        <p:spPr>
          <a:xfrm>
            <a:off x="411480" y="64015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67" name="Table 3"/>
          <p:cNvGraphicFramePr/>
          <p:nvPr/>
        </p:nvGraphicFramePr>
        <p:xfrm>
          <a:off x="411480" y="1298520"/>
          <a:ext cx="11368440" cy="4034520"/>
        </p:xfrm>
        <a:graphic>
          <a:graphicData uri="http://schemas.openxmlformats.org/drawingml/2006/table">
            <a:tbl>
              <a:tblPr/>
              <a:tblGrid>
                <a:gridCol w="2107440"/>
                <a:gridCol w="4370400"/>
                <a:gridCol w="1268640"/>
                <a:gridCol w="1816920"/>
                <a:gridCol w="180432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4"/>
          <p:cNvSpPr/>
          <p:nvPr/>
        </p:nvSpPr>
        <p:spPr>
          <a:xfrm>
            <a:off x="411480" y="5257800"/>
            <a:ext cx="11368440" cy="10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if its well is as surveyed.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COPHI in either form.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a flight DM: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The hybrid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411480" y="698616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Recommendations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TextBox 3"/>
          <p:cNvSpPr/>
          <p:nvPr/>
        </p:nvSpPr>
        <p:spPr>
          <a:xfrm>
            <a:off x="411480" y="1298520"/>
            <a:ext cx="5806080" cy="268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Camera: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verify the survey against the vendor sheets before a part is named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  <a:ea typeface="Noto Sans CJK SC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  <a:ea typeface="Noto Sans CJK SC"/>
              </a:rPr>
              <a:t>The lock-in camera is the fast form: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  <a:ea typeface="Noto Sans CJK SC"/>
              </a:rPr>
              <a:t> 3.4 s per pm as surveyed, 0.125 s cycles.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	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verify all performance specs with the vendor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Box 4"/>
          <p:cNvSpPr/>
          <p:nvPr/>
        </p:nvSpPr>
        <p:spPr>
          <a:xfrm>
            <a:off x="6400800" y="1298520"/>
            <a:ext cx="539460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Open in the record: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18); the polarization-camera timings through the noise hook (slide 17).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Model next: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5"/>
          <p:cNvSpPr/>
          <p:nvPr/>
        </p:nvSpPr>
        <p:spPr>
          <a:xfrm>
            <a:off x="6400800" y="30024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What to develop: what, why, how, how long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77" name="Table 3"/>
          <p:cNvGraphicFramePr/>
          <p:nvPr/>
        </p:nvGraphicFramePr>
        <p:xfrm>
          <a:off x="411480" y="1298520"/>
          <a:ext cx="11368440" cy="5401440"/>
        </p:xfrm>
        <a:graphic>
          <a:graphicData uri="http://schemas.openxmlformats.org/drawingml/2006/table">
            <a:tbl>
              <a:tblPr/>
              <a:tblGrid>
                <a:gridCol w="1526400"/>
                <a:gridCol w="2426760"/>
                <a:gridCol w="1870560"/>
                <a:gridCol w="4887360"/>
                <a:gridCol w="6570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8456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8" name="TextBox 4"/>
          <p:cNvSpPr/>
          <p:nvPr/>
        </p:nvSpPr>
        <p:spPr>
          <a:xfrm>
            <a:off x="411480" y="67082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Box 1"/>
          <p:cNvSpPr/>
          <p:nvPr/>
        </p:nvSpPr>
        <p:spPr>
          <a:xfrm>
            <a:off x="411480" y="201240"/>
            <a:ext cx="11368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Backup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411480" y="9144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Feng's N-frame algebra, and ours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TextBox 3"/>
          <p:cNvSpPr/>
          <p:nvPr/>
        </p:nvSpPr>
        <p:spPr>
          <a:xfrm>
            <a:off x="411480" y="1298520"/>
            <a:ext cx="580608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Feng: I = I₀(1 + γ cos(φ + 2πf_h t)), α_k = 0, π/2, π, 3π/2; φ = atan2(I₄ − I₂, I₁ − I₃).  N frames: the linear least squares for (I₀, I₀γ cos φ, I₀γ sin φ).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4"/>
          <p:cNvSpPr/>
          <p:nvPr/>
        </p:nvSpPr>
        <p:spPr>
          <a:xfrm>
            <a:off x="6400800" y="1298520"/>
            <a:ext cx="5394600" cy="16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detector survey, and its caveats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87" name="Table 3"/>
          <p:cNvGraphicFramePr/>
          <p:nvPr/>
        </p:nvGraphicFramePr>
        <p:xfrm>
          <a:off x="411480" y="1298520"/>
          <a:ext cx="11368440" cy="1959120"/>
        </p:xfrm>
        <a:graphic>
          <a:graphicData uri="http://schemas.openxmlformats.org/drawingml/2006/table">
            <a:tbl>
              <a:tblPr/>
              <a:tblGrid>
                <a:gridCol w="2034720"/>
                <a:gridCol w="4757040"/>
                <a:gridCol w="457632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8" name="TextBox 4"/>
          <p:cNvSpPr/>
          <p:nvPr/>
        </p:nvSpPr>
        <p:spPr>
          <a:xfrm>
            <a:off x="411480" y="331344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Run tags and records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Every number in this deck, where it came from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91" name="Table 3"/>
          <p:cNvGraphicFramePr/>
          <p:nvPr/>
        </p:nvGraphicFramePr>
        <p:xfrm>
          <a:off x="411480" y="1298520"/>
          <a:ext cx="11368440" cy="3457080"/>
        </p:xfrm>
        <a:graphic>
          <a:graphicData uri="http://schemas.openxmlformats.org/drawingml/2006/table">
            <a:tbl>
              <a:tblPr/>
              <a:tblGrid>
                <a:gridCol w="1694880"/>
                <a:gridCol w="4340520"/>
                <a:gridCol w="53326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92" name="TextBox 4"/>
          <p:cNvSpPr/>
          <p:nvPr/>
        </p:nvSpPr>
        <p:spPr>
          <a:xfrm>
            <a:off x="411480" y="490248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2026-10-13T06:33:51Z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