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_rels/slide21.xml.rels" ContentType="application/vnd.openxmlformats-package.relationships+xml"/>
  <Override PartName="/ppt/slides/_rels/slide19.xml.rels" ContentType="application/vnd.openxmlformats-package.relationships+xml"/>
  <Override PartName="/ppt/slides/_rels/slide4.xml.rels" ContentType="application/vnd.openxmlformats-package.relationships+xml"/>
  <Override PartName="/ppt/slides/_rels/slide20.xml.rels" ContentType="application/vnd.openxmlformats-package.relationships+xml"/>
  <Override PartName="/ppt/slides/_rels/slide18.xml.rels" ContentType="application/vnd.openxmlformats-package.relationships+xml"/>
  <Override PartName="/ppt/slides/_rels/slide3.xml.rels" ContentType="application/vnd.openxmlformats-package.relationships+xml"/>
  <Override PartName="/ppt/slides/_rels/slide17.xml.rels" ContentType="application/vnd.openxmlformats-package.relationships+xml"/>
  <Override PartName="/ppt/slides/_rels/slide2.xml.rels" ContentType="application/vnd.openxmlformats-package.relationships+xml"/>
  <Override PartName="/ppt/slides/_rels/slide16.xml.rels" ContentType="application/vnd.openxmlformats-package.relationships+xml"/>
  <Override PartName="/ppt/slides/_rels/slide1.xml.rels" ContentType="application/vnd.openxmlformats-package.relationships+xml"/>
  <Override PartName="/ppt/slides/_rels/slide15.xml.rels" ContentType="application/vnd.openxmlformats-package.relationships+xml"/>
  <Override PartName="/ppt/slides/_rels/slide14.xml.rels" ContentType="application/vnd.openxmlformats-package.relationships+xml"/>
  <Override PartName="/ppt/slides/_rels/slide26.xml.rels" ContentType="application/vnd.openxmlformats-package.relationships+xml"/>
  <Override PartName="/ppt/slides/_rels/slide13.xml.rels" ContentType="application/vnd.openxmlformats-package.relationships+xml"/>
  <Override PartName="/ppt/slides/_rels/slide25.xml.rels" ContentType="application/vnd.openxmlformats-package.relationships+xml"/>
  <Override PartName="/ppt/slides/_rels/slide12.xml.rels" ContentType="application/vnd.openxmlformats-package.relationships+xml"/>
  <Override PartName="/ppt/slides/_rels/slide24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23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22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25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24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23.xml" ContentType="application/vnd.openxmlformats-officedocument.presentationml.slide+xml"/>
  <Override PartName="/ppt/slides/slide6.xml" ContentType="application/vnd.openxmlformats-officedocument.presentationml.slide+xml"/>
  <Override PartName="/ppt/slides/slide22.xml" ContentType="application/vnd.openxmlformats-officedocument.presentationml.slide+xml"/>
  <Override PartName="/ppt/slides/slide26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1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10.png" ContentType="image/png"/>
  <Override PartName="/ppt/media/image7.png" ContentType="image/png"/>
  <Override PartName="/ppt/media/image8.png" ContentType="image/png"/>
  <Override PartName="/ppt/media/image9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268" r:id="rId25"/>
    <p:sldId id="269" r:id="rId26"/>
    <p:sldId id="270" r:id="rId27"/>
    <p:sldId id="271" r:id="rId28"/>
    <p:sldId id="272" r:id="rId29"/>
    <p:sldId id="273" r:id="rId30"/>
    <p:sldId id="274" r:id="rId31"/>
    <p:sldId id="275" r:id="rId32"/>
    <p:sldId id="276" r:id="rId33"/>
    <p:sldId id="277" r:id="rId34"/>
    <p:sldId id="278" r:id="rId35"/>
    <p:sldId id="279" r:id="rId36"/>
    <p:sldId id="280" r:id="rId37"/>
    <p:sldId id="281" r:id="rId38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slide" Target="slides/slide22.xml"/><Relationship Id="rId35" Type="http://schemas.openxmlformats.org/officeDocument/2006/relationships/slide" Target="slides/slide23.xml"/><Relationship Id="rId36" Type="http://schemas.openxmlformats.org/officeDocument/2006/relationships/slide" Target="slides/slide24.xml"/><Relationship Id="rId37" Type="http://schemas.openxmlformats.org/officeDocument/2006/relationships/slide" Target="slides/slide25.xml"/><Relationship Id="rId38" Type="http://schemas.openxmlformats.org/officeDocument/2006/relationships/slide" Target="slides/slide26.xml"/><Relationship Id="rId3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F52062F4-BE6F-4938-801A-0ED8F11933F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F31EB515-BAA0-4522-A499-A615311F52B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47DC8DE4-A799-445F-AE94-1273B99CE3D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736AB124-49C1-4073-9E2F-0B6967F734D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E5117CFF-93FB-4EA6-B9C7-758E7676288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7ACD39ED-7C7E-41A7-A0C2-2059E4C4EF4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16BB1EFE-CBB9-4117-88B0-DAED5DC73A5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98503400-B2D6-43B6-875C-BEF225202E8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C0FEFEEB-0363-46E7-87EE-C9395767D38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ED1C3577-F109-4E01-86AA-56D7CC11626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p>
            <a:fld id="{F7B9C7C8-387C-4804-95BA-CB970C51694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to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edit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Mast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er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title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CC2A325-A59C-4E78-84CB-199D9DB50BDE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to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edit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Mast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er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title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6FF3AD2-3865-4944-80E2-109270124E8C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l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i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k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o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d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i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M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a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r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i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l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y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l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CC67487-0BAB-4D75-AA74-179036F8B9A1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70EF86C-1C94-4C83-A2D7-D28B389E3132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Click to edit Master text styles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C0BED94-F4DB-453A-97BE-D5150EF3318E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9311BB2-6B0B-49EF-8FE3-4C8114A4E3C8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2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34AFF48-3311-4310-8C95-44CF9F0BB080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710C479-8FEB-4F05-AE05-BC160628CC28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0E0F0E2-8C43-4342-AF25-7C2EC2D6C358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260390D-7929-49D4-ACD5-94D427269DE1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21BA3BD-9ECD-409F-9027-83AE27D63A11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9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9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TextBox 1"/>
          <p:cNvSpPr/>
          <p:nvPr/>
        </p:nvSpPr>
        <p:spPr>
          <a:xfrm>
            <a:off x="822960" y="1737360"/>
            <a:ext cx="10545480" cy="343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4000" spc="-1" strike="noStrike">
                <a:solidFill>
                  <a:srgbClr val="1f4e79"/>
                </a:solidFill>
                <a:latin typeface="Arial"/>
              </a:rPr>
              <a:t>COPHI as the Fifth DM Gauge Bench Sensor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400"/>
              </a:spcAft>
            </a:pPr>
            <a:r>
              <a:rPr b="0" lang="en-US" sz="2200" spc="-1" strike="noStrike">
                <a:solidFill>
                  <a:srgbClr val="282828"/>
                </a:solidFill>
                <a:latin typeface="Arial"/>
              </a:rPr>
              <a:t>Feng Zhao's heterodyne camera interferometer, scored on the same bench, the same 30 nm surface and the same rows as the interferometer, the Zernike sensors and the pinhole — and a faster alternative using lock-in detectors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b="0" lang="en-US" sz="1500" spc="-1" strike="noStrike">
                <a:solidFill>
                  <a:srgbClr val="6e6e6e"/>
                </a:solidFill>
                <a:latin typeface="Arial"/>
              </a:rPr>
              <a:t>D. C. Redding, with Claude Code (TO: the bench stages).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b="0" lang="en-US" sz="1500" spc="-1" strike="noStrike">
                <a:solidFill>
                  <a:srgbClr val="6e6e6e"/>
                </a:solidFill>
                <a:latin typeface="Arial"/>
              </a:rPr>
              <a:t>October 2026.  Working record.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b="0" lang="en-US" sz="1500" spc="-1" strike="noStrike">
                <a:solidFill>
                  <a:srgbClr val="6e6e6e"/>
                </a:solidFill>
                <a:latin typeface="Arial"/>
              </a:rPr>
              <a:t>DRAFT — pending review.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TextBox 2"/>
          <p:cNvSpPr/>
          <p:nvPr/>
        </p:nvSpPr>
        <p:spPr>
          <a:xfrm>
            <a:off x="822960" y="5486400"/>
            <a:ext cx="1054548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Feng's proposal (COPHI_for_DM_gauge.pptx, 2026-05-19): a single-frequency laser split to two AOMs at 80 MHz and 80 MHz + 7.5 Hz on a Rb standard, a fiber LO combined before a 30 fps camera imaging the DM, four frames per beat, the four-frame phase.  Purpose: to hold each DM in a local loop against drift, to &lt;&lt; 10 pm.  What does that read on our bench, and what does it cost?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TextBox 1"/>
          <p:cNvSpPr/>
          <p:nvPr/>
        </p:nvSpPr>
        <p:spPr>
          <a:xfrm>
            <a:off x="411480" y="201240"/>
            <a:ext cx="11368440" cy="88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Feng's proposal, in one slide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A heterodyne interferometer whose phase steps are set by frequency, not by a piezo, with a fiber-fed local oscillator at the camera, and an array detector providing many parallel channels to resolve 96 × 96 actuators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1" name="TextBox 3"/>
          <p:cNvSpPr/>
          <p:nvPr/>
        </p:nvSpPr>
        <p:spPr>
          <a:xfrm>
            <a:off x="411480" y="1298520"/>
            <a:ext cx="5806080" cy="20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Layout: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laser → 1×2 coupler → AOM-1 (80 MHz) and AOM-2 (80 MHz + 7.5 Hz), both synthesizers on a 10 MHz Rb standard; the measurement beam to the DM, the LO fiber to a splitter before the camera; the ×4 multipliers mixed to a 30 Hz camera trigger: four frames per 7.5 Hz fringe cycle – see next slide.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Algorithm: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I = I₀ (1 + γ cos(φ + 2π f t)); frames at α = 0, π/2, π, 3π/2; φ = atan2(I₄ − I₂, I₁ − I₃); surface = ½ (φ/2π) λ (double pass).  Backup: the N-frame least-squares solution (Zygo's four-step is N = 4).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Main purpose: stabilize the DM!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 Run each DM in a local loop to hold it — our job 3.  For us to figure out: the camera, the photon budget, the error terms, estimated performance.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TextBox 4"/>
          <p:cNvSpPr/>
          <p:nvPr/>
        </p:nvSpPr>
        <p:spPr>
          <a:xfrm>
            <a:off x="6400800" y="1298520"/>
            <a:ext cx="5394600" cy="287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Built on our DM Gauge bench: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the bench with mirror and lens layouts, the 96 × 96 DM, swappable sensors: the core Twyman-Green interferometer (IFO), scalar and vector Zernike wavefront sensors (ZWFS), point-diffraction interferometers.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The same scoring: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on a 30 nm working surface, the response matrix measured through the reading, the hold loop, the capture ladder, the photon rows.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What is new: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the Local Oscillator (LO) arm (a fiber tip and collimator where the reference flat sat); frequency-set steps; each frame integrating a quarter of the beat; the LO's wavefront drift; the differential fiber phase within a scan; trigger jitter; a camera chosen for the job.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What is absent: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the polarizing train — no analyzer, no quarter-wave plates, the same polarization in both arms — so the polarization gain the IFO carries (0.983–1.004) does not exist here.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TextBox 5"/>
          <p:cNvSpPr/>
          <p:nvPr/>
        </p:nvSpPr>
        <p:spPr>
          <a:xfrm>
            <a:off x="6400800" y="5074920"/>
            <a:ext cx="539460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Feng's slide 8 is the implementation example this deck's block diagrams follow; TOM3 (SPIE 6268) is the photodiode heritage.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TextBox 1"/>
          <p:cNvSpPr/>
          <p:nvPr/>
        </p:nvSpPr>
        <p:spPr>
          <a:xfrm>
            <a:off x="411480" y="201240"/>
            <a:ext cx="11368440" cy="88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COPHI on the DM Gauge bench: the four-step run continuously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The record interferometer's piezo four-step with the steps set by a Rb-clocked beat, a quarter-cycle integrating bucket per frame, and a fiber LO; the reconstruction is the same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6" name="Picture 3" descr="cophi_block_single.png"/>
          <p:cNvPicPr/>
          <p:nvPr/>
        </p:nvPicPr>
        <p:blipFill>
          <a:blip r:embed="rId1"/>
          <a:srcRect l="0" t="3659" r="0" b="2839"/>
          <a:stretch/>
        </p:blipFill>
        <p:spPr>
          <a:xfrm>
            <a:off x="914400" y="1408320"/>
            <a:ext cx="9993960" cy="5394600"/>
          </a:xfrm>
          <a:prstGeom prst="rect">
            <a:avLst/>
          </a:prstGeom>
          <a:ln w="0">
            <a:noFill/>
          </a:ln>
        </p:spPr>
      </p:pic>
      <p:sp>
        <p:nvSpPr>
          <p:cNvPr id="77" name="TextBox 4"/>
          <p:cNvSpPr/>
          <p:nvPr/>
        </p:nvSpPr>
        <p:spPr>
          <a:xfrm>
            <a:off x="411480" y="1115640"/>
            <a:ext cx="114753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500" spc="-1" strike="noStrike">
                <a:solidFill>
                  <a:srgbClr val="282828"/>
                </a:solidFill>
                <a:latin typeface="Arial"/>
              </a:rPr>
              <a:t>Feng's four-frame method, one-color version, for the hold job.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  Every box is a component of the TG96 DM Gauge bench.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TextBox 5"/>
          <p:cNvSpPr/>
          <p:nvPr/>
        </p:nvSpPr>
        <p:spPr>
          <a:xfrm>
            <a:off x="3429000" y="1426320"/>
            <a:ext cx="5851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Blue = RF / timing · Red = PM fiber · Green = free-space beam · Gray = data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TextBox 6"/>
          <p:cNvSpPr/>
          <p:nvPr/>
        </p:nvSpPr>
        <p:spPr>
          <a:xfrm>
            <a:off x="6400800" y="1999440"/>
            <a:ext cx="539460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make_cophi_block_fig.py; the camera rows name the surveyed parts; the lock-in alternative has its own diagram (slide 7).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TextBox 1"/>
          <p:cNvSpPr/>
          <p:nvPr/>
        </p:nvSpPr>
        <p:spPr>
          <a:xfrm>
            <a:off x="411480" y="201240"/>
            <a:ext cx="11368440" cy="88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Our implementation of Feng's approach: the choices, in one table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Feng's layout kept where he specified it, each unspecified part fixed by a bench number; the lock-in camera (next slide) changes the camera, the beat and the trigger chain only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graphicFrame>
        <p:nvGraphicFramePr>
          <p:cNvPr id="82" name="Table 3"/>
          <p:cNvGraphicFramePr/>
          <p:nvPr/>
        </p:nvGraphicFramePr>
        <p:xfrm>
          <a:off x="411480" y="1298520"/>
          <a:ext cx="11368440" cy="4566240"/>
        </p:xfrm>
        <a:graphic>
          <a:graphicData uri="http://schemas.openxmlformats.org/drawingml/2006/table">
            <a:tbl>
              <a:tblPr/>
              <a:tblGrid>
                <a:gridCol w="1671480"/>
                <a:gridCol w="1532880"/>
                <a:gridCol w="6094080"/>
                <a:gridCol w="2069640"/>
              </a:tblGrid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part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Feng's proposal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our implementation (what the model runs)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why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laser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single-frequency, λ unstated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632.8 nm, the record bench's; a 1.3 µm row for InGaAs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other four gauges' surface, matrix and photon rows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RF and timing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AOMs 80 MHz / 80 MHz + 7.5 Hz, 10 MHz Rb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as proposed; camera trigger on the same reference, 30 fps = 4 × 7.5 Hz; jitter a knob, nominal 0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frequency-set steps on one clock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buckets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four frames per beat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each frame integrates a quarter cycle: contrast × 0.900; N &gt; 4 = the least-squares backup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four-step, with the bucket priced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local oscillator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a fiber LO before the camera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PM fiber tip + collimator at the reference flat's seat (slide 9); LO/test ~1, contrast 0.98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seat registers on both rigs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beam train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one polarization, plain splitter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plain splitter scored; the polarizing train priced beside it (same pm, ×1.5 laser)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no analyzer: no polarization gain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camera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a 30 fps array, part unstated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four surveyed rows, read noise in each: baseline 1k² 60 ke⁻ 30 fps; Photonfocus 200 ke⁻ 150 fps (the "Feng's camera" row); pco.edge GS; C-RED 2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well × frame rate decides (slide 13)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exposure, resolution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96 × 96 resolved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frame mean at half the well; model 3.3 px per actuator, real cameras 5–21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oversampling costs no photons (slide 11)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reconstruction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atan2 four-step; surface = φλ/4π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same about the bucket centers; LO-only annulus median-filled; unknowns = control set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record's estimator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errors, hold, capture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"stabilize the DM"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fiber walk, jitter, LO drift, shot + read noise, the record's drifts (slide 14); the record's loop at the camera's cadence; two colors from cold (slides 16–17)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other gauges' loop and ladder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3" name="TextBox 4"/>
          <p:cNvSpPr/>
          <p:nvPr/>
        </p:nvSpPr>
        <p:spPr>
          <a:xfrm>
            <a:off x="411480" y="5942520"/>
            <a:ext cx="1136844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Sheet cophi_params.m (every row is a field there); records in the footnotes of the slides cited; detector rows from NOTE_detectors_survey.md (web, unverified).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TextBox 1"/>
          <p:cNvSpPr/>
          <p:nvPr/>
        </p:nvSpPr>
        <p:spPr>
          <a:xfrm>
            <a:off x="411480" y="201240"/>
            <a:ext cx="11368440" cy="88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The lock-in camera: COPHI's algorithm built into the sensor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Feng's camera takes four frames per beat and the computer demodulates; a lock-in camera demodulates in every pixel at a kHz beat and reads the whole lattice in a second — same optics, same RF chain; its rows run through every table that follows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6" name="TextBox 3"/>
          <p:cNvSpPr/>
          <p:nvPr/>
        </p:nvSpPr>
        <p:spPr>
          <a:xfrm>
            <a:off x="411480" y="1298520"/>
            <a:ext cx="5806080" cy="416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4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400" spc="-1" strike="noStrike">
                <a:solidFill>
                  <a:srgbClr val="282828"/>
                </a:solidFill>
                <a:latin typeface="Arial"/>
              </a:rPr>
              <a:t>Ruling:</a:t>
            </a:r>
            <a:r>
              <a:rPr b="0" lang="en-US" sz="1400" spc="-1" strike="noStrike">
                <a:solidFill>
                  <a:srgbClr val="282828"/>
                </a:solidFill>
                <a:latin typeface="Arial"/>
              </a:rPr>
              <a:t> every mode we care about (EFC probes included) runs at full actuator resolution — so the second implementation is a per-pixel demodulating reading at ≥ 1 element per actuator, assumed to exist.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4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400" spc="-1" strike="noStrike">
                <a:solidFill>
                  <a:srgbClr val="282828"/>
                </a:solidFill>
                <a:latin typeface="Arial"/>
              </a:rPr>
              <a:t>Lock-in</a:t>
            </a:r>
            <a:r>
              <a:rPr b="0" lang="en-US" sz="1400" spc="-1" strike="noStrike">
                <a:solidFill>
                  <a:srgbClr val="282828"/>
                </a:solidFill>
                <a:latin typeface="Arial"/>
              </a:rPr>
              <a:t> = synchronous detection inside each pixel: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594360" indent="-137160" defTabSz="4572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–  </a:t>
            </a: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the photocurrent is multiplied by the beat reference and by its 90°-shifted copy, and integrated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  <a:p>
            <a:pPr marL="594360" indent="-137160" defTabSz="4572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–  </a:t>
            </a: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the stores are I = I₀γ cos φ (in-phase) and Q = I₀γ sin φ (quadrature) — not intensities; φ = atan2(Q, I)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  <a:p>
            <a:pPr marL="594360" indent="-137160" defTabSz="4572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–  </a:t>
            </a: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the DC term never reaches the well; I and Q leave at the frame rate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  <a:p>
            <a:pPr marL="594360" indent="-137160" defTabSz="4572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–  </a:t>
            </a: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a real lock-in pixel (CSEM lineage, heliCam) steers charge between two taps by a square-wave reference — Feng's four-step inside the pixel; the bucket penalty is ×1.11 in σ, carried in every lock-in row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4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400" spc="-1" strike="noStrike">
                <a:solidFill>
                  <a:srgbClr val="282828"/>
                </a:solidFill>
                <a:latin typeface="Arial"/>
              </a:rPr>
              <a:t>Surveyed (unverified):</a:t>
            </a:r>
            <a:r>
              <a:rPr b="0" lang="en-US" sz="1400" spc="-1" strike="noStrike">
                <a:solidFill>
                  <a:srgbClr val="282828"/>
                </a:solidFill>
                <a:latin typeface="Arial"/>
              </a:rPr>
              <a:t> Heliotis heliCam C4 / C4M — 542 × 512 (1024 × 1102), lock-in 1–250 kHz, 500 ke⁻ well, 2 × 10-bit I/Q, external reference; one vendor, four generations.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594360" indent="-137160" defTabSz="4572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–  </a:t>
            </a: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also ranked: 128² CMOS at 20–40 kfps, time-of-flight demodulators, digital-pixel ROICs, coherent photonic arrays; not fit: SPAD / Geiger arrays (count-rate ceilings)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87" name="Table 4"/>
          <p:cNvGraphicFramePr/>
          <p:nvPr/>
        </p:nvGraphicFramePr>
        <p:xfrm>
          <a:off x="6400800" y="1298520"/>
          <a:ext cx="5394600" cy="4242240"/>
        </p:xfrm>
        <a:graphic>
          <a:graphicData uri="http://schemas.openxmlformats.org/drawingml/2006/table">
            <a:tbl>
              <a:tblPr/>
              <a:tblGrid>
                <a:gridCol w="1363320"/>
                <a:gridCol w="612360"/>
                <a:gridCol w="3418560"/>
              </a:tblGrid>
              <a:tr h="77724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0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the two implementations, same optics and RF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0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Feng's camera (Photonfocus row)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0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lock-in camera (heliCam C4, as surveyed)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26280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beat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7.5 Hz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5 kHz (1–250 kHz)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41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what leaves the sensor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4 frames per beat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I/Q (in-phase / quadrature) per pixel at 1 kHz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26280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pixels per actuator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5.3 (C4M 10.6)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41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per-reading noise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39.5 pm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57.9 / 61.1 pm per 1 ms I/Q sample, mirror / lens (63 / 66 at an assumed 100 e⁻ read)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77724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seconds per pm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42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3.35 / 3.73 (read 0, mirror / lens; 4.0 / 4.4 at read 100 assumed); ×1.11 in σ (×1.23 in time) for the pixel's two-tap square-wave demodulation — well-capped at the I/Q rate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if well-free: 10⁹ / 10¹⁰ e⁻/s per element (the sheet's own 2.5 × 10⁹)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0.84 / 0.084 s (0.34 s at 2.5 × 10⁹) — analytic, one store per sample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4341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loop latency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one beat, 133 ms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one I/Q sample, 1 ms (one 0.125 s cycle as the loop's upper bound)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8" name="TextBox 5"/>
          <p:cNvSpPr/>
          <p:nvPr/>
        </p:nvSpPr>
        <p:spPr>
          <a:xfrm>
            <a:off x="420480" y="4846320"/>
            <a:ext cx="11338200" cy="125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4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400" spc="-1" strike="noStrike">
                <a:solidFill>
                  <a:srgbClr val="282828"/>
                </a:solidFill>
                <a:latin typeface="Arial"/>
              </a:rPr>
              <a:t>The lock-in is ~12× the Photonfocus and ~110× Feng's baseline.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594360" indent="-137160" defTabSz="4572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–  </a:t>
            </a: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a well-free device (continuous, or I/Q ≥ 10 kHz) at 2.5 × 10⁹ e⁻/s per element: ~18 pm per sample, ~0.34 s per pm — 10× better again; that is what the vendor question decides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4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400" spc="-1" strike="noStrike">
                <a:solidFill>
                  <a:srgbClr val="282828"/>
                </a:solidFill>
                <a:latin typeface="Arial"/>
              </a:rPr>
              <a:t>The vendor question:</a:t>
            </a:r>
            <a:r>
              <a:rPr b="0" lang="en-US" sz="1400" spc="-1" strike="noStrike">
                <a:solidFill>
                  <a:srgbClr val="282828"/>
                </a:solidFill>
                <a:latin typeface="Arial"/>
              </a:rPr>
              <a:t> phase noise per pixel vs flux at t_c = 100 ms, and whether the full well bounds each internal 1 MSa/s sample or the 5.6 kSa/s output — for Heliotis, through Dave.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TextBox 6"/>
          <p:cNvSpPr/>
          <p:nvPr/>
        </p:nvSpPr>
        <p:spPr>
          <a:xfrm>
            <a:off x="457200" y="6400800"/>
            <a:ext cx="113382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Stage format (runs/format_lens_plain); NOTE_lockin_arrays_survey.md (web survey, every number sourced, none verified by us).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TextBox 1"/>
          <p:cNvSpPr/>
          <p:nvPr/>
        </p:nvSpPr>
        <p:spPr>
          <a:xfrm>
            <a:off x="411480" y="201240"/>
            <a:ext cx="11368440" cy="88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How the lock-in detector works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One pixel sorts its photoelectrons into two storage nodes by a square-wave reference at the beat frequency; the node difference IS the lock-in product, formed before any readout — Feng's four-step inside the pixel, integrated over thousands of cycles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92" name="Picture 3" descr="cophi_lid.png"/>
          <p:cNvPicPr/>
          <p:nvPr/>
        </p:nvPicPr>
        <p:blipFill>
          <a:blip r:embed="rId1"/>
          <a:srcRect l="843" t="3794" r="-91" b="4728"/>
          <a:stretch/>
        </p:blipFill>
        <p:spPr>
          <a:xfrm>
            <a:off x="411480" y="1191240"/>
            <a:ext cx="11365200" cy="4679280"/>
          </a:xfrm>
          <a:prstGeom prst="rect">
            <a:avLst/>
          </a:prstGeom>
          <a:ln w="0">
            <a:noFill/>
          </a:ln>
        </p:spPr>
      </p:pic>
      <p:sp>
        <p:nvSpPr>
          <p:cNvPr id="93" name="TextBox 4"/>
          <p:cNvSpPr/>
          <p:nvPr/>
        </p:nvSpPr>
        <p:spPr>
          <a:xfrm>
            <a:off x="411480" y="5870520"/>
            <a:ext cx="58060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The reference: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a square wave at the beat f_b = |f₁ − f₂| (5 kHz), locked to the AOMs through the Rb clock, fed to the camera's reference input — one clock; software does only atan2(Q, I).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TextBox 5"/>
          <p:cNvSpPr/>
          <p:nvPr/>
        </p:nvSpPr>
        <p:spPr>
          <a:xfrm>
            <a:off x="6400800" y="5870520"/>
            <a:ext cx="5394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Against a frame camera: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N cycles per sample, not a quarter cycle; the DC cancels in the difference (does it fill the nodes? vendor question 2); the square wave costs ×1.11 in σ (eq. 6).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TextBox 6"/>
          <p:cNvSpPr/>
          <p:nvPr/>
        </p:nvSpPr>
        <p:spPr>
          <a:xfrm>
            <a:off x="4343400" y="6569640"/>
            <a:ext cx="745200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make_cophi_lid_fig.py; the pixel is CSEM's demodulation pixel (Lange &amp; Seitz 2001), the heliCam's "dual-phase lock-in".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TextBox 1"/>
          <p:cNvSpPr/>
          <p:nvPr/>
        </p:nvSpPr>
        <p:spPr>
          <a:xfrm>
            <a:off x="411480" y="201240"/>
            <a:ext cx="11368440" cy="88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COPHI with a lock-in camera: the block diagram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Same laser, fibers, LO and bench; the beat moves to 5 kHz and goes to the camera's reference input; no frame trigger, no bucket; I/Q frames at 1 kHz go straight to the phase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98" name="Picture 3" descr="cophi_block_lockin.png"/>
          <p:cNvPicPr/>
          <p:nvPr/>
        </p:nvPicPr>
        <p:blipFill>
          <a:blip r:embed="rId1"/>
          <a:srcRect l="0" t="3010" r="0" b="2601"/>
          <a:stretch/>
        </p:blipFill>
        <p:spPr>
          <a:xfrm>
            <a:off x="740520" y="1106280"/>
            <a:ext cx="10295640" cy="5614200"/>
          </a:xfrm>
          <a:prstGeom prst="rect">
            <a:avLst/>
          </a:prstGeom>
          <a:ln w="0">
            <a:noFill/>
          </a:ln>
        </p:spPr>
      </p:pic>
      <p:sp>
        <p:nvSpPr>
          <p:cNvPr id="99" name="TextBox 4"/>
          <p:cNvSpPr/>
          <p:nvPr/>
        </p:nvSpPr>
        <p:spPr>
          <a:xfrm>
            <a:off x="411480" y="6720840"/>
            <a:ext cx="58060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What changes from slide 3: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synthesizer 2 at 80 MHz + 5 kHz; the ×4 / 30 Hz trigger chain becomes the 5 kHz reference, fed to the pixels' transfer gates; the camera is drawn as the chain inside one pixel (slide 6: photodiode → gates → nodes → A − B, C − D) in series with the frame grabber; the processing is atan2(Q, I) per sample, decimated to the loop rate.  Fiber, LO and hold loop are unchanged.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TextBox 5"/>
          <p:cNvSpPr/>
          <p:nvPr/>
        </p:nvSpPr>
        <p:spPr>
          <a:xfrm>
            <a:off x="4206240" y="2286000"/>
            <a:ext cx="6080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Blue = RF / timing · Red = PM fiber · Green = free-space beam · Gray = data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TextBox 6"/>
          <p:cNvSpPr/>
          <p:nvPr/>
        </p:nvSpPr>
        <p:spPr>
          <a:xfrm>
            <a:off x="6400800" y="2660760"/>
            <a:ext cx="539460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make_cophi_block_fig.py (lock-in variant); the pixel chain's inputs and outputs are slide 6's.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TextBox 1"/>
          <p:cNvSpPr/>
          <p:nvPr/>
        </p:nvSpPr>
        <p:spPr>
          <a:xfrm>
            <a:off x="411480" y="201240"/>
            <a:ext cx="11368440" cy="88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The reading's algebra, pinned before the bench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What the camera records, how the phase and the surface come out, and what the gate measured: the quarter-cycle integration costs 10 % of contrast, a step error is not cured by more frames, read noise is in the photon law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04" name="Picture 3" descr="cophi_equations.png"/>
          <p:cNvPicPr/>
          <p:nvPr/>
        </p:nvPicPr>
        <p:blipFill>
          <a:blip r:embed="rId1"/>
          <a:stretch/>
        </p:blipFill>
        <p:spPr>
          <a:xfrm>
            <a:off x="761760" y="1298520"/>
            <a:ext cx="10667520" cy="3200040"/>
          </a:xfrm>
          <a:prstGeom prst="rect">
            <a:avLst/>
          </a:prstGeom>
          <a:ln w="0">
            <a:noFill/>
          </a:ln>
        </p:spPr>
      </p:pic>
      <p:sp>
        <p:nvSpPr>
          <p:cNvPr id="105" name="TextBox 4"/>
          <p:cNvSpPr/>
          <p:nvPr/>
        </p:nvSpPr>
        <p:spPr>
          <a:xfrm>
            <a:off x="411480" y="4498920"/>
            <a:ext cx="5806080" cy="133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Integrating bucket (1)–(2):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a frame cannot sample the beat at an instant; it integrates while the LO phase advances a quarter cycle.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594360" indent="-137160" defTabSz="4572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–  </a:t>
            </a: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the phase is kept (referred to the bucket center ᾱ_k); the amplitude shrinks by sinc(π/4) = </a:t>
            </a:r>
            <a:r>
              <a:rPr b="1" lang="en-US" sz="1050" spc="-1" strike="noStrike">
                <a:solidFill>
                  <a:srgbClr val="6e6e6e"/>
                </a:solidFill>
                <a:latin typeface="Arial"/>
              </a:rPr>
              <a:t>0.900</a:t>
            </a: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; nothing else changes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Phase (3):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a least-squares fit of the N frames to a + b cos ᾱ_k + c sin ᾱ_k.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594360" indent="-137160" defTabSz="4572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–  </a:t>
            </a: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for N = 4 it is Feng's atan2 exactly (his sign is for cos(φ + 2πft))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TextBox 5"/>
          <p:cNvSpPr/>
          <p:nvPr/>
        </p:nvSpPr>
        <p:spPr>
          <a:xfrm>
            <a:off x="6400800" y="4498920"/>
            <a:ext cx="5394600" cy="205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Step error (5):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steps of D(1 + ε) instead of D give a phase error (ε/2) sin 2φ — a ripple at twice the fringe frequency (Schwider 1983, Creath 1988).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594360" indent="-137160" defTabSz="4572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–  </a:t>
            </a: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more buckets do not cure it: an 8-bucket fit with the same step error is 1.43× worse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marL="594360" indent="-137160" defTabSz="4572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–  </a:t>
            </a: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knowing the steps does: the fit at the true ᾱ_k is exact, and a Rb-clocked scan knows them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Photons (6):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shot noise ∝ 1/√I₀ (measured slope −0.500 ± 0.02 over two decades); read noise adds in quadrature.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594360" indent="-137160" defTabSz="4572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–  </a:t>
            </a: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a fiber walk or trigger jitter within a scan passes through at 0.13 of its size, with 4 or 8 buckets alike — no algorithmic cure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TextBox 6"/>
          <p:cNvSpPr/>
          <p:nvPr/>
        </p:nvSpPr>
        <p:spPr>
          <a:xfrm>
            <a:off x="6400800" y="7229160"/>
            <a:ext cx="539460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Gate tCophi (8 tests) pins each line; dm_gauge_lib/dmg_cophi_*; TeX source deck_cophi_equations.tex.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The LO on the DM Gauge bench replaces the IFO's reference flat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A fiber tip and collimator, its powered face at the reference flat's seat, on both rigs; it registers to a pixel and the flat-DM null is sub-nanometer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10" name="Picture 3" descr="cophi_layout_lens.png"/>
          <p:cNvPicPr/>
          <p:nvPr/>
        </p:nvPicPr>
        <p:blipFill>
          <a:blip r:embed="rId1"/>
          <a:stretch/>
        </p:blipFill>
        <p:spPr>
          <a:xfrm>
            <a:off x="411480" y="1298520"/>
            <a:ext cx="5806080" cy="1905840"/>
          </a:xfrm>
          <a:prstGeom prst="rect">
            <a:avLst/>
          </a:prstGeom>
          <a:ln w="0">
            <a:noFill/>
          </a:ln>
        </p:spPr>
      </p:pic>
      <p:sp>
        <p:nvSpPr>
          <p:cNvPr id="111" name="TextBox 4"/>
          <p:cNvSpPr/>
          <p:nvPr/>
        </p:nvSpPr>
        <p:spPr>
          <a:xfrm>
            <a:off x="411480" y="3222720"/>
            <a:ext cx="580608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Lens rig from above: source arm red (fiber tip at left, collimator L1); LO leg purple, from its fiber tip (right) through the LO collimator at the reference flat's seat to the beamsplitter; test arm to the DM blue; camera leg green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TextBox 5"/>
          <p:cNvSpPr/>
          <p:nvPr/>
        </p:nvSpPr>
        <p:spPr>
          <a:xfrm>
            <a:off x="411480" y="3818880"/>
            <a:ext cx="5806080" cy="13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Registration: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chief ray 0.000 px on both rigs; the LO overfills the test pupil by 34 px (radius ratio 1.215).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Null on the flat DM: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lens rig 0.000 nm; mirror rig 0.746 nm rms, mostly tilt.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594360" indent="-137160" defTabSz="4572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–  </a:t>
            </a: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the LO collimator's own wavefront, frozen into the null as the IFO freezes its reference; its motion is the LO-drift row (slide 14)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Contrast: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0.982 at LO/test power 1.47, as 2√r/(1 + r) says.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3" name="Picture 6" descr="cophi_layout_oap.png"/>
          <p:cNvPicPr/>
          <p:nvPr/>
        </p:nvPicPr>
        <p:blipFill>
          <a:blip r:embed="rId2"/>
          <a:stretch/>
        </p:blipFill>
        <p:spPr>
          <a:xfrm>
            <a:off x="6802200" y="1298520"/>
            <a:ext cx="4591440" cy="2183400"/>
          </a:xfrm>
          <a:prstGeom prst="rect">
            <a:avLst/>
          </a:prstGeom>
          <a:ln w="0">
            <a:noFill/>
          </a:ln>
        </p:spPr>
      </p:pic>
      <p:sp>
        <p:nvSpPr>
          <p:cNvPr id="114" name="TextBox 7"/>
          <p:cNvSpPr/>
          <p:nvPr/>
        </p:nvSpPr>
        <p:spPr>
          <a:xfrm>
            <a:off x="6400800" y="3500640"/>
            <a:ext cx="539460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Mirror rig from above: source arm red; LO leg purple, from its fiber tip (right) through the LO collimator at the reference flat's seat to the beamsplitter; test arm to the DM blue; camera leg green (OAP1 collimates, OAP2 focuses)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TextBox 8"/>
          <p:cNvSpPr/>
          <p:nvPr/>
        </p:nvSpPr>
        <p:spPr>
          <a:xfrm>
            <a:off x="6400800" y="4096440"/>
            <a:ext cx="5394600" cy="166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Two findings for any traced LO: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594360" indent="-137160" defTabSz="4572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–  </a:t>
            </a: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the tail places the detector field by ray index, not camera position (null 681 nm by index, 0.45 nm by position) — the LO is placed by position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marL="594360" indent="-137160" defTabSz="4572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–  </a:t>
            </a: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the plain mirror train had kept a source trim solved with the polarizer plate: OAP1 fed off focus (84 nm defocus) — now trimmed to zero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Two trains priced: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the polarizing train and Feng's plain splitter read the same picometers (the camera is well-bound); the polarizing train costs light only (throughput 0.271 vs 0.408, ×1.5 laser).  The plain splitter is scored.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TextBox 9"/>
          <p:cNvSpPr/>
          <p:nvPr/>
        </p:nvSpPr>
        <p:spPr>
          <a:xfrm>
            <a:off x="457200" y="6172200"/>
            <a:ext cx="1133820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Stage bench (runs/bench_{lens,oap}; the layouts = bench_{lens,oap}_vlayout.png, the engine's own renders), gate tCophiBench 9/9 (registration, poke 1.001 converged, LO tilt, no-fringe refused by name, dark camera refused).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Reading the 30 nm working surface, station by station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The same mirror command through the heterodyne train on the mirror rig, plain splitter; the last column is the raw map against the engine's own field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19" name="Picture 3" descr="cophi_stations_oap.png"/>
          <p:cNvPicPr/>
          <p:nvPr/>
        </p:nvPicPr>
        <p:blipFill>
          <a:blip r:embed="rId1"/>
          <a:stretch/>
        </p:blipFill>
        <p:spPr>
          <a:xfrm>
            <a:off x="1293480" y="1298520"/>
            <a:ext cx="9604080" cy="2897280"/>
          </a:xfrm>
          <a:prstGeom prst="rect">
            <a:avLst/>
          </a:prstGeom>
          <a:ln w="0">
            <a:noFill/>
          </a:ln>
        </p:spPr>
      </p:pic>
      <p:sp>
        <p:nvSpPr>
          <p:cNvPr id="120" name="TextBox 4"/>
          <p:cNvSpPr/>
          <p:nvPr/>
        </p:nvSpPr>
        <p:spPr>
          <a:xfrm>
            <a:off x="411480" y="4214520"/>
            <a:ext cx="1136844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COPHI, mirror rig: the command; the test arm and the LO at the camera; two of the four buckets; the recovered surface, 31.9 nm rms; recovered minus the engine's field, 0.31 pm rms; the flat DM reads 0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TextBox 5"/>
          <p:cNvSpPr/>
          <p:nvPr/>
        </p:nvSpPr>
        <p:spPr>
          <a:xfrm>
            <a:off x="411480" y="4645080"/>
            <a:ext cx="1136844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500" spc="-1" strike="noStrike">
                <a:solidFill>
                  <a:srgbClr val="282828"/>
                </a:solidFill>
                <a:latin typeface="Arial"/>
              </a:rPr>
              <a:t>Resolution shown: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 camera grid 1024 × 1024, pupil 315 px across — </a:t>
            </a:r>
            <a:r>
              <a:rPr b="1" lang="en-US" sz="1500" spc="-1" strike="noStrike">
                <a:solidFill>
                  <a:srgbClr val="282828"/>
                </a:solidFill>
                <a:latin typeface="Arial"/>
              </a:rPr>
              <a:t>3.3 pixels per actuator across, ~11 per actuator in area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 (6948 lit actuators on ~77,900 pupil pixels).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marL="594360" indent="-137160" defTabSz="4572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–  </a:t>
            </a: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every real camera on the table samples finer (5–21 px per actuator, slide 11); what resolution buys and costs is slide 19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TextBox 6"/>
          <p:cNvSpPr/>
          <p:nvPr/>
        </p:nvSpPr>
        <p:spPr>
          <a:xfrm>
            <a:off x="411480" y="5659200"/>
            <a:ext cx="1136844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Stage figs (runs/figs_oap_plain), noise-free; the deck's station-figure format (row 1 flat DM, row 2 the working surface).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TextBox 1"/>
          <p:cNvSpPr/>
          <p:nvPr/>
        </p:nvSpPr>
        <p:spPr>
          <a:xfrm>
            <a:off x="411480" y="201240"/>
            <a:ext cx="11368440" cy="88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Resolution and timing, camera by camera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The model samples the pupil at 3.3 pixels per actuator; every camera on the table oversamples the 96 × 96 lattice, so resolution costs no photons — the time to a picometer is well depth × frame rate, not pixel count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graphicFrame>
        <p:nvGraphicFramePr>
          <p:cNvPr id="125" name="Table 3"/>
          <p:cNvGraphicFramePr/>
          <p:nvPr/>
        </p:nvGraphicFramePr>
        <p:xfrm>
          <a:off x="411480" y="1298520"/>
          <a:ext cx="11368440" cy="3182760"/>
        </p:xfrm>
        <a:graphic>
          <a:graphicData uri="http://schemas.openxmlformats.org/drawingml/2006/table">
            <a:tbl>
              <a:tblPr/>
              <a:tblGrid>
                <a:gridCol w="3484800"/>
                <a:gridCol w="1313640"/>
                <a:gridCol w="1770840"/>
                <a:gridCol w="1770840"/>
                <a:gridCol w="3027600"/>
              </a:tblGrid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sensor / camera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pixels across the pupil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pixels per actuator (96 across)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pm per reading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seconds per pm (SNR 1 at 1 pm)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model's grid (both rigs, 1024 grid; the station figure)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315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3.3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COPHI, Feng's camera, 1k², 60 ke, 30 fps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~900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57.7 / 53.7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443 / 385 (≈ 7 min)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COPHI, Photonfocus 1024², 200 ke, 150 fps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~900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39.5 / 36.5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COPHI, pco.edge 5.5 in GS mode, 2560 × 2160, 30 ke, 50 fps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~2000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21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40.2 / 38.3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129 / 117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COPHI at 1.3 µm, C-RED 2, 640 × 512 (placeholder at 632.8 nm)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~480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5.0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19.6 / 18.7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— </a:t>
                      </a: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(the 1.3 µm stage)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COPHI, lock-in camera, heliCam C4, 542 × 512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512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5.3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61.1 / 57.9 per 1 ms I/Q sample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3.73 / 3.35 (well-capped at 1 kHz; ×1.11 square-wave)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COPHI, lock-in camera, heliCam C4M, 1024 × 1102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~1000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10.6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(C4 pixel assumed)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same (well × rate per element)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6" name="TextBox 4"/>
          <p:cNvSpPr/>
          <p:nvPr/>
        </p:nvSpPr>
        <p:spPr>
          <a:xfrm>
            <a:off x="411480" y="4628160"/>
            <a:ext cx="11368440" cy="180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500" spc="-1" strike="noStrike">
                <a:solidFill>
                  <a:srgbClr val="282828"/>
                </a:solidFill>
                <a:latin typeface="Arial"/>
              </a:rPr>
              <a:t>Resolution is free down to ~1.5 pixels per actuator: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 a camera's photons per second are pixels × well × rate over the pupil; binning finer pixels onto the lattice changes only the read noise per sample.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marL="594360" indent="-137160" defTabSz="4572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–  </a:t>
            </a: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measured (slide 19): 1 px per actuator fails the single-actuator row, 1.5–2 px holds at 1.6–2× the time, 3.3 and 4 are the same — 5 px per actuator is the floor on this table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marL="594360" indent="-137160" defTabSz="4572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–  </a:t>
            </a: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nothing coarser is modeled (ruling: every mode of interest is commanded at full actuator resolution)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500" spc="-1" strike="noStrike">
                <a:solidFill>
                  <a:srgbClr val="282828"/>
                </a:solidFill>
                <a:latin typeface="Arial"/>
              </a:rPr>
              <a:t>Cameras were put on the model grid by binning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 (well × k², read × k): the pm-per-reading rows are the full camera's photons at the model's sampling.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TextBox 5"/>
          <p:cNvSpPr/>
          <p:nvPr/>
        </p:nvSpPr>
        <p:spPr>
          <a:xfrm>
            <a:off x="411480" y="6834600"/>
            <a:ext cx="1136844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Stage noise and format; the pupil in pixels is the camera's short side filled by the pupil image (the tail's magnification is set for it); the model's 315 px = 157.45 px radius (stage bench).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TextBox 1"/>
          <p:cNvSpPr/>
          <p:nvPr/>
        </p:nvSpPr>
        <p:spPr>
          <a:xfrm>
            <a:off x="411480" y="201240"/>
            <a:ext cx="11368440" cy="88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Performance side by side: HET against the IFO on the same surface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HET = the heterodyne (COPHI) reading; IFO = the record's Twyman-Green polarization interferometer.  Same seed, surface and matrix: HET matches the IFO's floor, halves its mirror-rig random-surface error, and is exact where the IFO is not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graphicFrame>
        <p:nvGraphicFramePr>
          <p:cNvPr id="130" name="Table 3"/>
          <p:cNvGraphicFramePr/>
          <p:nvPr/>
        </p:nvGraphicFramePr>
        <p:xfrm>
          <a:off x="411480" y="1188720"/>
          <a:ext cx="11368440" cy="2800080"/>
        </p:xfrm>
        <a:graphic>
          <a:graphicData uri="http://schemas.openxmlformats.org/drawingml/2006/table">
            <a:tbl>
              <a:tblPr/>
              <a:tblGrid>
                <a:gridCol w="3065400"/>
                <a:gridCol w="2682000"/>
                <a:gridCol w="2325600"/>
                <a:gridCol w="3295080"/>
              </a:tblGrid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reading, rig (estimator)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10 nm on one actuator: gain / floor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1 nm on the grid: gain / floor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dense random 10 nm: gain / error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HET (COPHI), lens (one-step)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0.9947 / 2 pm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0.9964 / 2 pm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0.9967 / 180 pm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IFO (Twyman-Green), lens (one-step)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1.0001 / 1 pm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1.0046 / 2 pm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1.0053 / 179 pm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HET, mirror (one-step)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0.9941 / 1 pm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0.9949 / 1 pm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0.9950 / 118 pm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IFO, mirror (one-step)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0.9832 / 2 pm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0.9838 / 2 pm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0.9844 / 223 pm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HET, lens (converged)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1.0008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1.0022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1.0024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HET, mirror (converged)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1.0000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1.0005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1.0005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IFO, lens (converged)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1.0064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1.0106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1.0112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IFO, mirror (converged)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0.9887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0.9892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0.9896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HET, lock-in camera (record, noise-free)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converged 1.0000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1.0006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1.0005 — the same reading, the same algebra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1" name="TextBox 4"/>
          <p:cNvSpPr/>
          <p:nvPr/>
        </p:nvSpPr>
        <p:spPr>
          <a:xfrm>
            <a:off x="411480" y="4135320"/>
            <a:ext cx="11368440" cy="13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500" spc="-1" strike="noStrike">
                <a:solidFill>
                  <a:srgbClr val="282828"/>
                </a:solidFill>
                <a:latin typeface="Arial"/>
              </a:rPr>
              <a:t>The one-step rows sit 0.5 % low for HET on both rigs — the estimator, not the reading: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 the reading is exact (a 1.000 nm poke reads at slope 1.000000); the 0.5 % is the one-step Tikhonov shrinkage at the record's λ_m = 10⁻³ (1.0007 at 10⁻⁵) — the "matrix bias" every gauge carries, now a number.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500" spc="-1" strike="noStrike">
                <a:solidFill>
                  <a:srgbClr val="282828"/>
                </a:solidFill>
                <a:latin typeface="Arial"/>
              </a:rPr>
              <a:t>Driven to convergence (the servo use), HET reads exactly on the mirror rig, and the IFO shows its polarization gain in the open: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 IFO/HET = 1.006–1.009 (lens rig), 0.989 (mirror rig); the IFO's lens-rig "1.000" was polarization gain cancelling the shrinkage.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TextBox 5"/>
          <p:cNvSpPr/>
          <p:nvPr/>
        </p:nvSpPr>
        <p:spPr>
          <a:xfrm>
            <a:off x="411480" y="5938200"/>
            <a:ext cx="11368440" cy="56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Stage battery (runs/battery_{lens,oap}, the IFO column = redo96_&lt;optics&gt;ph: tail md5, lit 6948, seed 7, the 64-state matrix on the surface); the gain probe (runs/gainprobe_lens); the converged estimator (dm_gauge_lib/dmg_converge, gate tConvergedEst 4/4; runs/conv_H_, tg_psi_dm96_oap/runs/conv_I_; H and I are the reading-class letters in the records); the one-step rows reproduce the record to the digit.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TextBox 1"/>
          <p:cNvSpPr/>
          <p:nvPr/>
        </p:nvSpPr>
        <p:spPr>
          <a:xfrm>
            <a:off x="411480" y="201240"/>
            <a:ext cx="11368440" cy="88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Photons for 1 pm, camera by camera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A heterodyne read is photon-limited at full well: pixels × well × frame rate decides; Feng's baseline camera is seven minutes per picometer, the deepest-well 1k global-shutter part is 40 seconds, the lock-in 3.4 s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graphicFrame>
        <p:nvGraphicFramePr>
          <p:cNvPr id="135" name="Table 3"/>
          <p:cNvGraphicFramePr/>
          <p:nvPr/>
        </p:nvGraphicFramePr>
        <p:xfrm>
          <a:off x="411480" y="1298520"/>
          <a:ext cx="5806080" cy="4852080"/>
        </p:xfrm>
        <a:graphic>
          <a:graphicData uri="http://schemas.openxmlformats.org/drawingml/2006/table">
            <a:tbl>
              <a:tblPr/>
              <a:tblGrid>
                <a:gridCol w="1363680"/>
                <a:gridCol w="936360"/>
                <a:gridCol w="804960"/>
                <a:gridCol w="377640"/>
                <a:gridCol w="1232280"/>
                <a:gridCol w="1090440"/>
              </a:tblGrid>
              <a:tr h="103428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camera (survey, to verify)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read noise r, e⁻ (σ penalty √((I₀ + r²)/I₀) at half well)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pm per reading, lens / mirror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SNR at 1 pm per reading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seconds to SNR 1 at 1 pm, lens / mirror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to SNR 10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as proposed: 1k², 60 ke, 30 fps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5 assumed (1.000)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57.7 / 53.7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0.017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443 / 385 (≈ 7 min)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12 / 11 h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700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Photonfocus MV1-D1024E, 200 ke, 150 fps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220 (1.22)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39.5 / 36.5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0.025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70 / 60 min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65700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pco.edge 5.5, true global-shutter mode, 30 ke, 50 fps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2.2 (1.000)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40.2 / 38.3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0.025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129 / 117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3.6 / 3.3 h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700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C-RED 2 (InGaAs), at 632.8 nm as a placeholder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30 assumed (1.001)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19.6 / 18.7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0.051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— </a:t>
                      </a: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(the 1.3 µm stage)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103428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lock-in camera, heliCam C4, 500 ke, I/Q at 1 kHz (the lock-in reading; well-capped)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n/s: run at 0 and at 100 assumed (1.09)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61.1 / 57.9 per 1 ms sample (66 / 63 at read 100)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0.017 per sample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3.73 / 3.35 (4.4 / 4.0 at read 100; ×1.23 in time for two-tap demodulation)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6.2 / 5.6 min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6" name="TextBox 4"/>
          <p:cNvSpPr/>
          <p:nvPr/>
        </p:nvSpPr>
        <p:spPr>
          <a:xfrm>
            <a:off x="411480" y="5954040"/>
            <a:ext cx="5806080" cy="85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The metric: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the piston-free robust floor over the unpoked actuators (1.48 MAD, median of 12 draws).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594360" indent="-137160" defTabSz="4572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–  </a:t>
            </a: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the raw single-actuator noise is mostly a common piston (165 vs 76 pm) — unobservable and inert on a DM; the composite deck puts every gauge on this metric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Box 5"/>
          <p:cNvSpPr/>
          <p:nvPr/>
        </p:nvSpPr>
        <p:spPr>
          <a:xfrm>
            <a:off x="7315200" y="1298520"/>
            <a:ext cx="4480200" cy="376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15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150" spc="-1" strike="noStrike">
                <a:solidFill>
                  <a:srgbClr val="282828"/>
                </a:solidFill>
                <a:latin typeface="Arial"/>
              </a:rPr>
              <a:t>Read noise is in every row</a:t>
            </a:r>
            <a:r>
              <a:rPr b="0" lang="en-US" sz="1150" spc="-1" strike="noStrike">
                <a:solidFill>
                  <a:srgbClr val="282828"/>
                </a:solidFill>
                <a:latin typeface="Arial"/>
              </a:rPr>
              <a:t> (σ_φ² ∝ I₀ + r²): the Photonfocus's 220 e⁻ costs 22 % in σ at half well and it still wins on well × rate.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  <a:p>
            <a:pPr marL="594360" indent="-137160" defTabSz="4572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–  </a:t>
            </a: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the baseline's and the C-RED's read noise are assumed (not in Feng's deck; the survey's value unconfirmed)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15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150" spc="-1" strike="noStrike">
                <a:solidFill>
                  <a:srgbClr val="282828"/>
                </a:solidFill>
                <a:latin typeface="Arial"/>
              </a:rPr>
              <a:t>SNR at the 1 pm target:</a:t>
            </a:r>
            <a:r>
              <a:rPr b="0" lang="en-US" sz="1150" spc="-1" strike="noStrike">
                <a:solidFill>
                  <a:srgbClr val="282828"/>
                </a:solidFill>
                <a:latin typeface="Arial"/>
              </a:rPr>
              <a:t> one reading gives SNR 0.02–0.05; SNR 1 takes (pm per reading)² readings — the seconds-per-pm column; SNR 10 takes 100× that.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  <a:p>
            <a:pPr marL="594360" indent="-137160" defTabSz="4572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–  </a:t>
            </a: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a hold loop never needs SNR 10 in one measurement: it integrates readings (next slide)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15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150" spc="-1" strike="noStrike">
                <a:solidFill>
                  <a:srgbClr val="282828"/>
                </a:solidFill>
                <a:latin typeface="Arial"/>
              </a:rPr>
              <a:t>Model and bench agree:</a:t>
            </a:r>
            <a:r>
              <a:rPr b="0" lang="en-US" sz="1150" spc="-1" strike="noStrike">
                <a:solidFill>
                  <a:srgbClr val="282828"/>
                </a:solidFill>
                <a:latin typeface="Arial"/>
              </a:rPr>
              <a:t> the per-pixel noise on the bench equals the tCophi formula to 1.000 ± 0.002 on every camera, rig and train.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15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150" spc="-1" strike="noStrike">
                <a:solidFill>
                  <a:srgbClr val="282828"/>
                </a:solidFill>
                <a:latin typeface="Arial"/>
              </a:rPr>
              <a:t>Rolling-shutter cameras are out:</a:t>
            </a:r>
            <a:r>
              <a:rPr b="0" lang="en-US" sz="1150" spc="-1" strike="noStrike">
                <a:solidFill>
                  <a:srgbClr val="282828"/>
                </a:solidFill>
                <a:latin typeface="Arial"/>
              </a:rPr>
              <a:t> rows exposed in sequence see different beat phases — a phase ramp across the image.  Needed: true global shutter, hardware trigger from the Rb clock, full-frame streaming.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15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150" spc="-1" strike="noStrike">
                <a:solidFill>
                  <a:srgbClr val="282828"/>
                </a:solidFill>
                <a:latin typeface="Arial"/>
              </a:rPr>
              <a:t>Why the camera, not the pixel count:</a:t>
            </a:r>
            <a:r>
              <a:rPr b="0" lang="en-US" sz="1150" spc="-1" strike="noStrike">
                <a:solidFill>
                  <a:srgbClr val="282828"/>
                </a:solidFill>
                <a:latin typeface="Arial"/>
              </a:rPr>
              <a:t> a 1k camera oversamples the lattice ten to one; well depth × frame rate is the budget.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TextBox 6"/>
          <p:cNvSpPr/>
          <p:nvPr/>
        </p:nvSpPr>
        <p:spPr>
          <a:xfrm>
            <a:off x="7315200" y="5358240"/>
            <a:ext cx="4480200" cy="104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Stage noise (runs/noise_{lens,oap}[_plain]), 12 draws, cameras binned onto the model grid (well × k², read × k, frame mean at half well).  Mask convention from the lock-in runs on: the LO-only annulus (no test light) is filled with the fringe pixels' median, not zero — a zero there made any common phase a pupil-edge step the edge actuators fit; the bucket camera's electronics rows move ≤ 9 % under it.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TextBox 1"/>
          <p:cNvSpPr/>
          <p:nvPr/>
        </p:nvSpPr>
        <p:spPr>
          <a:xfrm>
            <a:off x="411480" y="201240"/>
            <a:ext cx="11368440" cy="88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Holding 3 pm: the servo at the camera's cadence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COPHI holds 3 pm against the record's drifts: Feng's baseline camera needs a 16 s cycle, the Photonfocus 1.6 s, the lock-in camera 0.125 s (3.09 pm, fiber term inert); the LO's pointing is the term the loop cannot see past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graphicFrame>
        <p:nvGraphicFramePr>
          <p:cNvPr id="141" name="Table 3"/>
          <p:cNvGraphicFramePr/>
          <p:nvPr/>
        </p:nvGraphicFramePr>
        <p:xfrm>
          <a:off x="411480" y="1298520"/>
          <a:ext cx="5806080" cy="4686120"/>
        </p:xfrm>
        <a:graphic>
          <a:graphicData uri="http://schemas.openxmlformats.org/drawingml/2006/table">
            <a:tbl>
              <a:tblPr/>
              <a:tblGrid>
                <a:gridCol w="2529000"/>
                <a:gridCol w="3277080"/>
              </a:tblGrid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drift (gain 0.5, 60 cycles, seed 77)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hold, pm rms, lens / mirror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noise only, baseline camera (120 readings per cycle, 16 s)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2.75 / 2.67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noise only, Photonfocus (60 readings, 1.6 s)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2.60 / 2.52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65700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noise only, lock-in camera (125 I/Q samples per cycle, a cycle every 0.125 s)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3.09 (converged 3.14); at 44 samples (44 ms cycles) 5.22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random walk 2 pm per cycle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3.60 / 3.53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thermal ramp 5 pm per cycle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10.3 / 10.3 (the lag rate/gG — every gauge)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camera offset walk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2.85 / 2.77 (immune: zero-sum frames)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65700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one cycle of sensor latency (one beat; for the lock-in one whole 0.125 s cycle as the upper bound)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3.65 / 3.54 (+0.9 pm); lock-in 4.12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700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differential fiber walk at the budget / at 3× (baseline camera)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3.95 / 9.2 (mirror); Photonfocus 4.8 / 12.7; lock-in 5.22 / 5.22 = its noise-only hold to the digit: a per-sample piston, inert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LO drift, 0.1 nrad tilt + 1 pm defocus per cycle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29.6 / 29.4 (lock-in 29.4: the LO is the same term in every form)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2" name="TextBox 4"/>
          <p:cNvSpPr/>
          <p:nvPr/>
        </p:nvSpPr>
        <p:spPr>
          <a:xfrm>
            <a:off x="6400800" y="1298520"/>
            <a:ext cx="5394600" cy="451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LO drift is not separable from DM drift: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the matrix takes an LO tilt as a DM tilt one-for-one (1 nrad reads as a surface tilt of 1.008 × θ/2), and the loop drives the DM to follow it.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594360" indent="-137160" defTabSz="4572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–  </a:t>
            </a:r>
            <a:r>
              <a:rPr b="1" lang="en-US" sz="1050" spc="-1" strike="noStrike">
                <a:solidFill>
                  <a:srgbClr val="6e6e6e"/>
                </a:solidFill>
                <a:latin typeface="Arial"/>
              </a:rPr>
              <a:t>the LO pointing must hold ~10 prad per cycle (~10 pm of fiber-tip motion at the collimator's focal length), or be referenced</a:t>
            </a: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 — the requirement the plain-splitter layout adds, beside the fiber's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Fiber phase errors are not observable: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the four-step cannot cancel a differential fiber-phase walk within its own four frames.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594360" indent="-137160" defTabSz="4572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–  </a:t>
            </a: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budget at the photon floor (mirror rig): </a:t>
            </a:r>
            <a:r>
              <a:rPr b="1" lang="en-US" sz="1050" spc="-1" strike="noStrike">
                <a:solidFill>
                  <a:srgbClr val="6e6e6e"/>
                </a:solidFill>
                <a:latin typeface="Arial"/>
              </a:rPr>
              <a:t>3.9 × 10⁻³ rad per frame = 0.39 nm of differential OPD per 33 ms, ~12 nm/s, ~1.2 mK/s per meter of uncommon fiber</a:t>
            </a: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 — co-routed, thermally tied, or servoed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marL="594360" indent="-137160" defTabSz="4572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–  </a:t>
            </a: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with the lock-in camera the walk is a per-sample piston: inert (record)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How the loop reaches 3 pm from 55 pm readings — two integrators: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594360" indent="-137160" defTabSz="4572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–  </a:t>
            </a: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the estimator's regularization (λ_m) is a spatial low-pass over the matrix's small-singular-value directions, where photon and read noise live; it trades a 0.5 % gain for a lower floor (the converged estimator removes the bias but admits ×2.1 the white noise)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marL="594360" indent="-137160" defTabSz="4572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–  </a:t>
            </a: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the loop averages across cycles at gain g (steady state σ_n √(g/(2 − g)), plus M readings per cycle); in the loop the one-step and converged estimators agree to 0.1 pm on every row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Electronics, the rest: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trigger jitter &lt; 2.8 × 10⁻³ rad, AOM drive ripple &lt; 1.8 × 10⁻³ — both easy with a Rb-locked DDS; latency one beat (133 ms at 7.5 Hz).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TextBox 5"/>
          <p:cNvSpPr/>
          <p:nvPr/>
        </p:nvSpPr>
        <p:spPr>
          <a:xfrm>
            <a:off x="457200" y="6172200"/>
            <a:ext cx="11338200" cy="56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Stage loop (runs/loop_{lens,oap}_plain, runs/loopfib_*), plain splitter, dmg_loop with the delay row; the mirror rig on the fixed feed (SRC_TRIM 0; every row within 0.02 pm of the mis-fed run, kept in runs/oap_plain_misfed); the fiber rows at the corrected budget (3.5 × 10⁻³ rad/frame as run; 3.9 × 10⁻³ under the median-fill convention); the noise stage's first fiber number was 2.3× low (a 12-draw Monte Carlo of three random numbers) and is replaced by the exact expectation.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TextBox 1"/>
          <p:cNvSpPr/>
          <p:nvPr/>
        </p:nvSpPr>
        <p:spPr>
          <a:xfrm>
            <a:off x="411480" y="201240"/>
            <a:ext cx="11368440" cy="88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Hold vs cycle time: what the fast cycle buys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At a fixed cycle time a sensor averages (cycle time ÷ seconds per pm) readings, so the hold floor is √(s_pm / T) × 0.577: the lock-in's 3.4 s per pm is 115× fewer than Feng's camera — 10.7× less noise at any cycle time; the loop records sit on the budget curves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46" name="Picture 3" descr="cophi_hold_vs_cycle.png"/>
          <p:cNvPicPr/>
          <p:nvPr/>
        </p:nvPicPr>
        <p:blipFill>
          <a:blip r:embed="rId1"/>
          <a:stretch/>
        </p:blipFill>
        <p:spPr>
          <a:xfrm>
            <a:off x="1816920" y="1298520"/>
            <a:ext cx="8557200" cy="3537360"/>
          </a:xfrm>
          <a:prstGeom prst="rect">
            <a:avLst/>
          </a:prstGeom>
          <a:ln w="0">
            <a:noFill/>
          </a:ln>
        </p:spPr>
      </p:pic>
      <p:sp>
        <p:nvSpPr>
          <p:cNvPr id="147" name="TextBox 4"/>
          <p:cNvSpPr/>
          <p:nvPr/>
        </p:nvSpPr>
        <p:spPr>
          <a:xfrm>
            <a:off x="411480" y="4854600"/>
            <a:ext cx="1136844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Left: noise-only hold vs loop cycle time, every sensor on the table (budget lines; circles = the mirror-rig loop records).  Right: with the record's thermal ramp (0.31 pm/s), whose lag grows with the cycle — each sensor has an optimum cycle time.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TextBox 5"/>
          <p:cNvSpPr/>
          <p:nvPr/>
        </p:nvSpPr>
        <p:spPr>
          <a:xfrm>
            <a:off x="411480" y="5285160"/>
            <a:ext cx="58060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At 1.6 s cycles: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Feng's camera 9.0 pm, Photonfocus 2.7, lock-in 0.84 (well-free 0.27); IFO 5.8, vector ZWFS 10.4 (on their polarization cameras).  Records match the law to 8 %.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TextBox 6"/>
          <p:cNvSpPr/>
          <p:nvPr/>
        </p:nvSpPr>
        <p:spPr>
          <a:xfrm>
            <a:off x="6400800" y="5285160"/>
            <a:ext cx="53946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Against a drift rate the cycle has an optimum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(right): Feng's camera 6.0 pm at 5.5 s, Photonfocus 2.7 at 2.5 s, lock-in 1.2 at 1.1 s, well-free 0.57 at 0.5 s — the fast reading holds a drift at the picometer where the slow cameras cannot.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TextBox 7"/>
          <p:cNvSpPr/>
          <p:nvPr/>
        </p:nvSpPr>
        <p:spPr>
          <a:xfrm>
            <a:off x="6400800" y="6254640"/>
            <a:ext cx="5394600" cy="56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cophi_hold_vs_cycle (runs/figs_hold_vs_cycle/); seconds per pm from the records (stages noise / format / lockin; camI_oap, camS_oap); the lag from stage loop's thermal row.  A budget, no new runs.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TextBox 1"/>
          <p:cNvSpPr/>
          <p:nvPr/>
        </p:nvSpPr>
        <p:spPr>
          <a:xfrm>
            <a:off x="411480" y="201240"/>
            <a:ext cx="11368440" cy="88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Capture from a cold start: two colors frequency-multiplexed on one camera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A second laser at λ₂, its own AOM pair at a second beat, WDM combiners into the same two fibers; all four synthesizers on one reference; the processing adds the synthetic-wavelength block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53" name="Picture 3" descr="cophi_block_multi.png"/>
          <p:cNvPicPr/>
          <p:nvPr/>
        </p:nvPicPr>
        <p:blipFill>
          <a:blip r:embed="rId1"/>
          <a:srcRect l="0" t="3061" r="0" b="2370"/>
          <a:stretch/>
        </p:blipFill>
        <p:spPr>
          <a:xfrm>
            <a:off x="731520" y="1179720"/>
            <a:ext cx="9097920" cy="5623200"/>
          </a:xfrm>
          <a:prstGeom prst="rect">
            <a:avLst/>
          </a:prstGeom>
          <a:ln w="0">
            <a:noFill/>
          </a:ln>
        </p:spPr>
      </p:pic>
      <p:sp>
        <p:nvSpPr>
          <p:cNvPr id="154" name="TextBox 4"/>
          <p:cNvSpPr/>
          <p:nvPr/>
        </p:nvSpPr>
        <p:spPr>
          <a:xfrm>
            <a:off x="3657600" y="1152000"/>
            <a:ext cx="82292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Two colors, one camera, one 8-frame set: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beats of 7.5 Hz and 3.75 Hz are 4 and 8 frames at the same 30 fps, so each color is demodulated at its own bucket centers from the same frames; the colors do not interfere (THz apart).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TextBox 5"/>
          <p:cNvSpPr/>
          <p:nvPr/>
        </p:nvSpPr>
        <p:spPr>
          <a:xfrm>
            <a:off x="5257800" y="2468880"/>
            <a:ext cx="5851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Blue = RF / timing · Red = PM fiber · Green = free-space beam · Gray = data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TextBox 6"/>
          <p:cNvSpPr/>
          <p:nvPr/>
        </p:nvSpPr>
        <p:spPr>
          <a:xfrm>
            <a:off x="4572000" y="1828800"/>
            <a:ext cx="731484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make_cophi_block_fig.py; the sequential form — one tunable laser switched on alternate beats — uses the one-color hardware and half the cadence.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TextBox 1"/>
          <p:cNvSpPr/>
          <p:nvPr/>
        </p:nvSpPr>
        <p:spPr>
          <a:xfrm>
            <a:off x="411480" y="201240"/>
            <a:ext cx="11368440" cy="88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Capture from a cold start: the numbers, and the parts it adds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Zero wrong fringe orders on the whole capture ladder to 480 nm rms; a single color wraps from 40 nm; temporal unwrapping holds a running loop, not a cold start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9" name="TextBox 3"/>
          <p:cNvSpPr/>
          <p:nvPr/>
        </p:nvSpPr>
        <p:spPr>
          <a:xfrm>
            <a:off x="411480" y="1298520"/>
            <a:ext cx="5806080" cy="285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Two colors, one reading: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632.8 + 652.8 nm (synthetic Λ = 20.65 µm, range ±5.2 µm), each color read by its own buckets (crosstalk 4 × 10⁻¹⁶ rad).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594360" indent="-137160" defTabSz="4572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–  </a:t>
            </a:r>
            <a:r>
              <a:rPr b="1" lang="en-US" sz="1050" spc="-1" strike="noStrike">
                <a:solidFill>
                  <a:srgbClr val="6e6e6e"/>
                </a:solidFill>
                <a:latin typeface="Arial"/>
              </a:rPr>
              <a:t>zero wrong orders to 480 nm rms, both cameras</a:t>
            </a: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 (0.15 / 0.10 nm per pixel); one color is 74 % wrong at 480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marL="594360" indent="-137160" defTabSz="4572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–  </a:t>
            </a:r>
            <a:r>
              <a:rPr b="1" lang="en-US" sz="1050" spc="-1" strike="noStrike">
                <a:solidFill>
                  <a:srgbClr val="6e6e6e"/>
                </a:solidFill>
                <a:latin typeface="Arial"/>
              </a:rPr>
              <a:t>a 200 nm rms figure is captured from cold in one 0.27 s reading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marL="594360" indent="-137160" defTabSz="4572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–  </a:t>
            </a: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any Δλ from 1 to ~100 nm works (the fine requirement at Δλ = 20 nm is 1.7 nm against ~0.1 nm per pixel): one rung of the synthetic-wavelength ladder is enough here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Temporal unwrapping: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holds at 0.9 × λ/4 per reading, fails at 1.1 ×: 1.19 µm/s at the peak pixel (baseline camera), 5.9 µm/s (Photonfocus) — ~0.24 / 1.2 µm/s rms for a 30 nm-class shape.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With the lock-in camera (record):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one reference at a time, so the two colors alternate on I/Q samples (2 ms per pair) — zero wrong orders to 480 nm rms, 0.12 nm per pixel; temporal unwrapping at 1 kHz tolerates 158 µm/s.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60" name="Table 4"/>
          <p:cNvGraphicFramePr/>
          <p:nvPr/>
        </p:nvGraphicFramePr>
        <p:xfrm>
          <a:off x="6400800" y="1298520"/>
          <a:ext cx="5394600" cy="2572920"/>
        </p:xfrm>
        <a:graphic>
          <a:graphicData uri="http://schemas.openxmlformats.org/drawingml/2006/table">
            <a:tbl>
              <a:tblPr/>
              <a:tblGrid>
                <a:gridCol w="2929680"/>
                <a:gridCol w="674280"/>
                <a:gridCol w="1790280"/>
              </a:tblGrid>
              <a:tr h="26280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0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part added for the second color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0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count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0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note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4341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laser 2 at λ₂ (tunable ECDL at 633 ± Δλ, or a telecom tunable at 1.3 µm)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only costly part at 633; cheap at 1.3 µm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6280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1×2 PM coupler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26280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AOMs 3 and 4 + drivers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 + 2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second beat 3.75 Hz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41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synthesizers 3 and 4 on the same Rb reference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beats coherent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4341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WDM combiners (test fiber, LO fiber)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both colors in the same two fibers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41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processing: the second demodulation + the synthetic-wavelength unwrap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software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dmg_cophi_recon twice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161" name="TextBox 5"/>
          <p:cNvSpPr/>
          <p:nvPr/>
        </p:nvSpPr>
        <p:spPr>
          <a:xfrm>
            <a:off x="6400800" y="3970800"/>
            <a:ext cx="5394600" cy="88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Stage capture (runs/capture_{lens,oap}_plain); truth = the engine's per-pixel OPD unwrapped; λ₂ is a re-trace of both decks.  Caveat: the model's lenses are dispersion-free, so the tail's chromatic refocus (~0.5 mm of focuser travel for silica at Δλ = 20 nm, to verify) is not shown; its static part freezes into each color's null.  At 1.3 µm the base range doubles and telecom tunables are cheap (ruling 2).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TextBox 1"/>
          <p:cNvSpPr/>
          <p:nvPr/>
        </p:nvSpPr>
        <p:spPr>
          <a:xfrm>
            <a:off x="411480" y="201240"/>
            <a:ext cx="11368440" cy="88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Electronics: what each gauge needs behind the optics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The IFO and the vector Zernike sensor read with a polarization camera in one frame; COPHI adds an RF chain, a fiber LO and three control loops of its own; the lock-in camera moves the demodulation on-chip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graphicFrame>
        <p:nvGraphicFramePr>
          <p:cNvPr id="164" name="Table 3"/>
          <p:cNvGraphicFramePr/>
          <p:nvPr/>
        </p:nvGraphicFramePr>
        <p:xfrm>
          <a:off x="411480" y="1298520"/>
          <a:ext cx="11368440" cy="5259240"/>
        </p:xfrm>
        <a:graphic>
          <a:graphicData uri="http://schemas.openxmlformats.org/drawingml/2006/table">
            <a:tbl>
              <a:tblPr/>
              <a:tblGrid>
                <a:gridCol w="1520280"/>
                <a:gridCol w="2001600"/>
                <a:gridCol w="2432520"/>
                <a:gridCol w="1216080"/>
                <a:gridCol w="1798920"/>
                <a:gridCol w="2397960"/>
              </a:tblGrid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endParaRPr b="0" lang="en-US" sz="1800" spc="-1" strike="noStrike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TG96 IFO (polarization camera, one frame)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stepped / vector Zernike (vector: polarization camera, one frame)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pinhole / P-SRI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COPHI, Feng's camera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COPHI, lock-in camera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source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HeNe, isolator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dedicated laser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laser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single-frequency laser, 1×2 coupler, PM fibers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700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modulation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none for the snapshot (piezo + HV driver for the four-step calibration only)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none (vector); mask stepper (stepped)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pinhole stepper / shutter; phase shifter (P-SRI)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 AOMs, 2 synthesizers, Rb standard, ×4 + mixer → trigger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same, beat at kHz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detector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polarization sCMOS (micro-polarizer array 0/45/90/135)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camera / polarization sCMOS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camera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1k² global-shutter camera, grabber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lock-in camera, I/Q out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latency per reading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 frame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 frame (vector) / 4 (stepped)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1–5 frames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4 frames = one beat (133 ms)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one I/Q frame (ms)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65700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sensor's own loops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laser frequency; two RF chains; fiber phase; LO pointing (10 prad)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700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error terms carried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polarization gain (0.98–1.01, calibrated by the four-step)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stepper repeatability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DDS phase noise → jitter; drive ripple → contrast; fiber walk; LO drift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reference phase noise; ADC bits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65700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photons per measurement for 1 pm (gauge deck, 30 nm surface)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7 × 10¹⁴ (mirror) – 1 × 10¹⁵ (lens)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1.2 × 10¹⁴ stepped / 4.6 × 10¹³ vector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1.5 × 10¹⁴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(this deck: 57.7 pm per reading at 1.9 × 10¹² ph/s)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(34 pm per 1 ms frame)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700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seconds to SNR 1 at 1 pm (SNR 10 = 100×)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189 / 160 s (lens / mirror; IMX250MZR-class polarization camera, record camI_*)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475 s stepped (mono camera, 4 frames) / 519 s vector (polarization camera, mirror rig, camS_oap)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342 s (mono, K frames)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443 (Feng's camera) / 42 (Photonfocus)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3.35 / 3.73 (mirror / lens)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165" name="TextBox 4"/>
          <p:cNvSpPr/>
          <p:nvPr/>
        </p:nvSpPr>
        <p:spPr>
          <a:xfrm>
            <a:off x="457200" y="6446520"/>
            <a:ext cx="1136556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Camera timings on an IMX250MZR-class polarization camera (2448 × 2048, 75 fps; well ~10 ke⁻, read 2.4 e⁻, unconfirmed).  The sensors run 10–40× slower than photons ÷ sensor rate would say: the ZWFS core sets the exposure, the frame mean sits at half well, two orientations go unused.  Parts counts and TRL to follow (campaign brief sec. 9.1).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TextBox 1"/>
          <p:cNvSpPr/>
          <p:nvPr/>
        </p:nvSpPr>
        <p:spPr>
          <a:xfrm>
            <a:off x="411480" y="201240"/>
            <a:ext cx="11368440" cy="88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How much resolution? IFO, vector ZWFS, HET — the sweep's records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Camera pixels per actuator swept at 1 / 1.5 / 2 / 3.3 / 4 for all six readings, the matrix measured through the resampled reading: 1 px fails the single-actuator row, 1.5–2 px cost 1.6–2× the time, above 3.3 nothing changes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68" name="Picture 3" descr="cophi_ressweep_composite.png"/>
          <p:cNvPicPr/>
          <p:nvPr/>
        </p:nvPicPr>
        <p:blipFill>
          <a:blip r:embed="rId1"/>
          <a:stretch/>
        </p:blipFill>
        <p:spPr>
          <a:xfrm>
            <a:off x="2756520" y="1298520"/>
            <a:ext cx="6678360" cy="2897280"/>
          </a:xfrm>
          <a:prstGeom prst="rect">
            <a:avLst/>
          </a:prstGeom>
          <a:ln w="0">
            <a:noFill/>
          </a:ln>
        </p:spPr>
      </p:pic>
      <p:sp>
        <p:nvSpPr>
          <p:cNvPr id="169" name="TextBox 4"/>
          <p:cNvSpPr/>
          <p:nvPr/>
        </p:nvSpPr>
        <p:spPr>
          <a:xfrm>
            <a:off x="411480" y="4214520"/>
            <a:ext cx="1136844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Left: noise-only hold at each sensor's own loop cycle; right: averaging time to 1 pm per actuator — both vs camera pixels per actuator pitch, one line per reading; shaded = the single-actuator row fails; hollow = the ZWFS on a point-sampled grid, not camera pixels.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TextBox 5"/>
          <p:cNvSpPr/>
          <p:nvPr/>
        </p:nvSpPr>
        <p:spPr>
          <a:xfrm>
            <a:off x="411480" y="4645080"/>
            <a:ext cx="5806080" cy="144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1 px per actuator fails every reading the same way: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single-actuator floor 13–32 pm (from 1.2–2.6), converged gain off 0.4–0.5 %; the "wrong actuator" never happens — the fit degrades, it does not swap.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1.5–2 px holds but pays in time: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HET 69–74 s per pm against 36 at 3.3 (Photonfocus); IFO 266–302 against 161; vector ZWFS 1040–1150 against 639 — 1.6–2×, because a coarser pixel INTEGRATES the fringe (the point-sampled ZWFS at 1.65, hollow, costs nothing).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TextBox 6"/>
          <p:cNvSpPr/>
          <p:nvPr/>
        </p:nvSpPr>
        <p:spPr>
          <a:xfrm>
            <a:off x="6400800" y="4645080"/>
            <a:ext cx="5394600" cy="162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Above 3.3 px nothing changes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(4 = 3.3 to the digit); the records at 3.3 stand.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594360" indent="-137160" defTabSz="4572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–  </a:t>
            </a: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registration: a ±0.1-pitch shift after calibration costs gain 0.95 and a 16–18 pm floor at EVERY sampling ≥ 1.5 — the camera must stay registered to ~0.03 pitch, whatever the pixel count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The lock-in's advantage survives the sweep: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3.4 / 5.4 / 6.3 s per pm at 3.3 / 2 / 1.5 px, holding 3.1 / 4.0 / 4.3 pm at 0.125 s cycles — 10× the Photonfocus at every sampling.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TextBox 7"/>
          <p:cNvSpPr/>
          <p:nvPr/>
        </p:nvSpPr>
        <p:spPr>
          <a:xfrm>
            <a:off x="6400800" y="6600240"/>
            <a:ext cx="5394600" cy="56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ressweep_run / ressweep_zrun / ressweep_figs (cophi_dm96/runs/ressweep_*, TO 2026-10-13); mechanism dmg_camres (frames box-integrated onto camera pixels, the matrix measured through them); gate tResolutionSweep 7/7.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TextBox 1"/>
          <p:cNvSpPr/>
          <p:nvPr/>
        </p:nvSpPr>
        <p:spPr>
          <a:xfrm>
            <a:off x="411480" y="201240"/>
            <a:ext cx="11368440" cy="88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COPHI against the Zernike sensor with a dedicated laser, for the hold job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Feng's deck poses this comparison; on our bench the answer is photons and time: the vector Zernike holds 3 pm from 2 × 10¹² photons per cycle, COPHI with Feng's camera from ~1 × 10¹⁴ — and COPHI with a lock-in camera reaches a picometer faster than any of them, captures from cold, and reads absolutely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graphicFrame>
        <p:nvGraphicFramePr>
          <p:cNvPr id="175" name="Table 3"/>
          <p:cNvGraphicFramePr/>
          <p:nvPr/>
        </p:nvGraphicFramePr>
        <p:xfrm>
          <a:off x="411480" y="1298520"/>
          <a:ext cx="11368440" cy="4223160"/>
        </p:xfrm>
        <a:graphic>
          <a:graphicData uri="http://schemas.openxmlformats.org/drawingml/2006/table">
            <a:tbl>
              <a:tblPr/>
              <a:tblGrid>
                <a:gridCol w="2107440"/>
                <a:gridCol w="4370400"/>
                <a:gridCol w="1268640"/>
                <a:gridCol w="1816920"/>
                <a:gridCol w="1804320"/>
              </a:tblGrid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endParaRPr b="0" lang="en-US" sz="1800" spc="-1" strike="noStrike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vector Zernike (dedicated laser, pol. camera)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COPHI, Feng's camera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COPHI, Photonfocus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COPHI, lock-in camera (C4, as surveyed)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photons per 3 pm hold cycle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2.2 × 10¹² (gauge deck)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~1 × 10¹⁴ (120 readings)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~1 × 10¹⁴ (60 readings)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~9 × 10¹² (125 samples, capped well)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700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time per 3 pm hold cycle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~60 s on the assumed pol. camera (519 s/pm ÷ 9: its 10 ke⁻ well, the core's dynamic range, two unused orientations — the camera is the ZWFS's own question)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16 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1.6 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0.125 s (record: 3.09 pm)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65700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seconds to SNR 1 at 1 pm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519 (pol. camera, record)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443 / 385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3.35 / 3.73 (×1.23 in time for two-tap demodulation)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700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capture from cold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no: the reference ages past 36–70 nm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two colors, one 0.27 s reading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two colors on alternate samples; zero wrong orders to 480 nm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65700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absolute read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reference iterated or matrix re-measured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exact (slope 1.000000) against the LO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exact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exact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700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its own stabilities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none beyond the bench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fiber 0.39 nm per frame; LO 10 prad per cycle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LO the same (29.4 pm); fiber a per-sample piston, inert (record)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176" name="TextBox 4"/>
          <p:cNvSpPr/>
          <p:nvPr/>
        </p:nvSpPr>
        <p:spPr>
          <a:xfrm>
            <a:off x="411480" y="5257800"/>
            <a:ext cx="11368440" cy="10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1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100" spc="-1" strike="noStrike">
                <a:solidFill>
                  <a:srgbClr val="282828"/>
                </a:solidFill>
                <a:latin typeface="Arial"/>
              </a:rPr>
              <a:t>For hold alone, the vector Zernike is cheapest in photons</a:t>
            </a:r>
            <a:r>
              <a:rPr b="0" lang="en-US" sz="1100" spc="-1" strike="noStrike">
                <a:solidFill>
                  <a:srgbClr val="282828"/>
                </a:solidFill>
                <a:latin typeface="Arial"/>
              </a:rPr>
              <a:t> (~50×) and needs no stabilities of its own — but on the assumed polarization camera it is the slowest (~60 s per cycle).  Feng's camera makes COPHI slow (16 s), the Photonfocus fast (1.6 s), </a:t>
            </a:r>
            <a:r>
              <a:rPr b="1" lang="en-US" sz="1100" spc="-1" strike="noStrike">
                <a:solidFill>
                  <a:srgbClr val="282828"/>
                </a:solidFill>
                <a:latin typeface="Arial"/>
              </a:rPr>
              <a:t>the lock-in the fastest on the table (0.125 s)</a:t>
            </a:r>
            <a:r>
              <a:rPr b="0" lang="en-US" sz="1100" spc="-1" strike="noStrike">
                <a:solidFill>
                  <a:srgbClr val="282828"/>
                </a:solidFill>
                <a:latin typeface="Arial"/>
              </a:rPr>
              <a:t> if its well is as surveyed.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1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100" spc="-1" strike="noStrike">
                <a:solidFill>
                  <a:srgbClr val="282828"/>
                </a:solidFill>
                <a:latin typeface="Arial"/>
              </a:rPr>
              <a:t>For capture and the absolute figure:</a:t>
            </a:r>
            <a:r>
              <a:rPr b="0" lang="en-US" sz="1100" spc="-1" strike="noStrike">
                <a:solidFill>
                  <a:srgbClr val="282828"/>
                </a:solidFill>
                <a:latin typeface="Arial"/>
              </a:rPr>
              <a:t> COPHI in either form.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1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100" spc="-1" strike="noStrike">
                <a:solidFill>
                  <a:srgbClr val="282828"/>
                </a:solidFill>
                <a:latin typeface="Arial"/>
              </a:rPr>
              <a:t>For a flight DM:</a:t>
            </a:r>
            <a:r>
              <a:rPr b="0" lang="en-US" sz="1100" spc="-1" strike="noStrike">
                <a:solidFill>
                  <a:srgbClr val="282828"/>
                </a:solidFill>
                <a:latin typeface="Arial"/>
              </a:rPr>
              <a:t> hold only and photons scarce → the Zernike sensor with a camera chosen for it; hold + capture + absolute, or speed → COPHI (the lock-in fastest by 20–500×).  </a:t>
            </a:r>
            <a:r>
              <a:rPr b="1" lang="en-US" sz="1100" spc="-1" strike="noStrike">
                <a:solidFill>
                  <a:srgbClr val="282828"/>
                </a:solidFill>
                <a:latin typeface="Arial"/>
              </a:rPr>
              <a:t>The hybrid</a:t>
            </a:r>
            <a:r>
              <a:rPr b="0" lang="en-US" sz="1100" spc="-1" strike="noStrike">
                <a:solidFill>
                  <a:srgbClr val="282828"/>
                </a:solidFill>
                <a:latin typeface="Arial"/>
              </a:rPr>
              <a:t> — Zernike for the hold, COPHI's two-color read for capture and commissioning — stays the conservative answer until the lock-in's vendor numbers are in.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TextBox 5"/>
          <p:cNvSpPr/>
          <p:nvPr/>
        </p:nvSpPr>
        <p:spPr>
          <a:xfrm>
            <a:off x="411480" y="6986160"/>
            <a:ext cx="1136844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The Zernike rows are the gauge deck's (redo96_sens, zloop) with the polarization-camera timing from camS_oap; the COPHI rows this deck's; the lock-in rows are records (runs/lockin_, resources 2a07af9).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TextBox 1"/>
          <p:cNvSpPr/>
          <p:nvPr/>
        </p:nvSpPr>
        <p:spPr>
          <a:xfrm>
            <a:off x="411480" y="201240"/>
            <a:ext cx="11368440" cy="88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Recommendations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COPHI is a credible fifth gauge: it matches the IFO's floor, reads exactly, and captures from cold in one reading; its cost is the fiber and the LO, its speed is set by the camera's frame rate, with the lock-in detector the clear winner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0" name="TextBox 3"/>
          <p:cNvSpPr/>
          <p:nvPr/>
        </p:nvSpPr>
        <p:spPr>
          <a:xfrm>
            <a:off x="411480" y="1298520"/>
            <a:ext cx="5806080" cy="267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Add COPHI to the DM Gauge plan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as the fifth column, with the converged estimator and the piston-free photon metric for every gauge (both found here, both apply to the record).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Consider a swappable splitter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(Feng's layout); the current polarizing train costs ×1.5 of laser and nothing else.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Camera: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the Photonfocus-class 1k global-shutter part (42 s per pm, 3 pm held in 1.6 s cycles) over Feng's baseline (7 min, 16 s); the lock-in camera faster yet.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594360" indent="-137160" defTabSz="4572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–  </a:t>
            </a: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verify the survey against the vendor sheets before a part is named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The lock-in camera is the fast form: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3.4 s per pm as surveyed, 0.125 s cycles.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594360" indent="-137160" defTabSz="4572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–  </a:t>
            </a: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verify all performance specs with the vendor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Implement two colors from the start: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capture from cold in one reading; at 1.3 µm, telecom tunables and twice the base range — the InGaAs stage.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TextBox 4"/>
          <p:cNvSpPr/>
          <p:nvPr/>
        </p:nvSpPr>
        <p:spPr>
          <a:xfrm>
            <a:off x="6400800" y="1298520"/>
            <a:ext cx="5394600" cy="144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Open in the record: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the lens rig's +0.1–0.2 % converged gain (a matrix-model term); the polarization-camera timings through the noise hook (slide 18); the lock-in's demodulation form from the vendor (two-tap square-wave assumed).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Model next: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the tail's chromatic refocus at Δλ = 20 nm (dispersive glass in the model); the LO referenced against the test arm's own flat; parts counts and TRL for all five gauges; Kent's ZWFS reconstruction.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TextBox 5"/>
          <p:cNvSpPr/>
          <p:nvPr/>
        </p:nvSpPr>
        <p:spPr>
          <a:xfrm>
            <a:off x="6400800" y="3200400"/>
            <a:ext cx="539460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Everything reproduces from templates/40_benches/cophi_dm96/ (cophi_run, the stage tags in each footnote); gates tCophi, tCophiBench, tConvergedEst, tDmgLoop.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What to develop: what, why, how, how long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Five items, each a requirement this deck put a number on; durations are estimates for a bench team with the parts in hand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graphicFrame>
        <p:nvGraphicFramePr>
          <p:cNvPr id="185" name="Table 3"/>
          <p:cNvGraphicFramePr/>
          <p:nvPr/>
        </p:nvGraphicFramePr>
        <p:xfrm>
          <a:off x="411480" y="1298520"/>
          <a:ext cx="11368440" cy="5401440"/>
        </p:xfrm>
        <a:graphic>
          <a:graphicData uri="http://schemas.openxmlformats.org/drawingml/2006/table">
            <a:tbl>
              <a:tblPr/>
              <a:tblGrid>
                <a:gridCol w="1526400"/>
                <a:gridCol w="2426760"/>
                <a:gridCol w="1870560"/>
                <a:gridCol w="4887360"/>
                <a:gridCol w="657000"/>
              </a:tblGrid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item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what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why (the number)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how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how long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103428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 Fiber phase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two PM fibers' differential OPD held to 0.39 nm per 33 ms frame (~12 nm/s; ~1.2 mK/s per m of uncommon fiber)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one term the four-step cannot cancel: 66 pm per 0.01 rad/frame; 3× the budget doubles the hold floor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passive first: one coupler, co-routed in one jacket, &lt; 1 m uncommon, one thermal mount; then a pickoff between the fiber ends and a stretcher servo (SIM-MET style); with a lock-in camera the term is a per-sample piston, inert (record) — the requirement belongs to the four-frame camera form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passive: weeks; servo: 2–4 months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3428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 LO pointing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LO collimator's tilt held to ~10 prad per cycle (~10 pm of fiber-tip motion), or measured and removed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loop reads LO drift as DM drift one-for-one: 0.1 nrad per cycle = 29 pm of hold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a monolithic collimator mount on the splitter block, thermally tied; or a referenced LO: a quad cell on an LO pickoff, or a flat on the DM mount read by the same frames (the next model stage)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mount: weeks; referenced LO: 1–2 months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84564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 Lock-in camera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a heliCam C4 at a 5 kHz beat on the record bench; per-pixel phase noise vs flux measured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~12× the Photonfocus's speed as surveyed (3.4 s per pm); the well-free question is the next factor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vendor question (phase noise vs flux at t_c 100 ms; what the well bounds); a loaner on the bench, reading class H unchanged; format re-run on measured numbers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question: days; bench: 1–3 months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3428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4 Two-color source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laser 2 (ECDL at 633 ± 20 nm, or a 1.3 µm telecom tunable), 2 AOMs + drivers, 2 synthesizers, 2 WDM combiners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capture from cold in one 0.27 s reading, zero wrong orders to 480 nm rms; temporal unwrapping cannot start cold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633: an ECDL (costly, a few nm); 1.3 µm: cheap PM-native tunables but an InGaAs camera and a refocused tail — model the 1.3 µm stage first, then choose the band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model: 2–3 weeks; hardware: 3–6 months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103428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5 Chromatic refocus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dispersive glass in the model (today n = 1.5 fixed); the ~0.5 mm focuser travel at Δλ = 20 nm traced; its effect on the pupil image and the null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one caveat on the capture result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glass catalog is in the engine (GlassElt=): re-emit the lens rig with real glass, re-trace at λ₂, re-run capture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1–2 weeks (model)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6" name="TextBox 4"/>
          <p:cNvSpPr/>
          <p:nvPr/>
        </p:nvSpPr>
        <p:spPr>
          <a:xfrm>
            <a:off x="411480" y="6708240"/>
            <a:ext cx="1136844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Numbers from stages noise and loop (1–2), format and the survey (3), capture (4–5).  "How long" is an engineering estimate, not a record.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TextBox 1"/>
          <p:cNvSpPr/>
          <p:nvPr/>
        </p:nvSpPr>
        <p:spPr>
          <a:xfrm>
            <a:off x="411480" y="201240"/>
            <a:ext cx="113684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Backup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Rectangle 2"/>
          <p:cNvSpPr/>
          <p:nvPr/>
        </p:nvSpPr>
        <p:spPr>
          <a:xfrm>
            <a:off x="411480" y="9144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Feng's N-frame algebra, and ours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The same least squares; the sign convention differs by the direction of the beat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1" name="TextBox 3"/>
          <p:cNvSpPr/>
          <p:nvPr/>
        </p:nvSpPr>
        <p:spPr>
          <a:xfrm>
            <a:off x="411480" y="1298520"/>
            <a:ext cx="5806080" cy="10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Feng: I = I₀(1 + γ cos(φ + 2πf_h t)), α_k = 0, π/2, π, 3π/2; φ = atan2(I₄ − I₂, I₁ − I₃).  N frames: the linear least squares for (I₀, I₀γ cos φ, I₀γ sin φ).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Ours (the record's sign): I_k = I₀[1 + γ sinc(π/N) cos(φ − α_k)], α_k the bucket centers; φ = atan2(I₂ − I₄, I₁ − I₃) + α₁ for N = 4; the N-bucket least squares dmg_cophi_recon is the same solve.  Surface h = φ λ/4π about a frozen null.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TextBox 4"/>
          <p:cNvSpPr/>
          <p:nvPr/>
        </p:nvSpPr>
        <p:spPr>
          <a:xfrm>
            <a:off x="6400800" y="1298520"/>
            <a:ext cx="5394600" cy="162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Two colors on one camera: the beats 7.5 and 3.75 Hz are both integer frame counts at 30 fps (4 and 8), so one 8-frame set serves both colors; each color's frames are demodulated at its own bucket centers; the colors do not interfere (THz apart).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Synthetic wavelength Λ = λ₁λ₂/|λ₁ − λ₂|; range ±Λ/4 of surface; the coarse phase's noise is amplified Λ/λ and must resolve the fine fringe — one rung suffices here (Λ = 20.65 µm); a ladder is needed only for ranges beyond ±5 µm.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The detector survey, and its caveats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Web surveys, every number sourced, none verified by us; the rows the deck uses and the question each needs answered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graphicFrame>
        <p:nvGraphicFramePr>
          <p:cNvPr id="195" name="Table 3"/>
          <p:cNvGraphicFramePr/>
          <p:nvPr/>
        </p:nvGraphicFramePr>
        <p:xfrm>
          <a:off x="411480" y="1298520"/>
          <a:ext cx="11368440" cy="1959120"/>
        </p:xfrm>
        <a:graphic>
          <a:graphicData uri="http://schemas.openxmlformats.org/drawingml/2006/table">
            <a:tbl>
              <a:tblPr/>
              <a:tblGrid>
                <a:gridCol w="2034720"/>
                <a:gridCol w="4757040"/>
                <a:gridCol w="4576320"/>
              </a:tblGrid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part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the number the deck uses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to verify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Feng's baseline camera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1k², 60 ke⁻, 30 fps, read noise assumed 5 e⁻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part itself (not named in the deck)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Photonfocus MV1-D1024E-160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1024², 200 ke⁻, 150 fps, 220 e⁻ read, 10.6 µm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datasheet; ROI frame rates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pco.edge 5.5 GS mode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2560 × 2160, 30 ke⁻, 50 fps GS, 2.2 e⁻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GS-mode well and rate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First Light C-RED 2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640 × 512 InGaAs, 1.4 Me⁻, 600 fps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read noise at low gain; the 1.3 µm stage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Heliotis heliCam C4 / C4M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542 × 512 / 1024 × 1102, 1–250 kHz, 500 ke⁻, 2 × 10-bit I/Q, external reference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read noise; whether the well bounds the internal sample or the output; price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6" name="TextBox 4"/>
          <p:cNvSpPr/>
          <p:nvPr/>
        </p:nvSpPr>
        <p:spPr>
          <a:xfrm>
            <a:off x="411480" y="3313440"/>
            <a:ext cx="1136844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NOTE_detectors_survey.md (2026-10-09), NOTE_lockin_arrays_survey.md (2026-10-11); the 1 pm yardstick: 2 × 10⁻⁵ rad of phase at 633 nm double pass → ~2.5 × 10⁹ e⁻/s per element shot-limited.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Run tags and records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Every number in this deck, where it came from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graphicFrame>
        <p:nvGraphicFramePr>
          <p:cNvPr id="199" name="Table 3"/>
          <p:cNvGraphicFramePr/>
          <p:nvPr/>
        </p:nvGraphicFramePr>
        <p:xfrm>
          <a:off x="411480" y="1298520"/>
          <a:ext cx="11368440" cy="3457080"/>
        </p:xfrm>
        <a:graphic>
          <a:graphicData uri="http://schemas.openxmlformats.org/drawingml/2006/table">
            <a:tbl>
              <a:tblPr/>
              <a:tblGrid>
                <a:gridCol w="1694880"/>
                <a:gridCol w="4340520"/>
                <a:gridCol w="5332680"/>
              </a:tblGrid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stage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record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headline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bench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runs/bench_{lens,oap}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registration PASS, null 0.000 / 0.746 nm, contrast 0.982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battery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runs/battery_{lens,oap}, I = redo96_&lt;optics&gt;ph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H vs I same surface; the 0.5 % one-step shrinkage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gain probe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runs/gainprobe_lens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reading exact (slope 1.000000); λ_m names the 0.5 %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converged estimator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runs/conv_H_, tg_psi_dm96_oap/runs/conv_I_ph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H 1.0000 mirror; I/H 1.006–1.009 / 0.989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noise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runs/noise_{lens,oap}[_plain]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pm per reading per camera; both trains; electronics terms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loop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runs/loop_{lens,oap}_plain, runs/loopfib_*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 pm held; LO 29.6 pm; fiber 4.2 / 9.9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capture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runs/capture_{lens,oap}_plain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two colors: zero wrong orders to 480 nm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format / lock-in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runs/format_lens_plain; the lock-in as a READING: runs/lockin_* (noise both rigs, capture, battery, loop)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3.35 / 3.73 s per pm well-capped (the format stage's 1.1 counted four wells per sample); 3 pm held at 0.125 s cycles; fiber inert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figs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runs/figs_oap_plain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station figure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other gauges on a polarization camera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tg_psi_dm96_oap/runs/camI_{lens,oap}, zwfs_dm96/runs/camS_oap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IFO 189 / 160 s per pm; stepped 475, vector 519, pinhole 342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200" name="TextBox 4"/>
          <p:cNvSpPr/>
          <p:nvPr/>
        </p:nvSpPr>
        <p:spPr>
          <a:xfrm>
            <a:off x="411480" y="4902480"/>
            <a:ext cx="1136844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MACOS_resources/mmacos/templates/40_benches/cophi_dm96/, README per stage; gates tCophi 8, tCophiBench 9, tConvergedEst 4, tDmgLoop 17.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</TotalTime>
  <Application>LibreOffice/24.2.7.2$Linux_X86_64 LibreOffice_project/420$Build-2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2026-10-16T10:35:36Z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