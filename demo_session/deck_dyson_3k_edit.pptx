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The 3k Dyson Module Brought to the Pixel</a:t>
            </a:r>
          </a:p>
          <a:p>
            <a:pPr>
              <a:spcAft>
                <a:spcPts val="1400"/>
              </a:spcAft>
            </a:pPr>
            <a:r>
              <a:rPr sz="2200" b="0">
                <a:solidFill>
                  <a:srgbClr val="282828"/>
                </a:solidFill>
                <a:latin typeface="Arial"/>
              </a:rPr>
              <a:t>A freeform three-mirror telescope of the SBG VSWIR form, seeded from the published layout and solved to Joe's specification, feeding the 240 mm </a:t>
            </a:r>
            <a:r>
              <a:rPr sz="2200" b="0">
                <a:solidFill>
                  <a:srgbClr val="282828"/>
                </a:solidFill>
                <a:latin typeface="Arial"/>
              </a:rPr>
              <a:t>CaF</a:t>
            </a:r>
            <a:r>
              <a:rPr sz="2200" b="0" baseline="-25000">
                <a:solidFill>
                  <a:srgbClr val="282828"/>
                </a:solidFill>
                <a:latin typeface="Arial"/>
              </a:rPr>
              <a:t>2</a:t>
            </a:r>
            <a:r>
              <a:rPr sz="2200" b="0">
                <a:solidFill>
                  <a:srgbClr val="282828"/>
                </a:solidFill>
                <a:latin typeface="Arial"/>
              </a:rPr>
              <a:t> Dyson of record: smile 0.02, keystone 0.006, CRF 1.17 pixels, 0.85 of the energy in one pixel, end to end over the 9.4° strip.</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October 2026.  Working record; no proprietary prescription is used.</a:t>
            </a:r>
          </a:p>
          <a:p>
            <a:pPr>
              <a:spcAft>
                <a:spcPts val="800"/>
              </a:spcAft>
            </a:pPr>
            <a:r>
              <a:rPr sz="1500" b="0">
                <a:solidFill>
                  <a:srgbClr val="6E6E6E"/>
                </a:solidFill>
                <a:latin typeface="Arial"/>
              </a:rPr>
              <a:t>DRAFT — pending review.</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Since the 2026-10-06 deck: Jim's answers and the project's own paper settled the trade toward two 3k modules and pointed at the telescope form; a design template built on that form reaches the pixel at every field of the strip, with the cone bounded and the slit telecentric; the 0.14-pixel "smile" that remained was the scorer's launch convention, not the optics.  Both modules now meet the specification end to end; SRF sits at the two-pixel slit's floor.  What is left is the spectrometer's: tolerances, the aspheric-lens form, throughput by band.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Contents</a:t>
            </a:r>
          </a:p>
          <a:p>
            <a:pPr>
              <a:spcAft>
                <a:spcPts val="0"/>
              </a:spcAft>
            </a:pPr>
            <a:r>
              <a:rPr sz="1250" b="0">
                <a:solidFill>
                  <a:srgbClr val="6E6E6E"/>
                </a:solidFill>
                <a:latin typeface="Arial"/>
              </a:rPr>
              <a:t>What changed, the pair of modules, the seed, the telescope of record, the module scored, how the solve got there, the two smile conventions, the spectrometer, the comparison, the questions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3</a:t>
            </a:r>
            <a:r>
              <a:rPr sz="1200" b="0">
                <a:solidFill>
                  <a:srgbClr val="282828"/>
                </a:solidFill>
                <a:latin typeface="Arial"/>
              </a:rPr>
              <a:t> The target and how it is scored</a:t>
            </a:r>
          </a:p>
          <a:p>
            <a:pPr>
              <a:spcAft>
                <a:spcPts val="600"/>
              </a:spcAft>
            </a:pPr>
            <a:r>
              <a:rPr sz="1200" b="0">
                <a:solidFill>
                  <a:srgbClr val="282828"/>
                </a:solidFill>
                <a:latin typeface="Arial"/>
              </a:rPr>
              <a:t>•  </a:t>
            </a:r>
            <a:r>
              <a:rPr sz="1200" b="1">
                <a:solidFill>
                  <a:srgbClr val="282828"/>
                </a:solidFill>
                <a:latin typeface="Arial"/>
              </a:rPr>
              <a:t>4</a:t>
            </a:r>
            <a:r>
              <a:rPr sz="1200" b="0">
                <a:solidFill>
                  <a:srgbClr val="282828"/>
                </a:solidFill>
                <a:latin typeface="Arial"/>
              </a:rPr>
              <a:t> What changed since the last deck: Jim's answers and the paper</a:t>
            </a:r>
          </a:p>
          <a:p>
            <a:pPr>
              <a:spcAft>
                <a:spcPts val="600"/>
              </a:spcAft>
            </a:pPr>
            <a:r>
              <a:rPr sz="1200" b="0">
                <a:solidFill>
                  <a:srgbClr val="282828"/>
                </a:solidFill>
                <a:latin typeface="Arial"/>
              </a:rPr>
              <a:t>•  </a:t>
            </a:r>
            <a:r>
              <a:rPr sz="1200" b="1">
                <a:solidFill>
                  <a:srgbClr val="282828"/>
                </a:solidFill>
                <a:latin typeface="Arial"/>
              </a:rPr>
              <a:t>5</a:t>
            </a:r>
            <a:r>
              <a:rPr sz="1200" b="0">
                <a:solidFill>
                  <a:srgbClr val="282828"/>
                </a:solidFill>
                <a:latin typeface="Arial"/>
              </a:rPr>
              <a:t> Two 3k modules fill the swath</a:t>
            </a:r>
          </a:p>
          <a:p>
            <a:pPr>
              <a:spcAft>
                <a:spcPts val="600"/>
              </a:spcAft>
            </a:pPr>
            <a:r>
              <a:rPr sz="1200" b="0">
                <a:solidFill>
                  <a:srgbClr val="282828"/>
                </a:solidFill>
                <a:latin typeface="Arial"/>
              </a:rPr>
              <a:t>•  </a:t>
            </a:r>
            <a:r>
              <a:rPr sz="1200" b="1">
                <a:solidFill>
                  <a:srgbClr val="282828"/>
                </a:solidFill>
                <a:latin typeface="Arial"/>
              </a:rPr>
              <a:t>6</a:t>
            </a:r>
            <a:r>
              <a:rPr sz="1200" b="0">
                <a:solidFill>
                  <a:srgbClr val="282828"/>
                </a:solidFill>
                <a:latin typeface="Arial"/>
              </a:rPr>
              <a:t> The two strips on the ground, and the two focal planes</a:t>
            </a:r>
          </a:p>
          <a:p>
            <a:pPr>
              <a:spcAft>
                <a:spcPts val="600"/>
              </a:spcAft>
            </a:pPr>
            <a:r>
              <a:rPr sz="1200" b="0">
                <a:solidFill>
                  <a:srgbClr val="282828"/>
                </a:solidFill>
                <a:latin typeface="Arial"/>
              </a:rPr>
              <a:t>•  </a:t>
            </a:r>
            <a:r>
              <a:rPr sz="1200" b="1">
                <a:solidFill>
                  <a:srgbClr val="282828"/>
                </a:solidFill>
                <a:latin typeface="Arial"/>
              </a:rPr>
              <a:t>7</a:t>
            </a:r>
            <a:r>
              <a:rPr sz="1200" b="0">
                <a:solidFill>
                  <a:srgbClr val="282828"/>
                </a:solidFill>
                <a:latin typeface="Arial"/>
              </a:rPr>
              <a:t> The seed: the SBG form, first order</a:t>
            </a:r>
          </a:p>
          <a:p>
            <a:pPr>
              <a:spcAft>
                <a:spcPts val="600"/>
              </a:spcAft>
            </a:pPr>
            <a:r>
              <a:rPr sz="1200" b="0">
                <a:solidFill>
                  <a:srgbClr val="282828"/>
                </a:solidFill>
                <a:latin typeface="Arial"/>
              </a:rPr>
              <a:t>•  </a:t>
            </a:r>
            <a:r>
              <a:rPr sz="1200" b="1">
                <a:solidFill>
                  <a:srgbClr val="282828"/>
                </a:solidFill>
                <a:latin typeface="Arial"/>
              </a:rPr>
              <a:t>8</a:t>
            </a:r>
            <a:r>
              <a:rPr sz="1200" b="0">
                <a:solidFill>
                  <a:srgbClr val="282828"/>
                </a:solidFill>
                <a:latin typeface="Arial"/>
              </a:rPr>
              <a:t> The telescope of record: freeform three-mirror, R9</a:t>
            </a:r>
          </a:p>
          <a:p>
            <a:pPr>
              <a:spcAft>
                <a:spcPts val="600"/>
              </a:spcAft>
            </a:pPr>
            <a:r>
              <a:rPr sz="1200" b="0">
                <a:solidFill>
                  <a:srgbClr val="282828"/>
                </a:solidFill>
                <a:latin typeface="Arial"/>
              </a:rPr>
              <a:t>•  </a:t>
            </a:r>
            <a:r>
              <a:rPr sz="1200" b="1">
                <a:solidFill>
                  <a:srgbClr val="282828"/>
                </a:solidFill>
                <a:latin typeface="Arial"/>
              </a:rPr>
              <a:t>9</a:t>
            </a:r>
            <a:r>
              <a:rPr sz="1200" b="0">
                <a:solidFill>
                  <a:srgbClr val="282828"/>
                </a:solidFill>
                <a:latin typeface="Arial"/>
              </a:rPr>
              <a:t> The 3k module, scored: spectrometer, telescope, and the two together</a:t>
            </a:r>
          </a:p>
          <a:p>
            <a:pPr>
              <a:spcAft>
                <a:spcPts val="600"/>
              </a:spcAft>
            </a:pPr>
            <a:r>
              <a:rPr sz="1200" b="0">
                <a:solidFill>
                  <a:srgbClr val="282828"/>
                </a:solidFill>
                <a:latin typeface="Arial"/>
              </a:rPr>
              <a:t>•  </a:t>
            </a:r>
            <a:r>
              <a:rPr sz="1200" b="1">
                <a:solidFill>
                  <a:srgbClr val="282828"/>
                </a:solidFill>
                <a:latin typeface="Arial"/>
              </a:rPr>
              <a:t>10</a:t>
            </a:r>
            <a:r>
              <a:rPr sz="1200" b="0">
                <a:solidFill>
                  <a:srgbClr val="282828"/>
                </a:solidFill>
                <a:latin typeface="Arial"/>
              </a:rPr>
              <a:t> The 3k module, end to end</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11</a:t>
            </a:r>
            <a:r>
              <a:rPr sz="1200" b="0">
                <a:solidFill>
                  <a:srgbClr val="282828"/>
                </a:solidFill>
                <a:latin typeface="Arial"/>
              </a:rPr>
              <a:t> How the solve got there: six rungs and three lessons</a:t>
            </a:r>
          </a:p>
          <a:p>
            <a:pPr>
              <a:spcAft>
                <a:spcPts val="600"/>
              </a:spcAft>
            </a:pPr>
            <a:r>
              <a:rPr sz="1200" b="0">
                <a:solidFill>
                  <a:srgbClr val="282828"/>
                </a:solidFill>
                <a:latin typeface="Arial"/>
              </a:rPr>
              <a:t>•  </a:t>
            </a:r>
            <a:r>
              <a:rPr sz="1200" b="1">
                <a:solidFill>
                  <a:srgbClr val="282828"/>
                </a:solidFill>
                <a:latin typeface="Arial"/>
              </a:rPr>
              <a:t>12</a:t>
            </a:r>
            <a:r>
              <a:rPr sz="1200" b="0">
                <a:solidFill>
                  <a:srgbClr val="282828"/>
                </a:solidFill>
                <a:latin typeface="Arial"/>
              </a:rPr>
              <a:t> Smile is a convention: the launch, not the optics</a:t>
            </a:r>
          </a:p>
          <a:p>
            <a:pPr>
              <a:spcAft>
                <a:spcPts val="600"/>
              </a:spcAft>
            </a:pPr>
            <a:r>
              <a:rPr sz="1200" b="0">
                <a:solidFill>
                  <a:srgbClr val="282828"/>
                </a:solidFill>
                <a:latin typeface="Arial"/>
              </a:rPr>
              <a:t>•  </a:t>
            </a:r>
            <a:r>
              <a:rPr sz="1200" b="1">
                <a:solidFill>
                  <a:srgbClr val="282828"/>
                </a:solidFill>
                <a:latin typeface="Arial"/>
              </a:rPr>
              <a:t>13</a:t>
            </a:r>
            <a:r>
              <a:rPr sz="1200" b="0">
                <a:solidFill>
                  <a:srgbClr val="282828"/>
                </a:solidFill>
                <a:latin typeface="Arial"/>
              </a:rPr>
              <a:t> The cone, the spec and the paper's beam</a:t>
            </a:r>
          </a:p>
          <a:p>
            <a:pPr>
              <a:spcAft>
                <a:spcPts val="600"/>
              </a:spcAft>
            </a:pPr>
            <a:r>
              <a:rPr sz="1200" b="0">
                <a:solidFill>
                  <a:srgbClr val="282828"/>
                </a:solidFill>
                <a:latin typeface="Arial"/>
              </a:rPr>
              <a:t>•  </a:t>
            </a:r>
            <a:r>
              <a:rPr sz="1200" b="1">
                <a:solidFill>
                  <a:srgbClr val="282828"/>
                </a:solidFill>
                <a:latin typeface="Arial"/>
              </a:rPr>
              <a:t>14</a:t>
            </a:r>
            <a:r>
              <a:rPr sz="1200" b="0">
                <a:solidFill>
                  <a:srgbClr val="282828"/>
                </a:solidFill>
                <a:latin typeface="Arial"/>
              </a:rPr>
              <a:t> The spectrometer: toleranced, and a conic grating for margin</a:t>
            </a:r>
          </a:p>
          <a:p>
            <a:pPr>
              <a:spcAft>
                <a:spcPts val="600"/>
              </a:spcAft>
            </a:pPr>
            <a:r>
              <a:rPr sz="1200" b="0">
                <a:solidFill>
                  <a:srgbClr val="282828"/>
                </a:solidFill>
                <a:latin typeface="Arial"/>
              </a:rPr>
              <a:t>•  </a:t>
            </a:r>
            <a:r>
              <a:rPr sz="1200" b="1">
                <a:solidFill>
                  <a:srgbClr val="282828"/>
                </a:solidFill>
                <a:latin typeface="Arial"/>
              </a:rPr>
              <a:t>15</a:t>
            </a:r>
            <a:r>
              <a:rPr sz="1200" b="0">
                <a:solidFill>
                  <a:srgbClr val="282828"/>
                </a:solidFill>
                <a:latin typeface="Arial"/>
              </a:rPr>
              <a:t> Throughput by band, and the blaze</a:t>
            </a:r>
          </a:p>
          <a:p>
            <a:pPr>
              <a:spcAft>
                <a:spcPts val="600"/>
              </a:spcAft>
            </a:pPr>
            <a:r>
              <a:rPr sz="1200" b="0">
                <a:solidFill>
                  <a:srgbClr val="282828"/>
                </a:solidFill>
                <a:latin typeface="Arial"/>
              </a:rPr>
              <a:t>•  </a:t>
            </a:r>
            <a:r>
              <a:rPr sz="1200" b="1">
                <a:solidFill>
                  <a:srgbClr val="282828"/>
                </a:solidFill>
                <a:latin typeface="Arial"/>
              </a:rPr>
              <a:t>16</a:t>
            </a:r>
            <a:r>
              <a:rPr sz="1200" b="0">
                <a:solidFill>
                  <a:srgbClr val="282828"/>
                </a:solidFill>
                <a:latin typeface="Arial"/>
              </a:rPr>
              <a:t> Two of 3k or four of 1.5k, updated</a:t>
            </a:r>
          </a:p>
          <a:p>
            <a:pPr>
              <a:spcAft>
                <a:spcPts val="600"/>
              </a:spcAft>
            </a:pPr>
            <a:r>
              <a:rPr sz="1200" b="0">
                <a:solidFill>
                  <a:srgbClr val="282828"/>
                </a:solidFill>
                <a:latin typeface="Arial"/>
              </a:rPr>
              <a:t>•  </a:t>
            </a:r>
            <a:r>
              <a:rPr sz="1200" b="1">
                <a:solidFill>
                  <a:srgbClr val="282828"/>
                </a:solidFill>
                <a:latin typeface="Arial"/>
              </a:rPr>
              <a:t>17</a:t>
            </a:r>
            <a:r>
              <a:rPr sz="1200" b="0">
                <a:solidFill>
                  <a:srgbClr val="282828"/>
                </a:solidFill>
                <a:latin typeface="Arial"/>
              </a:rPr>
              <a:t> Questions for Jim and Joe</a:t>
            </a:r>
          </a:p>
          <a:p>
            <a:pPr>
              <a:spcAft>
                <a:spcPts val="600"/>
              </a:spcAft>
            </a:pPr>
            <a:r>
              <a:rPr sz="1200" b="0">
                <a:solidFill>
                  <a:srgbClr val="282828"/>
                </a:solidFill>
                <a:latin typeface="Arial"/>
              </a:rPr>
              <a:t>•  </a:t>
            </a:r>
            <a:r>
              <a:rPr sz="1200" b="1">
                <a:solidFill>
                  <a:srgbClr val="282828"/>
                </a:solidFill>
                <a:latin typeface="Arial"/>
              </a:rPr>
              <a:t>18</a:t>
            </a:r>
            <a:r>
              <a:rPr sz="1200" b="0">
                <a:solidFill>
                  <a:srgbClr val="282828"/>
                </a:solidFill>
                <a:latin typeface="Arial"/>
              </a:rPr>
              <a:t> Next steps</a:t>
            </a:r>
          </a:p>
          <a:p>
            <a:pPr>
              <a:spcAft>
                <a:spcPts val="600"/>
              </a:spcAft>
            </a:pPr>
            <a:r>
              <a:rPr sz="1200" b="0">
                <a:solidFill>
                  <a:srgbClr val="282828"/>
                </a:solidFill>
                <a:latin typeface="Arial"/>
              </a:rPr>
              <a:t>•  </a:t>
            </a:r>
            <a:r>
              <a:rPr sz="1200" b="1">
                <a:solidFill>
                  <a:srgbClr val="282828"/>
                </a:solidFill>
                <a:latin typeface="Arial"/>
              </a:rPr>
              <a:t>19</a:t>
            </a:r>
            <a:r>
              <a:rPr sz="1200" b="0">
                <a:solidFill>
                  <a:srgbClr val="282828"/>
                </a:solidFill>
                <a:latin typeface="Arial"/>
              </a:rPr>
              <a:t> Run it yourself</a:t>
            </a:r>
          </a:p>
          <a:p>
            <a:pPr>
              <a:spcAft>
                <a:spcPts val="600"/>
              </a:spcAft>
            </a:pPr>
            <a:r>
              <a:rPr sz="1200" b="0">
                <a:solidFill>
                  <a:srgbClr val="282828"/>
                </a:solidFill>
                <a:latin typeface="Arial"/>
              </a:rPr>
              <a:t>•  </a:t>
            </a:r>
            <a:r>
              <a:rPr sz="1200" b="1">
                <a:solidFill>
                  <a:srgbClr val="282828"/>
                </a:solidFill>
                <a:latin typeface="Arial"/>
              </a:rPr>
              <a:t>20</a:t>
            </a:r>
            <a:r>
              <a:rPr sz="1200" b="0">
                <a:solidFill>
                  <a:srgbClr val="282828"/>
                </a:solidFill>
                <a:latin typeface="Arial"/>
              </a:rPr>
              <a:t> Backup: the first order by the numbers; the rungs per field; the chief-tilt diagnostic; the tolerance ladder by the numbers; the engine finding;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target and how it is scored</a:t>
            </a:r>
          </a:p>
          <a:p>
            <a:pPr>
              <a:spcAft>
                <a:spcPts val="0"/>
              </a:spcAft>
            </a:pPr>
            <a:r>
              <a:rPr sz="1250" b="0">
                <a:solidFill>
                  <a:srgbClr val="6E6E6E"/>
                </a:solidFill>
                <a:latin typeface="Arial"/>
              </a:rPr>
              <a:t>Joe's specification at Jim's ground sample; the metrics stated once, with the paper's bounds in the same units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4211955"/>
        </p:xfrm>
        <a:graphic>
          <a:graphicData uri="http://schemas.openxmlformats.org/drawingml/2006/table">
            <a:tbl>
              <a:tblPr firstRow="1" bandRow="1">
                <a:tableStyleId>{5C22544A-7EE6-4342-B048-85BDC9FD1C3A}</a:tableStyleId>
              </a:tblPr>
              <a:tblGrid>
                <a:gridCol w="1512945"/>
                <a:gridCol w="1512945"/>
                <a:gridCol w="2780548"/>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Joe (this work)</a:t>
                      </a:r>
                    </a:p>
                  </a:txBody>
                  <a:tcPr marL="54864" marR="54864" marT="18288" marB="18288">
                    <a:solidFill>
                      <a:srgbClr val="1F4E79"/>
                    </a:solidFill>
                  </a:tcPr>
                </a:tc>
                <a:tc>
                  <a:txBody>
                    <a:bodyPr wrap="square"/>
                    <a:lstStyle/>
                    <a:p>
                      <a:r>
                        <a:rPr sz="1100" b="1">
                          <a:solidFill>
                            <a:srgbClr val="FFFFFF"/>
                          </a:solidFill>
                          <a:latin typeface="Arial"/>
                        </a:rPr>
                        <a:t>the SBG VSWIR paper</a:t>
                      </a:r>
                    </a:p>
                  </a:txBody>
                  <a:tcPr marL="54864" marR="54864" marT="18288" marB="18288">
                    <a:solidFill>
                      <a:srgbClr val="1F4E79"/>
                    </a:solidFill>
                  </a:tcPr>
                </a:tc>
              </a:tr>
              <a:tr h="280035">
                <a:tc>
                  <a:txBody>
                    <a:bodyPr wrap="square"/>
                    <a:lstStyle/>
                    <a:p>
                      <a:r>
                        <a:rPr sz="1100" b="0">
                          <a:solidFill>
                            <a:srgbClr val="282828"/>
                          </a:solidFill>
                          <a:latin typeface="Arial"/>
                        </a:rPr>
                        <a:t>F-number</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r>
              <a:tr h="468630">
                <a:tc>
                  <a:txBody>
                    <a:bodyPr wrap="square"/>
                    <a:lstStyle/>
                    <a:p>
                      <a:r>
                        <a:rPr sz="1100" b="0">
                          <a:solidFill>
                            <a:srgbClr val="282828"/>
                          </a:solidFill>
                          <a:latin typeface="Arial"/>
                        </a:rPr>
                        <a:t>aperture; focal length</a:t>
                      </a:r>
                    </a:p>
                  </a:txBody>
                  <a:tcPr marL="54864" marR="54864" marT="18288" marB="18288">
                    <a:solidFill>
                      <a:srgbClr val="ECF1F6"/>
                    </a:solidFill>
                  </a:tcPr>
                </a:tc>
                <a:tc>
                  <a:txBody>
                    <a:bodyPr wrap="square"/>
                    <a:lstStyle/>
                    <a:p>
                      <a:r>
                        <a:rPr sz="1100" b="0">
                          <a:solidFill>
                            <a:srgbClr val="282828"/>
                          </a:solidFill>
                          <a:latin typeface="Arial"/>
                        </a:rPr>
                        <a:t>183 mm; 330 mm</a:t>
                      </a:r>
                    </a:p>
                  </a:txBody>
                  <a:tcPr marL="54864" marR="54864" marT="18288" marB="18288">
                    <a:solidFill>
                      <a:srgbClr val="ECF1F6"/>
                    </a:solidFill>
                  </a:tcPr>
                </a:tc>
                <a:tc>
                  <a:txBody>
                    <a:bodyPr wrap="square"/>
                    <a:lstStyle/>
                    <a:p>
                      <a:r>
                        <a:rPr sz="1100" b="0">
                          <a:solidFill>
                            <a:srgbClr val="282828"/>
                          </a:solidFill>
                          <a:latin typeface="Arial"/>
                        </a:rPr>
                        <a:t>192 mm; 345 mm</a:t>
                      </a:r>
                    </a:p>
                  </a:txBody>
                  <a:tcPr marL="54864" marR="54864" marT="18288" marB="18288">
                    <a:solidFill>
                      <a:srgbClr val="ECF1F6"/>
                    </a:solidFill>
                  </a:tcPr>
                </a:tc>
              </a:tr>
              <a:tr h="468630">
                <a:tc>
                  <a:txBody>
                    <a:bodyPr wrap="square"/>
                    <a:lstStyle/>
                    <a:p>
                      <a:r>
                        <a:rPr sz="1100" b="0">
                          <a:solidFill>
                            <a:srgbClr val="282828"/>
                          </a:solidFill>
                          <a:latin typeface="Arial"/>
                        </a:rPr>
                        <a:t>pixels</a:t>
                      </a:r>
                    </a:p>
                  </a:txBody>
                  <a:tcPr marL="54864" marR="54864" marT="18288" marB="18288">
                    <a:solidFill>
                      <a:srgbClr val="FFFFFF"/>
                    </a:solidFill>
                  </a:tcPr>
                </a:tc>
                <a:tc>
                  <a:txBody>
                    <a:bodyPr wrap="square"/>
                    <a:lstStyle/>
                    <a:p>
                      <a:r>
                        <a:rPr sz="1100" b="0">
                          <a:solidFill>
                            <a:srgbClr val="282828"/>
                          </a:solidFill>
                          <a:latin typeface="Arial"/>
                        </a:rPr>
                        <a:t>18 µm; 3000 cross-track, 500 spectral</a:t>
                      </a:r>
                    </a:p>
                  </a:txBody>
                  <a:tcPr marL="54864" marR="54864" marT="18288" marB="18288">
                    <a:solidFill>
                      <a:srgbClr val="FFFFFF"/>
                    </a:solidFill>
                  </a:tcPr>
                </a:tc>
                <a:tc>
                  <a:txBody>
                    <a:bodyPr wrap="square"/>
                    <a:lstStyle/>
                    <a:p>
                      <a:r>
                        <a:rPr sz="1100" b="0">
                          <a:solidFill>
                            <a:srgbClr val="282828"/>
                          </a:solidFill>
                          <a:latin typeface="Arial"/>
                        </a:rPr>
                        <a:t>18 µm; 3072 × 512, 2 co-added spectrally</a:t>
                      </a:r>
                    </a:p>
                  </a:txBody>
                  <a:tcPr marL="54864" marR="54864" marT="18288" marB="18288">
                    <a:solidFill>
                      <a:srgbClr val="FFFFFF"/>
                    </a:solidFill>
                  </a:tcPr>
                </a:tc>
              </a:tr>
              <a:tr h="468630">
                <a:tc>
                  <a:txBody>
                    <a:bodyPr wrap="square"/>
                    <a:lstStyle/>
                    <a:p>
                      <a:r>
                        <a:rPr sz="1100" b="0">
                          <a:solidFill>
                            <a:srgbClr val="282828"/>
                          </a:solidFill>
                          <a:latin typeface="Arial"/>
                        </a:rPr>
                        <a:t>slit</a:t>
                      </a:r>
                    </a:p>
                  </a:txBody>
                  <a:tcPr marL="54864" marR="54864" marT="18288" marB="18288">
                    <a:solidFill>
                      <a:srgbClr val="ECF1F6"/>
                    </a:solidFill>
                  </a:tcPr>
                </a:tc>
                <a:tc>
                  <a:txBody>
                    <a:bodyPr wrap="square"/>
                    <a:lstStyle/>
                    <a:p>
                      <a:r>
                        <a:rPr sz="1100" b="0">
                          <a:solidFill>
                            <a:srgbClr val="282828"/>
                          </a:solidFill>
                          <a:latin typeface="Arial"/>
                        </a:rPr>
                        <a:t>54 mm; 2 pixels (36 µm)</a:t>
                      </a:r>
                    </a:p>
                  </a:txBody>
                  <a:tcPr marL="54864" marR="54864" marT="18288" marB="18288">
                    <a:solidFill>
                      <a:srgbClr val="ECF1F6"/>
                    </a:solidFill>
                  </a:tcPr>
                </a:tc>
                <a:tc>
                  <a:txBody>
                    <a:bodyPr wrap="square"/>
                    <a:lstStyle/>
                    <a:p>
                      <a:r>
                        <a:rPr sz="1100" b="0">
                          <a:solidFill>
                            <a:srgbClr val="282828"/>
                          </a:solidFill>
                          <a:latin typeface="Arial"/>
                        </a:rPr>
                        <a:t>54.45 mm; 36 µm</a:t>
                      </a:r>
                    </a:p>
                  </a:txBody>
                  <a:tcPr marL="54864" marR="54864" marT="18288" marB="18288">
                    <a:solidFill>
                      <a:srgbClr val="ECF1F6"/>
                    </a:solidFill>
                  </a:tcPr>
                </a:tc>
              </a:tr>
              <a:tr h="280035">
                <a:tc>
                  <a:txBody>
                    <a:bodyPr wrap="square"/>
                    <a:lstStyle/>
                    <a:p>
                      <a:r>
                        <a:rPr sz="1100" b="0">
                          <a:solidFill>
                            <a:srgbClr val="282828"/>
                          </a:solidFill>
                          <a:latin typeface="Arial"/>
                        </a:rPr>
                        <a:t>band</a:t>
                      </a:r>
                    </a:p>
                  </a:txBody>
                  <a:tcPr marL="54864" marR="54864" marT="18288" marB="18288">
                    <a:solidFill>
                      <a:srgbClr val="FFFFFF"/>
                    </a:solidFill>
                  </a:tcPr>
                </a:tc>
                <a:tc>
                  <a:txBody>
                    <a:bodyPr wrap="square"/>
                    <a:lstStyle/>
                    <a:p>
                      <a:r>
                        <a:rPr sz="1100" b="0">
                          <a:solidFill>
                            <a:srgbClr val="282828"/>
                          </a:solidFill>
                          <a:latin typeface="Arial"/>
                        </a:rPr>
                        <a:t>380–2500 nm</a:t>
                      </a:r>
                    </a:p>
                  </a:txBody>
                  <a:tcPr marL="54864" marR="54864" marT="18288" marB="18288">
                    <a:solidFill>
                      <a:srgbClr val="FFFFFF"/>
                    </a:solidFill>
                  </a:tcPr>
                </a:tc>
                <a:tc>
                  <a:txBody>
                    <a:bodyPr wrap="square"/>
                    <a:lstStyle/>
                    <a:p>
                      <a:r>
                        <a:rPr sz="1100" b="0">
                          <a:solidFill>
                            <a:srgbClr val="282828"/>
                          </a:solidFill>
                          <a:latin typeface="Arial"/>
                        </a:rPr>
                        <a:t>380–2500 nm</a:t>
                      </a:r>
                    </a:p>
                  </a:txBody>
                  <a:tcPr marL="54864" marR="54864" marT="18288" marB="18288">
                    <a:solidFill>
                      <a:srgbClr val="FFFFFF"/>
                    </a:solidFill>
                  </a:tcPr>
                </a:tc>
              </a:tr>
              <a:tr h="468630">
                <a:tc>
                  <a:txBody>
                    <a:bodyPr wrap="square"/>
                    <a:lstStyle/>
                    <a:p>
                      <a:r>
                        <a:rPr sz="1100" b="0">
                          <a:solidFill>
                            <a:srgbClr val="282828"/>
                          </a:solidFill>
                          <a:latin typeface="Arial"/>
                        </a:rPr>
                        <a:t>smile, keystone</a:t>
                      </a:r>
                    </a:p>
                  </a:txBody>
                  <a:tcPr marL="54864" marR="54864" marT="18288" marB="18288">
                    <a:solidFill>
                      <a:srgbClr val="ECF1F6"/>
                    </a:solidFill>
                  </a:tcPr>
                </a:tc>
                <a:tc>
                  <a:txBody>
                    <a:bodyPr wrap="square"/>
                    <a:lstStyle/>
                    <a:p>
                      <a:r>
                        <a:rPr sz="1100" b="0">
                          <a:solidFill>
                            <a:srgbClr val="282828"/>
                          </a:solidFill>
                          <a:latin typeface="Arial"/>
                        </a:rPr>
                        <a:t>&lt; 0.1 px (1.8 µm)</a:t>
                      </a:r>
                    </a:p>
                  </a:txBody>
                  <a:tcPr marL="54864" marR="54864" marT="18288" marB="18288">
                    <a:solidFill>
                      <a:srgbClr val="ECF1F6"/>
                    </a:solidFill>
                  </a:tcPr>
                </a:tc>
                <a:tc>
                  <a:txBody>
                    <a:bodyPr wrap="square"/>
                    <a:lstStyle/>
                    <a:p>
                      <a:r>
                        <a:rPr sz="1100" b="0">
                          <a:solidFill>
                            <a:srgbClr val="282828"/>
                          </a:solidFill>
                          <a:latin typeface="Arial"/>
                        </a:rPr>
                        <a:t>1.8 µm each (5 % of a co-added px; 10 % of a px) = 0.10 of our pixel</a:t>
                      </a:r>
                    </a:p>
                  </a:txBody>
                  <a:tcPr marL="54864" marR="54864" marT="18288" marB="18288">
                    <a:solidFill>
                      <a:srgbClr val="ECF1F6"/>
                    </a:solidFill>
                  </a:tcPr>
                </a:tc>
              </a:tr>
              <a:tr h="468630">
                <a:tc>
                  <a:txBody>
                    <a:bodyPr wrap="square"/>
                    <a:lstStyle/>
                    <a:p>
                      <a:r>
                        <a:rPr sz="1100" b="0">
                          <a:solidFill>
                            <a:srgbClr val="282828"/>
                          </a:solidFill>
                          <a:latin typeface="Arial"/>
                        </a:rPr>
                        <a:t>SRF FWHM</a:t>
                      </a:r>
                    </a:p>
                  </a:txBody>
                  <a:tcPr marL="54864" marR="54864" marT="18288" marB="18288">
                    <a:solidFill>
                      <a:srgbClr val="FFFFFF"/>
                    </a:solidFill>
                  </a:tcPr>
                </a:tc>
                <a:tc>
                  <a:txBody>
                    <a:bodyPr wrap="square"/>
                    <a:lstStyle/>
                    <a:p>
                      <a:r>
                        <a:rPr sz="1100" b="0">
                          <a:solidFill>
                            <a:srgbClr val="282828"/>
                          </a:solidFill>
                          <a:latin typeface="Arial"/>
                        </a:rPr>
                        <a:t>1.5–2.0 px (27–36 µm)</a:t>
                      </a:r>
                    </a:p>
                  </a:txBody>
                  <a:tcPr marL="54864" marR="54864" marT="18288" marB="18288">
                    <a:solidFill>
                      <a:srgbClr val="FFFFFF"/>
                    </a:solidFill>
                  </a:tcPr>
                </a:tc>
                <a:tc>
                  <a:txBody>
                    <a:bodyPr wrap="square"/>
                    <a:lstStyle/>
                    <a:p>
                      <a:r>
                        <a:rPr sz="1100" b="0">
                          <a:solidFill>
                            <a:srgbClr val="282828"/>
                          </a:solidFill>
                          <a:latin typeface="Arial"/>
                        </a:rPr>
                        <a:t>&lt; 1.8 co-added px (64.8 µm)</a:t>
                      </a:r>
                    </a:p>
                  </a:txBody>
                  <a:tcPr marL="54864" marR="54864" marT="18288" marB="18288">
                    <a:solidFill>
                      <a:srgbClr val="FFFFFF"/>
                    </a:solidFill>
                  </a:tcPr>
                </a:tc>
              </a:tr>
              <a:tr h="280035">
                <a:tc>
                  <a:txBody>
                    <a:bodyPr wrap="square"/>
                    <a:lstStyle/>
                    <a:p>
                      <a:r>
                        <a:rPr sz="1100" b="0">
                          <a:solidFill>
                            <a:srgbClr val="282828"/>
                          </a:solidFill>
                          <a:latin typeface="Arial"/>
                        </a:rPr>
                        <a:t>CRF FWHM</a:t>
                      </a:r>
                    </a:p>
                  </a:txBody>
                  <a:tcPr marL="54864" marR="54864" marT="18288" marB="18288">
                    <a:solidFill>
                      <a:srgbClr val="ECF1F6"/>
                    </a:solidFill>
                  </a:tcPr>
                </a:tc>
                <a:tc>
                  <a:txBody>
                    <a:bodyPr wrap="square"/>
                    <a:lstStyle/>
                    <a:p>
                      <a:r>
                        <a:rPr sz="1100" b="0">
                          <a:solidFill>
                            <a:srgbClr val="282828"/>
                          </a:solidFill>
                          <a:latin typeface="Arial"/>
                        </a:rPr>
                        <a:t>&lt; 1.5 px (27 µm)</a:t>
                      </a:r>
                    </a:p>
                  </a:txBody>
                  <a:tcPr marL="54864" marR="54864" marT="18288" marB="18288">
                    <a:solidFill>
                      <a:srgbClr val="ECF1F6"/>
                    </a:solidFill>
                  </a:tcPr>
                </a:tc>
                <a:tc>
                  <a:txBody>
                    <a:bodyPr wrap="square"/>
                    <a:lstStyle/>
                    <a:p>
                      <a:r>
                        <a:rPr sz="1100" b="0">
                          <a:solidFill>
                            <a:srgbClr val="282828"/>
                          </a:solidFill>
                          <a:latin typeface="Arial"/>
                        </a:rPr>
                        <a:t>&lt; 2.8 px (50.4 µm)</a:t>
                      </a:r>
                    </a:p>
                  </a:txBody>
                  <a:tcPr marL="54864" marR="54864" marT="18288" marB="18288">
                    <a:solidFill>
                      <a:srgbClr val="ECF1F6"/>
                    </a:solidFill>
                  </a:tcPr>
                </a:tc>
              </a:tr>
              <a:tr h="468630">
                <a:tc>
                  <a:txBody>
                    <a:bodyPr wrap="square"/>
                    <a:lstStyle/>
                    <a:p>
                      <a:r>
                        <a:rPr sz="1100" b="0">
                          <a:solidFill>
                            <a:srgbClr val="282828"/>
                          </a:solidFill>
                          <a:latin typeface="Arial"/>
                        </a:rPr>
                        <a:t>ARF FWHM (telescope, across the slit)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&lt; 2.8 px (50.4 µm)</a:t>
                      </a:r>
                    </a:p>
                  </a:txBody>
                  <a:tcPr marL="54864" marR="54864" marT="18288" marB="18288">
                    <a:solidFill>
                      <a:srgbClr val="FFFFFF"/>
                    </a:solidFill>
                  </a:tcPr>
                </a:tc>
              </a:tr>
              <a:tr h="280035">
                <a:tc>
                  <a:txBody>
                    <a:bodyPr wrap="square"/>
                    <a:lstStyle/>
                    <a:p>
                      <a:r>
                        <a:rPr sz="1100" b="0">
                          <a:solidFill>
                            <a:srgbClr val="282828"/>
                          </a:solidFill>
                          <a:latin typeface="Arial"/>
                        </a:rPr>
                        <a:t>field per module</a:t>
                      </a:r>
                    </a:p>
                  </a:txBody>
                  <a:tcPr marL="54864" marR="54864" marT="18288" marB="18288">
                    <a:solidFill>
                      <a:srgbClr val="ECF1F6"/>
                    </a:solidFill>
                  </a:tcPr>
                </a:tc>
                <a:tc>
                  <a:txBody>
                    <a:bodyPr wrap="square"/>
                    <a:lstStyle/>
                    <a:p>
                      <a:r>
                        <a:rPr sz="1100" b="0">
                          <a:solidFill>
                            <a:srgbClr val="282828"/>
                          </a:solidFill>
                          <a:latin typeface="Arial"/>
                        </a:rPr>
                        <a:t>9.4° (3k)</a:t>
                      </a:r>
                    </a:p>
                  </a:txBody>
                  <a:tcPr marL="54864" marR="54864" marT="18288" marB="18288">
                    <a:solidFill>
                      <a:srgbClr val="ECF1F6"/>
                    </a:solidFill>
                  </a:tcPr>
                </a:tc>
                <a:tc>
                  <a:txBody>
                    <a:bodyPr wrap="square"/>
                    <a:lstStyle/>
                    <a:p>
                      <a:r>
                        <a:rPr sz="1100" b="0">
                          <a:solidFill>
                            <a:srgbClr val="282828"/>
                          </a:solidFill>
                          <a:latin typeface="Arial"/>
                        </a:rPr>
                        <a:t>8.9°</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Smile:</a:t>
            </a:r>
            <a:r>
              <a:rPr sz="1200" b="0">
                <a:solidFill>
                  <a:srgbClr val="282828"/>
                </a:solidFill>
                <a:latin typeface="Arial"/>
              </a:rPr>
              <a:t> centroid drift along the slit at fixed wavelength; </a:t>
            </a:r>
            <a:r>
              <a:rPr sz="1200" b="1">
                <a:solidFill>
                  <a:srgbClr val="282828"/>
                </a:solidFill>
                <a:latin typeface="Arial"/>
              </a:rPr>
              <a:t>keystone:</a:t>
            </a:r>
            <a:r>
              <a:rPr sz="1200" b="0">
                <a:solidFill>
                  <a:srgbClr val="282828"/>
                </a:solidFill>
                <a:latin typeface="Arial"/>
              </a:rPr>
              <a:t> drift across wavelength at fixed slit position; both from ray centroids, in pixels.</a:t>
            </a:r>
          </a:p>
          <a:p>
            <a:pPr>
              <a:spcAft>
                <a:spcPts val="600"/>
              </a:spcAft>
            </a:pPr>
            <a:r>
              <a:rPr sz="1200" b="0">
                <a:solidFill>
                  <a:srgbClr val="282828"/>
                </a:solidFill>
                <a:latin typeface="Arial"/>
              </a:rPr>
              <a:t>•  </a:t>
            </a:r>
            <a:r>
              <a:rPr sz="1200" b="1">
                <a:solidFill>
                  <a:srgbClr val="282828"/>
                </a:solidFill>
                <a:latin typeface="Arial"/>
              </a:rPr>
              <a:t>SRF, CRF:</a:t>
            </a:r>
            <a:r>
              <a:rPr sz="1200" b="0">
                <a:solidFill>
                  <a:srgbClr val="282828"/>
                </a:solidFill>
                <a:latin typeface="Arial"/>
              </a:rPr>
              <a:t> slit ⊗ line-spread function ⊗ pixel ⊗ Airy, FWHM (Mouroulis &amp; Green 2018).  With a 2-pixel slit a perfect spectrometer gives SRF = 2.010–2.023 px over the band (slit, pixel and diffraction): the floor.</a:t>
            </a:r>
          </a:p>
          <a:p>
            <a:pPr>
              <a:spcAft>
                <a:spcPts val="600"/>
              </a:spcAft>
            </a:pPr>
            <a:r>
              <a:rPr sz="1200" b="0">
                <a:solidFill>
                  <a:srgbClr val="282828"/>
                </a:solidFill>
                <a:latin typeface="Arial"/>
              </a:rPr>
              <a:t>•  </a:t>
            </a:r>
            <a:r>
              <a:rPr sz="1200" b="1">
                <a:solidFill>
                  <a:srgbClr val="282828"/>
                </a:solidFill>
                <a:latin typeface="Arial"/>
              </a:rPr>
              <a:t>Energy in one pixel:</a:t>
            </a:r>
            <a:r>
              <a:rPr sz="1200" b="0">
                <a:solidFill>
                  <a:srgbClr val="282828"/>
                </a:solidFill>
                <a:latin typeface="Arial"/>
              </a:rPr>
              <a:t> the fraction of a point image inside one 18 µm pixel; design rule 0.75.</a:t>
            </a:r>
          </a:p>
          <a:p>
            <a:pPr>
              <a:spcAft>
                <a:spcPts val="600"/>
              </a:spcAft>
            </a:pPr>
            <a:r>
              <a:rPr sz="1200" b="0">
                <a:solidFill>
                  <a:srgbClr val="282828"/>
                </a:solidFill>
                <a:latin typeface="Arial"/>
              </a:rPr>
              <a:t>•  </a:t>
            </a:r>
            <a:r>
              <a:rPr sz="1200" b="1">
                <a:solidFill>
                  <a:srgbClr val="282828"/>
                </a:solidFill>
                <a:latin typeface="Arial"/>
              </a:rPr>
              <a:t>End to end</a:t>
            </a:r>
            <a:r>
              <a:rPr sz="1200" b="0">
                <a:solidFill>
                  <a:srgbClr val="282828"/>
                </a:solidFill>
                <a:latin typeface="Arial"/>
              </a:rPr>
              <a:t> is one prescription from the sky to the detector, the grating its stop, scored by the spectrometer's own scorer.  Smile end to end depends on how each field is launched onto the slit — slide 12 — so it is given under both conventions.</a:t>
            </a:r>
          </a:p>
          <a:p>
            <a:pPr>
              <a:spcAft>
                <a:spcPts val="600"/>
              </a:spcAft>
            </a:pPr>
            <a:r>
              <a:rPr sz="1200" b="0">
                <a:solidFill>
                  <a:srgbClr val="282828"/>
                </a:solidFill>
                <a:latin typeface="Arial"/>
              </a:rPr>
              <a:t>•  </a:t>
            </a:r>
            <a:r>
              <a:rPr sz="1200" b="1">
                <a:solidFill>
                  <a:srgbClr val="282828"/>
                </a:solidFill>
                <a:latin typeface="Arial"/>
              </a:rPr>
              <a:t>The paper's SRF is in co-added pixels</a:t>
            </a:r>
            <a:r>
              <a:rPr sz="1200" b="0">
                <a:solidFill>
                  <a:srgbClr val="282828"/>
                </a:solidFill>
                <a:latin typeface="Arial"/>
              </a:rPr>
              <a:t> (36 µm); its bounds are converted to micrometers in every table here.</a:t>
            </a:r>
          </a:p>
        </p:txBody>
      </p:sp>
      <p:sp>
        <p:nvSpPr>
          <p:cNvPr id="6" name="TextBox 5"/>
          <p:cNvSpPr txBox="1"/>
          <p:nvPr/>
        </p:nvSpPr>
        <p:spPr>
          <a:xfrm>
            <a:off x="6400800" y="5007864"/>
            <a:ext cx="5394960" cy="274320"/>
          </a:xfrm>
          <a:prstGeom prst="rect">
            <a:avLst/>
          </a:prstGeom>
          <a:noFill/>
        </p:spPr>
        <p:txBody>
          <a:bodyPr wrap="square">
            <a:spAutoFit/>
          </a:bodyPr>
          <a:lstStyle/>
          <a:p>
            <a:pPr>
              <a:spcAft>
                <a:spcPts val="600"/>
              </a:spcAft>
            </a:pPr>
            <a:r>
              <a:rPr sz="1050" b="0">
                <a:solidFill>
                  <a:srgbClr val="6E6E6E"/>
                </a:solidFill>
                <a:latin typeface="Arial"/>
              </a:rPr>
              <a:t>Every number is a MACOS ray trace of a committed prescription; no coatings, no tolerances.  Paper: Bradley et al., "Finalized optical design of the SBG VSWIR Wide Swath Imaging Spectrometer," ICSO 2024, Proc. SPIE 13699, 1369945 (Tables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changed since the last deck: Jim's answers and the paper</a:t>
            </a:r>
          </a:p>
          <a:p>
            <a:pPr>
              <a:spcAft>
                <a:spcPts val="0"/>
              </a:spcAft>
            </a:pPr>
            <a:r>
              <a:rPr sz="1250" b="0">
                <a:solidFill>
                  <a:srgbClr val="6E6E6E"/>
                </a:solidFill>
                <a:latin typeface="Arial"/>
              </a:rPr>
              <a:t>The trade leans to two 3k modules; the telescope is designed alone, telecentric at the slit, with its cone bounded; the air gap stands; the paper's form is the seed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Two modules, not four.</a:t>
            </a:r>
            <a:r>
              <a:rPr sz="1200" b="0">
                <a:solidFill>
                  <a:srgbClr val="282828"/>
                </a:solidFill>
                <a:latin typeface="Arial"/>
              </a:rPr>
              <a:t>  Jim: four telescopes, spectrometers and detectors cost integration, test and calibration, not mass; detectors come as 2k × 2k and 3k × 0.5k, a 1.5k × 0.5k is NRE.  Materials are "almost always a tiny fraction of the instrument cost," so the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volume is not the discriminator.  The paper's own trade reached the same answer: two identical telescope + Dyson modules, each half of the 180 km swath.</a:t>
            </a:r>
          </a:p>
          <a:p>
            <a:pPr>
              <a:spcAft>
                <a:spcPts val="600"/>
              </a:spcAft>
            </a:pPr>
            <a:r>
              <a:rPr sz="1200" b="0">
                <a:solidFill>
                  <a:srgbClr val="282828"/>
                </a:solidFill>
                <a:latin typeface="Arial"/>
              </a:rPr>
              <a:t>•  </a:t>
            </a:r>
            <a:r>
              <a:rPr sz="1200" b="1">
                <a:solidFill>
                  <a:srgbClr val="282828"/>
                </a:solidFill>
                <a:latin typeface="Arial"/>
              </a:rPr>
              <a:t>The telescope, designed separately.</a:t>
            </a:r>
            <a:r>
              <a:rPr sz="1200" b="0">
                <a:solidFill>
                  <a:srgbClr val="282828"/>
                </a:solidFill>
                <a:latin typeface="Arial"/>
              </a:rPr>
              <a:t>  Jim: telescope and spectrometer each telecentric at the slit, the telescope a little faster than the spectrometer, and no rays at F/1.2.  The paper: the telescope optimized alone for uniform small spots along the slit under constraints on F/# anamorphicity, baffle clearance and working distance; then the Dyson added for end-to-end keystone and CRF.</a:t>
            </a:r>
          </a:p>
          <a:p>
            <a:pPr>
              <a:spcAft>
                <a:spcPts val="600"/>
              </a:spcAft>
            </a:pPr>
            <a:r>
              <a:rPr sz="1200" b="0">
                <a:solidFill>
                  <a:srgbClr val="282828"/>
                </a:solidFill>
                <a:latin typeface="Arial"/>
              </a:rPr>
              <a:t>•  </a:t>
            </a:r>
            <a:r>
              <a:rPr sz="1200" b="1">
                <a:solidFill>
                  <a:srgbClr val="282828"/>
                </a:solidFill>
                <a:latin typeface="Arial"/>
              </a:rPr>
              <a:t>The window is an order-sorting filter</a:t>
            </a:r>
            <a:r>
              <a:rPr sz="1200" b="0">
                <a:solidFill>
                  <a:srgbClr val="282828"/>
                </a:solidFill>
                <a:latin typeface="Arial"/>
              </a:rPr>
              <a:t> and cannot be bonded to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(CTE); fused silica to silica has a bad bonding history.  Six crossings, 0.81 uncoated, is the baseline.</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paper's telescope</a:t>
            </a:r>
            <a:r>
              <a:rPr sz="1200" b="0">
                <a:solidFill>
                  <a:srgbClr val="282828"/>
                </a:solidFill>
                <a:latin typeface="Arial"/>
              </a:rPr>
              <a:t> is a freeform TMA at f 345 mm, 192 mm, 8.9°, chosen over an even-asphere TMA for tolerance insensitivity, not nominal performance: spots 2–3 µm, "diffraction limited over most of the band," all aluminum at 280–300 K.</a:t>
            </a:r>
          </a:p>
          <a:p>
            <a:pPr>
              <a:spcAft>
                <a:spcPts val="600"/>
              </a:spcAft>
            </a:pPr>
            <a:r>
              <a:rPr sz="1200" b="0">
                <a:solidFill>
                  <a:srgbClr val="282828"/>
                </a:solidFill>
                <a:latin typeface="Arial"/>
              </a:rPr>
              <a:t>•  </a:t>
            </a:r>
            <a:r>
              <a:rPr sz="1200" b="1">
                <a:solidFill>
                  <a:srgbClr val="282828"/>
                </a:solidFill>
                <a:latin typeface="Arial"/>
              </a:rPr>
              <a:t>The paper's spectrometer</a:t>
            </a:r>
            <a:r>
              <a:rPr sz="1200" b="0">
                <a:solidFill>
                  <a:srgbClr val="282828"/>
                </a:solidFill>
                <a:latin typeface="Arial"/>
              </a:rPr>
              <a:t> is an aspheric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Dyson lens with a conic grating (their Option B), no corrector lens, at 240 K; smaller than the telescope.</a:t>
            </a:r>
          </a:p>
          <a:p>
            <a:pPr>
              <a:spcAft>
                <a:spcPts val="600"/>
              </a:spcAft>
            </a:pPr>
            <a:r>
              <a:rPr sz="1200" b="0">
                <a:solidFill>
                  <a:srgbClr val="282828"/>
                </a:solidFill>
                <a:latin typeface="Arial"/>
              </a:rPr>
              <a:t>•  </a:t>
            </a:r>
            <a:r>
              <a:rPr sz="1200" b="1">
                <a:solidFill>
                  <a:srgbClr val="282828"/>
                </a:solidFill>
                <a:latin typeface="Arial"/>
              </a:rPr>
              <a:t>The Offner</a:t>
            </a:r>
            <a:r>
              <a:rPr sz="1200" b="0">
                <a:solidFill>
                  <a:srgbClr val="282828"/>
                </a:solidFill>
                <a:latin typeface="Arial"/>
              </a:rPr>
              <a:t> does not go much below F/3 at reasonable size (Jim), which confirms the F/1.8 Offner's exit in the last deck.</a:t>
            </a:r>
          </a:p>
          <a:p>
            <a:pPr>
              <a:spcAft>
                <a:spcPts val="600"/>
              </a:spcAft>
            </a:pPr>
            <a:r>
              <a:rPr sz="1200" b="0">
                <a:solidFill>
                  <a:srgbClr val="282828"/>
                </a:solidFill>
                <a:latin typeface="Arial"/>
              </a:rPr>
              <a:t>•  </a:t>
            </a:r>
            <a:r>
              <a:rPr sz="1200" b="1">
                <a:solidFill>
                  <a:srgbClr val="282828"/>
                </a:solidFill>
                <a:latin typeface="Arial"/>
              </a:rPr>
              <a:t>AR and blaze</a:t>
            </a:r>
            <a:r>
              <a:rPr sz="1200" b="0">
                <a:solidFill>
                  <a:srgbClr val="282828"/>
                </a:solidFill>
                <a:latin typeface="Arial"/>
              </a:rPr>
              <a:t> are tailored to the photon-starved long-wavelength end; throughput is a per-band number, not one figure.</a:t>
            </a:r>
          </a:p>
        </p:txBody>
      </p:sp>
      <p:sp>
        <p:nvSpPr>
          <p:cNvPr id="6" name="TextBox 5"/>
          <p:cNvSpPr txBox="1"/>
          <p:nvPr/>
        </p:nvSpPr>
        <p:spPr>
          <a:xfrm>
            <a:off x="6400800" y="4075176"/>
            <a:ext cx="5394960" cy="274320"/>
          </a:xfrm>
          <a:prstGeom prst="rect">
            <a:avLst/>
          </a:prstGeom>
          <a:noFill/>
        </p:spPr>
        <p:txBody>
          <a:bodyPr wrap="square">
            <a:spAutoFit/>
          </a:bodyPr>
          <a:lstStyle/>
          <a:p>
            <a:pPr>
              <a:spcAft>
                <a:spcPts val="600"/>
              </a:spcAft>
            </a:pPr>
            <a:r>
              <a:rPr sz="1050" b="0">
                <a:solidFill>
                  <a:srgbClr val="6E6E6E"/>
                </a:solidFill>
                <a:latin typeface="Arial"/>
              </a:rPr>
              <a:t>Jim's comments of 2026-10-07 in line on the 10-06 note; the paper's numbers on this slide are its Tables 1–3 and Figs. 1 and 4.  Recorded in BRIEF_to_dyson5.md addendum 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Two 3k modules fill the swath</a:t>
            </a:r>
          </a:p>
          <a:p>
            <a:pPr>
              <a:spcAft>
                <a:spcPts val="0"/>
              </a:spcAft>
            </a:pPr>
            <a:r>
              <a:rPr sz="1250" b="0">
                <a:solidFill>
                  <a:srgbClr val="6E6E6E"/>
                </a:solidFill>
                <a:latin typeface="Arial"/>
              </a:rPr>
              <a:t>Side by side across the track at a 324 mm pitch, each canted ±4.68° to its own strip: no body touches another and no body sits in the other's sky beam; the pair is 0.75 × 0.60 × 1.36 m, 609 L, with 39 kg of optics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block2_3k_views_rc.png"/>
          <p:cNvPicPr>
            <a:picLocks noChangeAspect="1"/>
          </p:cNvPicPr>
          <p:nvPr/>
        </p:nvPicPr>
        <p:blipFill>
          <a:blip r:embed="rId2"/>
          <a:stretch>
            <a:fillRect/>
          </a:stretch>
        </p:blipFill>
        <p:spPr>
          <a:xfrm>
            <a:off x="2889504" y="1051560"/>
            <a:ext cx="6419088" cy="3611880"/>
          </a:xfrm>
          <a:prstGeom prst="rect">
            <a:avLst/>
          </a:prstGeom>
        </p:spPr>
      </p:pic>
      <p:sp>
        <p:nvSpPr>
          <p:cNvPr id="5" name="TextBox 4"/>
          <p:cNvSpPr txBox="1"/>
          <p:nvPr/>
        </p:nvSpPr>
        <p:spPr>
          <a:xfrm>
            <a:off x="2889504" y="4681727"/>
            <a:ext cx="6419088" cy="559307"/>
          </a:xfrm>
          <a:prstGeom prst="rect">
            <a:avLst/>
          </a:prstGeom>
          <a:noFill/>
        </p:spPr>
        <p:txBody>
          <a:bodyPr wrap="square">
            <a:spAutoFit/>
          </a:bodyPr>
          <a:lstStyle/>
          <a:p>
            <a:pPr algn="ctr">
              <a:spcAft>
                <a:spcPts val="0"/>
              </a:spcAft>
            </a:pPr>
            <a:r>
              <a:rPr sz="1000" b="0">
                <a:solidFill>
                  <a:srgbClr val="6E6E6E"/>
                </a:solidFill>
                <a:latin typeface="Arial"/>
              </a:rPr>
              <a:t>The two modules as the engine traces them, each the 3k module of record moved rigidly: cants ±4.68° about the axis normal to the track and the line of sight.  Left: 3-D; right: looking along the cant axis, light entering from below.  The rays the grating stops are red.</a:t>
            </a:r>
          </a:p>
        </p:txBody>
      </p:sp>
      <p:graphicFrame>
        <p:nvGraphicFramePr>
          <p:cNvPr id="6" name="Table 5"/>
          <p:cNvGraphicFramePr>
            <a:graphicFrameLocks noGrp="1"/>
          </p:cNvGraphicFramePr>
          <p:nvPr/>
        </p:nvGraphicFramePr>
        <p:xfrm>
          <a:off x="411480" y="5349240"/>
          <a:ext cx="11368734" cy="1120140"/>
        </p:xfrm>
        <a:graphic>
          <a:graphicData uri="http://schemas.openxmlformats.org/drawingml/2006/table">
            <a:tbl>
              <a:tblPr firstRow="1" bandRow="1">
                <a:tableStyleId>{5C22544A-7EE6-4342-B048-85BDC9FD1C3A}</a:tableStyleId>
              </a:tblPr>
              <a:tblGrid>
                <a:gridCol w="2785716"/>
                <a:gridCol w="8583018"/>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value</a:t>
                      </a:r>
                    </a:p>
                  </a:txBody>
                  <a:tcPr marL="54864" marR="54864" marT="18288" marB="18288">
                    <a:solidFill>
                      <a:srgbClr val="1F4E79"/>
                    </a:solidFill>
                  </a:tcPr>
                </a:tc>
              </a:tr>
              <a:tr h="280035">
                <a:tc>
                  <a:txBody>
                    <a:bodyPr wrap="square"/>
                    <a:lstStyle/>
                    <a:p>
                      <a:r>
                        <a:rPr sz="1100" b="0">
                          <a:solidFill>
                            <a:srgbClr val="282828"/>
                          </a:solidFill>
                          <a:latin typeface="Arial"/>
                        </a:rPr>
                        <a:t>pitch across the track; worst margins</a:t>
                      </a:r>
                    </a:p>
                  </a:txBody>
                  <a:tcPr marL="54864" marR="54864" marT="18288" marB="18288">
                    <a:solidFill>
                      <a:srgbClr val="FFFFFF"/>
                    </a:solidFill>
                  </a:tcPr>
                </a:tc>
                <a:tc>
                  <a:txBody>
                    <a:bodyPr wrap="square"/>
                    <a:lstStyle/>
                    <a:p>
                      <a:r>
                        <a:rPr sz="1100" b="0">
                          <a:solidFill>
                            <a:srgbClr val="282828"/>
                          </a:solidFill>
                          <a:latin typeface="Arial"/>
                        </a:rPr>
                        <a:t>324 mm (module 319 mm + 20 mm gap, in 5 mm steps); body to body +24 mm, body in the other's 183 mm sky beam +36 mm</a:t>
                      </a:r>
                    </a:p>
                  </a:txBody>
                  <a:tcPr marL="54864" marR="54864" marT="18288" marB="18288">
                    <a:solidFill>
                      <a:srgbClr val="FFFFFF"/>
                    </a:solidFill>
                  </a:tcPr>
                </a:tc>
              </a:tr>
              <a:tr h="280035">
                <a:tc>
                  <a:txBody>
                    <a:bodyPr wrap="square"/>
                    <a:lstStyle/>
                    <a:p>
                      <a:r>
                        <a:rPr sz="1100" b="0">
                          <a:solidFill>
                            <a:srgbClr val="282828"/>
                          </a:solidFill>
                          <a:latin typeface="Arial"/>
                        </a:rPr>
                        <a:t>envelope of the pair</a:t>
                      </a:r>
                    </a:p>
                  </a:txBody>
                  <a:tcPr marL="54864" marR="54864" marT="18288" marB="18288">
                    <a:solidFill>
                      <a:srgbClr val="ECF1F6"/>
                    </a:solidFill>
                  </a:tcPr>
                </a:tc>
                <a:tc>
                  <a:txBody>
                    <a:bodyPr wrap="square"/>
                    <a:lstStyle/>
                    <a:p>
                      <a:r>
                        <a:rPr sz="1100" b="0">
                          <a:solidFill>
                            <a:srgbClr val="282828"/>
                          </a:solidFill>
                          <a:latin typeface="Arial"/>
                        </a:rPr>
                        <a:t>746 × 598 × 1363 mm, 609 L (the four 1.5k modules: 965 × 411 × 758 mm, 300 L)</a:t>
                      </a:r>
                    </a:p>
                  </a:txBody>
                  <a:tcPr marL="54864" marR="54864" marT="18288" marB="18288">
                    <a:solidFill>
                      <a:srgbClr val="ECF1F6"/>
                    </a:solidFill>
                  </a:tcPr>
                </a:tc>
              </a:tr>
              <a:tr h="280035">
                <a:tc>
                  <a:txBody>
                    <a:bodyPr wrap="square"/>
                    <a:lstStyle/>
                    <a:p>
                      <a:r>
                        <a:rPr sz="1100" b="0">
                          <a:solidFill>
                            <a:srgbClr val="282828"/>
                          </a:solidFill>
                          <a:latin typeface="Arial"/>
                        </a:rPr>
                        <a:t>optics per module; for the swath</a:t>
                      </a:r>
                    </a:p>
                  </a:txBody>
                  <a:tcPr marL="54864" marR="54864" marT="18288" marB="18288">
                    <a:solidFill>
                      <a:srgbClr val="FFFFFF"/>
                    </a:solidFill>
                  </a:tcPr>
                </a:tc>
                <a:tc>
                  <a:txBody>
                    <a:bodyPr wrap="square"/>
                    <a:lstStyle/>
                    <a:p>
                      <a:r>
                        <a:rPr sz="1100" b="0">
                          <a:solidFill>
                            <a:srgbClr val="282828"/>
                          </a:solidFill>
                          <a:latin typeface="Arial"/>
                        </a:rPr>
                        <a:t>19.5 kg (block 14.3, three mirrors 2.9, grating 2.3); 39.0 kg (the four 1.5k modules: 14.6 kg)</a:t>
                      </a:r>
                    </a:p>
                  </a:txBody>
                  <a:tcPr marL="54864" marR="54864" marT="18288" marB="18288">
                    <a:solidFill>
                      <a:srgbClr val="FFFFFF"/>
                    </a:solidFill>
                  </a:tcPr>
                </a:tc>
              </a:tr>
            </a:tbl>
          </a:graphicData>
        </a:graphic>
      </p:graphicFrame>
      <p:sp>
        <p:nvSpPr>
          <p:cNvPr id="7" name="TextBox 6"/>
          <p:cNvSpPr txBox="1"/>
          <p:nvPr/>
        </p:nvSpPr>
        <p:spPr>
          <a:xfrm>
            <a:off x="411480" y="6615683"/>
            <a:ext cx="11368735" cy="274320"/>
          </a:xfrm>
          <a:prstGeom prst="rect">
            <a:avLst/>
          </a:prstGeom>
          <a:noFill/>
        </p:spPr>
        <p:txBody>
          <a:bodyPr wrap="square">
            <a:spAutoFit/>
          </a:bodyPr>
          <a:lstStyle/>
          <a:p>
            <a:pPr>
              <a:spcAft>
                <a:spcPts val="600"/>
              </a:spcAft>
            </a:pPr>
            <a:r>
              <a:rPr sz="1050" b="0">
                <a:solidFill>
                  <a:srgbClr val="6E6E6E"/>
                </a:solidFill>
                <a:latin typeface="Arial"/>
              </a:rPr>
              <a:t>Bodies are the engine's surface hits + 5 mm aperture + 10 mm mount; mirrors and grating as 10 mm blanks (Zerodur, silica), the </a:t>
            </a:r>
            <a:r>
              <a:rPr sz="1050" b="0">
                <a:solidFill>
                  <a:srgbClr val="6E6E6E"/>
                </a:solidFill>
                <a:latin typeface="Arial"/>
              </a:rPr>
              <a:t>CaF</a:t>
            </a:r>
            <a:r>
              <a:rPr sz="1050" b="0" baseline="-25000">
                <a:solidFill>
                  <a:srgbClr val="6E6E6E"/>
                </a:solidFill>
                <a:latin typeface="Arial"/>
              </a:rPr>
              <a:t>2</a:t>
            </a:r>
            <a:r>
              <a:rPr sz="1050" b="0">
                <a:solidFill>
                  <a:srgbClr val="6E6E6E"/>
                </a:solidFill>
                <a:latin typeface="Arial"/>
              </a:rPr>
              <a:t> block from dyson5_jim_3a.txt.  Not included: structure, detectors and their cooling, electronics, baffles.  Each module's internal clearances are the record's by construction.  Record dyson5_block2_3k.txt; tool dyson5_block4.m (nmod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two strips on the ground, and the two focal planes</a:t>
            </a:r>
          </a:p>
          <a:p>
            <a:pPr>
              <a:spcAft>
                <a:spcPts val="0"/>
              </a:spcAft>
            </a:pPr>
            <a:r>
              <a:rPr sz="1250" b="0">
                <a:solidFill>
                  <a:srgbClr val="6E6E6E"/>
                </a:solidFill>
                <a:latin typeface="Arial"/>
              </a:rPr>
              <a:t>Each module's slit admits ±4.691°, 3000 pixels; canted ±4.68° the strips overlap by 10 pixels at the join and cover 18.7°, 181 km from 550 km, with no along-track offset; each detector holds its strip across 3000 spatial pixels and the band across 500</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block2_3k_swath_rc.png"/>
          <p:cNvPicPr>
            <a:picLocks noChangeAspect="1"/>
          </p:cNvPicPr>
          <p:nvPr/>
        </p:nvPicPr>
        <p:blipFill>
          <a:blip r:embed="rId2"/>
          <a:stretch>
            <a:fillRect/>
          </a:stretch>
        </p:blipFill>
        <p:spPr>
          <a:xfrm>
            <a:off x="2057400" y="1097280"/>
            <a:ext cx="8083296" cy="4206240"/>
          </a:xfrm>
          <a:prstGeom prst="rect">
            <a:avLst/>
          </a:prstGeom>
        </p:spPr>
      </p:pic>
      <p:sp>
        <p:nvSpPr>
          <p:cNvPr id="5" name="TextBox 4"/>
          <p:cNvSpPr txBox="1"/>
          <p:nvPr/>
        </p:nvSpPr>
        <p:spPr>
          <a:xfrm>
            <a:off x="2057400" y="5321807"/>
            <a:ext cx="8083296" cy="559307"/>
          </a:xfrm>
          <a:prstGeom prst="rect">
            <a:avLst/>
          </a:prstGeom>
          <a:noFill/>
        </p:spPr>
        <p:txBody>
          <a:bodyPr wrap="square">
            <a:spAutoFit/>
          </a:bodyPr>
          <a:lstStyle/>
          <a:p>
            <a:pPr algn="ctr">
              <a:spcAft>
                <a:spcPts val="0"/>
              </a:spcAft>
            </a:pPr>
            <a:r>
              <a:rPr sz="1000" b="0">
                <a:solidFill>
                  <a:srgbClr val="6E6E6E"/>
                </a:solidFill>
                <a:latin typeface="Arial"/>
              </a:rPr>
              <a:t>Top: the swath, cross-track angle across, ground distance from nadir in gray, the dark band the 10-pixel overlap, the arrow the along-track sweep.  Bottom: the two 3000 × 500 detectors under their strips, the lines the slit's image at the seven scored wavelengths from the engine's centroids (0.24 px/nm; 380 nm at +v, 2500 nm at −v; the image is inverted along the slit).</a:t>
            </a:r>
          </a:p>
        </p:txBody>
      </p:sp>
      <p:sp>
        <p:nvSpPr>
          <p:cNvPr id="6" name="TextBox 5"/>
          <p:cNvSpPr txBox="1"/>
          <p:nvPr/>
        </p:nvSpPr>
        <p:spPr>
          <a:xfrm>
            <a:off x="411480" y="5917691"/>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One join instead of three.</a:t>
            </a:r>
            <a:r>
              <a:rPr sz="1500" b="0">
                <a:solidFill>
                  <a:srgbClr val="282828"/>
                </a:solidFill>
                <a:latin typeface="Arial"/>
              </a:rPr>
              <a:t>  The telescope's plate scale puts 3000 pixels over 9.381°; abutting at 9.4° would leave a 6-pixel gap at the join, so the cants are set from the admitted strip for 10 pixels of overlap.  </a:t>
            </a:r>
            <a:r>
              <a:rPr sz="1500" b="1">
                <a:solidFill>
                  <a:srgbClr val="282828"/>
                </a:solidFill>
                <a:latin typeface="Arial"/>
              </a:rPr>
              <a:t>No along-track offset:</a:t>
            </a:r>
            <a:r>
              <a:rPr sz="1500" b="0">
                <a:solidFill>
                  <a:srgbClr val="282828"/>
                </a:solidFill>
                <a:latin typeface="Arial"/>
              </a:rPr>
              <a:t> the two lines of sight lie in one cross-track plane, so both strips image the same ground line at the same time.  </a:t>
            </a:r>
            <a:r>
              <a:rPr sz="1500" b="1">
                <a:solidFill>
                  <a:srgbClr val="282828"/>
                </a:solidFill>
                <a:latin typeface="Arial"/>
              </a:rPr>
              <a:t>Unique pixels:</a:t>
            </a:r>
            <a:r>
              <a:rPr sz="1500" b="0">
                <a:solidFill>
                  <a:srgbClr val="282828"/>
                </a:solidFill>
                <a:latin typeface="Arial"/>
              </a:rPr>
              <a:t> 5990 over 18.73°, 30.1 m per pixel at nadir.  The detector is the paper's 3072 × 512 format.</a:t>
            </a:r>
          </a:p>
        </p:txBody>
      </p:sp>
      <p:sp>
        <p:nvSpPr>
          <p:cNvPr id="7" name="TextBox 6"/>
          <p:cNvSpPr txBox="1"/>
          <p:nvPr/>
        </p:nvSpPr>
        <p:spPr>
          <a:xfrm>
            <a:off x="411480" y="7085075"/>
            <a:ext cx="11368735" cy="274320"/>
          </a:xfrm>
          <a:prstGeom prst="rect">
            <a:avLst/>
          </a:prstGeom>
          <a:noFill/>
        </p:spPr>
        <p:txBody>
          <a:bodyPr wrap="square">
            <a:spAutoFit/>
          </a:bodyPr>
          <a:lstStyle/>
          <a:p>
            <a:pPr>
              <a:spcAft>
                <a:spcPts val="600"/>
              </a:spcAft>
            </a:pPr>
            <a:r>
              <a:rPr sz="1050" b="0">
                <a:solidFill>
                  <a:srgbClr val="6E6E6E"/>
                </a:solidFill>
                <a:latin typeface="Arial"/>
              </a:rPr>
              <a:t>Record dyson5_block2_3k.txt (strip edges per module, overlap, swath); the admitted strip from dyson5_t5f_cprime_centroid_roll000.txt.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seed: the SBG form, first order</a:t>
            </a:r>
          </a:p>
          <a:p>
            <a:pPr>
              <a:spcAft>
                <a:spcPts val="0"/>
              </a:spcAft>
            </a:pPr>
            <a:r>
              <a:rPr sz="1250" b="0">
                <a:solidFill>
                  <a:srgbClr val="6E6E6E"/>
                </a:solidFill>
                <a:latin typeface="Arial"/>
              </a:rPr>
              <a:t>The paper's layout digitized and scaled to Joe's focal length; with the stop at M2 the first order is telecentric in closed form, has no intermediate focus, and gives 299 mm of working distance for the Dyson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cprime_3k_viewyz_rc.png"/>
          <p:cNvPicPr>
            <a:picLocks noChangeAspect="1"/>
          </p:cNvPicPr>
          <p:nvPr/>
        </p:nvPicPr>
        <p:blipFill>
          <a:blip r:embed="rId2"/>
          <a:stretch>
            <a:fillRect/>
          </a:stretch>
        </p:blipFill>
        <p:spPr>
          <a:xfrm>
            <a:off x="1637031" y="1298448"/>
            <a:ext cx="3355337" cy="3646932"/>
          </a:xfrm>
          <a:prstGeom prst="rect">
            <a:avLst/>
          </a:prstGeom>
        </p:spPr>
      </p:pic>
      <p:sp>
        <p:nvSpPr>
          <p:cNvPr id="5" name="TextBox 4"/>
          <p:cNvSpPr txBox="1"/>
          <p:nvPr/>
        </p:nvSpPr>
        <p:spPr>
          <a:xfrm>
            <a:off x="411480" y="4963667"/>
            <a:ext cx="5806440" cy="559307"/>
          </a:xfrm>
          <a:prstGeom prst="rect">
            <a:avLst/>
          </a:prstGeom>
          <a:noFill/>
        </p:spPr>
        <p:txBody>
          <a:bodyPr wrap="square">
            <a:spAutoFit/>
          </a:bodyPr>
          <a:lstStyle/>
          <a:p>
            <a:pPr algn="ctr">
              <a:spcAft>
                <a:spcPts val="0"/>
              </a:spcAft>
            </a:pPr>
            <a:r>
              <a:rPr sz="1000" b="0">
                <a:solidFill>
                  <a:srgbClr val="6E6E6E"/>
                </a:solidFill>
                <a:latin typeface="Arial"/>
              </a:rPr>
              <a:t>The telescope section as the engine traces it (meters): light enters from below; M1 (E1) at the right, M2 (E2) at the top, M3 (E3) at the left, the slit (E4) at the far left — a zig-zag, not a Korsch fold.</a:t>
            </a:r>
          </a:p>
        </p:txBody>
      </p:sp>
      <p:sp>
        <p:nvSpPr>
          <p:cNvPr id="6" name="TextBox 5"/>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seed:</a:t>
            </a:r>
            <a:r>
              <a:rPr sz="1200" b="0">
                <a:solidFill>
                  <a:srgbClr val="282828"/>
                </a:solidFill>
                <a:latin typeface="Arial"/>
              </a:rPr>
              <a:t> the paper's Fig. 4b, read off its 200 mm scale bar and scaled by 330/345 — legs M1→M2 258 mm, M2→M3 246 mm, M3→slit 300 mm; chief incidence 30°, 37°, 15°; M2 the small mirror at the stop.</a:t>
            </a:r>
          </a:p>
          <a:p>
            <a:pPr>
              <a:spcAft>
                <a:spcPts val="600"/>
              </a:spcAft>
            </a:pPr>
            <a:r>
              <a:rPr sz="1200" b="0">
                <a:solidFill>
                  <a:srgbClr val="282828"/>
                </a:solidFill>
                <a:latin typeface="Arial"/>
              </a:rPr>
              <a:t>•  </a:t>
            </a:r>
            <a:r>
              <a:rPr sz="1200" b="1">
                <a:solidFill>
                  <a:srgbClr val="282828"/>
                </a:solidFill>
                <a:latin typeface="Arial"/>
              </a:rPr>
              <a:t>Two facts the first order forces.</a:t>
            </a:r>
            <a:r>
              <a:rPr sz="1200" b="0">
                <a:solidFill>
                  <a:srgbClr val="282828"/>
                </a:solidFill>
                <a:latin typeface="Arial"/>
              </a:rPr>
              <a:t>  (1) </a:t>
            </a:r>
            <a:r>
              <a:rPr sz="1200" b="1">
                <a:solidFill>
                  <a:srgbClr val="282828"/>
                </a:solidFill>
                <a:latin typeface="Arial"/>
              </a:rPr>
              <a:t>A tilted sphere cannot do it:</a:t>
            </a:r>
            <a:r>
              <a:rPr sz="1200" b="0">
                <a:solidFill>
                  <a:srgbClr val="282828"/>
                </a:solidFill>
                <a:latin typeface="Arial"/>
              </a:rPr>
              <a:t> the legs are the same in and across the fold plane, so each mirror needs local radii at the chief with R_t / R_s = 1/cos² i (1.33, 1.57, 1.07); an off-axis conic section does this natively, and with the parent axis at the incidence angle all three are off-axis paraboloids — the seed.  (2) </a:t>
            </a:r>
            <a:r>
              <a:rPr sz="1200" b="1">
                <a:solidFill>
                  <a:srgbClr val="282828"/>
                </a:solidFill>
                <a:latin typeface="Arial"/>
              </a:rPr>
              <a:t>The stop at M2 makes telecentricity closed-form:</a:t>
            </a:r>
            <a:r>
              <a:rPr sz="1200" b="0">
                <a:solidFill>
                  <a:srgbClr val="282828"/>
                </a:solidFill>
                <a:latin typeface="Arial"/>
              </a:rPr>
              <a:t> M2 sits at M3's front focus.  M1 weak concave (f +1012 mm), M2 convex (−452), M3 f +246 = the M2→M3 leg; the marginal ray never crosses the axis between mirrors, so there is no intermediate image — the Korsch with a real M2–M3 focus cannot be telecentric with the stop at M2, and this family has no such focus.</a:t>
            </a:r>
          </a:p>
          <a:p>
            <a:pPr>
              <a:spcAft>
                <a:spcPts val="600"/>
              </a:spcAft>
            </a:pPr>
            <a:r>
              <a:rPr sz="1200" b="0">
                <a:solidFill>
                  <a:srgbClr val="282828"/>
                </a:solidFill>
                <a:latin typeface="Arial"/>
              </a:rPr>
              <a:t>•  </a:t>
            </a:r>
            <a:r>
              <a:rPr sz="1200" b="1">
                <a:solidFill>
                  <a:srgbClr val="282828"/>
                </a:solidFill>
                <a:latin typeface="Arial"/>
              </a:rPr>
              <a:t>In the engine, before any figure:</a:t>
            </a:r>
            <a:r>
              <a:rPr sz="1200" b="0">
                <a:solidFill>
                  <a:srgbClr val="282828"/>
                </a:solidFill>
                <a:latin typeface="Arial"/>
              </a:rPr>
              <a:t> chiefs within 0.093° of the slit normal over ±4.7°, plate scale 329.99 mm, every field admitted, M2 footprint 136 mm, clearance +10 mm, working distance 299 mm; not imaging (2 mm spots).</a:t>
            </a:r>
          </a:p>
        </p:txBody>
      </p:sp>
      <p:sp>
        <p:nvSpPr>
          <p:cNvPr id="7" name="TextBox 6"/>
          <p:cNvSpPr txBox="1"/>
          <p:nvPr/>
        </p:nvSpPr>
        <p:spPr>
          <a:xfrm>
            <a:off x="6400800" y="5321807"/>
            <a:ext cx="5394960" cy="274320"/>
          </a:xfrm>
          <a:prstGeom prst="rect">
            <a:avLst/>
          </a:prstGeom>
          <a:noFill/>
        </p:spPr>
        <p:txBody>
          <a:bodyPr wrap="square">
            <a:spAutoFit/>
          </a:bodyPr>
          <a:lstStyle/>
          <a:p>
            <a:pPr>
              <a:spcAft>
                <a:spcPts val="600"/>
              </a:spcAft>
            </a:pPr>
            <a:r>
              <a:rPr sz="1050" b="0">
                <a:solidFill>
                  <a:srgbClr val="6E6E6E"/>
                </a:solidFill>
                <a:latin typeface="Arial"/>
              </a:rPr>
              <a:t>Template templates/10_telescopes/tma_longslit/ (parameters, runner, demo, README, test); first order tls_first_order.txt; BRIEF_to_dyson5.md addendum 48.  Beams: 183 mm at M1, 136 at M2, 166 at M3.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telescope of record: freeform three-mirror, R9</a:t>
            </a:r>
          </a:p>
          <a:p>
            <a:pPr>
              <a:spcAft>
                <a:spcPts val="0"/>
              </a:spcAft>
            </a:pPr>
            <a:r>
              <a:rPr sz="1250" b="0">
                <a:solidFill>
                  <a:srgbClr val="6E6E6E"/>
                </a:solidFill>
                <a:latin typeface="Arial"/>
              </a:rPr>
              <a:t>Off-axis conic sections with a pole-frame polynomial of degree 3–6 on each mirror: FWHM 1.02 × 1.02 pixels at every field of the strip, chiefs within 0.033° of the slit normal, marginal rays between F/1.80 and F/1.89, clearance +12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2" cy="1680210"/>
        </p:xfrm>
        <a:graphic>
          <a:graphicData uri="http://schemas.openxmlformats.org/drawingml/2006/table">
            <a:tbl>
              <a:tblPr firstRow="1" bandRow="1">
                <a:tableStyleId>{5C22544A-7EE6-4342-B048-85BDC9FD1C3A}</a:tableStyleId>
              </a:tblPr>
              <a:tblGrid>
                <a:gridCol w="677606"/>
                <a:gridCol w="978765"/>
                <a:gridCol w="2484558"/>
                <a:gridCol w="1279923"/>
                <a:gridCol w="1806951"/>
                <a:gridCol w="1355213"/>
                <a:gridCol w="2785716"/>
              </a:tblGrid>
              <a:tr h="280035">
                <a:tc>
                  <a:txBody>
                    <a:bodyPr wrap="square"/>
                    <a:lstStyle/>
                    <a:p>
                      <a:r>
                        <a:rPr sz="1100" b="1">
                          <a:solidFill>
                            <a:srgbClr val="FFFFFF"/>
                          </a:solidFill>
                          <a:latin typeface="Arial"/>
                        </a:rPr>
                        <a:t>field (±)</a:t>
                      </a:r>
                    </a:p>
                  </a:txBody>
                  <a:tcPr marL="54864" marR="54864" marT="18288" marB="18288">
                    <a:solidFill>
                      <a:srgbClr val="1F4E79"/>
                    </a:solidFill>
                  </a:tcPr>
                </a:tc>
                <a:tc>
                  <a:txBody>
                    <a:bodyPr wrap="square"/>
                    <a:lstStyle/>
                    <a:p>
                      <a:r>
                        <a:rPr sz="1100" b="1">
                          <a:solidFill>
                            <a:srgbClr val="FFFFFF"/>
                          </a:solidFill>
                          <a:latin typeface="Arial"/>
                        </a:rPr>
                        <a:t>spot rms (µm)</a:t>
                      </a:r>
                    </a:p>
                  </a:txBody>
                  <a:tcPr marL="54864" marR="54864" marT="18288" marB="18288">
                    <a:solidFill>
                      <a:srgbClr val="1F4E79"/>
                    </a:solidFill>
                  </a:tcPr>
                </a:tc>
                <a:tc>
                  <a:txBody>
                    <a:bodyPr wrap="square"/>
                    <a:lstStyle/>
                    <a:p>
                      <a:r>
                        <a:rPr sz="1100" b="1">
                          <a:solidFill>
                            <a:srgbClr val="FFFFFF"/>
                          </a:solidFill>
                          <a:latin typeface="Arial"/>
                        </a:rPr>
                        <a:t>FWHM along / across the slit (px)</a:t>
                      </a:r>
                    </a:p>
                  </a:txBody>
                  <a:tcPr marL="54864" marR="54864" marT="18288" marB="18288">
                    <a:solidFill>
                      <a:srgbClr val="1F4E79"/>
                    </a:solidFill>
                  </a:tcPr>
                </a:tc>
                <a:tc>
                  <a:txBody>
                    <a:bodyPr wrap="square"/>
                    <a:lstStyle/>
                    <a:p>
                      <a:r>
                        <a:rPr sz="1100" b="1">
                          <a:solidFill>
                            <a:srgbClr val="FFFFFF"/>
                          </a:solidFill>
                          <a:latin typeface="Arial"/>
                        </a:rPr>
                        <a:t>energy in a pixel</a:t>
                      </a:r>
                    </a:p>
                  </a:txBody>
                  <a:tcPr marL="54864" marR="54864" marT="18288" marB="18288">
                    <a:solidFill>
                      <a:srgbClr val="1F4E79"/>
                    </a:solidFill>
                  </a:tcPr>
                </a:tc>
                <a:tc>
                  <a:txBody>
                    <a:bodyPr wrap="square"/>
                    <a:lstStyle/>
                    <a:p>
                      <a:r>
                        <a:rPr sz="1100" b="1">
                          <a:solidFill>
                            <a:srgbClr val="FFFFFF"/>
                          </a:solidFill>
                          <a:latin typeface="Arial"/>
                        </a:rPr>
                        <a:t>chief to the slit normal</a:t>
                      </a:r>
                    </a:p>
                  </a:txBody>
                  <a:tcPr marL="54864" marR="54864" marT="18288" marB="18288">
                    <a:solidFill>
                      <a:srgbClr val="1F4E79"/>
                    </a:solidFill>
                  </a:tcPr>
                </a:tc>
                <a:tc>
                  <a:txBody>
                    <a:bodyPr wrap="square"/>
                    <a:lstStyle/>
                    <a:p>
                      <a:r>
                        <a:rPr sz="1100" b="1">
                          <a:solidFill>
                            <a:srgbClr val="FFFFFF"/>
                          </a:solidFill>
                          <a:latin typeface="Arial"/>
                        </a:rPr>
                        <a:t>F/# along / across</a:t>
                      </a:r>
                    </a:p>
                  </a:txBody>
                  <a:tcPr marL="54864" marR="54864" marT="18288" marB="18288">
                    <a:solidFill>
                      <a:srgbClr val="1F4E79"/>
                    </a:solidFill>
                  </a:tcPr>
                </a:tc>
                <a:tc>
                  <a:txBody>
                    <a:bodyPr wrap="square"/>
                    <a:lstStyle/>
                    <a:p>
                      <a:r>
                        <a:rPr sz="1100" b="1">
                          <a:solidFill>
                            <a:srgbClr val="FFFFFF"/>
                          </a:solidFill>
                          <a:latin typeface="Arial"/>
                        </a:rPr>
                        <a:t>chief − centroid across the slit (µm)</a:t>
                      </a:r>
                    </a:p>
                  </a:txBody>
                  <a:tcPr marL="54864" marR="54864" marT="18288" marB="18288">
                    <a:solidFill>
                      <a:srgbClr val="1F4E79"/>
                    </a:solidFill>
                  </a:tcPr>
                </a:tc>
              </a:tr>
              <a:tr h="280035">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0.000°</a:t>
                      </a:r>
                    </a:p>
                  </a:txBody>
                  <a:tcPr marL="54864" marR="54864" marT="18288" marB="18288">
                    <a:solidFill>
                      <a:srgbClr val="FFFFFF"/>
                    </a:solidFill>
                  </a:tcPr>
                </a:tc>
                <a:tc>
                  <a:txBody>
                    <a:bodyPr wrap="square"/>
                    <a:lstStyle/>
                    <a:p>
                      <a:r>
                        <a:rPr sz="1100" b="0">
                          <a:solidFill>
                            <a:srgbClr val="282828"/>
                          </a:solidFill>
                          <a:latin typeface="Arial"/>
                        </a:rPr>
                        <a:t>1.894 / 1.806</a:t>
                      </a:r>
                    </a:p>
                  </a:txBody>
                  <a:tcPr marL="54864" marR="54864" marT="18288" marB="18288">
                    <a:solidFill>
                      <a:srgbClr val="FFFFFF"/>
                    </a:solidFill>
                  </a:tcPr>
                </a:tc>
                <a:tc>
                  <a:txBody>
                    <a:bodyPr wrap="square"/>
                    <a:lstStyle/>
                    <a:p>
                      <a:r>
                        <a:rPr sz="1100" b="0">
                          <a:solidFill>
                            <a:srgbClr val="282828"/>
                          </a:solidFill>
                          <a:latin typeface="Arial"/>
                        </a:rPr>
                        <a:t>0.00</a:t>
                      </a:r>
                    </a:p>
                  </a:txBody>
                  <a:tcPr marL="54864" marR="54864" marT="18288" marB="18288">
                    <a:solidFill>
                      <a:srgbClr val="FFFFFF"/>
                    </a:solidFill>
                  </a:tcPr>
                </a:tc>
              </a:tr>
              <a:tr h="280035">
                <a:tc>
                  <a:txBody>
                    <a:bodyPr wrap="square"/>
                    <a:lstStyle/>
                    <a:p>
                      <a:r>
                        <a:rPr sz="1100" b="0">
                          <a:solidFill>
                            <a:srgbClr val="282828"/>
                          </a:solidFill>
                          <a:latin typeface="Arial"/>
                        </a:rPr>
                        <a:t>1.175°</a:t>
                      </a:r>
                    </a:p>
                  </a:txBody>
                  <a:tcPr marL="54864" marR="54864" marT="18288" marB="18288">
                    <a:solidFill>
                      <a:srgbClr val="ECF1F6"/>
                    </a:solidFill>
                  </a:tcPr>
                </a:tc>
                <a:tc>
                  <a:txBody>
                    <a:bodyPr wrap="square"/>
                    <a:lstStyle/>
                    <a:p>
                      <a:r>
                        <a:rPr sz="1100" b="0">
                          <a:solidFill>
                            <a:srgbClr val="282828"/>
                          </a:solidFill>
                          <a:latin typeface="Arial"/>
                        </a:rPr>
                        <a:t>2.2</a:t>
                      </a:r>
                    </a:p>
                  </a:txBody>
                  <a:tcPr marL="54864" marR="54864" marT="18288" marB="18288">
                    <a:solidFill>
                      <a:srgbClr val="ECF1F6"/>
                    </a:solidFill>
                  </a:tcPr>
                </a:tc>
                <a:tc>
                  <a:txBody>
                    <a:bodyPr wrap="square"/>
                    <a:lstStyle/>
                    <a:p>
                      <a:r>
                        <a:rPr sz="1100" b="0">
                          <a:solidFill>
                            <a:srgbClr val="282828"/>
                          </a:solidFill>
                          <a:latin typeface="Arial"/>
                        </a:rPr>
                        <a:t>1.02 / 1.02</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0.002°</a:t>
                      </a:r>
                    </a:p>
                  </a:txBody>
                  <a:tcPr marL="54864" marR="54864" marT="18288" marB="18288">
                    <a:solidFill>
                      <a:srgbClr val="ECF1F6"/>
                    </a:solidFill>
                  </a:tcPr>
                </a:tc>
                <a:tc>
                  <a:txBody>
                    <a:bodyPr wrap="square"/>
                    <a:lstStyle/>
                    <a:p>
                      <a:r>
                        <a:rPr sz="1100" b="0">
                          <a:solidFill>
                            <a:srgbClr val="282828"/>
                          </a:solidFill>
                          <a:latin typeface="Arial"/>
                        </a:rPr>
                        <a:t>1.894 / 1.803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2.35°</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0.008°</a:t>
                      </a:r>
                    </a:p>
                  </a:txBody>
                  <a:tcPr marL="54864" marR="54864" marT="18288" marB="18288">
                    <a:solidFill>
                      <a:srgbClr val="FFFFFF"/>
                    </a:solidFill>
                  </a:tcPr>
                </a:tc>
                <a:tc>
                  <a:txBody>
                    <a:bodyPr wrap="square"/>
                    <a:lstStyle/>
                    <a:p>
                      <a:r>
                        <a:rPr sz="1100" b="0">
                          <a:solidFill>
                            <a:srgbClr val="282828"/>
                          </a:solidFill>
                          <a:latin typeface="Arial"/>
                        </a:rPr>
                        <a:t>1.893 / 1.801</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280035">
                <a:tc>
                  <a:txBody>
                    <a:bodyPr wrap="square"/>
                    <a:lstStyle/>
                    <a:p>
                      <a:r>
                        <a:rPr sz="1100" b="0">
                          <a:solidFill>
                            <a:srgbClr val="282828"/>
                          </a:solidFill>
                          <a:latin typeface="Arial"/>
                        </a:rPr>
                        <a:t>3.525°</a:t>
                      </a:r>
                    </a:p>
                  </a:txBody>
                  <a:tcPr marL="54864" marR="54864" marT="18288" marB="18288">
                    <a:solidFill>
                      <a:srgbClr val="ECF1F6"/>
                    </a:solidFill>
                  </a:tcPr>
                </a:tc>
                <a:tc>
                  <a:txBody>
                    <a:bodyPr wrap="square"/>
                    <a:lstStyle/>
                    <a:p>
                      <a:r>
                        <a:rPr sz="1100" b="0">
                          <a:solidFill>
                            <a:srgbClr val="282828"/>
                          </a:solidFill>
                          <a:latin typeface="Arial"/>
                        </a:rPr>
                        <a:t>2.0</a:t>
                      </a:r>
                    </a:p>
                  </a:txBody>
                  <a:tcPr marL="54864" marR="54864" marT="18288" marB="18288">
                    <a:solidFill>
                      <a:srgbClr val="ECF1F6"/>
                    </a:solidFill>
                  </a:tcPr>
                </a:tc>
                <a:tc>
                  <a:txBody>
                    <a:bodyPr wrap="square"/>
                    <a:lstStyle/>
                    <a:p>
                      <a:r>
                        <a:rPr sz="1100" b="0">
                          <a:solidFill>
                            <a:srgbClr val="282828"/>
                          </a:solidFill>
                          <a:latin typeface="Arial"/>
                        </a:rPr>
                        <a:t>1.02 / 1.02</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0.018°</a:t>
                      </a:r>
                    </a:p>
                  </a:txBody>
                  <a:tcPr marL="54864" marR="54864" marT="18288" marB="18288">
                    <a:solidFill>
                      <a:srgbClr val="ECF1F6"/>
                    </a:solidFill>
                  </a:tcPr>
                </a:tc>
                <a:tc>
                  <a:txBody>
                    <a:bodyPr wrap="square"/>
                    <a:lstStyle/>
                    <a:p>
                      <a:r>
                        <a:rPr sz="1100" b="0">
                          <a:solidFill>
                            <a:srgbClr val="282828"/>
                          </a:solidFill>
                          <a:latin typeface="Arial"/>
                        </a:rPr>
                        <a:t>1.892 / 1.798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4.7°</a:t>
                      </a:r>
                    </a:p>
                  </a:txBody>
                  <a:tcPr marL="54864" marR="54864" marT="18288" marB="18288">
                    <a:solidFill>
                      <a:srgbClr val="FFFFFF"/>
                    </a:solidFill>
                  </a:tcPr>
                </a:tc>
                <a:tc>
                  <a:txBody>
                    <a:bodyPr wrap="square"/>
                    <a:lstStyle/>
                    <a:p>
                      <a:r>
                        <a:rPr sz="1100" b="0">
                          <a:solidFill>
                            <a:srgbClr val="282828"/>
                          </a:solidFill>
                          <a:latin typeface="Arial"/>
                        </a:rPr>
                        <a:t>2.3</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0.033°</a:t>
                      </a:r>
                    </a:p>
                  </a:txBody>
                  <a:tcPr marL="54864" marR="54864" marT="18288" marB="18288">
                    <a:solidFill>
                      <a:srgbClr val="FFFFFF"/>
                    </a:solidFill>
                  </a:tcPr>
                </a:tc>
                <a:tc>
                  <a:txBody>
                    <a:bodyPr wrap="square"/>
                    <a:lstStyle/>
                    <a:p>
                      <a:r>
                        <a:rPr sz="1100" b="0">
                          <a:solidFill>
                            <a:srgbClr val="282828"/>
                          </a:solidFill>
                          <a:latin typeface="Arial"/>
                        </a:rPr>
                        <a:t>1.889 / 1.797</a:t>
                      </a:r>
                    </a:p>
                  </a:txBody>
                  <a:tcPr marL="54864" marR="54864" marT="18288" marB="18288">
                    <a:solidFill>
                      <a:srgbClr val="FFFFFF"/>
                    </a:solidFill>
                  </a:tcPr>
                </a:tc>
                <a:tc>
                  <a:txBody>
                    <a:bodyPr wrap="square"/>
                    <a:lstStyle/>
                    <a:p>
                      <a:r>
                        <a:rPr sz="1100" b="0">
                          <a:solidFill>
                            <a:srgbClr val="282828"/>
                          </a:solidFill>
                          <a:latin typeface="Arial"/>
                        </a:rPr>
                        <a:t>0.03 (R7: 2.43)</a:t>
                      </a:r>
                    </a:p>
                  </a:txBody>
                  <a:tcPr marL="54864" marR="54864" marT="18288" marB="18288">
                    <a:solidFill>
                      <a:srgbClr val="FFFFFF"/>
                    </a:solidFill>
                  </a:tcPr>
                </a:tc>
              </a:tr>
            </a:tbl>
          </a:graphicData>
        </a:graphic>
      </p:graphicFrame>
      <p:sp>
        <p:nvSpPr>
          <p:cNvPr id="5" name="TextBox 4"/>
          <p:cNvSpPr txBox="1"/>
          <p:nvPr/>
        </p:nvSpPr>
        <p:spPr>
          <a:xfrm>
            <a:off x="411480" y="3124962"/>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Geometry:</a:t>
            </a:r>
            <a:r>
              <a:rPr sz="1200" b="0">
                <a:solidFill>
                  <a:srgbClr val="282828"/>
                </a:solidFill>
                <a:latin typeface="Arial"/>
              </a:rPr>
              <a:t> the seed's legs and incidences kept; the layout stays the form (unbounded, the incidence angles collapse to a coaxial train that self-obscures).  Plate scale 329.9 mm local, 330.1 along track.  Footprints M1 235 × 202, M2 132 × 166, M3 215 × 173 mm; freeform departure 0.46 / 0.55 / 1.11 mm P-V over the lit patch (the 1.5k asphere telescope: 2.1 mm on M1).  Clearance +12.1 mm; working distance 299.4 mm.</a:t>
            </a:r>
          </a:p>
          <a:p>
            <a:pPr>
              <a:spcAft>
                <a:spcPts val="600"/>
              </a:spcAft>
            </a:pPr>
            <a:r>
              <a:rPr sz="1200" b="0">
                <a:solidFill>
                  <a:srgbClr val="282828"/>
                </a:solidFill>
                <a:latin typeface="Arial"/>
              </a:rPr>
              <a:t>•  </a:t>
            </a:r>
            <a:r>
              <a:rPr sz="1200" b="1">
                <a:solidFill>
                  <a:srgbClr val="282828"/>
                </a:solidFill>
                <a:latin typeface="Arial"/>
              </a:rPr>
              <a:t>Figure:</a:t>
            </a:r>
            <a:r>
              <a:rPr sz="1200" b="0">
                <a:solidFill>
                  <a:srgbClr val="282828"/>
                </a:solidFill>
                <a:latin typeface="Arial"/>
              </a:rPr>
              <a:t> a pole-frame polynomial (Surface= Monomial, degree 3–6, even in x); degree ≥ 3 leaves value, slope and curvature at the pole untouched, so the first order survives the figure.  Even aspheres about the parent axis were the wrong basis on these sections (the poles sit 0.9–1.5 m off axis).</a:t>
            </a:r>
          </a:p>
        </p:txBody>
      </p:sp>
      <p:sp>
        <p:nvSpPr>
          <p:cNvPr id="6" name="TextBox 5"/>
          <p:cNvSpPr txBox="1"/>
          <p:nvPr/>
        </p:nvSpPr>
        <p:spPr>
          <a:xfrm>
            <a:off x="6400800" y="312496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constraint rows that make it a long-slit front end, in every rung:</a:t>
            </a:r>
            <a:r>
              <a:rPr sz="1200" b="0">
                <a:solidFill>
                  <a:srgbClr val="282828"/>
                </a:solidFill>
                <a:latin typeface="Arial"/>
              </a:rPr>
              <a:t> the chief angle to the slit normal per field (telecentric); a hinge on the marginal rays' F/# at the slit, along and across, outside [1.7, 1.8] (the paper's F/# anamorphicity); and, in R9, the chief − centroid offset across the slit (slide 12).</a:t>
            </a:r>
          </a:p>
          <a:p>
            <a:pPr>
              <a:spcAft>
                <a:spcPts val="600"/>
              </a:spcAft>
            </a:pPr>
            <a:r>
              <a:rPr sz="1200" b="0">
                <a:solidFill>
                  <a:srgbClr val="282828"/>
                </a:solidFill>
                <a:latin typeface="Arial"/>
              </a:rPr>
              <a:t>•  </a:t>
            </a:r>
            <a:r>
              <a:rPr sz="1200" b="1">
                <a:solidFill>
                  <a:srgbClr val="282828"/>
                </a:solidFill>
                <a:latin typeface="Arial"/>
              </a:rPr>
              <a:t>Not done:</a:t>
            </a:r>
            <a:r>
              <a:rPr sz="1200" b="0">
                <a:solidFill>
                  <a:srgbClr val="282828"/>
                </a:solidFill>
                <a:latin typeface="Arial"/>
              </a:rPr>
              <a:t> no tolerancing, no coatings, no stray-light or mirror sizing beyond the footprints.</a:t>
            </a:r>
          </a:p>
        </p:txBody>
      </p:sp>
      <p:sp>
        <p:nvSpPr>
          <p:cNvPr id="7" name="TextBox 6"/>
          <p:cNvSpPr txBox="1"/>
          <p:nvPr/>
        </p:nvSpPr>
        <p:spPr>
          <a:xfrm>
            <a:off x="6400800" y="4828794"/>
            <a:ext cx="5394960" cy="274320"/>
          </a:xfrm>
          <a:prstGeom prst="rect">
            <a:avLst/>
          </a:prstGeom>
          <a:noFill/>
        </p:spPr>
        <p:txBody>
          <a:bodyPr wrap="square">
            <a:spAutoFit/>
          </a:bodyPr>
          <a:lstStyle/>
          <a:p>
            <a:pPr>
              <a:spcAft>
                <a:spcPts val="600"/>
              </a:spcAft>
            </a:pPr>
            <a:r>
              <a:rPr sz="1050" b="0">
                <a:solidFill>
                  <a:srgbClr val="6E6E6E"/>
                </a:solidFill>
                <a:latin typeface="Arial"/>
              </a:rPr>
              <a:t>Prescription challenges/dyson5/dyson5_cprime_3k.in (= tls_R9_ffo.in); engine numbers, model 256, nine fields over ±4.7°, mirror-symmetric.  The gate tTmaLongslit re-scores it by name.  REPORT_dyson5_cprime.md.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3k module, scored: spectrometer, telescope, and the two together</a:t>
            </a:r>
          </a:p>
          <a:p>
            <a:pPr>
              <a:spcAft>
                <a:spcPts val="0"/>
              </a:spcAft>
            </a:pPr>
            <a:r>
              <a:rPr sz="1250" b="0">
                <a:solidFill>
                  <a:srgbClr val="6E6E6E"/>
                </a:solidFill>
                <a:latin typeface="Arial"/>
              </a:rPr>
              <a:t>Both meet Joe's specification; together they image at the pixel over the strip; SRF is the two-pixel slit's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303395"/>
        </p:xfrm>
        <a:graphic>
          <a:graphicData uri="http://schemas.openxmlformats.org/drawingml/2006/table">
            <a:tbl>
              <a:tblPr firstRow="1" bandRow="1">
                <a:tableStyleId>{5C22544A-7EE6-4342-B048-85BDC9FD1C3A}</a:tableStyleId>
              </a:tblPr>
              <a:tblGrid>
                <a:gridCol w="2107692"/>
                <a:gridCol w="945388"/>
                <a:gridCol w="1962404"/>
                <a:gridCol w="1815214"/>
                <a:gridCol w="1767445"/>
                <a:gridCol w="2770590"/>
              </a:tblGrid>
              <a:tr h="468630">
                <a:tc>
                  <a:txBody>
                    <a:bodyPr wrap="square"/>
                    <a:lstStyle/>
                    <a:p>
                      <a:r>
                        <a:rPr sz="1100" b="1">
                          <a:solidFill>
                            <a:srgbClr val="FFFFFF"/>
                          </a:solidFill>
                          <a:latin typeface="Arial"/>
                        </a:rPr>
                        <a:t>criterion</a:t>
                      </a:r>
                    </a:p>
                  </a:txBody>
                  <a:tcPr marL="54864" marR="54864" marT="18288" marB="18288">
                    <a:solidFill>
                      <a:srgbClr val="1F4E79"/>
                    </a:solidFill>
                  </a:tcPr>
                </a:tc>
                <a:tc>
                  <a:txBody>
                    <a:bodyPr wrap="square"/>
                    <a:lstStyle/>
                    <a:p>
                      <a:r>
                        <a:rPr sz="1100" b="1">
                          <a:solidFill>
                            <a:srgbClr val="FFFFFF"/>
                          </a:solidFill>
                          <a:latin typeface="Arial"/>
                        </a:rPr>
                        <a:t>Joe</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spectrometer alone (240 mm </a:t>
                      </a:r>
                      <a:r>
                        <a:rPr sz="1100" b="1">
                          <a:solidFill>
                            <a:srgbClr val="FFFFFF"/>
                          </a:solidFill>
                          <a:latin typeface="Arial"/>
                        </a:rPr>
                        <a:t>CaF</a:t>
                      </a:r>
                      <a:r>
                        <a:rPr sz="1100" b="1" baseline="-25000">
                          <a:solidFill>
                            <a:srgbClr val="FFFFFF"/>
                          </a:solidFill>
                          <a:latin typeface="Arial"/>
                        </a:rPr>
                        <a:t>2</a:t>
                      </a:r>
                      <a:r>
                        <a:rPr sz="1100" b="1">
                          <a:solidFill>
                            <a:srgbClr val="FFFFFF"/>
                          </a:solidFill>
                          <a:latin typeface="Arial"/>
                        </a:rPr>
                        <a:t> Dyson)</a:t>
                      </a:r>
                    </a:p>
                  </a:txBody>
                  <a:tcPr marL="54864" marR="54864" marT="18288" marB="18288">
                    <a:solidFill>
                      <a:srgbClr val="1F4E79"/>
                    </a:solidFill>
                  </a:tcPr>
                </a:tc>
                <a:tc>
                  <a:txBody>
                    <a:bodyPr wrap="square"/>
                    <a:lstStyle/>
                    <a:p>
                      <a:r>
                        <a:rPr sz="1100" b="1">
                          <a:solidFill>
                            <a:srgbClr val="FFFFFF"/>
                          </a:solidFill>
                          <a:latin typeface="Arial"/>
                        </a:rPr>
                        <a:t>telescope alone (R9)</a:t>
                      </a:r>
                    </a:p>
                  </a:txBody>
                  <a:tcPr marL="54864" marR="54864" marT="18288" marB="18288">
                    <a:solidFill>
                      <a:srgbClr val="1F4E79"/>
                    </a:solidFill>
                  </a:tcPr>
                </a:tc>
                <a:tc>
                  <a:txBody>
                    <a:bodyPr wrap="square"/>
                    <a:lstStyle/>
                    <a:p>
                      <a:r>
                        <a:rPr sz="1100" b="1">
                          <a:solidFill>
                            <a:srgbClr val="FFFFFF"/>
                          </a:solidFill>
                          <a:latin typeface="Arial"/>
                        </a:rPr>
                        <a:t>together, end to end</a:t>
                      </a:r>
                    </a:p>
                  </a:txBody>
                  <a:tcPr marL="54864" marR="54864" marT="18288" marB="18288">
                    <a:solidFill>
                      <a:srgbClr val="1F4E79"/>
                    </a:solidFill>
                  </a:tcPr>
                </a:tc>
              </a:tr>
              <a:tr h="468630">
                <a:tc>
                  <a:txBody>
                    <a:bodyPr wrap="square"/>
                    <a:lstStyle/>
                    <a:p>
                      <a:r>
                        <a:rPr sz="1100" b="0">
                          <a:solidFill>
                            <a:srgbClr val="282828"/>
                          </a:solidFill>
                          <a:latin typeface="Arial"/>
                        </a:rPr>
                        <a:t>smile</a:t>
                      </a:r>
                    </a:p>
                  </a:txBody>
                  <a:tcPr marL="54864" marR="54864" marT="18288" marB="18288">
                    <a:solidFill>
                      <a:srgbClr val="FFFFFF"/>
                    </a:solidFill>
                  </a:tcPr>
                </a:tc>
                <a:tc>
                  <a:txBody>
                    <a:bodyPr wrap="square"/>
                    <a:lstStyle/>
                    <a:p>
                      <a:r>
                        <a:rPr sz="1100" b="0">
                          <a:solidFill>
                            <a:srgbClr val="282828"/>
                          </a:solidFill>
                          <a:latin typeface="Arial"/>
                        </a:rPr>
                        <a:t>&lt; 0.1 px</a:t>
                      </a:r>
                    </a:p>
                  </a:txBody>
                  <a:tcPr marL="54864" marR="54864" marT="18288" marB="18288">
                    <a:solidFill>
                      <a:srgbClr val="FFFFFF"/>
                    </a:solidFill>
                  </a:tcPr>
                </a:tc>
                <a:tc>
                  <a:txBody>
                    <a:bodyPr wrap="square"/>
                    <a:lstStyle/>
                    <a:p>
                      <a:r>
                        <a:rPr sz="1100" b="0">
                          <a:solidFill>
                            <a:srgbClr val="282828"/>
                          </a:solidFill>
                          <a:latin typeface="Arial"/>
                        </a:rPr>
                        <a:t>&lt; 1.8 µm (0.10 px)</a:t>
                      </a:r>
                    </a:p>
                  </a:txBody>
                  <a:tcPr marL="54864" marR="54864" marT="18288" marB="18288">
                    <a:solidFill>
                      <a:srgbClr val="FFFFFF"/>
                    </a:solidFill>
                  </a:tcPr>
                </a:tc>
                <a:tc>
                  <a:txBody>
                    <a:bodyPr wrap="square"/>
                    <a:lstStyle/>
                    <a:p>
                      <a:r>
                        <a:rPr sz="1100" b="0">
                          <a:solidFill>
                            <a:srgbClr val="282828"/>
                          </a:solidFill>
                          <a:latin typeface="Arial"/>
                        </a:rPr>
                        <a:t>0.005 px</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0.022 px slit-filled (0.4 µm); 0.016 px point-source shift</a:t>
                      </a:r>
                    </a:p>
                  </a:txBody>
                  <a:tcPr marL="54864" marR="54864" marT="18288" marB="18288">
                    <a:solidFill>
                      <a:srgbClr val="FFFFFF"/>
                    </a:solidFill>
                  </a:tcPr>
                </a:tc>
              </a:tr>
              <a:tr h="280035">
                <a:tc>
                  <a:txBody>
                    <a:bodyPr wrap="square"/>
                    <a:lstStyle/>
                    <a:p>
                      <a:r>
                        <a:rPr sz="1100" b="0">
                          <a:solidFill>
                            <a:srgbClr val="282828"/>
                          </a:solidFill>
                          <a:latin typeface="Arial"/>
                        </a:rPr>
                        <a:t>keystone</a:t>
                      </a:r>
                    </a:p>
                  </a:txBody>
                  <a:tcPr marL="54864" marR="54864" marT="18288" marB="18288">
                    <a:solidFill>
                      <a:srgbClr val="ECF1F6"/>
                    </a:solidFill>
                  </a:tcPr>
                </a:tc>
                <a:tc>
                  <a:txBody>
                    <a:bodyPr wrap="square"/>
                    <a:lstStyle/>
                    <a:p>
                      <a:r>
                        <a:rPr sz="1100" b="0">
                          <a:solidFill>
                            <a:srgbClr val="282828"/>
                          </a:solidFill>
                          <a:latin typeface="Arial"/>
                        </a:rPr>
                        <a:t>&lt; 0.1 px</a:t>
                      </a:r>
                    </a:p>
                  </a:txBody>
                  <a:tcPr marL="54864" marR="54864" marT="18288" marB="18288">
                    <a:solidFill>
                      <a:srgbClr val="ECF1F6"/>
                    </a:solidFill>
                  </a:tcPr>
                </a:tc>
                <a:tc>
                  <a:txBody>
                    <a:bodyPr wrap="square"/>
                    <a:lstStyle/>
                    <a:p>
                      <a:r>
                        <a:rPr sz="1100" b="0">
                          <a:solidFill>
                            <a:srgbClr val="282828"/>
                          </a:solidFill>
                          <a:latin typeface="Arial"/>
                        </a:rPr>
                        <a:t>&lt; 1.8 µm (0.10 px)</a:t>
                      </a:r>
                    </a:p>
                  </a:txBody>
                  <a:tcPr marL="54864" marR="54864" marT="18288" marB="18288">
                    <a:solidFill>
                      <a:srgbClr val="ECF1F6"/>
                    </a:solidFill>
                  </a:tcPr>
                </a:tc>
                <a:tc>
                  <a:txBody>
                    <a:bodyPr wrap="square"/>
                    <a:lstStyle/>
                    <a:p>
                      <a:r>
                        <a:rPr sz="1100" b="0">
                          <a:solidFill>
                            <a:srgbClr val="282828"/>
                          </a:solidFill>
                          <a:latin typeface="Arial"/>
                        </a:rPr>
                        <a:t>0.006 px</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0.006 px (0.1 µm)</a:t>
                      </a:r>
                    </a:p>
                  </a:txBody>
                  <a:tcPr marL="54864" marR="54864" marT="18288" marB="18288">
                    <a:solidFill>
                      <a:srgbClr val="ECF1F6"/>
                    </a:solidFill>
                  </a:tcPr>
                </a:tc>
              </a:tr>
              <a:tr h="280035">
                <a:tc>
                  <a:txBody>
                    <a:bodyPr wrap="square"/>
                    <a:lstStyle/>
                    <a:p>
                      <a:r>
                        <a:rPr sz="1100" b="0">
                          <a:solidFill>
                            <a:srgbClr val="282828"/>
                          </a:solidFill>
                          <a:latin typeface="Arial"/>
                        </a:rPr>
                        <a:t>CRF FWHM</a:t>
                      </a:r>
                    </a:p>
                  </a:txBody>
                  <a:tcPr marL="54864" marR="54864" marT="18288" marB="18288">
                    <a:solidFill>
                      <a:srgbClr val="FFFFFF"/>
                    </a:solidFill>
                  </a:tcPr>
                </a:tc>
                <a:tc>
                  <a:txBody>
                    <a:bodyPr wrap="square"/>
                    <a:lstStyle/>
                    <a:p>
                      <a:r>
                        <a:rPr sz="1100" b="0">
                          <a:solidFill>
                            <a:srgbClr val="282828"/>
                          </a:solidFill>
                          <a:latin typeface="Arial"/>
                        </a:rPr>
                        <a:t>&lt; 1.5 px</a:t>
                      </a:r>
                    </a:p>
                  </a:txBody>
                  <a:tcPr marL="54864" marR="54864" marT="18288" marB="18288">
                    <a:solidFill>
                      <a:srgbClr val="FFFFFF"/>
                    </a:solidFill>
                  </a:tcPr>
                </a:tc>
                <a:tc>
                  <a:txBody>
                    <a:bodyPr wrap="square"/>
                    <a:lstStyle/>
                    <a:p>
                      <a:r>
                        <a:rPr sz="1100" b="0">
                          <a:solidFill>
                            <a:srgbClr val="282828"/>
                          </a:solidFill>
                          <a:latin typeface="Arial"/>
                        </a:rPr>
                        <a:t>&lt; 50.4 µm</a:t>
                      </a:r>
                    </a:p>
                  </a:txBody>
                  <a:tcPr marL="54864" marR="54864" marT="18288" marB="18288">
                    <a:solidFill>
                      <a:srgbClr val="FFFFFF"/>
                    </a:solidFill>
                  </a:tcPr>
                </a:tc>
                <a:tc>
                  <a:txBody>
                    <a:bodyPr wrap="square"/>
                    <a:lstStyle/>
                    <a:p>
                      <a:r>
                        <a:rPr sz="1100" b="0">
                          <a:solidFill>
                            <a:srgbClr val="282828"/>
                          </a:solidFill>
                          <a:latin typeface="Arial"/>
                        </a:rPr>
                        <a:t>1.21 px</a:t>
                      </a:r>
                    </a:p>
                  </a:txBody>
                  <a:tcPr marL="54864" marR="54864" marT="18288" marB="18288">
                    <a:solidFill>
                      <a:srgbClr val="FFFFFF"/>
                    </a:solidFill>
                  </a:tcPr>
                </a:tc>
                <a:tc>
                  <a:txBody>
                    <a:bodyPr wrap="square"/>
                    <a:lstStyle/>
                    <a:p>
                      <a:r>
                        <a:rPr sz="1100" b="0">
                          <a:solidFill>
                            <a:srgbClr val="282828"/>
                          </a:solidFill>
                          <a:latin typeface="Arial"/>
                        </a:rPr>
                        <a:t>1.02 px along the slit</a:t>
                      </a:r>
                    </a:p>
                  </a:txBody>
                  <a:tcPr marL="54864" marR="54864" marT="18288" marB="18288">
                    <a:solidFill>
                      <a:srgbClr val="FFFFFF"/>
                    </a:solidFill>
                  </a:tcPr>
                </a:tc>
                <a:tc>
                  <a:txBody>
                    <a:bodyPr wrap="square"/>
                    <a:lstStyle/>
                    <a:p>
                      <a:r>
                        <a:rPr sz="1100" b="0">
                          <a:solidFill>
                            <a:srgbClr val="282828"/>
                          </a:solidFill>
                          <a:latin typeface="Arial"/>
                        </a:rPr>
                        <a:t>1.17 px (21 µm); 1.26 at roll 180°</a:t>
                      </a:r>
                    </a:p>
                  </a:txBody>
                  <a:tcPr marL="54864" marR="54864" marT="18288" marB="18288">
                    <a:solidFill>
                      <a:srgbClr val="FFFFFF"/>
                    </a:solidFill>
                  </a:tcPr>
                </a:tc>
              </a:tr>
              <a:tr h="468630">
                <a:tc>
                  <a:txBody>
                    <a:bodyPr wrap="square"/>
                    <a:lstStyle/>
                    <a:p>
                      <a:r>
                        <a:rPr sz="1100" b="0">
                          <a:solidFill>
                            <a:srgbClr val="282828"/>
                          </a:solidFill>
                          <a:latin typeface="Arial"/>
                        </a:rPr>
                        <a:t>SRF FWHM</a:t>
                      </a:r>
                    </a:p>
                  </a:txBody>
                  <a:tcPr marL="54864" marR="54864" marT="18288" marB="18288">
                    <a:solidFill>
                      <a:srgbClr val="ECF1F6"/>
                    </a:solidFill>
                  </a:tcPr>
                </a:tc>
                <a:tc>
                  <a:txBody>
                    <a:bodyPr wrap="square"/>
                    <a:lstStyle/>
                    <a:p>
                      <a:r>
                        <a:rPr sz="1100" b="0">
                          <a:solidFill>
                            <a:srgbClr val="282828"/>
                          </a:solidFill>
                          <a:latin typeface="Arial"/>
                        </a:rPr>
                        <a:t>1.5–2.0 px</a:t>
                      </a:r>
                    </a:p>
                  </a:txBody>
                  <a:tcPr marL="54864" marR="54864" marT="18288" marB="18288">
                    <a:solidFill>
                      <a:srgbClr val="ECF1F6"/>
                    </a:solidFill>
                  </a:tcPr>
                </a:tc>
                <a:tc>
                  <a:txBody>
                    <a:bodyPr wrap="square"/>
                    <a:lstStyle/>
                    <a:p>
                      <a:r>
                        <a:rPr sz="1100" b="0">
                          <a:solidFill>
                            <a:srgbClr val="282828"/>
                          </a:solidFill>
                          <a:latin typeface="Arial"/>
                        </a:rPr>
                        <a:t>&lt; 64.8 µm</a:t>
                      </a:r>
                    </a:p>
                  </a:txBody>
                  <a:tcPr marL="54864" marR="54864" marT="18288" marB="18288">
                    <a:solidFill>
                      <a:srgbClr val="ECF1F6"/>
                    </a:solidFill>
                  </a:tcPr>
                </a:tc>
                <a:tc>
                  <a:txBody>
                    <a:bodyPr wrap="square"/>
                    <a:lstStyle/>
                    <a:p>
                      <a:r>
                        <a:rPr sz="1100" b="0">
                          <a:solidFill>
                            <a:srgbClr val="282828"/>
                          </a:solidFill>
                          <a:latin typeface="Arial"/>
                        </a:rPr>
                        <a:t>2.024 px (2-px slit)</a:t>
                      </a:r>
                    </a:p>
                  </a:txBody>
                  <a:tcPr marL="54864" marR="54864" marT="18288" marB="18288">
                    <a:solidFill>
                      <a:srgbClr val="ECF1F6"/>
                    </a:solidFill>
                  </a:tcPr>
                </a:tc>
                <a:tc>
                  <a:txBody>
                    <a:bodyPr wrap="square"/>
                    <a:lstStyle/>
                    <a:p>
                      <a:r>
                        <a:rPr sz="1100" b="0">
                          <a:solidFill>
                            <a:srgbClr val="282828"/>
                          </a:solidFill>
                          <a:latin typeface="Arial"/>
                        </a:rPr>
                        <a:t>1.02 px across the slit (ARF 18.4 µm)</a:t>
                      </a:r>
                    </a:p>
                  </a:txBody>
                  <a:tcPr marL="54864" marR="54864" marT="18288" marB="18288">
                    <a:solidFill>
                      <a:srgbClr val="ECF1F6"/>
                    </a:solidFill>
                  </a:tcPr>
                </a:tc>
                <a:tc>
                  <a:txBody>
                    <a:bodyPr wrap="square"/>
                    <a:lstStyle/>
                    <a:p>
                      <a:r>
                        <a:rPr sz="1100" b="0">
                          <a:solidFill>
                            <a:srgbClr val="282828"/>
                          </a:solidFill>
                          <a:latin typeface="Arial"/>
                        </a:rPr>
                        <a:t>2.025 px (36.5 µm)</a:t>
                      </a:r>
                    </a:p>
                  </a:txBody>
                  <a:tcPr marL="54864" marR="54864" marT="18288" marB="18288">
                    <a:solidFill>
                      <a:srgbClr val="ECF1F6"/>
                    </a:solidFill>
                  </a:tcPr>
                </a:tc>
              </a:tr>
              <a:tr h="280035">
                <a:tc>
                  <a:txBody>
                    <a:bodyPr wrap="square"/>
                    <a:lstStyle/>
                    <a:p>
                      <a:r>
                        <a:rPr sz="1100" b="0">
                          <a:solidFill>
                            <a:srgbClr val="282828"/>
                          </a:solidFill>
                          <a:latin typeface="Arial"/>
                        </a:rPr>
                        <a:t>energy in one 18 µm pixel</a:t>
                      </a:r>
                    </a:p>
                  </a:txBody>
                  <a:tcPr marL="54864" marR="54864" marT="18288" marB="18288">
                    <a:solidFill>
                      <a:srgbClr val="FFFFFF"/>
                    </a:solidFill>
                  </a:tcPr>
                </a:tc>
                <a:tc>
                  <a:txBody>
                    <a:bodyPr wrap="square"/>
                    <a:lstStyle/>
                    <a:p>
                      <a:r>
                        <a:rPr sz="1100" b="0">
                          <a:solidFill>
                            <a:srgbClr val="282828"/>
                          </a:solidFill>
                          <a:latin typeface="Arial"/>
                        </a:rPr>
                        <a:t>&gt; 0.75</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0.85 (0.81 at roll 180°)</a:t>
                      </a:r>
                    </a:p>
                  </a:txBody>
                  <a:tcPr marL="54864" marR="54864" marT="18288" marB="18288">
                    <a:solidFill>
                      <a:srgbClr val="FFFFFF"/>
                    </a:solidFill>
                  </a:tcPr>
                </a:tc>
              </a:tr>
              <a:tr h="280035">
                <a:tc>
                  <a:txBody>
                    <a:bodyPr wrap="square"/>
                    <a:lstStyle/>
                    <a:p>
                      <a:r>
                        <a:rPr sz="1100" b="0">
                          <a:solidFill>
                            <a:srgbClr val="282828"/>
                          </a:solidFill>
                          <a:latin typeface="Arial"/>
                        </a:rPr>
                        <a:t>image blur (rms, as placed)</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2–3 µm (paper)</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1.8–2.5 µm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plate scale</a:t>
                      </a:r>
                    </a:p>
                  </a:txBody>
                  <a:tcPr marL="54864" marR="54864" marT="18288" marB="18288">
                    <a:solidFill>
                      <a:srgbClr val="FFFFFF"/>
                    </a:solidFill>
                  </a:tcPr>
                </a:tc>
                <a:tc>
                  <a:txBody>
                    <a:bodyPr wrap="square"/>
                    <a:lstStyle/>
                    <a:p>
                      <a:r>
                        <a:rPr sz="1100" b="0">
                          <a:solidFill>
                            <a:srgbClr val="282828"/>
                          </a:solidFill>
                          <a:latin typeface="Arial"/>
                        </a:rPr>
                        <a:t>330 mm</a:t>
                      </a:r>
                    </a:p>
                  </a:txBody>
                  <a:tcPr marL="54864" marR="54864" marT="18288" marB="18288">
                    <a:solidFill>
                      <a:srgbClr val="FFFFFF"/>
                    </a:solidFill>
                  </a:tcPr>
                </a:tc>
                <a:tc>
                  <a:txBody>
                    <a:bodyPr wrap="square"/>
                    <a:lstStyle/>
                    <a:p>
                      <a:r>
                        <a:rPr sz="1100" b="0">
                          <a:solidFill>
                            <a:srgbClr val="282828"/>
                          </a:solidFill>
                          <a:latin typeface="Arial"/>
                        </a:rPr>
                        <a:t>345</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329.9 / 330.1 mm</a:t>
                      </a:r>
                    </a:p>
                  </a:txBody>
                  <a:tcPr marL="54864" marR="54864" marT="18288" marB="18288">
                    <a:solidFill>
                      <a:srgbClr val="FFFFFF"/>
                    </a:solidFill>
                  </a:tcPr>
                </a:tc>
                <a:tc>
                  <a:txBody>
                    <a:bodyPr wrap="square"/>
                    <a:lstStyle/>
                    <a:p>
                      <a:r>
                        <a:rPr sz="1100" b="0">
                          <a:solidFill>
                            <a:srgbClr val="282828"/>
                          </a:solidFill>
                          <a:latin typeface="Arial"/>
                        </a:rPr>
                        <a:t>330.1 mm</a:t>
                      </a:r>
                    </a:p>
                  </a:txBody>
                  <a:tcPr marL="54864" marR="54864" marT="18288" marB="18288">
                    <a:solidFill>
                      <a:srgbClr val="FFFFFF"/>
                    </a:solidFill>
                  </a:tcPr>
                </a:tc>
              </a:tr>
              <a:tr h="280035">
                <a:tc>
                  <a:txBody>
                    <a:bodyPr wrap="square"/>
                    <a:lstStyle/>
                    <a:p>
                      <a:r>
                        <a:rPr sz="1100" b="0">
                          <a:solidFill>
                            <a:srgbClr val="282828"/>
                          </a:solidFill>
                          <a:latin typeface="Arial"/>
                        </a:rPr>
                        <a:t>chief rays at the slit</a:t>
                      </a:r>
                    </a:p>
                  </a:txBody>
                  <a:tcPr marL="54864" marR="54864" marT="18288" marB="18288">
                    <a:solidFill>
                      <a:srgbClr val="ECF1F6"/>
                    </a:solidFill>
                  </a:tcPr>
                </a:tc>
                <a:tc>
                  <a:txBody>
                    <a:bodyPr wrap="square"/>
                    <a:lstStyle/>
                    <a:p>
                      <a:r>
                        <a:rPr sz="1100" b="0">
                          <a:solidFill>
                            <a:srgbClr val="282828"/>
                          </a:solidFill>
                          <a:latin typeface="Arial"/>
                        </a:rPr>
                        <a:t>telecentric</a:t>
                      </a:r>
                    </a:p>
                  </a:txBody>
                  <a:tcPr marL="54864" marR="54864" marT="18288" marB="18288">
                    <a:solidFill>
                      <a:srgbClr val="ECF1F6"/>
                    </a:solidFill>
                  </a:tcPr>
                </a:tc>
                <a:tc>
                  <a:txBody>
                    <a:bodyPr wrap="square"/>
                    <a:lstStyle/>
                    <a:p>
                      <a:r>
                        <a:rPr sz="1100" b="0">
                          <a:solidFill>
                            <a:srgbClr val="282828"/>
                          </a:solidFill>
                          <a:latin typeface="Arial"/>
                        </a:rPr>
                        <a:t>telecentric</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within 0.033°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marginal rays at the slit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F/# anamorphicity bounded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F/1.80–1.89, none below 1.7</a:t>
                      </a:r>
                    </a:p>
                  </a:txBody>
                  <a:tcPr marL="54864" marR="54864" marT="18288" marB="18288">
                    <a:solidFill>
                      <a:srgbClr val="FFFFFF"/>
                    </a:solidFill>
                  </a:tcPr>
                </a:tc>
                <a:tc>
                  <a:txBody>
                    <a:bodyPr wrap="square"/>
                    <a:lstStyle/>
                    <a:p>
                      <a:r>
                        <a:rPr sz="1100" b="0">
                          <a:solidFill>
                            <a:srgbClr val="282828"/>
                          </a:solidFill>
                          <a:latin typeface="Arial"/>
                        </a:rPr>
                        <a:t>grating admits 98.9 %</a:t>
                      </a:r>
                    </a:p>
                  </a:txBody>
                  <a:tcPr marL="54864" marR="54864" marT="18288" marB="18288">
                    <a:solidFill>
                      <a:srgbClr val="FFFFFF"/>
                    </a:solidFill>
                  </a:tcPr>
                </a:tc>
              </a:tr>
              <a:tr h="468630">
                <a:tc>
                  <a:txBody>
                    <a:bodyPr wrap="square"/>
                    <a:lstStyle/>
                    <a:p>
                      <a:r>
                        <a:rPr sz="1100" b="0">
                          <a:solidFill>
                            <a:srgbClr val="282828"/>
                          </a:solidFill>
                          <a:latin typeface="Arial"/>
                        </a:rPr>
                        <a:t>clearance, worst pair</a:t>
                      </a:r>
                    </a:p>
                  </a:txBody>
                  <a:tcPr marL="54864" marR="54864" marT="18288" marB="18288">
                    <a:solidFill>
                      <a:srgbClr val="ECF1F6"/>
                    </a:solidFill>
                  </a:tcPr>
                </a:tc>
                <a:tc>
                  <a:txBody>
                    <a:bodyPr wrap="square"/>
                    <a:lstStyle/>
                    <a:p>
                      <a:r>
                        <a:rPr sz="1100" b="0">
                          <a:solidFill>
                            <a:srgbClr val="282828"/>
                          </a:solidFill>
                          <a:latin typeface="Arial"/>
                        </a:rPr>
                        <a:t>&gt; 0</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+0.54 mm (slit vs block face)</a:t>
                      </a:r>
                    </a:p>
                  </a:txBody>
                  <a:tcPr marL="54864" marR="54864" marT="18288" marB="18288">
                    <a:solidFill>
                      <a:srgbClr val="ECF1F6"/>
                    </a:solidFill>
                  </a:tcPr>
                </a:tc>
                <a:tc>
                  <a:txBody>
                    <a:bodyPr wrap="square"/>
                    <a:lstStyle/>
                    <a:p>
                      <a:r>
                        <a:rPr sz="1100" b="0">
                          <a:solidFill>
                            <a:srgbClr val="282828"/>
                          </a:solidFill>
                          <a:latin typeface="Arial"/>
                        </a:rPr>
                        <a:t>+12.1 mm</a:t>
                      </a:r>
                    </a:p>
                  </a:txBody>
                  <a:tcPr marL="54864" marR="54864" marT="18288" marB="18288">
                    <a:solidFill>
                      <a:srgbClr val="ECF1F6"/>
                    </a:solidFill>
                  </a:tcPr>
                </a:tc>
                <a:tc>
                  <a:txBody>
                    <a:bodyPr wrap="square"/>
                    <a:lstStyle/>
                    <a:p>
                      <a:r>
                        <a:rPr sz="1100" b="0">
                          <a:solidFill>
                            <a:srgbClr val="282828"/>
                          </a:solidFill>
                          <a:latin typeface="Arial"/>
                        </a:rPr>
                        <a:t>+0.6 mm (the spectrometer's pair)</a:t>
                      </a:r>
                    </a:p>
                  </a:txBody>
                  <a:tcPr marL="54864" marR="54864" marT="18288" marB="18288">
                    <a:solidFill>
                      <a:srgbClr val="ECF1F6"/>
                    </a:solidFill>
                  </a:tcPr>
                </a:tc>
              </a:tr>
              <a:tr h="280035">
                <a:tc>
                  <a:txBody>
                    <a:bodyPr wrap="square"/>
                    <a:lstStyle/>
                    <a:p>
                      <a:r>
                        <a:rPr sz="1100" b="0">
                          <a:solidFill>
                            <a:srgbClr val="282828"/>
                          </a:solidFill>
                          <a:latin typeface="Arial"/>
                        </a:rPr>
                        <a:t>glass, mass</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4.5 L, 14.3 kg</a:t>
                      </a:r>
                    </a:p>
                  </a:txBody>
                  <a:tcPr marL="54864" marR="54864" marT="18288" marB="18288">
                    <a:solidFill>
                      <a:srgbClr val="FFFFFF"/>
                    </a:solidFill>
                  </a:tcPr>
                </a:tc>
                <a:tc>
                  <a:txBody>
                    <a:bodyPr wrap="square"/>
                    <a:lstStyle/>
                    <a:p>
                      <a:r>
                        <a:rPr sz="1100" b="0">
                          <a:solidFill>
                            <a:srgbClr val="282828"/>
                          </a:solidFill>
                          <a:latin typeface="Arial"/>
                        </a:rPr>
                        <a:t>mirrors not yet sized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bl>
          </a:graphicData>
        </a:graphic>
      </p:graphicFrame>
      <p:sp>
        <p:nvSpPr>
          <p:cNvPr id="5" name="TextBox 4"/>
          <p:cNvSpPr txBox="1"/>
          <p:nvPr/>
        </p:nvSpPr>
        <p:spPr>
          <a:xfrm>
            <a:off x="411480" y="5748147"/>
            <a:ext cx="11368735" cy="274320"/>
          </a:xfrm>
          <a:prstGeom prst="rect">
            <a:avLst/>
          </a:prstGeom>
          <a:noFill/>
        </p:spPr>
        <p:txBody>
          <a:bodyPr wrap="square">
            <a:spAutoFit/>
          </a:bodyPr>
          <a:lstStyle/>
          <a:p>
            <a:pPr>
              <a:spcAft>
                <a:spcPts val="600"/>
              </a:spcAft>
            </a:pPr>
            <a:r>
              <a:rPr sz="1050" b="0">
                <a:solidFill>
                  <a:srgbClr val="6E6E6E"/>
                </a:solidFill>
                <a:latin typeface="Arial"/>
              </a:rPr>
              <a:t>Spectrometer: dyson5_jim_3a.txt (size:F:240); telescope: dyson5_cprime_3k.in, REPORT_dyson5_cprime.md; together: dyson5_t5f_cprime_centroid_roll000.txt / _roll180, _chief_roll000 (the point-source shift), 7 fields × 7 wavelengths.  No coatings, no tolerances in any column.  SRF 2.025 against a floor of 2.010–2.023 (slit, pixel, diffraction): the Dyson adds at most 0.0015 px, 0.03 µm.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3k module, end to end</a:t>
            </a:r>
          </a:p>
          <a:p>
            <a:pPr>
              <a:spcAft>
                <a:spcPts val="0"/>
              </a:spcAft>
            </a:pPr>
            <a:r>
              <a:rPr sz="1250" b="0">
                <a:solidFill>
                  <a:srgbClr val="6E6E6E"/>
                </a:solidFill>
                <a:latin typeface="Arial"/>
              </a:rPr>
              <a:t>The freeform telescope feeding the 240 mm </a:t>
            </a:r>
            <a:r>
              <a:rPr sz="1250" b="0">
                <a:solidFill>
                  <a:srgbClr val="6E6E6E"/>
                </a:solidFill>
                <a:latin typeface="Arial"/>
              </a:rPr>
              <a:t>CaF</a:t>
            </a:r>
            <a:r>
              <a:rPr sz="1250" b="0" baseline="-25000">
                <a:solidFill>
                  <a:srgbClr val="6E6E6E"/>
                </a:solidFill>
                <a:latin typeface="Arial"/>
              </a:rPr>
              <a:t>2</a:t>
            </a:r>
            <a:r>
              <a:rPr sz="1250" b="0">
                <a:solidFill>
                  <a:srgbClr val="6E6E6E"/>
                </a:solidFill>
                <a:latin typeface="Arial"/>
              </a:rPr>
              <a:t> Dyson: smile 0.02, keystone 0.006, CRF 1.17, SRF 2.025 px at every slit position and wavelength; 98.9 % of the light through the grating; clearance +0.6 mm, the Dyson's own slit-to-block-face margin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t5f_cprime_e2e_viewyz_rc.png"/>
          <p:cNvPicPr>
            <a:picLocks noChangeAspect="1"/>
          </p:cNvPicPr>
          <p:nvPr/>
        </p:nvPicPr>
        <p:blipFill>
          <a:blip r:embed="rId2"/>
          <a:stretch>
            <a:fillRect/>
          </a:stretch>
        </p:blipFill>
        <p:spPr>
          <a:xfrm>
            <a:off x="1934170" y="1298448"/>
            <a:ext cx="2761058" cy="3481831"/>
          </a:xfrm>
          <a:prstGeom prst="rect">
            <a:avLst/>
          </a:prstGeom>
        </p:spPr>
      </p:pic>
      <p:sp>
        <p:nvSpPr>
          <p:cNvPr id="5" name="TextBox 4"/>
          <p:cNvSpPr txBox="1"/>
          <p:nvPr/>
        </p:nvSpPr>
        <p:spPr>
          <a:xfrm>
            <a:off x="411480" y="4798567"/>
            <a:ext cx="5806440" cy="724408"/>
          </a:xfrm>
          <a:prstGeom prst="rect">
            <a:avLst/>
          </a:prstGeom>
          <a:noFill/>
        </p:spPr>
        <p:txBody>
          <a:bodyPr wrap="square">
            <a:spAutoFit/>
          </a:bodyPr>
          <a:lstStyle/>
          <a:p>
            <a:pPr algn="ctr">
              <a:spcAft>
                <a:spcPts val="0"/>
              </a:spcAft>
            </a:pPr>
            <a:r>
              <a:rPr sz="1000" b="0">
                <a:solidFill>
                  <a:srgbClr val="6E6E6E"/>
                </a:solidFill>
                <a:latin typeface="Arial"/>
              </a:rPr>
              <a:t>As the engine traces it (meters), the dispersion plane: the telescope's M1–M3 (E1–E3) below, the slit (E4) on the block's face at the origin, the 240 mm </a:t>
            </a:r>
            <a:r>
              <a:rPr sz="1000" b="0">
                <a:solidFill>
                  <a:srgbClr val="6E6E6E"/>
                </a:solidFill>
                <a:latin typeface="Arial"/>
              </a:rPr>
              <a:t>CaF</a:t>
            </a:r>
            <a:r>
              <a:rPr sz="1000" b="0" baseline="-25000">
                <a:solidFill>
                  <a:srgbClr val="6E6E6E"/>
                </a:solidFill>
                <a:latin typeface="Arial"/>
              </a:rPr>
              <a:t>2</a:t>
            </a:r>
            <a:r>
              <a:rPr sz="1000" b="0">
                <a:solidFill>
                  <a:srgbClr val="6E6E6E"/>
                </a:solidFill>
                <a:latin typeface="Arial"/>
              </a:rPr>
              <a:t> block, the grating (E7) at the top, the detector (E9) beside the slit.  The 1 % of rays the grating stops are drawn in red.</a:t>
            </a:r>
          </a:p>
        </p:txBody>
      </p:sp>
      <p:pic>
        <p:nvPicPr>
          <p:cNvPr id="6" name="Picture 5" descr="dyson5_t5f_cprime_centroid_roll000_maps_rc.png"/>
          <p:cNvPicPr>
            <a:picLocks noChangeAspect="1"/>
          </p:cNvPicPr>
          <p:nvPr/>
        </p:nvPicPr>
        <p:blipFill>
          <a:blip r:embed="rId3"/>
          <a:stretch>
            <a:fillRect/>
          </a:stretch>
        </p:blipFill>
        <p:spPr>
          <a:xfrm>
            <a:off x="7680120" y="1298448"/>
            <a:ext cx="2836319" cy="2549652"/>
          </a:xfrm>
          <a:prstGeom prst="rect">
            <a:avLst/>
          </a:prstGeom>
        </p:spPr>
      </p:pic>
      <p:sp>
        <p:nvSpPr>
          <p:cNvPr id="7" name="TextBox 6"/>
          <p:cNvSpPr txBox="1"/>
          <p:nvPr/>
        </p:nvSpPr>
        <p:spPr>
          <a:xfrm>
            <a:off x="6400800" y="3866387"/>
            <a:ext cx="5394960" cy="559307"/>
          </a:xfrm>
          <a:prstGeom prst="rect">
            <a:avLst/>
          </a:prstGeom>
          <a:noFill/>
        </p:spPr>
        <p:txBody>
          <a:bodyPr wrap="square">
            <a:spAutoFit/>
          </a:bodyPr>
          <a:lstStyle/>
          <a:p>
            <a:pPr algn="ctr">
              <a:spcAft>
                <a:spcPts val="0"/>
              </a:spcAft>
            </a:pPr>
            <a:r>
              <a:rPr sz="1000" b="0">
                <a:solidFill>
                  <a:srgbClr val="6E6E6E"/>
                </a:solidFill>
                <a:latin typeface="Arial"/>
              </a:rPr>
              <a:t>Per slit position and wavelength (7 × 7): field angle, keystone, smile, the two response widths and the energy in one pixel, uniform over the strip.  The runner's own figure.</a:t>
            </a:r>
          </a:p>
        </p:txBody>
      </p:sp>
      <p:sp>
        <p:nvSpPr>
          <p:cNvPr id="8" name="TextBox 7"/>
          <p:cNvSpPr txBox="1"/>
          <p:nvPr/>
        </p:nvSpPr>
        <p:spPr>
          <a:xfrm>
            <a:off x="6400800" y="446227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CRF 1.02 px at the inner fields and 1.17 at the strip ends; SRF 2.02 everywhere; smile 0.022 → 0.018 px from 380 to 2500 nm; keystone 0.006 px at the ends, 0 at the center.</a:t>
            </a:r>
            <a:r>
              <a:rPr sz="1200" b="0">
                <a:solidFill>
                  <a:srgbClr val="282828"/>
                </a:solidFill>
                <a:latin typeface="Arial"/>
              </a:rPr>
              <a:t>  Against the (c) solve of the last deck (smile 1.64, CRF 4.02, SRF 4.99, 4–10 % in a pixel), every line moved to the pixel.</a:t>
            </a:r>
          </a:p>
        </p:txBody>
      </p:sp>
      <p:sp>
        <p:nvSpPr>
          <p:cNvPr id="9" name="TextBox 8"/>
          <p:cNvSpPr txBox="1"/>
          <p:nvPr/>
        </p:nvSpPr>
        <p:spPr>
          <a:xfrm>
            <a:off x="6400800" y="5629655"/>
            <a:ext cx="5394960" cy="274320"/>
          </a:xfrm>
          <a:prstGeom prst="rect">
            <a:avLst/>
          </a:prstGeom>
          <a:noFill/>
        </p:spPr>
        <p:txBody>
          <a:bodyPr wrap="square">
            <a:spAutoFit/>
          </a:bodyPr>
          <a:lstStyle/>
          <a:p>
            <a:pPr>
              <a:spcAft>
                <a:spcPts val="600"/>
              </a:spcAft>
            </a:pPr>
            <a:r>
              <a:rPr sz="1050" b="0">
                <a:solidFill>
                  <a:srgbClr val="6E6E6E"/>
                </a:solidFill>
                <a:latin typeface="Arial"/>
              </a:rPr>
              <a:t>Record dyson5_t5f_cprime_centroid_roll000.txt (each field's centroid on the slit line); the chief-launched twin _chief_roll000.txt gives the point-source shift 0.016 px; roll 180° about the chief: CRF 1.26, energy 0.81, the rest unchanged.  Prescription dyson5_t5f_cprime_centroid_roll000_e2e.in (3 telescope + 8 slit/Dyson elements).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the solve got there: six rungs and three lessons</a:t>
            </a:r>
          </a:p>
          <a:p>
            <a:pPr>
              <a:spcAft>
                <a:spcPts val="0"/>
              </a:spcAft>
            </a:pPr>
            <a:r>
              <a:rPr sz="1250" b="0">
                <a:solidFill>
                  <a:srgbClr val="6E6E6E"/>
                </a:solidFill>
                <a:latin typeface="Arial"/>
              </a:rPr>
              <a:t>The merit decided every step: equal weights spent the budget on the strip center; a constraint set weighted below one percent of the merit is not a test; the last tenth of a pixel of "smile" was the launch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337435"/>
        </p:xfrm>
        <a:graphic>
          <a:graphicData uri="http://schemas.openxmlformats.org/drawingml/2006/table">
            <a:tbl>
              <a:tblPr firstRow="1" bandRow="1">
                <a:tableStyleId>{5C22544A-7EE6-4342-B048-85BDC9FD1C3A}</a:tableStyleId>
              </a:tblPr>
              <a:tblGrid>
                <a:gridCol w="436880"/>
                <a:gridCol w="4015602"/>
                <a:gridCol w="2190328"/>
                <a:gridCol w="2180336"/>
                <a:gridCol w="1090676"/>
                <a:gridCol w="727456"/>
                <a:gridCol w="727456"/>
              </a:tblGrid>
              <a:tr h="468630">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what changed</a:t>
                      </a:r>
                    </a:p>
                  </a:txBody>
                  <a:tcPr marL="54864" marR="54864" marT="18288" marB="18288">
                    <a:solidFill>
                      <a:srgbClr val="1F4E79"/>
                    </a:solidFill>
                  </a:tcPr>
                </a:tc>
                <a:tc>
                  <a:txBody>
                    <a:bodyPr wrap="square"/>
                    <a:lstStyle/>
                    <a:p>
                      <a:r>
                        <a:rPr sz="1100" b="1">
                          <a:solidFill>
                            <a:srgbClr val="FFFFFF"/>
                          </a:solidFill>
                          <a:latin typeface="Arial"/>
                        </a:rPr>
                        <a:t>outer-field FWHM along the slit (px)</a:t>
                      </a:r>
                    </a:p>
                  </a:txBody>
                  <a:tcPr marL="54864" marR="54864" marT="18288" marB="18288">
                    <a:solidFill>
                      <a:srgbClr val="1F4E79"/>
                    </a:solidFill>
                  </a:tcPr>
                </a:tc>
                <a:tc>
                  <a:txBody>
                    <a:bodyPr wrap="square"/>
                    <a:lstStyle/>
                    <a:p>
                      <a:r>
                        <a:rPr sz="1100" b="1">
                          <a:solidFill>
                            <a:srgbClr val="FFFFFF"/>
                          </a:solidFill>
                          <a:latin typeface="Arial"/>
                        </a:rPr>
                        <a:t>e2e smile, point-source (px)</a:t>
                      </a:r>
                    </a:p>
                  </a:txBody>
                  <a:tcPr marL="54864" marR="54864" marT="18288" marB="18288">
                    <a:solidFill>
                      <a:srgbClr val="1F4E79"/>
                    </a:solidFill>
                  </a:tcPr>
                </a:tc>
                <a:tc>
                  <a:txBody>
                    <a:bodyPr wrap="square"/>
                    <a:lstStyle/>
                    <a:p>
                      <a:r>
                        <a:rPr sz="1100" b="1">
                          <a:solidFill>
                            <a:srgbClr val="FFFFFF"/>
                          </a:solidFill>
                          <a:latin typeface="Arial"/>
                        </a:rPr>
                        <a:t>keystone (px)</a:t>
                      </a:r>
                    </a:p>
                  </a:txBody>
                  <a:tcPr marL="54864" marR="54864" marT="18288" marB="18288">
                    <a:solidFill>
                      <a:srgbClr val="1F4E79"/>
                    </a:solidFill>
                  </a:tcPr>
                </a:tc>
                <a:tc>
                  <a:txBody>
                    <a:bodyPr wrap="square"/>
                    <a:lstStyle/>
                    <a:p>
                      <a:r>
                        <a:rPr sz="1100" b="1">
                          <a:solidFill>
                            <a:srgbClr val="FFFFFF"/>
                          </a:solidFill>
                          <a:latin typeface="Arial"/>
                        </a:rPr>
                        <a:t>CRF (px)</a:t>
                      </a:r>
                    </a:p>
                  </a:txBody>
                  <a:tcPr marL="54864" marR="54864" marT="18288" marB="18288">
                    <a:solidFill>
                      <a:srgbClr val="1F4E79"/>
                    </a:solidFill>
                  </a:tcPr>
                </a:tc>
                <a:tc>
                  <a:txBody>
                    <a:bodyPr wrap="square"/>
                    <a:lstStyle/>
                    <a:p>
                      <a:r>
                        <a:rPr sz="1100" b="1">
                          <a:solidFill>
                            <a:srgbClr val="FFFFFF"/>
                          </a:solidFill>
                          <a:latin typeface="Arial"/>
                        </a:rPr>
                        <a:t>SRF (px)</a:t>
                      </a:r>
                    </a:p>
                  </a:txBody>
                  <a:tcPr marL="54864" marR="54864" marT="18288" marB="18288">
                    <a:solidFill>
                      <a:srgbClr val="1F4E79"/>
                    </a:solidFill>
                  </a:tcPr>
                </a:tc>
              </a:tr>
              <a:tr h="280035">
                <a:tc>
                  <a:txBody>
                    <a:bodyPr wrap="square"/>
                    <a:lstStyle/>
                    <a:p>
                      <a:r>
                        <a:rPr sz="1100" b="0">
                          <a:solidFill>
                            <a:srgbClr val="282828"/>
                          </a:solidFill>
                          <a:latin typeface="Arial"/>
                        </a:rPr>
                        <a:t>R4</a:t>
                      </a:r>
                    </a:p>
                  </a:txBody>
                  <a:tcPr marL="54864" marR="54864" marT="18288" marB="18288">
                    <a:solidFill>
                      <a:srgbClr val="FFFFFF"/>
                    </a:solidFill>
                  </a:tcPr>
                </a:tc>
                <a:tc>
                  <a:txBody>
                    <a:bodyPr wrap="square"/>
                    <a:lstStyle/>
                    <a:p>
                      <a:r>
                        <a:rPr sz="1100" b="0">
                          <a:solidFill>
                            <a:srgbClr val="282828"/>
                          </a:solidFill>
                          <a:latin typeface="Arial"/>
                        </a:rPr>
                        <a:t>conics + even aspheres on the seed layout</a:t>
                      </a:r>
                    </a:p>
                  </a:txBody>
                  <a:tcPr marL="54864" marR="54864" marT="18288" marB="18288">
                    <a:solidFill>
                      <a:srgbClr val="FFFFFF"/>
                    </a:solidFill>
                  </a:tcPr>
                </a:tc>
                <a:tc>
                  <a:txBody>
                    <a:bodyPr wrap="square"/>
                    <a:lstStyle/>
                    <a:p>
                      <a:r>
                        <a:rPr sz="1100" b="0">
                          <a:solidFill>
                            <a:srgbClr val="282828"/>
                          </a:solidFill>
                          <a:latin typeface="Arial"/>
                        </a:rPr>
                        <a:t>5–7</a:t>
                      </a:r>
                    </a:p>
                  </a:txBody>
                  <a:tcPr marL="54864" marR="54864" marT="18288" marB="18288">
                    <a:solidFill>
                      <a:srgbClr val="FFFFFF"/>
                    </a:solidFill>
                  </a:tcPr>
                </a:tc>
                <a:tc>
                  <a:txBody>
                    <a:bodyPr wrap="square"/>
                    <a:lstStyle/>
                    <a:p>
                      <a:r>
                        <a:rPr sz="1100" b="0">
                          <a:solidFill>
                            <a:srgbClr val="282828"/>
                          </a:solidFill>
                          <a:latin typeface="Arial"/>
                        </a:rPr>
                        <a:t>0.73</a:t>
                      </a:r>
                    </a:p>
                  </a:txBody>
                  <a:tcPr marL="54864" marR="54864" marT="18288" marB="18288">
                    <a:solidFill>
                      <a:srgbClr val="FFFFFF"/>
                    </a:solidFill>
                  </a:tcPr>
                </a:tc>
                <a:tc>
                  <a:txBody>
                    <a:bodyPr wrap="square"/>
                    <a:lstStyle/>
                    <a:p>
                      <a:r>
                        <a:rPr sz="1100" b="0">
                          <a:solidFill>
                            <a:srgbClr val="282828"/>
                          </a:solidFill>
                          <a:latin typeface="Arial"/>
                        </a:rPr>
                        <a:t>0.009</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c>
                  <a:txBody>
                    <a:bodyPr wrap="square"/>
                    <a:lstStyle/>
                    <a:p>
                      <a:r>
                        <a:rPr sz="1100" b="0">
                          <a:solidFill>
                            <a:srgbClr val="282828"/>
                          </a:solidFill>
                          <a:latin typeface="Arial"/>
                        </a:rPr>
                        <a:t>3.9</a:t>
                      </a:r>
                    </a:p>
                  </a:txBody>
                  <a:tcPr marL="54864" marR="54864" marT="18288" marB="18288">
                    <a:solidFill>
                      <a:srgbClr val="FFFFFF"/>
                    </a:solidFill>
                  </a:tcPr>
                </a:tc>
              </a:tr>
              <a:tr h="280035">
                <a:tc>
                  <a:txBody>
                    <a:bodyPr wrap="square"/>
                    <a:lstStyle/>
                    <a:p>
                      <a:r>
                        <a:rPr sz="1100" b="0">
                          <a:solidFill>
                            <a:srgbClr val="282828"/>
                          </a:solidFill>
                          <a:latin typeface="Arial"/>
                        </a:rPr>
                        <a:t>R5</a:t>
                      </a:r>
                    </a:p>
                  </a:txBody>
                  <a:tcPr marL="54864" marR="54864" marT="18288" marB="18288">
                    <a:solidFill>
                      <a:srgbClr val="ECF1F6"/>
                    </a:solidFill>
                  </a:tcPr>
                </a:tc>
                <a:tc>
                  <a:txBody>
                    <a:bodyPr wrap="square"/>
                    <a:lstStyle/>
                    <a:p>
                      <a:r>
                        <a:rPr sz="1100" b="0">
                          <a:solidFill>
                            <a:srgbClr val="282828"/>
                          </a:solidFill>
                          <a:latin typeface="Arial"/>
                        </a:rPr>
                        <a:t>pole-frame freeform, centroid-bow rows added</a:t>
                      </a:r>
                    </a:p>
                  </a:txBody>
                  <a:tcPr marL="54864" marR="54864" marT="18288" marB="18288">
                    <a:solidFill>
                      <a:srgbClr val="ECF1F6"/>
                    </a:solidFill>
                  </a:tcPr>
                </a:tc>
                <a:tc>
                  <a:txBody>
                    <a:bodyPr wrap="square"/>
                    <a:lstStyle/>
                    <a:p>
                      <a:r>
                        <a:rPr sz="1100" b="0">
                          <a:solidFill>
                            <a:srgbClr val="282828"/>
                          </a:solidFill>
                          <a:latin typeface="Arial"/>
                        </a:rPr>
                        <a:t>5–7</a:t>
                      </a:r>
                    </a:p>
                  </a:txBody>
                  <a:tcPr marL="54864" marR="54864" marT="18288" marB="18288">
                    <a:solidFill>
                      <a:srgbClr val="ECF1F6"/>
                    </a:solidFill>
                  </a:tcPr>
                </a:tc>
                <a:tc>
                  <a:txBody>
                    <a:bodyPr wrap="square"/>
                    <a:lstStyle/>
                    <a:p>
                      <a:r>
                        <a:rPr sz="1100" b="0">
                          <a:solidFill>
                            <a:srgbClr val="282828"/>
                          </a:solidFill>
                          <a:latin typeface="Arial"/>
                        </a:rPr>
                        <a:t>0.09</a:t>
                      </a:r>
                    </a:p>
                  </a:txBody>
                  <a:tcPr marL="54864" marR="54864" marT="18288" marB="18288">
                    <a:solidFill>
                      <a:srgbClr val="ECF1F6"/>
                    </a:solidFill>
                  </a:tcPr>
                </a:tc>
                <a:tc>
                  <a:txBody>
                    <a:bodyPr wrap="square"/>
                    <a:lstStyle/>
                    <a:p>
                      <a:r>
                        <a:rPr sz="1100" b="0">
                          <a:solidFill>
                            <a:srgbClr val="282828"/>
                          </a:solidFill>
                          <a:latin typeface="Arial"/>
                        </a:rPr>
                        <a:t>0.03</a:t>
                      </a:r>
                    </a:p>
                  </a:txBody>
                  <a:tcPr marL="54864" marR="54864" marT="18288" marB="18288">
                    <a:solidFill>
                      <a:srgbClr val="ECF1F6"/>
                    </a:solidFill>
                  </a:tcPr>
                </a:tc>
                <a:tc>
                  <a:txBody>
                    <a:bodyPr wrap="square"/>
                    <a:lstStyle/>
                    <a:p>
                      <a:r>
                        <a:rPr sz="1100" b="0">
                          <a:solidFill>
                            <a:srgbClr val="282828"/>
                          </a:solidFill>
                          <a:latin typeface="Arial"/>
                        </a:rPr>
                        <a:t>7.0</a:t>
                      </a:r>
                    </a:p>
                  </a:txBody>
                  <a:tcPr marL="54864" marR="54864" marT="18288" marB="18288">
                    <a:solidFill>
                      <a:srgbClr val="ECF1F6"/>
                    </a:solidFill>
                  </a:tcPr>
                </a:tc>
                <a:tc>
                  <a:txBody>
                    <a:bodyPr wrap="square"/>
                    <a:lstStyle/>
                    <a:p>
                      <a:r>
                        <a:rPr sz="1100" b="0">
                          <a:solidFill>
                            <a:srgbClr val="282828"/>
                          </a:solidFill>
                          <a:latin typeface="Arial"/>
                        </a:rPr>
                        <a:t>2.5</a:t>
                      </a:r>
                    </a:p>
                  </a:txBody>
                  <a:tcPr marL="54864" marR="54864" marT="18288" marB="18288">
                    <a:solidFill>
                      <a:srgbClr val="ECF1F6"/>
                    </a:solidFill>
                  </a:tcPr>
                </a:tc>
              </a:tr>
              <a:tr h="280035">
                <a:tc>
                  <a:txBody>
                    <a:bodyPr wrap="square"/>
                    <a:lstStyle/>
                    <a:p>
                      <a:r>
                        <a:rPr sz="1100" b="0">
                          <a:solidFill>
                            <a:srgbClr val="282828"/>
                          </a:solidFill>
                          <a:latin typeface="Arial"/>
                        </a:rPr>
                        <a:t>R6</a:t>
                      </a:r>
                    </a:p>
                  </a:txBody>
                  <a:tcPr marL="54864" marR="54864" marT="18288" marB="18288">
                    <a:solidFill>
                      <a:srgbClr val="FFFFFF"/>
                    </a:solidFill>
                  </a:tcPr>
                </a:tc>
                <a:tc>
                  <a:txBody>
                    <a:bodyPr wrap="square"/>
                    <a:lstStyle/>
                    <a:p>
                      <a:r>
                        <a:rPr sz="1100" b="0">
                          <a:solidFill>
                            <a:srgbClr val="282828"/>
                          </a:solidFill>
                          <a:latin typeface="Arial"/>
                        </a:rPr>
                        <a:t>R5 + 3000 more evaluations</a:t>
                      </a:r>
                    </a:p>
                  </a:txBody>
                  <a:tcPr marL="54864" marR="54864" marT="18288" marB="18288">
                    <a:solidFill>
                      <a:srgbClr val="FFFFFF"/>
                    </a:solidFill>
                  </a:tcPr>
                </a:tc>
                <a:tc>
                  <a:txBody>
                    <a:bodyPr wrap="square"/>
                    <a:lstStyle/>
                    <a:p>
                      <a:r>
                        <a:rPr sz="1100" b="0">
                          <a:solidFill>
                            <a:srgbClr val="282828"/>
                          </a:solidFill>
                          <a:latin typeface="Arial"/>
                        </a:rPr>
                        <a:t>5–7</a:t>
                      </a:r>
                    </a:p>
                  </a:txBody>
                  <a:tcPr marL="54864" marR="54864" marT="18288" marB="18288">
                    <a:solidFill>
                      <a:srgbClr val="FFFFFF"/>
                    </a:solidFill>
                  </a:tcPr>
                </a:tc>
                <a:tc>
                  <a:txBody>
                    <a:bodyPr wrap="square"/>
                    <a:lstStyle/>
                    <a:p>
                      <a:r>
                        <a:rPr sz="1100" b="0">
                          <a:solidFill>
                            <a:srgbClr val="282828"/>
                          </a:solidFill>
                          <a:latin typeface="Arial"/>
                        </a:rPr>
                        <a:t>0.15</a:t>
                      </a:r>
                    </a:p>
                  </a:txBody>
                  <a:tcPr marL="54864" marR="54864" marT="18288" marB="18288">
                    <a:solidFill>
                      <a:srgbClr val="FFFFFF"/>
                    </a:solidFill>
                  </a:tcPr>
                </a:tc>
                <a:tc>
                  <a:txBody>
                    <a:bodyPr wrap="square"/>
                    <a:lstStyle/>
                    <a:p>
                      <a:r>
                        <a:rPr sz="1100" b="0">
                          <a:solidFill>
                            <a:srgbClr val="282828"/>
                          </a:solidFill>
                          <a:latin typeface="Arial"/>
                        </a:rPr>
                        <a:t>0.04</a:t>
                      </a:r>
                    </a:p>
                  </a:txBody>
                  <a:tcPr marL="54864" marR="54864" marT="18288" marB="18288">
                    <a:solidFill>
                      <a:srgbClr val="FFFFFF"/>
                    </a:solidFill>
                  </a:tcPr>
                </a:tc>
                <a:tc>
                  <a:txBody>
                    <a:bodyPr wrap="square"/>
                    <a:lstStyle/>
                    <a:p>
                      <a:r>
                        <a:rPr sz="1100" b="0">
                          <a:solidFill>
                            <a:srgbClr val="282828"/>
                          </a:solidFill>
                          <a:latin typeface="Arial"/>
                        </a:rPr>
                        <a:t>7.2</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r>
              <a:tr h="468630">
                <a:tc>
                  <a:txBody>
                    <a:bodyPr wrap="square"/>
                    <a:lstStyle/>
                    <a:p>
                      <a:r>
                        <a:rPr sz="1100" b="0">
                          <a:solidFill>
                            <a:srgbClr val="282828"/>
                          </a:solidFill>
                          <a:latin typeface="Arial"/>
                        </a:rPr>
                        <a:t>R7</a:t>
                      </a:r>
                    </a:p>
                  </a:txBody>
                  <a:tcPr marL="54864" marR="54864" marT="18288" marB="18288">
                    <a:solidFill>
                      <a:srgbClr val="ECF1F6"/>
                    </a:solidFill>
                  </a:tcPr>
                </a:tc>
                <a:tc>
                  <a:txBody>
                    <a:bodyPr wrap="square"/>
                    <a:lstStyle/>
                    <a:p>
                      <a:r>
                        <a:rPr sz="1100" b="0">
                          <a:solidFill>
                            <a:srgbClr val="282828"/>
                          </a:solidFill>
                          <a:latin typeface="Arial"/>
                        </a:rPr>
                        <a:t>warm from R4: along-slit rows ×3, outer fields ×2–3, bow rows kept</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0.14</a:t>
                      </a:r>
                    </a:p>
                  </a:txBody>
                  <a:tcPr marL="54864" marR="54864" marT="18288" marB="18288">
                    <a:solidFill>
                      <a:srgbClr val="ECF1F6"/>
                    </a:solidFill>
                  </a:tcPr>
                </a:tc>
                <a:tc>
                  <a:txBody>
                    <a:bodyPr wrap="square"/>
                    <a:lstStyle/>
                    <a:p>
                      <a:r>
                        <a:rPr sz="1100" b="0">
                          <a:solidFill>
                            <a:srgbClr val="282828"/>
                          </a:solidFill>
                          <a:latin typeface="Arial"/>
                        </a:rPr>
                        <a:t>0.006</a:t>
                      </a:r>
                    </a:p>
                  </a:txBody>
                  <a:tcPr marL="54864" marR="54864" marT="18288" marB="18288">
                    <a:solidFill>
                      <a:srgbClr val="ECF1F6"/>
                    </a:solidFill>
                  </a:tcPr>
                </a:tc>
                <a:tc>
                  <a:txBody>
                    <a:bodyPr wrap="square"/>
                    <a:lstStyle/>
                    <a:p>
                      <a:r>
                        <a:rPr sz="1100" b="0">
                          <a:solidFill>
                            <a:srgbClr val="282828"/>
                          </a:solidFill>
                          <a:latin typeface="Arial"/>
                        </a:rPr>
                        <a:t>1.18</a:t>
                      </a:r>
                    </a:p>
                  </a:txBody>
                  <a:tcPr marL="54864" marR="54864" marT="18288" marB="18288">
                    <a:solidFill>
                      <a:srgbClr val="ECF1F6"/>
                    </a:solidFill>
                  </a:tcPr>
                </a:tc>
                <a:tc>
                  <a:txBody>
                    <a:bodyPr wrap="square"/>
                    <a:lstStyle/>
                    <a:p>
                      <a:r>
                        <a:rPr sz="1100" b="0">
                          <a:solidFill>
                            <a:srgbClr val="282828"/>
                          </a:solidFill>
                          <a:latin typeface="Arial"/>
                        </a:rPr>
                        <a:t>2.025</a:t>
                      </a:r>
                    </a:p>
                  </a:txBody>
                  <a:tcPr marL="54864" marR="54864" marT="18288" marB="18288">
                    <a:solidFill>
                      <a:srgbClr val="ECF1F6"/>
                    </a:solidFill>
                  </a:tcPr>
                </a:tc>
              </a:tr>
              <a:tr h="280035">
                <a:tc>
                  <a:txBody>
                    <a:bodyPr wrap="square"/>
                    <a:lstStyle/>
                    <a:p>
                      <a:r>
                        <a:rPr sz="1100" b="0">
                          <a:solidFill>
                            <a:srgbClr val="282828"/>
                          </a:solidFill>
                          <a:latin typeface="Arial"/>
                        </a:rPr>
                        <a:t>R8</a:t>
                      </a:r>
                    </a:p>
                  </a:txBody>
                  <a:tcPr marL="54864" marR="54864" marT="18288" marB="18288">
                    <a:solidFill>
                      <a:srgbClr val="FFFFFF"/>
                    </a:solidFill>
                  </a:tcPr>
                </a:tc>
                <a:tc>
                  <a:txBody>
                    <a:bodyPr wrap="square"/>
                    <a:lstStyle/>
                    <a:p>
                      <a:r>
                        <a:rPr sz="1100" b="0">
                          <a:solidFill>
                            <a:srgbClr val="282828"/>
                          </a:solidFill>
                          <a:latin typeface="Arial"/>
                        </a:rPr>
                        <a:t>R7 + telecentric rows ×30 (a test of the chief angle)</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0.14</a:t>
                      </a:r>
                    </a:p>
                  </a:txBody>
                  <a:tcPr marL="54864" marR="54864" marT="18288" marB="18288">
                    <a:solidFill>
                      <a:srgbClr val="FFFFFF"/>
                    </a:solidFill>
                  </a:tcPr>
                </a:tc>
                <a:tc>
                  <a:txBody>
                    <a:bodyPr wrap="square"/>
                    <a:lstStyle/>
                    <a:p>
                      <a:r>
                        <a:rPr sz="1100" b="0">
                          <a:solidFill>
                            <a:srgbClr val="282828"/>
                          </a:solidFill>
                          <a:latin typeface="Arial"/>
                        </a:rPr>
                        <a:t>0.005</a:t>
                      </a:r>
                    </a:p>
                  </a:txBody>
                  <a:tcPr marL="54864" marR="54864" marT="18288" marB="18288">
                    <a:solidFill>
                      <a:srgbClr val="FFFFFF"/>
                    </a:solidFill>
                  </a:tcPr>
                </a:tc>
                <a:tc>
                  <a:txBody>
                    <a:bodyPr wrap="square"/>
                    <a:lstStyle/>
                    <a:p>
                      <a:r>
                        <a:rPr sz="1100" b="0">
                          <a:solidFill>
                            <a:srgbClr val="282828"/>
                          </a:solidFill>
                          <a:latin typeface="Arial"/>
                        </a:rPr>
                        <a:t>1.18</a:t>
                      </a:r>
                    </a:p>
                  </a:txBody>
                  <a:tcPr marL="54864" marR="54864" marT="18288" marB="18288">
                    <a:solidFill>
                      <a:srgbClr val="FFFFFF"/>
                    </a:solidFill>
                  </a:tcPr>
                </a:tc>
                <a:tc>
                  <a:txBody>
                    <a:bodyPr wrap="square"/>
                    <a:lstStyle/>
                    <a:p>
                      <a:r>
                        <a:rPr sz="1100" b="0">
                          <a:solidFill>
                            <a:srgbClr val="282828"/>
                          </a:solidFill>
                          <a:latin typeface="Arial"/>
                        </a:rPr>
                        <a:t>2.025</a:t>
                      </a:r>
                    </a:p>
                  </a:txBody>
                  <a:tcPr marL="54864" marR="54864" marT="18288" marB="18288">
                    <a:solidFill>
                      <a:srgbClr val="FFFFFF"/>
                    </a:solidFill>
                  </a:tcPr>
                </a:tc>
              </a:tr>
              <a:tr h="280035">
                <a:tc>
                  <a:txBody>
                    <a:bodyPr wrap="square"/>
                    <a:lstStyle/>
                    <a:p>
                      <a:r>
                        <a:rPr sz="1100" b="0">
                          <a:solidFill>
                            <a:srgbClr val="282828"/>
                          </a:solidFill>
                          <a:latin typeface="Arial"/>
                        </a:rPr>
                        <a:t>R9</a:t>
                      </a:r>
                    </a:p>
                  </a:txBody>
                  <a:tcPr marL="54864" marR="54864" marT="18288" marB="18288">
                    <a:solidFill>
                      <a:srgbClr val="ECF1F6"/>
                    </a:solidFill>
                  </a:tcPr>
                </a:tc>
                <a:tc>
                  <a:txBody>
                    <a:bodyPr wrap="square"/>
                    <a:lstStyle/>
                    <a:p>
                      <a:r>
                        <a:rPr sz="1100" b="0">
                          <a:solidFill>
                            <a:srgbClr val="282828"/>
                          </a:solidFill>
                          <a:latin typeface="Arial"/>
                        </a:rPr>
                        <a:t>R7 + chief − centroid rows across the slit ×1000</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0.016</a:t>
                      </a:r>
                    </a:p>
                  </a:txBody>
                  <a:tcPr marL="54864" marR="54864" marT="18288" marB="18288">
                    <a:solidFill>
                      <a:srgbClr val="ECF1F6"/>
                    </a:solidFill>
                  </a:tcPr>
                </a:tc>
                <a:tc>
                  <a:txBody>
                    <a:bodyPr wrap="square"/>
                    <a:lstStyle/>
                    <a:p>
                      <a:r>
                        <a:rPr sz="1100" b="0">
                          <a:solidFill>
                            <a:srgbClr val="282828"/>
                          </a:solidFill>
                          <a:latin typeface="Arial"/>
                        </a:rPr>
                        <a:t>0.006</a:t>
                      </a:r>
                    </a:p>
                  </a:txBody>
                  <a:tcPr marL="54864" marR="54864" marT="18288" marB="18288">
                    <a:solidFill>
                      <a:srgbClr val="ECF1F6"/>
                    </a:solidFill>
                  </a:tcPr>
                </a:tc>
                <a:tc>
                  <a:txBody>
                    <a:bodyPr wrap="square"/>
                    <a:lstStyle/>
                    <a:p>
                      <a:r>
                        <a:rPr sz="1100" b="0">
                          <a:solidFill>
                            <a:srgbClr val="282828"/>
                          </a:solidFill>
                          <a:latin typeface="Arial"/>
                        </a:rPr>
                        <a:t>1.17</a:t>
                      </a:r>
                    </a:p>
                  </a:txBody>
                  <a:tcPr marL="54864" marR="54864" marT="18288" marB="18288">
                    <a:solidFill>
                      <a:srgbClr val="ECF1F6"/>
                    </a:solidFill>
                  </a:tcPr>
                </a:tc>
                <a:tc>
                  <a:txBody>
                    <a:bodyPr wrap="square"/>
                    <a:lstStyle/>
                    <a:p>
                      <a:r>
                        <a:rPr sz="1100" b="0">
                          <a:solidFill>
                            <a:srgbClr val="282828"/>
                          </a:solidFill>
                          <a:latin typeface="Arial"/>
                        </a:rPr>
                        <a:t>2.025</a:t>
                      </a:r>
                    </a:p>
                  </a:txBody>
                  <a:tcPr marL="54864" marR="54864" marT="18288" marB="18288">
                    <a:solidFill>
                      <a:srgbClr val="ECF1F6"/>
                    </a:solidFill>
                  </a:tcPr>
                </a:tc>
              </a:tr>
            </a:tbl>
          </a:graphicData>
        </a:graphic>
      </p:graphicFrame>
      <p:sp>
        <p:nvSpPr>
          <p:cNvPr id="5" name="TextBox 4"/>
          <p:cNvSpPr txBox="1"/>
          <p:nvPr/>
        </p:nvSpPr>
        <p:spPr>
          <a:xfrm>
            <a:off x="411480" y="378218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Equal weights were the CRF wall.</a:t>
            </a:r>
            <a:r>
              <a:rPr sz="1500" b="0">
                <a:solidFill>
                  <a:srgbClr val="282828"/>
                </a:solidFill>
                <a:latin typeface="Arial"/>
              </a:rPr>
              <a:t>  R5 and R6 weighted every field and both axes equally on rms spot size and spent it on the strip center (4 µm) while the outer half sat at 5–7 px along the slit; more budget on the same merit moved nothing.  Weighting the along-slit rows and the outer fields, from R4, took every field to the Airy floor in one rung.</a:t>
            </a:r>
          </a:p>
          <a:p>
            <a:pPr>
              <a:spcAft>
                <a:spcPts val="600"/>
              </a:spcAft>
            </a:pPr>
            <a:r>
              <a:rPr sz="1500" b="0">
                <a:solidFill>
                  <a:srgbClr val="282828"/>
                </a:solidFill>
                <a:latin typeface="Arial"/>
              </a:rPr>
              <a:t>•  </a:t>
            </a:r>
            <a:r>
              <a:rPr sz="1500" b="1">
                <a:solidFill>
                  <a:srgbClr val="282828"/>
                </a:solidFill>
                <a:latin typeface="Arial"/>
              </a:rPr>
              <a:t>A row set below one percent of the merit is not a test.</a:t>
            </a:r>
            <a:r>
              <a:rPr sz="1500" b="0">
                <a:solidFill>
                  <a:srgbClr val="282828"/>
                </a:solidFill>
                <a:latin typeface="Arial"/>
              </a:rPr>
              <a:t>  R8's telecentric rows at ×30 were 0.4 % of the merit; the solver never worked on them and R8 is R7 to the third digit.  R9's offset rows at ×30 would have been 0.07 %; at ×1000 they dominated, and the solve converged in 507 evaluations.</a:t>
            </a:r>
          </a:p>
          <a:p>
            <a:pPr>
              <a:spcAft>
                <a:spcPts val="600"/>
              </a:spcAft>
            </a:pPr>
            <a:r>
              <a:rPr sz="1500" b="0">
                <a:solidFill>
                  <a:srgbClr val="282828"/>
                </a:solidFill>
                <a:latin typeface="Arial"/>
              </a:rPr>
              <a:t>•  </a:t>
            </a:r>
            <a:r>
              <a:rPr sz="1500" b="1">
                <a:solidFill>
                  <a:srgbClr val="282828"/>
                </a:solidFill>
                <a:latin typeface="Arial"/>
              </a:rPr>
              <a:t>The remaining 0.14 px of "smile" was the launch convention</a:t>
            </a:r>
            <a:r>
              <a:rPr sz="1500" b="0">
                <a:solidFill>
                  <a:srgbClr val="282828"/>
                </a:solidFill>
                <a:latin typeface="Arial"/>
              </a:rPr>
              <a:t> (slide 12), and the row that removed its cause cost nothing at the pixel.</a:t>
            </a:r>
          </a:p>
        </p:txBody>
      </p:sp>
      <p:sp>
        <p:nvSpPr>
          <p:cNvPr id="6" name="TextBox 5"/>
          <p:cNvSpPr txBox="1"/>
          <p:nvPr/>
        </p:nvSpPr>
        <p:spPr>
          <a:xfrm>
            <a:off x="411480" y="6220587"/>
            <a:ext cx="11368735" cy="274320"/>
          </a:xfrm>
          <a:prstGeom prst="rect">
            <a:avLst/>
          </a:prstGeom>
          <a:noFill/>
        </p:spPr>
        <p:txBody>
          <a:bodyPr wrap="square">
            <a:spAutoFit/>
          </a:bodyPr>
          <a:lstStyle/>
          <a:p>
            <a:pPr>
              <a:spcAft>
                <a:spcPts val="600"/>
              </a:spcAft>
            </a:pPr>
            <a:r>
              <a:rPr sz="1050" b="0">
                <a:solidFill>
                  <a:srgbClr val="6E6E6E"/>
                </a:solidFill>
                <a:latin typeface="Arial"/>
              </a:rPr>
              <a:t>REPORT_dyson5_cprime.md (every rung and the four solves thrown out); the template's README, "What the ladder taught."  Each rung: 3000 evaluations of the engine's own trace (R9: 507), model 256.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Smile is a convention: the launch, not the optics</a:t>
            </a:r>
          </a:p>
          <a:p>
            <a:pPr>
              <a:spcAft>
                <a:spcPts val="0"/>
              </a:spcAft>
            </a:pPr>
            <a:r>
              <a:rPr sz="1250" b="0">
                <a:solidFill>
                  <a:srgbClr val="6E6E6E"/>
                </a:solidFill>
                <a:latin typeface="Arial"/>
              </a:rPr>
              <a:t>The join lands each field's chief ray on the slit line and scores the centroid, so the telescope's coma — the chief-minus-centroid offset across the slit — read as smile; the Dyson fed with the telescope's chief angles does not move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057400"/>
        </p:xfrm>
        <a:graphic>
          <a:graphicData uri="http://schemas.openxmlformats.org/drawingml/2006/table">
            <a:tbl>
              <a:tblPr firstRow="1" bandRow="1">
                <a:tableStyleId>{5C22544A-7EE6-4342-B048-85BDC9FD1C3A}</a:tableStyleId>
              </a:tblPr>
              <a:tblGrid>
                <a:gridCol w="3477767"/>
                <a:gridCol w="582168"/>
                <a:gridCol w="727456"/>
                <a:gridCol w="509524"/>
                <a:gridCol w="509524"/>
              </a:tblGrid>
              <a:tr h="468630">
                <a:tc>
                  <a:txBody>
                    <a:bodyPr wrap="square"/>
                    <a:lstStyle/>
                    <a:p>
                      <a:r>
                        <a:rPr sz="1100" b="1">
                          <a:solidFill>
                            <a:srgbClr val="FFFFFF"/>
                          </a:solidFill>
                          <a:latin typeface="Arial"/>
                        </a:rPr>
                        <a:t>Dyson alone, each slit point's chief tilted by R7's angles</a:t>
                      </a:r>
                    </a:p>
                  </a:txBody>
                  <a:tcPr marL="54864" marR="54864" marT="18288" marB="18288">
                    <a:solidFill>
                      <a:srgbClr val="1F4E79"/>
                    </a:solidFill>
                  </a:tcPr>
                </a:tc>
                <a:tc>
                  <a:txBody>
                    <a:bodyPr wrap="square"/>
                    <a:lstStyle/>
                    <a:p>
                      <a:r>
                        <a:rPr sz="1100" b="1">
                          <a:solidFill>
                            <a:srgbClr val="FFFFFF"/>
                          </a:solidFill>
                          <a:latin typeface="Arial"/>
                        </a:rPr>
                        <a:t>smile</a:t>
                      </a:r>
                    </a:p>
                  </a:txBody>
                  <a:tcPr marL="54864" marR="54864" marT="18288" marB="18288">
                    <a:solidFill>
                      <a:srgbClr val="1F4E79"/>
                    </a:solidFill>
                  </a:tcPr>
                </a:tc>
                <a:tc>
                  <a:txBody>
                    <a:bodyPr wrap="square"/>
                    <a:lstStyle/>
                    <a:p>
                      <a:r>
                        <a:rPr sz="1100" b="1">
                          <a:solidFill>
                            <a:srgbClr val="FFFFFF"/>
                          </a:solidFill>
                          <a:latin typeface="Arial"/>
                        </a:rPr>
                        <a:t>keystone</a:t>
                      </a:r>
                    </a:p>
                  </a:txBody>
                  <a:tcPr marL="54864" marR="54864" marT="18288" marB="18288">
                    <a:solidFill>
                      <a:srgbClr val="1F4E79"/>
                    </a:solidFill>
                  </a:tcPr>
                </a:tc>
                <a:tc>
                  <a:txBody>
                    <a:bodyPr wrap="square"/>
                    <a:lstStyle/>
                    <a:p>
                      <a:r>
                        <a:rPr sz="1100" b="1">
                          <a:solidFill>
                            <a:srgbClr val="FFFFFF"/>
                          </a:solidFill>
                          <a:latin typeface="Arial"/>
                        </a:rPr>
                        <a:t>CRF</a:t>
                      </a:r>
                    </a:p>
                  </a:txBody>
                  <a:tcPr marL="54864" marR="54864" marT="18288" marB="18288">
                    <a:solidFill>
                      <a:srgbClr val="1F4E79"/>
                    </a:solidFill>
                  </a:tcPr>
                </a:tc>
                <a:tc>
                  <a:txBody>
                    <a:bodyPr wrap="square"/>
                    <a:lstStyle/>
                    <a:p>
                      <a:r>
                        <a:rPr sz="1100" b="1">
                          <a:solidFill>
                            <a:srgbClr val="FFFFFF"/>
                          </a:solidFill>
                          <a:latin typeface="Arial"/>
                        </a:rPr>
                        <a:t>SRF</a:t>
                      </a:r>
                    </a:p>
                  </a:txBody>
                  <a:tcPr marL="54864" marR="54864" marT="18288" marB="18288">
                    <a:solidFill>
                      <a:srgbClr val="1F4E79"/>
                    </a:solidFill>
                  </a:tcPr>
                </a:tc>
              </a:tr>
              <a:tr h="280035">
                <a:tc>
                  <a:txBody>
                    <a:bodyPr wrap="square"/>
                    <a:lstStyle/>
                    <a:p>
                      <a:r>
                        <a:rPr sz="1100" b="0">
                          <a:solidFill>
                            <a:srgbClr val="282828"/>
                          </a:solidFill>
                          <a:latin typeface="Arial"/>
                        </a:rPr>
                        <a:t>base (the record)</a:t>
                      </a:r>
                    </a:p>
                  </a:txBody>
                  <a:tcPr marL="54864" marR="54864" marT="18288" marB="18288">
                    <a:solidFill>
                      <a:srgbClr val="FFFFFF"/>
                    </a:solidFill>
                  </a:tcPr>
                </a:tc>
                <a:tc>
                  <a:txBody>
                    <a:bodyPr wrap="square"/>
                    <a:lstStyle/>
                    <a:p>
                      <a:r>
                        <a:rPr sz="1100" b="0">
                          <a:solidFill>
                            <a:srgbClr val="282828"/>
                          </a:solidFill>
                          <a:latin typeface="Arial"/>
                        </a:rPr>
                        <a:t>0.0050</a:t>
                      </a:r>
                    </a:p>
                  </a:txBody>
                  <a:tcPr marL="54864" marR="54864" marT="18288" marB="18288">
                    <a:solidFill>
                      <a:srgbClr val="FFFFFF"/>
                    </a:solidFill>
                  </a:tcPr>
                </a:tc>
                <a:tc>
                  <a:txBody>
                    <a:bodyPr wrap="square"/>
                    <a:lstStyle/>
                    <a:p>
                      <a:r>
                        <a:rPr sz="1100" b="0">
                          <a:solidFill>
                            <a:srgbClr val="282828"/>
                          </a:solidFill>
                          <a:latin typeface="Arial"/>
                        </a:rPr>
                        <a:t>0.0058</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r h="468630">
                <a:tc>
                  <a:txBody>
                    <a:bodyPr wrap="square"/>
                    <a:lstStyle/>
                    <a:p>
                      <a:r>
                        <a:rPr sz="1100" b="0">
                          <a:solidFill>
                            <a:srgbClr val="282828"/>
                          </a:solidFill>
                          <a:latin typeface="Arial"/>
                        </a:rPr>
                        <a:t>along-track component (−0.51 mrad at the strip end)</a:t>
                      </a:r>
                    </a:p>
                  </a:txBody>
                  <a:tcPr marL="54864" marR="54864" marT="18288" marB="18288">
                    <a:solidFill>
                      <a:srgbClr val="ECF1F6"/>
                    </a:solidFill>
                  </a:tcPr>
                </a:tc>
                <a:tc>
                  <a:txBody>
                    <a:bodyPr wrap="square"/>
                    <a:lstStyle/>
                    <a:p>
                      <a:r>
                        <a:rPr sz="1100" b="0">
                          <a:solidFill>
                            <a:srgbClr val="282828"/>
                          </a:solidFill>
                          <a:latin typeface="Arial"/>
                        </a:rPr>
                        <a:t>0.0049</a:t>
                      </a:r>
                    </a:p>
                  </a:txBody>
                  <a:tcPr marL="54864" marR="54864" marT="18288" marB="18288">
                    <a:solidFill>
                      <a:srgbClr val="ECF1F6"/>
                    </a:solidFill>
                  </a:tcPr>
                </a:tc>
                <a:tc>
                  <a:txBody>
                    <a:bodyPr wrap="square"/>
                    <a:lstStyle/>
                    <a:p>
                      <a:r>
                        <a:rPr sz="1100" b="0">
                          <a:solidFill>
                            <a:srgbClr val="282828"/>
                          </a:solidFill>
                          <a:latin typeface="Arial"/>
                        </a:rPr>
                        <a:t>0.0061</a:t>
                      </a:r>
                    </a:p>
                  </a:txBody>
                  <a:tcPr marL="54864" marR="54864" marT="18288" marB="18288">
                    <a:solidFill>
                      <a:srgbClr val="ECF1F6"/>
                    </a:solidFill>
                  </a:tcPr>
                </a:tc>
                <a:tc>
                  <a:txBody>
                    <a:bodyPr wrap="square"/>
                    <a:lstStyle/>
                    <a:p>
                      <a:r>
                        <a:rPr sz="1100" b="0">
                          <a:solidFill>
                            <a:srgbClr val="282828"/>
                          </a:solidFill>
                          <a:latin typeface="Arial"/>
                        </a:rPr>
                        <a:t>1.213</a:t>
                      </a:r>
                    </a:p>
                  </a:txBody>
                  <a:tcPr marL="54864" marR="54864" marT="18288" marB="18288">
                    <a:solidFill>
                      <a:srgbClr val="ECF1F6"/>
                    </a:solidFill>
                  </a:tcPr>
                </a:tc>
                <a:tc>
                  <a:txBody>
                    <a:bodyPr wrap="square"/>
                    <a:lstStyle/>
                    <a:p>
                      <a:r>
                        <a:rPr sz="1100" b="0">
                          <a:solidFill>
                            <a:srgbClr val="282828"/>
                          </a:solidFill>
                          <a:latin typeface="Arial"/>
                        </a:rPr>
                        <a:t>2.024</a:t>
                      </a:r>
                    </a:p>
                  </a:txBody>
                  <a:tcPr marL="54864" marR="54864" marT="18288" marB="18288">
                    <a:solidFill>
                      <a:srgbClr val="ECF1F6"/>
                    </a:solidFill>
                  </a:tcPr>
                </a:tc>
              </a:tr>
              <a:tr h="280035">
                <a:tc>
                  <a:txBody>
                    <a:bodyPr wrap="square"/>
                    <a:lstStyle/>
                    <a:p>
                      <a:r>
                        <a:rPr sz="1100" b="0">
                          <a:solidFill>
                            <a:srgbClr val="282828"/>
                          </a:solidFill>
                          <a:latin typeface="Arial"/>
                        </a:rPr>
                        <a:t>cross-track component (±0.27 mrad)</a:t>
                      </a:r>
                    </a:p>
                  </a:txBody>
                  <a:tcPr marL="54864" marR="54864" marT="18288" marB="18288">
                    <a:solidFill>
                      <a:srgbClr val="FFFFFF"/>
                    </a:solidFill>
                  </a:tcPr>
                </a:tc>
                <a:tc>
                  <a:txBody>
                    <a:bodyPr wrap="square"/>
                    <a:lstStyle/>
                    <a:p>
                      <a:r>
                        <a:rPr sz="1100" b="0">
                          <a:solidFill>
                            <a:srgbClr val="282828"/>
                          </a:solidFill>
                          <a:latin typeface="Arial"/>
                        </a:rPr>
                        <a:t>0.0048</a:t>
                      </a:r>
                    </a:p>
                  </a:txBody>
                  <a:tcPr marL="54864" marR="54864" marT="18288" marB="18288">
                    <a:solidFill>
                      <a:srgbClr val="FFFFFF"/>
                    </a:solidFill>
                  </a:tcPr>
                </a:tc>
                <a:tc>
                  <a:txBody>
                    <a:bodyPr wrap="square"/>
                    <a:lstStyle/>
                    <a:p>
                      <a:r>
                        <a:rPr sz="1100" b="0">
                          <a:solidFill>
                            <a:srgbClr val="282828"/>
                          </a:solidFill>
                          <a:latin typeface="Arial"/>
                        </a:rPr>
                        <a:t>0.0063</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r h="280035">
                <a:tc>
                  <a:txBody>
                    <a:bodyPr wrap="square"/>
                    <a:lstStyle/>
                    <a:p>
                      <a:r>
                        <a:rPr sz="1100" b="0">
                          <a:solidFill>
                            <a:srgbClr val="282828"/>
                          </a:solidFill>
                          <a:latin typeface="Arial"/>
                        </a:rPr>
                        <a:t>along-track × 2</a:t>
                      </a:r>
                    </a:p>
                  </a:txBody>
                  <a:tcPr marL="54864" marR="54864" marT="18288" marB="18288">
                    <a:solidFill>
                      <a:srgbClr val="ECF1F6"/>
                    </a:solidFill>
                  </a:tcPr>
                </a:tc>
                <a:tc>
                  <a:txBody>
                    <a:bodyPr wrap="square"/>
                    <a:lstStyle/>
                    <a:p>
                      <a:r>
                        <a:rPr sz="1100" b="0">
                          <a:solidFill>
                            <a:srgbClr val="282828"/>
                          </a:solidFill>
                          <a:latin typeface="Arial"/>
                        </a:rPr>
                        <a:t>0.0049</a:t>
                      </a:r>
                    </a:p>
                  </a:txBody>
                  <a:tcPr marL="54864" marR="54864" marT="18288" marB="18288">
                    <a:solidFill>
                      <a:srgbClr val="ECF1F6"/>
                    </a:solidFill>
                  </a:tcPr>
                </a:tc>
                <a:tc>
                  <a:txBody>
                    <a:bodyPr wrap="square"/>
                    <a:lstStyle/>
                    <a:p>
                      <a:r>
                        <a:rPr sz="1100" b="0">
                          <a:solidFill>
                            <a:srgbClr val="282828"/>
                          </a:solidFill>
                          <a:latin typeface="Arial"/>
                        </a:rPr>
                        <a:t>0.0064</a:t>
                      </a:r>
                    </a:p>
                  </a:txBody>
                  <a:tcPr marL="54864" marR="54864" marT="18288" marB="18288">
                    <a:solidFill>
                      <a:srgbClr val="ECF1F6"/>
                    </a:solidFill>
                  </a:tcPr>
                </a:tc>
                <a:tc>
                  <a:txBody>
                    <a:bodyPr wrap="square"/>
                    <a:lstStyle/>
                    <a:p>
                      <a:r>
                        <a:rPr sz="1100" b="0">
                          <a:solidFill>
                            <a:srgbClr val="282828"/>
                          </a:solidFill>
                          <a:latin typeface="Arial"/>
                        </a:rPr>
                        <a:t>1.213</a:t>
                      </a:r>
                    </a:p>
                  </a:txBody>
                  <a:tcPr marL="54864" marR="54864" marT="18288" marB="18288">
                    <a:solidFill>
                      <a:srgbClr val="ECF1F6"/>
                    </a:solidFill>
                  </a:tcPr>
                </a:tc>
                <a:tc>
                  <a:txBody>
                    <a:bodyPr wrap="square"/>
                    <a:lstStyle/>
                    <a:p>
                      <a:r>
                        <a:rPr sz="1100" b="0">
                          <a:solidFill>
                            <a:srgbClr val="282828"/>
                          </a:solidFill>
                          <a:latin typeface="Arial"/>
                        </a:rPr>
                        <a:t>2.024</a:t>
                      </a:r>
                    </a:p>
                  </a:txBody>
                  <a:tcPr marL="54864" marR="54864" marT="18288" marB="18288">
                    <a:solidFill>
                      <a:srgbClr val="ECF1F6"/>
                    </a:solidFill>
                  </a:tcPr>
                </a:tc>
              </a:tr>
              <a:tr h="280035">
                <a:tc>
                  <a:txBody>
                    <a:bodyPr wrap="square"/>
                    <a:lstStyle/>
                    <a:p>
                      <a:r>
                        <a:rPr sz="1100" b="0">
                          <a:solidFill>
                            <a:srgbClr val="282828"/>
                          </a:solidFill>
                          <a:latin typeface="Arial"/>
                        </a:rPr>
                        <a:t>both</a:t>
                      </a:r>
                    </a:p>
                  </a:txBody>
                  <a:tcPr marL="54864" marR="54864" marT="18288" marB="18288">
                    <a:solidFill>
                      <a:srgbClr val="FFFFFF"/>
                    </a:solidFill>
                  </a:tcPr>
                </a:tc>
                <a:tc>
                  <a:txBody>
                    <a:bodyPr wrap="square"/>
                    <a:lstStyle/>
                    <a:p>
                      <a:r>
                        <a:rPr sz="1100" b="0">
                          <a:solidFill>
                            <a:srgbClr val="282828"/>
                          </a:solidFill>
                          <a:latin typeface="Arial"/>
                        </a:rPr>
                        <a:t>0.0048</a:t>
                      </a:r>
                    </a:p>
                  </a:txBody>
                  <a:tcPr marL="54864" marR="54864" marT="18288" marB="18288">
                    <a:solidFill>
                      <a:srgbClr val="FFFFFF"/>
                    </a:solidFill>
                  </a:tcPr>
                </a:tc>
                <a:tc>
                  <a:txBody>
                    <a:bodyPr wrap="square"/>
                    <a:lstStyle/>
                    <a:p>
                      <a:r>
                        <a:rPr sz="1100" b="0">
                          <a:solidFill>
                            <a:srgbClr val="282828"/>
                          </a:solidFill>
                          <a:latin typeface="Arial"/>
                        </a:rPr>
                        <a:t>0.0066</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bl>
          </a:graphicData>
        </a:graphic>
      </p:graphicFrame>
      <p:sp>
        <p:nvSpPr>
          <p:cNvPr id="5" name="TextBox 4"/>
          <p:cNvSpPr txBox="1"/>
          <p:nvPr/>
        </p:nvSpPr>
        <p:spPr>
          <a:xfrm>
            <a:off x="411480" y="3502152"/>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chief angle is not the cause:</a:t>
            </a:r>
            <a:r>
              <a:rPr sz="1200" b="0">
                <a:solidFill>
                  <a:srgbClr val="282828"/>
                </a:solidFill>
                <a:latin typeface="Arial"/>
              </a:rPr>
              <a:t> keystone moves (the hook is live), smile does not, even at twice the angle.</a:t>
            </a:r>
          </a:p>
        </p:txBody>
      </p:sp>
      <p:graphicFrame>
        <p:nvGraphicFramePr>
          <p:cNvPr id="6" name="Table 5"/>
          <p:cNvGraphicFramePr>
            <a:graphicFrameLocks noGrp="1"/>
          </p:cNvGraphicFramePr>
          <p:nvPr/>
        </p:nvGraphicFramePr>
        <p:xfrm>
          <a:off x="6400800" y="1298448"/>
          <a:ext cx="5394959" cy="1577340"/>
        </p:xfrm>
        <a:graphic>
          <a:graphicData uri="http://schemas.openxmlformats.org/drawingml/2006/table">
            <a:tbl>
              <a:tblPr firstRow="1" bandRow="1">
                <a:tableStyleId>{5C22544A-7EE6-4342-B048-85BDC9FD1C3A}</a:tableStyleId>
              </a:tblPr>
              <a:tblGrid>
                <a:gridCol w="410464"/>
                <a:gridCol w="3073772"/>
                <a:gridCol w="1910723"/>
              </a:tblGrid>
              <a:tr h="262890">
                <a:tc>
                  <a:txBody>
                    <a:bodyPr wrap="square"/>
                    <a:lstStyle/>
                    <a:p>
                      <a:r>
                        <a:rPr sz="1000" b="1">
                          <a:solidFill>
                            <a:srgbClr val="FFFFFF"/>
                          </a:solidFill>
                          <a:latin typeface="Arial"/>
                        </a:rPr>
                        <a:t>rung</a:t>
                      </a:r>
                    </a:p>
                  </a:txBody>
                  <a:tcPr marL="54864" marR="54864" marT="18288" marB="18288">
                    <a:solidFill>
                      <a:srgbClr val="1F4E79"/>
                    </a:solidFill>
                  </a:tcPr>
                </a:tc>
                <a:tc>
                  <a:txBody>
                    <a:bodyPr wrap="square"/>
                    <a:lstStyle/>
                    <a:p>
                      <a:r>
                        <a:rPr sz="1000" b="1">
                          <a:solidFill>
                            <a:srgbClr val="FFFFFF"/>
                          </a:solidFill>
                          <a:latin typeface="Arial"/>
                        </a:rPr>
                        <a:t>predicted from the telescope's offset</a:t>
                      </a:r>
                    </a:p>
                  </a:txBody>
                  <a:tcPr marL="54864" marR="54864" marT="18288" marB="18288">
                    <a:solidFill>
                      <a:srgbClr val="1F4E79"/>
                    </a:solidFill>
                  </a:tcPr>
                </a:tc>
                <a:tc>
                  <a:txBody>
                    <a:bodyPr wrap="square"/>
                    <a:lstStyle/>
                    <a:p>
                      <a:r>
                        <a:rPr sz="1000" b="1">
                          <a:solidFill>
                            <a:srgbClr val="FFFFFF"/>
                          </a:solidFill>
                          <a:latin typeface="Arial"/>
                        </a:rPr>
                        <a:t>e2e smile, chief launch</a:t>
                      </a:r>
                    </a:p>
                  </a:txBody>
                  <a:tcPr marL="54864" marR="54864" marT="18288" marB="18288">
                    <a:solidFill>
                      <a:srgbClr val="1F4E79"/>
                    </a:solidFill>
                  </a:tcPr>
                </a:tc>
              </a:tr>
              <a:tr h="262890">
                <a:tc>
                  <a:txBody>
                    <a:bodyPr wrap="square"/>
                    <a:lstStyle/>
                    <a:p>
                      <a:r>
                        <a:rPr sz="1000" b="0">
                          <a:solidFill>
                            <a:srgbClr val="282828"/>
                          </a:solidFill>
                          <a:latin typeface="Arial"/>
                        </a:rPr>
                        <a:t>R4</a:t>
                      </a:r>
                    </a:p>
                  </a:txBody>
                  <a:tcPr marL="54864" marR="54864" marT="18288" marB="18288">
                    <a:solidFill>
                      <a:srgbClr val="FFFFFF"/>
                    </a:solidFill>
                  </a:tcPr>
                </a:tc>
                <a:tc>
                  <a:txBody>
                    <a:bodyPr wrap="square"/>
                    <a:lstStyle/>
                    <a:p>
                      <a:r>
                        <a:rPr sz="1000" b="0">
                          <a:solidFill>
                            <a:srgbClr val="282828"/>
                          </a:solidFill>
                          <a:latin typeface="Arial"/>
                        </a:rPr>
                        <a:t>0.655</a:t>
                      </a:r>
                    </a:p>
                  </a:txBody>
                  <a:tcPr marL="54864" marR="54864" marT="18288" marB="18288">
                    <a:solidFill>
                      <a:srgbClr val="FFFFFF"/>
                    </a:solidFill>
                  </a:tcPr>
                </a:tc>
                <a:tc>
                  <a:txBody>
                    <a:bodyPr wrap="square"/>
                    <a:lstStyle/>
                    <a:p>
                      <a:r>
                        <a:rPr sz="1000" b="0">
                          <a:solidFill>
                            <a:srgbClr val="282828"/>
                          </a:solidFill>
                          <a:latin typeface="Arial"/>
                        </a:rPr>
                        <a:t>0.732</a:t>
                      </a:r>
                    </a:p>
                  </a:txBody>
                  <a:tcPr marL="54864" marR="54864" marT="18288" marB="18288">
                    <a:solidFill>
                      <a:srgbClr val="FFFFFF"/>
                    </a:solidFill>
                  </a:tcPr>
                </a:tc>
              </a:tr>
              <a:tr h="262890">
                <a:tc>
                  <a:txBody>
                    <a:bodyPr wrap="square"/>
                    <a:lstStyle/>
                    <a:p>
                      <a:r>
                        <a:rPr sz="1000" b="0">
                          <a:solidFill>
                            <a:srgbClr val="282828"/>
                          </a:solidFill>
                          <a:latin typeface="Arial"/>
                        </a:rPr>
                        <a:t>R5</a:t>
                      </a:r>
                    </a:p>
                  </a:txBody>
                  <a:tcPr marL="54864" marR="54864" marT="18288" marB="18288">
                    <a:solidFill>
                      <a:srgbClr val="ECF1F6"/>
                    </a:solidFill>
                  </a:tcPr>
                </a:tc>
                <a:tc>
                  <a:txBody>
                    <a:bodyPr wrap="square"/>
                    <a:lstStyle/>
                    <a:p>
                      <a:r>
                        <a:rPr sz="1000" b="0">
                          <a:solidFill>
                            <a:srgbClr val="282828"/>
                          </a:solidFill>
                          <a:latin typeface="Arial"/>
                        </a:rPr>
                        <a:t>0.086</a:t>
                      </a:r>
                    </a:p>
                  </a:txBody>
                  <a:tcPr marL="54864" marR="54864" marT="18288" marB="18288">
                    <a:solidFill>
                      <a:srgbClr val="ECF1F6"/>
                    </a:solidFill>
                  </a:tcPr>
                </a:tc>
                <a:tc>
                  <a:txBody>
                    <a:bodyPr wrap="square"/>
                    <a:lstStyle/>
                    <a:p>
                      <a:r>
                        <a:rPr sz="1000" b="0">
                          <a:solidFill>
                            <a:srgbClr val="282828"/>
                          </a:solidFill>
                          <a:latin typeface="Arial"/>
                        </a:rPr>
                        <a:t>0.090</a:t>
                      </a:r>
                    </a:p>
                  </a:txBody>
                  <a:tcPr marL="54864" marR="54864" marT="18288" marB="18288">
                    <a:solidFill>
                      <a:srgbClr val="ECF1F6"/>
                    </a:solidFill>
                  </a:tcPr>
                </a:tc>
              </a:tr>
              <a:tr h="262890">
                <a:tc>
                  <a:txBody>
                    <a:bodyPr wrap="square"/>
                    <a:lstStyle/>
                    <a:p>
                      <a:r>
                        <a:rPr sz="1000" b="0">
                          <a:solidFill>
                            <a:srgbClr val="282828"/>
                          </a:solidFill>
                          <a:latin typeface="Arial"/>
                        </a:rPr>
                        <a:t>R6</a:t>
                      </a:r>
                    </a:p>
                  </a:txBody>
                  <a:tcPr marL="54864" marR="54864" marT="18288" marB="18288">
                    <a:solidFill>
                      <a:srgbClr val="FFFFFF"/>
                    </a:solidFill>
                  </a:tcPr>
                </a:tc>
                <a:tc>
                  <a:txBody>
                    <a:bodyPr wrap="square"/>
                    <a:lstStyle/>
                    <a:p>
                      <a:r>
                        <a:rPr sz="1000" b="0">
                          <a:solidFill>
                            <a:srgbClr val="282828"/>
                          </a:solidFill>
                          <a:latin typeface="Arial"/>
                        </a:rPr>
                        <a:t>0.122</a:t>
                      </a:r>
                    </a:p>
                  </a:txBody>
                  <a:tcPr marL="54864" marR="54864" marT="18288" marB="18288">
                    <a:solidFill>
                      <a:srgbClr val="FFFFFF"/>
                    </a:solidFill>
                  </a:tcPr>
                </a:tc>
                <a:tc>
                  <a:txBody>
                    <a:bodyPr wrap="square"/>
                    <a:lstStyle/>
                    <a:p>
                      <a:r>
                        <a:rPr sz="1000" b="0">
                          <a:solidFill>
                            <a:srgbClr val="282828"/>
                          </a:solidFill>
                          <a:latin typeface="Arial"/>
                        </a:rPr>
                        <a:t>0.149</a:t>
                      </a:r>
                    </a:p>
                  </a:txBody>
                  <a:tcPr marL="54864" marR="54864" marT="18288" marB="18288">
                    <a:solidFill>
                      <a:srgbClr val="FFFFFF"/>
                    </a:solidFill>
                  </a:tcPr>
                </a:tc>
              </a:tr>
              <a:tr h="262890">
                <a:tc>
                  <a:txBody>
                    <a:bodyPr wrap="square"/>
                    <a:lstStyle/>
                    <a:p>
                      <a:r>
                        <a:rPr sz="1000" b="0">
                          <a:solidFill>
                            <a:srgbClr val="282828"/>
                          </a:solidFill>
                          <a:latin typeface="Arial"/>
                        </a:rPr>
                        <a:t>R7</a:t>
                      </a:r>
                    </a:p>
                  </a:txBody>
                  <a:tcPr marL="54864" marR="54864" marT="18288" marB="18288">
                    <a:solidFill>
                      <a:srgbClr val="ECF1F6"/>
                    </a:solidFill>
                  </a:tcPr>
                </a:tc>
                <a:tc>
                  <a:txBody>
                    <a:bodyPr wrap="square"/>
                    <a:lstStyle/>
                    <a:p>
                      <a:r>
                        <a:rPr sz="1000" b="0">
                          <a:solidFill>
                            <a:srgbClr val="282828"/>
                          </a:solidFill>
                          <a:latin typeface="Arial"/>
                        </a:rPr>
                        <a:t>0.135</a:t>
                      </a:r>
                    </a:p>
                  </a:txBody>
                  <a:tcPr marL="54864" marR="54864" marT="18288" marB="18288">
                    <a:solidFill>
                      <a:srgbClr val="ECF1F6"/>
                    </a:solidFill>
                  </a:tcPr>
                </a:tc>
                <a:tc>
                  <a:txBody>
                    <a:bodyPr wrap="square"/>
                    <a:lstStyle/>
                    <a:p>
                      <a:r>
                        <a:rPr sz="1000" b="0">
                          <a:solidFill>
                            <a:srgbClr val="282828"/>
                          </a:solidFill>
                          <a:latin typeface="Arial"/>
                        </a:rPr>
                        <a:t>0.140</a:t>
                      </a:r>
                    </a:p>
                  </a:txBody>
                  <a:tcPr marL="54864" marR="54864" marT="18288" marB="18288">
                    <a:solidFill>
                      <a:srgbClr val="ECF1F6"/>
                    </a:solidFill>
                  </a:tcPr>
                </a:tc>
              </a:tr>
              <a:tr h="262890">
                <a:tc>
                  <a:txBody>
                    <a:bodyPr wrap="square"/>
                    <a:lstStyle/>
                    <a:p>
                      <a:r>
                        <a:rPr sz="1000" b="0">
                          <a:solidFill>
                            <a:srgbClr val="282828"/>
                          </a:solidFill>
                          <a:latin typeface="Arial"/>
                        </a:rPr>
                        <a:t>R8</a:t>
                      </a:r>
                    </a:p>
                  </a:txBody>
                  <a:tcPr marL="54864" marR="54864" marT="18288" marB="18288">
                    <a:solidFill>
                      <a:srgbClr val="FFFFFF"/>
                    </a:solidFill>
                  </a:tcPr>
                </a:tc>
                <a:tc>
                  <a:txBody>
                    <a:bodyPr wrap="square"/>
                    <a:lstStyle/>
                    <a:p>
                      <a:r>
                        <a:rPr sz="1000" b="0">
                          <a:solidFill>
                            <a:srgbClr val="282828"/>
                          </a:solidFill>
                          <a:latin typeface="Arial"/>
                        </a:rPr>
                        <a:t>0.133</a:t>
                      </a:r>
                    </a:p>
                  </a:txBody>
                  <a:tcPr marL="54864" marR="54864" marT="18288" marB="18288">
                    <a:solidFill>
                      <a:srgbClr val="FFFFFF"/>
                    </a:solidFill>
                  </a:tcPr>
                </a:tc>
                <a:tc>
                  <a:txBody>
                    <a:bodyPr wrap="square"/>
                    <a:lstStyle/>
                    <a:p>
                      <a:r>
                        <a:rPr sz="1000" b="0">
                          <a:solidFill>
                            <a:srgbClr val="282828"/>
                          </a:solidFill>
                          <a:latin typeface="Arial"/>
                        </a:rPr>
                        <a:t>0.138</a:t>
                      </a:r>
                    </a:p>
                  </a:txBody>
                  <a:tcPr marL="54864" marR="54864" marT="18288" marB="18288">
                    <a:solidFill>
                      <a:srgbClr val="FFFFFF"/>
                    </a:solidFill>
                  </a:tcPr>
                </a:tc>
              </a:tr>
            </a:tbl>
          </a:graphicData>
        </a:graphic>
      </p:graphicFrame>
      <p:sp>
        <p:nvSpPr>
          <p:cNvPr id="7" name="TextBox 6"/>
          <p:cNvSpPr txBox="1"/>
          <p:nvPr/>
        </p:nvSpPr>
        <p:spPr>
          <a:xfrm>
            <a:off x="6400800" y="302209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offset predicts every rung:</a:t>
            </a:r>
            <a:r>
              <a:rPr sz="1200" b="0">
                <a:solidFill>
                  <a:srgbClr val="282828"/>
                </a:solidFill>
                <a:latin typeface="Arial"/>
              </a:rPr>
              <a:t> on R7 the chief sits 0 / 0.2 / 0.7 / 1.4 / 2.4 µm from the centroid across the slit at 0 / 1.2 / 2.4 / 3.5 / 4.7°; the spread of that offset is the e2e smile.</a:t>
            </a:r>
          </a:p>
          <a:p>
            <a:pPr>
              <a:spcAft>
                <a:spcPts val="600"/>
              </a:spcAft>
            </a:pPr>
            <a:r>
              <a:rPr sz="1200" b="0">
                <a:solidFill>
                  <a:srgbClr val="282828"/>
                </a:solidFill>
                <a:latin typeface="Arial"/>
              </a:rPr>
              <a:t>•  </a:t>
            </a:r>
            <a:r>
              <a:rPr sz="1200" b="1">
                <a:solidFill>
                  <a:srgbClr val="282828"/>
                </a:solidFill>
                <a:latin typeface="Arial"/>
              </a:rPr>
              <a:t>Two conventions, both reported.</a:t>
            </a:r>
            <a:r>
              <a:rPr sz="1200" b="0">
                <a:solidFill>
                  <a:srgbClr val="282828"/>
                </a:solidFill>
                <a:latin typeface="Arial"/>
              </a:rPr>
              <a:t>  Slit-filled (the paper's: its telescope-fed smile equals its spectrometer-alone smile): each field's centroid on the slit line — the spectrometer's smile, 0.022 px.  Point-source: the chief on the slit line — where a star's spectrum lands, 0.016 px on R9 (0.14 on R7).  R9's row on the offset closed the second without touching the first.</a:t>
            </a:r>
          </a:p>
        </p:txBody>
      </p:sp>
      <p:sp>
        <p:nvSpPr>
          <p:cNvPr id="8" name="TextBox 7"/>
          <p:cNvSpPr txBox="1"/>
          <p:nvPr/>
        </p:nvSpPr>
        <p:spPr>
          <a:xfrm>
            <a:off x="6400800" y="5122164"/>
            <a:ext cx="5394960" cy="274320"/>
          </a:xfrm>
          <a:prstGeom prst="rect">
            <a:avLst/>
          </a:prstGeom>
          <a:noFill/>
        </p:spPr>
        <p:txBody>
          <a:bodyPr wrap="square">
            <a:spAutoFit/>
          </a:bodyPr>
          <a:lstStyle/>
          <a:p>
            <a:pPr>
              <a:spcAft>
                <a:spcPts val="600"/>
              </a:spcAft>
            </a:pPr>
            <a:r>
              <a:rPr sz="1050" b="0">
                <a:solidFill>
                  <a:srgbClr val="6E6E6E"/>
                </a:solidFill>
                <a:latin typeface="Arial"/>
              </a:rPr>
              <a:t>Diagnostic tls_dyson_chief_tilt (the spectrometer alone, the launch tilted per field); the join scorer dyson5_t5f now carries both launches (tel5f_launch chief | centroid), the record's rows reproduce under the first.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cone, the spec and the paper's beam</a:t>
            </a:r>
          </a:p>
          <a:p>
            <a:pPr>
              <a:spcAft>
                <a:spcPts val="0"/>
              </a:spcAft>
            </a:pPr>
            <a:r>
              <a:rPr sz="1250" b="0">
                <a:solidFill>
                  <a:srgbClr val="6E6E6E"/>
                </a:solidFill>
                <a:latin typeface="Arial"/>
              </a:rPr>
              <a:t>The marginal rays leave the telescope between F/1.80 and F/1.89 in the two directions, none below F/1.7; the along-slit F/1.89 is Joe's own aperture at Joe's focal length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it is a row:</a:t>
            </a:r>
            <a:r>
              <a:rPr sz="1200" b="0">
                <a:solidFill>
                  <a:srgbClr val="282828"/>
                </a:solidFill>
                <a:latin typeface="Arial"/>
              </a:rPr>
              <a:t> the last deck's 3k solve let its marginal rays run to F/1.19 into an F/1.8 spectrometer; the grating, sized for F/1.8, passed 95–98 % of the light, and nothing in the merit knew.  Jim: "I don't see why some rays correspond to an f/1.2 cone."  The paper constrains the F/# anamorphicity.</a:t>
            </a:r>
          </a:p>
          <a:p>
            <a:pPr>
              <a:spcAft>
                <a:spcPts val="600"/>
              </a:spcAft>
            </a:pPr>
            <a:r>
              <a:rPr sz="1200" b="0">
                <a:solidFill>
                  <a:srgbClr val="282828"/>
                </a:solidFill>
                <a:latin typeface="Arial"/>
              </a:rPr>
              <a:t>•  </a:t>
            </a:r>
            <a:r>
              <a:rPr sz="1200" b="1">
                <a:solidFill>
                  <a:srgbClr val="282828"/>
                </a:solidFill>
                <a:latin typeface="Arial"/>
              </a:rPr>
              <a:t>The row:</a:t>
            </a:r>
            <a:r>
              <a:rPr sz="1200" b="0">
                <a:solidFill>
                  <a:srgbClr val="282828"/>
                </a:solidFill>
                <a:latin typeface="Arial"/>
              </a:rPr>
              <a:t> a hinge on the working F/# of the marginal rays at the slit, along and across, outside [1.7, 1.8], in every rung.  R9: F/1.889–1.894 along the slit, F/1.797–1.806 across; the grating admits 98.9 % at every field.</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Along the slit it sits above 1.8, and that is the specification:</a:t>
            </a:r>
            <a:r>
              <a:rPr sz="1200" b="0">
                <a:solidFill>
                  <a:srgbClr val="282828"/>
                </a:solidFill>
                <a:latin typeface="Arial"/>
              </a:rPr>
              <a:t> D 183 mm at f 330 mm is F/1.803; a cone a little faster than the spectrometer's — Jim's "a little faster" — needs a larger entrance beam, the paper's 192 mm.  A spec question for Jim and Joe, not a solve question; the telescope holds Joe's numbers.</a:t>
            </a:r>
          </a:p>
          <a:p>
            <a:pPr>
              <a:spcAft>
                <a:spcPts val="600"/>
              </a:spcAft>
            </a:pPr>
            <a:r>
              <a:rPr sz="1200" b="0">
                <a:solidFill>
                  <a:srgbClr val="282828"/>
                </a:solidFill>
                <a:latin typeface="Arial"/>
              </a:rPr>
              <a:t>•  </a:t>
            </a:r>
            <a:r>
              <a:rPr sz="1200" b="1">
                <a:solidFill>
                  <a:srgbClr val="282828"/>
                </a:solidFill>
                <a:latin typeface="Arial"/>
              </a:rPr>
              <a:t>Across the slit</a:t>
            </a:r>
            <a:r>
              <a:rPr sz="1200" b="0">
                <a:solidFill>
                  <a:srgbClr val="282828"/>
                </a:solidFill>
                <a:latin typeface="Arial"/>
              </a:rPr>
              <a:t> the cone is F/1.80: the slit truncates the image in that direction, and the across-slit FWHM (the paper's ARF) is 1.02 px against its 2.8 px bound.</a:t>
            </a:r>
          </a:p>
        </p:txBody>
      </p:sp>
      <p:sp>
        <p:nvSpPr>
          <p:cNvPr id="6" name="TextBox 5"/>
          <p:cNvSpPr txBox="1"/>
          <p:nvPr/>
        </p:nvSpPr>
        <p:spPr>
          <a:xfrm>
            <a:off x="6400800" y="3200399"/>
            <a:ext cx="5394960" cy="274320"/>
          </a:xfrm>
          <a:prstGeom prst="rect">
            <a:avLst/>
          </a:prstGeom>
          <a:noFill/>
        </p:spPr>
        <p:txBody>
          <a:bodyPr wrap="square">
            <a:spAutoFit/>
          </a:bodyPr>
          <a:lstStyle/>
          <a:p>
            <a:pPr>
              <a:spcAft>
                <a:spcPts val="600"/>
              </a:spcAft>
            </a:pPr>
            <a:r>
              <a:rPr sz="1050" b="0">
                <a:solidFill>
                  <a:srgbClr val="6E6E6E"/>
                </a:solidFill>
                <a:latin typeface="Arial"/>
              </a:rPr>
              <a:t>REPORT_dyson5_cprime.md, R9 per-field table; F/# from the marginal rays as 1/(2 sin 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spectrometer: toleranced, and a conic grating for margin</a:t>
            </a:r>
          </a:p>
          <a:p>
            <a:pPr>
              <a:spcAft>
                <a:spcPts val="0"/>
              </a:spcAft>
            </a:pPr>
            <a:r>
              <a:rPr sz="1250" b="0">
                <a:solidFill>
                  <a:srgbClr val="6E6E6E"/>
                </a:solidFill>
                <a:latin typeface="Arial"/>
              </a:rPr>
              <a:t>SRF sits at the two-pixel slit's floor; every large tolerance is a focus term the detector's focus removes; keystone sets the alignment tolerances at 26 µm and 35 µrad; a conic on the grating takes the energy in a pixel from 0.82 to 0.99</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SRF is not a miss.</a:t>
            </a:r>
            <a:r>
              <a:rPr sz="1200" b="0">
                <a:solidFill>
                  <a:srgbClr val="282828"/>
                </a:solidFill>
                <a:latin typeface="Arial"/>
              </a:rPr>
              <a:t>  Slit ⊗ LSF ⊗ pixel ⊗ Airy for a perfect spectrometer is 2.010 px at 380 nm and 2.023 at 2500 nm; the Dyson of record sits 0.0001–0.0015 px above that at every wavelength, alone and behind the telescope.  In the paper's units 36.5 µm against 64.8.  Joe's "1.5–2.0" is met at its floor; 1.5 would need a narrower slit.</a:t>
            </a:r>
          </a:p>
          <a:p>
            <a:pPr>
              <a:spcAft>
                <a:spcPts val="600"/>
              </a:spcAft>
            </a:pPr>
            <a:r>
              <a:rPr sz="1200" b="0">
                <a:solidFill>
                  <a:srgbClr val="282828"/>
                </a:solidFill>
                <a:latin typeface="Arial"/>
              </a:rPr>
              <a:t>•  </a:t>
            </a:r>
            <a:r>
              <a:rPr sz="1200" b="1">
                <a:solidFill>
                  <a:srgbClr val="282828"/>
                </a:solidFill>
                <a:latin typeface="Arial"/>
              </a:rPr>
              <a:t>The Dyson of record is the paper's Option A:</a:t>
            </a:r>
            <a:r>
              <a:rPr sz="1200" b="0">
                <a:solidFill>
                  <a:srgbClr val="282828"/>
                </a:solidFill>
                <a:latin typeface="Arial"/>
              </a:rPr>
              <a:t> 240 mm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an aspheric lens (K 0.043 with h⁴, h⁶) and a spherical grating, no meniscus; smile 0.005, keystone 0.006, CRF 1.21, 0.82 of the energy in a pixel; 4.5 L, 14.3 kg.</a:t>
            </a:r>
          </a:p>
          <a:p>
            <a:pPr>
              <a:spcAft>
                <a:spcPts val="600"/>
              </a:spcAft>
            </a:pPr>
            <a:r>
              <a:rPr sz="1200" b="0">
                <a:solidFill>
                  <a:srgbClr val="282828"/>
                </a:solidFill>
                <a:latin typeface="Arial"/>
              </a:rPr>
              <a:t>•  </a:t>
            </a:r>
            <a:r>
              <a:rPr sz="1200" b="1">
                <a:solidFill>
                  <a:srgbClr val="282828"/>
                </a:solidFill>
                <a:latin typeface="Arial"/>
              </a:rPr>
              <a:t>Toleranced, 21 rows, alone and through the join:</a:t>
            </a:r>
            <a:r>
              <a:rPr sz="1200" b="0">
                <a:solidFill>
                  <a:srgbClr val="282828"/>
                </a:solidFill>
                <a:latin typeface="Arial"/>
              </a:rPr>
              <a:t> every large sensitivity is a focus term — lens radius and thickness, the air space, slit and detector defocus, grating radius (the strongest: dR/R 10⁻⁴ costs CRF +1.9 px uncompensated, and a 76 µm detector refocus removes it to 0.006).  One-axis detector focus is the compensator; x/y adds nothing.  Smile is loose (≥ 300 µm or µrad).</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Keystone sets the tolerances, and no compensator helps</a:t>
            </a:r>
            <a:r>
              <a:rPr sz="1200" b="0">
                <a:solidFill>
                  <a:srgbClr val="282828"/>
                </a:solidFill>
                <a:latin typeface="Arial"/>
              </a:rPr>
              <a:t> (it is lateral color).  For the paper's as-built keystone (1.03 µm = 0.057 px): lens and grating decenter along the slit 26 µm, grating tilt 35 µrad, clocking 88 µrad; for Joe's 0.1 px: 47 µm, 47 µm, 64 µrad, 162 µrad.  The 1.5k Dyson is twice as sensitive (13 µm).  Linear where it matters (keystone vs decenter 1.10; CRF vs grating radius 1.03).</a:t>
            </a:r>
          </a:p>
          <a:p>
            <a:pPr>
              <a:spcAft>
                <a:spcPts val="600"/>
              </a:spcAft>
            </a:pPr>
            <a:r>
              <a:rPr sz="1200" b="0">
                <a:solidFill>
                  <a:srgbClr val="282828"/>
                </a:solidFill>
                <a:latin typeface="Arial"/>
              </a:rPr>
              <a:t>•  </a:t>
            </a:r>
            <a:r>
              <a:rPr sz="1200" b="1">
                <a:solidFill>
                  <a:srgbClr val="282828"/>
                </a:solidFill>
                <a:latin typeface="Arial"/>
              </a:rPr>
              <a:t>Thermal:</a:t>
            </a:r>
            <a:r>
              <a:rPr sz="1200" b="0">
                <a:solidFill>
                  <a:srgbClr val="282828"/>
                </a:solidFill>
                <a:latin typeface="Arial"/>
              </a:rPr>
              <a:t> 1 K of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index is negligible (CRF +0.001);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's radius and thickness terms cancel (+0.050 / −0.051 px per K); the open terms are the aluminum air space (−0.22 px per K) and the N-BK7 grating radius (+0.14) — focus terms, refocus-compensable, which is the paper's "CRF limits the spectrometer's temperature requirements."</a:t>
            </a:r>
          </a:p>
          <a:p>
            <a:pPr>
              <a:spcAft>
                <a:spcPts val="600"/>
              </a:spcAft>
            </a:pPr>
            <a:r>
              <a:rPr sz="1200" b="0">
                <a:solidFill>
                  <a:srgbClr val="282828"/>
                </a:solidFill>
                <a:latin typeface="Arial"/>
              </a:rPr>
              <a:t>•  </a:t>
            </a:r>
            <a:r>
              <a:rPr sz="1200" b="1">
                <a:solidFill>
                  <a:srgbClr val="282828"/>
                </a:solidFill>
                <a:latin typeface="Arial"/>
              </a:rPr>
              <a:t>Option B — a conic on the grating (K −0.004) with the lens re-solved:</a:t>
            </a:r>
            <a:r>
              <a:rPr sz="1200" b="0">
                <a:solidFill>
                  <a:srgbClr val="282828"/>
                </a:solidFill>
                <a:latin typeface="Arial"/>
              </a:rPr>
              <a:t> alone CRF 1.03 (1.21), energy in a pixel 0.99 (0.82), keystone 0.002 (0.006); behind R9: CRF 1.06, energy 0.955, smile 0.012; SRF the floor in both.  Its keystone sensitivities are 6–45 % higher than A's (clocking most): </a:t>
            </a:r>
            <a:r>
              <a:rPr sz="1200" b="1">
                <a:solidFill>
                  <a:srgbClr val="282828"/>
                </a:solidFill>
                <a:latin typeface="Arial"/>
              </a:rPr>
              <a:t>it buys nominal margin, not alignment insensitivity</a:t>
            </a:r>
            <a:r>
              <a:rPr sz="1200" b="0">
                <a:solidFill>
                  <a:srgbClr val="282828"/>
                </a:solidFill>
                <a:latin typeface="Arial"/>
              </a:rPr>
              <a:t> — the paper's preference for B on tolerances is not reproduced by alignment alone (its as-built numbers include fabrication and thermal, not modeled here).  Recommended as the spectrometer candidate for its margin.</a:t>
            </a:r>
          </a:p>
        </p:txBody>
      </p:sp>
      <p:sp>
        <p:nvSpPr>
          <p:cNvPr id="6" name="TextBox 5"/>
          <p:cNvSpPr txBox="1"/>
          <p:nvPr/>
        </p:nvSpPr>
        <p:spPr>
          <a:xfrm>
            <a:off x="6400800" y="5519928"/>
            <a:ext cx="5394960" cy="274320"/>
          </a:xfrm>
          <a:prstGeom prst="rect">
            <a:avLst/>
          </a:prstGeom>
          <a:noFill/>
        </p:spPr>
        <p:txBody>
          <a:bodyPr wrap="square">
            <a:spAutoFit/>
          </a:bodyPr>
          <a:lstStyle/>
          <a:p>
            <a:pPr>
              <a:spcAft>
                <a:spcPts val="600"/>
              </a:spcAft>
            </a:pPr>
            <a:r>
              <a:rPr sz="1050" b="0">
                <a:solidFill>
                  <a:srgbClr val="6E6E6E"/>
                </a:solidFill>
                <a:latin typeface="Arial"/>
              </a:rPr>
              <a:t>REPORT_dyson5_spec.md (the ladder, 3k and 1.5k, Option B and its ladder); spectrometer_sens, gate tSpectrometerSens.  The compensator residuals are given for detector focus alone and focus + x/y.  A full every-CTE soak is the next row.  Throughput by band: next slide.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Throughput by band, and the blaze</a:t>
            </a:r>
          </a:p>
          <a:p>
            <a:pPr>
              <a:spcAft>
                <a:spcPts val="0"/>
              </a:spcAft>
            </a:pPr>
            <a:r>
              <a:rPr sz="1250" b="0">
                <a:solidFill>
                  <a:srgbClr val="6E6E6E"/>
                </a:solidFill>
                <a:latin typeface="Arial"/>
              </a:rPr>
              <a:t>Six air-glass crossings pass 0.82 uncoated in every band; a single quarter-wave </a:t>
            </a:r>
            <a:r>
              <a:rPr sz="1250" b="0">
                <a:solidFill>
                  <a:srgbClr val="6E6E6E"/>
                </a:solidFill>
                <a:latin typeface="Arial"/>
              </a:rPr>
              <a:t>MgF</a:t>
            </a:r>
            <a:r>
              <a:rPr sz="1250" b="0" baseline="-25000">
                <a:solidFill>
                  <a:srgbClr val="6E6E6E"/>
                </a:solidFill>
                <a:latin typeface="Arial"/>
              </a:rPr>
              <a:t>2</a:t>
            </a:r>
            <a:r>
              <a:rPr sz="1250" b="0">
                <a:solidFill>
                  <a:srgbClr val="6E6E6E"/>
                </a:solidFill>
                <a:latin typeface="Arial"/>
              </a:rPr>
              <a:t> centered at 2.2 µm lifts the long band to 0.87 and costs nothing elsewhere, where a two-layer tuned to 1 µm trades the band ends for the middle; the grating's blaze is the lever that moves photons to the long end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2" cy="1960245"/>
        </p:xfrm>
        <a:graphic>
          <a:graphicData uri="http://schemas.openxmlformats.org/drawingml/2006/table">
            <a:tbl>
              <a:tblPr firstRow="1" bandRow="1">
                <a:tableStyleId>{5C22544A-7EE6-4342-B048-85BDC9FD1C3A}</a:tableStyleId>
              </a:tblPr>
              <a:tblGrid>
                <a:gridCol w="5916371"/>
                <a:gridCol w="1453895"/>
                <a:gridCol w="1453895"/>
                <a:gridCol w="1453895"/>
                <a:gridCol w="1090676"/>
              </a:tblGrid>
              <a:tr h="280035">
                <a:tc>
                  <a:txBody>
                    <a:bodyPr wrap="square"/>
                    <a:lstStyle/>
                    <a:p>
                      <a:r>
                        <a:rPr sz="1100" b="1">
                          <a:solidFill>
                            <a:srgbClr val="FFFFFF"/>
                          </a:solidFill>
                          <a:latin typeface="Arial"/>
                        </a:rPr>
                        <a:t>module, coating on all six crossings</a:t>
                      </a:r>
                    </a:p>
                  </a:txBody>
                  <a:tcPr marL="54864" marR="54864" marT="18288" marB="18288">
                    <a:solidFill>
                      <a:srgbClr val="1F4E79"/>
                    </a:solidFill>
                  </a:tcPr>
                </a:tc>
                <a:tc>
                  <a:txBody>
                    <a:bodyPr wrap="square"/>
                    <a:lstStyle/>
                    <a:p>
                      <a:r>
                        <a:rPr sz="1100" b="1">
                          <a:solidFill>
                            <a:srgbClr val="FFFFFF"/>
                          </a:solidFill>
                          <a:latin typeface="Arial"/>
                        </a:rPr>
                        <a:t>380–700 nm</a:t>
                      </a:r>
                    </a:p>
                  </a:txBody>
                  <a:tcPr marL="54864" marR="54864" marT="18288" marB="18288">
                    <a:solidFill>
                      <a:srgbClr val="1F4E79"/>
                    </a:solidFill>
                  </a:tcPr>
                </a:tc>
                <a:tc>
                  <a:txBody>
                    <a:bodyPr wrap="square"/>
                    <a:lstStyle/>
                    <a:p>
                      <a:r>
                        <a:rPr sz="1100" b="1">
                          <a:solidFill>
                            <a:srgbClr val="FFFFFF"/>
                          </a:solidFill>
                          <a:latin typeface="Arial"/>
                        </a:rPr>
                        <a:t>700–1300 nm</a:t>
                      </a:r>
                    </a:p>
                  </a:txBody>
                  <a:tcPr marL="54864" marR="54864" marT="18288" marB="18288">
                    <a:solidFill>
                      <a:srgbClr val="1F4E79"/>
                    </a:solidFill>
                  </a:tcPr>
                </a:tc>
                <a:tc>
                  <a:txBody>
                    <a:bodyPr wrap="square"/>
                    <a:lstStyle/>
                    <a:p>
                      <a:r>
                        <a:rPr sz="1100" b="1">
                          <a:solidFill>
                            <a:srgbClr val="FFFFFF"/>
                          </a:solidFill>
                          <a:latin typeface="Arial"/>
                        </a:rPr>
                        <a:t>1300–2500 nm</a:t>
                      </a:r>
                    </a:p>
                  </a:txBody>
                  <a:tcPr marL="54864" marR="54864" marT="18288" marB="18288">
                    <a:solidFill>
                      <a:srgbClr val="1F4E79"/>
                    </a:solidFill>
                  </a:tcPr>
                </a:tc>
                <a:tc>
                  <a:txBody>
                    <a:bodyPr wrap="square"/>
                    <a:lstStyle/>
                    <a:p>
                      <a:r>
                        <a:rPr sz="1100" b="1">
                          <a:solidFill>
                            <a:srgbClr val="FFFFFF"/>
                          </a:solidFill>
                          <a:latin typeface="Arial"/>
                        </a:rPr>
                        <a:t>380–2500 mean</a:t>
                      </a:r>
                    </a:p>
                  </a:txBody>
                  <a:tcPr marL="54864" marR="54864" marT="18288" marB="18288">
                    <a:solidFill>
                      <a:srgbClr val="1F4E79"/>
                    </a:solidFill>
                  </a:tcPr>
                </a:tc>
              </a:tr>
              <a:tr h="280035">
                <a:tc>
                  <a:txBody>
                    <a:bodyPr wrap="square"/>
                    <a:lstStyle/>
                    <a:p>
                      <a:r>
                        <a:rPr sz="1100" b="0">
                          <a:solidFill>
                            <a:srgbClr val="282828"/>
                          </a:solidFill>
                          <a:latin typeface="Arial"/>
                        </a:rPr>
                        <a:t>3k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uncoated</a:t>
                      </a:r>
                    </a:p>
                  </a:txBody>
                  <a:tcPr marL="54864" marR="54864" marT="18288" marB="18288">
                    <a:solidFill>
                      <a:srgbClr val="FFFFFF"/>
                    </a:solidFill>
                  </a:tcPr>
                </a:tc>
                <a:tc>
                  <a:txBody>
                    <a:bodyPr wrap="square"/>
                    <a:lstStyle/>
                    <a:p>
                      <a:r>
                        <a:rPr sz="1100" b="0">
                          <a:solidFill>
                            <a:srgbClr val="282828"/>
                          </a:solidFill>
                          <a:latin typeface="Arial"/>
                        </a:rPr>
                        <a:t>0.817</a:t>
                      </a:r>
                    </a:p>
                  </a:txBody>
                  <a:tcPr marL="54864" marR="54864" marT="18288" marB="18288">
                    <a:solidFill>
                      <a:srgbClr val="FFFFFF"/>
                    </a:solidFill>
                  </a:tcPr>
                </a:tc>
                <a:tc>
                  <a:txBody>
                    <a:bodyPr wrap="square"/>
                    <a:lstStyle/>
                    <a:p>
                      <a:r>
                        <a:rPr sz="1100" b="0">
                          <a:solidFill>
                            <a:srgbClr val="282828"/>
                          </a:solidFill>
                          <a:latin typeface="Arial"/>
                        </a:rPr>
                        <a:t>0.822</a:t>
                      </a:r>
                    </a:p>
                  </a:txBody>
                  <a:tcPr marL="54864" marR="54864" marT="18288" marB="18288">
                    <a:solidFill>
                      <a:srgbClr val="FFFFFF"/>
                    </a:solidFill>
                  </a:tcPr>
                </a:tc>
                <a:tc>
                  <a:txBody>
                    <a:bodyPr wrap="square"/>
                    <a:lstStyle/>
                    <a:p>
                      <a:r>
                        <a:rPr sz="1100" b="0">
                          <a:solidFill>
                            <a:srgbClr val="282828"/>
                          </a:solidFill>
                          <a:latin typeface="Arial"/>
                        </a:rPr>
                        <a:t>0.827</a:t>
                      </a:r>
                    </a:p>
                  </a:txBody>
                  <a:tcPr marL="54864" marR="54864" marT="18288" marB="18288">
                    <a:solidFill>
                      <a:srgbClr val="FFFFFF"/>
                    </a:solidFill>
                  </a:tcPr>
                </a:tc>
                <a:tc>
                  <a:txBody>
                    <a:bodyPr wrap="square"/>
                    <a:lstStyle/>
                    <a:p>
                      <a:r>
                        <a:rPr sz="1100" b="0">
                          <a:solidFill>
                            <a:srgbClr val="282828"/>
                          </a:solidFill>
                          <a:latin typeface="Arial"/>
                        </a:rPr>
                        <a:t>0.822</a:t>
                      </a:r>
                    </a:p>
                  </a:txBody>
                  <a:tcPr marL="54864" marR="54864" marT="18288" marB="18288">
                    <a:solidFill>
                      <a:srgbClr val="FFFFFF"/>
                    </a:solidFill>
                  </a:tcPr>
                </a:tc>
              </a:tr>
              <a:tr h="280035">
                <a:tc>
                  <a:txBody>
                    <a:bodyPr wrap="square"/>
                    <a:lstStyle/>
                    <a:p>
                      <a:r>
                        <a:rPr sz="1100" b="0">
                          <a:solidFill>
                            <a:srgbClr val="282828"/>
                          </a:solidFill>
                          <a:latin typeface="Arial"/>
                        </a:rPr>
                        <a:t>3k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a:t>
                      </a:r>
                      <a:r>
                        <a:rPr sz="1100" b="0">
                          <a:solidFill>
                            <a:srgbClr val="282828"/>
                          </a:solidFill>
                          <a:latin typeface="Arial"/>
                        </a:rPr>
                        <a:t>MgF</a:t>
                      </a:r>
                      <a:r>
                        <a:rPr sz="1100" b="0" baseline="-25000">
                          <a:solidFill>
                            <a:srgbClr val="282828"/>
                          </a:solidFill>
                          <a:latin typeface="Arial"/>
                        </a:rPr>
                        <a:t>2</a:t>
                      </a:r>
                      <a:r>
                        <a:rPr sz="1100" b="0">
                          <a:solidFill>
                            <a:srgbClr val="282828"/>
                          </a:solidFill>
                          <a:latin typeface="Arial"/>
                        </a:rPr>
                        <a:t> quarter wave at 2.2 µm</a:t>
                      </a:r>
                    </a:p>
                  </a:txBody>
                  <a:tcPr marL="54864" marR="54864" marT="18288" marB="18288">
                    <a:solidFill>
                      <a:srgbClr val="ECF1F6"/>
                    </a:solidFill>
                  </a:tcPr>
                </a:tc>
                <a:tc>
                  <a:txBody>
                    <a:bodyPr wrap="square"/>
                    <a:lstStyle/>
                    <a:p>
                      <a:r>
                        <a:rPr sz="1100" b="0">
                          <a:solidFill>
                            <a:srgbClr val="282828"/>
                          </a:solidFill>
                          <a:latin typeface="Arial"/>
                        </a:rPr>
                        <a:t>0.852</a:t>
                      </a:r>
                    </a:p>
                  </a:txBody>
                  <a:tcPr marL="54864" marR="54864" marT="18288" marB="18288">
                    <a:solidFill>
                      <a:srgbClr val="ECF1F6"/>
                    </a:solidFill>
                  </a:tcPr>
                </a:tc>
                <a:tc>
                  <a:txBody>
                    <a:bodyPr wrap="square"/>
                    <a:lstStyle/>
                    <a:p>
                      <a:r>
                        <a:rPr sz="1100" b="0">
                          <a:solidFill>
                            <a:srgbClr val="282828"/>
                          </a:solidFill>
                          <a:latin typeface="Arial"/>
                        </a:rPr>
                        <a:t>0.844</a:t>
                      </a:r>
                    </a:p>
                  </a:txBody>
                  <a:tcPr marL="54864" marR="54864" marT="18288" marB="18288">
                    <a:solidFill>
                      <a:srgbClr val="ECF1F6"/>
                    </a:solidFill>
                  </a:tcPr>
                </a:tc>
                <a:tc>
                  <a:txBody>
                    <a:bodyPr wrap="square"/>
                    <a:lstStyle/>
                    <a:p>
                      <a:r>
                        <a:rPr sz="1100" b="0">
                          <a:solidFill>
                            <a:srgbClr val="282828"/>
                          </a:solidFill>
                          <a:latin typeface="Arial"/>
                        </a:rPr>
                        <a:t>0.869</a:t>
                      </a:r>
                    </a:p>
                  </a:txBody>
                  <a:tcPr marL="54864" marR="54864" marT="18288" marB="18288">
                    <a:solidFill>
                      <a:srgbClr val="ECF1F6"/>
                    </a:solidFill>
                  </a:tcPr>
                </a:tc>
                <a:tc>
                  <a:txBody>
                    <a:bodyPr wrap="square"/>
                    <a:lstStyle/>
                    <a:p>
                      <a:r>
                        <a:rPr sz="1100" b="0">
                          <a:solidFill>
                            <a:srgbClr val="282828"/>
                          </a:solidFill>
                          <a:latin typeface="Arial"/>
                        </a:rPr>
                        <a:t>0.855</a:t>
                      </a:r>
                    </a:p>
                  </a:txBody>
                  <a:tcPr marL="54864" marR="54864" marT="18288" marB="18288">
                    <a:solidFill>
                      <a:srgbClr val="ECF1F6"/>
                    </a:solidFill>
                  </a:tcPr>
                </a:tc>
              </a:tr>
              <a:tr h="280035">
                <a:tc>
                  <a:txBody>
                    <a:bodyPr wrap="square"/>
                    <a:lstStyle/>
                    <a:p>
                      <a:r>
                        <a:rPr sz="1100" b="0">
                          <a:solidFill>
                            <a:srgbClr val="282828"/>
                          </a:solidFill>
                          <a:latin typeface="Arial"/>
                        </a:rPr>
                        <a:t>3k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a:t>
                      </a:r>
                      <a:r>
                        <a:rPr sz="1100" b="0">
                          <a:solidFill>
                            <a:srgbClr val="282828"/>
                          </a:solidFill>
                          <a:latin typeface="Arial"/>
                        </a:rPr>
                        <a:t>MgF</a:t>
                      </a:r>
                      <a:r>
                        <a:rPr sz="1100" b="0" baseline="-25000">
                          <a:solidFill>
                            <a:srgbClr val="282828"/>
                          </a:solidFill>
                          <a:latin typeface="Arial"/>
                        </a:rPr>
                        <a:t>2</a:t>
                      </a:r>
                      <a:r>
                        <a:rPr sz="1100" b="0">
                          <a:solidFill>
                            <a:srgbClr val="282828"/>
                          </a:solidFill>
                          <a:latin typeface="Arial"/>
                        </a:rPr>
                        <a:t> / Al₂O₃ quarter-quarter at 2.2 µm</a:t>
                      </a:r>
                    </a:p>
                  </a:txBody>
                  <a:tcPr marL="54864" marR="54864" marT="18288" marB="18288">
                    <a:solidFill>
                      <a:srgbClr val="FFFFFF"/>
                    </a:solidFill>
                  </a:tcPr>
                </a:tc>
                <a:tc>
                  <a:txBody>
                    <a:bodyPr wrap="square"/>
                    <a:lstStyle/>
                    <a:p>
                      <a:r>
                        <a:rPr sz="1100" b="0">
                          <a:solidFill>
                            <a:srgbClr val="282828"/>
                          </a:solidFill>
                          <a:latin typeface="Arial"/>
                        </a:rPr>
                        <a:t>0.797</a:t>
                      </a:r>
                    </a:p>
                  </a:txBody>
                  <a:tcPr marL="54864" marR="54864" marT="18288" marB="18288">
                    <a:solidFill>
                      <a:srgbClr val="FFFFFF"/>
                    </a:solidFill>
                  </a:tcPr>
                </a:tc>
                <a:tc>
                  <a:txBody>
                    <a:bodyPr wrap="square"/>
                    <a:lstStyle/>
                    <a:p>
                      <a:r>
                        <a:rPr sz="1100" b="0">
                          <a:solidFill>
                            <a:srgbClr val="282828"/>
                          </a:solidFill>
                          <a:latin typeface="Arial"/>
                        </a:rPr>
                        <a:t>0.801</a:t>
                      </a:r>
                    </a:p>
                  </a:txBody>
                  <a:tcPr marL="54864" marR="54864" marT="18288" marB="18288">
                    <a:solidFill>
                      <a:srgbClr val="FFFFFF"/>
                    </a:solidFill>
                  </a:tcPr>
                </a:tc>
                <a:tc>
                  <a:txBody>
                    <a:bodyPr wrap="square"/>
                    <a:lstStyle/>
                    <a:p>
                      <a:r>
                        <a:rPr sz="1100" b="0">
                          <a:solidFill>
                            <a:srgbClr val="282828"/>
                          </a:solidFill>
                          <a:latin typeface="Arial"/>
                        </a:rPr>
                        <a:t>0.880</a:t>
                      </a:r>
                    </a:p>
                  </a:txBody>
                  <a:tcPr marL="54864" marR="54864" marT="18288" marB="18288">
                    <a:solidFill>
                      <a:srgbClr val="FFFFFF"/>
                    </a:solidFill>
                  </a:tcPr>
                </a:tc>
                <a:tc>
                  <a:txBody>
                    <a:bodyPr wrap="square"/>
                    <a:lstStyle/>
                    <a:p>
                      <a:r>
                        <a:rPr sz="1100" b="0">
                          <a:solidFill>
                            <a:srgbClr val="282828"/>
                          </a:solidFill>
                          <a:latin typeface="Arial"/>
                        </a:rPr>
                        <a:t>0.826</a:t>
                      </a:r>
                    </a:p>
                  </a:txBody>
                  <a:tcPr marL="54864" marR="54864" marT="18288" marB="18288">
                    <a:solidFill>
                      <a:srgbClr val="FFFFFF"/>
                    </a:solidFill>
                  </a:tcPr>
                </a:tc>
              </a:tr>
              <a:tr h="280035">
                <a:tc>
                  <a:txBody>
                    <a:bodyPr wrap="square"/>
                    <a:lstStyle/>
                    <a:p>
                      <a:r>
                        <a:rPr sz="1100" b="0">
                          <a:solidFill>
                            <a:srgbClr val="282828"/>
                          </a:solidFill>
                          <a:latin typeface="Arial"/>
                        </a:rPr>
                        <a:t>3k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a:t>
                      </a:r>
                      <a:r>
                        <a:rPr sz="1100" b="0">
                          <a:solidFill>
                            <a:srgbClr val="282828"/>
                          </a:solidFill>
                          <a:latin typeface="Arial"/>
                        </a:rPr>
                        <a:t>MgF</a:t>
                      </a:r>
                      <a:r>
                        <a:rPr sz="1100" b="0" baseline="-25000">
                          <a:solidFill>
                            <a:srgbClr val="282828"/>
                          </a:solidFill>
                          <a:latin typeface="Arial"/>
                        </a:rPr>
                        <a:t>2</a:t>
                      </a:r>
                      <a:r>
                        <a:rPr sz="1100" b="0">
                          <a:solidFill>
                            <a:srgbClr val="282828"/>
                          </a:solidFill>
                          <a:latin typeface="Arial"/>
                        </a:rPr>
                        <a:t> / Al₂O₃ quarter-quarter at 1.0 µm</a:t>
                      </a:r>
                    </a:p>
                  </a:txBody>
                  <a:tcPr marL="54864" marR="54864" marT="18288" marB="18288">
                    <a:solidFill>
                      <a:srgbClr val="ECF1F6"/>
                    </a:solidFill>
                  </a:tcPr>
                </a:tc>
                <a:tc>
                  <a:txBody>
                    <a:bodyPr wrap="square"/>
                    <a:lstStyle/>
                    <a:p>
                      <a:r>
                        <a:rPr sz="1100" b="0">
                          <a:solidFill>
                            <a:srgbClr val="282828"/>
                          </a:solidFill>
                          <a:latin typeface="Arial"/>
                        </a:rPr>
                        <a:t>0.749</a:t>
                      </a:r>
                    </a:p>
                  </a:txBody>
                  <a:tcPr marL="54864" marR="54864" marT="18288" marB="18288">
                    <a:solidFill>
                      <a:srgbClr val="ECF1F6"/>
                    </a:solidFill>
                  </a:tcPr>
                </a:tc>
                <a:tc>
                  <a:txBody>
                    <a:bodyPr wrap="square"/>
                    <a:lstStyle/>
                    <a:p>
                      <a:r>
                        <a:rPr sz="1100" b="0">
                          <a:solidFill>
                            <a:srgbClr val="282828"/>
                          </a:solidFill>
                          <a:latin typeface="Arial"/>
                        </a:rPr>
                        <a:t>0.920</a:t>
                      </a:r>
                    </a:p>
                  </a:txBody>
                  <a:tcPr marL="54864" marR="54864" marT="18288" marB="18288">
                    <a:solidFill>
                      <a:srgbClr val="ECF1F6"/>
                    </a:solidFill>
                  </a:tcPr>
                </a:tc>
                <a:tc>
                  <a:txBody>
                    <a:bodyPr wrap="square"/>
                    <a:lstStyle/>
                    <a:p>
                      <a:r>
                        <a:rPr sz="1100" b="0">
                          <a:solidFill>
                            <a:srgbClr val="282828"/>
                          </a:solidFill>
                          <a:latin typeface="Arial"/>
                        </a:rPr>
                        <a:t>0.736</a:t>
                      </a:r>
                    </a:p>
                  </a:txBody>
                  <a:tcPr marL="54864" marR="54864" marT="18288" marB="18288">
                    <a:solidFill>
                      <a:srgbClr val="ECF1F6"/>
                    </a:solidFill>
                  </a:tcPr>
                </a:tc>
                <a:tc>
                  <a:txBody>
                    <a:bodyPr wrap="square"/>
                    <a:lstStyle/>
                    <a:p>
                      <a:r>
                        <a:rPr sz="1100" b="0">
                          <a:solidFill>
                            <a:srgbClr val="282828"/>
                          </a:solidFill>
                          <a:latin typeface="Arial"/>
                        </a:rPr>
                        <a:t>0.802</a:t>
                      </a:r>
                    </a:p>
                  </a:txBody>
                  <a:tcPr marL="54864" marR="54864" marT="18288" marB="18288">
                    <a:solidFill>
                      <a:srgbClr val="ECF1F6"/>
                    </a:solidFill>
                  </a:tcPr>
                </a:tc>
              </a:tr>
              <a:tr h="280035">
                <a:tc>
                  <a:txBody>
                    <a:bodyPr wrap="square"/>
                    <a:lstStyle/>
                    <a:p>
                      <a:r>
                        <a:rPr sz="1100" b="0">
                          <a:solidFill>
                            <a:srgbClr val="282828"/>
                          </a:solidFill>
                          <a:latin typeface="Arial"/>
                        </a:rPr>
                        <a:t>1.5k silica, uncoated / </a:t>
                      </a:r>
                      <a:r>
                        <a:rPr sz="1100" b="0">
                          <a:solidFill>
                            <a:srgbClr val="282828"/>
                          </a:solidFill>
                          <a:latin typeface="Arial"/>
                        </a:rPr>
                        <a:t>MgF</a:t>
                      </a:r>
                      <a:r>
                        <a:rPr sz="1100" b="0" baseline="-25000">
                          <a:solidFill>
                            <a:srgbClr val="282828"/>
                          </a:solidFill>
                          <a:latin typeface="Arial"/>
                        </a:rPr>
                        <a:t>2</a:t>
                      </a:r>
                      <a:r>
                        <a:rPr sz="1100" b="0">
                          <a:solidFill>
                            <a:srgbClr val="282828"/>
                          </a:solidFill>
                          <a:latin typeface="Arial"/>
                        </a:rPr>
                        <a:t> at 2.2 µm</a:t>
                      </a:r>
                    </a:p>
                  </a:txBody>
                  <a:tcPr marL="54864" marR="54864" marT="18288" marB="18288">
                    <a:solidFill>
                      <a:srgbClr val="FFFFFF"/>
                    </a:solidFill>
                  </a:tcPr>
                </a:tc>
                <a:tc>
                  <a:txBody>
                    <a:bodyPr wrap="square"/>
                    <a:lstStyle/>
                    <a:p>
                      <a:r>
                        <a:rPr sz="1100" b="0">
                          <a:solidFill>
                            <a:srgbClr val="282828"/>
                          </a:solidFill>
                          <a:latin typeface="Arial"/>
                        </a:rPr>
                        <a:t>0.807 / 0.851</a:t>
                      </a:r>
                    </a:p>
                  </a:txBody>
                  <a:tcPr marL="54864" marR="54864" marT="18288" marB="18288">
                    <a:solidFill>
                      <a:srgbClr val="FFFFFF"/>
                    </a:solidFill>
                  </a:tcPr>
                </a:tc>
                <a:tc>
                  <a:txBody>
                    <a:bodyPr wrap="square"/>
                    <a:lstStyle/>
                    <a:p>
                      <a:r>
                        <a:rPr sz="1100" b="0">
                          <a:solidFill>
                            <a:srgbClr val="282828"/>
                          </a:solidFill>
                          <a:latin typeface="Arial"/>
                        </a:rPr>
                        <a:t>0.814 / 0.840</a:t>
                      </a:r>
                    </a:p>
                  </a:txBody>
                  <a:tcPr marL="54864" marR="54864" marT="18288" marB="18288">
                    <a:solidFill>
                      <a:srgbClr val="FFFFFF"/>
                    </a:solidFill>
                  </a:tcPr>
                </a:tc>
                <a:tc>
                  <a:txBody>
                    <a:bodyPr wrap="square"/>
                    <a:lstStyle/>
                    <a:p>
                      <a:r>
                        <a:rPr sz="1100" b="0">
                          <a:solidFill>
                            <a:srgbClr val="282828"/>
                          </a:solidFill>
                          <a:latin typeface="Arial"/>
                        </a:rPr>
                        <a:t>0.821 / 0.872</a:t>
                      </a:r>
                    </a:p>
                  </a:txBody>
                  <a:tcPr marL="54864" marR="54864" marT="18288" marB="18288">
                    <a:solidFill>
                      <a:srgbClr val="FFFFFF"/>
                    </a:solidFill>
                  </a:tcPr>
                </a:tc>
                <a:tc>
                  <a:txBody>
                    <a:bodyPr wrap="square"/>
                    <a:lstStyle/>
                    <a:p>
                      <a:r>
                        <a:rPr sz="1100" b="0">
                          <a:solidFill>
                            <a:srgbClr val="282828"/>
                          </a:solidFill>
                          <a:latin typeface="Arial"/>
                        </a:rPr>
                        <a:t>0.814 / 0.854</a:t>
                      </a:r>
                    </a:p>
                  </a:txBody>
                  <a:tcPr marL="54864" marR="54864" marT="18288" marB="18288">
                    <a:solidFill>
                      <a:srgbClr val="FFFFFF"/>
                    </a:solidFill>
                  </a:tcPr>
                </a:tc>
              </a:tr>
              <a:tr h="280035">
                <a:tc>
                  <a:txBody>
                    <a:bodyPr wrap="square"/>
                    <a:lstStyle/>
                    <a:p>
                      <a:r>
                        <a:rPr sz="1100" b="0">
                          <a:solidFill>
                            <a:srgbClr val="282828"/>
                          </a:solidFill>
                          <a:latin typeface="Arial"/>
                        </a:rPr>
                        <a:t>grating, scalar blaze at 1.0 / 1.4 / 1.8 µm</a:t>
                      </a:r>
                    </a:p>
                  </a:txBody>
                  <a:tcPr marL="54864" marR="54864" marT="18288" marB="18288">
                    <a:solidFill>
                      <a:srgbClr val="ECF1F6"/>
                    </a:solidFill>
                  </a:tcPr>
                </a:tc>
                <a:tc>
                  <a:txBody>
                    <a:bodyPr wrap="square"/>
                    <a:lstStyle/>
                    <a:p>
                      <a:r>
                        <a:rPr sz="1100" b="0">
                          <a:solidFill>
                            <a:srgbClr val="282828"/>
                          </a:solidFill>
                          <a:latin typeface="Arial"/>
                        </a:rPr>
                        <a:t>0.14 / 0.02 / 0.01</a:t>
                      </a:r>
                    </a:p>
                  </a:txBody>
                  <a:tcPr marL="54864" marR="54864" marT="18288" marB="18288">
                    <a:solidFill>
                      <a:srgbClr val="ECF1F6"/>
                    </a:solidFill>
                  </a:tcPr>
                </a:tc>
                <a:tc>
                  <a:txBody>
                    <a:bodyPr wrap="square"/>
                    <a:lstStyle/>
                    <a:p>
                      <a:r>
                        <a:rPr sz="1100" b="0">
                          <a:solidFill>
                            <a:srgbClr val="282828"/>
                          </a:solidFill>
                          <a:latin typeface="Arial"/>
                        </a:rPr>
                        <a:t>0.89 / 0.53 / 0.17</a:t>
                      </a:r>
                    </a:p>
                  </a:txBody>
                  <a:tcPr marL="54864" marR="54864" marT="18288" marB="18288">
                    <a:solidFill>
                      <a:srgbClr val="ECF1F6"/>
                    </a:solidFill>
                  </a:tcPr>
                </a:tc>
                <a:tc>
                  <a:txBody>
                    <a:bodyPr wrap="square"/>
                    <a:lstStyle/>
                    <a:p>
                      <a:r>
                        <a:rPr sz="1100" b="0">
                          <a:solidFill>
                            <a:srgbClr val="282828"/>
                          </a:solidFill>
                          <a:latin typeface="Arial"/>
                        </a:rPr>
                        <a:t>0.48 / 0.78 / 0.89</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bl>
          </a:graphicData>
        </a:graphic>
      </p:graphicFrame>
      <p:sp>
        <p:nvSpPr>
          <p:cNvPr id="5" name="TextBox 4"/>
          <p:cNvSpPr txBox="1"/>
          <p:nvPr/>
        </p:nvSpPr>
        <p:spPr>
          <a:xfrm>
            <a:off x="411480" y="340499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crossings:</a:t>
            </a:r>
            <a:r>
              <a:rPr sz="1500" b="0">
                <a:solidFill>
                  <a:srgbClr val="282828"/>
                </a:solidFill>
                <a:latin typeface="Arial"/>
              </a:rPr>
              <a:t> the slit face in, the block's convex face out to the grating's air gap and back in, the exit face — four on the block — and two on the detector's order-sorting filter, which sits in air (Jim: it cannot be bonded to </a:t>
            </a:r>
            <a:r>
              <a:rPr sz="1500" b="0">
                <a:solidFill>
                  <a:srgbClr val="282828"/>
                </a:solidFill>
                <a:latin typeface="Arial"/>
              </a:rPr>
              <a:t>CaF</a:t>
            </a:r>
            <a:r>
              <a:rPr sz="1500" b="0" baseline="-25000">
                <a:solidFill>
                  <a:srgbClr val="282828"/>
                </a:solidFill>
                <a:latin typeface="Arial"/>
              </a:rPr>
              <a:t>2</a:t>
            </a:r>
            <a:r>
              <a:rPr sz="1500" b="0">
                <a:solidFill>
                  <a:srgbClr val="282828"/>
                </a:solidFill>
                <a:latin typeface="Arial"/>
              </a:rPr>
              <a:t>).  Each entry is the mean over the band of the product of the six transmittances, the block's index from its Sellmeier equation at every wavelength.</a:t>
            </a:r>
          </a:p>
          <a:p>
            <a:pPr>
              <a:spcAft>
                <a:spcPts val="600"/>
              </a:spcAft>
            </a:pPr>
            <a:r>
              <a:rPr sz="1500" b="0">
                <a:solidFill>
                  <a:srgbClr val="282828"/>
                </a:solidFill>
                <a:latin typeface="Arial"/>
              </a:rPr>
              <a:t>•  </a:t>
            </a:r>
            <a:r>
              <a:rPr sz="1500" b="1">
                <a:solidFill>
                  <a:srgbClr val="282828"/>
                </a:solidFill>
                <a:latin typeface="Arial"/>
              </a:rPr>
              <a:t>Where to spend the coating:</a:t>
            </a:r>
            <a:r>
              <a:rPr sz="1500" b="0">
                <a:solidFill>
                  <a:srgbClr val="282828"/>
                </a:solidFill>
                <a:latin typeface="Arial"/>
              </a:rPr>
              <a:t> on a 1.43–1.45 substrate a single </a:t>
            </a:r>
            <a:r>
              <a:rPr sz="1500" b="0">
                <a:solidFill>
                  <a:srgbClr val="282828"/>
                </a:solidFill>
                <a:latin typeface="Arial"/>
              </a:rPr>
              <a:t>MgF</a:t>
            </a:r>
            <a:r>
              <a:rPr sz="1500" b="0" baseline="-25000">
                <a:solidFill>
                  <a:srgbClr val="282828"/>
                </a:solidFill>
                <a:latin typeface="Arial"/>
              </a:rPr>
              <a:t>2</a:t>
            </a:r>
            <a:r>
              <a:rPr sz="1500" b="0">
                <a:solidFill>
                  <a:srgbClr val="282828"/>
                </a:solidFill>
                <a:latin typeface="Arial"/>
              </a:rPr>
              <a:t> layer is never a good match, but centered at 2.2 µm it helps most where the photons are scarcest (+0.04–0.05 in the long band) and still helps at the short end; the two-layer tuned to 1 µm is the better coating in the middle of the band (0.92) and the worse one at both ends.  Jim's rule, in numbers.</a:t>
            </a:r>
          </a:p>
          <a:p>
            <a:pPr>
              <a:spcAft>
                <a:spcPts val="600"/>
              </a:spcAft>
            </a:pPr>
            <a:r>
              <a:rPr sz="1500" b="0">
                <a:solidFill>
                  <a:srgbClr val="282828"/>
                </a:solidFill>
                <a:latin typeface="Arial"/>
              </a:rPr>
              <a:t>•  </a:t>
            </a:r>
            <a:r>
              <a:rPr sz="1500" b="1">
                <a:solidFill>
                  <a:srgbClr val="282828"/>
                </a:solidFill>
                <a:latin typeface="Arial"/>
              </a:rPr>
              <a:t>The blaze does the real work at the long end:</a:t>
            </a:r>
            <a:r>
              <a:rPr sz="1500" b="0">
                <a:solidFill>
                  <a:srgbClr val="282828"/>
                </a:solidFill>
                <a:latin typeface="Arial"/>
              </a:rPr>
              <a:t> a 1.8 µm blaze puts 0.89 of first-order efficiency in the long band against 0.48 for a 1 µm blaze, at the price of the short band, where the photons are plentiful.  The scalar estimate says where the light goes, not the absolute efficiency; a vector grating calculation is the next step there.</a:t>
            </a:r>
          </a:p>
        </p:txBody>
      </p:sp>
      <p:sp>
        <p:nvSpPr>
          <p:cNvPr id="6" name="TextBox 5"/>
          <p:cNvSpPr txBox="1"/>
          <p:nvPr/>
        </p:nvSpPr>
        <p:spPr>
          <a:xfrm>
            <a:off x="411480" y="6586347"/>
            <a:ext cx="11368735" cy="274320"/>
          </a:xfrm>
          <a:prstGeom prst="rect">
            <a:avLst/>
          </a:prstGeom>
          <a:noFill/>
        </p:spPr>
        <p:txBody>
          <a:bodyPr wrap="square">
            <a:spAutoFit/>
          </a:bodyPr>
          <a:lstStyle/>
          <a:p>
            <a:pPr>
              <a:spcAft>
                <a:spcPts val="600"/>
              </a:spcAft>
            </a:pPr>
            <a:r>
              <a:rPr sz="1050" b="0">
                <a:solidFill>
                  <a:srgbClr val="6E6E6E"/>
                </a:solidFill>
                <a:latin typeface="Arial"/>
              </a:rPr>
              <a:t>Record dyson5_throughput_band.txt (dyson5_throughput_band.m; macos.design.thinfilm_rt, Abeles, normal incidence; </a:t>
            </a:r>
            <a:r>
              <a:rPr sz="1050" b="0">
                <a:solidFill>
                  <a:srgbClr val="6E6E6E"/>
                </a:solidFill>
                <a:latin typeface="Arial"/>
              </a:rPr>
              <a:t>MgF</a:t>
            </a:r>
            <a:r>
              <a:rPr sz="1050" b="0" baseline="-25000">
                <a:solidFill>
                  <a:srgbClr val="6E6E6E"/>
                </a:solidFill>
                <a:latin typeface="Arial"/>
              </a:rPr>
              <a:t>2</a:t>
            </a:r>
            <a:r>
              <a:rPr sz="1050" b="0">
                <a:solidFill>
                  <a:srgbClr val="6E6E6E"/>
                </a:solidFill>
                <a:latin typeface="Arial"/>
              </a:rPr>
              <a:t> 1.384 and Al₂O₃ 1.63 at their 1 µm indices).  Not included: detector quantum efficiency, the slit's diffraction loss (0.3–1.8 %), mirror reflectivities.  The record's route 2 (dyson5_jim_3b.txt) is the 1.0 µm two-layer row.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Two of 3k or four of 1.5k, updated</a:t>
            </a:r>
          </a:p>
          <a:p>
            <a:pPr>
              <a:spcAft>
                <a:spcPts val="0"/>
              </a:spcAft>
            </a:pPr>
            <a:r>
              <a:rPr sz="1250" b="0">
                <a:solidFill>
                  <a:srgbClr val="6E6E6E"/>
                </a:solidFill>
                <a:latin typeface="Arial"/>
              </a:rPr>
              <a:t>Both modules now image at the pixel end to end; the trade is labor, detectors and integration, not optics or glass — and Jim's and the paper's answer is two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5149215"/>
        </p:xfrm>
        <a:graphic>
          <a:graphicData uri="http://schemas.openxmlformats.org/drawingml/2006/table">
            <a:tbl>
              <a:tblPr firstRow="1" bandRow="1">
                <a:tableStyleId>{5C22544A-7EE6-4342-B048-85BDC9FD1C3A}</a:tableStyleId>
              </a:tblPr>
              <a:tblGrid>
                <a:gridCol w="2949032"/>
                <a:gridCol w="2820813"/>
                <a:gridCol w="5598888"/>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 × </a:t>
                      </a:r>
                      <a:r>
                        <a:rPr sz="1100" b="1">
                          <a:solidFill>
                            <a:srgbClr val="FFFFFF"/>
                          </a:solidFill>
                          <a:latin typeface="Arial"/>
                        </a:rPr>
                        <a:t>CaF</a:t>
                      </a:r>
                      <a:r>
                        <a:rPr sz="1100" b="1" baseline="-25000">
                          <a:solidFill>
                            <a:srgbClr val="FFFFFF"/>
                          </a:solidFill>
                          <a:latin typeface="Arial"/>
                        </a:rPr>
                        <a:t>2</a:t>
                      </a:r>
                      <a:r>
                        <a:rPr sz="1100" b="1">
                          <a:solidFill>
                            <a:srgbClr val="FFFFFF"/>
                          </a:solidFill>
                          <a:latin typeface="Arial"/>
                        </a:rPr>
                        <a:t>, 3k, 54 mm slit</a:t>
                      </a:r>
                    </a:p>
                  </a:txBody>
                  <a:tcPr marL="54864" marR="54864" marT="18288" marB="18288">
                    <a:solidFill>
                      <a:srgbClr val="1F4E79"/>
                    </a:solidFill>
                  </a:tcPr>
                </a:tc>
                <a:tc>
                  <a:txBody>
                    <a:bodyPr wrap="square"/>
                    <a:lstStyle/>
                    <a:p>
                      <a:r>
                        <a:rPr sz="1100" b="1">
                          <a:solidFill>
                            <a:srgbClr val="FFFFFF"/>
                          </a:solidFill>
                          <a:latin typeface="Arial"/>
                        </a:rPr>
                        <a:t>4 × fused silica, 1.5k, 27 mm slit</a:t>
                      </a:r>
                    </a:p>
                  </a:txBody>
                  <a:tcPr marL="54864" marR="54864" marT="18288" marB="18288">
                    <a:solidFill>
                      <a:srgbClr val="1F4E79"/>
                    </a:solidFill>
                  </a:tcPr>
                </a:tc>
              </a:tr>
              <a:tr h="280035">
                <a:tc>
                  <a:txBody>
                    <a:bodyPr wrap="square"/>
                    <a:lstStyle/>
                    <a:p>
                      <a:r>
                        <a:rPr sz="1100" b="0">
                          <a:solidFill>
                            <a:srgbClr val="282828"/>
                          </a:solidFill>
                          <a:latin typeface="Arial"/>
                        </a:rPr>
                        <a:t>block radius = thickness</a:t>
                      </a:r>
                    </a:p>
                  </a:txBody>
                  <a:tcPr marL="54864" marR="54864" marT="18288" marB="18288">
                    <a:solidFill>
                      <a:srgbClr val="FFFFFF"/>
                    </a:solidFill>
                  </a:tcPr>
                </a:tc>
                <a:tc>
                  <a:txBody>
                    <a:bodyPr wrap="square"/>
                    <a:lstStyle/>
                    <a:p>
                      <a:r>
                        <a:rPr sz="1100" b="0">
                          <a:solidFill>
                            <a:srgbClr val="282828"/>
                          </a:solidFill>
                          <a:latin typeface="Arial"/>
                        </a:rPr>
                        <a:t>240 mm</a:t>
                      </a:r>
                    </a:p>
                  </a:txBody>
                  <a:tcPr marL="54864" marR="54864" marT="18288" marB="18288">
                    <a:solidFill>
                      <a:srgbClr val="FFFFFF"/>
                    </a:solidFill>
                  </a:tcPr>
                </a:tc>
                <a:tc>
                  <a:txBody>
                    <a:bodyPr wrap="square"/>
                    <a:lstStyle/>
                    <a:p>
                      <a:r>
                        <a:rPr sz="1100" b="0">
                          <a:solidFill>
                            <a:srgbClr val="282828"/>
                          </a:solidFill>
                          <a:latin typeface="Arial"/>
                        </a:rPr>
                        <a:t>130 mm</a:t>
                      </a:r>
                    </a:p>
                  </a:txBody>
                  <a:tcPr marL="54864" marR="54864" marT="18288" marB="18288">
                    <a:solidFill>
                      <a:srgbClr val="FFFFFF"/>
                    </a:solidFill>
                  </a:tcPr>
                </a:tc>
              </a:tr>
              <a:tr h="468630">
                <a:tc>
                  <a:txBody>
                    <a:bodyPr wrap="square"/>
                    <a:lstStyle/>
                    <a:p>
                      <a:r>
                        <a:rPr sz="1100" b="0">
                          <a:solidFill>
                            <a:srgbClr val="282828"/>
                          </a:solidFill>
                          <a:latin typeface="Arial"/>
                        </a:rPr>
                        <a:t>spectrometer alone: smile / keystone / CRF / SRF / energy in a pixel</a:t>
                      </a:r>
                    </a:p>
                  </a:txBody>
                  <a:tcPr marL="54864" marR="54864" marT="18288" marB="18288">
                    <a:solidFill>
                      <a:srgbClr val="ECF1F6"/>
                    </a:solidFill>
                  </a:tcPr>
                </a:tc>
                <a:tc>
                  <a:txBody>
                    <a:bodyPr wrap="square"/>
                    <a:lstStyle/>
                    <a:p>
                      <a:r>
                        <a:rPr sz="1100" b="0">
                          <a:solidFill>
                            <a:srgbClr val="282828"/>
                          </a:solidFill>
                          <a:latin typeface="Arial"/>
                        </a:rPr>
                        <a:t>0.005 / 0.006 / 1.21 / 2.02 px / 0.82</a:t>
                      </a:r>
                    </a:p>
                  </a:txBody>
                  <a:tcPr marL="54864" marR="54864" marT="18288" marB="18288">
                    <a:solidFill>
                      <a:srgbClr val="ECF1F6"/>
                    </a:solidFill>
                  </a:tcPr>
                </a:tc>
                <a:tc>
                  <a:txBody>
                    <a:bodyPr wrap="square"/>
                    <a:lstStyle/>
                    <a:p>
                      <a:r>
                        <a:rPr sz="1100" b="0">
                          <a:solidFill>
                            <a:srgbClr val="282828"/>
                          </a:solidFill>
                          <a:latin typeface="Arial"/>
                        </a:rPr>
                        <a:t>0.007 / 0.009 / 1.03 / 2.02 px / 1.00</a:t>
                      </a:r>
                    </a:p>
                  </a:txBody>
                  <a:tcPr marL="54864" marR="54864" marT="18288" marB="18288">
                    <a:solidFill>
                      <a:srgbClr val="ECF1F6"/>
                    </a:solidFill>
                  </a:tcPr>
                </a:tc>
              </a:tr>
              <a:tr h="468630">
                <a:tc>
                  <a:txBody>
                    <a:bodyPr wrap="square"/>
                    <a:lstStyle/>
                    <a:p>
                      <a:r>
                        <a:rPr sz="1100" b="0">
                          <a:solidFill>
                            <a:srgbClr val="282828"/>
                          </a:solidFill>
                          <a:latin typeface="Arial"/>
                        </a:rPr>
                        <a:t>telescope</a:t>
                      </a:r>
                    </a:p>
                  </a:txBody>
                  <a:tcPr marL="54864" marR="54864" marT="18288" marB="18288">
                    <a:solidFill>
                      <a:srgbClr val="FFFFFF"/>
                    </a:solidFill>
                  </a:tcPr>
                </a:tc>
                <a:tc>
                  <a:txBody>
                    <a:bodyPr wrap="square"/>
                    <a:lstStyle/>
                    <a:p>
                      <a:r>
                        <a:rPr sz="1100" b="0">
                          <a:solidFill>
                            <a:srgbClr val="282828"/>
                          </a:solidFill>
                          <a:latin typeface="Arial"/>
                        </a:rPr>
                        <a:t>freeform three-mirror of the SBG form (R9): 1.02 px at every field</a:t>
                      </a:r>
                    </a:p>
                  </a:txBody>
                  <a:tcPr marL="54864" marR="54864" marT="18288" marB="18288">
                    <a:solidFill>
                      <a:srgbClr val="FFFFFF"/>
                    </a:solidFill>
                  </a:tcPr>
                </a:tc>
                <a:tc>
                  <a:txBody>
                    <a:bodyPr wrap="square"/>
                    <a:lstStyle/>
                    <a:p>
                      <a:r>
                        <a:rPr sz="1100" b="0">
                          <a:solidFill>
                            <a:srgbClr val="282828"/>
                          </a:solidFill>
                          <a:latin typeface="Arial"/>
                        </a:rPr>
                        <a:t>the same form through the same template (R5 ffc): 1.02 px at every field; aspheres alone did not reach the floor</a:t>
                      </a:r>
                    </a:p>
                  </a:txBody>
                  <a:tcPr marL="54864" marR="54864" marT="18288" marB="18288">
                    <a:solidFill>
                      <a:srgbClr val="FFFFFF"/>
                    </a:solidFill>
                  </a:tcPr>
                </a:tc>
              </a:tr>
              <a:tr h="468630">
                <a:tc>
                  <a:txBody>
                    <a:bodyPr wrap="square"/>
                    <a:lstStyle/>
                    <a:p>
                      <a:r>
                        <a:rPr sz="1100" b="0">
                          <a:solidFill>
                            <a:srgbClr val="282828"/>
                          </a:solidFill>
                          <a:latin typeface="Arial"/>
                        </a:rPr>
                        <a:t>end to end: smile (slit-filled / point-source) / keystone / CRF / SRF</a:t>
                      </a:r>
                    </a:p>
                  </a:txBody>
                  <a:tcPr marL="54864" marR="54864" marT="18288" marB="18288">
                    <a:solidFill>
                      <a:srgbClr val="ECF1F6"/>
                    </a:solidFill>
                  </a:tcPr>
                </a:tc>
                <a:tc>
                  <a:txBody>
                    <a:bodyPr wrap="square"/>
                    <a:lstStyle/>
                    <a:p>
                      <a:r>
                        <a:rPr sz="1100" b="0">
                          <a:solidFill>
                            <a:srgbClr val="282828"/>
                          </a:solidFill>
                          <a:latin typeface="Arial"/>
                        </a:rPr>
                        <a:t>0.02 / 0.02 / 0.006 / 1.17 / 2.025 px</a:t>
                      </a:r>
                    </a:p>
                  </a:txBody>
                  <a:tcPr marL="54864" marR="54864" marT="18288" marB="18288">
                    <a:solidFill>
                      <a:srgbClr val="ECF1F6"/>
                    </a:solidFill>
                  </a:tcPr>
                </a:tc>
                <a:tc>
                  <a:txBody>
                    <a:bodyPr wrap="square"/>
                    <a:lstStyle/>
                    <a:p>
                      <a:r>
                        <a:rPr sz="1100" b="0">
                          <a:solidFill>
                            <a:srgbClr val="282828"/>
                          </a:solidFill>
                          <a:latin typeface="Arial"/>
                        </a:rPr>
                        <a:t>0.009 / 0.009 / 0.009 / 1.03 / 2.024 px</a:t>
                      </a:r>
                    </a:p>
                  </a:txBody>
                  <a:tcPr marL="54864" marR="54864" marT="18288" marB="18288">
                    <a:solidFill>
                      <a:srgbClr val="ECF1F6"/>
                    </a:solidFill>
                  </a:tcPr>
                </a:tc>
              </a:tr>
              <a:tr h="468630">
                <a:tc>
                  <a:txBody>
                    <a:bodyPr wrap="square"/>
                    <a:lstStyle/>
                    <a:p>
                      <a:r>
                        <a:rPr sz="1100" b="0">
                          <a:solidFill>
                            <a:srgbClr val="282828"/>
                          </a:solidFill>
                          <a:latin typeface="Arial"/>
                        </a:rPr>
                        <a:t>end to end: energy in one pixel, worst field</a:t>
                      </a:r>
                    </a:p>
                  </a:txBody>
                  <a:tcPr marL="54864" marR="54864" marT="18288" marB="18288">
                    <a:solidFill>
                      <a:srgbClr val="FFFFFF"/>
                    </a:solidFill>
                  </a:tcPr>
                </a:tc>
                <a:tc>
                  <a:txBody>
                    <a:bodyPr wrap="square"/>
                    <a:lstStyle/>
                    <a:p>
                      <a:r>
                        <a:rPr sz="1100" b="0">
                          <a:solidFill>
                            <a:srgbClr val="282828"/>
                          </a:solidFill>
                          <a:latin typeface="Arial"/>
                        </a:rPr>
                        <a:t>0.85</a:t>
                      </a:r>
                    </a:p>
                  </a:txBody>
                  <a:tcPr marL="54864" marR="54864" marT="18288" marB="18288">
                    <a:solidFill>
                      <a:srgbClr val="FFFFFF"/>
                    </a:solidFill>
                  </a:tcPr>
                </a:tc>
                <a:tc>
                  <a:txBody>
                    <a:bodyPr wrap="square"/>
                    <a:lstStyle/>
                    <a:p>
                      <a:r>
                        <a:rPr sz="1100" b="0">
                          <a:solidFill>
                            <a:srgbClr val="282828"/>
                          </a:solidFill>
                          <a:latin typeface="Arial"/>
                        </a:rPr>
                        <a:t>0.97</a:t>
                      </a:r>
                    </a:p>
                  </a:txBody>
                  <a:tcPr marL="54864" marR="54864" marT="18288" marB="18288">
                    <a:solidFill>
                      <a:srgbClr val="FFFFFF"/>
                    </a:solidFill>
                  </a:tcPr>
                </a:tc>
              </a:tr>
              <a:tr h="280035">
                <a:tc>
                  <a:txBody>
                    <a:bodyPr wrap="square"/>
                    <a:lstStyle/>
                    <a:p>
                      <a:r>
                        <a:rPr sz="1100" b="0">
                          <a:solidFill>
                            <a:srgbClr val="282828"/>
                          </a:solidFill>
                          <a:latin typeface="Arial"/>
                        </a:rPr>
                        <a:t>light admitted by the grating</a:t>
                      </a:r>
                    </a:p>
                  </a:txBody>
                  <a:tcPr marL="54864" marR="54864" marT="18288" marB="18288">
                    <a:solidFill>
                      <a:srgbClr val="ECF1F6"/>
                    </a:solidFill>
                  </a:tcPr>
                </a:tc>
                <a:tc>
                  <a:txBody>
                    <a:bodyPr wrap="square"/>
                    <a:lstStyle/>
                    <a:p>
                      <a:r>
                        <a:rPr sz="1100" b="0">
                          <a:solidFill>
                            <a:srgbClr val="282828"/>
                          </a:solidFill>
                          <a:latin typeface="Arial"/>
                        </a:rPr>
                        <a:t>98.9 % per field</a:t>
                      </a:r>
                    </a:p>
                  </a:txBody>
                  <a:tcPr marL="54864" marR="54864" marT="18288" marB="18288">
                    <a:solidFill>
                      <a:srgbClr val="ECF1F6"/>
                    </a:solidFill>
                  </a:tcPr>
                </a:tc>
                <a:tc>
                  <a:txBody>
                    <a:bodyPr wrap="square"/>
                    <a:lstStyle/>
                    <a:p>
                      <a:r>
                        <a:rPr sz="1100" b="0">
                          <a:solidFill>
                            <a:srgbClr val="282828"/>
                          </a:solidFill>
                          <a:latin typeface="Arial"/>
                        </a:rPr>
                        <a:t>98.7 % per field</a:t>
                      </a:r>
                    </a:p>
                  </a:txBody>
                  <a:tcPr marL="54864" marR="54864" marT="18288" marB="18288">
                    <a:solidFill>
                      <a:srgbClr val="ECF1F6"/>
                    </a:solidFill>
                  </a:tcPr>
                </a:tc>
              </a:tr>
              <a:tr h="280035">
                <a:tc>
                  <a:txBody>
                    <a:bodyPr wrap="square"/>
                    <a:lstStyle/>
                    <a:p>
                      <a:r>
                        <a:rPr sz="1100" b="0">
                          <a:solidFill>
                            <a:srgbClr val="282828"/>
                          </a:solidFill>
                          <a:latin typeface="Arial"/>
                        </a:rPr>
                        <a:t>clearance, worst pair</a:t>
                      </a:r>
                    </a:p>
                  </a:txBody>
                  <a:tcPr marL="54864" marR="54864" marT="18288" marB="18288">
                    <a:solidFill>
                      <a:srgbClr val="FFFFFF"/>
                    </a:solidFill>
                  </a:tcPr>
                </a:tc>
                <a:tc>
                  <a:txBody>
                    <a:bodyPr wrap="square"/>
                    <a:lstStyle/>
                    <a:p>
                      <a:r>
                        <a:rPr sz="1100" b="0">
                          <a:solidFill>
                            <a:srgbClr val="282828"/>
                          </a:solidFill>
                          <a:latin typeface="Arial"/>
                        </a:rPr>
                        <a:t>+0.6 mm (slit package vs block face)</a:t>
                      </a:r>
                    </a:p>
                  </a:txBody>
                  <a:tcPr marL="54864" marR="54864" marT="18288" marB="18288">
                    <a:solidFill>
                      <a:srgbClr val="FFFFFF"/>
                    </a:solidFill>
                  </a:tcPr>
                </a:tc>
                <a:tc>
                  <a:txBody>
                    <a:bodyPr wrap="square"/>
                    <a:lstStyle/>
                    <a:p>
                      <a:r>
                        <a:rPr sz="1100" b="0">
                          <a:solidFill>
                            <a:srgbClr val="282828"/>
                          </a:solidFill>
                          <a:latin typeface="Arial"/>
                        </a:rPr>
                        <a:t>+0.38 mm (detector package vs block face)</a:t>
                      </a:r>
                    </a:p>
                  </a:txBody>
                  <a:tcPr marL="54864" marR="54864" marT="18288" marB="18288">
                    <a:solidFill>
                      <a:srgbClr val="FFFFFF"/>
                    </a:solidFill>
                  </a:tcPr>
                </a:tc>
              </a:tr>
              <a:tr h="468630">
                <a:tc>
                  <a:txBody>
                    <a:bodyPr wrap="square"/>
                    <a:lstStyle/>
                    <a:p>
                      <a:r>
                        <a:rPr sz="1100" b="0">
                          <a:solidFill>
                            <a:srgbClr val="282828"/>
                          </a:solidFill>
                          <a:latin typeface="Arial"/>
                        </a:rPr>
                        <a:t>glass for 6000 pixels</a:t>
                      </a:r>
                    </a:p>
                  </a:txBody>
                  <a:tcPr marL="54864" marR="54864" marT="18288" marB="18288">
                    <a:solidFill>
                      <a:srgbClr val="ECF1F6"/>
                    </a:solidFill>
                  </a:tcPr>
                </a:tc>
                <a:tc>
                  <a:txBody>
                    <a:bodyPr wrap="square"/>
                    <a:lstStyle/>
                    <a:p>
                      <a:r>
                        <a:rPr sz="1100" b="0">
                          <a:solidFill>
                            <a:srgbClr val="282828"/>
                          </a:solidFill>
                          <a:latin typeface="Arial"/>
                        </a:rPr>
                        <a:t>9.0 L, 28.5 kg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(12.4 L single crystal to carve)</a:t>
                      </a:r>
                    </a:p>
                  </a:txBody>
                  <a:tcPr marL="54864" marR="54864" marT="18288" marB="18288">
                    <a:solidFill>
                      <a:srgbClr val="ECF1F6"/>
                    </a:solidFill>
                  </a:tcPr>
                </a:tc>
                <a:tc>
                  <a:txBody>
                    <a:bodyPr wrap="square"/>
                    <a:lstStyle/>
                    <a:p>
                      <a:r>
                        <a:rPr sz="1100" b="0">
                          <a:solidFill>
                            <a:srgbClr val="282828"/>
                          </a:solidFill>
                          <a:latin typeface="Arial"/>
                        </a:rPr>
                        <a:t>3.0 L, 6.6 kg fused silica</a:t>
                      </a:r>
                    </a:p>
                  </a:txBody>
                  <a:tcPr marL="54864" marR="54864" marT="18288" marB="18288">
                    <a:solidFill>
                      <a:srgbClr val="ECF1F6"/>
                    </a:solidFill>
                  </a:tcPr>
                </a:tc>
              </a:tr>
              <a:tr h="468630">
                <a:tc>
                  <a:txBody>
                    <a:bodyPr wrap="square"/>
                    <a:lstStyle/>
                    <a:p>
                      <a:r>
                        <a:rPr sz="1100" b="0">
                          <a:solidFill>
                            <a:srgbClr val="282828"/>
                          </a:solidFill>
                          <a:latin typeface="Arial"/>
                        </a:rPr>
                        <a:t>the block of modules: envelope; optics</a:t>
                      </a:r>
                    </a:p>
                  </a:txBody>
                  <a:tcPr marL="54864" marR="54864" marT="18288" marB="18288">
                    <a:solidFill>
                      <a:srgbClr val="FFFFFF"/>
                    </a:solidFill>
                  </a:tcPr>
                </a:tc>
                <a:tc>
                  <a:txBody>
                    <a:bodyPr wrap="square"/>
                    <a:lstStyle/>
                    <a:p>
                      <a:r>
                        <a:rPr sz="1100" b="0">
                          <a:solidFill>
                            <a:srgbClr val="282828"/>
                          </a:solidFill>
                          <a:latin typeface="Arial"/>
                        </a:rPr>
                        <a:t>0.75 × 0.60 × 1.36 m, 609 L; 39 kg</a:t>
                      </a:r>
                    </a:p>
                  </a:txBody>
                  <a:tcPr marL="54864" marR="54864" marT="18288" marB="18288">
                    <a:solidFill>
                      <a:srgbClr val="FFFFFF"/>
                    </a:solidFill>
                  </a:tcPr>
                </a:tc>
                <a:tc>
                  <a:txBody>
                    <a:bodyPr wrap="square"/>
                    <a:lstStyle/>
                    <a:p>
                      <a:r>
                        <a:rPr sz="1100" b="0">
                          <a:solidFill>
                            <a:srgbClr val="282828"/>
                          </a:solidFill>
                          <a:latin typeface="Arial"/>
                        </a:rPr>
                        <a:t>1.01 × 0.53 × 0.92 m, 494 L; 21.4 kg (the three-asphere record's block: 300 L, 14.6 kg — the zig-zag's M2 and M3 are full aperture)</a:t>
                      </a:r>
                    </a:p>
                  </a:txBody>
                  <a:tcPr marL="54864" marR="54864" marT="18288" marB="18288">
                    <a:solidFill>
                      <a:srgbClr val="FFFFFF"/>
                    </a:solidFill>
                  </a:tcPr>
                </a:tc>
              </a:tr>
              <a:tr h="468630">
                <a:tc>
                  <a:txBody>
                    <a:bodyPr wrap="square"/>
                    <a:lstStyle/>
                    <a:p>
                      <a:r>
                        <a:rPr sz="1100" b="0">
                          <a:solidFill>
                            <a:srgbClr val="282828"/>
                          </a:solidFill>
                          <a:latin typeface="Arial"/>
                        </a:rPr>
                        <a:t>telescopes / spectrometers / detectors</a:t>
                      </a:r>
                    </a:p>
                  </a:txBody>
                  <a:tcPr marL="54864" marR="54864" marT="18288" marB="18288">
                    <a:solidFill>
                      <a:srgbClr val="ECF1F6"/>
                    </a:solidFill>
                  </a:tcPr>
                </a:tc>
                <a:tc>
                  <a:txBody>
                    <a:bodyPr wrap="square"/>
                    <a:lstStyle/>
                    <a:p>
                      <a:r>
                        <a:rPr sz="1100" b="0">
                          <a:solidFill>
                            <a:srgbClr val="282828"/>
                          </a:solidFill>
                          <a:latin typeface="Arial"/>
                        </a:rPr>
                        <a:t>2 / 2 / 2 × (3072 × 512, a standard format)</a:t>
                      </a:r>
                    </a:p>
                  </a:txBody>
                  <a:tcPr marL="54864" marR="54864" marT="18288" marB="18288">
                    <a:solidFill>
                      <a:srgbClr val="ECF1F6"/>
                    </a:solidFill>
                  </a:tcPr>
                </a:tc>
                <a:tc>
                  <a:txBody>
                    <a:bodyPr wrap="square"/>
                    <a:lstStyle/>
                    <a:p>
                      <a:r>
                        <a:rPr sz="1100" b="0">
                          <a:solidFill>
                            <a:srgbClr val="282828"/>
                          </a:solidFill>
                          <a:latin typeface="Arial"/>
                        </a:rPr>
                        <a:t>4 / 4 / 4 × (1.5k × 0.5k, NRE)</a:t>
                      </a:r>
                    </a:p>
                  </a:txBody>
                  <a:tcPr marL="54864" marR="54864" marT="18288" marB="18288">
                    <a:solidFill>
                      <a:srgbClr val="ECF1F6"/>
                    </a:solidFill>
                  </a:tcPr>
                </a:tc>
              </a:tr>
              <a:tr h="280035">
                <a:tc>
                  <a:txBody>
                    <a:bodyPr wrap="square"/>
                    <a:lstStyle/>
                    <a:p>
                      <a:r>
                        <a:rPr sz="1100" b="0">
                          <a:solidFill>
                            <a:srgbClr val="282828"/>
                          </a:solidFill>
                          <a:latin typeface="Arial"/>
                        </a:rPr>
                        <a:t>integration, test, calibration</a:t>
                      </a:r>
                    </a:p>
                  </a:txBody>
                  <a:tcPr marL="54864" marR="54864" marT="18288" marB="18288">
                    <a:solidFill>
                      <a:srgbClr val="FFFFFF"/>
                    </a:solidFill>
                  </a:tcPr>
                </a:tc>
                <a:tc>
                  <a:txBody>
                    <a:bodyPr wrap="square"/>
                    <a:lstStyle/>
                    <a:p>
                      <a:r>
                        <a:rPr sz="1100" b="0">
                          <a:solidFill>
                            <a:srgbClr val="282828"/>
                          </a:solidFill>
                          <a:latin typeface="Arial"/>
                        </a:rPr>
                        <a:t>two of each</a:t>
                      </a:r>
                    </a:p>
                  </a:txBody>
                  <a:tcPr marL="54864" marR="54864" marT="18288" marB="18288">
                    <a:solidFill>
                      <a:srgbClr val="FFFFFF"/>
                    </a:solidFill>
                  </a:tcPr>
                </a:tc>
                <a:tc>
                  <a:txBody>
                    <a:bodyPr wrap="square"/>
                    <a:lstStyle/>
                    <a:p>
                      <a:r>
                        <a:rPr sz="1100" b="0">
                          <a:solidFill>
                            <a:srgbClr val="282828"/>
                          </a:solidFill>
                          <a:latin typeface="Arial"/>
                        </a:rPr>
                        <a:t>four of each (Jim: the cost that dominates)</a:t>
                      </a:r>
                    </a:p>
                  </a:txBody>
                  <a:tcPr marL="54864" marR="54864" marT="18288" marB="18288">
                    <a:solidFill>
                      <a:srgbClr val="FFFFFF"/>
                    </a:solidFill>
                  </a:tcPr>
                </a:tc>
              </a:tr>
              <a:tr h="468630">
                <a:tc>
                  <a:txBody>
                    <a:bodyPr wrap="square"/>
                    <a:lstStyle/>
                    <a:p>
                      <a:r>
                        <a:rPr sz="1100" b="0">
                          <a:solidFill>
                            <a:srgbClr val="282828"/>
                          </a:solidFill>
                          <a:latin typeface="Arial"/>
                        </a:rPr>
                        <a:t>materials</a:t>
                      </a:r>
                    </a:p>
                  </a:txBody>
                  <a:tcPr marL="54864" marR="54864" marT="18288" marB="18288">
                    <a:solidFill>
                      <a:srgbClr val="ECF1F6"/>
                    </a:solidFill>
                  </a:tcPr>
                </a:tc>
                <a:tc>
                  <a:txBody>
                    <a:bodyPr wrap="square"/>
                    <a:lstStyle/>
                    <a:p>
                      <a:r>
                        <a:rPr sz="1100" b="0">
                          <a:solidFill>
                            <a:srgbClr val="282828"/>
                          </a:solidFill>
                          <a:latin typeface="Arial"/>
                        </a:rPr>
                        <a:t>"a tiny fraction of the instrument cost" (Jim)</a:t>
                      </a:r>
                    </a:p>
                  </a:txBody>
                  <a:tcPr marL="54864" marR="54864" marT="18288" marB="18288">
                    <a:solidFill>
                      <a:srgbClr val="ECF1F6"/>
                    </a:solidFill>
                  </a:tcPr>
                </a:tc>
                <a:tc>
                  <a:txBody>
                    <a:bodyPr wrap="square"/>
                    <a:lstStyle/>
                    <a:p>
                      <a:r>
                        <a:rPr sz="1100" b="0">
                          <a:solidFill>
                            <a:srgbClr val="282828"/>
                          </a:solidFill>
                          <a:latin typeface="Arial"/>
                        </a:rPr>
                        <a:t>the same</a:t>
                      </a:r>
                    </a:p>
                  </a:txBody>
                  <a:tcPr marL="54864" marR="54864" marT="18288" marB="18288">
                    <a:solidFill>
                      <a:srgbClr val="ECF1F6"/>
                    </a:solidFill>
                  </a:tcPr>
                </a:tc>
              </a:tr>
            </a:tbl>
          </a:graphicData>
        </a:graphic>
      </p:graphicFrame>
      <p:sp>
        <p:nvSpPr>
          <p:cNvPr id="5" name="TextBox 4"/>
          <p:cNvSpPr txBox="1"/>
          <p:nvPr/>
        </p:nvSpPr>
        <p:spPr>
          <a:xfrm>
            <a:off x="411480" y="6593967"/>
            <a:ext cx="11368735" cy="274320"/>
          </a:xfrm>
          <a:prstGeom prst="rect">
            <a:avLst/>
          </a:prstGeom>
          <a:noFill/>
        </p:spPr>
        <p:txBody>
          <a:bodyPr wrap="square">
            <a:spAutoFit/>
          </a:bodyPr>
          <a:lstStyle/>
          <a:p>
            <a:pPr>
              <a:spcAft>
                <a:spcPts val="600"/>
              </a:spcAft>
            </a:pPr>
            <a:r>
              <a:rPr sz="1050" b="0">
                <a:solidFill>
                  <a:srgbClr val="6E6E6E"/>
                </a:solidFill>
                <a:latin typeface="Arial"/>
              </a:rPr>
              <a:t>Records dyson5_jim_3a.txt, dyson5_t5f_cprime_centroid_roll000.txt, tls1k5_e2e.txt and dyson5_cprime_1k5.in (the 1.5k module through the template, 2026-10-08: R5 ffc, a clearance wall row added after R4 touched M2 by 0.3 mm), dyson5_block4_cprime1k5.txt.  The earlier three-asphere 1.5k telescope re-scored under both launches: slit-filled smile 0.08, point-source 0.50, SRF 2.21, energy 0.30–0.39 (dyson5_rescore_1k5_launch.txt) — superseded.  The four-module block (0.97 × 0.41 × 0.76 m, 14.6 kg of optics) of the last deck stands as the fallback.  The air gap at the window stands on both (six crossings, 0.81 uncoated).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Questions for Jim and Joe</a:t>
            </a:r>
          </a:p>
          <a:p>
            <a:pPr>
              <a:spcAft>
                <a:spcPts val="0"/>
              </a:spcAft>
            </a:pPr>
            <a:r>
              <a:rPr sz="1250" b="0">
                <a:solidFill>
                  <a:srgbClr val="6E6E6E"/>
                </a:solidFill>
                <a:latin typeface="Arial"/>
              </a:rPr>
              <a:t>Three the ray trace cannot settle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entrance beam.</a:t>
            </a:r>
            <a:r>
              <a:rPr sz="1500" b="0">
                <a:solidFill>
                  <a:srgbClr val="282828"/>
                </a:solidFill>
                <a:latin typeface="Arial"/>
              </a:rPr>
              <a:t>  Joe's 183 mm at f 330 mm is F/1.803, so the telescope's cone along the slit is F/1.89 and cannot be "a little faster than the spectrometer" without a larger beam; the paper's is 192 mm.  Is the aperture Joe's number or the paper's?</a:t>
            </a:r>
          </a:p>
          <a:p>
            <a:pPr>
              <a:spcAft>
                <a:spcPts val="600"/>
              </a:spcAft>
            </a:pPr>
            <a:r>
              <a:rPr sz="1500" b="0">
                <a:solidFill>
                  <a:srgbClr val="282828"/>
                </a:solidFill>
                <a:latin typeface="Arial"/>
              </a:rPr>
              <a:t>•  </a:t>
            </a:r>
            <a:r>
              <a:rPr sz="1500" b="1">
                <a:solidFill>
                  <a:srgbClr val="282828"/>
                </a:solidFill>
                <a:latin typeface="Arial"/>
              </a:rPr>
              <a:t>The slit and SRF.</a:t>
            </a:r>
            <a:r>
              <a:rPr sz="1500" b="0">
                <a:solidFill>
                  <a:srgbClr val="282828"/>
                </a:solidFill>
                <a:latin typeface="Arial"/>
              </a:rPr>
              <a:t>  With a 2-pixel slit the SRF floor is 2.01–2.02 px (36 µm) with the pixel and diffraction, where this design sits to 0.03 µm; the paper's bound is 64.8 µm.  Is the 1.5–2.0 px range read against a 2-pixel slit, or does the project want a narrower slit at the throughput's expense?</a:t>
            </a:r>
          </a:p>
          <a:p>
            <a:pPr>
              <a:spcAft>
                <a:spcPts val="600"/>
              </a:spcAft>
            </a:pPr>
            <a:r>
              <a:rPr sz="1500" b="0">
                <a:solidFill>
                  <a:srgbClr val="282828"/>
                </a:solidFill>
                <a:latin typeface="Arial"/>
              </a:rPr>
              <a:t>•  </a:t>
            </a:r>
            <a:r>
              <a:rPr sz="1500" b="1">
                <a:solidFill>
                  <a:srgbClr val="282828"/>
                </a:solidFill>
                <a:latin typeface="Arial"/>
              </a:rPr>
              <a:t>The spectrometer's form.</a:t>
            </a:r>
            <a:r>
              <a:rPr sz="1500" b="0">
                <a:solidFill>
                  <a:srgbClr val="282828"/>
                </a:solidFill>
                <a:latin typeface="Arial"/>
              </a:rPr>
              <a:t>  Our Dyson of record is the paper's Option A and meets the specification; its Option B (the conic grating) buys energy in a pixel 0.82 → 0.99 here but not alignment insensitivity.  What drove B in the build — fabrication, thermal, or the margin?</a:t>
            </a:r>
          </a:p>
        </p:txBody>
      </p:sp>
      <p:sp>
        <p:nvSpPr>
          <p:cNvPr id="5" name="TextBox 4"/>
          <p:cNvSpPr txBox="1"/>
          <p:nvPr/>
        </p:nvSpPr>
        <p:spPr>
          <a:xfrm>
            <a:off x="411480" y="3984498"/>
            <a:ext cx="11368735" cy="274320"/>
          </a:xfrm>
          <a:prstGeom prst="rect">
            <a:avLst/>
          </a:prstGeom>
          <a:noFill/>
        </p:spPr>
        <p:txBody>
          <a:bodyPr wrap="square">
            <a:spAutoFit/>
          </a:bodyPr>
          <a:lstStyle/>
          <a:p>
            <a:pPr>
              <a:spcAft>
                <a:spcPts val="600"/>
              </a:spcAft>
            </a:pPr>
            <a:r>
              <a:rPr sz="1050" b="0">
                <a:solidFill>
                  <a:srgbClr val="6E6E6E"/>
                </a:solidFill>
                <a:latin typeface="Arial"/>
              </a:rPr>
              <a:t>Still open from the last round: the detector window's gap (now answered: an order-sorting filter, not bonded) and the AR by band.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Next steps</a:t>
            </a:r>
          </a:p>
          <a:p>
            <a:pPr>
              <a:spcAft>
                <a:spcPts val="0"/>
              </a:spcAft>
            </a:pPr>
            <a:r>
              <a:rPr sz="1250" b="0">
                <a:solidFill>
                  <a:srgbClr val="6E6E6E"/>
                </a:solidFill>
                <a:latin typeface="Arial"/>
              </a:rPr>
              <a:t>The spectrometer's tolerances and form; the telescope's tolerances and sizing; the record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Spectrometer:</a:t>
            </a:r>
            <a:r>
              <a:rPr sz="1200" b="0">
                <a:solidFill>
                  <a:srgbClr val="282828"/>
                </a:solidFill>
                <a:latin typeface="Arial"/>
              </a:rPr>
              <a:t> the every-CTE thermal soak row; fabrication terms (figure, the grating's period and groove errors) in the ladder; a vector grating efficiency to replace the scalar blaze; Option B as the candidate, its keystone tolerances (25 µm, 33 µrad) stated beside its margin.</a:t>
            </a:r>
          </a:p>
          <a:p>
            <a:pPr>
              <a:spcAft>
                <a:spcPts val="600"/>
              </a:spcAft>
            </a:pPr>
            <a:r>
              <a:rPr sz="1200" b="0">
                <a:solidFill>
                  <a:srgbClr val="282828"/>
                </a:solidFill>
                <a:latin typeface="Arial"/>
              </a:rPr>
              <a:t>•  </a:t>
            </a:r>
            <a:r>
              <a:rPr sz="1200" b="1">
                <a:solidFill>
                  <a:srgbClr val="282828"/>
                </a:solidFill>
                <a:latin typeface="Arial"/>
              </a:rPr>
              <a:t>Telescope:</a:t>
            </a:r>
            <a:r>
              <a:rPr sz="1200" b="0">
                <a:solidFill>
                  <a:srgbClr val="282828"/>
                </a:solidFill>
                <a:latin typeface="Arial"/>
              </a:rPr>
              <a:t> the same ladder on R9 (mirror decenter, tilt, figure; the slit's position), the mirrors sized with baffles, the two modules' lines of sight canted to their strips, as the four-module block was.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record:</a:t>
            </a:r>
            <a:r>
              <a:rPr sz="1200" b="0">
                <a:solidFill>
                  <a:srgbClr val="282828"/>
                </a:solidFill>
                <a:latin typeface="Arial"/>
              </a:rPr>
              <a:t> the template tma_longslit is general (one parameter file: f, D, F/#, strip, slit, the cone bound, working distance, the seed legs); its default run is this module.  A note to Jim and Joe with this deck, superseding "the 3k module is not there yet."</a:t>
            </a:r>
          </a:p>
          <a:p>
            <a:pPr>
              <a:spcAft>
                <a:spcPts val="600"/>
              </a:spcAft>
            </a:pPr>
            <a:r>
              <a:rPr sz="1200" b="0">
                <a:solidFill>
                  <a:srgbClr val="282828"/>
                </a:solidFill>
                <a:latin typeface="Arial"/>
              </a:rPr>
              <a:t>•  </a:t>
            </a:r>
            <a:r>
              <a:rPr sz="1200" b="1">
                <a:solidFill>
                  <a:srgbClr val="282828"/>
                </a:solidFill>
                <a:latin typeface="Arial"/>
              </a:rPr>
              <a:t>In the engine, from this round:</a:t>
            </a:r>
            <a:r>
              <a:rPr sz="1200" b="0">
                <a:solidFill>
                  <a:srgbClr val="282828"/>
                </a:solidFill>
                <a:latin typeface="Arial"/>
              </a:rPr>
              <a:t> the api's element stop now takes the CLI's range (it refused the secondary of a four-element telescope); both launch conventions in the join scorer; the spectrometer's chief-tilt diagnostic.</a:t>
            </a:r>
          </a:p>
        </p:txBody>
      </p:sp>
      <p:sp>
        <p:nvSpPr>
          <p:cNvPr id="6" name="TextBox 5"/>
          <p:cNvSpPr txBox="1"/>
          <p:nvPr/>
        </p:nvSpPr>
        <p:spPr>
          <a:xfrm>
            <a:off x="6400800" y="3200400"/>
            <a:ext cx="5394960" cy="274320"/>
          </a:xfrm>
          <a:prstGeom prst="rect">
            <a:avLst/>
          </a:prstGeom>
          <a:noFill/>
        </p:spPr>
        <p:txBody>
          <a:bodyPr wrap="square">
            <a:spAutoFit/>
          </a:bodyPr>
          <a:lstStyle/>
          <a:p>
            <a:pPr>
              <a:spcAft>
                <a:spcPts val="600"/>
              </a:spcAft>
            </a:pPr>
            <a:r>
              <a:rPr sz="1050" b="0">
                <a:solidFill>
                  <a:srgbClr val="6E6E6E"/>
                </a:solidFill>
                <a:latin typeface="Arial"/>
              </a:rPr>
              <a:t>BRIEF_to_dyson5.md addenda 48–49.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file, one runner, every stage through it; the telescope is a template any long-slit spectrometer can use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1298448"/>
            <a:ext cx="11368735" cy="1457957"/>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
              </a:spcAft>
            </a:pPr>
            <a:r>
              <a:rPr sz="1102" b="0">
                <a:solidFill>
                  <a:srgbClr val="282828"/>
                </a:solidFill>
                <a:latin typeface="Consolas"/>
              </a:rPr>
              <a:t>cd &lt;path&gt;/MACOS_resources/mmacos                   % the mmacos folder of the repository (the engine is built already)</a:t>
            </a:r>
          </a:p>
          <a:p>
            <a:pPr algn="l">
              <a:spcAft>
                <a:spcPts val="100"/>
              </a:spcAft>
            </a:pPr>
            <a:r>
              <a:rPr sz="1102" b="0">
                <a:solidFill>
                  <a:srgbClr val="282828"/>
                </a:solidFill>
                <a:latin typeface="Consolas"/>
              </a:rPr>
              <a:t>matlab</a:t>
            </a:r>
          </a:p>
          <a:p>
            <a:pPr algn="l">
              <a:spcAft>
                <a:spcPts val="100"/>
              </a:spcAft>
            </a:pPr>
            <a:r>
              <a:rPr sz="1102" b="0">
                <a:solidFill>
                  <a:srgbClr val="282828"/>
                </a:solidFill>
                <a:latin typeface="Consolas"/>
              </a:rPr>
              <a:t>&gt;&gt; run('mmacos_setup.m');</a:t>
            </a:r>
          </a:p>
          <a:p>
            <a:pPr algn="l">
              <a:spcAft>
                <a:spcPts val="100"/>
              </a:spcAft>
            </a:pPr>
            <a:r>
              <a:rPr sz="1102" b="0">
                <a:solidFill>
                  <a:srgbClr val="282828"/>
                </a:solidFill>
                <a:latin typeface="Consolas"/>
              </a:rPr>
              <a:t>&gt;&gt; addpath('templates/10_telescopes/tma_longslit');  addpath('challenges/dyson5');</a:t>
            </a:r>
          </a:p>
          <a:p>
            <a:pPr algn="l">
              <a:spcAft>
                <a:spcPts val="100"/>
              </a:spcAft>
            </a:pPr>
            <a:r>
              <a:rPr sz="1102" b="0">
                <a:solidFill>
                  <a:srgbClr val="282828"/>
                </a:solidFill>
                <a:latin typeface="Consolas"/>
              </a:rPr>
              <a:t>&gt;&gt; P = tma_longslit_params;                        % f, D, F/#, strip, slit, pixel, the telecentric and cone bounds, the seed legs</a:t>
            </a:r>
          </a:p>
          <a:p>
            <a:pPr algn="l">
              <a:spcAft>
                <a:spcPts val="100"/>
              </a:spcAft>
            </a:pPr>
            <a:r>
              <a:rPr sz="1102" b="0">
                <a:solidFill>
                  <a:srgbClr val="282828"/>
                </a:solidFill>
                <a:latin typeface="Consolas"/>
              </a:rPr>
              <a:t>&gt;&gt; OUT = tma_longslit_run({'first_order','section','figure','score','e2e'}, P);   % the ladder to the deck of record, then the join</a:t>
            </a:r>
          </a:p>
          <a:p>
            <a:pPr algn="l">
              <a:spcAft>
                <a:spcPts val="100"/>
              </a:spcAft>
            </a:pPr>
            <a:r>
              <a:rPr sz="1102" b="0">
                <a:solidFill>
                  <a:srgbClr val="282828"/>
                </a:solidFill>
                <a:latin typeface="Consolas"/>
              </a:rPr>
              <a:t>&gt;&gt; OUT = dyson5_run(struct('stages', {{'t5f'}}, 'tel5f_deck', 'dyson5_cprime_3k.in'));   % the 3k module end to end, both launches</a:t>
            </a:r>
          </a:p>
        </p:txBody>
      </p:sp>
      <p:sp>
        <p:nvSpPr>
          <p:cNvPr id="5" name="TextBox 4"/>
          <p:cNvSpPr txBox="1"/>
          <p:nvPr/>
        </p:nvSpPr>
        <p:spPr>
          <a:xfrm>
            <a:off x="411480" y="2866133"/>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Changeable parameters live in two files:</a:t>
            </a:r>
            <a:r>
              <a:rPr sz="1500" b="0">
                <a:solidFill>
                  <a:srgbClr val="282828"/>
                </a:solidFill>
                <a:latin typeface="Arial"/>
              </a:rPr>
              <a:t> tma_longslit_params.m for the telescope (spec, seed, rows and weights, field set), dyson5_params.m for the Dyson (F-number, pixels, band, slit, block radius, glass, order, the join).  Every record in this deck is a stage output under challenges/dyson5/ or the template's folder.</a:t>
            </a:r>
          </a:p>
          <a:p>
            <a:pPr>
              <a:spcAft>
                <a:spcPts val="600"/>
              </a:spcAft>
            </a:pPr>
            <a:r>
              <a:rPr sz="1500" b="0">
                <a:solidFill>
                  <a:srgbClr val="282828"/>
                </a:solidFill>
                <a:latin typeface="Arial"/>
              </a:rPr>
              <a:t>•  </a:t>
            </a:r>
            <a:r>
              <a:rPr sz="1500" b="1">
                <a:solidFill>
                  <a:srgbClr val="282828"/>
                </a:solidFill>
                <a:latin typeface="Arial"/>
              </a:rPr>
              <a:t>Checks:</a:t>
            </a:r>
            <a:r>
              <a:rPr sz="1500" b="0">
                <a:solidFill>
                  <a:srgbClr val="282828"/>
                </a:solidFill>
                <a:latin typeface="Arial"/>
              </a:rPr>
              <a:t> ./run_mmacos_tests.sh tTmaLongslit tSpectrometerRx tTelescopeRx tStopReload and the grating, glass, propagation and root-pick classes, all in the fast suite (566 pass, 0 fail, 2026-10-07).  tTmaLongslit re-scores the deck of record by name.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first order by the numbers</a:t>
            </a:r>
          </a:p>
          <a:p>
            <a:pPr>
              <a:spcAft>
                <a:spcPts val="0"/>
              </a:spcAft>
            </a:pPr>
            <a:r>
              <a:rPr sz="1250" b="0">
                <a:solidFill>
                  <a:srgbClr val="6E6E6E"/>
                </a:solidFill>
                <a:latin typeface="Arial"/>
              </a:rPr>
              <a:t>The seed's legs at f 330 mm, the powers the telecentric closure gives, the beams, and where the alternatives fail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086100"/>
        </p:xfrm>
        <a:graphic>
          <a:graphicData uri="http://schemas.openxmlformats.org/drawingml/2006/table">
            <a:tbl>
              <a:tblPr firstRow="1" bandRow="1">
                <a:tableStyleId>{5C22544A-7EE6-4342-B048-85BDC9FD1C3A}</a:tableStyleId>
              </a:tblPr>
              <a:tblGrid>
                <a:gridCol w="2606973"/>
                <a:gridCol w="3199466"/>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value</a:t>
                      </a:r>
                    </a:p>
                  </a:txBody>
                  <a:tcPr marL="54864" marR="54864" marT="18288" marB="18288">
                    <a:solidFill>
                      <a:srgbClr val="1F4E79"/>
                    </a:solidFill>
                  </a:tcPr>
                </a:tc>
              </a:tr>
              <a:tr h="468630">
                <a:tc>
                  <a:txBody>
                    <a:bodyPr wrap="square"/>
                    <a:lstStyle/>
                    <a:p>
                      <a:r>
                        <a:rPr sz="1100" b="0">
                          <a:solidFill>
                            <a:srgbClr val="282828"/>
                          </a:solidFill>
                          <a:latin typeface="Arial"/>
                        </a:rPr>
                        <a:t>legs M1→M2, M2→M3, M3→slit</a:t>
                      </a:r>
                    </a:p>
                  </a:txBody>
                  <a:tcPr marL="54864" marR="54864" marT="18288" marB="18288">
                    <a:solidFill>
                      <a:srgbClr val="FFFFFF"/>
                    </a:solidFill>
                  </a:tcPr>
                </a:tc>
                <a:tc>
                  <a:txBody>
                    <a:bodyPr wrap="square"/>
                    <a:lstStyle/>
                    <a:p>
                      <a:r>
                        <a:rPr sz="1100" b="0">
                          <a:solidFill>
                            <a:srgbClr val="282828"/>
                          </a:solidFill>
                          <a:latin typeface="Arial"/>
                        </a:rPr>
                        <a:t>258.3, 245.8, 299.4 mm (paper: 270, 257, 313 at f 345)</a:t>
                      </a:r>
                    </a:p>
                  </a:txBody>
                  <a:tcPr marL="54864" marR="54864" marT="18288" marB="18288">
                    <a:solidFill>
                      <a:srgbClr val="FFFFFF"/>
                    </a:solidFill>
                  </a:tcPr>
                </a:tc>
              </a:tr>
              <a:tr h="280035">
                <a:tc>
                  <a:txBody>
                    <a:bodyPr wrap="square"/>
                    <a:lstStyle/>
                    <a:p>
                      <a:r>
                        <a:rPr sz="1100" b="0">
                          <a:solidFill>
                            <a:srgbClr val="282828"/>
                          </a:solidFill>
                          <a:latin typeface="Arial"/>
                        </a:rPr>
                        <a:t>chief incidence M1, M2, M3</a:t>
                      </a:r>
                    </a:p>
                  </a:txBody>
                  <a:tcPr marL="54864" marR="54864" marT="18288" marB="18288">
                    <a:solidFill>
                      <a:srgbClr val="ECF1F6"/>
                    </a:solidFill>
                  </a:tcPr>
                </a:tc>
                <a:tc>
                  <a:txBody>
                    <a:bodyPr wrap="square"/>
                    <a:lstStyle/>
                    <a:p>
                      <a:r>
                        <a:rPr sz="1100" b="0">
                          <a:solidFill>
                            <a:srgbClr val="282828"/>
                          </a:solidFill>
                          <a:latin typeface="Arial"/>
                        </a:rPr>
                        <a:t>30°, 37°, 15°</a:t>
                      </a:r>
                    </a:p>
                  </a:txBody>
                  <a:tcPr marL="54864" marR="54864" marT="18288" marB="18288">
                    <a:solidFill>
                      <a:srgbClr val="ECF1F6"/>
                    </a:solidFill>
                  </a:tcPr>
                </a:tc>
              </a:tr>
              <a:tr h="280035">
                <a:tc>
                  <a:txBody>
                    <a:bodyPr wrap="square"/>
                    <a:lstStyle/>
                    <a:p>
                      <a:r>
                        <a:rPr sz="1100" b="0">
                          <a:solidFill>
                            <a:srgbClr val="282828"/>
                          </a:solidFill>
                          <a:latin typeface="Arial"/>
                        </a:rPr>
                        <a:t>focal lengths M1, M2, M3</a:t>
                      </a:r>
                    </a:p>
                  </a:txBody>
                  <a:tcPr marL="54864" marR="54864" marT="18288" marB="18288">
                    <a:solidFill>
                      <a:srgbClr val="FFFFFF"/>
                    </a:solidFill>
                  </a:tcPr>
                </a:tc>
                <a:tc>
                  <a:txBody>
                    <a:bodyPr wrap="square"/>
                    <a:lstStyle/>
                    <a:p>
                      <a:r>
                        <a:rPr sz="1100" b="0">
                          <a:solidFill>
                            <a:srgbClr val="282828"/>
                          </a:solidFill>
                          <a:latin typeface="Arial"/>
                        </a:rPr>
                        <a:t>+1012, −452, +246 mm (M3's = the M2→M3 leg)</a:t>
                      </a:r>
                    </a:p>
                  </a:txBody>
                  <a:tcPr marL="54864" marR="54864" marT="18288" marB="18288">
                    <a:solidFill>
                      <a:srgbClr val="FFFFFF"/>
                    </a:solidFill>
                  </a:tcPr>
                </a:tc>
              </a:tr>
              <a:tr h="280035">
                <a:tc>
                  <a:txBody>
                    <a:bodyPr wrap="square"/>
                    <a:lstStyle/>
                    <a:p>
                      <a:r>
                        <a:rPr sz="1100" b="0">
                          <a:solidFill>
                            <a:srgbClr val="282828"/>
                          </a:solidFill>
                          <a:latin typeface="Arial"/>
                        </a:rPr>
                        <a:t>entrance pupil</a:t>
                      </a:r>
                    </a:p>
                  </a:txBody>
                  <a:tcPr marL="54864" marR="54864" marT="18288" marB="18288">
                    <a:solidFill>
                      <a:srgbClr val="ECF1F6"/>
                    </a:solidFill>
                  </a:tcPr>
                </a:tc>
                <a:tc>
                  <a:txBody>
                    <a:bodyPr wrap="square"/>
                    <a:lstStyle/>
                    <a:p>
                      <a:r>
                        <a:rPr sz="1100" b="0">
                          <a:solidFill>
                            <a:srgbClr val="282828"/>
                          </a:solidFill>
                          <a:latin typeface="Arial"/>
                        </a:rPr>
                        <a:t>virtual, 347 mm behind M1</a:t>
                      </a:r>
                    </a:p>
                  </a:txBody>
                  <a:tcPr marL="54864" marR="54864" marT="18288" marB="18288">
                    <a:solidFill>
                      <a:srgbClr val="ECF1F6"/>
                    </a:solidFill>
                  </a:tcPr>
                </a:tc>
              </a:tr>
              <a:tr h="280035">
                <a:tc>
                  <a:txBody>
                    <a:bodyPr wrap="square"/>
                    <a:lstStyle/>
                    <a:p>
                      <a:r>
                        <a:rPr sz="1100" b="0">
                          <a:solidFill>
                            <a:srgbClr val="282828"/>
                          </a:solidFill>
                          <a:latin typeface="Arial"/>
                        </a:rPr>
                        <a:t>beams at M1, M2, M3</a:t>
                      </a:r>
                    </a:p>
                  </a:txBody>
                  <a:tcPr marL="54864" marR="54864" marT="18288" marB="18288">
                    <a:solidFill>
                      <a:srgbClr val="FFFFFF"/>
                    </a:solidFill>
                  </a:tcPr>
                </a:tc>
                <a:tc>
                  <a:txBody>
                    <a:bodyPr wrap="square"/>
                    <a:lstStyle/>
                    <a:p>
                      <a:r>
                        <a:rPr sz="1100" b="0">
                          <a:solidFill>
                            <a:srgbClr val="282828"/>
                          </a:solidFill>
                          <a:latin typeface="Arial"/>
                        </a:rPr>
                        <a:t>183, 136, 166 mm</a:t>
                      </a:r>
                    </a:p>
                  </a:txBody>
                  <a:tcPr marL="54864" marR="54864" marT="18288" marB="18288">
                    <a:solidFill>
                      <a:srgbClr val="FFFFFF"/>
                    </a:solidFill>
                  </a:tcPr>
                </a:tc>
              </a:tr>
              <a:tr h="468630">
                <a:tc>
                  <a:txBody>
                    <a:bodyPr wrap="square"/>
                    <a:lstStyle/>
                    <a:p>
                      <a:r>
                        <a:rPr sz="1100" b="0">
                          <a:solidFill>
                            <a:srgbClr val="282828"/>
                          </a:solidFill>
                          <a:latin typeface="Arial"/>
                        </a:rPr>
                        <a:t>intermediate focus</a:t>
                      </a:r>
                    </a:p>
                  </a:txBody>
                  <a:tcPr marL="54864" marR="54864" marT="18288" marB="18288">
                    <a:solidFill>
                      <a:srgbClr val="ECF1F6"/>
                    </a:solidFill>
                  </a:tcPr>
                </a:tc>
                <a:tc>
                  <a:txBody>
                    <a:bodyPr wrap="square"/>
                    <a:lstStyle/>
                    <a:p>
                      <a:r>
                        <a:rPr sz="1100" b="0">
                          <a:solidFill>
                            <a:srgbClr val="282828"/>
                          </a:solidFill>
                          <a:latin typeface="Arial"/>
                        </a:rPr>
                        <a:t>none (the marginal ray never crosses the axis)</a:t>
                      </a:r>
                    </a:p>
                  </a:txBody>
                  <a:tcPr marL="54864" marR="54864" marT="18288" marB="18288">
                    <a:solidFill>
                      <a:srgbClr val="ECF1F6"/>
                    </a:solidFill>
                  </a:tcPr>
                </a:tc>
              </a:tr>
              <a:tr h="468630">
                <a:tc>
                  <a:txBody>
                    <a:bodyPr wrap="square"/>
                    <a:lstStyle/>
                    <a:p>
                      <a:r>
                        <a:rPr sz="1100" b="0">
                          <a:solidFill>
                            <a:srgbClr val="282828"/>
                          </a:solidFill>
                          <a:latin typeface="Arial"/>
                        </a:rPr>
                        <a:t>chief to the slit normal, section as emitted</a:t>
                      </a:r>
                    </a:p>
                  </a:txBody>
                  <a:tcPr marL="54864" marR="54864" marT="18288" marB="18288">
                    <a:solidFill>
                      <a:srgbClr val="FFFFFF"/>
                    </a:solidFill>
                  </a:tcPr>
                </a:tc>
                <a:tc>
                  <a:txBody>
                    <a:bodyPr wrap="square"/>
                    <a:lstStyle/>
                    <a:p>
                      <a:r>
                        <a:rPr sz="1100" b="0">
                          <a:solidFill>
                            <a:srgbClr val="282828"/>
                          </a:solidFill>
                          <a:latin typeface="Arial"/>
                        </a:rPr>
                        <a:t>≤ 0.093° over ±4.7°</a:t>
                      </a:r>
                    </a:p>
                  </a:txBody>
                  <a:tcPr marL="54864" marR="54864" marT="18288" marB="18288">
                    <a:solidFill>
                      <a:srgbClr val="FFFFFF"/>
                    </a:solidFill>
                  </a:tcPr>
                </a:tc>
              </a:tr>
              <a:tr h="280035">
                <a:tc>
                  <a:txBody>
                    <a:bodyPr wrap="square"/>
                    <a:lstStyle/>
                    <a:p>
                      <a:r>
                        <a:rPr sz="1100" b="0">
                          <a:solidFill>
                            <a:srgbClr val="282828"/>
                          </a:solidFill>
                          <a:latin typeface="Arial"/>
                        </a:rPr>
                        <a:t>plate scale as emitted</a:t>
                      </a:r>
                    </a:p>
                  </a:txBody>
                  <a:tcPr marL="54864" marR="54864" marT="18288" marB="18288">
                    <a:solidFill>
                      <a:srgbClr val="ECF1F6"/>
                    </a:solidFill>
                  </a:tcPr>
                </a:tc>
                <a:tc>
                  <a:txBody>
                    <a:bodyPr wrap="square"/>
                    <a:lstStyle/>
                    <a:p>
                      <a:r>
                        <a:rPr sz="1100" b="0">
                          <a:solidFill>
                            <a:srgbClr val="282828"/>
                          </a:solidFill>
                          <a:latin typeface="Arial"/>
                        </a:rPr>
                        <a:t>329.99 mm local, 329.87 at the edge</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Stop at M1, or between M1 and M2:</a:t>
            </a:r>
            <a:r>
              <a:rPr sz="1200" b="0">
                <a:solidFill>
                  <a:srgbClr val="282828"/>
                </a:solidFill>
                <a:latin typeface="Arial"/>
              </a:rPr>
              <a:t> also telecentric, but it flips the form and M2 grows to 310 / 220–250 mm.</a:t>
            </a:r>
          </a:p>
          <a:p>
            <a:pPr>
              <a:spcAft>
                <a:spcPts val="600"/>
              </a:spcAft>
            </a:pPr>
            <a:r>
              <a:rPr sz="1200" b="0">
                <a:solidFill>
                  <a:srgbClr val="282828"/>
                </a:solidFill>
                <a:latin typeface="Arial"/>
              </a:rPr>
              <a:t>•  </a:t>
            </a:r>
            <a:r>
              <a:rPr sz="1200" b="1">
                <a:solidFill>
                  <a:srgbClr val="282828"/>
                </a:solidFill>
                <a:latin typeface="Arial"/>
              </a:rPr>
              <a:t>Tilted spheres:</a:t>
            </a:r>
            <a:r>
              <a:rPr sz="1200" b="0">
                <a:solidFill>
                  <a:srgbClr val="282828"/>
                </a:solidFill>
                <a:latin typeface="Arial"/>
              </a:rPr>
              <a:t> cannot meet the first order in both sections (R_t / R_s = 1.33, 1.57, 1.07 needed); off-axis conic sections can — paraboloids when the parent axis is at the incidence angle.</a:t>
            </a:r>
          </a:p>
          <a:p>
            <a:pPr>
              <a:spcAft>
                <a:spcPts val="600"/>
              </a:spcAft>
            </a:pPr>
            <a:r>
              <a:rPr sz="1200" b="0">
                <a:solidFill>
                  <a:srgbClr val="282828"/>
                </a:solidFill>
                <a:latin typeface="Arial"/>
              </a:rPr>
              <a:t>•  </a:t>
            </a:r>
            <a:r>
              <a:rPr sz="1200" b="1">
                <a:solidFill>
                  <a:srgbClr val="282828"/>
                </a:solidFill>
                <a:latin typeface="Arial"/>
              </a:rPr>
              <a:t>The paper's drawing left one thing open</a:t>
            </a:r>
            <a:r>
              <a:rPr sz="1200" b="0">
                <a:solidFill>
                  <a:srgbClr val="282828"/>
                </a:solidFill>
                <a:latin typeface="Arial"/>
              </a:rPr>
              <a:t> — whether the beam passes through a focus between M2 and M3 — and the numbers settled it: it does not.</a:t>
            </a:r>
          </a:p>
        </p:txBody>
      </p:sp>
      <p:sp>
        <p:nvSpPr>
          <p:cNvPr id="6" name="TextBox 5"/>
          <p:cNvSpPr txBox="1"/>
          <p:nvPr/>
        </p:nvSpPr>
        <p:spPr>
          <a:xfrm>
            <a:off x="6400800" y="3340608"/>
            <a:ext cx="5394960" cy="274320"/>
          </a:xfrm>
          <a:prstGeom prst="rect">
            <a:avLst/>
          </a:prstGeom>
          <a:noFill/>
        </p:spPr>
        <p:txBody>
          <a:bodyPr wrap="square">
            <a:spAutoFit/>
          </a:bodyPr>
          <a:lstStyle/>
          <a:p>
            <a:pPr>
              <a:spcAft>
                <a:spcPts val="600"/>
              </a:spcAft>
            </a:pPr>
            <a:r>
              <a:rPr sz="1050" b="0">
                <a:solidFill>
                  <a:srgbClr val="6E6E6E"/>
                </a:solidFill>
                <a:latin typeface="Arial"/>
              </a:rPr>
              <a:t>tls_first_order.txt; template README, "The two facts the first order forces."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rungs per field</a:t>
            </a:r>
          </a:p>
          <a:p>
            <a:pPr>
              <a:spcAft>
                <a:spcPts val="0"/>
              </a:spcAft>
            </a:pPr>
            <a:r>
              <a:rPr sz="1250" b="0">
                <a:solidFill>
                  <a:srgbClr val="6E6E6E"/>
                </a:solidFill>
                <a:latin typeface="Arial"/>
              </a:rPr>
              <a:t>What each rung's telescope looked like along the slit, and what the join made of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526030"/>
        </p:xfrm>
        <a:graphic>
          <a:graphicData uri="http://schemas.openxmlformats.org/drawingml/2006/table">
            <a:tbl>
              <a:tblPr firstRow="1" bandRow="1">
                <a:tableStyleId>{5C22544A-7EE6-4342-B048-85BDC9FD1C3A}</a:tableStyleId>
              </a:tblPr>
              <a:tblGrid>
                <a:gridCol w="436880"/>
                <a:gridCol w="2804993"/>
                <a:gridCol w="2932493"/>
                <a:gridCol w="2868743"/>
                <a:gridCol w="2325624"/>
              </a:tblGrid>
              <a:tr h="468630">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DOFs</a:t>
                      </a:r>
                    </a:p>
                  </a:txBody>
                  <a:tcPr marL="54864" marR="54864" marT="18288" marB="18288">
                    <a:solidFill>
                      <a:srgbClr val="1F4E79"/>
                    </a:solidFill>
                  </a:tcPr>
                </a:tc>
                <a:tc>
                  <a:txBody>
                    <a:bodyPr wrap="square"/>
                    <a:lstStyle/>
                    <a:p>
                      <a:r>
                        <a:rPr sz="1100" b="1">
                          <a:solidFill>
                            <a:srgbClr val="FFFFFF"/>
                          </a:solidFill>
                          <a:latin typeface="Arial"/>
                        </a:rPr>
                        <a:t>spot FWHM along the slit, fields 0 → 4.7° (px)</a:t>
                      </a:r>
                    </a:p>
                  </a:txBody>
                  <a:tcPr marL="54864" marR="54864" marT="18288" marB="18288">
                    <a:solidFill>
                      <a:srgbClr val="1F4E79"/>
                    </a:solidFill>
                  </a:tcPr>
                </a:tc>
                <a:tc>
                  <a:txBody>
                    <a:bodyPr wrap="square"/>
                    <a:lstStyle/>
                    <a:p>
                      <a:r>
                        <a:rPr sz="1100" b="1">
                          <a:solidFill>
                            <a:srgbClr val="FFFFFF"/>
                          </a:solidFill>
                          <a:latin typeface="Arial"/>
                        </a:rPr>
                        <a:t>chief − centroid across the slit at 4.7° (µm)</a:t>
                      </a:r>
                    </a:p>
                  </a:txBody>
                  <a:tcPr marL="54864" marR="54864" marT="18288" marB="18288">
                    <a:solidFill>
                      <a:srgbClr val="1F4E79"/>
                    </a:solidFill>
                  </a:tcPr>
                </a:tc>
                <a:tc>
                  <a:txBody>
                    <a:bodyPr wrap="square"/>
                    <a:lstStyle/>
                    <a:p>
                      <a:r>
                        <a:rPr sz="1100" b="1">
                          <a:solidFill>
                            <a:srgbClr val="FFFFFF"/>
                          </a:solidFill>
                          <a:latin typeface="Arial"/>
                        </a:rPr>
                        <a:t>e2e CRF / smile (point-source)</a:t>
                      </a:r>
                    </a:p>
                  </a:txBody>
                  <a:tcPr marL="54864" marR="54864" marT="18288" marB="18288">
                    <a:solidFill>
                      <a:srgbClr val="1F4E79"/>
                    </a:solidFill>
                  </a:tcPr>
                </a:tc>
              </a:tr>
              <a:tr h="280035">
                <a:tc>
                  <a:txBody>
                    <a:bodyPr wrap="square"/>
                    <a:lstStyle/>
                    <a:p>
                      <a:r>
                        <a:rPr sz="1100" b="0">
                          <a:solidFill>
                            <a:srgbClr val="282828"/>
                          </a:solidFill>
                          <a:latin typeface="Arial"/>
                        </a:rPr>
                        <a:t>R4</a:t>
                      </a:r>
                    </a:p>
                  </a:txBody>
                  <a:tcPr marL="54864" marR="54864" marT="18288" marB="18288">
                    <a:solidFill>
                      <a:srgbClr val="FFFFFF"/>
                    </a:solidFill>
                  </a:tcPr>
                </a:tc>
                <a:tc>
                  <a:txBody>
                    <a:bodyPr wrap="square"/>
                    <a:lstStyle/>
                    <a:p>
                      <a:r>
                        <a:rPr sz="1100" b="0">
                          <a:solidFill>
                            <a:srgbClr val="282828"/>
                          </a:solidFill>
                          <a:latin typeface="Arial"/>
                        </a:rPr>
                        <a:t>conics, θ, focus, h⁴ h⁶</a:t>
                      </a:r>
                    </a:p>
                  </a:txBody>
                  <a:tcPr marL="54864" marR="54864" marT="18288" marB="18288">
                    <a:solidFill>
                      <a:srgbClr val="FFFFFF"/>
                    </a:solidFill>
                  </a:tcPr>
                </a:tc>
                <a:tc>
                  <a:txBody>
                    <a:bodyPr wrap="square"/>
                    <a:lstStyle/>
                    <a:p>
                      <a:r>
                        <a:rPr sz="1100" b="0">
                          <a:solidFill>
                            <a:srgbClr val="282828"/>
                          </a:solidFill>
                          <a:latin typeface="Arial"/>
                        </a:rPr>
                        <a:t>1–2 center, 5–7 outer</a:t>
                      </a:r>
                    </a:p>
                  </a:txBody>
                  <a:tcPr marL="54864" marR="54864" marT="18288" marB="18288">
                    <a:solidFill>
                      <a:srgbClr val="FFFFFF"/>
                    </a:solidFill>
                  </a:tcPr>
                </a:tc>
                <a:tc>
                  <a:txBody>
                    <a:bodyPr wrap="square"/>
                    <a:lstStyle/>
                    <a:p>
                      <a:r>
                        <a:rPr sz="1100" b="0">
                          <a:solidFill>
                            <a:srgbClr val="282828"/>
                          </a:solidFill>
                          <a:latin typeface="Arial"/>
                        </a:rPr>
                        <a:t>9.1</a:t>
                      </a:r>
                    </a:p>
                  </a:txBody>
                  <a:tcPr marL="54864" marR="54864" marT="18288" marB="18288">
                    <a:solidFill>
                      <a:srgbClr val="FFFFFF"/>
                    </a:solidFill>
                  </a:tcPr>
                </a:tc>
                <a:tc>
                  <a:txBody>
                    <a:bodyPr wrap="square"/>
                    <a:lstStyle/>
                    <a:p>
                      <a:r>
                        <a:rPr sz="1100" b="0">
                          <a:solidFill>
                            <a:srgbClr val="282828"/>
                          </a:solidFill>
                          <a:latin typeface="Arial"/>
                        </a:rPr>
                        <a:t>2.5 / 0.73</a:t>
                      </a:r>
                    </a:p>
                  </a:txBody>
                  <a:tcPr marL="54864" marR="54864" marT="18288" marB="18288">
                    <a:solidFill>
                      <a:srgbClr val="FFFFFF"/>
                    </a:solidFill>
                  </a:tcPr>
                </a:tc>
              </a:tr>
              <a:tr h="468630">
                <a:tc>
                  <a:txBody>
                    <a:bodyPr wrap="square"/>
                    <a:lstStyle/>
                    <a:p>
                      <a:r>
                        <a:rPr sz="1100" b="0">
                          <a:solidFill>
                            <a:srgbClr val="282828"/>
                          </a:solidFill>
                          <a:latin typeface="Arial"/>
                        </a:rPr>
                        <a:t>R5</a:t>
                      </a:r>
                    </a:p>
                  </a:txBody>
                  <a:tcPr marL="54864" marR="54864" marT="18288" marB="18288">
                    <a:solidFill>
                      <a:srgbClr val="ECF1F6"/>
                    </a:solidFill>
                  </a:tcPr>
                </a:tc>
                <a:tc>
                  <a:txBody>
                    <a:bodyPr wrap="square"/>
                    <a:lstStyle/>
                    <a:p>
                      <a:r>
                        <a:rPr sz="1100" b="0">
                          <a:solidFill>
                            <a:srgbClr val="282828"/>
                          </a:solidFill>
                          <a:latin typeface="Arial"/>
                        </a:rPr>
                        <a:t>+ pole-frame freeform 3–6, centroid-bow rows</a:t>
                      </a:r>
                    </a:p>
                  </a:txBody>
                  <a:tcPr marL="54864" marR="54864" marT="18288" marB="18288">
                    <a:solidFill>
                      <a:srgbClr val="ECF1F6"/>
                    </a:solidFill>
                  </a:tcPr>
                </a:tc>
                <a:tc>
                  <a:txBody>
                    <a:bodyPr wrap="square"/>
                    <a:lstStyle/>
                    <a:p>
                      <a:r>
                        <a:rPr sz="1100" b="0">
                          <a:solidFill>
                            <a:srgbClr val="282828"/>
                          </a:solidFill>
                          <a:latin typeface="Arial"/>
                        </a:rPr>
                        <a:t>1 center, 5–7 outer</a:t>
                      </a:r>
                    </a:p>
                  </a:txBody>
                  <a:tcPr marL="54864" marR="54864" marT="18288" marB="18288">
                    <a:solidFill>
                      <a:srgbClr val="ECF1F6"/>
                    </a:solidFill>
                  </a:tcPr>
                </a:tc>
                <a:tc>
                  <a:txBody>
                    <a:bodyPr wrap="square"/>
                    <a:lstStyle/>
                    <a:p>
                      <a:r>
                        <a:rPr sz="1100" b="0">
                          <a:solidFill>
                            <a:srgbClr val="282828"/>
                          </a:solidFill>
                          <a:latin typeface="Arial"/>
                        </a:rPr>
                        <a:t>1.1</a:t>
                      </a:r>
                    </a:p>
                  </a:txBody>
                  <a:tcPr marL="54864" marR="54864" marT="18288" marB="18288">
                    <a:solidFill>
                      <a:srgbClr val="ECF1F6"/>
                    </a:solidFill>
                  </a:tcPr>
                </a:tc>
                <a:tc>
                  <a:txBody>
                    <a:bodyPr wrap="square"/>
                    <a:lstStyle/>
                    <a:p>
                      <a:r>
                        <a:rPr sz="1100" b="0">
                          <a:solidFill>
                            <a:srgbClr val="282828"/>
                          </a:solidFill>
                          <a:latin typeface="Arial"/>
                        </a:rPr>
                        <a:t>7.0 / 0.09</a:t>
                      </a:r>
                    </a:p>
                  </a:txBody>
                  <a:tcPr marL="54864" marR="54864" marT="18288" marB="18288">
                    <a:solidFill>
                      <a:srgbClr val="ECF1F6"/>
                    </a:solidFill>
                  </a:tcPr>
                </a:tc>
              </a:tr>
              <a:tr h="280035">
                <a:tc>
                  <a:txBody>
                    <a:bodyPr wrap="square"/>
                    <a:lstStyle/>
                    <a:p>
                      <a:r>
                        <a:rPr sz="1100" b="0">
                          <a:solidFill>
                            <a:srgbClr val="282828"/>
                          </a:solidFill>
                          <a:latin typeface="Arial"/>
                        </a:rPr>
                        <a:t>R6</a:t>
                      </a:r>
                    </a:p>
                  </a:txBody>
                  <a:tcPr marL="54864" marR="54864" marT="18288" marB="18288">
                    <a:solidFill>
                      <a:srgbClr val="FFFFFF"/>
                    </a:solidFill>
                  </a:tcPr>
                </a:tc>
                <a:tc>
                  <a:txBody>
                    <a:bodyPr wrap="square"/>
                    <a:lstStyle/>
                    <a:p>
                      <a:r>
                        <a:rPr sz="1100" b="0">
                          <a:solidFill>
                            <a:srgbClr val="282828"/>
                          </a:solidFill>
                          <a:latin typeface="Arial"/>
                        </a:rPr>
                        <a:t>R5, +3000 evaluations</a:t>
                      </a:r>
                    </a:p>
                  </a:txBody>
                  <a:tcPr marL="54864" marR="54864" marT="18288" marB="18288">
                    <a:solidFill>
                      <a:srgbClr val="FFFFFF"/>
                    </a:solidFill>
                  </a:tcPr>
                </a:tc>
                <a:tc>
                  <a:txBody>
                    <a:bodyPr wrap="square"/>
                    <a:lstStyle/>
                    <a:p>
                      <a:r>
                        <a:rPr sz="1100" b="0">
                          <a:solidFill>
                            <a:srgbClr val="282828"/>
                          </a:solidFill>
                          <a:latin typeface="Arial"/>
                        </a:rPr>
                        <a:t>as R5</a:t>
                      </a:r>
                    </a:p>
                  </a:txBody>
                  <a:tcPr marL="54864" marR="54864" marT="18288" marB="18288">
                    <a:solidFill>
                      <a:srgbClr val="FFFFFF"/>
                    </a:solidFill>
                  </a:tcPr>
                </a:tc>
                <a:tc>
                  <a:txBody>
                    <a:bodyPr wrap="square"/>
                    <a:lstStyle/>
                    <a:p>
                      <a:r>
                        <a:rPr sz="1100" b="0">
                          <a:solidFill>
                            <a:srgbClr val="282828"/>
                          </a:solidFill>
                          <a:latin typeface="Arial"/>
                        </a:rPr>
                        <a:t>1.5</a:t>
                      </a:r>
                    </a:p>
                  </a:txBody>
                  <a:tcPr marL="54864" marR="54864" marT="18288" marB="18288">
                    <a:solidFill>
                      <a:srgbClr val="FFFFFF"/>
                    </a:solidFill>
                  </a:tcPr>
                </a:tc>
                <a:tc>
                  <a:txBody>
                    <a:bodyPr wrap="square"/>
                    <a:lstStyle/>
                    <a:p>
                      <a:r>
                        <a:rPr sz="1100" b="0">
                          <a:solidFill>
                            <a:srgbClr val="282828"/>
                          </a:solidFill>
                          <a:latin typeface="Arial"/>
                        </a:rPr>
                        <a:t>7.2 / 0.15</a:t>
                      </a:r>
                    </a:p>
                  </a:txBody>
                  <a:tcPr marL="54864" marR="54864" marT="18288" marB="18288">
                    <a:solidFill>
                      <a:srgbClr val="FFFFFF"/>
                    </a:solidFill>
                  </a:tcPr>
                </a:tc>
              </a:tr>
              <a:tr h="468630">
                <a:tc>
                  <a:txBody>
                    <a:bodyPr wrap="square"/>
                    <a:lstStyle/>
                    <a:p>
                      <a:r>
                        <a:rPr sz="1100" b="0">
                          <a:solidFill>
                            <a:srgbClr val="282828"/>
                          </a:solidFill>
                          <a:latin typeface="Arial"/>
                        </a:rPr>
                        <a:t>R7</a:t>
                      </a:r>
                    </a:p>
                  </a:txBody>
                  <a:tcPr marL="54864" marR="54864" marT="18288" marB="18288">
                    <a:solidFill>
                      <a:srgbClr val="ECF1F6"/>
                    </a:solidFill>
                  </a:tcPr>
                </a:tc>
                <a:tc>
                  <a:txBody>
                    <a:bodyPr wrap="square"/>
                    <a:lstStyle/>
                    <a:p>
                      <a:r>
                        <a:rPr sz="1100" b="0">
                          <a:solidFill>
                            <a:srgbClr val="282828"/>
                          </a:solidFill>
                          <a:latin typeface="Arial"/>
                        </a:rPr>
                        <a:t>from R4: along-slit ×3, outer fields ×2–3</a:t>
                      </a:r>
                    </a:p>
                  </a:txBody>
                  <a:tcPr marL="54864" marR="54864" marT="18288" marB="18288">
                    <a:solidFill>
                      <a:srgbClr val="ECF1F6"/>
                    </a:solidFill>
                  </a:tcPr>
                </a:tc>
                <a:tc>
                  <a:txBody>
                    <a:bodyPr wrap="square"/>
                    <a:lstStyle/>
                    <a:p>
                      <a:r>
                        <a:rPr sz="1100" b="0">
                          <a:solidFill>
                            <a:srgbClr val="282828"/>
                          </a:solidFill>
                          <a:latin typeface="Arial"/>
                        </a:rPr>
                        <a:t>1.02 everywhere</a:t>
                      </a:r>
                    </a:p>
                  </a:txBody>
                  <a:tcPr marL="54864" marR="54864" marT="18288" marB="18288">
                    <a:solidFill>
                      <a:srgbClr val="ECF1F6"/>
                    </a:solidFill>
                  </a:tcPr>
                </a:tc>
                <a:tc>
                  <a:txBody>
                    <a:bodyPr wrap="square"/>
                    <a:lstStyle/>
                    <a:p>
                      <a:r>
                        <a:rPr sz="1100" b="0">
                          <a:solidFill>
                            <a:srgbClr val="282828"/>
                          </a:solidFill>
                          <a:latin typeface="Arial"/>
                        </a:rPr>
                        <a:t>2.43</a:t>
                      </a:r>
                    </a:p>
                  </a:txBody>
                  <a:tcPr marL="54864" marR="54864" marT="18288" marB="18288">
                    <a:solidFill>
                      <a:srgbClr val="ECF1F6"/>
                    </a:solidFill>
                  </a:tcPr>
                </a:tc>
                <a:tc>
                  <a:txBody>
                    <a:bodyPr wrap="square"/>
                    <a:lstStyle/>
                    <a:p>
                      <a:r>
                        <a:rPr sz="1100" b="0">
                          <a:solidFill>
                            <a:srgbClr val="282828"/>
                          </a:solidFill>
                          <a:latin typeface="Arial"/>
                        </a:rPr>
                        <a:t>1.18 / 0.14</a:t>
                      </a:r>
                    </a:p>
                  </a:txBody>
                  <a:tcPr marL="54864" marR="54864" marT="18288" marB="18288">
                    <a:solidFill>
                      <a:srgbClr val="ECF1F6"/>
                    </a:solidFill>
                  </a:tcPr>
                </a:tc>
              </a:tr>
              <a:tr h="280035">
                <a:tc>
                  <a:txBody>
                    <a:bodyPr wrap="square"/>
                    <a:lstStyle/>
                    <a:p>
                      <a:r>
                        <a:rPr sz="1100" b="0">
                          <a:solidFill>
                            <a:srgbClr val="282828"/>
                          </a:solidFill>
                          <a:latin typeface="Arial"/>
                        </a:rPr>
                        <a:t>R8</a:t>
                      </a:r>
                    </a:p>
                  </a:txBody>
                  <a:tcPr marL="54864" marR="54864" marT="18288" marB="18288">
                    <a:solidFill>
                      <a:srgbClr val="FFFFFF"/>
                    </a:solidFill>
                  </a:tcPr>
                </a:tc>
                <a:tc>
                  <a:txBody>
                    <a:bodyPr wrap="square"/>
                    <a:lstStyle/>
                    <a:p>
                      <a:r>
                        <a:rPr sz="1100" b="0">
                          <a:solidFill>
                            <a:srgbClr val="282828"/>
                          </a:solidFill>
                          <a:latin typeface="Arial"/>
                        </a:rPr>
                        <a:t>R7 + telecentric ×30</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2.4</a:t>
                      </a:r>
                    </a:p>
                  </a:txBody>
                  <a:tcPr marL="54864" marR="54864" marT="18288" marB="18288">
                    <a:solidFill>
                      <a:srgbClr val="FFFFFF"/>
                    </a:solidFill>
                  </a:tcPr>
                </a:tc>
                <a:tc>
                  <a:txBody>
                    <a:bodyPr wrap="square"/>
                    <a:lstStyle/>
                    <a:p>
                      <a:r>
                        <a:rPr sz="1100" b="0">
                          <a:solidFill>
                            <a:srgbClr val="282828"/>
                          </a:solidFill>
                          <a:latin typeface="Arial"/>
                        </a:rPr>
                        <a:t>1.18 / 0.14</a:t>
                      </a:r>
                    </a:p>
                  </a:txBody>
                  <a:tcPr marL="54864" marR="54864" marT="18288" marB="18288">
                    <a:solidFill>
                      <a:srgbClr val="FFFFFF"/>
                    </a:solidFill>
                  </a:tcPr>
                </a:tc>
              </a:tr>
              <a:tr h="280035">
                <a:tc>
                  <a:txBody>
                    <a:bodyPr wrap="square"/>
                    <a:lstStyle/>
                    <a:p>
                      <a:r>
                        <a:rPr sz="1100" b="0">
                          <a:solidFill>
                            <a:srgbClr val="282828"/>
                          </a:solidFill>
                          <a:latin typeface="Arial"/>
                        </a:rPr>
                        <a:t>R9</a:t>
                      </a:r>
                    </a:p>
                  </a:txBody>
                  <a:tcPr marL="54864" marR="54864" marT="18288" marB="18288">
                    <a:solidFill>
                      <a:srgbClr val="ECF1F6"/>
                    </a:solidFill>
                  </a:tcPr>
                </a:tc>
                <a:tc>
                  <a:txBody>
                    <a:bodyPr wrap="square"/>
                    <a:lstStyle/>
                    <a:p>
                      <a:r>
                        <a:rPr sz="1100" b="0">
                          <a:solidFill>
                            <a:srgbClr val="282828"/>
                          </a:solidFill>
                          <a:latin typeface="Arial"/>
                        </a:rPr>
                        <a:t>R7 + offset rows ×1000</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0.03</a:t>
                      </a:r>
                    </a:p>
                  </a:txBody>
                  <a:tcPr marL="54864" marR="54864" marT="18288" marB="18288">
                    <a:solidFill>
                      <a:srgbClr val="ECF1F6"/>
                    </a:solidFill>
                  </a:tcPr>
                </a:tc>
                <a:tc>
                  <a:txBody>
                    <a:bodyPr wrap="square"/>
                    <a:lstStyle/>
                    <a:p>
                      <a:r>
                        <a:rPr sz="1100" b="0">
                          <a:solidFill>
                            <a:srgbClr val="282828"/>
                          </a:solidFill>
                          <a:latin typeface="Arial"/>
                        </a:rPr>
                        <a:t>1.17 / 0.016</a:t>
                      </a:r>
                    </a:p>
                  </a:txBody>
                  <a:tcPr marL="54864" marR="54864" marT="18288" marB="18288">
                    <a:solidFill>
                      <a:srgbClr val="ECF1F6"/>
                    </a:solidFill>
                  </a:tcPr>
                </a:tc>
              </a:tr>
            </a:tbl>
          </a:graphicData>
        </a:graphic>
      </p:graphicFrame>
      <p:sp>
        <p:nvSpPr>
          <p:cNvPr id="5" name="TextBox 4"/>
          <p:cNvSpPr txBox="1"/>
          <p:nvPr/>
        </p:nvSpPr>
        <p:spPr>
          <a:xfrm>
            <a:off x="411480" y="3970782"/>
            <a:ext cx="11368735" cy="274320"/>
          </a:xfrm>
          <a:prstGeom prst="rect">
            <a:avLst/>
          </a:prstGeom>
          <a:noFill/>
        </p:spPr>
        <p:txBody>
          <a:bodyPr wrap="square">
            <a:spAutoFit/>
          </a:bodyPr>
          <a:lstStyle/>
          <a:p>
            <a:pPr>
              <a:spcAft>
                <a:spcPts val="600"/>
              </a:spcAft>
            </a:pPr>
            <a:r>
              <a:rPr sz="1500" b="0">
                <a:solidFill>
                  <a:srgbClr val="282828"/>
                </a:solidFill>
                <a:latin typeface="Arial"/>
              </a:rPr>
              <a:t>•  The four solves thrown out (unbounded layout, free R_t / R_s, closure variants, a resume defect) are in the report; none changed the form.</a:t>
            </a:r>
          </a:p>
        </p:txBody>
      </p:sp>
      <p:sp>
        <p:nvSpPr>
          <p:cNvPr id="6" name="TextBox 5"/>
          <p:cNvSpPr txBox="1"/>
          <p:nvPr/>
        </p:nvSpPr>
        <p:spPr>
          <a:xfrm>
            <a:off x="411480" y="4642866"/>
            <a:ext cx="11368735" cy="274320"/>
          </a:xfrm>
          <a:prstGeom prst="rect">
            <a:avLst/>
          </a:prstGeom>
          <a:noFill/>
        </p:spPr>
        <p:txBody>
          <a:bodyPr wrap="square">
            <a:spAutoFit/>
          </a:bodyPr>
          <a:lstStyle/>
          <a:p>
            <a:pPr>
              <a:spcAft>
                <a:spcPts val="600"/>
              </a:spcAft>
            </a:pPr>
            <a:r>
              <a:rPr sz="1050" b="0">
                <a:solidFill>
                  <a:srgbClr val="6E6E6E"/>
                </a:solidFill>
                <a:latin typeface="Arial"/>
              </a:rPr>
              <a:t>REPORT_dyson5_cprime.md; tma_longslit/runs_*.log.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chief-tilt diagnostic</a:t>
            </a:r>
          </a:p>
          <a:p>
            <a:pPr>
              <a:spcAft>
                <a:spcPts val="0"/>
              </a:spcAft>
            </a:pPr>
            <a:r>
              <a:rPr sz="1250" b="0">
                <a:solidFill>
                  <a:srgbClr val="6E6E6E"/>
                </a:solidFill>
                <a:latin typeface="Arial"/>
              </a:rPr>
              <a:t>How the smile's cause was isolated without a solve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hypothesis:</a:t>
            </a:r>
            <a:r>
              <a:rPr sz="1500" b="0">
                <a:solidFill>
                  <a:srgbClr val="282828"/>
                </a:solidFill>
                <a:latin typeface="Arial"/>
              </a:rPr>
              <a:t> the telescope's chief rays reach the slit up to 0.51 mrad from its normal in the dispersion direction, even in field and roughly quadratic — smile's shape — and a Dyson's spectral centroid moves with the input chief angle.</a:t>
            </a:r>
          </a:p>
          <a:p>
            <a:pPr>
              <a:spcAft>
                <a:spcPts val="600"/>
              </a:spcAft>
            </a:pPr>
            <a:r>
              <a:rPr sz="1500" b="0">
                <a:solidFill>
                  <a:srgbClr val="282828"/>
                </a:solidFill>
                <a:latin typeface="Arial"/>
              </a:rPr>
              <a:t>•  </a:t>
            </a:r>
            <a:r>
              <a:rPr sz="1500" b="1">
                <a:solidFill>
                  <a:srgbClr val="282828"/>
                </a:solidFill>
                <a:latin typeface="Arial"/>
              </a:rPr>
              <a:t>Why it could not be tested by hand on the joined deck:</a:t>
            </a:r>
            <a:r>
              <a:rPr sz="1500" b="0">
                <a:solidFill>
                  <a:srgbClr val="282828"/>
                </a:solidFill>
                <a:latin typeface="Arial"/>
              </a:rPr>
              <a:t> each field has two sky angles but needs three conditions (land on the slit line, two chief-angle components), and the join re-aims every launch through the grating, so a telecentric error appears there as a pupil shift.</a:t>
            </a:r>
          </a:p>
          <a:p>
            <a:pPr>
              <a:spcAft>
                <a:spcPts val="600"/>
              </a:spcAft>
            </a:pPr>
            <a:r>
              <a:rPr sz="1500" b="0">
                <a:solidFill>
                  <a:srgbClr val="282828"/>
                </a:solidFill>
                <a:latin typeface="Arial"/>
              </a:rPr>
              <a:t>•  </a:t>
            </a:r>
            <a:r>
              <a:rPr sz="1500" b="1">
                <a:solidFill>
                  <a:srgbClr val="282828"/>
                </a:solidFill>
                <a:latin typeface="Arial"/>
              </a:rPr>
              <a:t>The test:</a:t>
            </a:r>
            <a:r>
              <a:rPr sz="1500" b="0">
                <a:solidFill>
                  <a:srgbClr val="282828"/>
                </a:solidFill>
                <a:latin typeface="Arial"/>
              </a:rPr>
              <a:t> the spectrometer alone, each slit point's input chief tilted by the telescope's measured angles, scored as the record is (slide 12's left table).  Smile 0.0050 → 0.0049; keystone moves, so the hook is live.  The hypothesis is dead; the chief − centroid offset model (right table) predicts all five rungs.</a:t>
            </a:r>
          </a:p>
          <a:p>
            <a:pPr>
              <a:spcAft>
                <a:spcPts val="600"/>
              </a:spcAft>
            </a:pPr>
            <a:r>
              <a:rPr sz="1500" b="0">
                <a:solidFill>
                  <a:srgbClr val="282828"/>
                </a:solidFill>
                <a:latin typeface="Arial"/>
              </a:rPr>
              <a:t>•  </a:t>
            </a:r>
            <a:r>
              <a:rPr sz="1500" b="1">
                <a:solidFill>
                  <a:srgbClr val="282828"/>
                </a:solidFill>
                <a:latin typeface="Arial"/>
              </a:rPr>
              <a:t>Why R8 said nothing:</a:t>
            </a:r>
            <a:r>
              <a:rPr sz="1500" b="0">
                <a:solidFill>
                  <a:srgbClr val="282828"/>
                </a:solidFill>
                <a:latin typeface="Arial"/>
              </a:rPr>
              <a:t> its telecentric rows were 0.4 % of the merit.</a:t>
            </a:r>
          </a:p>
        </p:txBody>
      </p:sp>
      <p:sp>
        <p:nvSpPr>
          <p:cNvPr id="5" name="TextBox 4"/>
          <p:cNvSpPr txBox="1"/>
          <p:nvPr/>
        </p:nvSpPr>
        <p:spPr>
          <a:xfrm>
            <a:off x="411480" y="4372356"/>
            <a:ext cx="11368735" cy="274320"/>
          </a:xfrm>
          <a:prstGeom prst="rect">
            <a:avLst/>
          </a:prstGeom>
          <a:noFill/>
        </p:spPr>
        <p:txBody>
          <a:bodyPr wrap="square">
            <a:spAutoFit/>
          </a:bodyPr>
          <a:lstStyle/>
          <a:p>
            <a:pPr>
              <a:spcAft>
                <a:spcPts val="600"/>
              </a:spcAft>
            </a:pPr>
            <a:r>
              <a:rPr sz="1050" b="0">
                <a:solidFill>
                  <a:srgbClr val="6E6E6E"/>
                </a:solidFill>
                <a:latin typeface="Arial"/>
              </a:rPr>
              <a:t>tls_dyson_chief_tilt.m (wraps the launch; the library untouched), its .mat; the template README.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tolerance ladder by the numbers</a:t>
            </a:r>
          </a:p>
          <a:p>
            <a:pPr>
              <a:spcAft>
                <a:spcPts val="0"/>
              </a:spcAft>
            </a:pPr>
            <a:r>
              <a:rPr sz="1250" b="0">
                <a:solidFill>
                  <a:srgbClr val="6E6E6E"/>
                </a:solidFill>
                <a:latin typeface="Arial"/>
              </a:rPr>
              <a:t>One perturbation at a time on the 3k Dyson of record, scored alone and through the R9 join; the compensator is the detector's focus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3366135"/>
        </p:xfrm>
        <a:graphic>
          <a:graphicData uri="http://schemas.openxmlformats.org/drawingml/2006/table">
            <a:tbl>
              <a:tblPr firstRow="1" bandRow="1">
                <a:tableStyleId>{5C22544A-7EE6-4342-B048-85BDC9FD1C3A}</a:tableStyleId>
              </a:tblPr>
              <a:tblGrid>
                <a:gridCol w="3104034"/>
                <a:gridCol w="1817116"/>
                <a:gridCol w="2035048"/>
                <a:gridCol w="1090676"/>
                <a:gridCol w="3321861"/>
              </a:tblGrid>
              <a:tr h="468630">
                <a:tc>
                  <a:txBody>
                    <a:bodyPr wrap="square"/>
                    <a:lstStyle/>
                    <a:p>
                      <a:r>
                        <a:rPr sz="1100" b="1">
                          <a:solidFill>
                            <a:srgbClr val="FFFFFF"/>
                          </a:solidFill>
                          <a:latin typeface="Arial"/>
                        </a:rPr>
                        <a:t>perturbation (unit)</a:t>
                      </a:r>
                    </a:p>
                  </a:txBody>
                  <a:tcPr marL="54864" marR="54864" marT="18288" marB="18288">
                    <a:solidFill>
                      <a:srgbClr val="1F4E79"/>
                    </a:solidFill>
                  </a:tcPr>
                </a:tc>
                <a:tc>
                  <a:txBody>
                    <a:bodyPr wrap="square"/>
                    <a:lstStyle/>
                    <a:p>
                      <a:r>
                        <a:rPr sz="1100" b="1">
                          <a:solidFill>
                            <a:srgbClr val="FFFFFF"/>
                          </a:solidFill>
                          <a:latin typeface="Arial"/>
                        </a:rPr>
                        <a:t>CRF, uncompensated (px)</a:t>
                      </a:r>
                    </a:p>
                  </a:txBody>
                  <a:tcPr marL="54864" marR="54864" marT="18288" marB="18288">
                    <a:solidFill>
                      <a:srgbClr val="1F4E79"/>
                    </a:solidFill>
                  </a:tcPr>
                </a:tc>
                <a:tc>
                  <a:txBody>
                    <a:bodyPr wrap="square"/>
                    <a:lstStyle/>
                    <a:p>
                      <a:r>
                        <a:rPr sz="1100" b="1">
                          <a:solidFill>
                            <a:srgbClr val="FFFFFF"/>
                          </a:solidFill>
                          <a:latin typeface="Arial"/>
                        </a:rPr>
                        <a:t>CRF after detector refocus</a:t>
                      </a:r>
                    </a:p>
                  </a:txBody>
                  <a:tcPr marL="54864" marR="54864" marT="18288" marB="18288">
                    <a:solidFill>
                      <a:srgbClr val="1F4E79"/>
                    </a:solidFill>
                  </a:tcPr>
                </a:tc>
                <a:tc>
                  <a:txBody>
                    <a:bodyPr wrap="square"/>
                    <a:lstStyle/>
                    <a:p>
                      <a:r>
                        <a:rPr sz="1100" b="1">
                          <a:solidFill>
                            <a:srgbClr val="FFFFFF"/>
                          </a:solidFill>
                          <a:latin typeface="Arial"/>
                        </a:rPr>
                        <a:t>keystone (px)</a:t>
                      </a:r>
                    </a:p>
                  </a:txBody>
                  <a:tcPr marL="54864" marR="54864" marT="18288" marB="18288">
                    <a:solidFill>
                      <a:srgbClr val="1F4E79"/>
                    </a:solidFill>
                  </a:tcPr>
                </a:tc>
                <a:tc>
                  <a:txBody>
                    <a:bodyPr wrap="square"/>
                    <a:lstStyle/>
                    <a:p>
                      <a:r>
                        <a:rPr sz="1100" b="1">
                          <a:solidFill>
                            <a:srgbClr val="FFFFFF"/>
                          </a:solidFill>
                          <a:latin typeface="Arial"/>
                        </a:rPr>
                        <a:t>the tolerance for the paper's keystone CBE / for Joe's 0.1 px</a:t>
                      </a:r>
                    </a:p>
                  </a:txBody>
                  <a:tcPr marL="54864" marR="54864" marT="18288" marB="18288">
                    <a:solidFill>
                      <a:srgbClr val="1F4E79"/>
                    </a:solidFill>
                  </a:tcPr>
                </a:tc>
              </a:tr>
              <a:tr h="280035">
                <a:tc>
                  <a:txBody>
                    <a:bodyPr wrap="square"/>
                    <a:lstStyle/>
                    <a:p>
                      <a:r>
                        <a:rPr sz="1100" b="0">
                          <a:solidFill>
                            <a:srgbClr val="282828"/>
                          </a:solidFill>
                          <a:latin typeface="Arial"/>
                        </a:rPr>
                        <a:t>lens decenter along the slit, 10 µm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0.0099</a:t>
                      </a:r>
                    </a:p>
                  </a:txBody>
                  <a:tcPr marL="54864" marR="54864" marT="18288" marB="18288">
                    <a:solidFill>
                      <a:srgbClr val="FFFFFF"/>
                    </a:solidFill>
                  </a:tcPr>
                </a:tc>
                <a:tc>
                  <a:txBody>
                    <a:bodyPr wrap="square"/>
                    <a:lstStyle/>
                    <a:p>
                      <a:r>
                        <a:rPr sz="1100" b="0">
                          <a:solidFill>
                            <a:srgbClr val="282828"/>
                          </a:solidFill>
                          <a:latin typeface="Arial"/>
                        </a:rPr>
                        <a:t>26 µm / 47 µm</a:t>
                      </a:r>
                    </a:p>
                  </a:txBody>
                  <a:tcPr marL="54864" marR="54864" marT="18288" marB="18288">
                    <a:solidFill>
                      <a:srgbClr val="FFFFFF"/>
                    </a:solidFill>
                  </a:tcPr>
                </a:tc>
              </a:tr>
              <a:tr h="280035">
                <a:tc>
                  <a:txBody>
                    <a:bodyPr wrap="square"/>
                    <a:lstStyle/>
                    <a:p>
                      <a:r>
                        <a:rPr sz="1100" b="0">
                          <a:solidFill>
                            <a:srgbClr val="282828"/>
                          </a:solidFill>
                          <a:latin typeface="Arial"/>
                        </a:rPr>
                        <a:t>grating decenter along the slit, 10 µm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0.0099</a:t>
                      </a:r>
                    </a:p>
                  </a:txBody>
                  <a:tcPr marL="54864" marR="54864" marT="18288" marB="18288">
                    <a:solidFill>
                      <a:srgbClr val="ECF1F6"/>
                    </a:solidFill>
                  </a:tcPr>
                </a:tc>
                <a:tc>
                  <a:txBody>
                    <a:bodyPr wrap="square"/>
                    <a:lstStyle/>
                    <a:p>
                      <a:r>
                        <a:rPr sz="1100" b="0">
                          <a:solidFill>
                            <a:srgbClr val="282828"/>
                          </a:solidFill>
                          <a:latin typeface="Arial"/>
                        </a:rPr>
                        <a:t>26 µm / 47 µm</a:t>
                      </a:r>
                    </a:p>
                  </a:txBody>
                  <a:tcPr marL="54864" marR="54864" marT="18288" marB="18288">
                    <a:solidFill>
                      <a:srgbClr val="ECF1F6"/>
                    </a:solidFill>
                  </a:tcPr>
                </a:tc>
              </a:tr>
              <a:tr h="280035">
                <a:tc>
                  <a:txBody>
                    <a:bodyPr wrap="square"/>
                    <a:lstStyle/>
                    <a:p>
                      <a:r>
                        <a:rPr sz="1100" b="0">
                          <a:solidFill>
                            <a:srgbClr val="282828"/>
                          </a:solidFill>
                          <a:latin typeface="Arial"/>
                        </a:rPr>
                        <a:t>grating tilt about the slit, 10 µrad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0.0074</a:t>
                      </a:r>
                    </a:p>
                  </a:txBody>
                  <a:tcPr marL="54864" marR="54864" marT="18288" marB="18288">
                    <a:solidFill>
                      <a:srgbClr val="FFFFFF"/>
                    </a:solidFill>
                  </a:tcPr>
                </a:tc>
                <a:tc>
                  <a:txBody>
                    <a:bodyPr wrap="square"/>
                    <a:lstStyle/>
                    <a:p>
                      <a:r>
                        <a:rPr sz="1100" b="0">
                          <a:solidFill>
                            <a:srgbClr val="282828"/>
                          </a:solidFill>
                          <a:latin typeface="Arial"/>
                        </a:rPr>
                        <a:t>35 µrad / 64 µrad</a:t>
                      </a:r>
                    </a:p>
                  </a:txBody>
                  <a:tcPr marL="54864" marR="54864" marT="18288" marB="18288">
                    <a:solidFill>
                      <a:srgbClr val="FFFFFF"/>
                    </a:solidFill>
                  </a:tcPr>
                </a:tc>
              </a:tr>
              <a:tr h="280035">
                <a:tc>
                  <a:txBody>
                    <a:bodyPr wrap="square"/>
                    <a:lstStyle/>
                    <a:p>
                      <a:r>
                        <a:rPr sz="1100" b="0">
                          <a:solidFill>
                            <a:srgbClr val="282828"/>
                          </a:solidFill>
                          <a:latin typeface="Arial"/>
                        </a:rPr>
                        <a:t>grating clocking, 10 µrad</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0.0029</a:t>
                      </a:r>
                    </a:p>
                  </a:txBody>
                  <a:tcPr marL="54864" marR="54864" marT="18288" marB="18288">
                    <a:solidFill>
                      <a:srgbClr val="ECF1F6"/>
                    </a:solidFill>
                  </a:tcPr>
                </a:tc>
                <a:tc>
                  <a:txBody>
                    <a:bodyPr wrap="square"/>
                    <a:lstStyle/>
                    <a:p>
                      <a:r>
                        <a:rPr sz="1100" b="0">
                          <a:solidFill>
                            <a:srgbClr val="282828"/>
                          </a:solidFill>
                          <a:latin typeface="Arial"/>
                        </a:rPr>
                        <a:t>88 µrad / 162 µrad</a:t>
                      </a:r>
                    </a:p>
                  </a:txBody>
                  <a:tcPr marL="54864" marR="54864" marT="18288" marB="18288">
                    <a:solidFill>
                      <a:srgbClr val="ECF1F6"/>
                    </a:solidFill>
                  </a:tcPr>
                </a:tc>
              </a:tr>
              <a:tr h="280035">
                <a:tc>
                  <a:txBody>
                    <a:bodyPr wrap="square"/>
                    <a:lstStyle/>
                    <a:p>
                      <a:r>
                        <a:rPr sz="1100" b="0">
                          <a:solidFill>
                            <a:srgbClr val="282828"/>
                          </a:solidFill>
                          <a:latin typeface="Arial"/>
                        </a:rPr>
                        <a:t>grating radius dR/R 10⁻⁴</a:t>
                      </a:r>
                    </a:p>
                  </a:txBody>
                  <a:tcPr marL="54864" marR="54864" marT="18288" marB="18288">
                    <a:solidFill>
                      <a:srgbClr val="FFFFFF"/>
                    </a:solidFill>
                  </a:tcPr>
                </a:tc>
                <a:tc>
                  <a:txBody>
                    <a:bodyPr wrap="square"/>
                    <a:lstStyle/>
                    <a:p>
                      <a:r>
                        <a:rPr sz="1100" b="0">
                          <a:solidFill>
                            <a:srgbClr val="282828"/>
                          </a:solidFill>
                          <a:latin typeface="Arial"/>
                        </a:rPr>
                        <a:t>+1.93</a:t>
                      </a:r>
                    </a:p>
                  </a:txBody>
                  <a:tcPr marL="54864" marR="54864" marT="18288" marB="18288">
                    <a:solidFill>
                      <a:srgbClr val="FFFFFF"/>
                    </a:solidFill>
                  </a:tcPr>
                </a:tc>
                <a:tc>
                  <a:txBody>
                    <a:bodyPr wrap="square"/>
                    <a:lstStyle/>
                    <a:p>
                      <a:r>
                        <a:rPr sz="1100" b="0">
                          <a:solidFill>
                            <a:srgbClr val="282828"/>
                          </a:solidFill>
                          <a:latin typeface="Arial"/>
                        </a:rPr>
                        <a:t>+0.006</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focus-compensated</a:t>
                      </a:r>
                    </a:p>
                  </a:txBody>
                  <a:tcPr marL="54864" marR="54864" marT="18288" marB="18288">
                    <a:solidFill>
                      <a:srgbClr val="FFFFFF"/>
                    </a:solidFill>
                  </a:tcPr>
                </a:tc>
              </a:tr>
              <a:tr h="468630">
                <a:tc>
                  <a:txBody>
                    <a:bodyPr wrap="square"/>
                    <a:lstStyle/>
                    <a:p>
                      <a:r>
                        <a:rPr sz="1100" b="0">
                          <a:solidFill>
                            <a:srgbClr val="282828"/>
                          </a:solidFill>
                          <a:latin typeface="Arial"/>
                        </a:rPr>
                        <a:t>lens radius, thickness; air space; slit, detector defocus</a:t>
                      </a:r>
                    </a:p>
                  </a:txBody>
                  <a:tcPr marL="54864" marR="54864" marT="18288" marB="18288">
                    <a:solidFill>
                      <a:srgbClr val="ECF1F6"/>
                    </a:solidFill>
                  </a:tcPr>
                </a:tc>
                <a:tc>
                  <a:txBody>
                    <a:bodyPr wrap="square"/>
                    <a:lstStyle/>
                    <a:p>
                      <a:r>
                        <a:rPr sz="1100" b="0">
                          <a:solidFill>
                            <a:srgbClr val="282828"/>
                          </a:solidFill>
                          <a:latin typeface="Arial"/>
                        </a:rPr>
                        <a:t>focus terms</a:t>
                      </a:r>
                    </a:p>
                  </a:txBody>
                  <a:tcPr marL="54864" marR="54864" marT="18288" marB="18288">
                    <a:solidFill>
                      <a:srgbClr val="ECF1F6"/>
                    </a:solidFill>
                  </a:tcPr>
                </a:tc>
                <a:tc>
                  <a:txBody>
                    <a:bodyPr wrap="square"/>
                    <a:lstStyle/>
                    <a:p>
                      <a:r>
                        <a:rPr sz="1100" b="0">
                          <a:solidFill>
                            <a:srgbClr val="282828"/>
                          </a:solidFill>
                          <a:latin typeface="Arial"/>
                        </a:rPr>
                        <a:t>≤ 0.006</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focus-compensated</a:t>
                      </a:r>
                    </a:p>
                  </a:txBody>
                  <a:tcPr marL="54864" marR="54864" marT="18288" marB="18288">
                    <a:solidFill>
                      <a:srgbClr val="ECF1F6"/>
                    </a:solidFill>
                  </a:tcPr>
                </a:tc>
              </a:tr>
              <a:tr h="280035">
                <a:tc>
                  <a:txBody>
                    <a:bodyPr wrap="square"/>
                    <a:lstStyle/>
                    <a:p>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index, 10⁻⁵ (1 K)</a:t>
                      </a:r>
                    </a:p>
                  </a:txBody>
                  <a:tcPr marL="54864" marR="54864" marT="18288" marB="18288">
                    <a:solidFill>
                      <a:srgbClr val="FFFFFF"/>
                    </a:solidFill>
                  </a:tcPr>
                </a:tc>
                <a:tc>
                  <a:txBody>
                    <a:bodyPr wrap="square"/>
                    <a:lstStyle/>
                    <a:p>
                      <a:r>
                        <a:rPr sz="1100" b="0">
                          <a:solidFill>
                            <a:srgbClr val="282828"/>
                          </a:solidFill>
                          <a:latin typeface="Arial"/>
                        </a:rPr>
                        <a:t>+0.0014</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negligible</a:t>
                      </a:r>
                    </a:p>
                  </a:txBody>
                  <a:tcPr marL="54864" marR="54864" marT="18288" marB="18288">
                    <a:solidFill>
                      <a:srgbClr val="FFFFFF"/>
                    </a:solidFill>
                  </a:tcPr>
                </a:tc>
              </a:tr>
              <a:tr h="280035">
                <a:tc>
                  <a:txBody>
                    <a:bodyPr wrap="square"/>
                    <a:lstStyle/>
                    <a:p>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radius + thickness per K (CTE)</a:t>
                      </a:r>
                    </a:p>
                  </a:txBody>
                  <a:tcPr marL="54864" marR="54864" marT="18288" marB="18288">
                    <a:solidFill>
                      <a:srgbClr val="ECF1F6"/>
                    </a:solidFill>
                  </a:tcPr>
                </a:tc>
                <a:tc>
                  <a:txBody>
                    <a:bodyPr wrap="square"/>
                    <a:lstStyle/>
                    <a:p>
                      <a:r>
                        <a:rPr sz="1100" b="0">
                          <a:solidFill>
                            <a:srgbClr val="282828"/>
                          </a:solidFill>
                          <a:latin typeface="Arial"/>
                        </a:rPr>
                        <a:t>+0.050 − 0.051</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cancel</a:t>
                      </a:r>
                    </a:p>
                  </a:txBody>
                  <a:tcPr marL="54864" marR="54864" marT="18288" marB="18288">
                    <a:solidFill>
                      <a:srgbClr val="ECF1F6"/>
                    </a:solidFill>
                  </a:tcPr>
                </a:tc>
              </a:tr>
              <a:tr h="468630">
                <a:tc>
                  <a:txBody>
                    <a:bodyPr wrap="square"/>
                    <a:lstStyle/>
                    <a:p>
                      <a:r>
                        <a:rPr sz="1100" b="0">
                          <a:solidFill>
                            <a:srgbClr val="282828"/>
                          </a:solidFill>
                          <a:latin typeface="Arial"/>
                        </a:rPr>
                        <a:t>aluminum air space per K; N-BK7 grating radius per K</a:t>
                      </a:r>
                    </a:p>
                  </a:txBody>
                  <a:tcPr marL="54864" marR="54864" marT="18288" marB="18288">
                    <a:solidFill>
                      <a:srgbClr val="FFFFFF"/>
                    </a:solidFill>
                  </a:tcPr>
                </a:tc>
                <a:tc>
                  <a:txBody>
                    <a:bodyPr wrap="square"/>
                    <a:lstStyle/>
                    <a:p>
                      <a:r>
                        <a:rPr sz="1100" b="0">
                          <a:solidFill>
                            <a:srgbClr val="282828"/>
                          </a:solidFill>
                          <a:latin typeface="Arial"/>
                        </a:rPr>
                        <a:t>−0.22; +0.14</a:t>
                      </a:r>
                    </a:p>
                  </a:txBody>
                  <a:tcPr marL="54864" marR="54864" marT="18288" marB="18288">
                    <a:solidFill>
                      <a:srgbClr val="FFFFFF"/>
                    </a:solidFill>
                  </a:tcPr>
                </a:tc>
                <a:tc>
                  <a:txBody>
                    <a:bodyPr wrap="square"/>
                    <a:lstStyle/>
                    <a:p>
                      <a:r>
                        <a:rPr sz="1100" b="0">
                          <a:solidFill>
                            <a:srgbClr val="282828"/>
                          </a:solidFill>
                          <a:latin typeface="Arial"/>
                        </a:rPr>
                        <a:t>focus terms</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refocus-compensated</a:t>
                      </a:r>
                    </a:p>
                  </a:txBody>
                  <a:tcPr marL="54864" marR="54864" marT="18288" marB="18288">
                    <a:solidFill>
                      <a:srgbClr val="FFFFFF"/>
                    </a:solidFill>
                  </a:tcPr>
                </a:tc>
              </a:tr>
            </a:tbl>
          </a:graphicData>
        </a:graphic>
      </p:graphicFrame>
      <p:sp>
        <p:nvSpPr>
          <p:cNvPr id="5" name="TextBox 4"/>
          <p:cNvSpPr txBox="1"/>
          <p:nvPr/>
        </p:nvSpPr>
        <p:spPr>
          <a:xfrm>
            <a:off x="411480" y="481088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Keystone is lateral color: no compensator touches it.</a:t>
            </a:r>
            <a:r>
              <a:rPr sz="1500" b="0">
                <a:solidFill>
                  <a:srgbClr val="282828"/>
                </a:solidFill>
                <a:latin typeface="Arial"/>
              </a:rPr>
              <a:t>  Smile is loose everywhere (≥ 300 µm or µrad).  Linearity at 2×: keystone vs decenter 1.10, CRF vs grating radius 1.03, SRF 2.6 (quadratic, and at the floor).</a:t>
            </a:r>
          </a:p>
          <a:p>
            <a:pPr>
              <a:spcAft>
                <a:spcPts val="600"/>
              </a:spcAft>
            </a:pPr>
            <a:r>
              <a:rPr sz="1500" b="0">
                <a:solidFill>
                  <a:srgbClr val="282828"/>
                </a:solidFill>
                <a:latin typeface="Arial"/>
              </a:rPr>
              <a:t>•  </a:t>
            </a:r>
            <a:r>
              <a:rPr sz="1500" b="1">
                <a:solidFill>
                  <a:srgbClr val="282828"/>
                </a:solidFill>
                <a:latin typeface="Arial"/>
              </a:rPr>
              <a:t>The 1.5k Dyson</a:t>
            </a:r>
            <a:r>
              <a:rPr sz="1500" b="0">
                <a:solidFill>
                  <a:srgbClr val="282828"/>
                </a:solidFill>
                <a:latin typeface="Arial"/>
              </a:rPr>
              <a:t> has the same pattern at twice the keystone sensitivity (1.82 × 10⁻³ px per µm: 13 µm for the paper's CBE, 25 µm for Joe).  </a:t>
            </a:r>
            <a:r>
              <a:rPr sz="1500" b="1">
                <a:solidFill>
                  <a:srgbClr val="282828"/>
                </a:solidFill>
                <a:latin typeface="Arial"/>
              </a:rPr>
              <a:t>Option B</a:t>
            </a:r>
            <a:r>
              <a:rPr sz="1500" b="0">
                <a:solidFill>
                  <a:srgbClr val="282828"/>
                </a:solidFill>
                <a:latin typeface="Arial"/>
              </a:rPr>
              <a:t> raises the keystone sensitivities 6–45 % (clocking most): 25 µm, 33 µrad, 64 µrad.</a:t>
            </a:r>
          </a:p>
        </p:txBody>
      </p:sp>
      <p:sp>
        <p:nvSpPr>
          <p:cNvPr id="6" name="TextBox 5"/>
          <p:cNvSpPr txBox="1"/>
          <p:nvPr/>
        </p:nvSpPr>
        <p:spPr>
          <a:xfrm>
            <a:off x="411480" y="6118479"/>
            <a:ext cx="11368735" cy="274320"/>
          </a:xfrm>
          <a:prstGeom prst="rect">
            <a:avLst/>
          </a:prstGeom>
          <a:noFill/>
        </p:spPr>
        <p:txBody>
          <a:bodyPr wrap="square">
            <a:spAutoFit/>
          </a:bodyPr>
          <a:lstStyle/>
          <a:p>
            <a:pPr>
              <a:spcAft>
                <a:spcPts val="600"/>
              </a:spcAft>
            </a:pPr>
            <a:r>
              <a:rPr sz="1050" b="0">
                <a:solidFill>
                  <a:srgbClr val="6E6E6E"/>
                </a:solidFill>
                <a:latin typeface="Arial"/>
              </a:rPr>
              <a:t>REPORT_dyson5_spec.md; 21 rows; the paper's Option A as-built keystone 5.7 % of a pixel = 1.03 µm (Table 2).  Compensator residuals for focus alone and focus + x/y are both in the report (x/y adds nothing: the metrics are relative).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An engine finding from this round</a:t>
            </a:r>
          </a:p>
          <a:p>
            <a:pPr>
              <a:spcAft>
                <a:spcPts val="0"/>
              </a:spcAft>
            </a:pPr>
            <a:r>
              <a:rPr sz="1250" b="0">
                <a:solidFill>
                  <a:srgbClr val="6E6E6E"/>
                </a:solidFill>
                <a:latin typeface="Arial"/>
              </a:rPr>
              <a:t>The api refused an element stop on the secondary of a four-element telescope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stop_info_set refused iElt ≥ nElt−2 and nElt ≤ 3</a:t>
            </a:r>
            <a:r>
              <a:rPr sz="1500" b="0">
                <a:solidFill>
                  <a:srgbClr val="282828"/>
                </a:solidFill>
                <a:latin typeface="Arial"/>
              </a:rPr>
              <a:t> — the original wrapper's range, with no engine reason — so macos.stop(2) failed on every M1-M2-M3-FP deck while the prescription keyword ApStop= and the CLI's STOP (1..nElt) accepted it.  The template worked around it with one deck per field until the fix.  Now the CLI's range; gate tStopReload/test_stop_accepts_the_secondary_of_a_four_element_deck.</a:t>
            </a:r>
          </a:p>
          <a:p>
            <a:pPr>
              <a:spcAft>
                <a:spcPts val="600"/>
              </a:spcAft>
            </a:pPr>
            <a:r>
              <a:rPr sz="1500" b="0">
                <a:solidFill>
                  <a:srgbClr val="282828"/>
                </a:solidFill>
                <a:latin typeface="Arial"/>
              </a:rPr>
              <a:t>•  </a:t>
            </a:r>
            <a:r>
              <a:rPr sz="1500" b="1">
                <a:solidFill>
                  <a:srgbClr val="282828"/>
                </a:solidFill>
                <a:latin typeface="Arial"/>
              </a:rPr>
              <a:t>Also from this round, in the tools:</a:t>
            </a:r>
            <a:r>
              <a:rPr sz="1500" b="0">
                <a:solidFill>
                  <a:srgbClr val="282828"/>
                </a:solidFill>
                <a:latin typeface="Arial"/>
              </a:rPr>
              <a:t> both launch conventions in the join scorer (dyson5_t5f, tel5f_launch), the per-field chief-angle components in every rung table, the spectrometer's chief-tilt diagnostic.</a:t>
            </a:r>
          </a:p>
        </p:txBody>
      </p:sp>
      <p:sp>
        <p:nvSpPr>
          <p:cNvPr id="5" name="TextBox 4"/>
          <p:cNvSpPr txBox="1"/>
          <p:nvPr/>
        </p:nvSpPr>
        <p:spPr>
          <a:xfrm>
            <a:off x="411480" y="3101339"/>
            <a:ext cx="11368735" cy="274320"/>
          </a:xfrm>
          <a:prstGeom prst="rect">
            <a:avLst/>
          </a:prstGeom>
          <a:noFill/>
        </p:spPr>
        <p:txBody>
          <a:bodyPr wrap="square">
            <a:spAutoFit/>
          </a:bodyPr>
          <a:lstStyle/>
          <a:p>
            <a:pPr>
              <a:spcAft>
                <a:spcPts val="600"/>
              </a:spcAft>
            </a:pPr>
            <a:r>
              <a:rPr sz="1050" b="0">
                <a:solidFill>
                  <a:srgbClr val="6E6E6E"/>
                </a:solidFill>
                <a:latin typeface="Arial"/>
              </a:rPr>
              <a:t>macos a09cd59; resources 9845c2d.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Records behind each slide</a:t>
            </a:r>
          </a:p>
          <a:p>
            <a:pPr>
              <a:spcAft>
                <a:spcPts val="0"/>
              </a:spcAft>
            </a:pPr>
            <a:r>
              <a:rPr sz="1250" b="0">
                <a:solidFill>
                  <a:srgbClr val="6E6E6E"/>
                </a:solidFill>
                <a:latin typeface="Arial"/>
              </a:rPr>
              <a:t>Every number traces to a runner stage and its record file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2800350"/>
        </p:xfrm>
        <a:graphic>
          <a:graphicData uri="http://schemas.openxmlformats.org/drawingml/2006/table">
            <a:tbl>
              <a:tblPr firstRow="1" bandRow="1">
                <a:tableStyleId>{5C22544A-7EE6-4342-B048-85BDC9FD1C3A}</a:tableStyleId>
              </a:tblPr>
              <a:tblGrid>
                <a:gridCol w="582168"/>
                <a:gridCol w="10786567"/>
              </a:tblGrid>
              <a:tr h="280035">
                <a:tc>
                  <a:txBody>
                    <a:bodyPr wrap="square"/>
                    <a:lstStyle/>
                    <a:p>
                      <a:r>
                        <a:rPr sz="1100" b="1">
                          <a:solidFill>
                            <a:srgbClr val="FFFFFF"/>
                          </a:solidFill>
                          <a:latin typeface="Arial"/>
                        </a:rPr>
                        <a:t>slide</a:t>
                      </a:r>
                    </a:p>
                  </a:txBody>
                  <a:tcPr marL="54864" marR="54864" marT="18288" marB="18288">
                    <a:solidFill>
                      <a:srgbClr val="1F4E79"/>
                    </a:solidFill>
                  </a:tcPr>
                </a:tc>
                <a:tc>
                  <a:txBody>
                    <a:bodyPr wrap="square"/>
                    <a:lstStyle/>
                    <a:p>
                      <a:r>
                        <a:rPr sz="1100" b="1">
                          <a:solidFill>
                            <a:srgbClr val="FFFFFF"/>
                          </a:solidFill>
                          <a:latin typeface="Arial"/>
                        </a:rPr>
                        <a:t>record</a:t>
                      </a:r>
                    </a:p>
                  </a:txBody>
                  <a:tcPr marL="54864" marR="54864" marT="18288" marB="18288">
                    <a:solidFill>
                      <a:srgbClr val="1F4E79"/>
                    </a:solidFill>
                  </a:tcPr>
                </a:tc>
              </a:tr>
              <a:tr h="280035">
                <a:tc>
                  <a:txBody>
                    <a:bodyPr wrap="square"/>
                    <a:lstStyle/>
                    <a:p>
                      <a:r>
                        <a:rPr sz="1100" b="0">
                          <a:solidFill>
                            <a:srgbClr val="282828"/>
                          </a:solidFill>
                          <a:latin typeface="Arial"/>
                        </a:rPr>
                        <a:t>5, 6</a:t>
                      </a:r>
                    </a:p>
                  </a:txBody>
                  <a:tcPr marL="54864" marR="54864" marT="18288" marB="18288">
                    <a:solidFill>
                      <a:srgbClr val="FFFFFF"/>
                    </a:solidFill>
                  </a:tcPr>
                </a:tc>
                <a:tc>
                  <a:txBody>
                    <a:bodyPr wrap="square"/>
                    <a:lstStyle/>
                    <a:p>
                      <a:r>
                        <a:rPr sz="1100" b="0">
                          <a:solidFill>
                            <a:srgbClr val="282828"/>
                          </a:solidFill>
                          <a:latin typeface="Arial"/>
                        </a:rPr>
                        <a:t>dyson5_block2_3k.txt, _views.png, _swath.png (tool dyson5_block4.m, nmod 2)</a:t>
                      </a:r>
                    </a:p>
                  </a:txBody>
                  <a:tcPr marL="54864" marR="54864" marT="18288" marB="18288">
                    <a:solidFill>
                      <a:srgbClr val="FFFFFF"/>
                    </a:solidFill>
                  </a:tcPr>
                </a:tc>
              </a:tr>
              <a:tr h="280035">
                <a:tc>
                  <a:txBody>
                    <a:bodyPr wrap="square"/>
                    <a:lstStyle/>
                    <a:p>
                      <a:r>
                        <a:rPr sz="1100" b="0">
                          <a:solidFill>
                            <a:srgbClr val="282828"/>
                          </a:solidFill>
                          <a:latin typeface="Arial"/>
                        </a:rPr>
                        <a:t>7</a:t>
                      </a:r>
                    </a:p>
                  </a:txBody>
                  <a:tcPr marL="54864" marR="54864" marT="18288" marB="18288">
                    <a:solidFill>
                      <a:srgbClr val="ECF1F6"/>
                    </a:solidFill>
                  </a:tcPr>
                </a:tc>
                <a:tc>
                  <a:txBody>
                    <a:bodyPr wrap="square"/>
                    <a:lstStyle/>
                    <a:p>
                      <a:r>
                        <a:rPr sz="1100" b="0">
                          <a:solidFill>
                            <a:srgbClr val="282828"/>
                          </a:solidFill>
                          <a:latin typeface="Arial"/>
                        </a:rPr>
                        <a:t>tma_longslit/tls_first_order.txt, tls_section_layout.png; dyson5_cprime_3k_viewyz.png</a:t>
                      </a:r>
                    </a:p>
                  </a:txBody>
                  <a:tcPr marL="54864" marR="54864" marT="18288" marB="18288">
                    <a:solidFill>
                      <a:srgbClr val="ECF1F6"/>
                    </a:solidFill>
                  </a:tcPr>
                </a:tc>
              </a:tr>
              <a:tr h="280035">
                <a:tc>
                  <a:txBody>
                    <a:bodyPr wrap="square"/>
                    <a:lstStyle/>
                    <a:p>
                      <a:r>
                        <a:rPr sz="1100" b="0">
                          <a:solidFill>
                            <a:srgbClr val="282828"/>
                          </a:solidFill>
                          <a:latin typeface="Arial"/>
                        </a:rPr>
                        <a:t>8</a:t>
                      </a:r>
                    </a:p>
                  </a:txBody>
                  <a:tcPr marL="54864" marR="54864" marT="18288" marB="18288">
                    <a:solidFill>
                      <a:srgbClr val="FFFFFF"/>
                    </a:solidFill>
                  </a:tcPr>
                </a:tc>
                <a:tc>
                  <a:txBody>
                    <a:bodyPr wrap="square"/>
                    <a:lstStyle/>
                    <a:p>
                      <a:r>
                        <a:rPr sz="1100" b="0">
                          <a:solidFill>
                            <a:srgbClr val="282828"/>
                          </a:solidFill>
                          <a:latin typeface="Arial"/>
                        </a:rPr>
                        <a:t>challenges/dyson5/dyson5_cprime_3k.in; REPORT_dyson5_cprime.md (R9); tTmaLongslit</a:t>
                      </a:r>
                    </a:p>
                  </a:txBody>
                  <a:tcPr marL="54864" marR="54864" marT="18288" marB="18288">
                    <a:solidFill>
                      <a:srgbClr val="FFFFFF"/>
                    </a:solidFill>
                  </a:tcPr>
                </a:tc>
              </a:tr>
              <a:tr h="280035">
                <a:tc>
                  <a:txBody>
                    <a:bodyPr wrap="square"/>
                    <a:lstStyle/>
                    <a:p>
                      <a:r>
                        <a:rPr sz="1100" b="0">
                          <a:solidFill>
                            <a:srgbClr val="282828"/>
                          </a:solidFill>
                          <a:latin typeface="Arial"/>
                        </a:rPr>
                        <a:t>9, 10</a:t>
                      </a:r>
                    </a:p>
                  </a:txBody>
                  <a:tcPr marL="54864" marR="54864" marT="18288" marB="18288">
                    <a:solidFill>
                      <a:srgbClr val="ECF1F6"/>
                    </a:solidFill>
                  </a:tcPr>
                </a:tc>
                <a:tc>
                  <a:txBody>
                    <a:bodyPr wrap="square"/>
                    <a:lstStyle/>
                    <a:p>
                      <a:r>
                        <a:rPr sz="1100" b="0">
                          <a:solidFill>
                            <a:srgbClr val="282828"/>
                          </a:solidFill>
                          <a:latin typeface="Arial"/>
                        </a:rPr>
                        <a:t>dyson5_jim_3a.txt; dyson5_t5f_cprime_centroid_roll000.txt, _roll180.txt, _chief_roll000.txt; _e2e.in, _maps.png, _e2e_viewyz.png</a:t>
                      </a:r>
                    </a:p>
                  </a:txBody>
                  <a:tcPr marL="54864" marR="54864" marT="18288" marB="18288">
                    <a:solidFill>
                      <a:srgbClr val="ECF1F6"/>
                    </a:solidFill>
                  </a:tcPr>
                </a:tc>
              </a:tr>
              <a:tr h="280035">
                <a:tc>
                  <a:txBody>
                    <a:bodyPr wrap="square"/>
                    <a:lstStyle/>
                    <a:p>
                      <a:r>
                        <a:rPr sz="1100" b="0">
                          <a:solidFill>
                            <a:srgbClr val="282828"/>
                          </a:solidFill>
                          <a:latin typeface="Arial"/>
                        </a:rPr>
                        <a:t>11, 12</a:t>
                      </a:r>
                    </a:p>
                  </a:txBody>
                  <a:tcPr marL="54864" marR="54864" marT="18288" marB="18288">
                    <a:solidFill>
                      <a:srgbClr val="FFFFFF"/>
                    </a:solidFill>
                  </a:tcPr>
                </a:tc>
                <a:tc>
                  <a:txBody>
                    <a:bodyPr wrap="square"/>
                    <a:lstStyle/>
                    <a:p>
                      <a:r>
                        <a:rPr sz="1100" b="0">
                          <a:solidFill>
                            <a:srgbClr val="282828"/>
                          </a:solidFill>
                          <a:latin typeface="Arial"/>
                        </a:rPr>
                        <a:t>REPORT_dyson5_cprime.md (R4–R9); tls_dyson_chief_tilt.mat; tls_e2e_both_conventions.mat</a:t>
                      </a:r>
                    </a:p>
                  </a:txBody>
                  <a:tcPr marL="54864" marR="54864" marT="18288" marB="18288">
                    <a:solidFill>
                      <a:srgbClr val="FFFFFF"/>
                    </a:solidFill>
                  </a:tcPr>
                </a:tc>
              </a:tr>
              <a:tr h="280035">
                <a:tc>
                  <a:txBody>
                    <a:bodyPr wrap="square"/>
                    <a:lstStyle/>
                    <a:p>
                      <a:r>
                        <a:rPr sz="1100" b="0">
                          <a:solidFill>
                            <a:srgbClr val="282828"/>
                          </a:solidFill>
                          <a:latin typeface="Arial"/>
                        </a:rPr>
                        <a:t>13</a:t>
                      </a:r>
                    </a:p>
                  </a:txBody>
                  <a:tcPr marL="54864" marR="54864" marT="18288" marB="18288">
                    <a:solidFill>
                      <a:srgbClr val="ECF1F6"/>
                    </a:solidFill>
                  </a:tcPr>
                </a:tc>
                <a:tc>
                  <a:txBody>
                    <a:bodyPr wrap="square"/>
                    <a:lstStyle/>
                    <a:p>
                      <a:r>
                        <a:rPr sz="1100" b="0">
                          <a:solidFill>
                            <a:srgbClr val="282828"/>
                          </a:solidFill>
                          <a:latin typeface="Arial"/>
                        </a:rPr>
                        <a:t>R9 per-field table (REPORT_dyson5_cprime.md)</a:t>
                      </a:r>
                    </a:p>
                  </a:txBody>
                  <a:tcPr marL="54864" marR="54864" marT="18288" marB="18288">
                    <a:solidFill>
                      <a:srgbClr val="ECF1F6"/>
                    </a:solidFill>
                  </a:tcPr>
                </a:tc>
              </a:tr>
              <a:tr h="280035">
                <a:tc>
                  <a:txBody>
                    <a:bodyPr wrap="square"/>
                    <a:lstStyle/>
                    <a:p>
                      <a:r>
                        <a:rPr sz="1100" b="0">
                          <a:solidFill>
                            <a:srgbClr val="282828"/>
                          </a:solidFill>
                          <a:latin typeface="Arial"/>
                        </a:rPr>
                        <a:t>14</a:t>
                      </a:r>
                    </a:p>
                  </a:txBody>
                  <a:tcPr marL="54864" marR="54864" marT="18288" marB="18288">
                    <a:solidFill>
                      <a:srgbClr val="FFFFFF"/>
                    </a:solidFill>
                  </a:tcPr>
                </a:tc>
                <a:tc>
                  <a:txBody>
                    <a:bodyPr wrap="square"/>
                    <a:lstStyle/>
                    <a:p>
                      <a:r>
                        <a:rPr sz="1100" b="0">
                          <a:solidFill>
                            <a:srgbClr val="282828"/>
                          </a:solidFill>
                          <a:latin typeface="Arial"/>
                        </a:rPr>
                        <a:t>dyson5_jim_3a.txt; REPORT_dyson5_spec.md; spectrometer_sens, tSpectrometerSens; BRIEF_to_dyson5.md addendum 49</a:t>
                      </a:r>
                    </a:p>
                  </a:txBody>
                  <a:tcPr marL="54864" marR="54864" marT="18288" marB="18288">
                    <a:solidFill>
                      <a:srgbClr val="FFFFFF"/>
                    </a:solidFill>
                  </a:tcPr>
                </a:tc>
              </a:tr>
              <a:tr h="280035">
                <a:tc>
                  <a:txBody>
                    <a:bodyPr wrap="square"/>
                    <a:lstStyle/>
                    <a:p>
                      <a:r>
                        <a:rPr sz="1100" b="0">
                          <a:solidFill>
                            <a:srgbClr val="282828"/>
                          </a:solidFill>
                          <a:latin typeface="Arial"/>
                        </a:rPr>
                        <a:t>15</a:t>
                      </a:r>
                    </a:p>
                  </a:txBody>
                  <a:tcPr marL="54864" marR="54864" marT="18288" marB="18288">
                    <a:solidFill>
                      <a:srgbClr val="ECF1F6"/>
                    </a:solidFill>
                  </a:tcPr>
                </a:tc>
                <a:tc>
                  <a:txBody>
                    <a:bodyPr wrap="square"/>
                    <a:lstStyle/>
                    <a:p>
                      <a:r>
                        <a:rPr sz="1100" b="0">
                          <a:solidFill>
                            <a:srgbClr val="282828"/>
                          </a:solidFill>
                          <a:latin typeface="Arial"/>
                        </a:rPr>
                        <a:t>dyson5_throughput_band.txt (tool dyson5_throughput_band.m); dyson5_jim_3b.txt route 2</a:t>
                      </a:r>
                    </a:p>
                  </a:txBody>
                  <a:tcPr marL="54864" marR="54864" marT="18288" marB="18288">
                    <a:solidFill>
                      <a:srgbClr val="ECF1F6"/>
                    </a:solidFill>
                  </a:tcPr>
                </a:tc>
              </a:tr>
              <a:tr h="280035">
                <a:tc>
                  <a:txBody>
                    <a:bodyPr wrap="square"/>
                    <a:lstStyle/>
                    <a:p>
                      <a:r>
                        <a:rPr sz="1100" b="0">
                          <a:solidFill>
                            <a:srgbClr val="282828"/>
                          </a:solidFill>
                          <a:latin typeface="Arial"/>
                        </a:rPr>
                        <a:t>16</a:t>
                      </a:r>
                    </a:p>
                  </a:txBody>
                  <a:tcPr marL="54864" marR="54864" marT="18288" marB="18288">
                    <a:solidFill>
                      <a:srgbClr val="FFFFFF"/>
                    </a:solidFill>
                  </a:tcPr>
                </a:tc>
                <a:tc>
                  <a:txBody>
                    <a:bodyPr wrap="square"/>
                    <a:lstStyle/>
                    <a:p>
                      <a:r>
                        <a:rPr sz="1100" b="0">
                          <a:solidFill>
                            <a:srgbClr val="282828"/>
                          </a:solidFill>
                          <a:latin typeface="Arial"/>
                        </a:rPr>
                        <a:t>dyson5_jim_3a.txt, dyson5_rescore_1k5_launch.txt, dyson5_block4.txt, dyson5_block2_3k.txt</a:t>
                      </a:r>
                    </a:p>
                  </a:txBody>
                  <a:tcPr marL="54864" marR="54864" marT="18288" marB="18288">
                    <a:solidFill>
                      <a:srgbClr val="FFFFFF"/>
                    </a:solidFill>
                  </a:tcPr>
                </a:tc>
              </a:tr>
            </a:tbl>
          </a:graphicData>
        </a:graphic>
      </p:graphicFrame>
      <p:sp>
        <p:nvSpPr>
          <p:cNvPr id="5" name="TextBox 4"/>
          <p:cNvSpPr txBox="1"/>
          <p:nvPr/>
        </p:nvSpPr>
        <p:spPr>
          <a:xfrm>
            <a:off x="411480" y="4245102"/>
            <a:ext cx="11368735" cy="274320"/>
          </a:xfrm>
          <a:prstGeom prst="rect">
            <a:avLst/>
          </a:prstGeom>
          <a:noFill/>
        </p:spPr>
        <p:txBody>
          <a:bodyPr wrap="square">
            <a:spAutoFit/>
          </a:bodyPr>
          <a:lstStyle/>
          <a:p>
            <a:pPr>
              <a:spcAft>
                <a:spcPts val="600"/>
              </a:spcAft>
            </a:pPr>
            <a:r>
              <a:rPr sz="1050" b="0">
                <a:solidFill>
                  <a:srgbClr val="6E6E6E"/>
                </a:solidFill>
                <a:latin typeface="Arial"/>
              </a:rPr>
              <a:t>All under MACOS_resources/mmacos/challenges/dyson5/ and templates/10_telescopes/tma_longslit/, branch dev-candidate; the reports under macos/.  Public: nasa-jpl/macos, nasa-jpl/MACOS_resources.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