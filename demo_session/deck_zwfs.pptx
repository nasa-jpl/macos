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Zernike sensor for the DM gauge</a:t>
            </a:r>
          </a:p>
          <a:p>
            <a:pPr>
              <a:spcAft>
                <a:spcPts val="1400"/>
              </a:spcAft>
            </a:pPr>
            <a:r>
              <a:rPr sz="2200" b="0">
                <a:solidFill>
                  <a:srgbClr val="282828"/>
                </a:solidFill>
                <a:latin typeface="Arial"/>
              </a:rPr>
              <a:t>The same 96 mm bench with the reference arm removed: a quarter-wave dimple at the focus turns one camera frame into a wavefront measurement — compared with the phase-shifting interferometer on the same deformable mirror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a:t>
            </a:r>
          </a:p>
          <a:p>
            <a:pPr>
              <a:spcAft>
                <a:spcPts val="800"/>
              </a:spcAft>
            </a:pPr>
            <a:r>
              <a:rPr sz="1500" b="0">
                <a:solidFill>
                  <a:srgbClr val="6E6E6E"/>
                </a:solidFill>
                <a:latin typeface="Arial"/>
              </a:rPr>
              <a:t>DRAFT — pending review.  Status: the sensor model has been corrected (the early model was out of focus); five ways of reading the frames measured on the corrected model; sampling settled on a 2048 grid; colour and photon budgets re-run; one script with a parameter sheet reproduces every number; a sampling bias in the actuator fit found and fixed; the polarizing (vector) version is still to come.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idea: the beam interferes with its own core</a:t>
            </a:r>
          </a:p>
          <a:p>
            <a:pPr>
              <a:spcAft>
                <a:spcPts val="0"/>
              </a:spcAft>
            </a:pPr>
            <a:r>
              <a:rPr sz="1250" b="0">
                <a:solidFill>
                  <a:srgbClr val="6E6E6E"/>
                </a:solidFill>
                <a:latin typeface="Arial"/>
              </a:rPr>
              <a:t>A small etched dimple at the focus delays the centre of the beam; that light spreads back over the pupil and acts as the reference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glass plate, one tiny etched spot.  At the focus, the centre of the beam passes through the dimple and is delayed by a quarter wave; the rest of the beam misses it.  The delayed light spreads back over the whole pupil image and interferes with the rest.  This is an interferometer with no second arm.</a:t>
            </a:r>
          </a:p>
          <a:p>
            <a:pPr>
              <a:spcAft>
                <a:spcPts val="600"/>
              </a:spcAft>
            </a:pPr>
            <a:r>
              <a:rPr sz="1200" b="0">
                <a:solidFill>
                  <a:srgbClr val="282828"/>
                </a:solidFill>
                <a:latin typeface="Arial"/>
              </a:rPr>
              <a:t>•  Pupil brightness becomes a phase map.  Near a quarter wave of delay, the camera brightness is nearly proportional to the wavefront.  One frame per measurement, no moving parts, no polarization optics.  An exact pixel-by-pixel inversion (slide 8) removes the small-phase limit.</a:t>
            </a:r>
          </a:p>
          <a:p>
            <a:pPr>
              <a:spcAft>
                <a:spcPts val="600"/>
              </a:spcAft>
            </a:pPr>
            <a:r>
              <a:rPr sz="1200" b="0">
                <a:solidFill>
                  <a:srgbClr val="282828"/>
                </a:solidFill>
                <a:latin typeface="Arial"/>
              </a:rPr>
              <a:t>•  The two prices.  The sensor cannot see piston, and it is weak at the very lowest spatial frequencies, because the reference is made from the beam itself.  On the corrected model the weak band is 0.5 to 1 cycle across the pupil (half response at 1 cycle); defocus and everything finer read near full response.</a:t>
            </a:r>
          </a:p>
        </p:txBody>
      </p:sp>
      <p:pic>
        <p:nvPicPr>
          <p:cNvPr id="5" name="Picture 4" descr="zwfs_mask_fig.png"/>
          <p:cNvPicPr>
            <a:picLocks noChangeAspect="1"/>
          </p:cNvPicPr>
          <p:nvPr/>
        </p:nvPicPr>
        <p:blipFill>
          <a:blip r:embed="rId2"/>
          <a:stretch>
            <a:fillRect/>
          </a:stretch>
        </p:blipFill>
        <p:spPr>
          <a:xfrm>
            <a:off x="6926164" y="1298448"/>
            <a:ext cx="4344230"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focal spot with the dimple on its core (left); the mask itself — a 1.57 rad phase disk with grey edges from area-weighted supersampling (right).</a:t>
            </a:r>
          </a:p>
        </p:txBody>
      </p:sp>
      <p:sp>
        <p:nvSpPr>
          <p:cNvPr id="7" name="TextBox 6"/>
          <p:cNvSpPr txBox="1"/>
          <p:nvPr/>
        </p:nvSpPr>
        <p:spPr>
          <a:xfrm>
            <a:off x="6400800" y="3639312"/>
            <a:ext cx="5394960" cy="274320"/>
          </a:xfrm>
          <a:prstGeom prst="rect">
            <a:avLst/>
          </a:prstGeom>
          <a:noFill/>
        </p:spPr>
        <p:txBody>
          <a:bodyPr wrap="square">
            <a:spAutoFit/>
          </a:bodyPr>
          <a:lstStyle/>
          <a:p>
            <a:pPr>
              <a:spcAft>
                <a:spcPts val="600"/>
              </a:spcAft>
            </a:pPr>
            <a:r>
              <a:rPr sz="1050" b="0">
                <a:solidFill>
                  <a:srgbClr val="6E6E6E"/>
                </a:solidFill>
                <a:latin typeface="Arial"/>
              </a:rPr>
              <a:t>The dimple takes 28.0% of the light — the fraction a 1.06 λF/D disk should take from a focused spot.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setup: the interferometer's test arm, alone</a:t>
            </a:r>
          </a:p>
          <a:p>
            <a:pPr>
              <a:spcAft>
                <a:spcPts val="0"/>
              </a:spcAft>
            </a:pPr>
            <a:r>
              <a:rPr sz="1250" b="0">
                <a:solidFill>
                  <a:srgbClr val="6E6E6E"/>
                </a:solidFill>
                <a:latin typeface="Arial"/>
              </a:rPr>
              <a:t>Same source, same splitter, same 700 mm mirror leg, same lenses — the reference arm and every polarization element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Reused whole: the TG96 bench laid out for the 96×96, 1 mm-pitch DM — splitter at 7°, legs solved for clearance, the tuned detector optics.  The dimple sits at the internal focus of the existing detector leg, in the mask seat the bench already had; the camera still views an image of the DM.</a:t>
            </a:r>
          </a:p>
          <a:p>
            <a:pPr>
              <a:spcAft>
                <a:spcPts val="600"/>
              </a:spcAft>
            </a:pPr>
            <a:r>
              <a:rPr sz="1200" b="0">
                <a:solidFill>
                  <a:srgbClr val="282828"/>
                </a:solidFill>
                <a:latin typeface="Arial"/>
              </a:rPr>
              <a:t>•  Removed: the reference flat and its leg; the polarizer, four arm waveplates, output waveplate and analyzer.  Nothing else moves.</a:t>
            </a:r>
          </a:p>
          <a:p>
            <a:pPr>
              <a:spcAft>
                <a:spcPts val="600"/>
              </a:spcAft>
            </a:pPr>
            <a:r>
              <a:rPr sz="1200" b="0">
                <a:solidFill>
                  <a:srgbClr val="282828"/>
                </a:solidFill>
                <a:latin typeface="Arial"/>
              </a:rPr>
              <a:t>•  Why this matters: when the two instruments are scored against each other, the only difference is how they sense — not the glass, not the geometry.</a:t>
            </a:r>
          </a:p>
        </p:txBody>
      </p:sp>
      <p:pic>
        <p:nvPicPr>
          <p:cNvPr id="5" name="Picture 4" descr="zwfs_render_rig.png"/>
          <p:cNvPicPr>
            <a:picLocks noChangeAspect="1"/>
          </p:cNvPicPr>
          <p:nvPr/>
        </p:nvPicPr>
        <p:blipFill>
          <a:blip r:embed="rId2"/>
          <a:stretch>
            <a:fillRect/>
          </a:stretch>
        </p:blipFill>
        <p:spPr>
          <a:xfrm>
            <a:off x="6503663" y="1298448"/>
            <a:ext cx="5189233" cy="1708912"/>
          </a:xfrm>
          <a:prstGeom prst="rect">
            <a:avLst/>
          </a:prstGeom>
        </p:spPr>
      </p:pic>
      <p:sp>
        <p:nvSpPr>
          <p:cNvPr id="6" name="TextBox 5"/>
          <p:cNvSpPr txBox="1"/>
          <p:nvPr/>
        </p:nvSpPr>
        <p:spPr>
          <a:xfrm>
            <a:off x="6400800" y="3025648"/>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train as traced: source and splitter at left, the 96 mm DM on its 700 mm leg, the detector tail converging to the dimple's focus, and the camera at the pupil image.</a:t>
            </a:r>
          </a:p>
        </p:txBody>
      </p:sp>
      <p:sp>
        <p:nvSpPr>
          <p:cNvPr id="7" name="TextBox 6"/>
          <p:cNvSpPr txBox="1"/>
          <p:nvPr/>
        </p:nvSpPr>
        <p:spPr>
          <a:xfrm>
            <a:off x="6400800" y="3456432"/>
            <a:ext cx="5394960" cy="274320"/>
          </a:xfrm>
          <a:prstGeom prst="rect">
            <a:avLst/>
          </a:prstGeom>
          <a:noFill/>
        </p:spPr>
        <p:txBody>
          <a:bodyPr wrap="square">
            <a:spAutoFit/>
          </a:bodyPr>
          <a:lstStyle/>
          <a:p>
            <a:pPr>
              <a:spcAft>
                <a:spcPts val="600"/>
              </a:spcAft>
            </a:pPr>
            <a:r>
              <a:rPr sz="1050" b="0">
                <a:solidFill>
                  <a:srgbClr val="6E6E6E"/>
                </a:solidFill>
                <a:latin typeface="Arial"/>
              </a:rPr>
              <a:t>A mask a few microns across needs a diffraction calculation around the focus: two reference spheres, one before and one after the mask.  They must have the same radius — the finding on slide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numbers are scored</a:t>
            </a:r>
          </a:p>
          <a:p>
            <a:pPr>
              <a:spcAft>
                <a:spcPts val="0"/>
              </a:spcAft>
            </a:pPr>
            <a:r>
              <a:rPr sz="1250" b="0">
                <a:solidFill>
                  <a:srgbClr val="6E6E6E"/>
                </a:solidFill>
                <a:latin typeface="Arial"/>
              </a:rPr>
              <a:t>Every result on the following slides is a change in the DM, measured before and after, in actuator units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 put the DM in some shape (the working surface), measure it; change a known set of actuators by a known amount (10 nm unless stated); measure again; subtract; fit the actuator pattern to the difference.  The score is how well the actuator changes come back.</a:t>
            </a:r>
          </a:p>
          <a:p>
            <a:pPr>
              <a:spcAft>
                <a:spcPts val="600"/>
              </a:spcAft>
            </a:pPr>
            <a:r>
              <a:rPr sz="1500" b="0">
                <a:solidFill>
                  <a:srgbClr val="282828"/>
                </a:solidFill>
                <a:latin typeface="Arial"/>
              </a:rPr>
              <a:t>•  Gain: recovered change divided by the true change.  1.0 is perfect.  Gain is quoted after calibration: the sensor's response to one actuator and to patterns of each spatial frequency is measured on the flat DM and divided out.  A gain below 1 on a working surface is therefore an error the flat-DM calibration did not remove.</a:t>
            </a:r>
          </a:p>
          <a:p>
            <a:pPr>
              <a:spcAft>
                <a:spcPts val="600"/>
              </a:spcAft>
            </a:pPr>
            <a:r>
              <a:rPr sz="1500" b="0">
                <a:solidFill>
                  <a:srgbClr val="282828"/>
                </a:solidFill>
                <a:latin typeface="Arial"/>
              </a:rPr>
              <a:t>•  Floor: the spread (rms) of the actuators that were not changed, in picometres.  It is what the measurement puts on actuators that should read zero.</a:t>
            </a:r>
          </a:p>
          <a:p>
            <a:pPr>
              <a:spcAft>
                <a:spcPts val="600"/>
              </a:spcAft>
            </a:pPr>
            <a:r>
              <a:rPr sz="1500" b="0">
                <a:solidFill>
                  <a:srgbClr val="282828"/>
                </a:solidFill>
                <a:latin typeface="Arial"/>
              </a:rPr>
              <a:t>•  SNR: recovered change divided by the floor.  Above 5 counts as detected.</a:t>
            </a:r>
          </a:p>
          <a:p>
            <a:pPr>
              <a:spcAft>
                <a:spcPts val="600"/>
              </a:spcAft>
            </a:pPr>
            <a:r>
              <a:rPr sz="1500" b="0">
                <a:solidFill>
                  <a:srgbClr val="282828"/>
                </a:solidFill>
                <a:latin typeface="Arial"/>
              </a:rPr>
              <a:t>•  Working surface: a random DM shape, 30 nm rms unless stated, present during the test.  It is the same random pattern every time, scaled.</a:t>
            </a:r>
          </a:p>
          <a:p>
            <a:pPr>
              <a:spcAft>
                <a:spcPts val="600"/>
              </a:spcAft>
            </a:pPr>
            <a:r>
              <a:rPr sz="1500" b="0">
                <a:solidFill>
                  <a:srgbClr val="282828"/>
                </a:solidFill>
                <a:latin typeface="Arial"/>
              </a:rPr>
              <a:t>•  State and frame: a state is one DM shape measured once.  A measurement of a change costs two states.  A state costs one camera frame for the one-frame readings and four frames for the stepped reading; photon budgets are quoted per state.</a:t>
            </a:r>
          </a:p>
        </p:txBody>
      </p:sp>
      <p:sp>
        <p:nvSpPr>
          <p:cNvPr id="5" name="TextBox 4"/>
          <p:cNvSpPr txBox="1"/>
          <p:nvPr/>
        </p:nvSpPr>
        <p:spPr>
          <a:xfrm>
            <a:off x="411480" y="5643372"/>
            <a:ext cx="11368735" cy="274320"/>
          </a:xfrm>
          <a:prstGeom prst="rect">
            <a:avLst/>
          </a:prstGeom>
          <a:noFill/>
        </p:spPr>
        <p:txBody>
          <a:bodyPr wrap="square">
            <a:spAutoFit/>
          </a:bodyPr>
          <a:lstStyle/>
          <a:p>
            <a:pPr>
              <a:spcAft>
                <a:spcPts val="600"/>
              </a:spcAft>
            </a:pPr>
            <a:r>
              <a:rPr sz="1050" b="0">
                <a:solidFill>
                  <a:srgbClr val="6E6E6E"/>
                </a:solidFill>
                <a:latin typeface="Arial"/>
              </a:rPr>
              <a:t>96×96 DM at 1 mm pitch unless stated (48×48 at 2 mm alongside).  The interferometer is scored the same way with the same code (dm_gauge_lib).  Target: 1 pm.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is real hardware, modelled with its own numbers</a:t>
            </a:r>
          </a:p>
          <a:p>
            <a:pPr>
              <a:spcAft>
                <a:spcPts val="0"/>
              </a:spcAft>
            </a:pPr>
            <a:r>
              <a:rPr sz="1250" b="0">
                <a:solidFill>
                  <a:srgbClr val="6E6E6E"/>
                </a:solidFill>
                <a:latin typeface="Arial"/>
              </a:rPr>
              <a:t>346.2 nm of etch in fused silica = 1.571 rad at 632.8 nm; a substrate with nine spots, one in the beam at a time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part: a fused-silica plate with a 3×3 array of etched dimples of different diameters — the VSG2 wavefront-sensor mask.  Etch depth 346.2 nm gives a phase delay 2π(n−1)d/λ = 1.571 rad, a quarter wave at 632.8 nm.  Moving the plate selects a spot; only one is ever in the beam.</a:t>
            </a:r>
          </a:p>
        </p:txBody>
      </p:sp>
      <p:graphicFrame>
        <p:nvGraphicFramePr>
          <p:cNvPr id="5" name="Table 4"/>
          <p:cNvGraphicFramePr>
            <a:graphicFrameLocks noGrp="1"/>
          </p:cNvGraphicFramePr>
          <p:nvPr/>
        </p:nvGraphicFramePr>
        <p:xfrm>
          <a:off x="411480" y="2218182"/>
          <a:ext cx="11368731" cy="560070"/>
        </p:xfrm>
        <a:graphic>
          <a:graphicData uri="http://schemas.openxmlformats.org/drawingml/2006/table">
            <a:tbl>
              <a:tblPr firstRow="1" bandRow="1">
                <a:tableStyleId>{5C22544A-7EE6-4342-B048-85BDC9FD1C3A}</a:tableStyleId>
              </a:tblPr>
              <a:tblGrid>
                <a:gridCol w="3989029"/>
                <a:gridCol w="2792320"/>
                <a:gridCol w="1396160"/>
                <a:gridCol w="1994514"/>
                <a:gridCol w="1196708"/>
              </a:tblGrid>
              <a:tr h="280035">
                <a:tc>
                  <a:txBody>
                    <a:bodyPr wrap="square"/>
                    <a:lstStyle/>
                    <a:p>
                      <a:r>
                        <a:rPr sz="1100" b="1">
                          <a:solidFill>
                            <a:srgbClr val="FFFFFF"/>
                          </a:solidFill>
                          <a:latin typeface="Arial"/>
                        </a:rPr>
                        <a:t>spot diameter (λF/D)</a:t>
                      </a:r>
                    </a:p>
                  </a:txBody>
                  <a:tcPr marL="54864" marR="54864" marT="18288" marB="18288">
                    <a:solidFill>
                      <a:srgbClr val="1F4E79"/>
                    </a:solidFill>
                  </a:tcPr>
                </a:tc>
                <a:tc>
                  <a:txBody>
                    <a:bodyPr wrap="square"/>
                    <a:lstStyle/>
                    <a:p>
                      <a:r>
                        <a:rPr sz="1100" b="1">
                          <a:solidFill>
                            <a:srgbClr val="FFFFFF"/>
                          </a:solidFill>
                          <a:latin typeface="Arial"/>
                        </a:rPr>
                        <a:t>1.06 (default)</a:t>
                      </a:r>
                    </a:p>
                  </a:txBody>
                  <a:tcPr marL="54864" marR="54864" marT="18288" marB="18288">
                    <a:solidFill>
                      <a:srgbClr val="1F4E79"/>
                    </a:solidFill>
                  </a:tcPr>
                </a:tc>
                <a:tc>
                  <a:txBody>
                    <a:bodyPr wrap="square"/>
                    <a:lstStyle/>
                    <a:p>
                      <a:r>
                        <a:rPr sz="1100" b="1">
                          <a:solidFill>
                            <a:srgbClr val="FFFFFF"/>
                          </a:solidFill>
                          <a:latin typeface="Arial"/>
                        </a:rPr>
                        <a:t>1.22</a:t>
                      </a:r>
                    </a:p>
                  </a:txBody>
                  <a:tcPr marL="54864" marR="54864" marT="18288" marB="18288">
                    <a:solidFill>
                      <a:srgbClr val="1F4E79"/>
                    </a:solidFill>
                  </a:tcPr>
                </a:tc>
                <a:tc>
                  <a:txBody>
                    <a:bodyPr wrap="square"/>
                    <a:lstStyle/>
                    <a:p>
                      <a:r>
                        <a:rPr sz="1100" b="1">
                          <a:solidFill>
                            <a:srgbClr val="FFFFFF"/>
                          </a:solidFill>
                          <a:latin typeface="Arial"/>
                        </a:rPr>
                        <a:t>2.0 (used)</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280035">
                <a:tc>
                  <a:txBody>
                    <a:bodyPr wrap="square"/>
                    <a:lstStyle/>
                    <a:p>
                      <a:r>
                        <a:rPr sz="1100" b="0">
                          <a:solidFill>
                            <a:srgbClr val="282828"/>
                          </a:solidFill>
                          <a:latin typeface="Arial"/>
                        </a:rPr>
                        <a:t>here, at F/4.2</a:t>
                      </a:r>
                    </a:p>
                  </a:txBody>
                  <a:tcPr marL="54864" marR="54864" marT="18288" marB="18288">
                    <a:solidFill>
                      <a:srgbClr val="FFFFFF"/>
                    </a:solidFill>
                  </a:tcPr>
                </a:tc>
                <a:tc>
                  <a:txBody>
                    <a:bodyPr wrap="square"/>
                    <a:lstStyle/>
                    <a:p>
                      <a:r>
                        <a:rPr sz="1100" b="0">
                          <a:solidFill>
                            <a:srgbClr val="282828"/>
                          </a:solidFill>
                          <a:latin typeface="Arial"/>
                        </a:rPr>
                        <a:t>2.79 µm</a:t>
                      </a:r>
                    </a:p>
                  </a:txBody>
                  <a:tcPr marL="54864" marR="54864" marT="18288" marB="18288">
                    <a:solidFill>
                      <a:srgbClr val="FFFFFF"/>
                    </a:solidFill>
                  </a:tcPr>
                </a:tc>
                <a:tc>
                  <a:txBody>
                    <a:bodyPr wrap="square"/>
                    <a:lstStyle/>
                    <a:p>
                      <a:r>
                        <a:rPr sz="1100" b="0">
                          <a:solidFill>
                            <a:srgbClr val="282828"/>
                          </a:solidFill>
                          <a:latin typeface="Arial"/>
                        </a:rPr>
                        <a:t>3.22 µm</a:t>
                      </a:r>
                    </a:p>
                  </a:txBody>
                  <a:tcPr marL="54864" marR="54864" marT="18288" marB="18288">
                    <a:solidFill>
                      <a:srgbClr val="FFFFFF"/>
                    </a:solidFill>
                  </a:tcPr>
                </a:tc>
                <a:tc>
                  <a:txBody>
                    <a:bodyPr wrap="square"/>
                    <a:lstStyle/>
                    <a:p>
                      <a:r>
                        <a:rPr sz="1100" b="0">
                          <a:solidFill>
                            <a:srgbClr val="282828"/>
                          </a:solidFill>
                          <a:latin typeface="Arial"/>
                        </a:rPr>
                        <a:t>5.3 µm</a:t>
                      </a:r>
                    </a:p>
                  </a:txBody>
                  <a:tcPr marL="54864" marR="54864" marT="18288" marB="18288">
                    <a:solidFill>
                      <a:srgbClr val="FFFFFF"/>
                    </a:solidFill>
                  </a:tcPr>
                </a:tc>
                <a:tc>
                  <a:txBody>
                    <a:bodyPr wrap="square"/>
                    <a:lstStyle/>
                    <a:p>
                      <a:r>
                        <a:rPr sz="1100" b="0">
                          <a:solidFill>
                            <a:srgbClr val="282828"/>
                          </a:solidFill>
                          <a:latin typeface="Arial"/>
                        </a:rPr>
                        <a:t>7.9 µm</a:t>
                      </a:r>
                    </a:p>
                  </a:txBody>
                  <a:tcPr marL="54864" marR="54864" marT="18288" marB="18288">
                    <a:solidFill>
                      <a:srgbClr val="FFFFFF"/>
                    </a:solidFill>
                  </a:tcPr>
                </a:tc>
              </a:tr>
            </a:tbl>
          </a:graphicData>
        </a:graphic>
      </p:graphicFrame>
      <p:sp>
        <p:nvSpPr>
          <p:cNvPr id="6" name="TextBox 5"/>
          <p:cNvSpPr txBox="1"/>
          <p:nvPr/>
        </p:nvSpPr>
        <p:spPr>
          <a:xfrm>
            <a:off x="411480" y="2924556"/>
            <a:ext cx="11368735" cy="274320"/>
          </a:xfrm>
          <a:prstGeom prst="rect">
            <a:avLst/>
          </a:prstGeom>
          <a:noFill/>
        </p:spPr>
        <p:txBody>
          <a:bodyPr wrap="square">
            <a:spAutoFit/>
          </a:bodyPr>
          <a:lstStyle/>
          <a:p>
            <a:pPr>
              <a:spcAft>
                <a:spcPts val="600"/>
              </a:spcAft>
            </a:pPr>
            <a:r>
              <a:rPr sz="1500" b="0">
                <a:solidFill>
                  <a:srgbClr val="282828"/>
                </a:solidFill>
                <a:latin typeface="Arial"/>
              </a:rPr>
              <a:t>•  In the model: the etched disk is a complex mask multiplied into the calculated field at the focus — edges area-weighted at 8× supersampling, the disk centred on the measured spot (the same alignment the real plate gets by moving it).  An exact identity checks it: the masked field equals the direct part plus the dimple's part to 15 digits, so the mask provably acts on the light.</a:t>
            </a:r>
          </a:p>
          <a:p>
            <a:pPr>
              <a:spcAft>
                <a:spcPts val="600"/>
              </a:spcAft>
            </a:pPr>
            <a:r>
              <a:rPr sz="1500" b="0">
                <a:solidFill>
                  <a:srgbClr val="282828"/>
                </a:solidFill>
                <a:latin typeface="Arial"/>
              </a:rPr>
              <a:t>•  Spot size sets the weak band: on the corrected model, the 3.0 λF/D spot deepens the sensor's own dip below 2 cycles across the pupil (response 0.22 against 0.50 at 2.0 λF/D) and changes nothing above it.  2.0 λF/D is the spot used throughout.</a:t>
            </a:r>
          </a:p>
        </p:txBody>
      </p:sp>
      <p:sp>
        <p:nvSpPr>
          <p:cNvPr id="7" name="TextBox 6"/>
          <p:cNvSpPr txBox="1"/>
          <p:nvPr/>
        </p:nvSpPr>
        <p:spPr>
          <a:xfrm>
            <a:off x="411480" y="4975098"/>
            <a:ext cx="11368735" cy="274320"/>
          </a:xfrm>
          <a:prstGeom prst="rect">
            <a:avLst/>
          </a:prstGeom>
          <a:noFill/>
        </p:spPr>
        <p:txBody>
          <a:bodyPr wrap="square">
            <a:spAutoFit/>
          </a:bodyPr>
          <a:lstStyle/>
          <a:p>
            <a:pPr>
              <a:spcAft>
                <a:spcPts val="600"/>
              </a:spcAft>
            </a:pPr>
            <a:r>
              <a:rPr sz="1050" b="0">
                <a:solidFill>
                  <a:srgbClr val="6E6E6E"/>
                </a:solidFill>
                <a:latin typeface="Arial"/>
              </a:rPr>
              <a:t>Hardware numbers from the VSG2 ZWFS upgrade deck, carried in vsg2_params.m; substrate class Thorlabs W4101FT1.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First light in the model</a:t>
            </a:r>
          </a:p>
          <a:p>
            <a:pPr>
              <a:spcAft>
                <a:spcPts val="0"/>
              </a:spcAft>
            </a:pPr>
            <a:r>
              <a:rPr sz="1250" b="0">
                <a:solidFill>
                  <a:srgbClr val="6E6E6E"/>
                </a:solidFill>
                <a:latin typeface="Arial"/>
              </a:rPr>
              <a:t>A known 8 nm ripple put on the DM comes back from one camera frame at gain 0.93, and reads as nothing when the dimple is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chain, checked: dimple 6.3 pixels across on the focal grid; masked frame = direct part + dimple part to 3×10⁻¹⁶; 0.280 of the light in the core.</a:t>
            </a:r>
          </a:p>
          <a:p>
            <a:pPr>
              <a:spcAft>
                <a:spcPts val="600"/>
              </a:spcAft>
            </a:pPr>
            <a:r>
              <a:rPr sz="1200" b="0">
                <a:solidFill>
                  <a:srgbClr val="282828"/>
                </a:solidFill>
                <a:latin typeface="Arial"/>
              </a:rPr>
              <a:t>•  The measurement: an 8 nm ring pattern on the DM, rebuilt from a single frame against the flat-DM reference maps — gain 0.932, residual 0.45 nm; the camera-to-DM mapping comes from traced rays (magnification 10.16, no anamorphism).</a:t>
            </a:r>
          </a:p>
          <a:p>
            <a:pPr>
              <a:spcAft>
                <a:spcPts val="600"/>
              </a:spcAft>
            </a:pPr>
            <a:r>
              <a:rPr sz="1200" b="0">
                <a:solidFill>
                  <a:srgbClr val="282828"/>
                </a:solidFill>
                <a:latin typeface="Arial"/>
              </a:rPr>
              <a:t>•  The control: the same DM shape read without the dimple gives gain −0.07.  Plain pupil imaging is blind to phase; the signal is the dimple's.</a:t>
            </a:r>
          </a:p>
          <a:p>
            <a:pPr>
              <a:spcAft>
                <a:spcPts val="600"/>
              </a:spcAft>
            </a:pPr>
            <a:r>
              <a:rPr sz="1200" b="0">
                <a:solidFill>
                  <a:srgbClr val="282828"/>
                </a:solidFill>
                <a:latin typeface="Arial"/>
              </a:rPr>
              <a:t>•  Low orders are less trouble than expected: defocus reads at 0.986.  The blind spot is piston and tilt only.</a:t>
            </a:r>
          </a:p>
        </p:txBody>
      </p:sp>
      <p:pic>
        <p:nvPicPr>
          <p:cNvPr id="5" name="Picture 4" descr="zwfs_response.png"/>
          <p:cNvPicPr>
            <a:picLocks noChangeAspect="1"/>
          </p:cNvPicPr>
          <p:nvPr/>
        </p:nvPicPr>
        <p:blipFill>
          <a:blip r:embed="rId2"/>
          <a:stretch>
            <a:fillRect/>
          </a:stretch>
        </p:blipFill>
        <p:spPr>
          <a:xfrm>
            <a:off x="6729237" y="1298448"/>
            <a:ext cx="473808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Commanded shape (left) against the single-frame recovery (right): same rings, same scale.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Numbers from zwfs_s1_report.txt (five checks, 20 s a run, development resolution), taken on the model later found out of focus (next slide).  The five checks test structure, not accuracy, and still stand.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was out of focus; corrected, the ringing goes away</a:t>
            </a:r>
          </a:p>
          <a:p>
            <a:pPr>
              <a:spcAft>
                <a:spcPts val="0"/>
              </a:spcAft>
            </a:pPr>
            <a:r>
              <a:rPr sz="1250" b="0">
                <a:solidFill>
                  <a:srgbClr val="6E6E6E"/>
                </a:solidFill>
                <a:latin typeface="Arial"/>
              </a:rPr>
              <a:t>The exit sphere of the mask bracket had the wrong radius — a 4.9 m defocus of the pupil image, under every result of the first six stages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defect: the two reference spheres around the mask must share one radius so that, with no mask, the field comes back unchanged.  The exit sphere was written with a 23.9 mm radius against the entrance sphere's 352.7 mm; the engine then applied a quadratic phase at the focus, which is a defocus of the pupil image by 4.86 m.  Found while building the exact inversion, which needs the pupil brightness to be the same for every DM shape.</a:t>
            </a:r>
          </a:p>
          <a:p>
            <a:pPr>
              <a:spcAft>
                <a:spcPts val="600"/>
              </a:spcAft>
            </a:pPr>
            <a:r>
              <a:rPr sz="1200" b="0">
                <a:solidFill>
                  <a:srgbClr val="282828"/>
                </a:solidFill>
                <a:latin typeface="Arial"/>
              </a:rPr>
              <a:t>•  What it explained: with no mask the field came back changed by 0.159 on a flat DM (now 1.8×10⁻¹⁵); a 30 nm DM shape changed the pupil brightness by 29% rms (now 4×10⁻¹⁶); the response to one actuator rang (peak 0.27, ring −0.16; now 0.75, no ring); the response had a null near 30 cycles across the pupil — a Talbot effect of the defocus, predicted at 34.</a:t>
            </a:r>
          </a:p>
          <a:p>
            <a:pPr>
              <a:spcAft>
                <a:spcPts val="600"/>
              </a:spcAft>
            </a:pPr>
            <a:r>
              <a:rPr sz="1200" b="0">
                <a:solidFill>
                  <a:srgbClr val="282828"/>
                </a:solidFill>
                <a:latin typeface="Arial"/>
              </a:rPr>
              <a:t>•  What the correction alone buys (one-frame linear reading, 96×96, same frames): floor under a single-actuator change on the 30 nm surface 744 → 67 pm (SNR 9 → 80); the grid case the sensor could not detect goes from SNR 1.5 to 14; a dense random change 42 → 9.6 nm error.</a:t>
            </a:r>
          </a:p>
        </p:txBody>
      </p:sp>
      <p:pic>
        <p:nvPicPr>
          <p:cNvPr id="5" name="Picture 4" descr="zwfs_s7iter.png"/>
          <p:cNvPicPr>
            <a:picLocks noChangeAspect="1"/>
          </p:cNvPicPr>
          <p:nvPr/>
        </p:nvPicPr>
        <p:blipFill>
          <a:blip r:embed="rId2"/>
          <a:stretch>
            <a:fillRect/>
          </a:stretch>
        </p:blipFill>
        <p:spPr>
          <a:xfrm>
            <a:off x="6609767" y="1298448"/>
            <a:ext cx="4977024"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Left: the corrected model's response by spatial frequency for the three kinds of reading, against the old model's linear response (dashed) with its null.  Right: gain on one actuator as the working surface grows.</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The old emission is kept as a builder option so the first six stages reproduce byte for byte.  The interferometer traces the same tail by rays and was never affected.  Records: zwfs_s7iter_report.txt, README S7.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Five ways to read the same camera frames</a:t>
            </a:r>
          </a:p>
          <a:p>
            <a:pPr>
              <a:spcAft>
                <a:spcPts val="0"/>
              </a:spcAft>
            </a:pPr>
            <a:r>
              <a:rPr sz="1250" b="0">
                <a:solidFill>
                  <a:srgbClr val="6E6E6E"/>
                </a:solidFill>
                <a:latin typeface="Arial"/>
              </a:rPr>
              <a:t>The exact inversion, with its reference re-computed and the sign choice settled once, reads a 10 nm change to 19 pm from one frame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readings: L, linear, one frame, small phases only.  F, exact inversion pixel by pixel with the reference wave from the flat DM, one frame.  I, exact inversion with the reference wave re-computed from the current estimate through the mask model, five passes, one frame.  I+, the same, with the sign choice each pixel faces (which side of the quarter-wave fold it is on) settled once per working surface from four stepped frames, then refined; every later measurement is one frame.  S, phase stepping through three etch depths plus a clear frame, four frames.</a:t>
            </a:r>
          </a:p>
        </p:txBody>
      </p:sp>
      <p:graphicFrame>
        <p:nvGraphicFramePr>
          <p:cNvPr id="5" name="Table 4"/>
          <p:cNvGraphicFramePr>
            <a:graphicFrameLocks noGrp="1"/>
          </p:cNvGraphicFramePr>
          <p:nvPr/>
        </p:nvGraphicFramePr>
        <p:xfrm>
          <a:off x="411480" y="2713482"/>
          <a:ext cx="11368735" cy="1400175"/>
        </p:xfrm>
        <a:graphic>
          <a:graphicData uri="http://schemas.openxmlformats.org/drawingml/2006/table">
            <a:tbl>
              <a:tblPr firstRow="1" bandRow="1">
                <a:tableStyleId>{5C22544A-7EE6-4342-B048-85BDC9FD1C3A}</a:tableStyleId>
              </a:tblPr>
              <a:tblGrid>
                <a:gridCol w="6641795"/>
                <a:gridCol w="945388"/>
                <a:gridCol w="945388"/>
                <a:gridCol w="945388"/>
                <a:gridCol w="945388"/>
                <a:gridCol w="945388"/>
              </a:tblGrid>
              <a:tr h="280035">
                <a:tc>
                  <a:txBody>
                    <a:bodyPr wrap="square"/>
                    <a:lstStyle/>
                    <a:p>
                      <a:r>
                        <a:rPr sz="1100" b="1">
                          <a:solidFill>
                            <a:srgbClr val="FFFFFF"/>
                          </a:solidFill>
                          <a:latin typeface="Arial"/>
                        </a:rPr>
                        <a:t>10 nm change on the 30 nm working surface, 96×96</a:t>
                      </a:r>
                    </a:p>
                  </a:txBody>
                  <a:tcPr marL="54864" marR="54864" marT="18288" marB="18288">
                    <a:solidFill>
                      <a:srgbClr val="1F4E79"/>
                    </a:solidFill>
                  </a:tcPr>
                </a:tc>
                <a:tc>
                  <a:txBody>
                    <a:bodyPr wrap="square"/>
                    <a:lstStyle/>
                    <a:p>
                      <a:r>
                        <a:rPr sz="1100" b="1">
                          <a:solidFill>
                            <a:srgbClr val="FFFFFF"/>
                          </a:solidFill>
                          <a:latin typeface="Arial"/>
                        </a:rPr>
                        <a:t>L</a:t>
                      </a:r>
                    </a:p>
                  </a:txBody>
                  <a:tcPr marL="54864" marR="54864" marT="18288" marB="18288">
                    <a:solidFill>
                      <a:srgbClr val="1F4E79"/>
                    </a:solidFill>
                  </a:tcPr>
                </a:tc>
                <a:tc>
                  <a:txBody>
                    <a:bodyPr wrap="square"/>
                    <a:lstStyle/>
                    <a:p>
                      <a:r>
                        <a:rPr sz="1100" b="1">
                          <a:solidFill>
                            <a:srgbClr val="FFFFFF"/>
                          </a:solidFill>
                          <a:latin typeface="Arial"/>
                        </a:rPr>
                        <a:t>F</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S</a:t>
                      </a:r>
                    </a:p>
                  </a:txBody>
                  <a:tcPr marL="54864" marR="54864" marT="18288" marB="18288">
                    <a:solidFill>
                      <a:srgbClr val="1F4E79"/>
                    </a:solidFill>
                  </a:tcPr>
                </a:tc>
              </a:tr>
              <a:tr h="280035">
                <a:tc>
                  <a:txBody>
                    <a:bodyPr wrap="square"/>
                    <a:lstStyle/>
                    <a:p>
                      <a:r>
                        <a:rPr sz="1100" b="0">
                          <a:solidFill>
                            <a:srgbClr val="282828"/>
                          </a:solidFill>
                          <a:latin typeface="Arial"/>
                        </a:rPr>
                        <a:t>gain, before / after the frequency correction</a:t>
                      </a:r>
                    </a:p>
                  </a:txBody>
                  <a:tcPr marL="54864" marR="54864" marT="18288" marB="18288">
                    <a:solidFill>
                      <a:srgbClr val="FFFFFF"/>
                    </a:solidFill>
                  </a:tcPr>
                </a:tc>
                <a:tc>
                  <a:txBody>
                    <a:bodyPr wrap="square"/>
                    <a:lstStyle/>
                    <a:p>
                      <a:r>
                        <a:rPr sz="1100" b="0">
                          <a:solidFill>
                            <a:srgbClr val="282828"/>
                          </a:solidFill>
                          <a:latin typeface="Arial"/>
                        </a:rPr>
                        <a:t>0.39 / 0.35</a:t>
                      </a:r>
                    </a:p>
                  </a:txBody>
                  <a:tcPr marL="54864" marR="54864" marT="18288" marB="18288">
                    <a:solidFill>
                      <a:srgbClr val="FFFFFF"/>
                    </a:solidFill>
                  </a:tcPr>
                </a:tc>
                <a:tc>
                  <a:txBody>
                    <a:bodyPr wrap="square"/>
                    <a:lstStyle/>
                    <a:p>
                      <a:r>
                        <a:rPr sz="1100" b="0">
                          <a:solidFill>
                            <a:srgbClr val="282828"/>
                          </a:solidFill>
                          <a:latin typeface="Arial"/>
                        </a:rPr>
                        <a:t>0.96 / 0.91</a:t>
                      </a:r>
                    </a:p>
                  </a:txBody>
                  <a:tcPr marL="54864" marR="54864" marT="18288" marB="18288">
                    <a:solidFill>
                      <a:srgbClr val="FFFFFF"/>
                    </a:solidFill>
                  </a:tcPr>
                </a:tc>
                <a:tc>
                  <a:txBody>
                    <a:bodyPr wrap="square"/>
                    <a:lstStyle/>
                    <a:p>
                      <a:r>
                        <a:rPr sz="1100" b="0">
                          <a:solidFill>
                            <a:srgbClr val="282828"/>
                          </a:solidFill>
                          <a:latin typeface="Arial"/>
                        </a:rPr>
                        <a:t>1.08 / 1.02</a:t>
                      </a:r>
                    </a:p>
                  </a:txBody>
                  <a:tcPr marL="54864" marR="54864" marT="18288" marB="18288">
                    <a:solidFill>
                      <a:srgbClr val="FFFFFF"/>
                    </a:solidFill>
                  </a:tcPr>
                </a:tc>
                <a:tc>
                  <a:txBody>
                    <a:bodyPr wrap="square"/>
                    <a:lstStyle/>
                    <a:p>
                      <a:r>
                        <a:rPr sz="1100" b="0">
                          <a:solidFill>
                            <a:srgbClr val="282828"/>
                          </a:solidFill>
                          <a:latin typeface="Arial"/>
                        </a:rPr>
                        <a:t>0.98 / 0.93</a:t>
                      </a:r>
                    </a:p>
                  </a:txBody>
                  <a:tcPr marL="54864" marR="54864" marT="18288" marB="18288">
                    <a:solidFill>
                      <a:srgbClr val="FFFFFF"/>
                    </a:solidFill>
                  </a:tcPr>
                </a:tc>
                <a:tc>
                  <a:txBody>
                    <a:bodyPr wrap="square"/>
                    <a:lstStyle/>
                    <a:p>
                      <a:r>
                        <a:rPr sz="1100" b="0">
                          <a:solidFill>
                            <a:srgbClr val="282828"/>
                          </a:solidFill>
                          <a:latin typeface="Arial"/>
                        </a:rPr>
                        <a:t>0.80 / 0.87</a:t>
                      </a:r>
                    </a:p>
                  </a:txBody>
                  <a:tcPr marL="54864" marR="54864" marT="18288" marB="18288">
                    <a:solidFill>
                      <a:srgbClr val="FFFFFF"/>
                    </a:solidFill>
                  </a:tcPr>
                </a:tc>
              </a:tr>
              <a:tr h="280035">
                <a:tc>
                  <a:txBody>
                    <a:bodyPr wrap="square"/>
                    <a:lstStyle/>
                    <a:p>
                      <a:r>
                        <a:rPr sz="1100" b="0">
                          <a:solidFill>
                            <a:srgbClr val="282828"/>
                          </a:solidFill>
                          <a:latin typeface="Arial"/>
                        </a:rPr>
                        <a:t>floor, pm, before / after</a:t>
                      </a:r>
                    </a:p>
                  </a:txBody>
                  <a:tcPr marL="54864" marR="54864" marT="18288" marB="18288">
                    <a:solidFill>
                      <a:srgbClr val="ECF1F6"/>
                    </a:solidFill>
                  </a:tcPr>
                </a:tc>
                <a:tc>
                  <a:txBody>
                    <a:bodyPr wrap="square"/>
                    <a:lstStyle/>
                    <a:p>
                      <a:r>
                        <a:rPr sz="1100" b="0">
                          <a:solidFill>
                            <a:srgbClr val="282828"/>
                          </a:solidFill>
                          <a:latin typeface="Arial"/>
                        </a:rPr>
                        <a:t>72 / 63</a:t>
                      </a:r>
                    </a:p>
                  </a:txBody>
                  <a:tcPr marL="54864" marR="54864" marT="18288" marB="18288">
                    <a:solidFill>
                      <a:srgbClr val="ECF1F6"/>
                    </a:solidFill>
                  </a:tcPr>
                </a:tc>
                <a:tc>
                  <a:txBody>
                    <a:bodyPr wrap="square"/>
                    <a:lstStyle/>
                    <a:p>
                      <a:r>
                        <a:rPr sz="1100" b="0">
                          <a:solidFill>
                            <a:srgbClr val="282828"/>
                          </a:solidFill>
                          <a:latin typeface="Arial"/>
                        </a:rPr>
                        <a:t>55 / 55</a:t>
                      </a:r>
                    </a:p>
                  </a:txBody>
                  <a:tcPr marL="54864" marR="54864" marT="18288" marB="18288">
                    <a:solidFill>
                      <a:srgbClr val="ECF1F6"/>
                    </a:solidFill>
                  </a:tcPr>
                </a:tc>
                <a:tc>
                  <a:txBody>
                    <a:bodyPr wrap="square"/>
                    <a:lstStyle/>
                    <a:p>
                      <a:r>
                        <a:rPr sz="1100" b="0">
                          <a:solidFill>
                            <a:srgbClr val="282828"/>
                          </a:solidFill>
                          <a:latin typeface="Arial"/>
                        </a:rPr>
                        <a:t>28 / 39</a:t>
                      </a:r>
                    </a:p>
                  </a:txBody>
                  <a:tcPr marL="54864" marR="54864" marT="18288" marB="18288">
                    <a:solidFill>
                      <a:srgbClr val="ECF1F6"/>
                    </a:solidFill>
                  </a:tcPr>
                </a:tc>
                <a:tc>
                  <a:txBody>
                    <a:bodyPr wrap="square"/>
                    <a:lstStyle/>
                    <a:p>
                      <a:r>
                        <a:rPr sz="1100" b="0">
                          <a:solidFill>
                            <a:srgbClr val="282828"/>
                          </a:solidFill>
                          <a:latin typeface="Arial"/>
                        </a:rPr>
                        <a:t>19 / 34</a:t>
                      </a:r>
                    </a:p>
                  </a:txBody>
                  <a:tcPr marL="54864" marR="54864" marT="18288" marB="18288">
                    <a:solidFill>
                      <a:srgbClr val="ECF1F6"/>
                    </a:solidFill>
                  </a:tcPr>
                </a:tc>
                <a:tc>
                  <a:txBody>
                    <a:bodyPr wrap="square"/>
                    <a:lstStyle/>
                    <a:p>
                      <a:r>
                        <a:rPr sz="1100" b="0">
                          <a:solidFill>
                            <a:srgbClr val="282828"/>
                          </a:solidFill>
                          <a:latin typeface="Arial"/>
                        </a:rPr>
                        <a:t>17 / 36</a:t>
                      </a:r>
                    </a:p>
                  </a:txBody>
                  <a:tcPr marL="54864" marR="54864" marT="18288" marB="18288">
                    <a:solidFill>
                      <a:srgbClr val="ECF1F6"/>
                    </a:solidFill>
                  </a:tcPr>
                </a:tc>
              </a:tr>
              <a:tr h="280035">
                <a:tc>
                  <a:txBody>
                    <a:bodyPr wrap="square"/>
                    <a:lstStyle/>
                    <a:p>
                      <a:r>
                        <a:rPr sz="1100" b="0">
                          <a:solidFill>
                            <a:srgbClr val="282828"/>
                          </a:solidFill>
                          <a:latin typeface="Arial"/>
                        </a:rPr>
                        <a:t>SNR (before)</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173</a:t>
                      </a:r>
                    </a:p>
                  </a:txBody>
                  <a:tcPr marL="54864" marR="54864" marT="18288" marB="18288">
                    <a:solidFill>
                      <a:srgbClr val="FFFFFF"/>
                    </a:solidFill>
                  </a:tcPr>
                </a:tc>
                <a:tc>
                  <a:txBody>
                    <a:bodyPr wrap="square"/>
                    <a:lstStyle/>
                    <a:p>
                      <a:r>
                        <a:rPr sz="1100" b="0">
                          <a:solidFill>
                            <a:srgbClr val="282828"/>
                          </a:solidFill>
                          <a:latin typeface="Arial"/>
                        </a:rPr>
                        <a:t>386</a:t>
                      </a:r>
                    </a:p>
                  </a:txBody>
                  <a:tcPr marL="54864" marR="54864" marT="18288" marB="18288">
                    <a:solidFill>
                      <a:srgbClr val="FFFFFF"/>
                    </a:solidFill>
                  </a:tcPr>
                </a:tc>
                <a:tc>
                  <a:txBody>
                    <a:bodyPr wrap="square"/>
                    <a:lstStyle/>
                    <a:p>
                      <a:r>
                        <a:rPr sz="1100" b="0">
                          <a:solidFill>
                            <a:srgbClr val="282828"/>
                          </a:solidFill>
                          <a:latin typeface="Arial"/>
                        </a:rPr>
                        <a:t>525</a:t>
                      </a:r>
                    </a:p>
                  </a:txBody>
                  <a:tcPr marL="54864" marR="54864" marT="18288" marB="18288">
                    <a:solidFill>
                      <a:srgbClr val="FFFFFF"/>
                    </a:solidFill>
                  </a:tcPr>
                </a:tc>
                <a:tc>
                  <a:txBody>
                    <a:bodyPr wrap="square"/>
                    <a:lstStyle/>
                    <a:p>
                      <a:r>
                        <a:rPr sz="1100" b="0">
                          <a:solidFill>
                            <a:srgbClr val="282828"/>
                          </a:solidFill>
                          <a:latin typeface="Arial"/>
                        </a:rPr>
                        <a:t>461</a:t>
                      </a:r>
                    </a:p>
                  </a:txBody>
                  <a:tcPr marL="54864" marR="54864" marT="18288" marB="18288">
                    <a:solidFill>
                      <a:srgbClr val="FFFFFF"/>
                    </a:solidFill>
                  </a:tcPr>
                </a:tc>
              </a:tr>
              <a:tr h="280035">
                <a:tc>
                  <a:txBody>
                    <a:bodyPr wrap="square"/>
                    <a:lstStyle/>
                    <a:p>
                      <a:r>
                        <a:rPr sz="1100" b="0">
                          <a:solidFill>
                            <a:srgbClr val="282828"/>
                          </a:solidFill>
                          <a:latin typeface="Arial"/>
                        </a:rPr>
                        <a:t>47 actuators changed by 1 nm on the same surface: SNR</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12.4</a:t>
                      </a:r>
                    </a:p>
                  </a:txBody>
                  <a:tcPr marL="54864" marR="54864" marT="18288" marB="18288">
                    <a:solidFill>
                      <a:srgbClr val="ECF1F6"/>
                    </a:solidFill>
                  </a:tcPr>
                </a:tc>
                <a:tc>
                  <a:txBody>
                    <a:bodyPr wrap="square"/>
                    <a:lstStyle/>
                    <a:p>
                      <a:r>
                        <a:rPr sz="1100" b="0">
                          <a:solidFill>
                            <a:srgbClr val="282828"/>
                          </a:solidFill>
                          <a:latin typeface="Arial"/>
                        </a:rPr>
                        <a:t>12.6</a:t>
                      </a:r>
                    </a:p>
                  </a:txBody>
                  <a:tcPr marL="54864" marR="54864" marT="18288" marB="18288">
                    <a:solidFill>
                      <a:srgbClr val="ECF1F6"/>
                    </a:solidFill>
                  </a:tcPr>
                </a:tc>
                <a:tc>
                  <a:txBody>
                    <a:bodyPr wrap="square"/>
                    <a:lstStyle/>
                    <a:p>
                      <a:r>
                        <a:rPr sz="1100" b="0">
                          <a:solidFill>
                            <a:srgbClr val="282828"/>
                          </a:solidFill>
                          <a:latin typeface="Arial"/>
                        </a:rPr>
                        <a:t>45.5</a:t>
                      </a:r>
                    </a:p>
                  </a:txBody>
                  <a:tcPr marL="54864" marR="54864" marT="18288" marB="18288">
                    <a:solidFill>
                      <a:srgbClr val="ECF1F6"/>
                    </a:solidFill>
                  </a:tcPr>
                </a:tc>
                <a:tc>
                  <a:txBody>
                    <a:bodyPr wrap="square"/>
                    <a:lstStyle/>
                    <a:p>
                      <a:r>
                        <a:rPr sz="1100" b="0">
                          <a:solidFill>
                            <a:srgbClr val="282828"/>
                          </a:solidFill>
                          <a:latin typeface="Arial"/>
                        </a:rPr>
                        <a:t>47.1</a:t>
                      </a:r>
                    </a:p>
                  </a:txBody>
                  <a:tcPr marL="54864" marR="54864" marT="18288" marB="18288">
                    <a:solidFill>
                      <a:srgbClr val="ECF1F6"/>
                    </a:solidFill>
                  </a:tcPr>
                </a:tc>
              </a:tr>
            </a:tbl>
          </a:graphicData>
        </a:graphic>
      </p:graphicFrame>
      <p:sp>
        <p:nvSpPr>
          <p:cNvPr id="6" name="TextBox 5"/>
          <p:cNvSpPr txBox="1"/>
          <p:nvPr/>
        </p:nvSpPr>
        <p:spPr>
          <a:xfrm>
            <a:off x="411480" y="4259961"/>
            <a:ext cx="11368735" cy="274320"/>
          </a:xfrm>
          <a:prstGeom prst="rect">
            <a:avLst/>
          </a:prstGeom>
          <a:noFill/>
        </p:spPr>
        <p:txBody>
          <a:bodyPr wrap="square">
            <a:spAutoFit/>
          </a:bodyPr>
          <a:lstStyle/>
          <a:p>
            <a:pPr>
              <a:spcAft>
                <a:spcPts val="600"/>
              </a:spcAft>
            </a:pPr>
            <a:r>
              <a:rPr sz="1500" b="0">
                <a:solidFill>
                  <a:srgbClr val="282828"/>
                </a:solidFill>
                <a:latin typeface="Arial"/>
              </a:rPr>
              <a:t>•  The one physical limit is the sign fold: with the true sign map and the engine's own reference wave, the inversion is exact to 3×10⁻¹⁴.  On the 30 nm surface 7.8% of pixels sit past the fold.  The refined sign map gets 99.99% of pixels right; the plain stepped one misses 3%, enough to flip the sign of a single actuator.</a:t>
            </a:r>
          </a:p>
        </p:txBody>
      </p:sp>
      <p:sp>
        <p:nvSpPr>
          <p:cNvPr id="7" name="TextBox 6"/>
          <p:cNvSpPr txBox="1"/>
          <p:nvPr/>
        </p:nvSpPr>
        <p:spPr>
          <a:xfrm>
            <a:off x="411480" y="5179695"/>
            <a:ext cx="11368735" cy="274320"/>
          </a:xfrm>
          <a:prstGeom prst="rect">
            <a:avLst/>
          </a:prstGeom>
          <a:noFill/>
        </p:spPr>
        <p:txBody>
          <a:bodyPr wrap="square">
            <a:spAutoFit/>
          </a:bodyPr>
          <a:lstStyle/>
          <a:p>
            <a:pPr>
              <a:spcAft>
                <a:spcPts val="600"/>
              </a:spcAft>
            </a:pPr>
            <a:r>
              <a:rPr sz="1050" b="0">
                <a:solidFill>
                  <a:srgbClr val="6E6E6E"/>
                </a:solidFill>
                <a:latin typeface="Arial"/>
              </a:rPr>
              <a:t>Fully sampled setup (385 rays across the pupil, 2048 grid; slide 9).  "Frequency correction" = dividing out the measured response by spatial frequency.  The reference-wave model matches the engine's own field to 2×10⁻¹⁵.  Interferometer on the same row: gain 0.92, floor 46 pm.  Record: runs/m2048_lat (the fit's stencil sampled at the actuator centre, slide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Sampling: two requirements that pull opposite ways</a:t>
            </a:r>
          </a:p>
          <a:p>
            <a:pPr>
              <a:spcAft>
                <a:spcPts val="0"/>
              </a:spcAft>
            </a:pPr>
            <a:r>
              <a:rPr sz="1250" b="0">
                <a:solidFill>
                  <a:srgbClr val="6E6E6E"/>
                </a:solidFill>
                <a:latin typeface="Arial"/>
              </a:rPr>
              <a:t>Dimple pixels go as grid size over ray count, camera pixels per actuator as ray count — only a larger grid serves both; a 2048 grid fits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1874520"/>
        </p:xfrm>
        <a:graphic>
          <a:graphicData uri="http://schemas.openxmlformats.org/drawingml/2006/table">
            <a:tbl>
              <a:tblPr firstRow="1" bandRow="1">
                <a:tableStyleId>{5C22544A-7EE6-4342-B048-85BDC9FD1C3A}</a:tableStyleId>
              </a:tblPr>
              <a:tblGrid>
                <a:gridCol w="1425289"/>
                <a:gridCol w="872744"/>
                <a:gridCol w="1206014"/>
                <a:gridCol w="1041558"/>
                <a:gridCol w="1260833"/>
              </a:tblGrid>
              <a:tr h="468630">
                <a:tc>
                  <a:txBody>
                    <a:bodyPr wrap="square"/>
                    <a:lstStyle/>
                    <a:p>
                      <a:r>
                        <a:rPr sz="1100" b="1">
                          <a:solidFill>
                            <a:srgbClr val="FFFFFF"/>
                          </a:solidFill>
                          <a:latin typeface="Arial"/>
                        </a:rPr>
                        <a:t>rays across / grid</a:t>
                      </a:r>
                    </a:p>
                  </a:txBody>
                  <a:tcPr marL="54864" marR="54864" marT="18288" marB="18288">
                    <a:solidFill>
                      <a:srgbClr val="1F4E79"/>
                    </a:solidFill>
                  </a:tcPr>
                </a:tc>
                <a:tc>
                  <a:txBody>
                    <a:bodyPr wrap="square"/>
                    <a:lstStyle/>
                    <a:p>
                      <a:r>
                        <a:rPr sz="1100" b="1">
                          <a:solidFill>
                            <a:srgbClr val="FFFFFF"/>
                          </a:solidFill>
                          <a:latin typeface="Arial"/>
                        </a:rPr>
                        <a:t>dimple, px</a:t>
                      </a:r>
                    </a:p>
                  </a:txBody>
                  <a:tcPr marL="54864" marR="54864" marT="18288" marB="18288">
                    <a:solidFill>
                      <a:srgbClr val="1F4E79"/>
                    </a:solidFill>
                  </a:tcPr>
                </a:tc>
                <a:tc>
                  <a:txBody>
                    <a:bodyPr wrap="square"/>
                    <a:lstStyle/>
                    <a:p>
                      <a:r>
                        <a:rPr sz="1100" b="1">
                          <a:solidFill>
                            <a:srgbClr val="FFFFFF"/>
                          </a:solidFill>
                          <a:latin typeface="Arial"/>
                        </a:rPr>
                        <a:t>camera px per actuator</a:t>
                      </a:r>
                    </a:p>
                  </a:txBody>
                  <a:tcPr marL="54864" marR="54864" marT="18288" marB="18288">
                    <a:solidFill>
                      <a:srgbClr val="1F4E79"/>
                    </a:solidFill>
                  </a:tcPr>
                </a:tc>
                <a:tc>
                  <a:txBody>
                    <a:bodyPr wrap="square"/>
                    <a:lstStyle/>
                    <a:p>
                      <a:r>
                        <a:rPr sz="1100" b="1">
                          <a:solidFill>
                            <a:srgbClr val="FFFFFF"/>
                          </a:solidFill>
                          <a:latin typeface="Arial"/>
                        </a:rPr>
                        <a:t>gain, test actuator</a:t>
                      </a:r>
                    </a:p>
                  </a:txBody>
                  <a:tcPr marL="54864" marR="54864" marT="18288" marB="18288">
                    <a:solidFill>
                      <a:srgbClr val="1F4E79"/>
                    </a:solidFill>
                  </a:tcPr>
                </a:tc>
                <a:tc>
                  <a:txBody>
                    <a:bodyPr wrap="square"/>
                    <a:lstStyle/>
                    <a:p>
                      <a:r>
                        <a:rPr sz="1100" b="1">
                          <a:solidFill>
                            <a:srgbClr val="FFFFFF"/>
                          </a:solidFill>
                          <a:latin typeface="Arial"/>
                        </a:rPr>
                        <a:t>I+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193 / 1024 (development)</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0.946</a:t>
                      </a:r>
                    </a:p>
                  </a:txBody>
                  <a:tcPr marL="54864" marR="54864" marT="18288" marB="18288">
                    <a:solidFill>
                      <a:srgbClr val="FFFFFF"/>
                    </a:solidFill>
                  </a:tcPr>
                </a:tc>
                <a:tc>
                  <a:txBody>
                    <a:bodyPr wrap="square"/>
                    <a:lstStyle/>
                    <a:p>
                      <a:r>
                        <a:rPr sz="1100" b="0">
                          <a:solidFill>
                            <a:srgbClr val="282828"/>
                          </a:solidFill>
                          <a:latin typeface="Arial"/>
                        </a:rPr>
                        <a:t>0.82, 13 pm, SNR 632</a:t>
                      </a:r>
                    </a:p>
                  </a:txBody>
                  <a:tcPr marL="54864" marR="54864" marT="18288" marB="18288">
                    <a:solidFill>
                      <a:srgbClr val="FFFFFF"/>
                    </a:solidFill>
                  </a:tcPr>
                </a:tc>
              </a:tr>
              <a:tr h="468630">
                <a:tc>
                  <a:txBody>
                    <a:bodyPr wrap="square"/>
                    <a:lstStyle/>
                    <a:p>
                      <a:r>
                        <a:rPr sz="1100" b="0">
                          <a:solidFill>
                            <a:srgbClr val="282828"/>
                          </a:solidFill>
                          <a:latin typeface="Arial"/>
                        </a:rPr>
                        <a:t>385 / 1024</a:t>
                      </a:r>
                    </a:p>
                  </a:txBody>
                  <a:tcPr marL="54864" marR="54864" marT="18288" marB="18288">
                    <a:solidFill>
                      <a:srgbClr val="ECF1F6"/>
                    </a:solidFill>
                  </a:tcPr>
                </a:tc>
                <a:tc>
                  <a:txBody>
                    <a:bodyPr wrap="square"/>
                    <a:lstStyle/>
                    <a:p>
                      <a:r>
                        <a:rPr sz="1100" b="0">
                          <a:solidFill>
                            <a:srgbClr val="282828"/>
                          </a:solidFill>
                          <a:latin typeface="Arial"/>
                        </a:rPr>
                        <a:t>3.96</a:t>
                      </a:r>
                    </a:p>
                  </a:txBody>
                  <a:tcPr marL="54864" marR="54864" marT="18288" marB="18288">
                    <a:solidFill>
                      <a:srgbClr val="ECF1F6"/>
                    </a:solidFill>
                  </a:tcPr>
                </a:tc>
                <a:tc>
                  <a:txBody>
                    <a:bodyPr wrap="square"/>
                    <a:lstStyle/>
                    <a:p>
                      <a:r>
                        <a:rPr sz="1100" b="0">
                          <a:solidFill>
                            <a:srgbClr val="282828"/>
                          </a:solidFill>
                          <a:latin typeface="Arial"/>
                        </a:rPr>
                        <a:t>5.0</a:t>
                      </a:r>
                    </a:p>
                  </a:txBody>
                  <a:tcPr marL="54864" marR="54864" marT="18288" marB="18288">
                    <a:solidFill>
                      <a:srgbClr val="ECF1F6"/>
                    </a:solidFill>
                  </a:tcPr>
                </a:tc>
                <a:tc>
                  <a:txBody>
                    <a:bodyPr wrap="square"/>
                    <a:lstStyle/>
                    <a:p>
                      <a:r>
                        <a:rPr sz="1100" b="0">
                          <a:solidFill>
                            <a:srgbClr val="282828"/>
                          </a:solidFill>
                          <a:latin typeface="Arial"/>
                        </a:rPr>
                        <a:t>0.996</a:t>
                      </a:r>
                    </a:p>
                  </a:txBody>
                  <a:tcPr marL="54864" marR="54864" marT="18288" marB="18288">
                    <a:solidFill>
                      <a:srgbClr val="ECF1F6"/>
                    </a:solidFill>
                  </a:tcPr>
                </a:tc>
                <a:tc>
                  <a:txBody>
                    <a:bodyPr wrap="square"/>
                    <a:lstStyle/>
                    <a:p>
                      <a:r>
                        <a:rPr sz="1100" b="0">
                          <a:solidFill>
                            <a:srgbClr val="282828"/>
                          </a:solidFill>
                          <a:latin typeface="Arial"/>
                        </a:rPr>
                        <a:t>0.97, 18 pm, SNR 529</a:t>
                      </a:r>
                    </a:p>
                  </a:txBody>
                  <a:tcPr marL="54864" marR="54864" marT="18288" marB="18288">
                    <a:solidFill>
                      <a:srgbClr val="ECF1F6"/>
                    </a:solidFill>
                  </a:tcPr>
                </a:tc>
              </a:tr>
              <a:tr h="468630">
                <a:tc>
                  <a:txBody>
                    <a:bodyPr wrap="square"/>
                    <a:lstStyle/>
                    <a:p>
                      <a:r>
                        <a:rPr sz="1100" b="0">
                          <a:solidFill>
                            <a:srgbClr val="282828"/>
                          </a:solidFill>
                          <a:latin typeface="Arial"/>
                        </a:rPr>
                        <a:t>385 / 2048 (fully sampled)</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5.0</a:t>
                      </a:r>
                    </a:p>
                  </a:txBody>
                  <a:tcPr marL="54864" marR="54864" marT="18288" marB="18288">
                    <a:solidFill>
                      <a:srgbClr val="FFFFFF"/>
                    </a:solidFill>
                  </a:tcPr>
                </a:tc>
                <a:tc>
                  <a:txBody>
                    <a:bodyPr wrap="square"/>
                    <a:lstStyle/>
                    <a:p>
                      <a:r>
                        <a:rPr sz="1100" b="0">
                          <a:solidFill>
                            <a:srgbClr val="282828"/>
                          </a:solidFill>
                          <a:latin typeface="Arial"/>
                        </a:rPr>
                        <a:t>0.996</a:t>
                      </a:r>
                    </a:p>
                  </a:txBody>
                  <a:tcPr marL="54864" marR="54864" marT="18288" marB="18288">
                    <a:solidFill>
                      <a:srgbClr val="FFFFFF"/>
                    </a:solidFill>
                  </a:tcPr>
                </a:tc>
                <a:tc>
                  <a:txBody>
                    <a:bodyPr wrap="square"/>
                    <a:lstStyle/>
                    <a:p>
                      <a:r>
                        <a:rPr sz="1100" b="0">
                          <a:solidFill>
                            <a:srgbClr val="282828"/>
                          </a:solidFill>
                          <a:latin typeface="Arial"/>
                        </a:rPr>
                        <a:t>0.98, 19 pm, SNR 525</a:t>
                      </a:r>
                    </a:p>
                  </a:txBody>
                  <a:tcPr marL="54864" marR="54864" marT="18288" marB="18288">
                    <a:solidFill>
                      <a:srgbClr val="FFFFFF"/>
                    </a:solidFill>
                  </a:tcPr>
                </a:tc>
              </a:tr>
            </a:tbl>
          </a:graphicData>
        </a:graphic>
      </p:graphicFrame>
      <p:sp>
        <p:nvSpPr>
          <p:cNvPr id="5" name="TextBox 4"/>
          <p:cNvSpPr txBox="1"/>
          <p:nvPr/>
        </p:nvSpPr>
        <p:spPr>
          <a:xfrm>
            <a:off x="411480" y="3319272"/>
            <a:ext cx="5806440" cy="274320"/>
          </a:xfrm>
          <a:prstGeom prst="rect">
            <a:avLst/>
          </a:prstGeom>
          <a:noFill/>
        </p:spPr>
        <p:txBody>
          <a:bodyPr wrap="square">
            <a:spAutoFit/>
          </a:bodyPr>
          <a:lstStyle/>
          <a:p>
            <a:pPr>
              <a:spcAft>
                <a:spcPts val="600"/>
              </a:spcAft>
            </a:pPr>
            <a:r>
              <a:rPr sz="1200" b="0">
                <a:solidFill>
                  <a:srgbClr val="282828"/>
                </a:solidFill>
                <a:latin typeface="Arial"/>
              </a:rPr>
              <a:t>•  The rule: pixels per λ/D at the mask = 0.74 × grid / rays; camera pixels per actuator ∝ rays.  Halving the rays doubles the focal resolution and halves the pupil sampling.</a:t>
            </a:r>
          </a:p>
          <a:p>
            <a:pPr>
              <a:spcAft>
                <a:spcPts val="600"/>
              </a:spcAft>
            </a:pPr>
            <a:r>
              <a:rPr sz="1200" b="0">
                <a:solidFill>
                  <a:srgbClr val="282828"/>
                </a:solidFill>
                <a:latin typeface="Arial"/>
              </a:rPr>
              <a:t>•  What it settled: the gain on a test actuator (calibrated on the centre actuator, tested on another) is set by the ray count, not by the dimple's sampling — the same at 4 and 8 pixels across the dimple, the same at spot 3.0.  At 5 pixels per actuator it is 0.996: within the 3% the plan asked for.</a:t>
            </a:r>
          </a:p>
          <a:p>
            <a:pPr>
              <a:spcAft>
                <a:spcPts val="600"/>
              </a:spcAft>
            </a:pPr>
            <a:r>
              <a:rPr sz="1200" b="0">
                <a:solidFill>
                  <a:srgbClr val="282828"/>
                </a:solidFill>
                <a:latin typeface="Arial"/>
              </a:rPr>
              <a:t>•  A bias in the fit, found and fixed: the sensor's response pattern was sampled about the poke on the 0.28 mm map grid, up to 0.14 mm off the actuator centre the fit uses.  Sampled at the centre, a kernel tested at its own site recovers 0.99 instead of 0.96, and the numbers above rose from 0.900 / 0.935 / 0.935.  The interferometer's calibration code shares the bias (flagged for its reflective build).</a:t>
            </a:r>
          </a:p>
          <a:p>
            <a:pPr>
              <a:spcAft>
                <a:spcPts val="600"/>
              </a:spcAft>
            </a:pPr>
            <a:r>
              <a:rPr sz="1200" b="0">
                <a:solidFill>
                  <a:srgbClr val="282828"/>
                </a:solidFill>
                <a:latin typeface="Arial"/>
              </a:rPr>
              <a:t>•  The 2048 grid runs on a 30 GB machine with a trimmed engine size table dropped in the run folder (grid-surface slots 200 → 4 saves 1.7 GB): 32 minutes, under 4 GB.</a:t>
            </a:r>
          </a:p>
        </p:txBody>
      </p:sp>
      <p:pic>
        <p:nvPicPr>
          <p:cNvPr id="6" name="Picture 5" descr="zwfs_m2048_battery_n96.png"/>
          <p:cNvPicPr>
            <a:picLocks noChangeAspect="1"/>
          </p:cNvPicPr>
          <p:nvPr/>
        </p:nvPicPr>
        <p:blipFill>
          <a:blip r:embed="rId2"/>
          <a:stretch>
            <a:fillRect/>
          </a:stretch>
        </p:blipFill>
        <p:spPr>
          <a:xfrm>
            <a:off x="6533907" y="1298448"/>
            <a:ext cx="5128744" cy="2257552"/>
          </a:xfrm>
          <a:prstGeom prst="rect">
            <a:avLst/>
          </a:prstGeom>
        </p:spPr>
      </p:pic>
      <p:sp>
        <p:nvSpPr>
          <p:cNvPr id="7" name="TextBox 6"/>
          <p:cNvSpPr txBox="1"/>
          <p:nvPr/>
        </p:nvSpPr>
        <p:spPr>
          <a:xfrm>
            <a:off x="6400800" y="357428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fully sampled setup (385 rays, 2048 grid): response by spatial frequency per kind of reading (left) and gain on one actuator as the working surface grows (right).</a:t>
            </a:r>
          </a:p>
        </p:txBody>
      </p:sp>
      <p:sp>
        <p:nvSpPr>
          <p:cNvPr id="8" name="TextBox 7"/>
          <p:cNvSpPr txBox="1"/>
          <p:nvPr/>
        </p:nvSpPr>
        <p:spPr>
          <a:xfrm>
            <a:off x="6400800" y="4005072"/>
            <a:ext cx="5394960" cy="274320"/>
          </a:xfrm>
          <a:prstGeom prst="rect">
            <a:avLst/>
          </a:prstGeom>
          <a:noFill/>
        </p:spPr>
        <p:txBody>
          <a:bodyPr wrap="square">
            <a:spAutoFit/>
          </a:bodyPr>
          <a:lstStyle/>
          <a:p>
            <a:pPr>
              <a:spcAft>
                <a:spcPts val="600"/>
              </a:spcAft>
            </a:pPr>
            <a:r>
              <a:rPr sz="1050" b="0">
                <a:solidFill>
                  <a:srgbClr val="6E6E6E"/>
                </a:solidFill>
                <a:latin typeface="Arial"/>
              </a:rPr>
              <a:t>Test actuator = a single 20 nm change away from the calibration actuator, gain before the frequency correction.  I+ values before correction.  Records: runs/rec193, ng385, ng385s3, m2048.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large a working surface each reading can handle</a:t>
            </a:r>
          </a:p>
          <a:p>
            <a:pPr>
              <a:spcAft>
                <a:spcPts val="0"/>
              </a:spcAft>
            </a:pPr>
            <a:r>
              <a:rPr sz="1250" b="0">
                <a:solidFill>
                  <a:srgbClr val="6E6E6E"/>
                </a:solidFill>
                <a:latin typeface="Arial"/>
              </a:rPr>
              <a:t>On 47 actuators at once the one-frame reading is within 17–20% of a 10 nm change up to 40 nm rms of surface and fails at 50; four frames hold to 50–60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400175"/>
        </p:xfrm>
        <a:graphic>
          <a:graphicData uri="http://schemas.openxmlformats.org/drawingml/2006/table">
            <a:tbl>
              <a:tblPr firstRow="1" bandRow="1">
                <a:tableStyleId>{5C22544A-7EE6-4342-B048-85BDC9FD1C3A}</a:tableStyleId>
              </a:tblPr>
              <a:tblGrid>
                <a:gridCol w="4743247"/>
                <a:gridCol w="1656372"/>
                <a:gridCol w="1656372"/>
                <a:gridCol w="1656372"/>
                <a:gridCol w="1656372"/>
              </a:tblGrid>
              <a:tr h="280035">
                <a:tc>
                  <a:txBody>
                    <a:bodyPr wrap="square"/>
                    <a:lstStyle/>
                    <a:p>
                      <a:r>
                        <a:rPr sz="1100" b="1">
                          <a:solidFill>
                            <a:srgbClr val="FFFFFF"/>
                          </a:solidFill>
                          <a:latin typeface="Arial"/>
                        </a:rPr>
                        <a:t>10 nm changes on 47 actuators; gain, read value of 10 nm, floor</a:t>
                      </a:r>
                    </a:p>
                  </a:txBody>
                  <a:tcPr marL="54864" marR="54864" marT="18288" marB="18288">
                    <a:solidFill>
                      <a:srgbClr val="1F4E79"/>
                    </a:solidFill>
                  </a:tcPr>
                </a:tc>
                <a:tc>
                  <a:txBody>
                    <a:bodyPr wrap="square"/>
                    <a:lstStyle/>
                    <a:p>
                      <a:r>
                        <a:rPr sz="1100" b="1">
                          <a:solidFill>
                            <a:srgbClr val="FFFFFF"/>
                          </a:solidFill>
                          <a:latin typeface="Arial"/>
                        </a:rPr>
                        <a:t>30 nm surface</a:t>
                      </a:r>
                    </a:p>
                  </a:txBody>
                  <a:tcPr marL="54864" marR="54864" marT="18288" marB="18288">
                    <a:solidFill>
                      <a:srgbClr val="1F4E79"/>
                    </a:solidFill>
                  </a:tcPr>
                </a:tc>
                <a:tc>
                  <a:txBody>
                    <a:bodyPr wrap="square"/>
                    <a:lstStyle/>
                    <a:p>
                      <a:r>
                        <a:rPr sz="1100" b="1">
                          <a:solidFill>
                            <a:srgbClr val="FFFFFF"/>
                          </a:solidFill>
                          <a:latin typeface="Arial"/>
                        </a:rPr>
                        <a:t>40 nm</a:t>
                      </a:r>
                    </a:p>
                  </a:txBody>
                  <a:tcPr marL="54864" marR="54864" marT="18288" marB="18288">
                    <a:solidFill>
                      <a:srgbClr val="1F4E79"/>
                    </a:solidFill>
                  </a:tcPr>
                </a:tc>
                <a:tc>
                  <a:txBody>
                    <a:bodyPr wrap="square"/>
                    <a:lstStyle/>
                    <a:p>
                      <a:r>
                        <a:rPr sz="1100" b="1">
                          <a:solidFill>
                            <a:srgbClr val="FFFFFF"/>
                          </a:solidFill>
                          <a:latin typeface="Arial"/>
                        </a:rPr>
                        <a:t>50 nm</a:t>
                      </a:r>
                    </a:p>
                  </a:txBody>
                  <a:tcPr marL="54864" marR="54864" marT="18288" marB="18288">
                    <a:solidFill>
                      <a:srgbClr val="1F4E79"/>
                    </a:solidFill>
                  </a:tcPr>
                </a:tc>
                <a:tc>
                  <a:txBody>
                    <a:bodyPr wrap="square"/>
                    <a:lstStyle/>
                    <a:p>
                      <a:r>
                        <a:rPr sz="1100" b="1">
                          <a:solidFill>
                            <a:srgbClr val="FFFFFF"/>
                          </a:solidFill>
                          <a:latin typeface="Arial"/>
                        </a:rPr>
                        <a:t>60 nm</a:t>
                      </a:r>
                    </a:p>
                  </a:txBody>
                  <a:tcPr marL="54864" marR="54864" marT="18288" marB="18288">
                    <a:solidFill>
                      <a:srgbClr val="1F4E79"/>
                    </a:solidFill>
                  </a:tcPr>
                </a:tc>
              </a:tr>
              <a:tr h="280035">
                <a:tc>
                  <a:txBody>
                    <a:bodyPr wrap="square"/>
                    <a:lstStyle/>
                    <a:p>
                      <a:r>
                        <a:rPr sz="1100" b="0">
                          <a:solidFill>
                            <a:srgbClr val="282828"/>
                          </a:solidFill>
                          <a:latin typeface="Arial"/>
                        </a:rPr>
                        <a:t>96×96, 1 mm pitch — I+ (one frame)</a:t>
                      </a:r>
                    </a:p>
                  </a:txBody>
                  <a:tcPr marL="54864" marR="54864" marT="18288" marB="18288">
                    <a:solidFill>
                      <a:srgbClr val="FFFFFF"/>
                    </a:solidFill>
                  </a:tcPr>
                </a:tc>
                <a:tc>
                  <a:txBody>
                    <a:bodyPr wrap="square"/>
                    <a:lstStyle/>
                    <a:p>
                      <a:r>
                        <a:rPr sz="1100" b="0">
                          <a:solidFill>
                            <a:srgbClr val="282828"/>
                          </a:solidFill>
                          <a:latin typeface="Arial"/>
                        </a:rPr>
                        <a:t>0.80 → 8.0 nm, 0.29 nm</a:t>
                      </a:r>
                    </a:p>
                  </a:txBody>
                  <a:tcPr marL="54864" marR="54864" marT="18288" marB="18288">
                    <a:solidFill>
                      <a:srgbClr val="FFFFFF"/>
                    </a:solidFill>
                  </a:tcPr>
                </a:tc>
                <a:tc>
                  <a:txBody>
                    <a:bodyPr wrap="square"/>
                    <a:lstStyle/>
                    <a:p>
                      <a:r>
                        <a:rPr sz="1100" b="0">
                          <a:solidFill>
                            <a:srgbClr val="282828"/>
                          </a:solidFill>
                          <a:latin typeface="Arial"/>
                        </a:rPr>
                        <a:t>0.83 → 8.3 nm, 0.25 nm</a:t>
                      </a:r>
                    </a:p>
                  </a:txBody>
                  <a:tcPr marL="54864" marR="54864" marT="18288" marB="18288">
                    <a:solidFill>
                      <a:srgbClr val="FFFFFF"/>
                    </a:solidFill>
                  </a:tcPr>
                </a:tc>
                <a:tc>
                  <a:txBody>
                    <a:bodyPr wrap="square"/>
                    <a:lstStyle/>
                    <a:p>
                      <a:r>
                        <a:rPr sz="1100" b="0">
                          <a:solidFill>
                            <a:srgbClr val="282828"/>
                          </a:solidFill>
                          <a:latin typeface="Arial"/>
                        </a:rPr>
                        <a:t>0.73 → 7.3 nm, 0.80 nm</a:t>
                      </a:r>
                    </a:p>
                  </a:txBody>
                  <a:tcPr marL="54864" marR="54864" marT="18288" marB="18288">
                    <a:solidFill>
                      <a:srgbClr val="FFFFFF"/>
                    </a:solidFill>
                  </a:tcPr>
                </a:tc>
                <a:tc>
                  <a:txBody>
                    <a:bodyPr wrap="square"/>
                    <a:lstStyle/>
                    <a:p>
                      <a:r>
                        <a:rPr sz="1100" b="0">
                          <a:solidFill>
                            <a:srgbClr val="282828"/>
                          </a:solidFill>
                          <a:latin typeface="Arial"/>
                        </a:rPr>
                        <a:t>0.30 → 3.0 nm, 3.3 nm</a:t>
                      </a:r>
                    </a:p>
                  </a:txBody>
                  <a:tcPr marL="54864" marR="54864" marT="18288" marB="18288">
                    <a:solidFill>
                      <a:srgbClr val="FFFFFF"/>
                    </a:solidFill>
                  </a:tcPr>
                </a:tc>
              </a:tr>
              <a:tr h="280035">
                <a:tc>
                  <a:txBody>
                    <a:bodyPr wrap="square"/>
                    <a:lstStyle/>
                    <a:p>
                      <a:r>
                        <a:rPr sz="1100" b="0">
                          <a:solidFill>
                            <a:srgbClr val="282828"/>
                          </a:solidFill>
                          <a:latin typeface="Arial"/>
                        </a:rPr>
                        <a:t>96×96 — S (four frames)</a:t>
                      </a:r>
                    </a:p>
                  </a:txBody>
                  <a:tcPr marL="54864" marR="54864" marT="18288" marB="18288">
                    <a:solidFill>
                      <a:srgbClr val="ECF1F6"/>
                    </a:solidFill>
                  </a:tcPr>
                </a:tc>
                <a:tc>
                  <a:txBody>
                    <a:bodyPr wrap="square"/>
                    <a:lstStyle/>
                    <a:p>
                      <a:r>
                        <a:rPr sz="1100" b="0">
                          <a:solidFill>
                            <a:srgbClr val="282828"/>
                          </a:solidFill>
                          <a:latin typeface="Arial"/>
                        </a:rPr>
                        <a:t>0.90 → 9.0 nm, 0.28 nm</a:t>
                      </a:r>
                    </a:p>
                  </a:txBody>
                  <a:tcPr marL="54864" marR="54864" marT="18288" marB="18288">
                    <a:solidFill>
                      <a:srgbClr val="ECF1F6"/>
                    </a:solidFill>
                  </a:tcPr>
                </a:tc>
                <a:tc>
                  <a:txBody>
                    <a:bodyPr wrap="square"/>
                    <a:lstStyle/>
                    <a:p>
                      <a:r>
                        <a:rPr sz="1100" b="0">
                          <a:solidFill>
                            <a:srgbClr val="282828"/>
                          </a:solidFill>
                          <a:latin typeface="Arial"/>
                        </a:rPr>
                        <a:t>0.82 → 8.2 nm, 0.27 nm</a:t>
                      </a:r>
                    </a:p>
                  </a:txBody>
                  <a:tcPr marL="54864" marR="54864" marT="18288" marB="18288">
                    <a:solidFill>
                      <a:srgbClr val="ECF1F6"/>
                    </a:solidFill>
                  </a:tcPr>
                </a:tc>
                <a:tc>
                  <a:txBody>
                    <a:bodyPr wrap="square"/>
                    <a:lstStyle/>
                    <a:p>
                      <a:r>
                        <a:rPr sz="1100" b="0">
                          <a:solidFill>
                            <a:srgbClr val="282828"/>
                          </a:solidFill>
                          <a:latin typeface="Arial"/>
                        </a:rPr>
                        <a:t>0.81 → 8.1 nm, 0.44 nm</a:t>
                      </a:r>
                    </a:p>
                  </a:txBody>
                  <a:tcPr marL="54864" marR="54864" marT="18288" marB="18288">
                    <a:solidFill>
                      <a:srgbClr val="ECF1F6"/>
                    </a:solidFill>
                  </a:tcPr>
                </a:tc>
                <a:tc>
                  <a:txBody>
                    <a:bodyPr wrap="square"/>
                    <a:lstStyle/>
                    <a:p>
                      <a:r>
                        <a:rPr sz="1100" b="0">
                          <a:solidFill>
                            <a:srgbClr val="282828"/>
                          </a:solidFill>
                          <a:latin typeface="Arial"/>
                        </a:rPr>
                        <a:t>0.65 → 6.5 nm, 0.65 nm</a:t>
                      </a:r>
                    </a:p>
                  </a:txBody>
                  <a:tcPr marL="54864" marR="54864" marT="18288" marB="18288">
                    <a:solidFill>
                      <a:srgbClr val="ECF1F6"/>
                    </a:solidFill>
                  </a:tcPr>
                </a:tc>
              </a:tr>
              <a:tr h="280035">
                <a:tc>
                  <a:txBody>
                    <a:bodyPr wrap="square"/>
                    <a:lstStyle/>
                    <a:p>
                      <a:r>
                        <a:rPr sz="1100" b="0">
                          <a:solidFill>
                            <a:srgbClr val="282828"/>
                          </a:solidFill>
                          <a:latin typeface="Arial"/>
                        </a:rPr>
                        <a:t>48×48, 2 mm pitch — I+</a:t>
                      </a:r>
                    </a:p>
                  </a:txBody>
                  <a:tcPr marL="54864" marR="54864" marT="18288" marB="18288">
                    <a:solidFill>
                      <a:srgbClr val="FFFFFF"/>
                    </a:solidFill>
                  </a:tcPr>
                </a:tc>
                <a:tc>
                  <a:txBody>
                    <a:bodyPr wrap="square"/>
                    <a:lstStyle/>
                    <a:p>
                      <a:r>
                        <a:rPr sz="1100" b="0">
                          <a:solidFill>
                            <a:srgbClr val="282828"/>
                          </a:solidFill>
                          <a:latin typeface="Arial"/>
                        </a:rPr>
                        <a:t>0.88 → 8.8 nm, 0.16 nm</a:t>
                      </a:r>
                    </a:p>
                  </a:txBody>
                  <a:tcPr marL="54864" marR="54864" marT="18288" marB="18288">
                    <a:solidFill>
                      <a:srgbClr val="FFFFFF"/>
                    </a:solidFill>
                  </a:tcPr>
                </a:tc>
                <a:tc>
                  <a:txBody>
                    <a:bodyPr wrap="square"/>
                    <a:lstStyle/>
                    <a:p>
                      <a:r>
                        <a:rPr sz="1100" b="0">
                          <a:solidFill>
                            <a:srgbClr val="282828"/>
                          </a:solidFill>
                          <a:latin typeface="Arial"/>
                        </a:rPr>
                        <a:t>0.79 → 7.9 nm, 0.20 nm</a:t>
                      </a:r>
                    </a:p>
                  </a:txBody>
                  <a:tcPr marL="54864" marR="54864" marT="18288" marB="18288">
                    <a:solidFill>
                      <a:srgbClr val="FFFFFF"/>
                    </a:solidFill>
                  </a:tcPr>
                </a:tc>
                <a:tc>
                  <a:txBody>
                    <a:bodyPr wrap="square"/>
                    <a:lstStyle/>
                    <a:p>
                      <a:r>
                        <a:rPr sz="1100" b="0">
                          <a:solidFill>
                            <a:srgbClr val="282828"/>
                          </a:solidFill>
                          <a:latin typeface="Arial"/>
                        </a:rPr>
                        <a:t>0.84 → 8.4 nm, 0.21 nm</a:t>
                      </a:r>
                    </a:p>
                  </a:txBody>
                  <a:tcPr marL="54864" marR="54864" marT="18288" marB="18288">
                    <a:solidFill>
                      <a:srgbClr val="FFFFFF"/>
                    </a:solidFill>
                  </a:tcPr>
                </a:tc>
                <a:tc>
                  <a:txBody>
                    <a:bodyPr wrap="square"/>
                    <a:lstStyle/>
                    <a:p>
                      <a:r>
                        <a:rPr sz="1100" b="0">
                          <a:solidFill>
                            <a:srgbClr val="282828"/>
                          </a:solidFill>
                          <a:latin typeface="Arial"/>
                        </a:rPr>
                        <a:t>0.83 → 8.3 nm, 3.0 nm</a:t>
                      </a:r>
                    </a:p>
                  </a:txBody>
                  <a:tcPr marL="54864" marR="54864" marT="18288" marB="18288">
                    <a:solidFill>
                      <a:srgbClr val="FFFFFF"/>
                    </a:solidFill>
                  </a:tcPr>
                </a:tc>
              </a:tr>
              <a:tr h="280035">
                <a:tc>
                  <a:txBody>
                    <a:bodyPr wrap="square"/>
                    <a:lstStyle/>
                    <a:p>
                      <a:r>
                        <a:rPr sz="1100" b="0">
                          <a:solidFill>
                            <a:srgbClr val="282828"/>
                          </a:solidFill>
                          <a:latin typeface="Arial"/>
                        </a:rPr>
                        <a:t>48×48 — S</a:t>
                      </a:r>
                    </a:p>
                  </a:txBody>
                  <a:tcPr marL="54864" marR="54864" marT="18288" marB="18288">
                    <a:solidFill>
                      <a:srgbClr val="ECF1F6"/>
                    </a:solidFill>
                  </a:tcPr>
                </a:tc>
                <a:tc>
                  <a:txBody>
                    <a:bodyPr wrap="square"/>
                    <a:lstStyle/>
                    <a:p>
                      <a:r>
                        <a:rPr sz="1100" b="0">
                          <a:solidFill>
                            <a:srgbClr val="282828"/>
                          </a:solidFill>
                          <a:latin typeface="Arial"/>
                        </a:rPr>
                        <a:t>0.89 → 8.9 nm, 0.18 nm</a:t>
                      </a:r>
                    </a:p>
                  </a:txBody>
                  <a:tcPr marL="54864" marR="54864" marT="18288" marB="18288">
                    <a:solidFill>
                      <a:srgbClr val="ECF1F6"/>
                    </a:solidFill>
                  </a:tcPr>
                </a:tc>
                <a:tc>
                  <a:txBody>
                    <a:bodyPr wrap="square"/>
                    <a:lstStyle/>
                    <a:p>
                      <a:r>
                        <a:rPr sz="1100" b="0">
                          <a:solidFill>
                            <a:srgbClr val="282828"/>
                          </a:solidFill>
                          <a:latin typeface="Arial"/>
                        </a:rPr>
                        <a:t>0.83 → 8.3 nm, 0.19 nm</a:t>
                      </a:r>
                    </a:p>
                  </a:txBody>
                  <a:tcPr marL="54864" marR="54864" marT="18288" marB="18288">
                    <a:solidFill>
                      <a:srgbClr val="ECF1F6"/>
                    </a:solidFill>
                  </a:tcPr>
                </a:tc>
                <a:tc>
                  <a:txBody>
                    <a:bodyPr wrap="square"/>
                    <a:lstStyle/>
                    <a:p>
                      <a:r>
                        <a:rPr sz="1100" b="0">
                          <a:solidFill>
                            <a:srgbClr val="282828"/>
                          </a:solidFill>
                          <a:latin typeface="Arial"/>
                        </a:rPr>
                        <a:t>0.98 → 9.8 nm, 0.61 nm</a:t>
                      </a:r>
                    </a:p>
                  </a:txBody>
                  <a:tcPr marL="54864" marR="54864" marT="18288" marB="18288">
                    <a:solidFill>
                      <a:srgbClr val="ECF1F6"/>
                    </a:solidFill>
                  </a:tcPr>
                </a:tc>
                <a:tc>
                  <a:txBody>
                    <a:bodyPr wrap="square"/>
                    <a:lstStyle/>
                    <a:p>
                      <a:r>
                        <a:rPr sz="1100" b="0">
                          <a:solidFill>
                            <a:srgbClr val="282828"/>
                          </a:solidFill>
                          <a:latin typeface="Arial"/>
                        </a:rPr>
                        <a:t>0.55 → 5.5 nm, 0.48 nm</a:t>
                      </a:r>
                    </a:p>
                  </a:txBody>
                  <a:tcPr marL="54864" marR="54864" marT="18288" marB="18288">
                    <a:solidFill>
                      <a:srgbClr val="ECF1F6"/>
                    </a:solidFill>
                  </a:tcPr>
                </a:tc>
              </a:tr>
            </a:tbl>
          </a:graphicData>
        </a:graphic>
      </p:graphicFrame>
      <p:sp>
        <p:nvSpPr>
          <p:cNvPr id="5" name="TextBox 4"/>
          <p:cNvSpPr txBox="1"/>
          <p:nvPr/>
        </p:nvSpPr>
        <p:spPr>
          <a:xfrm>
            <a:off x="411480" y="2844927"/>
            <a:ext cx="11368735" cy="274320"/>
          </a:xfrm>
          <a:prstGeom prst="rect">
            <a:avLst/>
          </a:prstGeom>
          <a:noFill/>
        </p:spPr>
        <p:txBody>
          <a:bodyPr wrap="square">
            <a:spAutoFit/>
          </a:bodyPr>
          <a:lstStyle/>
          <a:p>
            <a:pPr>
              <a:spcAft>
                <a:spcPts val="600"/>
              </a:spcAft>
            </a:pPr>
            <a:r>
              <a:rPr sz="1500" b="0">
                <a:solidFill>
                  <a:srgbClr val="282828"/>
                </a:solidFill>
                <a:latin typeface="Arial"/>
              </a:rPr>
              <a:t>•  What gain means here: these gains are after the flat-DM calibration, so 0.80 means a 10 nm change reads 8.0 nm — a 20% error the calibration did not remove.  The floor is a second error on top: 0.3 nm spread over the 47 sites' neighbours.  A single actuator changed alone on the same surface reads 0.98 (slide 8); the 47-site deficit is the crosstalk of many simultaneous changes.</a:t>
            </a:r>
          </a:p>
          <a:p>
            <a:pPr>
              <a:spcAft>
                <a:spcPts val="600"/>
              </a:spcAft>
            </a:pPr>
            <a:r>
              <a:rPr sz="1500" b="0">
                <a:solidFill>
                  <a:srgbClr val="282828"/>
                </a:solidFill>
                <a:latin typeface="Arial"/>
              </a:rPr>
              <a:t>•  Can calibration absorb it?  Measured: no.  Calibrating on the working surface itself instead of the flat DM gave 0.74 against 0.79 for the one-frame reading (development sampling).  The deficit is in the readings on a working surface, not in the calibration; it is not pixels crossing the sign fold either (3 pixels move under a single change; 946 under a dense random one).  The next place to look is the actuator fit on a working surface.</a:t>
            </a:r>
          </a:p>
          <a:p>
            <a:pPr>
              <a:spcAft>
                <a:spcPts val="600"/>
              </a:spcAft>
            </a:pPr>
            <a:r>
              <a:rPr sz="1500" b="0">
                <a:solidFill>
                  <a:srgbClr val="282828"/>
                </a:solidFill>
                <a:latin typeface="Arial"/>
              </a:rPr>
              <a:t>•  The failure at 50–60 nm is not a gain to calibrate: the floor jumps to 1–3 nm because some of the 47 sites fall past the sign fold.  The earlier "holds to 60 nm" was one actuator at one site.  Past 120 nm rms every reading aliases.</a:t>
            </a:r>
          </a:p>
        </p:txBody>
      </p:sp>
      <p:sp>
        <p:nvSpPr>
          <p:cNvPr id="6" name="TextBox 5"/>
          <p:cNvSpPr txBox="1"/>
          <p:nvPr/>
        </p:nvSpPr>
        <p:spPr>
          <a:xfrm>
            <a:off x="411480" y="5778627"/>
            <a:ext cx="11368735" cy="274320"/>
          </a:xfrm>
          <a:prstGeom prst="rect">
            <a:avLst/>
          </a:prstGeom>
          <a:noFill/>
        </p:spPr>
        <p:txBody>
          <a:bodyPr wrap="square">
            <a:spAutoFit/>
          </a:bodyPr>
          <a:lstStyle/>
          <a:p>
            <a:pPr>
              <a:spcAft>
                <a:spcPts val="600"/>
              </a:spcAft>
            </a:pPr>
            <a:r>
              <a:rPr sz="1050" b="0">
                <a:solidFill>
                  <a:srgbClr val="6E6E6E"/>
                </a:solidFill>
                <a:latin typeface="Arial"/>
              </a:rPr>
              <a:t>Floor here = spread of the unchanged actuators under 47 simultaneous 10 nm changes (their crosstalk), larger than the single-site floor on slide 8.  Fully sampled setup; records: runs/m2048_lat (rows), runs/cal_base and fold_diag (calibration on the surface, fold crossings).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Colour is no longer a lever</a:t>
            </a:r>
          </a:p>
          <a:p>
            <a:pPr>
              <a:spcAft>
                <a:spcPts val="0"/>
              </a:spcAft>
            </a:pPr>
            <a:r>
              <a:rPr sz="1250" b="0">
                <a:solidFill>
                  <a:srgbClr val="6E6E6E"/>
                </a:solidFill>
                <a:latin typeface="Arial"/>
              </a:rPr>
              <a:t>With the sensor's null gone, five colours raise the combined response by 3% instead of 3×, and do nothing for the measurement rows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rec193full_color_L.png"/>
          <p:cNvPicPr>
            <a:picLocks noChangeAspect="1"/>
          </p:cNvPicPr>
          <p:nvPr/>
        </p:nvPicPr>
        <p:blipFill>
          <a:blip r:embed="rId2"/>
          <a:stretch>
            <a:fillRect/>
          </a:stretch>
        </p:blipFill>
        <p:spPr>
          <a:xfrm>
            <a:off x="2014629" y="1298448"/>
            <a:ext cx="2600140" cy="2549652"/>
          </a:xfrm>
          <a:prstGeom prst="rect">
            <a:avLst/>
          </a:prstGeom>
        </p:spPr>
      </p:pic>
      <p:sp>
        <p:nvSpPr>
          <p:cNvPr id="5" name="TextBox 4"/>
          <p:cNvSpPr txBox="1"/>
          <p:nvPr/>
        </p:nvSpPr>
        <p:spPr>
          <a:xfrm>
            <a:off x="411480" y="3866387"/>
            <a:ext cx="5806440" cy="559307"/>
          </a:xfrm>
          <a:prstGeom prst="rect">
            <a:avLst/>
          </a:prstGeom>
          <a:noFill/>
        </p:spPr>
        <p:txBody>
          <a:bodyPr wrap="square">
            <a:spAutoFit/>
          </a:bodyPr>
          <a:lstStyle/>
          <a:p>
            <a:pPr algn="ctr">
              <a:spcAft>
                <a:spcPts val="0"/>
              </a:spcAft>
            </a:pPr>
            <a:r>
              <a:rPr sz="1000" b="0">
                <a:solidFill>
                  <a:srgbClr val="6E6E6E"/>
                </a:solidFill>
                <a:latin typeface="Arial"/>
              </a:rPr>
              <a:t>Response by spatial frequency of the linear reading at five wavelengths on the corrected model: no null, only the dimple's own low-order dip, which moves with the spot's size in λ/D; the five-colour combination (orange) sits at 0.99 to 1.</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moved: the "blind band near 30 cycles across the pupil that shifts with wavelength" was the out-of-focus model's Talbot null.  On the corrected model each colour's response bottoms at 0.92 to 0.97 after the frequency correction, and the combination at 0.991.</a:t>
            </a:r>
          </a:p>
          <a:p>
            <a:pPr>
              <a:spcAft>
                <a:spcPts val="600"/>
              </a:spcAft>
            </a:pPr>
            <a:r>
              <a:rPr sz="1200" b="0">
                <a:solidFill>
                  <a:srgbClr val="282828"/>
                </a:solidFill>
                <a:latin typeface="Arial"/>
              </a:rPr>
              <a:t>•  On the measurement rows (30 nm surface, single 10 nm change): I+ at 632.8 nm SNR 269; five colours combined 183; best pair, 700 + 780 nm, 255.  The 47-site case: 32 → 32.  The linear reading gets worse when combined (84 → 34): at 480 nm the dimple delay is 2.1 rad and the small-phase reading turns negative on this surface; an equal-weight combination inherits that.</a:t>
            </a:r>
          </a:p>
          <a:p>
            <a:pPr>
              <a:spcAft>
                <a:spcPts val="600"/>
              </a:spcAft>
            </a:pPr>
            <a:r>
              <a:rPr sz="1200" b="0">
                <a:solidFill>
                  <a:srgbClr val="282828"/>
                </a:solidFill>
                <a:latin typeface="Arial"/>
              </a:rPr>
              <a:t>•  What stays with colour is range: 780 nm is the best single colour on nearly every row — less phase per nanometre of height, and a 1.6 λ/D dimple.  The interferometer is unchanged at every colour (its deck).</a:t>
            </a:r>
          </a:p>
        </p:txBody>
      </p:sp>
      <p:sp>
        <p:nvSpPr>
          <p:cNvPr id="7" name="TextBox 6"/>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632.8 / 480 / 532 / 700 / 780 nm through one physical mask, every calibration redone per colour; development sampling (193 rays, 1024 grid); runs/rec193full.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10¹⁴ per state reaches 1 pm</a:t>
            </a:r>
          </a:p>
          <a:p>
            <a:pPr>
              <a:spcAft>
                <a:spcPts val="0"/>
              </a:spcAft>
            </a:pPr>
            <a:r>
              <a:rPr sz="1250" b="0">
                <a:solidFill>
                  <a:srgbClr val="6E6E6E"/>
                </a:solidFill>
                <a:latin typeface="Arial"/>
              </a:rPr>
              <a:t>Every reading needs about the same light, 25× less than the out-of-focus model said; the sign map's own noise costs 5%</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rec193full_noise.png"/>
          <p:cNvPicPr>
            <a:picLocks noChangeAspect="1"/>
          </p:cNvPicPr>
          <p:nvPr/>
        </p:nvPicPr>
        <p:blipFill>
          <a:blip r:embed="rId2"/>
          <a:stretch>
            <a:fillRect/>
          </a:stretch>
        </p:blipFill>
        <p:spPr>
          <a:xfrm>
            <a:off x="1600240" y="1298448"/>
            <a:ext cx="3428919" cy="2714752"/>
          </a:xfrm>
          <a:prstGeom prst="rect">
            <a:avLst/>
          </a:prstGeom>
        </p:spPr>
      </p:pic>
      <p:sp>
        <p:nvSpPr>
          <p:cNvPr id="5" name="TextBox 4"/>
          <p:cNvSpPr txBox="1"/>
          <p:nvPr/>
        </p:nvSpPr>
        <p:spPr>
          <a:xfrm>
            <a:off x="411480" y="4031488"/>
            <a:ext cx="5806440" cy="394208"/>
          </a:xfrm>
          <a:prstGeom prst="rect">
            <a:avLst/>
          </a:prstGeom>
          <a:noFill/>
        </p:spPr>
        <p:txBody>
          <a:bodyPr wrap="square">
            <a:spAutoFit/>
          </a:bodyPr>
          <a:lstStyle/>
          <a:p>
            <a:pPr algn="ctr">
              <a:spcAft>
                <a:spcPts val="0"/>
              </a:spcAft>
            </a:pPr>
            <a:r>
              <a:rPr sz="1000" b="0">
                <a:solidFill>
                  <a:srgbClr val="6E6E6E"/>
                </a:solidFill>
                <a:latin typeface="Arial"/>
              </a:rPr>
              <a:t>Noise on the single-actuator estimate against photons per state, per reading; the dotted line is the 1 pm target.</a:t>
            </a:r>
          </a:p>
        </p:txBody>
      </p:sp>
      <p:graphicFrame>
        <p:nvGraphicFramePr>
          <p:cNvPr id="6" name="Table 5"/>
          <p:cNvGraphicFramePr>
            <a:graphicFrameLocks noGrp="1"/>
          </p:cNvGraphicFramePr>
          <p:nvPr/>
        </p:nvGraphicFramePr>
        <p:xfrm>
          <a:off x="6400800" y="1298448"/>
          <a:ext cx="5394959" cy="1840230"/>
        </p:xfrm>
        <a:graphic>
          <a:graphicData uri="http://schemas.openxmlformats.org/drawingml/2006/table">
            <a:tbl>
              <a:tblPr firstRow="1" bandRow="1">
                <a:tableStyleId>{5C22544A-7EE6-4342-B048-85BDC9FD1C3A}</a:tableStyleId>
              </a:tblPr>
              <a:tblGrid>
                <a:gridCol w="2131342"/>
                <a:gridCol w="3263617"/>
              </a:tblGrid>
              <a:tr h="262890">
                <a:tc>
                  <a:txBody>
                    <a:bodyPr wrap="square"/>
                    <a:lstStyle/>
                    <a:p>
                      <a:r>
                        <a:rPr sz="1000" b="1">
                          <a:solidFill>
                            <a:srgbClr val="FFFFFF"/>
                          </a:solidFill>
                          <a:latin typeface="Arial"/>
                        </a:rPr>
                        <a:t>reading</a:t>
                      </a:r>
                    </a:p>
                  </a:txBody>
                  <a:tcPr marL="54864" marR="54864" marT="18288" marB="18288">
                    <a:solidFill>
                      <a:srgbClr val="1F4E79"/>
                    </a:solidFill>
                  </a:tcPr>
                </a:tc>
                <a:tc>
                  <a:txBody>
                    <a:bodyPr wrap="square"/>
                    <a:lstStyle/>
                    <a:p>
                      <a:r>
                        <a:rPr sz="1000" b="1">
                          <a:solidFill>
                            <a:srgbClr val="FFFFFF"/>
                          </a:solidFill>
                          <a:latin typeface="Arial"/>
                        </a:rPr>
                        <a:t>photons per state for 1 pm</a:t>
                      </a:r>
                    </a:p>
                  </a:txBody>
                  <a:tcPr marL="54864" marR="54864" marT="18288" marB="18288">
                    <a:solidFill>
                      <a:srgbClr val="1F4E79"/>
                    </a:solidFill>
                  </a:tcPr>
                </a:tc>
              </a:tr>
              <a:tr h="262890">
                <a:tc>
                  <a:txBody>
                    <a:bodyPr wrap="square"/>
                    <a:lstStyle/>
                    <a:p>
                      <a:r>
                        <a:rPr sz="1000" b="0">
                          <a:solidFill>
                            <a:srgbClr val="282828"/>
                          </a:solidFill>
                          <a:latin typeface="Arial"/>
                        </a:rPr>
                        <a:t>linear (L)</a:t>
                      </a:r>
                    </a:p>
                  </a:txBody>
                  <a:tcPr marL="54864" marR="54864" marT="18288" marB="18288">
                    <a:solidFill>
                      <a:srgbClr val="FFFFFF"/>
                    </a:solidFill>
                  </a:tcPr>
                </a:tc>
                <a:tc>
                  <a:txBody>
                    <a:bodyPr wrap="square"/>
                    <a:lstStyle/>
                    <a:p>
                      <a:r>
                        <a:rPr sz="1000" b="0">
                          <a:solidFill>
                            <a:srgbClr val="282828"/>
                          </a:solidFill>
                          <a:latin typeface="Arial"/>
                        </a:rPr>
                        <a:t>5.4×10¹³</a:t>
                      </a:r>
                    </a:p>
                  </a:txBody>
                  <a:tcPr marL="54864" marR="54864" marT="18288" marB="18288">
                    <a:solidFill>
                      <a:srgbClr val="FFFFFF"/>
                    </a:solidFill>
                  </a:tcPr>
                </a:tc>
              </a:tr>
              <a:tr h="262890">
                <a:tc>
                  <a:txBody>
                    <a:bodyPr wrap="square"/>
                    <a:lstStyle/>
                    <a:p>
                      <a:r>
                        <a:rPr sz="1000" b="0">
                          <a:solidFill>
                            <a:srgbClr val="282828"/>
                          </a:solidFill>
                          <a:latin typeface="Arial"/>
                        </a:rPr>
                        <a:t>exact, flat-DM reference (F)</a:t>
                      </a:r>
                    </a:p>
                  </a:txBody>
                  <a:tcPr marL="54864" marR="54864" marT="18288" marB="18288">
                    <a:solidFill>
                      <a:srgbClr val="ECF1F6"/>
                    </a:solidFill>
                  </a:tcPr>
                </a:tc>
                <a:tc>
                  <a:txBody>
                    <a:bodyPr wrap="square"/>
                    <a:lstStyle/>
                    <a:p>
                      <a:r>
                        <a:rPr sz="1000" b="0">
                          <a:solidFill>
                            <a:srgbClr val="282828"/>
                          </a:solidFill>
                          <a:latin typeface="Arial"/>
                        </a:rPr>
                        <a:t>3.7×10¹³</a:t>
                      </a:r>
                    </a:p>
                  </a:txBody>
                  <a:tcPr marL="54864" marR="54864" marT="18288" marB="18288">
                    <a:solidFill>
                      <a:srgbClr val="ECF1F6"/>
                    </a:solidFill>
                  </a:tcPr>
                </a:tc>
              </a:tr>
              <a:tr h="262890">
                <a:tc>
                  <a:txBody>
                    <a:bodyPr wrap="square"/>
                    <a:lstStyle/>
                    <a:p>
                      <a:r>
                        <a:rPr sz="1000" b="0">
                          <a:solidFill>
                            <a:srgbClr val="282828"/>
                          </a:solidFill>
                          <a:latin typeface="Arial"/>
                        </a:rPr>
                        <a:t>exact, re-computed reference (I)</a:t>
                      </a:r>
                    </a:p>
                  </a:txBody>
                  <a:tcPr marL="54864" marR="54864" marT="18288" marB="18288">
                    <a:solidFill>
                      <a:srgbClr val="FFFFFF"/>
                    </a:solidFill>
                  </a:tcPr>
                </a:tc>
                <a:tc>
                  <a:txBody>
                    <a:bodyPr wrap="square"/>
                    <a:lstStyle/>
                    <a:p>
                      <a:r>
                        <a:rPr sz="1000" b="0">
                          <a:solidFill>
                            <a:srgbClr val="282828"/>
                          </a:solidFill>
                          <a:latin typeface="Arial"/>
                        </a:rPr>
                        <a:t>6.4×10¹³</a:t>
                      </a:r>
                    </a:p>
                  </a:txBody>
                  <a:tcPr marL="54864" marR="54864" marT="18288" marB="18288">
                    <a:solidFill>
                      <a:srgbClr val="FFFFFF"/>
                    </a:solidFill>
                  </a:tcPr>
                </a:tc>
              </a:tr>
              <a:tr h="262890">
                <a:tc>
                  <a:txBody>
                    <a:bodyPr wrap="square"/>
                    <a:lstStyle/>
                    <a:p>
                      <a:r>
                        <a:rPr sz="1000" b="0">
                          <a:solidFill>
                            <a:srgbClr val="282828"/>
                          </a:solidFill>
                          <a:latin typeface="Arial"/>
                        </a:rPr>
                        <a:t>I with the sign map (I+)</a:t>
                      </a:r>
                    </a:p>
                  </a:txBody>
                  <a:tcPr marL="54864" marR="54864" marT="18288" marB="18288">
                    <a:solidFill>
                      <a:srgbClr val="ECF1F6"/>
                    </a:solidFill>
                  </a:tcPr>
                </a:tc>
                <a:tc>
                  <a:txBody>
                    <a:bodyPr wrap="square"/>
                    <a:lstStyle/>
                    <a:p>
                      <a:r>
                        <a:rPr sz="1000" b="0">
                          <a:solidFill>
                            <a:srgbClr val="282828"/>
                          </a:solidFill>
                          <a:latin typeface="Arial"/>
                        </a:rPr>
                        <a:t>8.8×10¹³ (8.4×10¹³ if the sign map is noise-free)</a:t>
                      </a:r>
                    </a:p>
                  </a:txBody>
                  <a:tcPr marL="54864" marR="54864" marT="18288" marB="18288">
                    <a:solidFill>
                      <a:srgbClr val="ECF1F6"/>
                    </a:solidFill>
                  </a:tcPr>
                </a:tc>
              </a:tr>
              <a:tr h="262890">
                <a:tc>
                  <a:txBody>
                    <a:bodyPr wrap="square"/>
                    <a:lstStyle/>
                    <a:p>
                      <a:r>
                        <a:rPr sz="1000" b="0">
                          <a:solidFill>
                            <a:srgbClr val="282828"/>
                          </a:solidFill>
                          <a:latin typeface="Arial"/>
                        </a:rPr>
                        <a:t>phase-stepped (S)</a:t>
                      </a:r>
                    </a:p>
                  </a:txBody>
                  <a:tcPr marL="54864" marR="54864" marT="18288" marB="18288">
                    <a:solidFill>
                      <a:srgbClr val="FFFFFF"/>
                    </a:solidFill>
                  </a:tcPr>
                </a:tc>
                <a:tc>
                  <a:txBody>
                    <a:bodyPr wrap="square"/>
                    <a:lstStyle/>
                    <a:p>
                      <a:r>
                        <a:rPr sz="1000" b="0">
                          <a:solidFill>
                            <a:srgbClr val="282828"/>
                          </a:solidFill>
                          <a:latin typeface="Arial"/>
                        </a:rPr>
                        <a:t>1.0×10¹⁴</a:t>
                      </a:r>
                    </a:p>
                  </a:txBody>
                  <a:tcPr marL="54864" marR="54864" marT="18288" marB="18288">
                    <a:solidFill>
                      <a:srgbClr val="FFFFFF"/>
                    </a:solidFill>
                  </a:tcPr>
                </a:tc>
              </a:tr>
              <a:tr h="262890">
                <a:tc>
                  <a:txBody>
                    <a:bodyPr wrap="square"/>
                    <a:lstStyle/>
                    <a:p>
                      <a:r>
                        <a:rPr sz="1000" b="0">
                          <a:solidFill>
                            <a:srgbClr val="282828"/>
                          </a:solidFill>
                          <a:latin typeface="Arial"/>
                        </a:rPr>
                        <a:t>interferometer, four-step</a:t>
                      </a:r>
                    </a:p>
                  </a:txBody>
                  <a:tcPr marL="54864" marR="54864" marT="18288" marB="18288">
                    <a:solidFill>
                      <a:srgbClr val="ECF1F6"/>
                    </a:solidFill>
                  </a:tcPr>
                </a:tc>
                <a:tc>
                  <a:txBody>
                    <a:bodyPr wrap="square"/>
                    <a:lstStyle/>
                    <a:p>
                      <a:r>
                        <a:rPr sz="1000" b="0">
                          <a:solidFill>
                            <a:srgbClr val="282828"/>
                          </a:solidFill>
                          <a:latin typeface="Arial"/>
                        </a:rPr>
                        <a:t>8×10¹⁴</a:t>
                      </a:r>
                    </a:p>
                  </a:txBody>
                  <a:tcPr marL="54864" marR="54864" marT="18288" marB="18288">
                    <a:solidFill>
                      <a:srgbClr val="ECF1F6"/>
                    </a:solidFill>
                  </a:tcPr>
                </a:tc>
              </a:tr>
            </a:tbl>
          </a:graphicData>
        </a:graphic>
      </p:graphicFrame>
      <p:sp>
        <p:nvSpPr>
          <p:cNvPr id="7" name="TextBox 6"/>
          <p:cNvSpPr txBox="1"/>
          <p:nvPr/>
        </p:nvSpPr>
        <p:spPr>
          <a:xfrm>
            <a:off x="6400800" y="3284982"/>
            <a:ext cx="5394960" cy="274320"/>
          </a:xfrm>
          <a:prstGeom prst="rect">
            <a:avLst/>
          </a:prstGeom>
          <a:noFill/>
        </p:spPr>
        <p:txBody>
          <a:bodyPr wrap="square">
            <a:spAutoFit/>
          </a:bodyPr>
          <a:lstStyle/>
          <a:p>
            <a:pPr>
              <a:spcAft>
                <a:spcPts val="600"/>
              </a:spcAft>
            </a:pPr>
            <a:r>
              <a:rPr sz="1200" b="0">
                <a:solidFill>
                  <a:srgbClr val="282828"/>
                </a:solidFill>
                <a:latin typeface="Arial"/>
              </a:rPr>
              <a:t>•  Method: noise-free frames are calculated once per state; photon shot noise is added numerically, eight trials per point.  A state's photons are shared by the frames the reading needs (one, or four for S).  Each reading's high-photon floor converges to its systematic floor on slide 8.</a:t>
            </a:r>
          </a:p>
          <a:p>
            <a:pPr>
              <a:spcAft>
                <a:spcPts val="600"/>
              </a:spcAft>
            </a:pPr>
            <a:r>
              <a:rPr sz="1200" b="0">
                <a:solidFill>
                  <a:srgbClr val="282828"/>
                </a:solidFill>
                <a:latin typeface="Arial"/>
              </a:rPr>
              <a:t>•  Reading: 10¹⁴ photons at 633 nm is 30 µJ.  The 1 pm budget is about systematic errors and gain stability, not light.</a:t>
            </a:r>
          </a:p>
        </p:txBody>
      </p:sp>
      <p:sp>
        <p:nvSpPr>
          <p:cNvPr id="8" name="TextBox 7"/>
          <p:cNvSpPr txBox="1"/>
          <p:nvPr/>
        </p:nvSpPr>
        <p:spPr>
          <a:xfrm>
            <a:off x="6400800" y="4988814"/>
            <a:ext cx="5394960" cy="274320"/>
          </a:xfrm>
          <a:prstGeom prst="rect">
            <a:avLst/>
          </a:prstGeom>
          <a:noFill/>
        </p:spPr>
        <p:txBody>
          <a:bodyPr wrap="square">
            <a:spAutoFit/>
          </a:bodyPr>
          <a:lstStyle/>
          <a:p>
            <a:pPr>
              <a:spcAft>
                <a:spcPts val="600"/>
              </a:spcAft>
            </a:pPr>
            <a:r>
              <a:rPr sz="1050" b="0">
                <a:solidFill>
                  <a:srgbClr val="6E6E6E"/>
                </a:solidFill>
                <a:latin typeface="Arial"/>
              </a:rPr>
              <a:t>Case: a single 10 nm change on the 30 nm surface, 96×96, development sampling.  Read noise, drift and calibration noise are the next terms once a use case fixes them.  Records: runs/rec193full; interferometer tg96_s5noise_report.txt.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script reproduce every number here; the defaults reproduce the stage-7 record to the last printed digit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Two files: zwfs_params.m returns every setting at its value of record — grid and ray count, wavelength, the bench's lengths and tuned figures, the mask's etch and spot, the sampling checks, registration, the DM sizes, the test amplitudes and seeds, the colour and photon stages.  zwfs_run.m runs the chosen stages and writes the report, a .mat file and the figures into a folder named by the run's tag.</a:t>
            </a:r>
          </a:p>
        </p:txBody>
      </p:sp>
      <p:graphicFrame>
        <p:nvGraphicFramePr>
          <p:cNvPr id="5" name="Table 4"/>
          <p:cNvGraphicFramePr>
            <a:graphicFrameLocks noGrp="1"/>
          </p:cNvGraphicFramePr>
          <p:nvPr/>
        </p:nvGraphicFramePr>
        <p:xfrm>
          <a:off x="411480" y="2465831"/>
          <a:ext cx="11368735" cy="1680210"/>
        </p:xfrm>
        <a:graphic>
          <a:graphicData uri="http://schemas.openxmlformats.org/drawingml/2006/table">
            <a:tbl>
              <a:tblPr firstRow="1" bandRow="1">
                <a:tableStyleId>{5C22544A-7EE6-4342-B048-85BDC9FD1C3A}</a:tableStyleId>
              </a:tblPr>
              <a:tblGrid>
                <a:gridCol w="6601201"/>
                <a:gridCol w="4767534"/>
              </a:tblGrid>
              <a:tr h="280035">
                <a:tc>
                  <a:txBody>
                    <a:bodyPr wrap="square"/>
                    <a:lstStyle/>
                    <a:p>
                      <a:r>
                        <a:rPr sz="1100" b="1">
                          <a:solidFill>
                            <a:srgbClr val="FFFFFF"/>
                          </a:solidFill>
                          <a:latin typeface="Arial"/>
                        </a:rPr>
                        <a:t>call</a:t>
                      </a:r>
                    </a:p>
                  </a:txBody>
                  <a:tcPr marL="54864" marR="54864" marT="18288" marB="18288">
                    <a:solidFill>
                      <a:srgbClr val="1F4E79"/>
                    </a:solidFill>
                  </a:tcPr>
                </a:tc>
                <a:tc>
                  <a:txBody>
                    <a:bodyPr wrap="square"/>
                    <a:lstStyle/>
                    <a:p>
                      <a:r>
                        <a:rPr sz="1100" b="1">
                          <a:solidFill>
                            <a:srgbClr val="FFFFFF"/>
                          </a:solidFill>
                          <a:latin typeface="Arial"/>
                        </a:rPr>
                        <a:t>what it does</a:t>
                      </a:r>
                    </a:p>
                  </a:txBody>
                  <a:tcPr marL="54864" marR="54864" marT="18288" marB="18288">
                    <a:solidFill>
                      <a:srgbClr val="1F4E79"/>
                    </a:solidFill>
                  </a:tcPr>
                </a:tc>
              </a:tr>
              <a:tr h="280035">
                <a:tc>
                  <a:txBody>
                    <a:bodyPr wrap="square"/>
                    <a:lstStyle/>
                    <a:p>
                      <a:r>
                        <a:rPr sz="1100" b="0">
                          <a:solidFill>
                            <a:srgbClr val="282828"/>
                          </a:solidFill>
                          <a:latin typeface="Arial"/>
                        </a:rPr>
                        <a:t>zwfs_run</a:t>
                      </a:r>
                    </a:p>
                  </a:txBody>
                  <a:tcPr marL="54864" marR="54864" marT="18288" marB="18288">
                    <a:solidFill>
                      <a:srgbClr val="FFFFFF"/>
                    </a:solidFill>
                  </a:tcPr>
                </a:tc>
                <a:tc>
                  <a:txBody>
                    <a:bodyPr wrap="square"/>
                    <a:lstStyle/>
                    <a:p>
                      <a:r>
                        <a:rPr sz="1100" b="0">
                          <a:solidFill>
                            <a:srgbClr val="282828"/>
                          </a:solidFill>
                          <a:latin typeface="Arial"/>
                        </a:rPr>
                        <a:t>the record: bench checks, the full test set, figures</a:t>
                      </a:r>
                    </a:p>
                  </a:txBody>
                  <a:tcPr marL="54864" marR="54864" marT="18288" marB="18288">
                    <a:solidFill>
                      <a:srgbClr val="FFFFFF"/>
                    </a:solidFill>
                  </a:tcPr>
                </a:tc>
              </a:tr>
              <a:tr h="280035">
                <a:tc>
                  <a:txBody>
                    <a:bodyPr wrap="square"/>
                    <a:lstStyle/>
                    <a:p>
                      <a:r>
                        <a:rPr sz="1100" b="0">
                          <a:solidFill>
                            <a:srgbClr val="282828"/>
                          </a:solidFill>
                          <a:latin typeface="Arial"/>
                        </a:rPr>
                        <a:t>zwfs_run('tag','ng385', 'NGRID',385)</a:t>
                      </a:r>
                    </a:p>
                  </a:txBody>
                  <a:tcPr marL="54864" marR="54864" marT="18288" marB="18288">
                    <a:solidFill>
                      <a:srgbClr val="ECF1F6"/>
                    </a:solidFill>
                  </a:tcPr>
                </a:tc>
                <a:tc>
                  <a:txBody>
                    <a:bodyPr wrap="square"/>
                    <a:lstStyle/>
                    <a:p>
                      <a:r>
                        <a:rPr sz="1100" b="0">
                          <a:solidFill>
                            <a:srgbClr val="282828"/>
                          </a:solidFill>
                          <a:latin typeface="Arial"/>
                        </a:rPr>
                        <a:t>the 1-megapixel camera</a:t>
                      </a:r>
                    </a:p>
                  </a:txBody>
                  <a:tcPr marL="54864" marR="54864" marT="18288" marB="18288">
                    <a:solidFill>
                      <a:srgbClr val="ECF1F6"/>
                    </a:solidFill>
                  </a:tcPr>
                </a:tc>
              </a:tr>
              <a:tr h="280035">
                <a:tc>
                  <a:txBody>
                    <a:bodyPr wrap="square"/>
                    <a:lstStyle/>
                    <a:p>
                      <a:r>
                        <a:rPr sz="1100" b="0">
                          <a:solidFill>
                            <a:srgbClr val="282828"/>
                          </a:solidFill>
                          <a:latin typeface="Arial"/>
                        </a:rPr>
                        <a:t>zwfs_run('MODEL',2048, 'NGRID',385, 'param_file','macos_param_2048.txt')</a:t>
                      </a:r>
                    </a:p>
                  </a:txBody>
                  <a:tcPr marL="54864" marR="54864" marT="18288" marB="18288">
                    <a:solidFill>
                      <a:srgbClr val="FFFFFF"/>
                    </a:solidFill>
                  </a:tcPr>
                </a:tc>
                <a:tc>
                  <a:txBody>
                    <a:bodyPr wrap="square"/>
                    <a:lstStyle/>
                    <a:p>
                      <a:r>
                        <a:rPr sz="1100" b="0">
                          <a:solidFill>
                            <a:srgbClr val="282828"/>
                          </a:solidFill>
                          <a:latin typeface="Arial"/>
                        </a:rPr>
                        <a:t>the fully sampled setup on a 30 GB machine</a:t>
                      </a:r>
                    </a:p>
                  </a:txBody>
                  <a:tcPr marL="54864" marR="54864" marT="18288" marB="18288">
                    <a:solidFill>
                      <a:srgbClr val="FFFFFF"/>
                    </a:solidFill>
                  </a:tcPr>
                </a:tc>
              </a:tr>
              <a:tr h="280035">
                <a:tc>
                  <a:txBody>
                    <a:bodyPr wrap="square"/>
                    <a:lstStyle/>
                    <a:p>
                      <a:r>
                        <a:rPr sz="1100" b="0">
                          <a:solidFill>
                            <a:srgbClr val="282828"/>
                          </a:solidFill>
                          <a:latin typeface="Arial"/>
                        </a:rPr>
                        <a:t>zwfs_run('stages',{'battery','color','noise','figs'})</a:t>
                      </a:r>
                    </a:p>
                  </a:txBody>
                  <a:tcPr marL="54864" marR="54864" marT="18288" marB="18288">
                    <a:solidFill>
                      <a:srgbClr val="ECF1F6"/>
                    </a:solidFill>
                  </a:tcPr>
                </a:tc>
                <a:tc>
                  <a:txBody>
                    <a:bodyPr wrap="square"/>
                    <a:lstStyle/>
                    <a:p>
                      <a:r>
                        <a:rPr sz="1100" b="0">
                          <a:solidFill>
                            <a:srgbClr val="282828"/>
                          </a:solidFill>
                          <a:latin typeface="Arial"/>
                        </a:rPr>
                        <a:t>everything on this deck's later slides</a:t>
                      </a:r>
                    </a:p>
                  </a:txBody>
                  <a:tcPr marL="54864" marR="54864" marT="18288" marB="18288">
                    <a:solidFill>
                      <a:srgbClr val="ECF1F6"/>
                    </a:solidFill>
                  </a:tcPr>
                </a:tc>
              </a:tr>
              <a:tr h="280035">
                <a:tc>
                  <a:txBody>
                    <a:bodyPr wrap="square"/>
                    <a:lstStyle/>
                    <a:p>
                      <a:r>
                        <a:rPr sz="1100" b="0">
                          <a:solidFill>
                            <a:srgbClr val="282828"/>
                          </a:solidFill>
                          <a:latin typeface="Arial"/>
                        </a:rPr>
                        <a:t>./zwfs_batch.sh TAG "the same arguments"</a:t>
                      </a:r>
                    </a:p>
                  </a:txBody>
                  <a:tcPr marL="54864" marR="54864" marT="18288" marB="18288">
                    <a:solidFill>
                      <a:srgbClr val="FFFFFF"/>
                    </a:solidFill>
                  </a:tcPr>
                </a:tc>
                <a:tc>
                  <a:txBody>
                    <a:bodyPr wrap="square"/>
                    <a:lstStyle/>
                    <a:p>
                      <a:r>
                        <a:rPr sz="1100" b="0">
                          <a:solidFill>
                            <a:srgbClr val="282828"/>
                          </a:solidFill>
                          <a:latin typeface="Arial"/>
                        </a:rPr>
                        <a:t>unattended, memory-capped, logged</a:t>
                      </a:r>
                    </a:p>
                  </a:txBody>
                  <a:tcPr marL="54864" marR="54864" marT="18288" marB="18288">
                    <a:solidFill>
                      <a:srgbClr val="FFFFFF"/>
                    </a:solidFill>
                  </a:tcPr>
                </a:tc>
              </a:tr>
            </a:tbl>
          </a:graphicData>
        </a:graphic>
      </p:graphicFrame>
      <p:sp>
        <p:nvSpPr>
          <p:cNvPr id="6" name="TextBox 5"/>
          <p:cNvSpPr txBox="1"/>
          <p:nvPr/>
        </p:nvSpPr>
        <p:spPr>
          <a:xfrm>
            <a:off x="411480" y="4292346"/>
            <a:ext cx="11368735" cy="274320"/>
          </a:xfrm>
          <a:prstGeom prst="rect">
            <a:avLst/>
          </a:prstGeom>
          <a:noFill/>
        </p:spPr>
        <p:txBody>
          <a:bodyPr wrap="square">
            <a:spAutoFit/>
          </a:bodyPr>
          <a:lstStyle/>
          <a:p>
            <a:pPr>
              <a:spcAft>
                <a:spcPts val="600"/>
              </a:spcAft>
            </a:pPr>
            <a:r>
              <a:rPr sz="1500" b="0">
                <a:solidFill>
                  <a:srgbClr val="282828"/>
                </a:solidFill>
                <a:latin typeface="Arial"/>
              </a:rPr>
              <a:t>•  Checks that run every time: the no-mask round trip through the bracket (must return the field unchanged); the reference-wave model against the engine's own field; the pupil brightness must not change with the DM shape; the sampling checks (pixels across the dimple, camera pixels per actuator); and the search for the camera-to-DM mirror/transpose and sign.</a:t>
            </a:r>
          </a:p>
        </p:txBody>
      </p:sp>
      <p:sp>
        <p:nvSpPr>
          <p:cNvPr id="7" name="TextBox 6"/>
          <p:cNvSpPr txBox="1"/>
          <p:nvPr/>
        </p:nvSpPr>
        <p:spPr>
          <a:xfrm>
            <a:off x="411480" y="5459730"/>
            <a:ext cx="11368735" cy="274320"/>
          </a:xfrm>
          <a:prstGeom prst="rect">
            <a:avLst/>
          </a:prstGeom>
          <a:noFill/>
        </p:spPr>
        <p:txBody>
          <a:bodyPr wrap="square">
            <a:spAutoFit/>
          </a:bodyPr>
          <a:lstStyle/>
          <a:p>
            <a:pPr>
              <a:spcAft>
                <a:spcPts val="600"/>
              </a:spcAft>
            </a:pPr>
            <a:r>
              <a:rPr sz="1050" b="0">
                <a:solidFill>
                  <a:srgbClr val="6E6E6E"/>
                </a:solidFill>
                <a:latin typeface="Arial"/>
              </a:rPr>
              <a:t>Reproduction check: 64 lines of results against the stage-7 report, 8 differ in the last printed digit (the actuator fit's solver tolerance).  README "Run it yourself" carries the parameter table.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Side by side with the Twyman–Green</a:t>
            </a:r>
          </a:p>
          <a:p>
            <a:pPr>
              <a:spcAft>
                <a:spcPts val="0"/>
              </a:spcAft>
            </a:pPr>
            <a:r>
              <a:rPr sz="1250" b="0">
                <a:solidFill>
                  <a:srgbClr val="6E6E6E"/>
                </a:solidFill>
                <a:latin typeface="Arial"/>
              </a:rPr>
              <a:t>The interferometer loses response at fine patterns and never fails; the sensor reads a change from one frame at the same floor, up to a 40–60 nm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00350"/>
        </p:xfrm>
        <a:graphic>
          <a:graphicData uri="http://schemas.openxmlformats.org/drawingml/2006/table">
            <a:tbl>
              <a:tblPr firstRow="1" bandRow="1">
                <a:tableStyleId>{5C22544A-7EE6-4342-B048-85BDC9FD1C3A}</a:tableStyleId>
              </a:tblPr>
              <a:tblGrid>
                <a:gridCol w="3315881"/>
                <a:gridCol w="3552729"/>
                <a:gridCol w="4500124"/>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Twyman–Green PSI (measured)</a:t>
                      </a:r>
                    </a:p>
                  </a:txBody>
                  <a:tcPr marL="54864" marR="54864" marT="18288" marB="18288">
                    <a:solidFill>
                      <a:srgbClr val="1F4E79"/>
                    </a:solidFill>
                  </a:tcPr>
                </a:tc>
                <a:tc>
                  <a:txBody>
                    <a:bodyPr wrap="square"/>
                    <a:lstStyle/>
                    <a:p>
                      <a:r>
                        <a:rPr sz="1100" b="1">
                          <a:solidFill>
                            <a:srgbClr val="FFFFFF"/>
                          </a:solidFill>
                          <a:latin typeface="Arial"/>
                        </a:rPr>
                        <a:t>Zernike sensor (measured)</a:t>
                      </a:r>
                    </a:p>
                  </a:txBody>
                  <a:tcPr marL="54864" marR="54864" marT="18288" marB="18288">
                    <a:solidFill>
                      <a:srgbClr val="1F4E79"/>
                    </a:solidFill>
                  </a:tcPr>
                </a:tc>
              </a:tr>
              <a:tr h="280035">
                <a:tc>
                  <a:txBody>
                    <a:bodyPr wrap="square"/>
                    <a:lstStyle/>
                    <a:p>
                      <a:r>
                        <a:rPr sz="1100" b="0">
                          <a:solidFill>
                            <a:srgbClr val="282828"/>
                          </a:solidFill>
                          <a:latin typeface="Arial"/>
                        </a:rPr>
                        <a:t>reference beam</a:t>
                      </a:r>
                    </a:p>
                  </a:txBody>
                  <a:tcPr marL="54864" marR="54864" marT="18288" marB="18288">
                    <a:solidFill>
                      <a:srgbClr val="FFFFFF"/>
                    </a:solidFill>
                  </a:tcPr>
                </a:tc>
                <a:tc>
                  <a:txBody>
                    <a:bodyPr wrap="square"/>
                    <a:lstStyle/>
                    <a:p>
                      <a:r>
                        <a:rPr sz="1100" b="0">
                          <a:solidFill>
                            <a:srgbClr val="282828"/>
                          </a:solidFill>
                          <a:latin typeface="Arial"/>
                        </a:rPr>
                        <a:t>the second arm's flat</a:t>
                      </a:r>
                    </a:p>
                  </a:txBody>
                  <a:tcPr marL="54864" marR="54864" marT="18288" marB="18288">
                    <a:solidFill>
                      <a:srgbClr val="FFFFFF"/>
                    </a:solidFill>
                  </a:tcPr>
                </a:tc>
                <a:tc>
                  <a:txBody>
                    <a:bodyPr wrap="square"/>
                    <a:lstStyle/>
                    <a:p>
                      <a:r>
                        <a:rPr sz="1100" b="0">
                          <a:solidFill>
                            <a:srgbClr val="282828"/>
                          </a:solidFill>
                          <a:latin typeface="Arial"/>
                        </a:rPr>
                        <a:t>made from the beam's own focal core</a:t>
                      </a:r>
                    </a:p>
                  </a:txBody>
                  <a:tcPr marL="54864" marR="54864" marT="18288" marB="18288">
                    <a:solidFill>
                      <a:srgbClr val="FFFFFF"/>
                    </a:solidFill>
                  </a:tcPr>
                </a:tc>
              </a:tr>
              <a:tr h="280035">
                <a:tc>
                  <a:txBody>
                    <a:bodyPr wrap="square"/>
                    <a:lstStyle/>
                    <a:p>
                      <a:r>
                        <a:rPr sz="1100" b="0">
                          <a:solidFill>
                            <a:srgbClr val="282828"/>
                          </a:solidFill>
                          <a:latin typeface="Arial"/>
                        </a:rPr>
                        <a:t>one measurement costs</a:t>
                      </a:r>
                    </a:p>
                  </a:txBody>
                  <a:tcPr marL="54864" marR="54864" marT="18288" marB="18288">
                    <a:solidFill>
                      <a:srgbClr val="ECF1F6"/>
                    </a:solidFill>
                  </a:tcPr>
                </a:tc>
                <a:tc>
                  <a:txBody>
                    <a:bodyPr wrap="square"/>
                    <a:lstStyle/>
                    <a:p>
                      <a:r>
                        <a:rPr sz="1100" b="0">
                          <a:solidFill>
                            <a:srgbClr val="282828"/>
                          </a:solidFill>
                          <a:latin typeface="Arial"/>
                        </a:rPr>
                        <a:t>6 traces (3 per arm), 4 fringe frames</a:t>
                      </a:r>
                    </a:p>
                  </a:txBody>
                  <a:tcPr marL="54864" marR="54864" marT="18288" marB="18288">
                    <a:solidFill>
                      <a:srgbClr val="ECF1F6"/>
                    </a:solidFill>
                  </a:tcPr>
                </a:tc>
                <a:tc>
                  <a:txBody>
                    <a:bodyPr wrap="square"/>
                    <a:lstStyle/>
                    <a:p>
                      <a:r>
                        <a:rPr sz="1100" b="0">
                          <a:solidFill>
                            <a:srgbClr val="282828"/>
                          </a:solidFill>
                          <a:latin typeface="Arial"/>
                        </a:rPr>
                        <a:t>1 camera frame (I+; 4 frames once per working surface)</a:t>
                      </a:r>
                    </a:p>
                  </a:txBody>
                  <a:tcPr marL="54864" marR="54864" marT="18288" marB="18288">
                    <a:solidFill>
                      <a:srgbClr val="ECF1F6"/>
                    </a:solidFill>
                  </a:tcPr>
                </a:tc>
              </a:tr>
              <a:tr h="280035">
                <a:tc>
                  <a:txBody>
                    <a:bodyPr wrap="square"/>
                    <a:lstStyle/>
                    <a:p>
                      <a:r>
                        <a:rPr sz="1100" b="0">
                          <a:solidFill>
                            <a:srgbClr val="282828"/>
                          </a:solidFill>
                          <a:latin typeface="Arial"/>
                        </a:rPr>
                        <a:t>polarization hardware</a:t>
                      </a:r>
                    </a:p>
                  </a:txBody>
                  <a:tcPr marL="54864" marR="54864" marT="18288" marB="18288">
                    <a:solidFill>
                      <a:srgbClr val="FFFFFF"/>
                    </a:solidFill>
                  </a:tcPr>
                </a:tc>
                <a:tc>
                  <a:txBody>
                    <a:bodyPr wrap="square"/>
                    <a:lstStyle/>
                    <a:p>
                      <a:r>
                        <a:rPr sz="1100" b="0">
                          <a:solidFill>
                            <a:srgbClr val="282828"/>
                          </a:solidFill>
                          <a:latin typeface="Arial"/>
                        </a:rPr>
                        <a:t>polarizer, 5 waveplates, analyzer</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r>
              <a:tr h="280035">
                <a:tc>
                  <a:txBody>
                    <a:bodyPr wrap="square"/>
                    <a:lstStyle/>
                    <a:p>
                      <a:r>
                        <a:rPr sz="1100" b="0">
                          <a:solidFill>
                            <a:srgbClr val="282828"/>
                          </a:solidFill>
                          <a:latin typeface="Arial"/>
                        </a:rPr>
                        <a:t>moving parts</a:t>
                      </a:r>
                    </a:p>
                  </a:txBody>
                  <a:tcPr marL="54864" marR="54864" marT="18288" marB="18288">
                    <a:solidFill>
                      <a:srgbClr val="ECF1F6"/>
                    </a:solidFill>
                  </a:tcPr>
                </a:tc>
                <a:tc>
                  <a:txBody>
                    <a:bodyPr wrap="square"/>
                    <a:lstStyle/>
                    <a:p>
                      <a:r>
                        <a:rPr sz="1100" b="0">
                          <a:solidFill>
                            <a:srgbClr val="282828"/>
                          </a:solidFill>
                          <a:latin typeface="Arial"/>
                        </a:rPr>
                        <a:t>none (polarization-stepped)</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r>
              <a:tr h="280035">
                <a:tc>
                  <a:txBody>
                    <a:bodyPr wrap="square"/>
                    <a:lstStyle/>
                    <a:p>
                      <a:r>
                        <a:rPr sz="1100" b="0">
                          <a:solidFill>
                            <a:srgbClr val="282828"/>
                          </a:solidFill>
                          <a:latin typeface="Arial"/>
                        </a:rPr>
                        <a:t>null, nothing aligned</a:t>
                      </a:r>
                    </a:p>
                  </a:txBody>
                  <a:tcPr marL="54864" marR="54864" marT="18288" marB="18288">
                    <a:solidFill>
                      <a:srgbClr val="FFFFFF"/>
                    </a:solidFill>
                  </a:tcPr>
                </a:tc>
                <a:tc>
                  <a:txBody>
                    <a:bodyPr wrap="square"/>
                    <a:lstStyle/>
                    <a:p>
                      <a:r>
                        <a:rPr sz="1100" b="0">
                          <a:solidFill>
                            <a:srgbClr val="282828"/>
                          </a:solidFill>
                          <a:latin typeface="Arial"/>
                        </a:rPr>
                        <a:t>0.134 nm</a:t>
                      </a:r>
                    </a:p>
                  </a:txBody>
                  <a:tcPr marL="54864" marR="54864" marT="18288" marB="18288">
                    <a:solidFill>
                      <a:srgbClr val="FFFFFF"/>
                    </a:solidFill>
                  </a:tcPr>
                </a:tc>
                <a:tc>
                  <a:txBody>
                    <a:bodyPr wrap="square"/>
                    <a:lstStyle/>
                    <a:p>
                      <a:r>
                        <a:rPr sz="1100" b="0">
                          <a:solidFill>
                            <a:srgbClr val="282828"/>
                          </a:solidFill>
                          <a:latin typeface="Arial"/>
                        </a:rPr>
                        <a:t>0 by construction (the flat is the reference)</a:t>
                      </a:r>
                    </a:p>
                  </a:txBody>
                  <a:tcPr marL="54864" marR="54864" marT="18288" marB="18288">
                    <a:solidFill>
                      <a:srgbClr val="FFFFFF"/>
                    </a:solidFill>
                  </a:tcPr>
                </a:tc>
              </a:tr>
              <a:tr h="280035">
                <a:tc>
                  <a:txBody>
                    <a:bodyPr wrap="square"/>
                    <a:lstStyle/>
                    <a:p>
                      <a:r>
                        <a:rPr sz="1100" b="0">
                          <a:solidFill>
                            <a:srgbClr val="282828"/>
                          </a:solidFill>
                          <a:latin typeface="Arial"/>
                        </a:rPr>
                        <a:t>response falls off at</a:t>
                      </a:r>
                    </a:p>
                  </a:txBody>
                  <a:tcPr marL="54864" marR="54864" marT="18288" marB="18288">
                    <a:solidFill>
                      <a:srgbClr val="ECF1F6"/>
                    </a:solidFill>
                  </a:tcPr>
                </a:tc>
                <a:tc>
                  <a:txBody>
                    <a:bodyPr wrap="square"/>
                    <a:lstStyle/>
                    <a:p>
                      <a:r>
                        <a:rPr sz="1100" b="0">
                          <a:solidFill>
                            <a:srgbClr val="282828"/>
                          </a:solidFill>
                          <a:latin typeface="Arial"/>
                        </a:rPr>
                        <a:t>fine patterns: 0.50 at the 96×96 checkerboard</a:t>
                      </a:r>
                    </a:p>
                  </a:txBody>
                  <a:tcPr marL="54864" marR="54864" marT="18288" marB="18288">
                    <a:solidFill>
                      <a:srgbClr val="ECF1F6"/>
                    </a:solidFill>
                  </a:tcPr>
                </a:tc>
                <a:tc>
                  <a:txBody>
                    <a:bodyPr wrap="square"/>
                    <a:lstStyle/>
                    <a:p>
                      <a:r>
                        <a:rPr sz="1100" b="0">
                          <a:solidFill>
                            <a:srgbClr val="282828"/>
                          </a:solidFill>
                          <a:latin typeface="Arial"/>
                        </a:rPr>
                        <a:t>0.5 to 1 cycle across the pupil (0.5 at 1); piston unseen</a:t>
                      </a:r>
                    </a:p>
                  </a:txBody>
                  <a:tcPr marL="54864" marR="54864" marT="18288" marB="18288">
                    <a:solidFill>
                      <a:srgbClr val="ECF1F6"/>
                    </a:solidFill>
                  </a:tcPr>
                </a:tc>
              </a:tr>
              <a:tr h="280035">
                <a:tc>
                  <a:txBody>
                    <a:bodyPr wrap="square"/>
                    <a:lstStyle/>
                    <a:p>
                      <a:r>
                        <a:rPr sz="1100" b="0">
                          <a:solidFill>
                            <a:srgbClr val="282828"/>
                          </a:solidFill>
                          <a:latin typeface="Arial"/>
                        </a:rPr>
                        <a:t>working surface it can handle</a:t>
                      </a:r>
                    </a:p>
                  </a:txBody>
                  <a:tcPr marL="54864" marR="54864" marT="18288" marB="18288">
                    <a:solidFill>
                      <a:srgbClr val="FFFFFF"/>
                    </a:solidFill>
                  </a:tcPr>
                </a:tc>
                <a:tc>
                  <a:txBody>
                    <a:bodyPr wrap="square"/>
                    <a:lstStyle/>
                    <a:p>
                      <a:r>
                        <a:rPr sz="1100" b="0">
                          <a:solidFill>
                            <a:srgbClr val="282828"/>
                          </a:solidFill>
                          <a:latin typeface="Arial"/>
                        </a:rPr>
                        <a:t>480 nm rms and beyond</a:t>
                      </a:r>
                    </a:p>
                  </a:txBody>
                  <a:tcPr marL="54864" marR="54864" marT="18288" marB="18288">
                    <a:solidFill>
                      <a:srgbClr val="FFFFFF"/>
                    </a:solidFill>
                  </a:tcPr>
                </a:tc>
                <a:tc>
                  <a:txBody>
                    <a:bodyPr wrap="square"/>
                    <a:lstStyle/>
                    <a:p>
                      <a:r>
                        <a:rPr sz="1100" b="0">
                          <a:solidFill>
                            <a:srgbClr val="282828"/>
                          </a:solidFill>
                          <a:latin typeface="Arial"/>
                        </a:rPr>
                        <a:t>40 nm rms one-frame (1 mm actuators), 50–60 nm four-frame</a:t>
                      </a:r>
                    </a:p>
                  </a:txBody>
                  <a:tcPr marL="54864" marR="54864" marT="18288" marB="18288">
                    <a:solidFill>
                      <a:srgbClr val="FFFFFF"/>
                    </a:solidFill>
                  </a:tcPr>
                </a:tc>
              </a:tr>
              <a:tr h="280035">
                <a:tc>
                  <a:txBody>
                    <a:bodyPr wrap="square"/>
                    <a:lstStyle/>
                    <a:p>
                      <a:r>
                        <a:rPr sz="1100" b="0">
                          <a:solidFill>
                            <a:srgbClr val="282828"/>
                          </a:solidFill>
                          <a:latin typeface="Arial"/>
                        </a:rPr>
                        <a:t>a 10 nm actuator change on a 30 nm surface</a:t>
                      </a:r>
                    </a:p>
                  </a:txBody>
                  <a:tcPr marL="54864" marR="54864" marT="18288" marB="18288">
                    <a:solidFill>
                      <a:srgbClr val="ECF1F6"/>
                    </a:solidFill>
                  </a:tcPr>
                </a:tc>
                <a:tc>
                  <a:txBody>
                    <a:bodyPr wrap="square"/>
                    <a:lstStyle/>
                    <a:p>
                      <a:r>
                        <a:rPr sz="1100" b="0">
                          <a:solidFill>
                            <a:srgbClr val="282828"/>
                          </a:solidFill>
                          <a:latin typeface="Arial"/>
                        </a:rPr>
                        <a:t>gain 0.92, floor 46 pm</a:t>
                      </a:r>
                    </a:p>
                  </a:txBody>
                  <a:tcPr marL="54864" marR="54864" marT="18288" marB="18288">
                    <a:solidFill>
                      <a:srgbClr val="ECF1F6"/>
                    </a:solidFill>
                  </a:tcPr>
                </a:tc>
                <a:tc>
                  <a:txBody>
                    <a:bodyPr wrap="square"/>
                    <a:lstStyle/>
                    <a:p>
                      <a:r>
                        <a:rPr sz="1100" b="0">
                          <a:solidFill>
                            <a:srgbClr val="282828"/>
                          </a:solidFill>
                          <a:latin typeface="Arial"/>
                        </a:rPr>
                        <a:t>gain 0.98, floor 19 pm (I+, one frame)</a:t>
                      </a:r>
                    </a:p>
                  </a:txBody>
                  <a:tcPr marL="54864" marR="54864" marT="18288" marB="18288">
                    <a:solidFill>
                      <a:srgbClr val="ECF1F6"/>
                    </a:solidFill>
                  </a:tcPr>
                </a:tc>
              </a:tr>
              <a:tr h="280035">
                <a:tc>
                  <a:txBody>
                    <a:bodyPr wrap="square"/>
                    <a:lstStyle/>
                    <a:p>
                      <a:r>
                        <a:rPr sz="1100" b="0">
                          <a:solidFill>
                            <a:srgbClr val="282828"/>
                          </a:solidFill>
                          <a:latin typeface="Arial"/>
                        </a:rPr>
                        <a:t>photons per state for 1 pm</a:t>
                      </a:r>
                    </a:p>
                  </a:txBody>
                  <a:tcPr marL="54864" marR="54864" marT="18288" marB="18288">
                    <a:solidFill>
                      <a:srgbClr val="FFFFFF"/>
                    </a:solidFill>
                  </a:tcPr>
                </a:tc>
                <a:tc>
                  <a:txBody>
                    <a:bodyPr wrap="square"/>
                    <a:lstStyle/>
                    <a:p>
                      <a:r>
                        <a:rPr sz="1100" b="0">
                          <a:solidFill>
                            <a:srgbClr val="282828"/>
                          </a:solidFill>
                          <a:latin typeface="Arial"/>
                        </a:rPr>
                        <a:t>8×10¹⁴</a:t>
                      </a:r>
                    </a:p>
                  </a:txBody>
                  <a:tcPr marL="54864" marR="54864" marT="18288" marB="18288">
                    <a:solidFill>
                      <a:srgbClr val="FFFFFF"/>
                    </a:solidFill>
                  </a:tcPr>
                </a:tc>
                <a:tc>
                  <a:txBody>
                    <a:bodyPr wrap="square"/>
                    <a:lstStyle/>
                    <a:p>
                      <a:r>
                        <a:rPr sz="1100" b="0">
                          <a:solidFill>
                            <a:srgbClr val="282828"/>
                          </a:solidFill>
                          <a:latin typeface="Arial"/>
                        </a:rPr>
                        <a:t>0.4 to 1×10¹⁴</a:t>
                      </a:r>
                    </a:p>
                  </a:txBody>
                  <a:tcPr marL="54864" marR="54864" marT="18288" marB="18288">
                    <a:solidFill>
                      <a:srgbClr val="FFFFFF"/>
                    </a:solidFill>
                  </a:tcPr>
                </a:tc>
              </a:tr>
            </a:tbl>
          </a:graphicData>
        </a:graphic>
      </p:graphicFrame>
      <p:sp>
        <p:nvSpPr>
          <p:cNvPr id="5" name="TextBox 4"/>
          <p:cNvSpPr txBox="1"/>
          <p:nvPr/>
        </p:nvSpPr>
        <p:spPr>
          <a:xfrm>
            <a:off x="411480" y="4245102"/>
            <a:ext cx="11368735" cy="274320"/>
          </a:xfrm>
          <a:prstGeom prst="rect">
            <a:avLst/>
          </a:prstGeom>
          <a:noFill/>
        </p:spPr>
        <p:txBody>
          <a:bodyPr wrap="square">
            <a:spAutoFit/>
          </a:bodyPr>
          <a:lstStyle/>
          <a:p>
            <a:pPr>
              <a:spcAft>
                <a:spcPts val="600"/>
              </a:spcAft>
            </a:pPr>
            <a:r>
              <a:rPr sz="1500" b="0">
                <a:solidFill>
                  <a:srgbClr val="282828"/>
                </a:solidFill>
                <a:latin typeface="Arial"/>
              </a:rPr>
              <a:t>•  Reading: the interferometer measures any surface and pays at fine patterns; the sensor measures small changes on a small working surface more cheaply — one frame, no polarization train, an equal or better floor — and pays at the lowest spatial frequencies and in the surface it can handle.</a:t>
            </a:r>
          </a:p>
        </p:txBody>
      </p:sp>
      <p:sp>
        <p:nvSpPr>
          <p:cNvPr id="6" name="TextBox 5"/>
          <p:cNvSpPr txBox="1"/>
          <p:nvPr/>
        </p:nvSpPr>
        <p:spPr>
          <a:xfrm>
            <a:off x="411480" y="5164836"/>
            <a:ext cx="11368735" cy="274320"/>
          </a:xfrm>
          <a:prstGeom prst="rect">
            <a:avLst/>
          </a:prstGeom>
          <a:noFill/>
        </p:spPr>
        <p:txBody>
          <a:bodyPr wrap="square">
            <a:spAutoFit/>
          </a:bodyPr>
          <a:lstStyle/>
          <a:p>
            <a:pPr>
              <a:spcAft>
                <a:spcPts val="600"/>
              </a:spcAft>
            </a:pPr>
            <a:r>
              <a:rPr sz="1050" b="0">
                <a:solidFill>
                  <a:srgbClr val="6E6E6E"/>
                </a:solidFill>
                <a:latin typeface="Arial"/>
              </a:rPr>
              <a:t>PSI column: tg_psi_dm96 run 10 and S4/S5; sensor column: the fully sampled setup (slide 9) except photons (development sampling).  Both in actuator units through the same code (dm_gauge_lib).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now built and measured (slide 8)</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Picometres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states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the corrected model and the exact reading settled</a:t>
            </a:r>
          </a:p>
          <a:p>
            <a:pPr>
              <a:spcAft>
                <a:spcPts val="0"/>
              </a:spcAft>
            </a:pPr>
            <a:r>
              <a:rPr sz="1250" b="0">
                <a:solidFill>
                  <a:srgbClr val="6E6E6E"/>
                </a:solidFill>
                <a:latin typeface="Arial"/>
              </a:rPr>
              <a:t>Fixing the model was the bigger gain; the exact reading with the sign map is the best one-frame reading; colour and photons are not the 1 pm budget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must keep the pupil image in focus: the two spheres around the mask share one radius, and the script checks the no-mask round trip on every run.  The correction alone took the single-actuator floor from 744 to 67 pm and made the undetected grid case detectable.</a:t>
            </a:r>
          </a:p>
          <a:p>
            <a:pPr>
              <a:spcAft>
                <a:spcPts val="600"/>
              </a:spcAft>
            </a:pPr>
            <a:r>
              <a:rPr sz="1500" b="0">
                <a:solidFill>
                  <a:srgbClr val="282828"/>
                </a:solidFill>
                <a:latin typeface="Arial"/>
              </a:rPr>
              <a:t>•  The exact reading with a re-computed reference is the import that paid (paper 1): 26 pm from one frame on a 30 nm working surface, SNR 355 — with the sign fold settled once from four stepped frames and refined.  The plain stepped sign map misses 3% of pixels and can flip a single actuator's sign.</a:t>
            </a:r>
          </a:p>
          <a:p>
            <a:pPr>
              <a:spcAft>
                <a:spcPts val="600"/>
              </a:spcAft>
            </a:pPr>
            <a:r>
              <a:rPr sz="1500" b="0">
                <a:solidFill>
                  <a:srgbClr val="282828"/>
                </a:solidFill>
                <a:latin typeface="Arial"/>
              </a:rPr>
              <a:t>•  Sampling is settled, and a bias in the fit is fixed: camera pixels per actuator (the ray count) set the gain on a test actuator; the dimple's own sampling did not move any actuator-unit result at 4 against 8 pixels; sampling the response pattern at the actuator centre took the test-actuator gain to 0.996 at 5 pixels per actuator.  Calibrating on the working surface was measured and does not help; the 47-site deficit on a working surface is the open item.</a:t>
            </a:r>
          </a:p>
          <a:p>
            <a:pPr>
              <a:spcAft>
                <a:spcPts val="600"/>
              </a:spcAft>
            </a:pPr>
            <a:r>
              <a:rPr sz="1500" b="0">
                <a:solidFill>
                  <a:srgbClr val="282828"/>
                </a:solidFill>
                <a:latin typeface="Arial"/>
              </a:rPr>
              <a:t>•  Colour and photons are not levers: the chromatic null was the defocus; 10¹⁴ photons per state reach 1 pm.  The budget is systematic error: the 25 to 60 pm floors and the gain's stability.</a:t>
            </a:r>
          </a:p>
        </p:txBody>
      </p:sp>
      <p:sp>
        <p:nvSpPr>
          <p:cNvPr id="5" name="TextBox 4"/>
          <p:cNvSpPr txBox="1"/>
          <p:nvPr/>
        </p:nvSpPr>
        <p:spPr>
          <a:xfrm>
            <a:off x="411480" y="4867656"/>
            <a:ext cx="11368735" cy="274320"/>
          </a:xfrm>
          <a:prstGeom prst="rect">
            <a:avLst/>
          </a:prstGeom>
          <a:noFill/>
        </p:spPr>
        <p:txBody>
          <a:bodyPr wrap="square">
            <a:spAutoFit/>
          </a:bodyPr>
          <a:lstStyle/>
          <a:p>
            <a:pPr>
              <a:spcAft>
                <a:spcPts val="600"/>
              </a:spcAft>
            </a:pPr>
            <a:r>
              <a:rPr sz="1050" b="0">
                <a:solidFill>
                  <a:srgbClr val="6E6E6E"/>
                </a:solidFill>
                <a:latin typeface="Arial"/>
              </a:rPr>
              <a:t>Script and records: templates/40_benches/zwfs_dm96 (README S7/S8; runs/rec193, ng385, ng385s3, m2048, rec193full).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to import next, in order</a:t>
            </a:r>
          </a:p>
          <a:p>
            <a:pPr>
              <a:spcAft>
                <a:spcPts val="0"/>
              </a:spcAft>
            </a:pPr>
            <a:r>
              <a:rPr sz="1250" b="0">
                <a:solidFill>
                  <a:srgbClr val="6E6E6E"/>
                </a:solidFill>
                <a:latin typeface="Arial"/>
              </a:rPr>
              <a:t>The JPL budget form, DM calibration through the sensor's own images, the vector sensor priced before it is built, and the interferometer's lever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JPL budget form: a sensitivity factor per pixel from the measured fields predicts the photon-noise stage analytically, and four systematic terms (pupil calibration at ½, reference wave at 1, dimple depth, initial phase) become the rows of the error budget.</a:t>
            </a:r>
          </a:p>
          <a:p>
            <a:pPr>
              <a:spcAft>
                <a:spcPts val="600"/>
              </a:spcAft>
            </a:pPr>
            <a:r>
              <a:rPr sz="1500" b="0">
                <a:solidFill>
                  <a:srgbClr val="282828"/>
                </a:solidFill>
                <a:latin typeface="Arial"/>
              </a:rPr>
              <a:t>•  Calibrate the DM through the sensor's own image model: fit actuator positions and gains by matching sensor images of poke grids to a simulation that includes the propagation distances.  The interferometer's camera sits off the DM conjugate after the tuned tail, so it is its lever too — and its calibration code carries the same stencil bias fixed here (slide 9).</a:t>
            </a:r>
          </a:p>
          <a:p>
            <a:pPr>
              <a:spcAft>
                <a:spcPts val="600"/>
              </a:spcAft>
            </a:pPr>
            <a:r>
              <a:rPr sz="1500" b="0">
                <a:solidFill>
                  <a:srgbClr val="282828"/>
                </a:solidFill>
                <a:latin typeface="Arial"/>
              </a:rPr>
              <a:t>•  Colour as a joint fit, not a combination: an equal-weight combination inherits a bad channel; a joint fit through the exact reading would use 700 to 780 nm for range and 632.8 nm for the calibration of record.</a:t>
            </a:r>
          </a:p>
          <a:p>
            <a:pPr>
              <a:spcAft>
                <a:spcPts val="600"/>
              </a:spcAft>
            </a:pPr>
            <a:r>
              <a:rPr sz="1500" b="0">
                <a:solidFill>
                  <a:srgbClr val="282828"/>
                </a:solidFill>
                <a:latin typeface="Arial"/>
              </a:rPr>
              <a:t>•  Model the vector sensor before the metasurface is built: the exact two-image solution and its leakage terms (retardance offsets, splitter rotation) run on the engine's polarization machinery; the bench limits at Keck and SEAL were defocus and crosstalk between the two pupil images, both priceable here.</a:t>
            </a:r>
          </a:p>
          <a:p>
            <a:pPr>
              <a:spcAft>
                <a:spcPts val="600"/>
              </a:spcAft>
            </a:pPr>
            <a:r>
              <a:rPr sz="1500" b="0">
                <a:solidFill>
                  <a:srgbClr val="282828"/>
                </a:solidFill>
                <a:latin typeface="Arial"/>
              </a:rPr>
              <a:t>•  The interferometer, for balance: a PZT phase shift buys no model gain — its floors are geometric and colour-independent — but on hardware an absolute phase scale and freedom from polarization systematics; the recommended form is a hybrid: polarization snapshot for the change measurements, a PZT on the reference flat as calibrator.  Its all-mirror (OAP) version is in build.</a:t>
            </a:r>
          </a:p>
        </p:txBody>
      </p:sp>
      <p:sp>
        <p:nvSpPr>
          <p:cNvPr id="5" name="TextBox 4"/>
          <p:cNvSpPr txBox="1"/>
          <p:nvPr/>
        </p:nvSpPr>
        <p:spPr>
          <a:xfrm>
            <a:off x="411480" y="5998464"/>
            <a:ext cx="11368735" cy="274320"/>
          </a:xfrm>
          <a:prstGeom prst="rect">
            <a:avLst/>
          </a:prstGeom>
          <a:noFill/>
        </p:spPr>
        <p:txBody>
          <a:bodyPr wrap="square">
            <a:spAutoFit/>
          </a:bodyPr>
          <a:lstStyle/>
          <a:p>
            <a:pPr>
              <a:spcAft>
                <a:spcPts val="600"/>
              </a:spcAft>
            </a:pPr>
            <a:r>
              <a:rPr sz="1050" b="0">
                <a:solidFill>
                  <a:srgbClr val="6E6E6E"/>
                </a:solidFill>
                <a:latin typeface="Arial"/>
              </a:rPr>
              <a:t>Segmented-mirror lessons carried forward: the sensor reads segment piston but not global piston, DM quantization appears as steps in the response, and piston is underestimated below 50 % Strehl (Keck) — all three enter the e5-class segmented gauges.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743200"/>
            <a:ext cx="10545775" cy="1280160"/>
          </a:xfrm>
          <a:prstGeom prst="rect">
            <a:avLst/>
          </a:prstGeom>
          <a:noFill/>
        </p:spPr>
        <p:txBody>
          <a:bodyPr wrap="square">
            <a:spAutoFit/>
          </a:bodyPr>
          <a:lstStyle/>
          <a:p>
            <a:pPr algn="ctr">
              <a:spcAft>
                <a:spcPts val="400"/>
              </a:spcAft>
            </a:pPr>
            <a:r>
              <a:rPr sz="4000" b="1">
                <a:solidFill>
                  <a:srgbClr val="1F4E79"/>
                </a:solidFill>
                <a:latin typeface="Arial"/>
              </a:rPr>
              <a:t>Backup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Before the correction: the first poke and colour results</a:t>
            </a:r>
          </a:p>
          <a:p>
            <a:pPr>
              <a:spcAft>
                <a:spcPts val="0"/>
              </a:spcAft>
            </a:pPr>
            <a:r>
              <a:rPr sz="1250" b="0">
                <a:solidFill>
                  <a:srgbClr val="6E6E6E"/>
                </a:solidFill>
                <a:latin typeface="Arial"/>
              </a:rPr>
              <a:t>Kept for the record; every number on this slide is from the out-of-focus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poke_triptych.png"/>
          <p:cNvPicPr>
            <a:picLocks noChangeAspect="1"/>
          </p:cNvPicPr>
          <p:nvPr/>
        </p:nvPicPr>
        <p:blipFill>
          <a:blip r:embed="rId2"/>
          <a:stretch>
            <a:fillRect/>
          </a:stretch>
        </p:blipFill>
        <p:spPr>
          <a:xfrm>
            <a:off x="3643334" y="1298448"/>
            <a:ext cx="4905026" cy="1462532"/>
          </a:xfrm>
          <a:prstGeom prst="rect">
            <a:avLst/>
          </a:prstGeom>
        </p:spPr>
      </p:pic>
      <p:sp>
        <p:nvSpPr>
          <p:cNvPr id="5" name="TextBox 4"/>
          <p:cNvSpPr txBox="1"/>
          <p:nvPr/>
        </p:nvSpPr>
        <p:spPr>
          <a:xfrm>
            <a:off x="411480" y="2779268"/>
            <a:ext cx="11368735" cy="229107"/>
          </a:xfrm>
          <a:prstGeom prst="rect">
            <a:avLst/>
          </a:prstGeom>
          <a:noFill/>
        </p:spPr>
        <p:txBody>
          <a:bodyPr wrap="square">
            <a:spAutoFit/>
          </a:bodyPr>
          <a:lstStyle/>
          <a:p>
            <a:pPr algn="ctr">
              <a:spcAft>
                <a:spcPts val="0"/>
              </a:spcAft>
            </a:pPr>
            <a:r>
              <a:rPr sz="1000" b="0">
                <a:solidFill>
                  <a:srgbClr val="6E6E6E"/>
                </a:solidFill>
                <a:latin typeface="Arial"/>
              </a:rPr>
              <a:t>One actuator moved 20 nm on the out-of-focus model: the sensed blob is broadened and dimmed — gain 0.445, 0.29 nm rms error; the ring is the 4.9 m defocus.</a:t>
            </a:r>
          </a:p>
        </p:txBody>
      </p:sp>
      <p:pic>
        <p:nvPicPr>
          <p:cNvPr id="6" name="Picture 5" descr="zwfs_defocus_triptych.png"/>
          <p:cNvPicPr>
            <a:picLocks noChangeAspect="1"/>
          </p:cNvPicPr>
          <p:nvPr/>
        </p:nvPicPr>
        <p:blipFill>
          <a:blip r:embed="rId3"/>
          <a:stretch>
            <a:fillRect/>
          </a:stretch>
        </p:blipFill>
        <p:spPr>
          <a:xfrm>
            <a:off x="3635414" y="3044952"/>
            <a:ext cx="4920865" cy="1462532"/>
          </a:xfrm>
          <a:prstGeom prst="rect">
            <a:avLst/>
          </a:prstGeom>
        </p:spPr>
      </p:pic>
      <p:sp>
        <p:nvSpPr>
          <p:cNvPr id="7" name="TextBox 6"/>
          <p:cNvSpPr txBox="1"/>
          <p:nvPr/>
        </p:nvSpPr>
        <p:spPr>
          <a:xfrm>
            <a:off x="411480" y="4525771"/>
            <a:ext cx="11368735" cy="229107"/>
          </a:xfrm>
          <a:prstGeom prst="rect">
            <a:avLst/>
          </a:prstGeom>
          <a:noFill/>
        </p:spPr>
        <p:txBody>
          <a:bodyPr wrap="square">
            <a:spAutoFit/>
          </a:bodyPr>
          <a:lstStyle/>
          <a:p>
            <a:pPr algn="ctr">
              <a:spcAft>
                <a:spcPts val="0"/>
              </a:spcAft>
            </a:pPr>
            <a:r>
              <a:rPr sz="1000" b="0">
                <a:solidFill>
                  <a:srgbClr val="6E6E6E"/>
                </a:solidFill>
                <a:latin typeface="Arial"/>
              </a:rPr>
              <a:t>Defocus at 8 nm on the same model: sensed matches applied at gain 0.986, 0.16 nm rms — low orders were never the trouble.</a:t>
            </a:r>
          </a:p>
        </p:txBody>
      </p:sp>
      <p:sp>
        <p:nvSpPr>
          <p:cNvPr id="8" name="TextBox 7"/>
          <p:cNvSpPr txBox="1"/>
          <p:nvPr/>
        </p:nvSpPr>
        <p:spPr>
          <a:xfrm>
            <a:off x="411480" y="4791455"/>
            <a:ext cx="11368735" cy="274320"/>
          </a:xfrm>
          <a:prstGeom prst="rect">
            <a:avLst/>
          </a:prstGeom>
          <a:noFill/>
        </p:spPr>
        <p:txBody>
          <a:bodyPr wrap="square">
            <a:spAutoFit/>
          </a:bodyPr>
          <a:lstStyle/>
          <a:p>
            <a:pPr>
              <a:spcAft>
                <a:spcPts val="600"/>
              </a:spcAft>
            </a:pPr>
            <a:r>
              <a:rPr sz="1500" b="0">
                <a:solidFill>
                  <a:srgbClr val="282828"/>
                </a:solidFill>
                <a:latin typeface="Arial"/>
              </a:rPr>
              <a:t>•  The sampling sweep then read the spot as a band selector (gain on one actuator 0.45 / 0.59 / −0.38 at spots 2.0 / 3.0 / 1.06) and calibration recovered a 0.90 gain on a test actuator; both were measured on the ringing response.  On the corrected model the response peak is 0.75 (linear) and 0.93 (exact) and the spot only moves the low-order dip.</a:t>
            </a:r>
          </a:p>
          <a:p>
            <a:pPr>
              <a:spcAft>
                <a:spcPts val="600"/>
              </a:spcAft>
            </a:pPr>
            <a:r>
              <a:rPr sz="1500" b="0">
                <a:solidFill>
                  <a:srgbClr val="282828"/>
                </a:solidFill>
                <a:latin typeface="Arial"/>
              </a:rPr>
              <a:t>•  The colour claim ("five colours fill the blind band; single-actuator floor 720 → 224 pm") was the Talbot null moving as 1/λ.  On the corrected model there is no null and colour is not a lever (main slide 11).</a:t>
            </a:r>
          </a:p>
        </p:txBody>
      </p:sp>
      <p:sp>
        <p:nvSpPr>
          <p:cNvPr id="9" name="TextBox 8"/>
          <p:cNvSpPr txBox="1"/>
          <p:nvPr/>
        </p:nvSpPr>
        <p:spPr>
          <a:xfrm>
            <a:off x="411480" y="6346698"/>
            <a:ext cx="11368735" cy="274320"/>
          </a:xfrm>
          <a:prstGeom prst="rect">
            <a:avLst/>
          </a:prstGeom>
          <a:noFill/>
        </p:spPr>
        <p:txBody>
          <a:bodyPr wrap="square">
            <a:spAutoFit/>
          </a:bodyPr>
          <a:lstStyle/>
          <a:p>
            <a:pPr>
              <a:spcAft>
                <a:spcPts val="600"/>
              </a:spcAft>
            </a:pPr>
            <a:r>
              <a:rPr sz="1050" b="0">
                <a:solidFill>
                  <a:srgbClr val="6E6E6E"/>
                </a:solidFill>
                <a:latin typeface="Arial"/>
              </a:rPr>
              <a:t>Records: zwfs_s1 … zwfs_s6color reports and zwfs_sweep_report.txt; the old emission ('nf_legacy') reproduces them byte for byte.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 and records</a:t>
            </a:r>
          </a:p>
          <a:p>
            <a:pPr>
              <a:spcAft>
                <a:spcPts val="0"/>
              </a:spcAft>
            </a:pPr>
            <a:r>
              <a:rPr sz="1250" b="0">
                <a:solidFill>
                  <a:srgbClr val="6E6E6E"/>
                </a:solidFill>
                <a:latin typeface="Arial"/>
              </a:rPr>
              <a:t>Every number re-derives from a committed script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Campaign: templates/40_benches/zwfs_dm96 — the script and parameter sheet (zwfs_params.m, zwfs_run.m, zwfs_run_figs.m, zwfs_run_batch.m, zwfs_batch.sh, macos_param_2048.txt) and its runs (runs/rec193 = the stage-7 reproduction check; ng385, ng385s3, m2048 = the sampling setups; rec193full = colour + photons); the stage scripts zwfs_s1 … zwfs_s7iter as the historical record; README with the findings chain (S1–S8); plan and rulings in macos/BRIEF_zwfs_campaign.md.</a:t>
            </a:r>
          </a:p>
          <a:p>
            <a:pPr>
              <a:spcAft>
                <a:spcPts val="600"/>
              </a:spcAft>
            </a:pPr>
            <a:r>
              <a:rPr sz="1500" b="0">
                <a:solidFill>
                  <a:srgbClr val="282828"/>
                </a:solidFill>
                <a:latin typeface="Arial"/>
              </a:rPr>
              <a:t>•  Findings from stage 1, recorded so they are not re-derived: the stock detector leg is ray-traced at the mask plane — a mask a few microns across needs the reference-sphere bracket (a builder option, default off, existing decks bit-identical, suites green); the mask must sit at the optimized lens's real focus (−5.58 mm from the thin-lens seed); the camera-to-DM frame must come from traced rays — an estimate from the support area was 25% off.</a:t>
            </a:r>
          </a:p>
          <a:p>
            <a:pPr>
              <a:spcAft>
                <a:spcPts val="600"/>
              </a:spcAft>
            </a:pPr>
            <a:r>
              <a:rPr sz="1500" b="0">
                <a:solidFill>
                  <a:srgbClr val="282828"/>
                </a:solidFill>
                <a:latin typeface="Arial"/>
              </a:rPr>
              <a:t>•  The stage-7 correction: the bracket's exit sphere now carries the entrance sphere's radius ('nf'); 'nf_legacy' reproduces the stage 1–6 emission; the interferometer twin traces the mask plane by rays and is unaffected.</a:t>
            </a:r>
          </a:p>
          <a:p>
            <a:pPr>
              <a:spcAft>
                <a:spcPts val="600"/>
              </a:spcAft>
            </a:pPr>
            <a:r>
              <a:rPr sz="1500" b="0">
                <a:solidFill>
                  <a:srgbClr val="282828"/>
                </a:solidFill>
                <a:latin typeface="Arial"/>
              </a:rPr>
              <a:t>•  Sign convention checked by a negative control: surface height = −φ·λ/4π on this deck (a single reflection doubles the height).</a:t>
            </a:r>
          </a:p>
          <a:p>
            <a:pPr>
              <a:spcAft>
                <a:spcPts val="600"/>
              </a:spcAft>
            </a:pPr>
            <a:r>
              <a:rPr sz="1500" b="0">
                <a:solidFill>
                  <a:srgbClr val="282828"/>
                </a:solidFill>
                <a:latin typeface="Arial"/>
              </a:rPr>
              <a:t>•  Scoring: actuator units through the DM influence model, one library for both instruments (dm_gauge_lib: registration, actuator fit, frequency correction, both measurement factories).</a:t>
            </a:r>
          </a:p>
          <a:p>
            <a:pPr>
              <a:spcAft>
                <a:spcPts val="600"/>
              </a:spcAft>
            </a:pPr>
            <a:r>
              <a:rPr sz="1500" b="0">
                <a:solidFill>
                  <a:srgbClr val="282828"/>
                </a:solidFill>
                <a:latin typeface="Arial"/>
              </a:rPr>
              <a:t>•  Hardware source: "VSG2 Zernike Wavefront Sensor Update -v2" deck, parameters carried in templates/40_benches/vsg_wip/vsg2_params.m §9.</a:t>
            </a:r>
          </a:p>
          <a:p>
            <a:pPr>
              <a:spcAft>
                <a:spcPts val="600"/>
              </a:spcAft>
            </a:pPr>
            <a:r>
              <a:rPr sz="1500" b="0">
                <a:solidFill>
                  <a:srgbClr val="282828"/>
                </a:solidFill>
                <a:latin typeface="Arial"/>
              </a:rPr>
              <a:t>•  Interferometer comparison column: templates/40_benches/tg_psi_dm96, run 10, S4, S5 (tg96_report.txt, tg96_s4_report.txt, tg96_s5noise_report.txt).</a:t>
            </a:r>
          </a:p>
          <a:p>
            <a:pPr>
              <a:spcAft>
                <a:spcPts val="600"/>
              </a:spcAft>
            </a:pPr>
            <a:r>
              <a:rPr sz="1500" b="0">
                <a:solidFill>
                  <a:srgbClr val="282828"/>
                </a:solidFill>
                <a:latin typeface="Arial"/>
              </a:rPr>
              <a:t>•  Literature scan (2026-09-09): macos/REPORT_zwfs_lit_scan.md — twelve papers, ranked, with the PZT verdict for the interferometer.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