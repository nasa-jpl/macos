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focus turns one camera frame into a wavefront measurement — set against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Campaign status: sensor model corrected (the early sensor was defocused); five readings measured on the corrected model, sampling closed at a 2048 grid, colour and photon pricing re-run; one parameterized runner reproduces every number; vector step pending.</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An etched dimple at the focus phase-shifts the heart of the beam; that light spreads back over the pupil as a built-in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transparent plate, one tiny etched spot.  At the focus, the core of the beam passes through the dimple and picks up a quarter-wave phase shift; everything outside misses it.  The shifted core light spreads back across the whole pupil image and interferes with the rest — a common-path interferometer with no second arm.</a:t>
            </a:r>
          </a:p>
          <a:p>
            <a:pPr>
              <a:spcAft>
                <a:spcPts val="600"/>
              </a:spcAft>
            </a:pPr>
            <a:r>
              <a:rPr sz="1200" b="0">
                <a:solidFill>
                  <a:srgbClr val="282828"/>
                </a:solidFill>
                <a:latin typeface="Arial"/>
              </a:rPr>
              <a:t>•  Pupil brightness becomes a phase map.  Near a quarter wave of shift, the camera intensity is close to linear in the wavefront: one frame per measurement, no moving parts, no polarization optics.  The exact per-pixel inversion (slide 6) removes the small-phase limit.</a:t>
            </a:r>
          </a:p>
          <a:p>
            <a:pPr>
              <a:spcAft>
                <a:spcPts val="600"/>
              </a:spcAft>
            </a:pPr>
            <a:r>
              <a:rPr sz="1200" b="0">
                <a:solidFill>
                  <a:srgbClr val="282828"/>
                </a:solidFill>
                <a:latin typeface="Arial"/>
              </a:rPr>
              <a:t>•  The two prices: the sensor cannot see piston and dims toward the very lowest spatial frequencies — the reference is made from the beam itself.  On the corrected model the dip sits at 0.5–1 cycle per aperture (gain 0.5 at 1 cycle); defocus and everything finer read near 1.</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footprint on its core (left); the mask itself — a 1.57 rad phase disk, edges gray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encircled energy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DM leg, same lenses — the reference arm and every polarization element simply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solved for the 96×96, 1 mm-pitch DM — splitter at 7°, clearance-solved legs, the retuned detector optics.  The dimple sits at the internal focus of the existing detector leg, in the mask seat the bench already carried; the camera still views the DM image.</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that discipline matters: when the two instruments are scored against each other, the only difference is the sensing principle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Representing a µm-scale mask at focus needs a diffraction bracket around that plane: two reference spheres, one before and one after the mask.  The two must carry the same radius — the finding on slide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modeled at its own numbers</a:t>
            </a:r>
          </a:p>
          <a:p>
            <a:pPr>
              <a:spcAft>
                <a:spcPts val="0"/>
              </a:spcAft>
            </a:pPr>
            <a:r>
              <a:rPr sz="1250" b="0">
                <a:solidFill>
                  <a:srgbClr val="6E6E6E"/>
                </a:solidFill>
                <a:latin typeface="Arial"/>
              </a:rPr>
              <a:t>346.2 nm of etch in fused silica = 1.571 rad at 632.8 nm; a 9-spot substrate, one spot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transmissive fused-silica substrate carrying a 3×3 array of etched dimples of graded diameter — the VSG2 wavefront-sensor mask.  Etch depth 346.2 nm → phase 2π(n−1)d/λ = 1.571 rad ≈ a quarter wave at 632.8 nm.  Translating the substrate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propagated field at the focal plane — edges area-weighted at 8× supersampling, the disk centered on the measured spot (the same alignment the real substrate gets by translation).  An exact identity checks it: the masked field equals the sum of the direct and dimple-diffracted parts to 15 digits, so the mask provably acts on the light.</a:t>
            </a:r>
          </a:p>
          <a:p>
            <a:pPr>
              <a:spcAft>
                <a:spcPts val="600"/>
              </a:spcAft>
            </a:pPr>
            <a:r>
              <a:rPr sz="1500" b="0">
                <a:solidFill>
                  <a:srgbClr val="282828"/>
                </a:solidFill>
                <a:latin typeface="Arial"/>
              </a:rPr>
              <a:t>•  Spot size selects the low band: measured on the corrected model, the 3.0 λF/D spot deepens the dimple's own dip below 2 cycles per aperture (gain 0.22 against 0.50 at 2.0 λF/D) and changes nothing above it; 2.0 λF/D is the spot of record.</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commanded on the DM comes back from one camera frame at gain 0.93 —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response chain, checked: dimple resolved at 6.3 px on the focal grid; masked frame = direct + diffracted parts at 3×10⁻¹⁶; core fraction 0.280.</a:t>
            </a:r>
          </a:p>
          <a:p>
            <a:pPr>
              <a:spcAft>
                <a:spcPts val="600"/>
              </a:spcAft>
            </a:pPr>
            <a:r>
              <a:rPr sz="1200" b="0">
                <a:solidFill>
                  <a:srgbClr val="282828"/>
                </a:solidFill>
                <a:latin typeface="Arial"/>
              </a:rPr>
              <a:t>•  The measurement: an 8 nm radial ripple on the DM, reconstructed from a single frame against the flat-state reference maps — gain 0.932, residual 0.45 nm, with the camera-to-DM mapping taken from traced rays (magnification 10.16, anamorphism 0.00%).</a:t>
            </a:r>
          </a:p>
          <a:p>
            <a:pPr>
              <a:spcAft>
                <a:spcPts val="600"/>
              </a:spcAft>
            </a:pPr>
            <a:r>
              <a:rPr sz="1200" b="0">
                <a:solidFill>
                  <a:srgbClr val="282828"/>
                </a:solidFill>
                <a:latin typeface="Arial"/>
              </a:rPr>
              <a:t>•  The control: the same DM state read without the dimple recovers gain −0.07 — plain pupil imaging is phase-blind; the signal is the dimple's.</a:t>
            </a:r>
          </a:p>
          <a:p>
            <a:pPr>
              <a:spcAft>
                <a:spcPts val="600"/>
              </a:spcAft>
            </a:pPr>
            <a:r>
              <a:rPr sz="1200" b="0">
                <a:solidFill>
                  <a:srgbClr val="282828"/>
                </a:solidFill>
                <a:latin typeface="Arial"/>
              </a:rPr>
              <a:t>•  Low orders are less trouble than presumed: defocus reads at 0.986 at full resolution.  The self-reference blindness lives at piston and tilt.</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figure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All numbers from zwfs_s1_report.txt (five checks, 20 s a run, development resolution) — taken on the sensor model later found defocused (next slide); the five checks are structural and stand.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defocused; corrected, the ringing goes away</a:t>
            </a:r>
          </a:p>
          <a:p>
            <a:pPr>
              <a:spcAft>
                <a:spcPts val="0"/>
              </a:spcAft>
            </a:pPr>
            <a:r>
              <a:rPr sz="1250" b="0">
                <a:solidFill>
                  <a:srgbClr val="6E6E6E"/>
                </a:solidFill>
                <a:latin typeface="Arial"/>
              </a:rPr>
              <a:t>The mask bracket's exit sphere carried the wrong radius — a 4.9 m Fresnel defocus of the pupil image under every S1–S6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bracketing the mask must share one radius so the unmasked round trip is the identity.  The emitted exit sphere sat at 23.9 mm against the entrance sphere's 352.7 mm; the engine's sphere-to-plane step then applied a focal quadratic phase — a Fresnel defocus of the pupil image by 4.86 m.  Found building the exact reconstructor, which needs the pupil amplitude to be state-independent.</a:t>
            </a:r>
          </a:p>
          <a:p>
            <a:pPr>
              <a:spcAft>
                <a:spcPts val="600"/>
              </a:spcAft>
            </a:pPr>
            <a:r>
              <a:rPr sz="1200" b="0">
                <a:solidFill>
                  <a:srgbClr val="282828"/>
                </a:solidFill>
                <a:latin typeface="Arial"/>
              </a:rPr>
              <a:t>•  The symptoms it explains: round trip 0.159 on a flat DM (now 1.8×10⁻¹⁵); a 30 nm DM state modulated the pupil amplitude by 29% rms (now 4×10⁻¹⁶); the single-actuator kernel rang (peak 0.27, ring −0.16; now 0.75, ring-free); a transfer null near 30 cycles per aperture — a Talbot null, predicted at 34.</a:t>
            </a:r>
          </a:p>
          <a:p>
            <a:pPr>
              <a:spcAft>
                <a:spcPts val="600"/>
              </a:spcAft>
            </a:pPr>
            <a:r>
              <a:rPr sz="1200" b="0">
                <a:solidFill>
                  <a:srgbClr val="282828"/>
                </a:solidFill>
                <a:latin typeface="Arial"/>
              </a:rPr>
              <a:t>•  What the correction alone buys (linear reading, 96×96, same frames): single-actuator floor on the 30 nm working surface 744 → 67 pm (SNR 9 → 80); the grid case the sensor could not detect goes from SNR 1.5 to 14; dense random 42 → 9.6 nm.</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modal transfer for the three reading classes against the legacy linear record (dashed) with its null; right: the single-actuator differential gain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legacy emission is kept as a builder option so the S1–S6 record reproduces byte for byte; the interferometer twin traces the same tail geometrically and was never affected.  Records: zwfs_s7iter_report.txt, README S7.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readings from the same camera frames</a:t>
            </a:r>
          </a:p>
          <a:p>
            <a:pPr>
              <a:spcAft>
                <a:spcPts val="0"/>
              </a:spcAft>
            </a:pPr>
            <a:r>
              <a:rPr sz="1250" b="0">
                <a:solidFill>
                  <a:srgbClr val="6E6E6E"/>
                </a:solidFill>
                <a:latin typeface="Arial"/>
              </a:rPr>
              <a:t>The exact inversion with an iterated reference wave and a one-time branch prior reads a 10 nm change to 26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linear (L, one frame, small-phase); exact with a frozen reference wave (F, one frame); exact with the reference wave re-propagated from the estimate through the mask model, five passes (I, one frame); I with the working surface's branch resolved once by a phase-stepped retrieval of the base, refined with the iterated reference (I+, one frame per measurement after four frames once); phase-stepped through three etch depths (S, four frames).  The reference-wave surrogate matches the engine's own field to 2×10⁻¹⁵.</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(raw / corrected)</a:t>
                      </a:r>
                    </a:p>
                  </a:txBody>
                  <a:tcPr marL="54864" marR="54864" marT="18288" marB="18288">
                    <a:solidFill>
                      <a:srgbClr val="FFFFFF"/>
                    </a:solidFill>
                  </a:tcPr>
                </a:tc>
                <a:tc>
                  <a:txBody>
                    <a:bodyPr wrap="square"/>
                    <a:lstStyle/>
                    <a:p>
                      <a:r>
                        <a:rPr sz="1100" b="0">
                          <a:solidFill>
                            <a:srgbClr val="282828"/>
                          </a:solidFill>
                          <a:latin typeface="Arial"/>
                        </a:rPr>
                        <a:t>0.41 / 0.40</a:t>
                      </a:r>
                    </a:p>
                  </a:txBody>
                  <a:tcPr marL="54864" marR="54864" marT="18288" marB="18288">
                    <a:solidFill>
                      <a:srgbClr val="FFFFFF"/>
                    </a:solidFill>
                  </a:tcPr>
                </a:tc>
                <a:tc>
                  <a:txBody>
                    <a:bodyPr wrap="square"/>
                    <a:lstStyle/>
                    <a:p>
                      <a:r>
                        <a:rPr sz="1100" b="0">
                          <a:solidFill>
                            <a:srgbClr val="282828"/>
                          </a:solidFill>
                          <a:latin typeface="Arial"/>
                        </a:rPr>
                        <a:t>0.91 / 0.94</a:t>
                      </a:r>
                    </a:p>
                  </a:txBody>
                  <a:tcPr marL="54864" marR="54864" marT="18288" marB="18288">
                    <a:solidFill>
                      <a:srgbClr val="FFFFFF"/>
                    </a:solidFill>
                  </a:tcPr>
                </a:tc>
                <a:tc>
                  <a:txBody>
                    <a:bodyPr wrap="square"/>
                    <a:lstStyle/>
                    <a:p>
                      <a:r>
                        <a:rPr sz="1100" b="0">
                          <a:solidFill>
                            <a:srgbClr val="282828"/>
                          </a:solidFill>
                          <a:latin typeface="Arial"/>
                        </a:rPr>
                        <a:t>1.01 / 1.04</a:t>
                      </a:r>
                    </a:p>
                  </a:txBody>
                  <a:tcPr marL="54864" marR="54864" marT="18288" marB="18288">
                    <a:solidFill>
                      <a:srgbClr val="FFFFFF"/>
                    </a:solidFill>
                  </a:tcPr>
                </a:tc>
                <a:tc>
                  <a:txBody>
                    <a:bodyPr wrap="square"/>
                    <a:lstStyle/>
                    <a:p>
                      <a:r>
                        <a:rPr sz="1100" b="0">
                          <a:solidFill>
                            <a:srgbClr val="282828"/>
                          </a:solidFill>
                          <a:latin typeface="Arial"/>
                        </a:rPr>
                        <a:t>0.91 / 0.95</a:t>
                      </a:r>
                    </a:p>
                  </a:txBody>
                  <a:tcPr marL="54864" marR="54864" marT="18288" marB="18288">
                    <a:solidFill>
                      <a:srgbClr val="FFFFFF"/>
                    </a:solidFill>
                  </a:tcPr>
                </a:tc>
                <a:tc>
                  <a:txBody>
                    <a:bodyPr wrap="square"/>
                    <a:lstStyle/>
                    <a:p>
                      <a:r>
                        <a:rPr sz="1100" b="0">
                          <a:solidFill>
                            <a:srgbClr val="282828"/>
                          </a:solidFill>
                          <a:latin typeface="Arial"/>
                        </a:rPr>
                        <a:t>0.75 / 0.89</a:t>
                      </a:r>
                    </a:p>
                  </a:txBody>
                  <a:tcPr marL="54864" marR="54864" marT="18288" marB="18288">
                    <a:solidFill>
                      <a:srgbClr val="FFFFFF"/>
                    </a:solidFill>
                  </a:tcPr>
                </a:tc>
              </a:tr>
              <a:tr h="280035">
                <a:tc>
                  <a:txBody>
                    <a:bodyPr wrap="square"/>
                    <a:lstStyle/>
                    <a:p>
                      <a:r>
                        <a:rPr sz="1100" b="0">
                          <a:solidFill>
                            <a:srgbClr val="282828"/>
                          </a:solidFill>
                          <a:latin typeface="Arial"/>
                        </a:rPr>
                        <a:t>floor over the unpoked actuators, pm (raw / corrected)</a:t>
                      </a:r>
                    </a:p>
                  </a:txBody>
                  <a:tcPr marL="54864" marR="54864" marT="18288" marB="18288">
                    <a:solidFill>
                      <a:srgbClr val="ECF1F6"/>
                    </a:solidFill>
                  </a:tcPr>
                </a:tc>
                <a:tc>
                  <a:txBody>
                    <a:bodyPr wrap="square"/>
                    <a:lstStyle/>
                    <a:p>
                      <a:r>
                        <a:rPr sz="1100" b="0">
                          <a:solidFill>
                            <a:srgbClr val="282828"/>
                          </a:solidFill>
                          <a:latin typeface="Arial"/>
                        </a:rPr>
                        <a:t>60 / 57</a:t>
                      </a:r>
                    </a:p>
                  </a:txBody>
                  <a:tcPr marL="54864" marR="54864" marT="18288" marB="18288">
                    <a:solidFill>
                      <a:srgbClr val="ECF1F6"/>
                    </a:solidFill>
                  </a:tcPr>
                </a:tc>
                <a:tc>
                  <a:txBody>
                    <a:bodyPr wrap="square"/>
                    <a:lstStyle/>
                    <a:p>
                      <a:r>
                        <a:rPr sz="1100" b="0">
                          <a:solidFill>
                            <a:srgbClr val="282828"/>
                          </a:solidFill>
                          <a:latin typeface="Arial"/>
                        </a:rPr>
                        <a:t>46 / 52</a:t>
                      </a:r>
                    </a:p>
                  </a:txBody>
                  <a:tcPr marL="54864" marR="54864" marT="18288" marB="18288">
                    <a:solidFill>
                      <a:srgbClr val="ECF1F6"/>
                    </a:solidFill>
                  </a:tcPr>
                </a:tc>
                <a:tc>
                  <a:txBody>
                    <a:bodyPr wrap="square"/>
                    <a:lstStyle/>
                    <a:p>
                      <a:r>
                        <a:rPr sz="1100" b="0">
                          <a:solidFill>
                            <a:srgbClr val="282828"/>
                          </a:solidFill>
                          <a:latin typeface="Arial"/>
                        </a:rPr>
                        <a:t>34 / 46</a:t>
                      </a:r>
                    </a:p>
                  </a:txBody>
                  <a:tcPr marL="54864" marR="54864" marT="18288" marB="18288">
                    <a:solidFill>
                      <a:srgbClr val="ECF1F6"/>
                    </a:solidFill>
                  </a:tcPr>
                </a:tc>
                <a:tc>
                  <a:txBody>
                    <a:bodyPr wrap="square"/>
                    <a:lstStyle/>
                    <a:p>
                      <a:r>
                        <a:rPr sz="1100" b="0">
                          <a:solidFill>
                            <a:srgbClr val="282828"/>
                          </a:solidFill>
                          <a:latin typeface="Arial"/>
                        </a:rPr>
                        <a:t>26 / 40</a:t>
                      </a:r>
                    </a:p>
                  </a:txBody>
                  <a:tcPr marL="54864" marR="54864" marT="18288" marB="18288">
                    <a:solidFill>
                      <a:srgbClr val="ECF1F6"/>
                    </a:solidFill>
                  </a:tcPr>
                </a:tc>
                <a:tc>
                  <a:txBody>
                    <a:bodyPr wrap="square"/>
                    <a:lstStyle/>
                    <a:p>
                      <a:r>
                        <a:rPr sz="1100" b="0">
                          <a:solidFill>
                            <a:srgbClr val="282828"/>
                          </a:solidFill>
                          <a:latin typeface="Arial"/>
                        </a:rPr>
                        <a:t>23 / 42</a:t>
                      </a:r>
                    </a:p>
                  </a:txBody>
                  <a:tcPr marL="54864" marR="54864" marT="18288" marB="18288">
                    <a:solidFill>
                      <a:srgbClr val="ECF1F6"/>
                    </a:solidFill>
                  </a:tcPr>
                </a:tc>
              </a:tr>
              <a:tr h="280035">
                <a:tc>
                  <a:txBody>
                    <a:bodyPr wrap="square"/>
                    <a:lstStyle/>
                    <a:p>
                      <a:r>
                        <a:rPr sz="1100" b="0">
                          <a:solidFill>
                            <a:srgbClr val="282828"/>
                          </a:solidFill>
                          <a:latin typeface="Arial"/>
                        </a:rPr>
                        <a:t>detection SNR (raw)</a:t>
                      </a:r>
                    </a:p>
                  </a:txBody>
                  <a:tcPr marL="54864" marR="54864" marT="18288" marB="18288">
                    <a:solidFill>
                      <a:srgbClr val="FFFFFF"/>
                    </a:solidFill>
                  </a:tcPr>
                </a:tc>
                <a:tc>
                  <a:txBody>
                    <a:bodyPr wrap="square"/>
                    <a:lstStyle/>
                    <a:p>
                      <a:r>
                        <a:rPr sz="1100" b="0">
                          <a:solidFill>
                            <a:srgbClr val="282828"/>
                          </a:solidFill>
                          <a:latin typeface="Arial"/>
                        </a:rPr>
                        <a:t>68</a:t>
                      </a:r>
                    </a:p>
                  </a:txBody>
                  <a:tcPr marL="54864" marR="54864" marT="18288" marB="18288">
                    <a:solidFill>
                      <a:srgbClr val="FFFFFF"/>
                    </a:solidFill>
                  </a:tcPr>
                </a:tc>
                <a:tc>
                  <a:txBody>
                    <a:bodyPr wrap="square"/>
                    <a:lstStyle/>
                    <a:p>
                      <a:r>
                        <a:rPr sz="1100" b="0">
                          <a:solidFill>
                            <a:srgbClr val="282828"/>
                          </a:solidFill>
                          <a:latin typeface="Arial"/>
                        </a:rPr>
                        <a:t>196</a:t>
                      </a:r>
                    </a:p>
                  </a:txBody>
                  <a:tcPr marL="54864" marR="54864" marT="18288" marB="18288">
                    <a:solidFill>
                      <a:srgbClr val="FFFFFF"/>
                    </a:solidFill>
                  </a:tcPr>
                </a:tc>
                <a:tc>
                  <a:txBody>
                    <a:bodyPr wrap="square"/>
                    <a:lstStyle/>
                    <a:p>
                      <a:r>
                        <a:rPr sz="1100" b="0">
                          <a:solidFill>
                            <a:srgbClr val="282828"/>
                          </a:solidFill>
                          <a:latin typeface="Arial"/>
                        </a:rPr>
                        <a:t>298</a:t>
                      </a:r>
                    </a:p>
                  </a:txBody>
                  <a:tcPr marL="54864" marR="54864" marT="18288" marB="18288">
                    <a:solidFill>
                      <a:srgbClr val="FFFFFF"/>
                    </a:solidFill>
                  </a:tcPr>
                </a:tc>
                <a:tc>
                  <a:txBody>
                    <a:bodyPr wrap="square"/>
                    <a:lstStyle/>
                    <a:p>
                      <a:r>
                        <a:rPr sz="1100" b="0">
                          <a:solidFill>
                            <a:srgbClr val="282828"/>
                          </a:solidFill>
                          <a:latin typeface="Arial"/>
                        </a:rPr>
                        <a:t>355</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on the same surface: SNR (raw)</a:t>
                      </a:r>
                    </a:p>
                  </a:txBody>
                  <a:tcPr marL="54864" marR="54864" marT="18288" marB="18288">
                    <a:solidFill>
                      <a:srgbClr val="ECF1F6"/>
                    </a:solidFill>
                  </a:tcPr>
                </a:tc>
                <a:tc>
                  <a:txBody>
                    <a:bodyPr wrap="square"/>
                    <a:lstStyle/>
                    <a:p>
                      <a:r>
                        <a:rPr sz="1100" b="0">
                          <a:solidFill>
                            <a:srgbClr val="282828"/>
                          </a:solidFill>
                          <a:latin typeface="Arial"/>
                        </a:rPr>
                        <a:t>13.6</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38.3</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branch is the one physical limit: with the true branch and the engine's own reference wave the solve is exact to 3×10⁻¹⁴; on the 30 nm surface 7.8% of pixels sit beyond the quarter-wave sensor's fold, and the refined prior finds them on 99.99% of pixels where the plain stepped prior misses 3% —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Compliant configuration (385 rays across, 2048 grid; slide 7); actuator-space scoring through the DM's influence model; "corrected" = after the measured modal transfer; interferometer on the same row: 0.92 / 46 pm.  Records: runs/m2048/m2048_report.txt.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the two interfaces pull opposite ways</a:t>
            </a:r>
          </a:p>
          <a:p>
            <a:pPr>
              <a:spcAft>
                <a:spcPts val="0"/>
              </a:spcAft>
            </a:pPr>
            <a:r>
              <a:rPr sz="1250" b="0">
                <a:solidFill>
                  <a:srgbClr val="6E6E6E"/>
                </a:solidFill>
                <a:latin typeface="Arial"/>
              </a:rPr>
              <a:t>Dimple pixels at the mask go as grid/rays, camera pixels per actuator as rays — only a larger grid buys both, and a 2048 grid fits the box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497330"/>
        </p:xfrm>
        <a:graphic>
          <a:graphicData uri="http://schemas.openxmlformats.org/drawingml/2006/table">
            <a:tbl>
              <a:tblPr firstRow="1" bandRow="1">
                <a:tableStyleId>{5C22544A-7EE6-4342-B048-85BDC9FD1C3A}</a:tableStyleId>
              </a:tblPr>
              <a:tblGrid>
                <a:gridCol w="1539056"/>
                <a:gridCol w="699571"/>
                <a:gridCol w="1049356"/>
                <a:gridCol w="909442"/>
                <a:gridCol w="160901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px per actuator</a:t>
                      </a:r>
                    </a:p>
                  </a:txBody>
                  <a:tcPr marL="54864" marR="54864" marT="18288" marB="18288">
                    <a:solidFill>
                      <a:srgbClr val="1F4E79"/>
                    </a:solidFill>
                  </a:tcPr>
                </a:tc>
                <a:tc>
                  <a:txBody>
                    <a:bodyPr wrap="square"/>
                    <a:lstStyle/>
                    <a:p>
                      <a:r>
                        <a:rPr sz="1100" b="1">
                          <a:solidFill>
                            <a:srgbClr val="FFFFFF"/>
                          </a:solidFill>
                          <a:latin typeface="Arial"/>
                        </a:rPr>
                        <a:t>hold-out gain</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280035">
                <a:tc>
                  <a:txBody>
                    <a:bodyPr wrap="square"/>
                    <a:lstStyle/>
                    <a:p>
                      <a:r>
                        <a:rPr sz="1100" b="0">
                          <a:solidFill>
                            <a:srgbClr val="282828"/>
                          </a:solidFill>
                          <a:latin typeface="Arial"/>
                        </a:rPr>
                        <a:t>193 / 1024 (record)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0.900</a:t>
                      </a:r>
                    </a:p>
                  </a:txBody>
                  <a:tcPr marL="54864" marR="54864" marT="18288" marB="18288">
                    <a:solidFill>
                      <a:srgbClr val="FFFFFF"/>
                    </a:solidFill>
                  </a:tcPr>
                </a:tc>
                <a:tc>
                  <a:txBody>
                    <a:bodyPr wrap="square"/>
                    <a:lstStyle/>
                    <a:p>
                      <a:r>
                        <a:rPr sz="1100" b="0">
                          <a:solidFill>
                            <a:srgbClr val="282828"/>
                          </a:solidFill>
                          <a:latin typeface="Arial"/>
                        </a:rPr>
                        <a:t>0.79, 13 pm, SNR 584</a:t>
                      </a:r>
                    </a:p>
                  </a:txBody>
                  <a:tcPr marL="54864" marR="54864" marT="18288" marB="18288">
                    <a:solidFill>
                      <a:srgbClr val="FFFFFF"/>
                    </a:solidFill>
                  </a:tcPr>
                </a:tc>
              </a:tr>
              <a:tr h="280035">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0.935</a:t>
                      </a:r>
                    </a:p>
                  </a:txBody>
                  <a:tcPr marL="54864" marR="54864" marT="18288" marB="18288">
                    <a:solidFill>
                      <a:srgbClr val="ECF1F6"/>
                    </a:solidFill>
                  </a:tcPr>
                </a:tc>
                <a:tc>
                  <a:txBody>
                    <a:bodyPr wrap="square"/>
                    <a:lstStyle/>
                    <a:p>
                      <a:r>
                        <a:rPr sz="1100" b="0">
                          <a:solidFill>
                            <a:srgbClr val="282828"/>
                          </a:solidFill>
                          <a:latin typeface="Arial"/>
                        </a:rPr>
                        <a:t>0.91, 25 pm, SNR 359</a:t>
                      </a:r>
                    </a:p>
                  </a:txBody>
                  <a:tcPr marL="54864" marR="54864" marT="18288" marB="18288">
                    <a:solidFill>
                      <a:srgbClr val="ECF1F6"/>
                    </a:solidFill>
                  </a:tcPr>
                </a:tc>
              </a:tr>
              <a:tr h="468630">
                <a:tc>
                  <a:txBody>
                    <a:bodyPr wrap="square"/>
                    <a:lstStyle/>
                    <a:p>
                      <a:r>
                        <a:rPr sz="1100" b="0">
                          <a:solidFill>
                            <a:srgbClr val="282828"/>
                          </a:solidFill>
                          <a:latin typeface="Arial"/>
                        </a:rPr>
                        <a:t>385 / 2048 (compliant)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0.935</a:t>
                      </a:r>
                    </a:p>
                  </a:txBody>
                  <a:tcPr marL="54864" marR="54864" marT="18288" marB="18288">
                    <a:solidFill>
                      <a:srgbClr val="FFFFFF"/>
                    </a:solidFill>
                  </a:tcPr>
                </a:tc>
                <a:tc>
                  <a:txBody>
                    <a:bodyPr wrap="square"/>
                    <a:lstStyle/>
                    <a:p>
                      <a:r>
                        <a:rPr sz="1100" b="0">
                          <a:solidFill>
                            <a:srgbClr val="282828"/>
                          </a:solidFill>
                          <a:latin typeface="Arial"/>
                        </a:rPr>
                        <a:t>0.91, 26 pm, SNR 355</a:t>
                      </a:r>
                    </a:p>
                  </a:txBody>
                  <a:tcPr marL="54864" marR="54864" marT="18288" marB="18288">
                    <a:solidFill>
                      <a:srgbClr val="FFFFFF"/>
                    </a:solidFill>
                  </a:tcPr>
                </a:tc>
              </a:tr>
            </a:tbl>
          </a:graphicData>
        </a:graphic>
      </p:graphicFrame>
      <p:sp>
        <p:nvSpPr>
          <p:cNvPr id="5" name="TextBox 4"/>
          <p:cNvSpPr txBox="1"/>
          <p:nvPr/>
        </p:nvSpPr>
        <p:spPr>
          <a:xfrm>
            <a:off x="411480" y="2942082"/>
            <a:ext cx="5806440" cy="274320"/>
          </a:xfrm>
          <a:prstGeom prst="rect">
            <a:avLst/>
          </a:prstGeom>
          <a:noFill/>
        </p:spPr>
        <p:txBody>
          <a:bodyPr wrap="square">
            <a:spAutoFit/>
          </a:bodyPr>
          <a:lstStyle/>
          <a:p>
            <a:pPr>
              <a:spcAft>
                <a:spcPts val="600"/>
              </a:spcAft>
            </a:pPr>
            <a:r>
              <a:rPr sz="1200" b="0">
                <a:solidFill>
                  <a:srgbClr val="282828"/>
                </a:solidFill>
                <a:latin typeface="Arial"/>
              </a:rPr>
              <a:t>•  The rule: mask-plane pixels per λ/D = 0.74 × grid / rays; camera pixels per actuator ∝ rays.  Halving the ray count doubles focal resolution and halves pupil sampling.</a:t>
            </a:r>
          </a:p>
          <a:p>
            <a:pPr>
              <a:spcAft>
                <a:spcPts val="600"/>
              </a:spcAft>
            </a:pPr>
            <a:r>
              <a:rPr sz="1200" b="0">
                <a:solidFill>
                  <a:srgbClr val="282828"/>
                </a:solidFill>
                <a:latin typeface="Arial"/>
              </a:rPr>
              <a:t>•  What it settled: the hold-out gain is set by the ray count and not by the dimple's sampling — identical at the 4-px and 8-px dimple, identical at spot 3.0.  The remaining 6.5% is neither; the suspect is the kernel's variation between the centre, where it is measured, and the held-out site.</a:t>
            </a:r>
          </a:p>
          <a:p>
            <a:pPr>
              <a:spcAft>
                <a:spcPts val="600"/>
              </a:spcAft>
            </a:pPr>
            <a:r>
              <a:rPr sz="1200" b="0">
                <a:solidFill>
                  <a:srgbClr val="282828"/>
                </a:solidFill>
                <a:latin typeface="Arial"/>
              </a:rPr>
              <a:t>•  The 2048 grid runs on a 30 GB machine through a trimmed engine size table dropped into the run directory (grid-surface slots 200 → 4 saves 1.7 GB): 32 min,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compliant configuration (385 rays, 2048 grid): modal transfer per reading class (left) and the working-surface ladder per reading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Hold-out = a single 20 nm actuator away from the calibration site, raw gain through the measured kernel.  I+ row values raw.  Records: runs/rec193, runs/ng385, runs/ng385s3, runs/m2048.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Working-surface range, measured on 47 sites at once</a:t>
            </a:r>
          </a:p>
          <a:p>
            <a:pPr>
              <a:spcAft>
                <a:spcPts val="0"/>
              </a:spcAft>
            </a:pPr>
            <a:r>
              <a:rPr sz="1250" b="0">
                <a:solidFill>
                  <a:srgbClr val="6E6E6E"/>
                </a:solidFill>
                <a:latin typeface="Arial"/>
              </a:rPr>
              <a:t>The one-frame reading with the base prior holds to 40 nm rms on 1 mm actuators and 50 nm on 2 mm; the four-frame reading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8168335"/>
                <a:gridCol w="800100"/>
                <a:gridCol w="800100"/>
                <a:gridCol w="800100"/>
                <a:gridCol w="800100"/>
              </a:tblGrid>
              <a:tr h="280035">
                <a:tc>
                  <a:txBody>
                    <a:bodyPr wrap="square"/>
                    <a:lstStyle/>
                    <a:p>
                      <a:r>
                        <a:rPr sz="1100" b="1">
                          <a:solidFill>
                            <a:srgbClr val="FFFFFF"/>
                          </a:solidFill>
                          <a:latin typeface="Arial"/>
                        </a:rPr>
                        <a:t>10 nm changes on 47 grid sites; gain (SNR) vs working-surface rms</a:t>
                      </a:r>
                    </a:p>
                  </a:txBody>
                  <a:tcPr marL="54864" marR="54864" marT="18288" marB="18288">
                    <a:solidFill>
                      <a:srgbClr val="1F4E79"/>
                    </a:solidFill>
                  </a:tcPr>
                </a:tc>
                <a:tc>
                  <a:txBody>
                    <a:bodyPr wrap="square"/>
                    <a:lstStyle/>
                    <a:p>
                      <a:r>
                        <a:rPr sz="1100" b="1">
                          <a:solidFill>
                            <a:srgbClr val="FFFFFF"/>
                          </a:solidFill>
                          <a:latin typeface="Arial"/>
                        </a:rPr>
                        <a:t>30 nm</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280035">
                <a:tc>
                  <a:txBody>
                    <a:bodyPr wrap="square"/>
                    <a:lstStyle/>
                    <a:p>
                      <a:r>
                        <a:rPr sz="1100" b="0">
                          <a:solidFill>
                            <a:srgbClr val="282828"/>
                          </a:solidFill>
                          <a:latin typeface="Arial"/>
                        </a:rPr>
                        <a:t>96×96, 1 mm pitch — I+ (one frame)</a:t>
                      </a:r>
                    </a:p>
                  </a:txBody>
                  <a:tcPr marL="54864" marR="54864" marT="18288" marB="18288">
                    <a:solidFill>
                      <a:srgbClr val="FFFFFF"/>
                    </a:solidFill>
                  </a:tcPr>
                </a:tc>
                <a:tc>
                  <a:txBody>
                    <a:bodyPr wrap="square"/>
                    <a:lstStyle/>
                    <a:p>
                      <a:r>
                        <a:rPr sz="1100" b="0">
                          <a:solidFill>
                            <a:srgbClr val="282828"/>
                          </a:solidFill>
                          <a:latin typeface="Arial"/>
                        </a:rPr>
                        <a:t>0.81 (26)</a:t>
                      </a:r>
                    </a:p>
                  </a:txBody>
                  <a:tcPr marL="54864" marR="54864" marT="18288" marB="18288">
                    <a:solidFill>
                      <a:srgbClr val="FFFFFF"/>
                    </a:solidFill>
                  </a:tcPr>
                </a:tc>
                <a:tc>
                  <a:txBody>
                    <a:bodyPr wrap="square"/>
                    <a:lstStyle/>
                    <a:p>
                      <a:r>
                        <a:rPr sz="1100" b="0">
                          <a:solidFill>
                            <a:srgbClr val="282828"/>
                          </a:solidFill>
                          <a:latin typeface="Arial"/>
                        </a:rPr>
                        <a:t>0.85 (30)</a:t>
                      </a:r>
                    </a:p>
                  </a:txBody>
                  <a:tcPr marL="54864" marR="54864" marT="18288" marB="18288">
                    <a:solidFill>
                      <a:srgbClr val="FFFFFF"/>
                    </a:solidFill>
                  </a:tcPr>
                </a:tc>
                <a:tc>
                  <a:txBody>
                    <a:bodyPr wrap="square"/>
                    <a:lstStyle/>
                    <a:p>
                      <a:r>
                        <a:rPr sz="1100" b="0">
                          <a:solidFill>
                            <a:srgbClr val="282828"/>
                          </a:solidFill>
                          <a:latin typeface="Arial"/>
                        </a:rPr>
                        <a:t>0.76 (9)</a:t>
                      </a:r>
                    </a:p>
                  </a:txBody>
                  <a:tcPr marL="54864" marR="54864" marT="18288" marB="18288">
                    <a:solidFill>
                      <a:srgbClr val="FFFFFF"/>
                    </a:solidFill>
                  </a:tcPr>
                </a:tc>
                <a:tc>
                  <a:txBody>
                    <a:bodyPr wrap="square"/>
                    <a:lstStyle/>
                    <a:p>
                      <a:r>
                        <a:rPr sz="1100" b="0">
                          <a:solidFill>
                            <a:srgbClr val="282828"/>
                          </a:solidFill>
                          <a:latin typeface="Arial"/>
                        </a:rPr>
                        <a:t>0.31 (1)</a:t>
                      </a:r>
                    </a:p>
                  </a:txBody>
                  <a:tcPr marL="54864" marR="54864" marT="18288" marB="18288">
                    <a:solidFill>
                      <a:srgbClr val="FFFFFF"/>
                    </a:solidFill>
                  </a:tcPr>
                </a:tc>
              </a:tr>
              <a:tr h="280035">
                <a:tc>
                  <a:txBody>
                    <a:bodyPr wrap="square"/>
                    <a:lstStyle/>
                    <a:p>
                      <a:r>
                        <a:rPr sz="1100" b="0">
                          <a:solidFill>
                            <a:srgbClr val="282828"/>
                          </a:solidFill>
                          <a:latin typeface="Arial"/>
                        </a:rPr>
                        <a:t>96×96 — S (four frames)</a:t>
                      </a:r>
                    </a:p>
                  </a:txBody>
                  <a:tcPr marL="54864" marR="54864" marT="18288" marB="18288">
                    <a:solidFill>
                      <a:srgbClr val="ECF1F6"/>
                    </a:solidFill>
                  </a:tcPr>
                </a:tc>
                <a:tc>
                  <a:txBody>
                    <a:bodyPr wrap="square"/>
                    <a:lstStyle/>
                    <a:p>
                      <a:r>
                        <a:rPr sz="1100" b="0">
                          <a:solidFill>
                            <a:srgbClr val="282828"/>
                          </a:solidFill>
                          <a:latin typeface="Arial"/>
                        </a:rPr>
                        <a:t>0.92 (29)</a:t>
                      </a:r>
                    </a:p>
                  </a:txBody>
                  <a:tcPr marL="54864" marR="54864" marT="18288" marB="18288">
                    <a:solidFill>
                      <a:srgbClr val="ECF1F6"/>
                    </a:solidFill>
                  </a:tcPr>
                </a:tc>
                <a:tc>
                  <a:txBody>
                    <a:bodyPr wrap="square"/>
                    <a:lstStyle/>
                    <a:p>
                      <a:r>
                        <a:rPr sz="1100" b="0">
                          <a:solidFill>
                            <a:srgbClr val="282828"/>
                          </a:solidFill>
                          <a:latin typeface="Arial"/>
                        </a:rPr>
                        <a:t>0.84 (27)</a:t>
                      </a:r>
                    </a:p>
                  </a:txBody>
                  <a:tcPr marL="54864" marR="54864" marT="18288" marB="18288">
                    <a:solidFill>
                      <a:srgbClr val="ECF1F6"/>
                    </a:solidFill>
                  </a:tcPr>
                </a:tc>
                <a:tc>
                  <a:txBody>
                    <a:bodyPr wrap="square"/>
                    <a:lstStyle/>
                    <a:p>
                      <a:r>
                        <a:rPr sz="1100" b="0">
                          <a:solidFill>
                            <a:srgbClr val="282828"/>
                          </a:solidFill>
                          <a:latin typeface="Arial"/>
                        </a:rPr>
                        <a:t>0.83 (17)</a:t>
                      </a:r>
                    </a:p>
                  </a:txBody>
                  <a:tcPr marL="54864" marR="54864" marT="18288" marB="18288">
                    <a:solidFill>
                      <a:srgbClr val="ECF1F6"/>
                    </a:solidFill>
                  </a:tcPr>
                </a:tc>
                <a:tc>
                  <a:txBody>
                    <a:bodyPr wrap="square"/>
                    <a:lstStyle/>
                    <a:p>
                      <a:r>
                        <a:rPr sz="1100" b="0">
                          <a:solidFill>
                            <a:srgbClr val="282828"/>
                          </a:solidFill>
                          <a:latin typeface="Arial"/>
                        </a:rPr>
                        <a:t>0.66 (10)</a:t>
                      </a:r>
                    </a:p>
                  </a:txBody>
                  <a:tcPr marL="54864" marR="54864" marT="18288" marB="18288">
                    <a:solidFill>
                      <a:srgbClr val="ECF1F6"/>
                    </a:solidFill>
                  </a:tcPr>
                </a:tc>
              </a:tr>
              <a:tr h="280035">
                <a:tc>
                  <a:txBody>
                    <a:bodyPr wrap="square"/>
                    <a:lstStyle/>
                    <a:p>
                      <a:r>
                        <a:rPr sz="1100" b="0">
                          <a:solidFill>
                            <a:srgbClr val="282828"/>
                          </a:solidFill>
                          <a:latin typeface="Arial"/>
                        </a:rPr>
                        <a:t>48×48, 2 mm pitch — I+</a:t>
                      </a:r>
                    </a:p>
                  </a:txBody>
                  <a:tcPr marL="54864" marR="54864" marT="18288" marB="18288">
                    <a:solidFill>
                      <a:srgbClr val="FFFFFF"/>
                    </a:solidFill>
                  </a:tcPr>
                </a:tc>
                <a:tc>
                  <a:txBody>
                    <a:bodyPr wrap="square"/>
                    <a:lstStyle/>
                    <a:p>
                      <a:r>
                        <a:rPr sz="1100" b="0">
                          <a:solidFill>
                            <a:srgbClr val="282828"/>
                          </a:solidFill>
                          <a:latin typeface="Arial"/>
                        </a:rPr>
                        <a:t>0.89 (56)</a:t>
                      </a:r>
                    </a:p>
                  </a:txBody>
                  <a:tcPr marL="54864" marR="54864" marT="18288" marB="18288">
                    <a:solidFill>
                      <a:srgbClr val="FFFFFF"/>
                    </a:solidFill>
                  </a:tcPr>
                </a:tc>
                <a:tc>
                  <a:txBody>
                    <a:bodyPr wrap="square"/>
                    <a:lstStyle/>
                    <a:p>
                      <a:r>
                        <a:rPr sz="1100" b="0">
                          <a:solidFill>
                            <a:srgbClr val="282828"/>
                          </a:solidFill>
                          <a:latin typeface="Arial"/>
                        </a:rPr>
                        <a:t>0.80 (41)</a:t>
                      </a:r>
                    </a:p>
                  </a:txBody>
                  <a:tcPr marL="54864" marR="54864" marT="18288" marB="18288">
                    <a:solidFill>
                      <a:srgbClr val="FFFFFF"/>
                    </a:solidFill>
                  </a:tcPr>
                </a:tc>
                <a:tc>
                  <a:txBody>
                    <a:bodyPr wrap="square"/>
                    <a:lstStyle/>
                    <a:p>
                      <a:r>
                        <a:rPr sz="1100" b="0">
                          <a:solidFill>
                            <a:srgbClr val="282828"/>
                          </a:solidFill>
                          <a:latin typeface="Arial"/>
                        </a:rPr>
                        <a:t>0.84 (40)</a:t>
                      </a:r>
                    </a:p>
                  </a:txBody>
                  <a:tcPr marL="54864" marR="54864" marT="18288" marB="18288">
                    <a:solidFill>
                      <a:srgbClr val="FFFFFF"/>
                    </a:solidFill>
                  </a:tcPr>
                </a:tc>
                <a:tc>
                  <a:txBody>
                    <a:bodyPr wrap="square"/>
                    <a:lstStyle/>
                    <a:p>
                      <a:r>
                        <a:rPr sz="1100" b="0">
                          <a:solidFill>
                            <a:srgbClr val="282828"/>
                          </a:solidFill>
                          <a:latin typeface="Arial"/>
                        </a:rPr>
                        <a:t>0.83 (3)</a:t>
                      </a:r>
                    </a:p>
                  </a:txBody>
                  <a:tcPr marL="54864" marR="54864" marT="18288" marB="18288">
                    <a:solidFill>
                      <a:srgbClr val="FFFFFF"/>
                    </a:solidFill>
                  </a:tcPr>
                </a:tc>
              </a:tr>
              <a:tr h="280035">
                <a:tc>
                  <a:txBody>
                    <a:bodyPr wrap="square"/>
                    <a:lstStyle/>
                    <a:p>
                      <a:r>
                        <a:rPr sz="1100" b="0">
                          <a:solidFill>
                            <a:srgbClr val="282828"/>
                          </a:solidFill>
                          <a:latin typeface="Arial"/>
                        </a:rPr>
                        <a:t>48×48 — S</a:t>
                      </a:r>
                    </a:p>
                  </a:txBody>
                  <a:tcPr marL="54864" marR="54864" marT="18288" marB="18288">
                    <a:solidFill>
                      <a:srgbClr val="ECF1F6"/>
                    </a:solidFill>
                  </a:tcPr>
                </a:tc>
                <a:tc>
                  <a:txBody>
                    <a:bodyPr wrap="square"/>
                    <a:lstStyle/>
                    <a:p>
                      <a:r>
                        <a:rPr sz="1100" b="0">
                          <a:solidFill>
                            <a:srgbClr val="282828"/>
                          </a:solidFill>
                          <a:latin typeface="Arial"/>
                        </a:rPr>
                        <a:t>0.89 (50)</a:t>
                      </a:r>
                    </a:p>
                  </a:txBody>
                  <a:tcPr marL="54864" marR="54864" marT="18288" marB="18288">
                    <a:solidFill>
                      <a:srgbClr val="ECF1F6"/>
                    </a:solidFill>
                  </a:tcPr>
                </a:tc>
                <a:tc>
                  <a:txBody>
                    <a:bodyPr wrap="square"/>
                    <a:lstStyle/>
                    <a:p>
                      <a:r>
                        <a:rPr sz="1100" b="0">
                          <a:solidFill>
                            <a:srgbClr val="282828"/>
                          </a:solidFill>
                          <a:latin typeface="Arial"/>
                        </a:rPr>
                        <a:t>0.83 (44)</a:t>
                      </a:r>
                    </a:p>
                  </a:txBody>
                  <a:tcPr marL="54864" marR="54864" marT="18288" marB="18288">
                    <a:solidFill>
                      <a:srgbClr val="ECF1F6"/>
                    </a:solidFill>
                  </a:tcPr>
                </a:tc>
                <a:tc>
                  <a:txBody>
                    <a:bodyPr wrap="square"/>
                    <a:lstStyle/>
                    <a:p>
                      <a:r>
                        <a:rPr sz="1100" b="0">
                          <a:solidFill>
                            <a:srgbClr val="282828"/>
                          </a:solidFill>
                          <a:latin typeface="Arial"/>
                        </a:rPr>
                        <a:t>0.99 (16)</a:t>
                      </a:r>
                    </a:p>
                  </a:txBody>
                  <a:tcPr marL="54864" marR="54864" marT="18288" marB="18288">
                    <a:solidFill>
                      <a:srgbClr val="ECF1F6"/>
                    </a:solidFill>
                  </a:tcPr>
                </a:tc>
                <a:tc>
                  <a:txBody>
                    <a:bodyPr wrap="square"/>
                    <a:lstStyle/>
                    <a:p>
                      <a:r>
                        <a:rPr sz="1100" b="0">
                          <a:solidFill>
                            <a:srgbClr val="282828"/>
                          </a:solidFill>
                          <a:latin typeface="Arial"/>
                        </a:rPr>
                        <a:t>0.55 (11)</a:t>
                      </a:r>
                    </a:p>
                  </a:txBody>
                  <a:tcPr marL="54864" marR="54864" marT="18288" marB="18288">
                    <a:solidFill>
                      <a:srgbClr val="ECF1F6"/>
                    </a:solidFill>
                  </a:tcPr>
                </a:tc>
              </a:tr>
            </a:tbl>
          </a:graphicData>
        </a:graphic>
      </p:graphicFrame>
      <p:sp>
        <p:nvSpPr>
          <p:cNvPr id="5" name="TextBox 4"/>
          <p:cNvSpPr txBox="1"/>
          <p:nvPr/>
        </p:nvSpPr>
        <p:spPr>
          <a:xfrm>
            <a:off x="411480" y="2844927"/>
            <a:ext cx="11368735" cy="274320"/>
          </a:xfrm>
          <a:prstGeom prst="rect">
            <a:avLst/>
          </a:prstGeom>
          <a:noFill/>
        </p:spPr>
        <p:txBody>
          <a:bodyPr wrap="square">
            <a:spAutoFit/>
          </a:bodyPr>
          <a:lstStyle/>
          <a:p>
            <a:pPr>
              <a:spcAft>
                <a:spcPts val="600"/>
              </a:spcAft>
            </a:pPr>
            <a:r>
              <a:rPr sz="1500" b="0">
                <a:solidFill>
                  <a:srgbClr val="282828"/>
                </a:solidFill>
                <a:latin typeface="Arial"/>
              </a:rPr>
              <a:t>•  Why the earlier "holds to 60 nm" moved: it was one actuator at one site.  On 47 sites the reading fails where a subset of sites falls beyond the fold, and the floor jumps from 0.3 to 3 nm — the collapse is visible as the floor, not as the gain.  Past 120 nm rms every reading aliases (the stepped retrieval itself wraps).</a:t>
            </a:r>
          </a:p>
          <a:p>
            <a:pPr>
              <a:spcAft>
                <a:spcPts val="600"/>
              </a:spcAft>
            </a:pPr>
            <a:r>
              <a:rPr sz="1500" b="0">
                <a:solidFill>
                  <a:srgbClr val="282828"/>
                </a:solidFill>
                <a:latin typeface="Arial"/>
              </a:rPr>
              <a:t>•  Doctrine, updated: the one-frame reading with the refined base prior owns working surfaces to 40 nm rms (1 mm actuators) or 50 nm (2 mm); the four-frame stepped reading extends to 50–60 nm and owns dense commands; the interferometer owns everything beyond (it does not fold to 480 nm).</a:t>
            </a:r>
          </a:p>
        </p:txBody>
      </p:sp>
      <p:sp>
        <p:nvSpPr>
          <p:cNvPr id="6" name="TextBox 5"/>
          <p:cNvSpPr txBox="1"/>
          <p:nvPr/>
        </p:nvSpPr>
        <p:spPr>
          <a:xfrm>
            <a:off x="411480" y="4647819"/>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rms of the unpoked actuators under 47 simultaneous 10 nm pokes (their crosstalk), a different quantity from the single-site floor on slide 6.  Compliant configuration; record: runs/m2048.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Colour is no longer a lever</a:t>
            </a:r>
          </a:p>
          <a:p>
            <a:pPr>
              <a:spcAft>
                <a:spcPts val="0"/>
              </a:spcAft>
            </a:pPr>
            <a:r>
              <a:rPr sz="1250" b="0">
                <a:solidFill>
                  <a:srgbClr val="6E6E6E"/>
                </a:solidFill>
                <a:latin typeface="Arial"/>
              </a:rPr>
              <a:t>With the transfer null gone, five colours lift the combined transfer 3% instead of 3×, and the combination is neutral or worse on the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Modal transfer of the linear reading at five wavelengths on the corrected model: no null, only the dimple's low-order dip that moves with the spot's size in λ/D; the five-colour combination (orange) sits at 0.99–1.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per aperture that migrates with wavelength" was the defocused sensor's Talbot null.  On the corrected model the five single-colour transfers bottom at 0.92–0.97 after the Wiener step and the combination at 0.991.</a:t>
            </a:r>
          </a:p>
          <a:p>
            <a:pPr>
              <a:spcAft>
                <a:spcPts val="600"/>
              </a:spcAft>
            </a:pPr>
            <a:r>
              <a:rPr sz="1200" b="0">
                <a:solidFill>
                  <a:srgbClr val="282828"/>
                </a:solidFill>
                <a:latin typeface="Arial"/>
              </a:rPr>
              <a:t>•  On the rows (30 nm working surface, single 10 nm change): I+ at 632.8 nm SNR 269, five-colour combination 183, best pair 700+780 nm 255; the 47-site case 32 → 32.  The linear reading gets worse under combination (84 → 34): at 480 nm the dimple is 2.1 rad and the small-phase reading turns negative on this surface, and an equal-weight combiner inherits it.</a:t>
            </a:r>
          </a:p>
          <a:p>
            <a:pPr>
              <a:spcAft>
                <a:spcPts val="600"/>
              </a:spcAft>
            </a:pPr>
            <a:r>
              <a:rPr sz="1200" b="0">
                <a:solidFill>
                  <a:srgbClr val="282828"/>
                </a:solidFill>
                <a:latin typeface="Arial"/>
              </a:rPr>
              <a:t>•  What stays chromatic is range: 780 nm is the best single colour on nearly every row — a smaller phase per nanometre of height and a 1.6 λ/D dimple.  The interferometer is unchanged at every colour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colour; record configuration (193 rays, 1024 grid); runs/rec193full.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DM state reaches 1 pm</a:t>
            </a:r>
          </a:p>
          <a:p>
            <a:pPr>
              <a:spcAft>
                <a:spcPts val="0"/>
              </a:spcAft>
            </a:pPr>
            <a:r>
              <a:rPr sz="1250" b="0">
                <a:solidFill>
                  <a:srgbClr val="6E6E6E"/>
                </a:solidFill>
                <a:latin typeface="Arial"/>
              </a:rPr>
              <a:t>Every reading prices within a factor of three, 25× cheaper than the defocused sensor's pricing; the branch prior's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DM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203575"/>
                <a:gridCol w="3191384"/>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frozen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iterated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 refined base prior (I+)</a:t>
                      </a:r>
                    </a:p>
                  </a:txBody>
                  <a:tcPr marL="54864" marR="54864" marT="18288" marB="18288">
                    <a:solidFill>
                      <a:srgbClr val="ECF1F6"/>
                    </a:solidFill>
                  </a:tcPr>
                </a:tc>
                <a:tc>
                  <a:txBody>
                    <a:bodyPr wrap="square"/>
                    <a:lstStyle/>
                    <a:p>
                      <a:r>
                        <a:rPr sz="1000" b="0">
                          <a:solidFill>
                            <a:srgbClr val="282828"/>
                          </a:solidFill>
                          <a:latin typeface="Arial"/>
                        </a:rPr>
                        <a:t>8.8×10¹³ (8.4×10¹³ with a noiseless prior)</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Method: noiseless frames captured once per state, shot noise added numerically, eight realizations per point; the photon budget per state is shared by a reading's frames (one, or four).  Each reading's high-photon floor converges to its systematic floor on slide 6.</a:t>
            </a:r>
          </a:p>
          <a:p>
            <a:pPr>
              <a:spcAft>
                <a:spcPts val="600"/>
              </a:spcAft>
            </a:pPr>
            <a:r>
              <a:rPr sz="1200" b="0">
                <a:solidFill>
                  <a:srgbClr val="282828"/>
                </a:solidFill>
                <a:latin typeface="Arial"/>
              </a:rPr>
              <a:t>•  Reading: 10¹⁴ photons at 633 nm is 30 µJ — the 1 pm budget is systematics and gain stability, not light.</a:t>
            </a:r>
          </a:p>
        </p:txBody>
      </p:sp>
      <p:sp>
        <p:nvSpPr>
          <p:cNvPr id="8" name="TextBox 7"/>
          <p:cNvSpPr txBox="1"/>
          <p:nvPr/>
        </p:nvSpPr>
        <p:spPr>
          <a:xfrm>
            <a:off x="6400800" y="4790694"/>
            <a:ext cx="5394960" cy="274320"/>
          </a:xfrm>
          <a:prstGeom prst="rect">
            <a:avLst/>
          </a:prstGeom>
          <a:noFill/>
        </p:spPr>
        <p:txBody>
          <a:bodyPr wrap="square">
            <a:spAutoFit/>
          </a:bodyPr>
          <a:lstStyle/>
          <a:p>
            <a:pPr>
              <a:spcAft>
                <a:spcPts val="600"/>
              </a:spcAft>
            </a:pPr>
            <a:r>
              <a:rPr sz="1050" b="0">
                <a:solidFill>
                  <a:srgbClr val="6E6E6E"/>
                </a:solidFill>
                <a:latin typeface="Arial"/>
              </a:rPr>
              <a:t>Scenario: the head-to-head row (single 10 nm change on the 30 nm working surface, 96×96, record configuration).  Read noise, drift and calibration noise are the next terms once a use case fixes them.  Records: runs/rec193full; interferometer tg96_s5noise_report.txt.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entry point reproduce every number here; the defaults reproduce the S7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knob at its value of record — engine grid and ray count, wavelength, the bench's lengths and tuned figures, the mask's etch and spot, the sampling budget, registration, the DM configurations, the battery's amplitudes and seeds, the colour and noise stages; zwfs_run.m runs the selected stages and writes the report, a .mat and the figures into a run folder named by its tag.</a:t>
            </a:r>
          </a:p>
        </p:txBody>
      </p:sp>
      <p:graphicFrame>
        <p:nvGraphicFramePr>
          <p:cNvPr id="5" name="Table 4"/>
          <p:cNvGraphicFramePr>
            <a:graphicFrameLocks noGrp="1"/>
          </p:cNvGraphicFramePr>
          <p:nvPr/>
        </p:nvGraphicFramePr>
        <p:xfrm>
          <a:off x="411480" y="2465831"/>
          <a:ext cx="11368734" cy="1680210"/>
        </p:xfrm>
        <a:graphic>
          <a:graphicData uri="http://schemas.openxmlformats.org/drawingml/2006/table">
            <a:tbl>
              <a:tblPr firstRow="1" bandRow="1">
                <a:tableStyleId>{5C22544A-7EE6-4342-B048-85BDC9FD1C3A}</a:tableStyleId>
              </a:tblPr>
              <a:tblGrid>
                <a:gridCol w="6936855"/>
                <a:gridCol w="4431879"/>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battery,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 Mpix-class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compliant configuration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headless,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round trip through the mask bracket (must be the identity), the reference-wave surrogate against the engine's field, the pupil amplitude's independence of the DM state, the sampling budget (dimple pixels; pixels per actuator), and the parity/sign search of the camera-to-DM registration.</a:t>
            </a:r>
          </a:p>
        </p:txBody>
      </p:sp>
      <p:sp>
        <p:nvSpPr>
          <p:cNvPr id="7" name="TextBox 6"/>
          <p:cNvSpPr txBox="1"/>
          <p:nvPr/>
        </p:nvSpPr>
        <p:spPr>
          <a:xfrm>
            <a:off x="411480" y="5212080"/>
            <a:ext cx="11368735" cy="274320"/>
          </a:xfrm>
          <a:prstGeom prst="rect">
            <a:avLst/>
          </a:prstGeom>
          <a:noFill/>
        </p:spPr>
        <p:txBody>
          <a:bodyPr wrap="square">
            <a:spAutoFit/>
          </a:bodyPr>
          <a:lstStyle/>
          <a:p>
            <a:pPr>
              <a:spcAft>
                <a:spcPts val="600"/>
              </a:spcAft>
            </a:pPr>
            <a:r>
              <a:rPr sz="1050" b="0">
                <a:solidFill>
                  <a:srgbClr val="6E6E6E"/>
                </a:solidFill>
                <a:latin typeface="Arial"/>
              </a:rPr>
              <a:t>Equivalence check: 64 row and ladder lines against the S7 report, 8 differ in the last printed digit (the actuator fit's solver tolerance).  README "Run it yourself" carries the parameter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dims at fine patterns and never folds; the sensor reads a change from one frame at the same floor and folds past 40–60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00350"/>
        </p:xfrm>
        <a:graphic>
          <a:graphicData uri="http://schemas.openxmlformats.org/drawingml/2006/table">
            <a:tbl>
              <a:tblPr firstRow="1" bandRow="1">
                <a:tableStyleId>{5C22544A-7EE6-4342-B048-85BDC9FD1C3A}</a:tableStyleId>
              </a:tblPr>
              <a:tblGrid>
                <a:gridCol w="3315881"/>
                <a:gridCol w="3552729"/>
                <a:gridCol w="4500124"/>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280035">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camera frame (I+; base 4 frames once)</a:t>
                      </a:r>
                    </a:p>
                  </a:txBody>
                  <a:tcPr marL="54864" marR="54864" marT="18288" marB="18288">
                    <a:solidFill>
                      <a:srgbClr val="ECF1F6"/>
                    </a:solidFill>
                  </a:tcPr>
                </a:tc>
              </a:tr>
              <a:tr h="280035">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280035">
                <a:tc>
                  <a:txBody>
                    <a:bodyPr wrap="square"/>
                    <a:lstStyle/>
                    <a:p>
                      <a:r>
                        <a:rPr sz="1100" b="0">
                          <a:solidFill>
                            <a:srgbClr val="282828"/>
                          </a:solidFill>
                          <a:latin typeface="Arial"/>
                        </a:rPr>
                        <a:t>response rolls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0.5–1 cycle per aperture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working-surface range</a:t>
                      </a:r>
                    </a:p>
                  </a:txBody>
                  <a:tcPr marL="54864" marR="54864" marT="18288" marB="18288">
                    <a:solidFill>
                      <a:srgbClr val="FFFFFF"/>
                    </a:solidFill>
                  </a:tcPr>
                </a:tc>
                <a:tc>
                  <a:txBody>
                    <a:bodyPr wrap="square"/>
                    <a:lstStyle/>
                    <a:p>
                      <a:r>
                        <a:rPr sz="1100" b="0">
                          <a:solidFill>
                            <a:srgbClr val="282828"/>
                          </a:solidFill>
                          <a:latin typeface="Arial"/>
                        </a:rPr>
                        <a:t>to 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280035">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0.92, floor 46 pm</a:t>
                      </a:r>
                    </a:p>
                  </a:txBody>
                  <a:tcPr marL="54864" marR="54864" marT="18288" marB="18288">
                    <a:solidFill>
                      <a:srgbClr val="ECF1F6"/>
                    </a:solidFill>
                  </a:tcPr>
                </a:tc>
                <a:tc>
                  <a:txBody>
                    <a:bodyPr wrap="square"/>
                    <a:lstStyle/>
                    <a:p>
                      <a:r>
                        <a:rPr sz="1100" b="0">
                          <a:solidFill>
                            <a:srgbClr val="282828"/>
                          </a:solidFill>
                          <a:latin typeface="Arial"/>
                        </a:rPr>
                        <a:t>0.91, floor 26 pm (I+,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0.4–1×10¹⁴</a:t>
                      </a:r>
                    </a:p>
                  </a:txBody>
                  <a:tcPr marL="54864" marR="54864" marT="18288" marB="18288">
                    <a:solidFill>
                      <a:srgbClr val="FFFFFF"/>
                    </a:solidFill>
                  </a:tcPr>
                </a:tc>
              </a:tr>
            </a:tbl>
          </a:graphicData>
        </a:graphic>
      </p:graphicFrame>
      <p:sp>
        <p:nvSpPr>
          <p:cNvPr id="5" name="TextBox 4"/>
          <p:cNvSpPr txBox="1"/>
          <p:nvPr/>
        </p:nvSpPr>
        <p:spPr>
          <a:xfrm>
            <a:off x="411480" y="424510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high spatial frequency; the Zernike sensor measures small changes on a small working surface more cheaply — one frame, no polarization train, a floor on par or better — and pays at the lowest spatial frequencies and in range.</a:t>
            </a:r>
          </a:p>
        </p:txBody>
      </p:sp>
      <p:sp>
        <p:nvSpPr>
          <p:cNvPr id="6" name="TextBox 5"/>
          <p:cNvSpPr txBox="1"/>
          <p:nvPr/>
        </p:nvSpPr>
        <p:spPr>
          <a:xfrm>
            <a:off x="411480" y="516483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the compliant configuration (slide 7) except photons (record configuration).  Both in actuator space through the same estimator code (dm_gauge_lib).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an iterated reference wave — is now built and measured (slide 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the campaign's measured weak results.  Synopses and links: macos/REPORT_zwfs_lit_scan.md.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states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The model correction was the bigger lever; the primed iterated reading is the best one-frame reading; colour and photons are not the budget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sensor model must keep the pupil DM-conjugate: the diffraction bracket's two spheres share one radius, and the runner checks the round trip every time.  The correction alone took the single-actuator floor from 744 to 67 pm and made the undetected grid case detectable.</a:t>
            </a:r>
          </a:p>
          <a:p>
            <a:pPr>
              <a:spcAft>
                <a:spcPts val="600"/>
              </a:spcAft>
            </a:pPr>
            <a:r>
              <a:rPr sz="1500" b="0">
                <a:solidFill>
                  <a:srgbClr val="282828"/>
                </a:solidFill>
                <a:latin typeface="Arial"/>
              </a:rPr>
              <a:t>•  The exact reading with an iterated reference wave is the import that paid (paper 1): 26 pm from one frame on a 30 nm working surface, SNR 355 — with the branch resolved once by four stepped frames of the base, refined with the iterated reference.  The plain stepped prior misses 3% of pixels and can flip a single actuator's sign.</a:t>
            </a:r>
          </a:p>
          <a:p>
            <a:pPr>
              <a:spcAft>
                <a:spcPts val="600"/>
              </a:spcAft>
            </a:pPr>
            <a:r>
              <a:rPr sz="1500" b="0">
                <a:solidFill>
                  <a:srgbClr val="282828"/>
                </a:solidFill>
                <a:latin typeface="Arial"/>
              </a:rPr>
              <a:t>•  Sampling is closed: camera pixels per actuator (the ray count) set the hold-out gain; the dimple's own sampling did not move an actuator-space number at 4 px against 8 px.  The remaining 6.5% of hold-out gain is the next thing to measure — the kernel at the held-out site.</a:t>
            </a:r>
          </a:p>
          <a:p>
            <a:pPr>
              <a:spcAft>
                <a:spcPts val="600"/>
              </a:spcAft>
            </a:pPr>
            <a:r>
              <a:rPr sz="1500" b="0">
                <a:solidFill>
                  <a:srgbClr val="282828"/>
                </a:solidFill>
                <a:latin typeface="Arial"/>
              </a:rPr>
              <a:t>•  Colour and photons are not levers: the chromatic null was the defocus; 10¹⁴ photons per state reaches 1 pm.  The budget is systematics: the 25–60 pm floors and gain stability.</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Runner and records: templates/40_benches/zwfs_dm96 (README S7/S8; runs/rec193, ng385, ng385s3, m2048, rec193full).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the follow-on imports, in order</a:t>
            </a:r>
          </a:p>
          <a:p>
            <a:pPr>
              <a:spcAft>
                <a:spcPts val="0"/>
              </a:spcAft>
            </a:pPr>
            <a:r>
              <a:rPr sz="1250" b="0">
                <a:solidFill>
                  <a:srgbClr val="6E6E6E"/>
                </a:solidFill>
                <a:latin typeface="Arial"/>
              </a:rPr>
              <a:t>The JPL budget form, model-matched DM calibration, the vector sensor priced before it is built — and the interferometer's own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per-pixel sensitivity factor from the measured fields predicts the photon-noise stage analytically, and the four systematic terms (pupil calibration at ½, reference wave at 1, dimple depth, initial phase) become the rows of the error budget.</a:t>
            </a:r>
          </a:p>
          <a:p>
            <a:pPr>
              <a:spcAft>
                <a:spcPts val="600"/>
              </a:spcAft>
            </a:pPr>
            <a:r>
              <a:rPr sz="1500" b="0">
                <a:solidFill>
                  <a:srgbClr val="282828"/>
                </a:solidFill>
                <a:latin typeface="Arial"/>
              </a:rPr>
              <a:t>•  Calibrate the DM through the sensor's own image model: fit actuator positions and gains by matching sensor images of poke grids to a simulation that includes the propagation distances — the out-of-conjugate case, and the named suspect for the hold-out gain.  The interferometer's detector sits off the DM conjugate after the null-tuned tail, so this is its lever too.</a:t>
            </a:r>
          </a:p>
          <a:p>
            <a:pPr>
              <a:spcAft>
                <a:spcPts val="600"/>
              </a:spcAft>
            </a:pPr>
            <a:r>
              <a:rPr sz="1500" b="0">
                <a:solidFill>
                  <a:srgbClr val="282828"/>
                </a:solidFill>
                <a:latin typeface="Arial"/>
              </a:rPr>
              <a:t>•  Colour as a joint fit, not a combination: the equal-weight combination inherits a bad channel; a joint per-wavelength fit through the exact reading would use 700–780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colour-independent — but on hardware an absolute phase scale and freedom from polarization systematics; the recommended form is a hybrid: polarization snapshot for the differential measurements, a PZT on the reference flat as calibrator.  Its reflective (OAP) variant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colour results</a:t>
            </a:r>
          </a:p>
          <a:p>
            <a:pPr>
              <a:spcAft>
                <a:spcPts val="0"/>
              </a:spcAft>
            </a:pPr>
            <a:r>
              <a:rPr sz="1250" b="0">
                <a:solidFill>
                  <a:srgbClr val="6E6E6E"/>
                </a:solidFill>
                <a:latin typeface="Arial"/>
              </a:rPr>
              <a:t>Kept for the record; every number on this slide is from the defocused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pushed 20 nm on the defocused sensor: the sensed blob is broadened and dimmed — gain 0.445, 0.29 nm rms error; the ring is the 4.9 m Fresnel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amplitude on the same sensor: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band-select lever (poke gain 0.45 / 0.59 / −0.38 at spots 2.0 / 3.0 / 1.06) and the kernel calibration recovered a 0.90 hold-out gain; both were measured on the ringed kernel.  On the corrected model the raw kernel peak is 0.75 (linear) and 0.93 (exact) and the spot only moves the low-order dip.</a:t>
            </a:r>
          </a:p>
          <a:p>
            <a:pPr>
              <a:spcAft>
                <a:spcPts val="600"/>
              </a:spcAft>
            </a:pPr>
            <a:r>
              <a:rPr sz="1500" b="0">
                <a:solidFill>
                  <a:srgbClr val="282828"/>
                </a:solidFill>
                <a:latin typeface="Arial"/>
              </a:rPr>
              <a:t>•  The colour claim ("five colours fill the blind band; single-actuator floor 720 → 224 pm") was the Talbot null moving as 1/λ.  On the corrected model the null is absent and colour is not a lever (main slide 9).</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legacy emission ('nf_legacy') reproduces them byte for byte.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runner (zwfs_params.m, zwfs_run.m, zwfs_run_figs.m, zwfs_run_batch.m, zwfs_batch.sh, macos_param_2048.txt) and its runs (runs/rec193 = the S7 equivalence check; ng385, ng385s3, m2048 = the sampling configurations; rec193full = colour + noise);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earned in S1, recorded so they are not re-derived: the stock detector leg is ray-traced (geometric) at the mask plane — a λ/D-scale mask needs the reference-sphere diffraction bracket (a builder option, default off, existing decks bit-identical, suites green); the mask must sit at the optimized lens's real focus (−5.58 mm from the thin-lens seed); the camera-to-DM frame must come from traced rays — a support-area estimate was 25% off.</a:t>
            </a:r>
          </a:p>
          <a:p>
            <a:pPr>
              <a:spcAft>
                <a:spcPts val="600"/>
              </a:spcAft>
            </a:pPr>
            <a:r>
              <a:rPr sz="1500" b="0">
                <a:solidFill>
                  <a:srgbClr val="282828"/>
                </a:solidFill>
                <a:latin typeface="Arial"/>
              </a:rPr>
              <a:t>•  The S7 correction: the bracket's exit sphere now carries the entrance sphere's radius ('nf'); 'nf_legacy' reproduces the S1–S6 emission; the interferometer twin is geometric at the mask and unaffected.</a:t>
            </a:r>
          </a:p>
          <a:p>
            <a:pPr>
              <a:spcAft>
                <a:spcPts val="600"/>
              </a:spcAft>
            </a:pPr>
            <a:r>
              <a:rPr sz="1500" b="0">
                <a:solidFill>
                  <a:srgbClr val="282828"/>
                </a:solidFill>
                <a:latin typeface="Arial"/>
              </a:rPr>
              <a:t>•  Sign convention checked by a negative control: surface height = −φ·λ/4π on this deck (single reflection doubles height).</a:t>
            </a:r>
          </a:p>
          <a:p>
            <a:pPr>
              <a:spcAft>
                <a:spcPts val="600"/>
              </a:spcAft>
            </a:pPr>
            <a:r>
              <a:rPr sz="1500" b="0">
                <a:solidFill>
                  <a:srgbClr val="282828"/>
                </a:solidFill>
                <a:latin typeface="Arial"/>
              </a:rPr>
              <a:t>•  Scoring: actuator space through the DM influence model, one library for both instruments (dm_gauge_lib: registration, actuator fit, modal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