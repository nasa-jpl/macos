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center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center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385_mask.png"/>
          <p:cNvPicPr>
            <a:picLocks noChangeAspect="1"/>
          </p:cNvPicPr>
          <p:nvPr/>
        </p:nvPicPr>
        <p:blipFill>
          <a:blip r:embed="rId2"/>
          <a:stretch>
            <a:fillRect/>
          </a:stretch>
        </p:blipFill>
        <p:spPr>
          <a:xfrm>
            <a:off x="6400800" y="1298448"/>
            <a:ext cx="5394960" cy="2258865"/>
          </a:xfrm>
          <a:prstGeom prst="rect">
            <a:avLst/>
          </a:prstGeom>
        </p:spPr>
      </p:pic>
      <p:sp>
        <p:nvSpPr>
          <p:cNvPr id="6" name="TextBox 5"/>
          <p:cNvSpPr txBox="1"/>
          <p:nvPr/>
        </p:nvSpPr>
        <p:spPr>
          <a:xfrm>
            <a:off x="6400800" y="3575601"/>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DM's focal spot (log scale) with the dimple's footprint on its core, and the mask's phase, at the sampling the deck's numbers use: 3.96 px per λF/D, the 2.0 λF/D dimple 7.9 px across (385 rays, 2048 grid).  The runner's own figure, runs/mask385.</a:t>
            </a:r>
          </a:p>
        </p:txBody>
      </p:sp>
      <p:sp>
        <p:nvSpPr>
          <p:cNvPr id="7" name="TextBox 6"/>
          <p:cNvSpPr txBox="1"/>
          <p:nvPr/>
        </p:nvSpPr>
        <p:spPr>
          <a:xfrm>
            <a:off x="6400800" y="4171485"/>
            <a:ext cx="5394960" cy="274320"/>
          </a:xfrm>
          <a:prstGeom prst="rect">
            <a:avLst/>
          </a:prstGeom>
          <a:noFill/>
        </p:spPr>
        <p:txBody>
          <a:bodyPr wrap="square">
            <a:spAutoFit/>
          </a:bodyPr>
          <a:lstStyle/>
          <a:p>
            <a:pPr>
              <a:spcAft>
                <a:spcPts val="600"/>
              </a:spcAft>
            </a:pPr>
            <a:r>
              <a:rPr sz="1050" b="0">
                <a:solidFill>
                  <a:srgbClr val="6E6E6E"/>
                </a:solidFill>
                <a:latin typeface="Arial"/>
              </a:rPr>
              <a:t>The dimple encloses 70.7% of the focused light; the sampling budget asks for at least 6 px across it (slide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picometers.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Measurement and frame: a measurement is one DM shape measured once; it takes one camera frame for the one-frame readings and four for the stepped reading.  Measuring a change costs two measurements (before and after).  Photon budgets are quoted per measurement, all its frames summed.</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centered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center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center the fit uses.  Sampled at the center,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large a working surface each reading holds to 10%</a:t>
            </a:r>
          </a:p>
          <a:p>
            <a:pPr>
              <a:spcAft>
                <a:spcPts val="0"/>
              </a:spcAft>
            </a:pPr>
            <a:r>
              <a:rPr sz="1250" b="0">
                <a:solidFill>
                  <a:srgbClr val="6E6E6E"/>
                </a:solidFill>
                <a:latin typeface="Arial"/>
              </a:rPr>
              <a:t>The devices will not run at null.  With a calibration aging from a 30 nm surface the polarized pair holds to 70 nm rms and the scalar readings to about 40; re-measured on the surface, every reading holds its gain to 160 nm and pays 5 to 40× in photons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5995"/>
        </p:xfrm>
        <a:graphic>
          <a:graphicData uri="http://schemas.openxmlformats.org/drawingml/2006/table">
            <a:tbl>
              <a:tblPr firstRow="1" bandRow="1">
                <a:tableStyleId>{5C22544A-7EE6-4342-B048-85BDC9FD1C3A}</a:tableStyleId>
              </a:tblPr>
              <a:tblGrid>
                <a:gridCol w="4737257"/>
                <a:gridCol w="509524"/>
                <a:gridCol w="436880"/>
                <a:gridCol w="436880"/>
                <a:gridCol w="436880"/>
                <a:gridCol w="436880"/>
                <a:gridCol w="2035048"/>
                <a:gridCol w="2339386"/>
              </a:tblGrid>
              <a:tr h="468630">
                <a:tc>
                  <a:txBody>
                    <a:bodyPr wrap="square"/>
                    <a:lstStyle/>
                    <a:p>
                      <a:r>
                        <a:rPr sz="1100" b="1">
                          <a:solidFill>
                            <a:srgbClr val="FFFFFF"/>
                          </a:solidFill>
                          <a:latin typeface="Arial"/>
                        </a:rPr>
                        <a:t>gain on 47 changes of 10 nm, matrix measured once on the 30 nm surface (385 rays)</a:t>
                      </a:r>
                    </a:p>
                  </a:txBody>
                  <a:tcPr marL="54864" marR="54864" marT="18288" marB="18288">
                    <a:solidFill>
                      <a:srgbClr val="1F4E79"/>
                    </a:solidFill>
                  </a:tcPr>
                </a:tc>
                <a:tc>
                  <a:txBody>
                    <a:bodyPr wrap="square"/>
                    <a:lstStyle/>
                    <a:p>
                      <a:r>
                        <a:rPr sz="1100" b="1">
                          <a:solidFill>
                            <a:srgbClr val="FFFFFF"/>
                          </a:solidFill>
                          <a:latin typeface="Arial"/>
                        </a:rPr>
                        <a:t>30 nm</a:t>
                      </a:r>
                    </a:p>
                  </a:txBody>
                  <a:tcPr marL="54864" marR="54864" marT="18288" marB="18288">
                    <a:solidFill>
                      <a:srgbClr val="1F4E79"/>
                    </a:solidFill>
                  </a:tcPr>
                </a:tc>
                <a:tc>
                  <a:txBody>
                    <a:bodyPr wrap="square"/>
                    <a:lstStyle/>
                    <a:p>
                      <a:r>
                        <a:rPr sz="1100" b="1">
                          <a:solidFill>
                            <a:srgbClr val="FFFFFF"/>
                          </a:solidFill>
                          <a:latin typeface="Arial"/>
                        </a:rPr>
                        <a:t>40</a:t>
                      </a:r>
                    </a:p>
                  </a:txBody>
                  <a:tcPr marL="54864" marR="54864" marT="18288" marB="18288">
                    <a:solidFill>
                      <a:srgbClr val="1F4E79"/>
                    </a:solidFill>
                  </a:tcPr>
                </a:tc>
                <a:tc>
                  <a:txBody>
                    <a:bodyPr wrap="square"/>
                    <a:lstStyle/>
                    <a:p>
                      <a:r>
                        <a:rPr sz="1100" b="1">
                          <a:solidFill>
                            <a:srgbClr val="FFFFFF"/>
                          </a:solidFill>
                          <a:latin typeface="Arial"/>
                        </a:rPr>
                        <a:t>50</a:t>
                      </a:r>
                    </a:p>
                  </a:txBody>
                  <a:tcPr marL="54864" marR="54864" marT="18288" marB="18288">
                    <a:solidFill>
                      <a:srgbClr val="1F4E79"/>
                    </a:solidFill>
                  </a:tcPr>
                </a:tc>
                <a:tc>
                  <a:txBody>
                    <a:bodyPr wrap="square"/>
                    <a:lstStyle/>
                    <a:p>
                      <a:r>
                        <a:rPr sz="1100" b="1">
                          <a:solidFill>
                            <a:srgbClr val="FFFFFF"/>
                          </a:solidFill>
                          <a:latin typeface="Arial"/>
                        </a:rPr>
                        <a:t>60</a:t>
                      </a:r>
                    </a:p>
                  </a:txBody>
                  <a:tcPr marL="54864" marR="54864" marT="18288" marB="18288">
                    <a:solidFill>
                      <a:srgbClr val="1F4E79"/>
                    </a:solidFill>
                  </a:tcPr>
                </a:tc>
                <a:tc>
                  <a:txBody>
                    <a:bodyPr wrap="square"/>
                    <a:lstStyle/>
                    <a:p>
                      <a:r>
                        <a:rPr sz="1100" b="1">
                          <a:solidFill>
                            <a:srgbClr val="FFFFFF"/>
                          </a:solidFill>
                          <a:latin typeface="Arial"/>
                        </a:rPr>
                        <a:t>80</a:t>
                      </a:r>
                    </a:p>
                  </a:txBody>
                  <a:tcPr marL="54864" marR="54864" marT="18288" marB="18288">
                    <a:solidFill>
                      <a:srgbClr val="1F4E79"/>
                    </a:solidFill>
                  </a:tcPr>
                </a:tc>
                <a:tc>
                  <a:txBody>
                    <a:bodyPr wrap="square"/>
                    <a:lstStyle/>
                    <a:p>
                      <a:r>
                        <a:rPr sz="1100" b="1">
                          <a:solidFill>
                            <a:srgbClr val="FFFFFF"/>
                          </a:solidFill>
                          <a:latin typeface="Arial"/>
                        </a:rPr>
                        <a:t>100</a:t>
                      </a:r>
                    </a:p>
                  </a:txBody>
                  <a:tcPr marL="54864" marR="54864" marT="18288" marB="18288">
                    <a:solidFill>
                      <a:srgbClr val="1F4E79"/>
                    </a:solidFill>
                  </a:tcPr>
                </a:tc>
                <a:tc>
                  <a:txBody>
                    <a:bodyPr wrap="square"/>
                    <a:lstStyle/>
                    <a:p>
                      <a:r>
                        <a:rPr sz="1100" b="1">
                          <a:solidFill>
                            <a:srgbClr val="FFFFFF"/>
                          </a:solidFill>
                          <a:latin typeface="Arial"/>
                        </a:rPr>
                        <a:t>holds to 10% up to</a:t>
                      </a:r>
                    </a:p>
                  </a:txBody>
                  <a:tcPr marL="54864" marR="54864" marT="18288" marB="18288">
                    <a:solidFill>
                      <a:srgbClr val="1F4E79"/>
                    </a:solidFill>
                  </a:tcPr>
                </a:tc>
              </a:tr>
              <a:tr h="468630">
                <a:tc>
                  <a:txBody>
                    <a:bodyPr wrap="square"/>
                    <a:lstStyle/>
                    <a:p>
                      <a:r>
                        <a:rPr sz="1100" b="0">
                          <a:solidFill>
                            <a:srgbClr val="282828"/>
                          </a:solidFill>
                          <a:latin typeface="Arial"/>
                        </a:rPr>
                        <a:t>linear, one frame (L)</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0.96</a:t>
                      </a:r>
                    </a:p>
                  </a:txBody>
                  <a:tcPr marL="54864" marR="54864" marT="18288" marB="18288">
                    <a:solidFill>
                      <a:srgbClr val="FFFFFF"/>
                    </a:solidFill>
                  </a:tcPr>
                </a:tc>
                <a:tc>
                  <a:txBody>
                    <a:bodyPr wrap="square"/>
                    <a:lstStyle/>
                    <a:p>
                      <a:r>
                        <a:rPr sz="1100" b="0">
                          <a:solidFill>
                            <a:srgbClr val="282828"/>
                          </a:solidFill>
                          <a:latin typeface="Arial"/>
                        </a:rPr>
                        <a:t>0.83</a:t>
                      </a:r>
                    </a:p>
                  </a:txBody>
                  <a:tcPr marL="54864" marR="54864" marT="18288" marB="18288">
                    <a:solidFill>
                      <a:srgbClr val="FFFFFF"/>
                    </a:solidFill>
                  </a:tcPr>
                </a:tc>
                <a:tc>
                  <a:txBody>
                    <a:bodyPr wrap="square"/>
                    <a:lstStyle/>
                    <a:p>
                      <a:r>
                        <a:rPr sz="1100" b="0">
                          <a:solidFill>
                            <a:srgbClr val="282828"/>
                          </a:solidFill>
                          <a:latin typeface="Arial"/>
                        </a:rPr>
                        <a:t>0.68</a:t>
                      </a:r>
                    </a:p>
                  </a:txBody>
                  <a:tcPr marL="54864" marR="54864" marT="18288" marB="18288">
                    <a:solidFill>
                      <a:srgbClr val="FFFFFF"/>
                    </a:solidFill>
                  </a:tcPr>
                </a:tc>
                <a:tc>
                  <a:txBody>
                    <a:bodyPr wrap="square"/>
                    <a:lstStyle/>
                    <a:p>
                      <a:r>
                        <a:rPr sz="1100" b="0">
                          <a:solidFill>
                            <a:srgbClr val="282828"/>
                          </a:solidFill>
                          <a:latin typeface="Arial"/>
                        </a:rPr>
                        <a:t>0.39</a:t>
                      </a:r>
                    </a:p>
                  </a:txBody>
                  <a:tcPr marL="54864" marR="54864" marT="18288" marB="18288">
                    <a:solidFill>
                      <a:srgbClr val="FFFFFF"/>
                    </a:solidFill>
                  </a:tcPr>
                </a:tc>
                <a:tc>
                  <a:txBody>
                    <a:bodyPr wrap="square"/>
                    <a:lstStyle/>
                    <a:p>
                      <a:r>
                        <a:rPr sz="1100" b="0">
                          <a:solidFill>
                            <a:srgbClr val="282828"/>
                          </a:solidFill>
                          <a:latin typeface="Arial"/>
                        </a:rPr>
                        <a:t>0.19</a:t>
                      </a:r>
                    </a:p>
                  </a:txBody>
                  <a:tcPr marL="54864" marR="54864" marT="18288" marB="18288">
                    <a:solidFill>
                      <a:srgbClr val="FFFFFF"/>
                    </a:solidFill>
                  </a:tcPr>
                </a:tc>
                <a:tc>
                  <a:txBody>
                    <a:bodyPr wrap="square"/>
                    <a:lstStyle/>
                    <a:p>
                      <a:r>
                        <a:rPr sz="1100" b="0">
                          <a:solidFill>
                            <a:srgbClr val="282828"/>
                          </a:solidFill>
                          <a:latin typeface="Arial"/>
                        </a:rPr>
                        <a:t>44 nm (32 with the matrix from the flat)</a:t>
                      </a:r>
                    </a:p>
                  </a:txBody>
                  <a:tcPr marL="54864" marR="54864" marT="18288" marB="18288">
                    <a:solidFill>
                      <a:srgbClr val="FFFFFF"/>
                    </a:solidFill>
                  </a:tcPr>
                </a:tc>
              </a:tr>
              <a:tr h="280035">
                <a:tc>
                  <a:txBody>
                    <a:bodyPr wrap="square"/>
                    <a:lstStyle/>
                    <a:p>
                      <a:r>
                        <a:rPr sz="1100" b="0">
                          <a:solidFill>
                            <a:srgbClr val="282828"/>
                          </a:solidFill>
                          <a:latin typeface="Arial"/>
                        </a:rPr>
                        <a:t>exact, one frame (I+)</a:t>
                      </a:r>
                    </a:p>
                  </a:txBody>
                  <a:tcPr marL="54864" marR="54864" marT="18288" marB="18288">
                    <a:solidFill>
                      <a:srgbClr val="ECF1F6"/>
                    </a:solidFill>
                  </a:tcPr>
                </a:tc>
                <a:tc>
                  <a:txBody>
                    <a:bodyPr wrap="square"/>
                    <a:lstStyle/>
                    <a:p>
                      <a:r>
                        <a:rPr sz="1100" b="0">
                          <a:solidFill>
                            <a:srgbClr val="282828"/>
                          </a:solidFill>
                          <a:latin typeface="Arial"/>
                        </a:rPr>
                        <a:t>0.96</a:t>
                      </a:r>
                    </a:p>
                  </a:txBody>
                  <a:tcPr marL="54864" marR="54864" marT="18288" marB="18288">
                    <a:solidFill>
                      <a:srgbClr val="ECF1F6"/>
                    </a:solidFill>
                  </a:tcPr>
                </a:tc>
                <a:tc>
                  <a:txBody>
                    <a:bodyPr wrap="square"/>
                    <a:lstStyle/>
                    <a:p>
                      <a:r>
                        <a:rPr sz="1100" b="0">
                          <a:solidFill>
                            <a:srgbClr val="282828"/>
                          </a:solidFill>
                          <a:latin typeface="Arial"/>
                        </a:rPr>
                        <a:t>0.87</a:t>
                      </a:r>
                    </a:p>
                  </a:txBody>
                  <a:tcPr marL="54864" marR="54864" marT="18288" marB="18288">
                    <a:solidFill>
                      <a:srgbClr val="ECF1F6"/>
                    </a:solidFill>
                  </a:tcPr>
                </a:tc>
                <a:tc>
                  <a:txBody>
                    <a:bodyPr wrap="square"/>
                    <a:lstStyle/>
                    <a:p>
                      <a:r>
                        <a:rPr sz="1100" b="0">
                          <a:solidFill>
                            <a:srgbClr val="282828"/>
                          </a:solidFill>
                          <a:latin typeface="Arial"/>
                        </a:rPr>
                        <a:t>0.66</a:t>
                      </a:r>
                    </a:p>
                  </a:txBody>
                  <a:tcPr marL="54864" marR="54864" marT="18288" marB="18288">
                    <a:solidFill>
                      <a:srgbClr val="ECF1F6"/>
                    </a:solidFill>
                  </a:tcPr>
                </a:tc>
                <a:tc>
                  <a:txBody>
                    <a:bodyPr wrap="square"/>
                    <a:lstStyle/>
                    <a:p>
                      <a:r>
                        <a:rPr sz="1100" b="0">
                          <a:solidFill>
                            <a:srgbClr val="282828"/>
                          </a:solidFill>
                          <a:latin typeface="Arial"/>
                        </a:rPr>
                        <a:t>0.54</a:t>
                      </a:r>
                    </a:p>
                  </a:txBody>
                  <a:tcPr marL="54864" marR="54864" marT="18288" marB="18288">
                    <a:solidFill>
                      <a:srgbClr val="ECF1F6"/>
                    </a:solidFill>
                  </a:tcPr>
                </a:tc>
                <a:tc>
                  <a:txBody>
                    <a:bodyPr wrap="square"/>
                    <a:lstStyle/>
                    <a:p>
                      <a:r>
                        <a:rPr sz="1100" b="0">
                          <a:solidFill>
                            <a:srgbClr val="282828"/>
                          </a:solidFill>
                          <a:latin typeface="Arial"/>
                        </a:rPr>
                        <a:t>0.26</a:t>
                      </a:r>
                    </a:p>
                  </a:txBody>
                  <a:tcPr marL="54864" marR="54864" marT="18288" marB="18288">
                    <a:solidFill>
                      <a:srgbClr val="ECF1F6"/>
                    </a:solidFill>
                  </a:tcPr>
                </a:tc>
                <a:tc>
                  <a:txBody>
                    <a:bodyPr wrap="square"/>
                    <a:lstStyle/>
                    <a:p>
                      <a:r>
                        <a:rPr sz="1100" b="0">
                          <a:solidFill>
                            <a:srgbClr val="282828"/>
                          </a:solidFill>
                          <a:latin typeface="Arial"/>
                        </a:rPr>
                        <a:t>0.10</a:t>
                      </a:r>
                    </a:p>
                  </a:txBody>
                  <a:tcPr marL="54864" marR="54864" marT="18288" marB="18288">
                    <a:solidFill>
                      <a:srgbClr val="ECF1F6"/>
                    </a:solidFill>
                  </a:tcPr>
                </a:tc>
                <a:tc>
                  <a:txBody>
                    <a:bodyPr wrap="square"/>
                    <a:lstStyle/>
                    <a:p>
                      <a:r>
                        <a:rPr sz="1100" b="0">
                          <a:solidFill>
                            <a:srgbClr val="282828"/>
                          </a:solidFill>
                          <a:latin typeface="Arial"/>
                        </a:rPr>
                        <a:t>36 nm (42)</a:t>
                      </a:r>
                    </a:p>
                  </a:txBody>
                  <a:tcPr marL="54864" marR="54864" marT="18288" marB="18288">
                    <a:solidFill>
                      <a:srgbClr val="ECF1F6"/>
                    </a:solidFill>
                  </a:tcPr>
                </a:tc>
              </a:tr>
              <a:tr h="280035">
                <a:tc>
                  <a:txBody>
                    <a:bodyPr wrap="square"/>
                    <a:lstStyle/>
                    <a:p>
                      <a:r>
                        <a:rPr sz="1100" b="0">
                          <a:solidFill>
                            <a:srgbClr val="282828"/>
                          </a:solidFill>
                          <a:latin typeface="Arial"/>
                        </a:rPr>
                        <a:t>stepped, four frames (S)</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0.91</a:t>
                      </a:r>
                    </a:p>
                  </a:txBody>
                  <a:tcPr marL="54864" marR="54864" marT="18288" marB="18288">
                    <a:solidFill>
                      <a:srgbClr val="FFFFFF"/>
                    </a:solidFill>
                  </a:tcPr>
                </a:tc>
                <a:tc>
                  <a:txBody>
                    <a:bodyPr wrap="square"/>
                    <a:lstStyle/>
                    <a:p>
                      <a:r>
                        <a:rPr sz="1100" b="0">
                          <a:solidFill>
                            <a:srgbClr val="282828"/>
                          </a:solidFill>
                          <a:latin typeface="Arial"/>
                        </a:rPr>
                        <a:t>0.86</a:t>
                      </a:r>
                    </a:p>
                  </a:txBody>
                  <a:tcPr marL="54864" marR="54864" marT="18288" marB="18288">
                    <a:solidFill>
                      <a:srgbClr val="FFFFFF"/>
                    </a:solidFill>
                  </a:tcPr>
                </a:tc>
                <a:tc>
                  <a:txBody>
                    <a:bodyPr wrap="square"/>
                    <a:lstStyle/>
                    <a:p>
                      <a:r>
                        <a:rPr sz="1100" b="0">
                          <a:solidFill>
                            <a:srgbClr val="282828"/>
                          </a:solidFill>
                          <a:latin typeface="Arial"/>
                        </a:rPr>
                        <a:t>0.66</a:t>
                      </a:r>
                    </a:p>
                  </a:txBody>
                  <a:tcPr marL="54864" marR="54864" marT="18288" marB="18288">
                    <a:solidFill>
                      <a:srgbClr val="FFFFFF"/>
                    </a:solidFill>
                  </a:tcPr>
                </a:tc>
                <a:tc>
                  <a:txBody>
                    <a:bodyPr wrap="square"/>
                    <a:lstStyle/>
                    <a:p>
                      <a:r>
                        <a:rPr sz="1100" b="0">
                          <a:solidFill>
                            <a:srgbClr val="282828"/>
                          </a:solidFill>
                          <a:latin typeface="Arial"/>
                        </a:rPr>
                        <a:t>0.22</a:t>
                      </a:r>
                    </a:p>
                  </a:txBody>
                  <a:tcPr marL="54864" marR="54864" marT="18288" marB="18288">
                    <a:solidFill>
                      <a:srgbClr val="FFFFFF"/>
                    </a:solidFill>
                  </a:tcPr>
                </a:tc>
                <a:tc>
                  <a:txBody>
                    <a:bodyPr wrap="square"/>
                    <a:lstStyle/>
                    <a:p>
                      <a:r>
                        <a:rPr sz="1100" b="0">
                          <a:solidFill>
                            <a:srgbClr val="282828"/>
                          </a:solidFill>
                          <a:latin typeface="Arial"/>
                        </a:rPr>
                        <a:t>0.06</a:t>
                      </a:r>
                    </a:p>
                  </a:txBody>
                  <a:tcPr marL="54864" marR="54864" marT="18288" marB="18288">
                    <a:solidFill>
                      <a:srgbClr val="FFFFFF"/>
                    </a:solidFill>
                  </a:tcPr>
                </a:tc>
                <a:tc>
                  <a:txBody>
                    <a:bodyPr wrap="square"/>
                    <a:lstStyle/>
                    <a:p>
                      <a:r>
                        <a:rPr sz="1100" b="0">
                          <a:solidFill>
                            <a:srgbClr val="282828"/>
                          </a:solidFill>
                          <a:latin typeface="Arial"/>
                        </a:rPr>
                        <a:t>42 nm (below 30)</a:t>
                      </a:r>
                    </a:p>
                  </a:txBody>
                  <a:tcPr marL="54864" marR="54864" marT="18288" marB="18288">
                    <a:solidFill>
                      <a:srgbClr val="FFFFFF"/>
                    </a:solidFill>
                  </a:tcPr>
                </a:tc>
              </a:tr>
              <a:tr h="280035">
                <a:tc>
                  <a:txBody>
                    <a:bodyPr wrap="square"/>
                    <a:lstStyle/>
                    <a:p>
                      <a:r>
                        <a:rPr sz="1100" b="0">
                          <a:solidFill>
                            <a:srgbClr val="282828"/>
                          </a:solidFill>
                          <a:latin typeface="Arial"/>
                        </a:rPr>
                        <a:t>polarized pair, two frames (V)</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0.99</a:t>
                      </a:r>
                    </a:p>
                  </a:txBody>
                  <a:tcPr marL="54864" marR="54864" marT="18288" marB="18288">
                    <a:solidFill>
                      <a:srgbClr val="ECF1F6"/>
                    </a:solidFill>
                  </a:tcPr>
                </a:tc>
                <a:tc>
                  <a:txBody>
                    <a:bodyPr wrap="square"/>
                    <a:lstStyle/>
                    <a:p>
                      <a:r>
                        <a:rPr sz="1100" b="0">
                          <a:solidFill>
                            <a:srgbClr val="282828"/>
                          </a:solidFill>
                          <a:latin typeface="Arial"/>
                        </a:rPr>
                        <a:t>0.98</a:t>
                      </a:r>
                    </a:p>
                  </a:txBody>
                  <a:tcPr marL="54864" marR="54864" marT="18288" marB="18288">
                    <a:solidFill>
                      <a:srgbClr val="ECF1F6"/>
                    </a:solidFill>
                  </a:tcPr>
                </a:tc>
                <a:tc>
                  <a:txBody>
                    <a:bodyPr wrap="square"/>
                    <a:lstStyle/>
                    <a:p>
                      <a:r>
                        <a:rPr sz="1100" b="0">
                          <a:solidFill>
                            <a:srgbClr val="282828"/>
                          </a:solidFill>
                          <a:latin typeface="Arial"/>
                        </a:rPr>
                        <a:t>0.83</a:t>
                      </a:r>
                    </a:p>
                  </a:txBody>
                  <a:tcPr marL="54864" marR="54864" marT="18288" marB="18288">
                    <a:solidFill>
                      <a:srgbClr val="ECF1F6"/>
                    </a:solidFill>
                  </a:tcPr>
                </a:tc>
                <a:tc>
                  <a:txBody>
                    <a:bodyPr wrap="square"/>
                    <a:lstStyle/>
                    <a:p>
                      <a:r>
                        <a:rPr sz="1100" b="0">
                          <a:solidFill>
                            <a:srgbClr val="282828"/>
                          </a:solidFill>
                          <a:latin typeface="Arial"/>
                        </a:rPr>
                        <a:t>0.06</a:t>
                      </a:r>
                    </a:p>
                  </a:txBody>
                  <a:tcPr marL="54864" marR="54864" marT="18288" marB="18288">
                    <a:solidFill>
                      <a:srgbClr val="ECF1F6"/>
                    </a:solidFill>
                  </a:tcPr>
                </a:tc>
                <a:tc>
                  <a:txBody>
                    <a:bodyPr wrap="square"/>
                    <a:lstStyle/>
                    <a:p>
                      <a:r>
                        <a:rPr sz="1100" b="0">
                          <a:solidFill>
                            <a:srgbClr val="282828"/>
                          </a:solidFill>
                          <a:latin typeface="Arial"/>
                        </a:rPr>
                        <a:t>70 nm (68)</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 (one site; slide 19)</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1.02 at 120, breaks at 240</a:t>
                      </a:r>
                    </a:p>
                  </a:txBody>
                  <a:tcPr marL="54864" marR="54864" marT="18288" marB="18288">
                    <a:solidFill>
                      <a:srgbClr val="FFFFFF"/>
                    </a:solidFill>
                  </a:tcPr>
                </a:tc>
                <a:tc>
                  <a:txBody>
                    <a:bodyPr wrap="square"/>
                    <a:lstStyle/>
                    <a:p>
                      <a:r>
                        <a:rPr sz="1100" b="0">
                          <a:solidFill>
                            <a:srgbClr val="282828"/>
                          </a:solidFill>
                          <a:latin typeface="Arial"/>
                        </a:rPr>
                        <a:t>120 to 158 nm, its four-step wrap</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Why the aging range ends: at 100 nm rms (2 rad rms of phase) the focal core, the sensor's reference, is gone for every reading; the polarized pair lasts longest because it has no fold to cross, and its range does not depend on where its matrix was measured.</a:t>
            </a:r>
          </a:p>
        </p:txBody>
      </p:sp>
      <p:sp>
        <p:nvSpPr>
          <p:cNvPr id="6" name="TextBox 5"/>
          <p:cNvSpPr txBox="1"/>
          <p:nvPr/>
        </p:nvSpPr>
        <p:spPr>
          <a:xfrm>
            <a:off x="411480" y="4610481"/>
            <a:ext cx="11368735" cy="274320"/>
          </a:xfrm>
          <a:prstGeom prst="rect">
            <a:avLst/>
          </a:prstGeom>
          <a:noFill/>
        </p:spPr>
        <p:txBody>
          <a:bodyPr wrap="square">
            <a:spAutoFit/>
          </a:bodyPr>
          <a:lstStyle/>
          <a:p>
            <a:pPr>
              <a:spcAft>
                <a:spcPts val="600"/>
              </a:spcAft>
            </a:pPr>
            <a:r>
              <a:rPr sz="1050" b="0">
                <a:solidFill>
                  <a:srgbClr val="6E6E6E"/>
                </a:solidFill>
                <a:latin typeface="Arial"/>
              </a:rPr>
              <a:t>Capture range = the largest working-surface rms where a 10 nm change on 47 grid sites reads within 10% (interpolated between rungs); raw matrix estimates (the earlier draft's modal correction is off since the vector reading; its stepped rows read higher).  Records: zwfs_dm96 runs/cap385, cap385_flat; tg_psi_dm96_oap runs/lens_base (single-site ladder).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with the matrix re-measured on the surface</a:t>
            </a:r>
          </a:p>
          <a:p>
            <a:pPr>
              <a:spcAft>
                <a:spcPts val="0"/>
              </a:spcAft>
            </a:pPr>
            <a:r>
              <a:rPr sz="1250" b="0">
                <a:solidFill>
                  <a:srgbClr val="6E6E6E"/>
                </a:solidFill>
                <a:latin typeface="Arial"/>
              </a:rPr>
              <a:t>Every reading keeps its gain to 160 nm rms; the sensor's sensitivity has fallen with the focal core, so 1 pm costs 5 to 40×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588770"/>
        </p:xfrm>
        <a:graphic>
          <a:graphicData uri="http://schemas.openxmlformats.org/drawingml/2006/table">
            <a:tbl>
              <a:tblPr firstRow="1" bandRow="1">
                <a:tableStyleId>{5C22544A-7EE6-4342-B048-85BDC9FD1C3A}</a:tableStyleId>
              </a:tblPr>
              <a:tblGrid>
                <a:gridCol w="5143698"/>
                <a:gridCol w="945388"/>
                <a:gridCol w="727456"/>
                <a:gridCol w="727456"/>
                <a:gridCol w="727456"/>
                <a:gridCol w="3097280"/>
              </a:tblGrid>
              <a:tr h="468630">
                <a:tc>
                  <a:txBody>
                    <a:bodyPr wrap="square"/>
                    <a:lstStyle/>
                    <a:p>
                      <a:r>
                        <a:rPr sz="1100" b="1">
                          <a:solidFill>
                            <a:srgbClr val="FFFFFF"/>
                          </a:solidFill>
                          <a:latin typeface="Arial"/>
                        </a:rPr>
                        <a:t>matrix re-measured on the working surface: gain, floor on 1 nm changes at 47 sites (385 rays)</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c>
                  <a:txBody>
                    <a:bodyPr wrap="square"/>
                    <a:lstStyle/>
                    <a:p>
                      <a:r>
                        <a:rPr sz="1100" b="1">
                          <a:solidFill>
                            <a:srgbClr val="FFFFFF"/>
                          </a:solidFill>
                          <a:latin typeface="Arial"/>
                        </a:rPr>
                        <a:t>90</a:t>
                      </a:r>
                    </a:p>
                  </a:txBody>
                  <a:tcPr marL="54864" marR="54864" marT="18288" marB="18288">
                    <a:solidFill>
                      <a:srgbClr val="1F4E79"/>
                    </a:solidFill>
                  </a:tcPr>
                </a:tc>
                <a:tc>
                  <a:txBody>
                    <a:bodyPr wrap="square"/>
                    <a:lstStyle/>
                    <a:p>
                      <a:r>
                        <a:rPr sz="1100" b="1">
                          <a:solidFill>
                            <a:srgbClr val="FFFFFF"/>
                          </a:solidFill>
                          <a:latin typeface="Arial"/>
                        </a:rPr>
                        <a:t>120</a:t>
                      </a:r>
                    </a:p>
                  </a:txBody>
                  <a:tcPr marL="54864" marR="54864" marT="18288" marB="18288">
                    <a:solidFill>
                      <a:srgbClr val="1F4E79"/>
                    </a:solidFill>
                  </a:tcPr>
                </a:tc>
                <a:tc>
                  <a:txBody>
                    <a:bodyPr wrap="square"/>
                    <a:lstStyle/>
                    <a:p>
                      <a:r>
                        <a:rPr sz="1100" b="1">
                          <a:solidFill>
                            <a:srgbClr val="FFFFFF"/>
                          </a:solidFill>
                          <a:latin typeface="Arial"/>
                        </a:rPr>
                        <a:t>160</a:t>
                      </a:r>
                    </a:p>
                  </a:txBody>
                  <a:tcPr marL="54864" marR="54864" marT="18288" marB="18288">
                    <a:solidFill>
                      <a:srgbClr val="1F4E79"/>
                    </a:solidFill>
                  </a:tcPr>
                </a:tc>
                <a:tc>
                  <a:txBody>
                    <a:bodyPr wrap="square"/>
                    <a:lstStyle/>
                    <a:p>
                      <a:r>
                        <a:rPr sz="1100" b="1">
                          <a:solidFill>
                            <a:srgbClr val="FFFFFF"/>
                          </a:solidFill>
                          <a:latin typeface="Arial"/>
                        </a:rPr>
                        <a:t>photons per measurement for 1 pm, 30 → 160 nm (193 rays)</a:t>
                      </a:r>
                    </a:p>
                  </a:txBody>
                  <a:tcPr marL="54864" marR="54864" marT="18288" marB="18288">
                    <a:solidFill>
                      <a:srgbClr val="1F4E79"/>
                    </a:solidFill>
                  </a:tcPr>
                </a:tc>
              </a:tr>
              <a:tr h="280035">
                <a:tc>
                  <a:txBody>
                    <a:bodyPr wrap="square"/>
                    <a:lstStyle/>
                    <a:p>
                      <a:r>
                        <a:rPr sz="1100" b="0">
                          <a:solidFill>
                            <a:srgbClr val="282828"/>
                          </a:solidFill>
                          <a:latin typeface="Arial"/>
                        </a:rPr>
                        <a:t>L</a:t>
                      </a:r>
                    </a:p>
                  </a:txBody>
                  <a:tcPr marL="54864" marR="54864" marT="18288" marB="18288">
                    <a:solidFill>
                      <a:srgbClr val="FFFFFF"/>
                    </a:solidFill>
                  </a:tcPr>
                </a:tc>
                <a:tc>
                  <a:txBody>
                    <a:bodyPr wrap="square"/>
                    <a:lstStyle/>
                    <a:p>
                      <a:r>
                        <a:rPr sz="1100" b="0">
                          <a:solidFill>
                            <a:srgbClr val="282828"/>
                          </a:solidFill>
                          <a:latin typeface="Arial"/>
                        </a:rPr>
                        <a:t>0.96, 25 pm</a:t>
                      </a:r>
                    </a:p>
                  </a:txBody>
                  <a:tcPr marL="54864" marR="54864" marT="18288" marB="18288">
                    <a:solidFill>
                      <a:srgbClr val="FFFFFF"/>
                    </a:solidFill>
                  </a:tcPr>
                </a:tc>
                <a:tc>
                  <a:txBody>
                    <a:bodyPr wrap="square"/>
                    <a:lstStyle/>
                    <a:p>
                      <a:r>
                        <a:rPr sz="1100" b="0">
                          <a:solidFill>
                            <a:srgbClr val="282828"/>
                          </a:solidFill>
                          <a:latin typeface="Arial"/>
                        </a:rPr>
                        <a:t>0.95, 21</a:t>
                      </a:r>
                    </a:p>
                  </a:txBody>
                  <a:tcPr marL="54864" marR="54864" marT="18288" marB="18288">
                    <a:solidFill>
                      <a:srgbClr val="FFFFFF"/>
                    </a:solidFill>
                  </a:tcPr>
                </a:tc>
                <a:tc>
                  <a:txBody>
                    <a:bodyPr wrap="square"/>
                    <a:lstStyle/>
                    <a:p>
                      <a:r>
                        <a:rPr sz="1100" b="0">
                          <a:solidFill>
                            <a:srgbClr val="282828"/>
                          </a:solidFill>
                          <a:latin typeface="Arial"/>
                        </a:rPr>
                        <a:t>0.96, 17</a:t>
                      </a:r>
                    </a:p>
                  </a:txBody>
                  <a:tcPr marL="54864" marR="54864" marT="18288" marB="18288">
                    <a:solidFill>
                      <a:srgbClr val="FFFFFF"/>
                    </a:solidFill>
                  </a:tcPr>
                </a:tc>
                <a:tc>
                  <a:txBody>
                    <a:bodyPr wrap="square"/>
                    <a:lstStyle/>
                    <a:p>
                      <a:r>
                        <a:rPr sz="1100" b="0">
                          <a:solidFill>
                            <a:srgbClr val="282828"/>
                          </a:solidFill>
                          <a:latin typeface="Arial"/>
                        </a:rPr>
                        <a:t>0.97, 13</a:t>
                      </a:r>
                    </a:p>
                  </a:txBody>
                  <a:tcPr marL="54864" marR="54864" marT="18288" marB="18288">
                    <a:solidFill>
                      <a:srgbClr val="FFFFFF"/>
                    </a:solidFill>
                  </a:tcPr>
                </a:tc>
                <a:tc>
                  <a:txBody>
                    <a:bodyPr wrap="square"/>
                    <a:lstStyle/>
                    <a:p>
                      <a:r>
                        <a:rPr sz="1100" b="0">
                          <a:solidFill>
                            <a:srgbClr val="282828"/>
                          </a:solidFill>
                          <a:latin typeface="Arial"/>
                        </a:rPr>
                        <a:t>9×10¹³ → 5×10¹⁴</a:t>
                      </a:r>
                    </a:p>
                  </a:txBody>
                  <a:tcPr marL="54864" marR="54864" marT="18288" marB="18288">
                    <a:solidFill>
                      <a:srgbClr val="FFFFFF"/>
                    </a:solidFill>
                  </a:tcPr>
                </a:tc>
              </a:tr>
              <a:tr h="280035">
                <a:tc>
                  <a:txBody>
                    <a:bodyPr wrap="square"/>
                    <a:lstStyle/>
                    <a:p>
                      <a:r>
                        <a:rPr sz="1100" b="0">
                          <a:solidFill>
                            <a:srgbClr val="282828"/>
                          </a:solidFill>
                          <a:latin typeface="Arial"/>
                        </a:rPr>
                        <a:t>S</a:t>
                      </a:r>
                    </a:p>
                  </a:txBody>
                  <a:tcPr marL="54864" marR="54864" marT="18288" marB="18288">
                    <a:solidFill>
                      <a:srgbClr val="ECF1F6"/>
                    </a:solidFill>
                  </a:tcPr>
                </a:tc>
                <a:tc>
                  <a:txBody>
                    <a:bodyPr wrap="square"/>
                    <a:lstStyle/>
                    <a:p>
                      <a:r>
                        <a:rPr sz="1100" b="0">
                          <a:solidFill>
                            <a:srgbClr val="282828"/>
                          </a:solidFill>
                          <a:latin typeface="Arial"/>
                        </a:rPr>
                        <a:t>0.93, 59</a:t>
                      </a:r>
                    </a:p>
                  </a:txBody>
                  <a:tcPr marL="54864" marR="54864" marT="18288" marB="18288">
                    <a:solidFill>
                      <a:srgbClr val="ECF1F6"/>
                    </a:solidFill>
                  </a:tcPr>
                </a:tc>
                <a:tc>
                  <a:txBody>
                    <a:bodyPr wrap="square"/>
                    <a:lstStyle/>
                    <a:p>
                      <a:r>
                        <a:rPr sz="1100" b="0">
                          <a:solidFill>
                            <a:srgbClr val="282828"/>
                          </a:solidFill>
                          <a:latin typeface="Arial"/>
                        </a:rPr>
                        <a:t>0.96, 29</a:t>
                      </a:r>
                    </a:p>
                  </a:txBody>
                  <a:tcPr marL="54864" marR="54864" marT="18288" marB="18288">
                    <a:solidFill>
                      <a:srgbClr val="ECF1F6"/>
                    </a:solidFill>
                  </a:tcPr>
                </a:tc>
                <a:tc>
                  <a:txBody>
                    <a:bodyPr wrap="square"/>
                    <a:lstStyle/>
                    <a:p>
                      <a:r>
                        <a:rPr sz="1100" b="0">
                          <a:solidFill>
                            <a:srgbClr val="282828"/>
                          </a:solidFill>
                          <a:latin typeface="Arial"/>
                        </a:rPr>
                        <a:t>0.97, 22</a:t>
                      </a:r>
                    </a:p>
                  </a:txBody>
                  <a:tcPr marL="54864" marR="54864" marT="18288" marB="18288">
                    <a:solidFill>
                      <a:srgbClr val="ECF1F6"/>
                    </a:solidFill>
                  </a:tcPr>
                </a:tc>
                <a:tc>
                  <a:txBody>
                    <a:bodyPr wrap="square"/>
                    <a:lstStyle/>
                    <a:p>
                      <a:r>
                        <a:rPr sz="1100" b="0">
                          <a:solidFill>
                            <a:srgbClr val="282828"/>
                          </a:solidFill>
                          <a:latin typeface="Arial"/>
                        </a:rPr>
                        <a:t>0.97, 20</a:t>
                      </a:r>
                    </a:p>
                  </a:txBody>
                  <a:tcPr marL="54864" marR="54864" marT="18288" marB="18288">
                    <a:solidFill>
                      <a:srgbClr val="ECF1F6"/>
                    </a:solidFill>
                  </a:tcPr>
                </a:tc>
                <a:tc>
                  <a:txBody>
                    <a:bodyPr wrap="square"/>
                    <a:lstStyle/>
                    <a:p>
                      <a:r>
                        <a:rPr sz="1100" b="0">
                          <a:solidFill>
                            <a:srgbClr val="282828"/>
                          </a:solidFill>
                          <a:latin typeface="Arial"/>
                        </a:rPr>
                        <a:t>9×10¹³ → 3×10¹⁵</a:t>
                      </a:r>
                    </a:p>
                  </a:txBody>
                  <a:tcPr marL="54864" marR="54864" marT="18288" marB="18288">
                    <a:solidFill>
                      <a:srgbClr val="ECF1F6"/>
                    </a:solidFill>
                  </a:tcPr>
                </a:tc>
              </a:tr>
              <a:tr h="280035">
                <a:tc>
                  <a:txBody>
                    <a:bodyPr wrap="square"/>
                    <a:lstStyle/>
                    <a:p>
                      <a:r>
                        <a:rPr sz="1100" b="0">
                          <a:solidFill>
                            <a:srgbClr val="282828"/>
                          </a:solidFill>
                          <a:latin typeface="Arial"/>
                        </a:rPr>
                        <a:t>V</a:t>
                      </a:r>
                    </a:p>
                  </a:txBody>
                  <a:tcPr marL="54864" marR="54864" marT="18288" marB="18288">
                    <a:solidFill>
                      <a:srgbClr val="FFFFFF"/>
                    </a:solidFill>
                  </a:tcPr>
                </a:tc>
                <a:tc>
                  <a:txBody>
                    <a:bodyPr wrap="square"/>
                    <a:lstStyle/>
                    <a:p>
                      <a:r>
                        <a:rPr sz="1100" b="0">
                          <a:solidFill>
                            <a:srgbClr val="282828"/>
                          </a:solidFill>
                          <a:latin typeface="Arial"/>
                        </a:rPr>
                        <a:t>1.00, 3</a:t>
                      </a:r>
                    </a:p>
                  </a:txBody>
                  <a:tcPr marL="54864" marR="54864" marT="18288" marB="18288">
                    <a:solidFill>
                      <a:srgbClr val="FFFFFF"/>
                    </a:solidFill>
                  </a:tcPr>
                </a:tc>
                <a:tc>
                  <a:txBody>
                    <a:bodyPr wrap="square"/>
                    <a:lstStyle/>
                    <a:p>
                      <a:r>
                        <a:rPr sz="1100" b="0">
                          <a:solidFill>
                            <a:srgbClr val="282828"/>
                          </a:solidFill>
                          <a:latin typeface="Arial"/>
                        </a:rPr>
                        <a:t>0.96, 47</a:t>
                      </a:r>
                    </a:p>
                  </a:txBody>
                  <a:tcPr marL="54864" marR="54864" marT="18288" marB="18288">
                    <a:solidFill>
                      <a:srgbClr val="FFFFFF"/>
                    </a:solidFill>
                  </a:tcPr>
                </a:tc>
                <a:tc>
                  <a:txBody>
                    <a:bodyPr wrap="square"/>
                    <a:lstStyle/>
                    <a:p>
                      <a:r>
                        <a:rPr sz="1100" b="0">
                          <a:solidFill>
                            <a:srgbClr val="282828"/>
                          </a:solidFill>
                          <a:latin typeface="Arial"/>
                        </a:rPr>
                        <a:t>0.97, 23</a:t>
                      </a:r>
                    </a:p>
                  </a:txBody>
                  <a:tcPr marL="54864" marR="54864" marT="18288" marB="18288">
                    <a:solidFill>
                      <a:srgbClr val="FFFFFF"/>
                    </a:solidFill>
                  </a:tcPr>
                </a:tc>
                <a:tc>
                  <a:txBody>
                    <a:bodyPr wrap="square"/>
                    <a:lstStyle/>
                    <a:p>
                      <a:r>
                        <a:rPr sz="1100" b="0">
                          <a:solidFill>
                            <a:srgbClr val="282828"/>
                          </a:solidFill>
                          <a:latin typeface="Arial"/>
                        </a:rPr>
                        <a:t>0.97, 21</a:t>
                      </a:r>
                    </a:p>
                  </a:txBody>
                  <a:tcPr marL="54864" marR="54864" marT="18288" marB="18288">
                    <a:solidFill>
                      <a:srgbClr val="FFFFFF"/>
                    </a:solidFill>
                  </a:tcPr>
                </a:tc>
                <a:tc>
                  <a:txBody>
                    <a:bodyPr wrap="square"/>
                    <a:lstStyle/>
                    <a:p>
                      <a:r>
                        <a:rPr sz="1100" b="0">
                          <a:solidFill>
                            <a:srgbClr val="282828"/>
                          </a:solidFill>
                          <a:latin typeface="Arial"/>
                        </a:rPr>
                        <a:t>6×10¹³ → 2×10¹⁵</a:t>
                      </a:r>
                    </a:p>
                  </a:txBody>
                  <a:tcPr marL="54864" marR="54864" marT="18288" marB="18288">
                    <a:solidFill>
                      <a:srgbClr val="FFFFFF"/>
                    </a:solidFill>
                  </a:tcPr>
                </a:tc>
              </a:tr>
              <a:tr h="280035">
                <a:tc>
                  <a:txBody>
                    <a:bodyPr wrap="square"/>
                    <a:lstStyle/>
                    <a:p>
                      <a:r>
                        <a:rPr sz="1100" b="0">
                          <a:solidFill>
                            <a:srgbClr val="282828"/>
                          </a:solidFill>
                          <a:latin typeface="Arial"/>
                        </a:rPr>
                        <a:t>exact, one frame (I+)</a:t>
                      </a:r>
                    </a:p>
                  </a:txBody>
                  <a:tcPr marL="54864" marR="54864" marT="18288" marB="18288">
                    <a:solidFill>
                      <a:srgbClr val="ECF1F6"/>
                    </a:solidFill>
                  </a:tcPr>
                </a:tc>
                <a:tc>
                  <a:txBody>
                    <a:bodyPr wrap="square"/>
                    <a:lstStyle/>
                    <a:p>
                      <a:r>
                        <a:rPr sz="1100" b="0">
                          <a:solidFill>
                            <a:srgbClr val="282828"/>
                          </a:solidFill>
                          <a:latin typeface="Arial"/>
                        </a:rPr>
                        <a:t>0.83, 150</a:t>
                      </a:r>
                    </a:p>
                  </a:txBody>
                  <a:tcPr marL="54864" marR="54864" marT="18288" marB="18288">
                    <a:solidFill>
                      <a:srgbClr val="ECF1F6"/>
                    </a:solidFill>
                  </a:tcPr>
                </a:tc>
                <a:tc>
                  <a:txBody>
                    <a:bodyPr wrap="square"/>
                    <a:lstStyle/>
                    <a:p>
                      <a:r>
                        <a:rPr sz="1100" b="0">
                          <a:solidFill>
                            <a:srgbClr val="282828"/>
                          </a:solidFill>
                          <a:latin typeface="Arial"/>
                        </a:rPr>
                        <a:t>0.95, 20</a:t>
                      </a:r>
                    </a:p>
                  </a:txBody>
                  <a:tcPr marL="54864" marR="54864" marT="18288" marB="18288">
                    <a:solidFill>
                      <a:srgbClr val="ECF1F6"/>
                    </a:solidFill>
                  </a:tcPr>
                </a:tc>
                <a:tc>
                  <a:txBody>
                    <a:bodyPr wrap="square"/>
                    <a:lstStyle/>
                    <a:p>
                      <a:r>
                        <a:rPr sz="1100" b="0">
                          <a:solidFill>
                            <a:srgbClr val="282828"/>
                          </a:solidFill>
                          <a:latin typeface="Arial"/>
                        </a:rPr>
                        <a:t>0.96, 17</a:t>
                      </a:r>
                    </a:p>
                  </a:txBody>
                  <a:tcPr marL="54864" marR="54864" marT="18288" marB="18288">
                    <a:solidFill>
                      <a:srgbClr val="ECF1F6"/>
                    </a:solidFill>
                  </a:tcPr>
                </a:tc>
                <a:tc>
                  <a:txBody>
                    <a:bodyPr wrap="square"/>
                    <a:lstStyle/>
                    <a:p>
                      <a:r>
                        <a:rPr sz="1100" b="0">
                          <a:solidFill>
                            <a:srgbClr val="282828"/>
                          </a:solidFill>
                          <a:latin typeface="Arial"/>
                        </a:rPr>
                        <a:t>0.97, 13</a:t>
                      </a:r>
                    </a:p>
                  </a:txBody>
                  <a:tcPr marL="54864" marR="54864" marT="18288" marB="18288">
                    <a:solidFill>
                      <a:srgbClr val="ECF1F6"/>
                    </a:solidFill>
                  </a:tcPr>
                </a:tc>
                <a:tc>
                  <a:txBody>
                    <a:bodyPr wrap="square"/>
                    <a:lstStyle/>
                    <a:p>
                      <a:r>
                        <a:rPr sz="1100" b="0">
                          <a:solidFill>
                            <a:srgbClr val="282828"/>
                          </a:solidFill>
                          <a:latin typeface="Arial"/>
                        </a:rPr>
                        <a:t>not priced</a:t>
                      </a:r>
                    </a:p>
                  </a:txBody>
                  <a:tcPr marL="54864" marR="54864" marT="18288" marB="18288">
                    <a:solidFill>
                      <a:srgbClr val="ECF1F6"/>
                    </a:solidFill>
                  </a:tcPr>
                </a:tc>
              </a:tr>
            </a:tbl>
          </a:graphicData>
        </a:graphic>
      </p:graphicFrame>
      <p:sp>
        <p:nvSpPr>
          <p:cNvPr id="5" name="TextBox 4"/>
          <p:cNvSpPr txBox="1"/>
          <p:nvPr/>
        </p:nvSpPr>
        <p:spPr>
          <a:xfrm>
            <a:off x="411480" y="3033522"/>
            <a:ext cx="11368735" cy="274320"/>
          </a:xfrm>
          <a:prstGeom prst="rect">
            <a:avLst/>
          </a:prstGeom>
          <a:noFill/>
        </p:spPr>
        <p:txBody>
          <a:bodyPr wrap="square">
            <a:spAutoFit/>
          </a:bodyPr>
          <a:lstStyle/>
          <a:p>
            <a:pPr>
              <a:spcAft>
                <a:spcPts val="600"/>
              </a:spcAft>
            </a:pPr>
            <a:r>
              <a:rPr sz="1500" b="0">
                <a:solidFill>
                  <a:srgbClr val="282828"/>
                </a:solidFill>
                <a:latin typeface="Arial"/>
              </a:rPr>
              <a:t>•  Why recalibration restores the gain: the matrix measured on the surface carries the weakened response and the inversion scales it back up, so with noiseless frames the gain holds within 5% at every rung to 160 nm, for every reading.  The floors (the unchanged sites' crosstalk) rise from 3 pm to 13 to 21 pm.</a:t>
            </a:r>
          </a:p>
          <a:p>
            <a:pPr>
              <a:spcAft>
                <a:spcPts val="600"/>
              </a:spcAft>
            </a:pPr>
            <a:r>
              <a:rPr sz="1500" b="0">
                <a:solidFill>
                  <a:srgbClr val="282828"/>
                </a:solidFill>
                <a:latin typeface="Arial"/>
              </a:rPr>
              <a:t>•  What it costs: the sensor's sensitivity per photon falls with the focal core.  The light for 1 pm rises 5× for the linear reading and 40× for the polarized pair between 30 and 160 nm rms; at 160 nm the pair needs 2×10¹⁵ photons per measurement, 0.8 mJ, 3 s of a 1 mW laser at the arm's 25% throughput.  A servo that re-measures its matrix on the surface it holds (slide 10) buys range with photons; the stepped reading's 60 nm value is a fold outlier of the six-realization pricing.</a:t>
            </a:r>
          </a:p>
        </p:txBody>
      </p:sp>
      <p:sp>
        <p:nvSpPr>
          <p:cNvPr id="6" name="TextBox 5"/>
          <p:cNvSpPr txBox="1"/>
          <p:nvPr/>
        </p:nvSpPr>
        <p:spPr>
          <a:xfrm>
            <a:off x="411480" y="5331714"/>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zwfs_dm96 runs/cap385_b60 to b160 (gain, floor), noise193_b30 to b160 (photons: single 10 nm change, matrix on the surface, six realizations per light level).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Color is no longer a lever</a:t>
            </a:r>
          </a:p>
          <a:p>
            <a:pPr>
              <a:spcAft>
                <a:spcPts val="0"/>
              </a:spcAft>
            </a:pPr>
            <a:r>
              <a:rPr sz="1250" b="0">
                <a:solidFill>
                  <a:srgbClr val="6E6E6E"/>
                </a:solidFill>
                <a:latin typeface="Arial"/>
              </a:rPr>
              <a:t>With the sensor's null gone, five colors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color is range: 780 nm is the best single color on nearly every row — less phase per nanometer of height, and a 1.6 λ/D dimple.  The interferometer is unchanged at every color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color; development sampling (193 rays, 1024 grid); runs/rec193full.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measurement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measurement,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measurement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 (four frames of 2.5×10¹³)</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 (four frames of 2×10¹⁴)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What "photons per measurement" counts: every photon the camera detects over the whole pupil image while one DM shape is measured once, summed over the frames that reading needs: one frame for the one-frame readings, four for the stepped reading (a quarter each).  Not per mode or per actuator: 10¹⁴ per measurement is 3×10¹⁰ per lit actuator.  Measuring a change takes two measurements, so twice the number.</a:t>
            </a:r>
          </a:p>
          <a:p>
            <a:pPr>
              <a:spcAft>
                <a:spcPts val="600"/>
              </a:spcAft>
            </a:pPr>
            <a:r>
              <a:rPr sz="1200" b="0">
                <a:solidFill>
                  <a:srgbClr val="282828"/>
                </a:solidFill>
                <a:latin typeface="Arial"/>
              </a:rPr>
              <a:t>•  In laser terms: at 633 nm, 10¹⁴ photons is 31 µJ.  The test arm passes a 50/50 splitter twice, so a quarter of the laser power reaches the camera (other losses not counted): a 1 mW laser needs 0.13 s per measurement, a 5 mW laser 25 ms; the interferometer's 8×10¹⁴ is 1 s at 1 mW.</a:t>
            </a:r>
          </a:p>
          <a:p>
            <a:pPr>
              <a:spcAft>
                <a:spcPts val="600"/>
              </a:spcAft>
            </a:pPr>
            <a:r>
              <a:rPr sz="1200" b="0">
                <a:solidFill>
                  <a:srgbClr val="282828"/>
                </a:solidFill>
                <a:latin typeface="Arial"/>
              </a:rPr>
              <a:t>•  Method: noise-free frames once per measurement, photon shot noise added numerically, eight trials per point.  The 1 pm budget is about systematic errors and gain stability, not light.</a:t>
            </a:r>
          </a:p>
        </p:txBody>
      </p:sp>
      <p:sp>
        <p:nvSpPr>
          <p:cNvPr id="8" name="TextBox 7"/>
          <p:cNvSpPr txBox="1"/>
          <p:nvPr/>
        </p:nvSpPr>
        <p:spPr>
          <a:xfrm>
            <a:off x="6400800" y="6317742"/>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Records: runs/rec193full; tg96_s5noise_report.txt.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8" cy="2000250"/>
        </p:xfrm>
        <a:graphic>
          <a:graphicData uri="http://schemas.openxmlformats.org/drawingml/2006/table">
            <a:tbl>
              <a:tblPr firstRow="1" bandRow="1">
                <a:tableStyleId>{5C22544A-7EE6-4342-B048-85BDC9FD1C3A}</a:tableStyleId>
              </a:tblPr>
              <a:tblGrid>
                <a:gridCol w="1304663"/>
                <a:gridCol w="846268"/>
                <a:gridCol w="740484"/>
                <a:gridCol w="1445708"/>
                <a:gridCol w="1057835"/>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c>
                  <a:txBody>
                    <a:bodyPr wrap="square"/>
                    <a:lstStyle/>
                    <a:p>
                      <a:r>
                        <a:rPr sz="1000" b="1">
                          <a:solidFill>
                            <a:srgbClr val="FFFFFF"/>
                          </a:solidFill>
                          <a:latin typeface="Arial"/>
                        </a:rPr>
                        <a:t>polarized pair (V, next slide)</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1.5×10¹²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through one reading: each cycle the shape is measured once with N photons (slide 13), compared with the set point's frames, and half the estimated change removed.</a:t>
            </a:r>
          </a:p>
          <a:p>
            <a:pPr>
              <a:spcAft>
                <a:spcPts val="600"/>
              </a:spcAft>
            </a:pPr>
            <a:r>
              <a:rPr sz="1200" b="0">
                <a:solidFill>
                  <a:srgbClr val="282828"/>
                </a:solidFill>
                <a:latin typeface="Arial"/>
              </a:rPr>
              <a:t>•  What it shows: noise and a random walk propagate as theory says, and L and S cost the same light.  What differs is the fixed error: S has none; L imprints a fine-scale error under a slow ramp; I+ reads some sites with the wrong sign, and no gain fixes a wrong sign.</a:t>
            </a:r>
          </a:p>
        </p:txBody>
      </p:sp>
      <p:sp>
        <p:nvSpPr>
          <p:cNvPr id="8" name="TextBox 7"/>
          <p:cNvSpPr txBox="1"/>
          <p:nvPr/>
        </p:nvSpPr>
        <p:spPr>
          <a:xfrm>
            <a:off x="6400800" y="5346953"/>
            <a:ext cx="5394960" cy="274320"/>
          </a:xfrm>
          <a:prstGeom prst="rect">
            <a:avLst/>
          </a:prstGeom>
          <a:noFill/>
        </p:spPr>
        <p:txBody>
          <a:bodyPr wrap="square">
            <a:spAutoFit/>
          </a:bodyPr>
          <a:lstStyle/>
          <a:p>
            <a:pPr>
              <a:spcAft>
                <a:spcPts val="600"/>
              </a:spcAft>
            </a:pPr>
            <a:r>
              <a:rPr sz="1050" b="0">
                <a:solidFill>
                  <a:srgbClr val="6E6E6E"/>
                </a:solidFill>
                <a:latin typeface="Arial"/>
              </a:rPr>
              <a:t>7.5×10¹² photons per cycle is 2.4 µJ: 9 ms of a 1 mW laser at the test arm's 25% throughput.  Gain 0.5, 60 cycles, matrix measured on the working surface, 193 rays; the 385-ray check gives the same numbers.  A ramp under a proportional loop always lags by rate/gain.  Code dm_gauge_lib/dmg_loop, gated by tDmgLoop.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polarized dimple: two images at once, no fold</a:t>
            </a:r>
          </a:p>
          <a:p>
            <a:pPr>
              <a:spcAft>
                <a:spcPts val="0"/>
              </a:spcAft>
            </a:pPr>
            <a:r>
              <a:rPr sz="1250" b="0">
                <a:solidFill>
                  <a:srgbClr val="6E6E6E"/>
                </a:solidFill>
                <a:latin typeface="Arial"/>
              </a:rPr>
              <a:t>A dimple that shifts the two circular polarizations by opposite phases gives an exact reading from two simultaneous frames; it is the best reading on every line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oop193_right.png"/>
          <p:cNvPicPr>
            <a:picLocks noChangeAspect="1"/>
          </p:cNvPicPr>
          <p:nvPr/>
        </p:nvPicPr>
        <p:blipFill>
          <a:blip r:embed="rId2"/>
          <a:stretch>
            <a:fillRect/>
          </a:stretch>
        </p:blipFill>
        <p:spPr>
          <a:xfrm>
            <a:off x="1639392" y="1298448"/>
            <a:ext cx="3350615"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reading (green) and the polarized-dimple pair (purple), under no drift (dotted), a 2 pm random walk (solid) and a 5 pm thermal ramp (dashed).  Right panel of the runner's figure.</a:t>
            </a:r>
          </a:p>
        </p:txBody>
      </p:sp>
      <p:graphicFrame>
        <p:nvGraphicFramePr>
          <p:cNvPr id="6" name="Table 5"/>
          <p:cNvGraphicFramePr>
            <a:graphicFrameLocks noGrp="1"/>
          </p:cNvGraphicFramePr>
          <p:nvPr/>
        </p:nvGraphicFramePr>
        <p:xfrm>
          <a:off x="6400800" y="1298448"/>
          <a:ext cx="5394960" cy="2354580"/>
        </p:xfrm>
        <a:graphic>
          <a:graphicData uri="http://schemas.openxmlformats.org/drawingml/2006/table">
            <a:tbl>
              <a:tblPr firstRow="1" bandRow="1">
                <a:tableStyleId>{5C22544A-7EE6-4342-B048-85BDC9FD1C3A}</a:tableStyleId>
              </a:tblPr>
              <a:tblGrid>
                <a:gridCol w="2697480"/>
                <a:gridCol w="1198880"/>
                <a:gridCol w="1498600"/>
              </a:tblGrid>
              <a:tr h="434340">
                <a:tc>
                  <a:txBody>
                    <a:bodyPr wrap="square"/>
                    <a:lstStyle/>
                    <a:p>
                      <a:r>
                        <a:rPr sz="1000" b="1">
                          <a:solidFill>
                            <a:srgbClr val="FFFFFF"/>
                          </a:solidFill>
                          <a:latin typeface="Arial"/>
                        </a:rPr>
                        <a:t>matrix measured on the 30 nm surface; 193 rays</a:t>
                      </a:r>
                    </a:p>
                  </a:txBody>
                  <a:tcPr marL="54864" marR="54864" marT="18288" marB="18288">
                    <a:solidFill>
                      <a:srgbClr val="1F4E79"/>
                    </a:solidFill>
                  </a:tcPr>
                </a:tc>
                <a:tc>
                  <a:txBody>
                    <a:bodyPr wrap="square"/>
                    <a:lstStyle/>
                    <a:p>
                      <a:r>
                        <a:rPr sz="1000" b="1">
                          <a:solidFill>
                            <a:srgbClr val="FFFFFF"/>
                          </a:solidFill>
                          <a:latin typeface="Arial"/>
                        </a:rPr>
                        <a:t>stepped (S), four frames</a:t>
                      </a:r>
                    </a:p>
                  </a:txBody>
                  <a:tcPr marL="54864" marR="54864" marT="18288" marB="18288">
                    <a:solidFill>
                      <a:srgbClr val="1F4E79"/>
                    </a:solidFill>
                  </a:tcPr>
                </a:tc>
                <a:tc>
                  <a:txBody>
                    <a:bodyPr wrap="square"/>
                    <a:lstStyle/>
                    <a:p>
                      <a:r>
                        <a:rPr sz="1000" b="1">
                          <a:solidFill>
                            <a:srgbClr val="FFFFFF"/>
                          </a:solidFill>
                          <a:latin typeface="Arial"/>
                        </a:rPr>
                        <a:t>polarized pair (V), two frames</a:t>
                      </a:r>
                    </a:p>
                  </a:txBody>
                  <a:tcPr marL="54864" marR="54864" marT="18288" marB="18288">
                    <a:solidFill>
                      <a:srgbClr val="1F4E79"/>
                    </a:solidFill>
                  </a:tcPr>
                </a:tc>
              </a:tr>
              <a:tr h="262890">
                <a:tc>
                  <a:txBody>
                    <a:bodyPr wrap="square"/>
                    <a:lstStyle/>
                    <a:p>
                      <a:r>
                        <a:rPr sz="1000" b="0">
                          <a:solidFill>
                            <a:srgbClr val="282828"/>
                          </a:solidFill>
                          <a:latin typeface="Arial"/>
                        </a:rPr>
                        <a:t>single 10 nm change: gain, floor</a:t>
                      </a:r>
                    </a:p>
                  </a:txBody>
                  <a:tcPr marL="54864" marR="54864" marT="18288" marB="18288">
                    <a:solidFill>
                      <a:srgbClr val="FFFFFF"/>
                    </a:solidFill>
                  </a:tcPr>
                </a:tc>
                <a:tc>
                  <a:txBody>
                    <a:bodyPr wrap="square"/>
                    <a:lstStyle/>
                    <a:p>
                      <a:r>
                        <a:rPr sz="1000" b="0">
                          <a:solidFill>
                            <a:srgbClr val="282828"/>
                          </a:solidFill>
                          <a:latin typeface="Arial"/>
                        </a:rPr>
                        <a:t>0.989, 5 pm</a:t>
                      </a:r>
                    </a:p>
                  </a:txBody>
                  <a:tcPr marL="54864" marR="54864" marT="18288" marB="18288">
                    <a:solidFill>
                      <a:srgbClr val="FFFFFF"/>
                    </a:solidFill>
                  </a:tcPr>
                </a:tc>
                <a:tc>
                  <a:txBody>
                    <a:bodyPr wrap="square"/>
                    <a:lstStyle/>
                    <a:p>
                      <a:r>
                        <a:rPr sz="1000" b="0">
                          <a:solidFill>
                            <a:srgbClr val="282828"/>
                          </a:solidFill>
                          <a:latin typeface="Arial"/>
                        </a:rPr>
                        <a:t>0.994, 4 pm</a:t>
                      </a:r>
                    </a:p>
                  </a:txBody>
                  <a:tcPr marL="54864" marR="54864" marT="18288" marB="18288">
                    <a:solidFill>
                      <a:srgbClr val="FFFFFF"/>
                    </a:solidFill>
                  </a:tcPr>
                </a:tc>
              </a:tr>
              <a:tr h="262890">
                <a:tc>
                  <a:txBody>
                    <a:bodyPr wrap="square"/>
                    <a:lstStyle/>
                    <a:p>
                      <a:r>
                        <a:rPr sz="1000" b="0">
                          <a:solidFill>
                            <a:srgbClr val="282828"/>
                          </a:solidFill>
                          <a:latin typeface="Arial"/>
                        </a:rPr>
                        <a:t>47 actuators changed 1 nm</a:t>
                      </a:r>
                    </a:p>
                  </a:txBody>
                  <a:tcPr marL="54864" marR="54864" marT="18288" marB="18288">
                    <a:solidFill>
                      <a:srgbClr val="ECF1F6"/>
                    </a:solidFill>
                  </a:tcPr>
                </a:tc>
                <a:tc>
                  <a:txBody>
                    <a:bodyPr wrap="square"/>
                    <a:lstStyle/>
                    <a:p>
                      <a:r>
                        <a:rPr sz="1000" b="0">
                          <a:solidFill>
                            <a:srgbClr val="282828"/>
                          </a:solidFill>
                          <a:latin typeface="Arial"/>
                        </a:rPr>
                        <a:t>0.999, 4 pm</a:t>
                      </a:r>
                    </a:p>
                  </a:txBody>
                  <a:tcPr marL="54864" marR="54864" marT="18288" marB="18288">
                    <a:solidFill>
                      <a:srgbClr val="ECF1F6"/>
                    </a:solidFill>
                  </a:tcPr>
                </a:tc>
                <a:tc>
                  <a:txBody>
                    <a:bodyPr wrap="square"/>
                    <a:lstStyle/>
                    <a:p>
                      <a:r>
                        <a:rPr sz="1000" b="0">
                          <a:solidFill>
                            <a:srgbClr val="282828"/>
                          </a:solidFill>
                          <a:latin typeface="Arial"/>
                        </a:rPr>
                        <a:t>0.999, 3 pm</a:t>
                      </a:r>
                    </a:p>
                  </a:txBody>
                  <a:tcPr marL="54864" marR="54864" marT="18288" marB="18288">
                    <a:solidFill>
                      <a:srgbClr val="ECF1F6"/>
                    </a:solidFill>
                  </a:tcPr>
                </a:tc>
              </a:tr>
              <a:tr h="262890">
                <a:tc>
                  <a:txBody>
                    <a:bodyPr wrap="square"/>
                    <a:lstStyle/>
                    <a:p>
                      <a:r>
                        <a:rPr sz="1000" b="0">
                          <a:solidFill>
                            <a:srgbClr val="282828"/>
                          </a:solidFill>
                          <a:latin typeface="Arial"/>
                        </a:rPr>
                        <a:t>dense random 10 nm: gain, error</a:t>
                      </a:r>
                    </a:p>
                  </a:txBody>
                  <a:tcPr marL="54864" marR="54864" marT="18288" marB="18288">
                    <a:solidFill>
                      <a:srgbClr val="FFFFFF"/>
                    </a:solidFill>
                  </a:tcPr>
                </a:tc>
                <a:tc>
                  <a:txBody>
                    <a:bodyPr wrap="square"/>
                    <a:lstStyle/>
                    <a:p>
                      <a:r>
                        <a:rPr sz="1000" b="0">
                          <a:solidFill>
                            <a:srgbClr val="282828"/>
                          </a:solidFill>
                          <a:latin typeface="Arial"/>
                        </a:rPr>
                        <a:t>0.98, 0.68 nm</a:t>
                      </a:r>
                    </a:p>
                  </a:txBody>
                  <a:tcPr marL="54864" marR="54864" marT="18288" marB="18288">
                    <a:solidFill>
                      <a:srgbClr val="FFFFFF"/>
                    </a:solidFill>
                  </a:tcPr>
                </a:tc>
                <a:tc>
                  <a:txBody>
                    <a:bodyPr wrap="square"/>
                    <a:lstStyle/>
                    <a:p>
                      <a:r>
                        <a:rPr sz="1000" b="0">
                          <a:solidFill>
                            <a:srgbClr val="282828"/>
                          </a:solidFill>
                          <a:latin typeface="Arial"/>
                        </a:rPr>
                        <a:t>1.000, 0.33 nm</a:t>
                      </a:r>
                    </a:p>
                  </a:txBody>
                  <a:tcPr marL="54864" marR="54864" marT="18288" marB="18288">
                    <a:solidFill>
                      <a:srgbClr val="FFFFFF"/>
                    </a:solidFill>
                  </a:tcPr>
                </a:tc>
              </a:tr>
              <a:tr h="434340">
                <a:tc>
                  <a:txBody>
                    <a:bodyPr wrap="square"/>
                    <a:lstStyle/>
                    <a:p>
                      <a:r>
                        <a:rPr sz="1000" b="0">
                          <a:solidFill>
                            <a:srgbClr val="282828"/>
                          </a:solidFill>
                          <a:latin typeface="Arial"/>
                        </a:rPr>
                        <a:t>gain at 40 / 50 / 60 nm rms with the 30 nm calibration</a:t>
                      </a:r>
                    </a:p>
                  </a:txBody>
                  <a:tcPr marL="54864" marR="54864" marT="18288" marB="18288">
                    <a:solidFill>
                      <a:srgbClr val="ECF1F6"/>
                    </a:solidFill>
                  </a:tcPr>
                </a:tc>
                <a:tc>
                  <a:txBody>
                    <a:bodyPr wrap="square"/>
                    <a:lstStyle/>
                    <a:p>
                      <a:r>
                        <a:rPr sz="1000" b="0">
                          <a:solidFill>
                            <a:srgbClr val="282828"/>
                          </a:solidFill>
                          <a:latin typeface="Arial"/>
                        </a:rPr>
                        <a:t>0.91 / 0.86 / 0.66</a:t>
                      </a:r>
                    </a:p>
                  </a:txBody>
                  <a:tcPr marL="54864" marR="54864" marT="18288" marB="18288">
                    <a:solidFill>
                      <a:srgbClr val="ECF1F6"/>
                    </a:solidFill>
                  </a:tcPr>
                </a:tc>
                <a:tc>
                  <a:txBody>
                    <a:bodyPr wrap="square"/>
                    <a:lstStyle/>
                    <a:p>
                      <a:r>
                        <a:rPr sz="1000" b="0">
                          <a:solidFill>
                            <a:srgbClr val="282828"/>
                          </a:solidFill>
                          <a:latin typeface="Arial"/>
                        </a:rPr>
                        <a:t>0.996 / 0.991 / 0.981</a:t>
                      </a:r>
                    </a:p>
                  </a:txBody>
                  <a:tcPr marL="54864" marR="54864" marT="18288" marB="18288">
                    <a:solidFill>
                      <a:srgbClr val="ECF1F6"/>
                    </a:solidFill>
                  </a:tcPr>
                </a:tc>
              </a:tr>
              <a:tr h="262890">
                <a:tc>
                  <a:txBody>
                    <a:bodyPr wrap="square"/>
                    <a:lstStyle/>
                    <a:p>
                      <a:r>
                        <a:rPr sz="1000" b="0">
                          <a:solidFill>
                            <a:srgbClr val="282828"/>
                          </a:solidFill>
                          <a:latin typeface="Arial"/>
                        </a:rPr>
                        <a:t>photons per measurement for 1 pm</a:t>
                      </a:r>
                    </a:p>
                  </a:txBody>
                  <a:tcPr marL="54864" marR="54864" marT="18288" marB="18288">
                    <a:solidFill>
                      <a:srgbClr val="FFFFFF"/>
                    </a:solidFill>
                  </a:tcPr>
                </a:tc>
                <a:tc>
                  <a:txBody>
                    <a:bodyPr wrap="square"/>
                    <a:lstStyle/>
                    <a:p>
                      <a:r>
                        <a:rPr sz="1000" b="0">
                          <a:solidFill>
                            <a:srgbClr val="282828"/>
                          </a:solidFill>
                          <a:latin typeface="Arial"/>
                        </a:rPr>
                        <a:t>5.6×10¹³</a:t>
                      </a:r>
                    </a:p>
                  </a:txBody>
                  <a:tcPr marL="54864" marR="54864" marT="18288" marB="18288">
                    <a:solidFill>
                      <a:srgbClr val="FFFFFF"/>
                    </a:solidFill>
                  </a:tcPr>
                </a:tc>
                <a:tc>
                  <a:txBody>
                    <a:bodyPr wrap="square"/>
                    <a:lstStyle/>
                    <a:p>
                      <a:r>
                        <a:rPr sz="1000" b="0">
                          <a:solidFill>
                            <a:srgbClr val="282828"/>
                          </a:solidFill>
                          <a:latin typeface="Arial"/>
                        </a:rPr>
                        <a:t>4.7×10¹³</a:t>
                      </a:r>
                    </a:p>
                  </a:txBody>
                  <a:tcPr marL="54864" marR="54864" marT="18288" marB="18288">
                    <a:solidFill>
                      <a:srgbClr val="FFFFFF"/>
                    </a:solidFill>
                  </a:tcPr>
                </a:tc>
              </a:tr>
              <a:tr h="434340">
                <a:tc>
                  <a:txBody>
                    <a:bodyPr wrap="square"/>
                    <a:lstStyle/>
                    <a:p>
                      <a:r>
                        <a:rPr sz="1000" b="0">
                          <a:solidFill>
                            <a:srgbClr val="282828"/>
                          </a:solidFill>
                          <a:latin typeface="Arial"/>
                        </a:rPr>
                        <a:t>held to 3 pm in closed loop: noise only / 2 pm walk</a:t>
                      </a:r>
                    </a:p>
                  </a:txBody>
                  <a:tcPr marL="54864" marR="54864" marT="18288" marB="18288">
                    <a:solidFill>
                      <a:srgbClr val="ECF1F6"/>
                    </a:solidFill>
                  </a:tcPr>
                </a:tc>
                <a:tc>
                  <a:txBody>
                    <a:bodyPr wrap="square"/>
                    <a:lstStyle/>
                    <a:p>
                      <a:r>
                        <a:rPr sz="1000" b="0">
                          <a:solidFill>
                            <a:srgbClr val="282828"/>
                          </a:solidFill>
                          <a:latin typeface="Arial"/>
                        </a:rPr>
                        <a:t>2.6×10¹² / 7.5×10¹²</a:t>
                      </a:r>
                    </a:p>
                  </a:txBody>
                  <a:tcPr marL="54864" marR="54864" marT="18288" marB="18288">
                    <a:solidFill>
                      <a:srgbClr val="ECF1F6"/>
                    </a:solidFill>
                  </a:tcPr>
                </a:tc>
                <a:tc>
                  <a:txBody>
                    <a:bodyPr wrap="square"/>
                    <a:lstStyle/>
                    <a:p>
                      <a:r>
                        <a:rPr sz="1000" b="0">
                          <a:solidFill>
                            <a:srgbClr val="282828"/>
                          </a:solidFill>
                          <a:latin typeface="Arial"/>
                        </a:rPr>
                        <a:t>1.5×10¹² / 5.3×10¹²</a:t>
                      </a:r>
                    </a:p>
                  </a:txBody>
                  <a:tcPr marL="54864" marR="54864" marT="18288" marB="18288">
                    <a:solidFill>
                      <a:srgbClr val="ECF1F6"/>
                    </a:solidFill>
                  </a:tcPr>
                </a:tc>
              </a:tr>
            </a:tbl>
          </a:graphicData>
        </a:graphic>
      </p:graphicFrame>
      <p:sp>
        <p:nvSpPr>
          <p:cNvPr id="7" name="TextBox 6"/>
          <p:cNvSpPr txBox="1"/>
          <p:nvPr/>
        </p:nvSpPr>
        <p:spPr>
          <a:xfrm>
            <a:off x="6400800" y="3799331"/>
            <a:ext cx="5394960" cy="274320"/>
          </a:xfrm>
          <a:prstGeom prst="rect">
            <a:avLst/>
          </a:prstGeom>
          <a:noFill/>
        </p:spPr>
        <p:txBody>
          <a:bodyPr wrap="square">
            <a:spAutoFit/>
          </a:bodyPr>
          <a:lstStyle/>
          <a:p>
            <a:pPr>
              <a:spcAft>
                <a:spcPts val="600"/>
              </a:spcAft>
            </a:pPr>
            <a:r>
              <a:rPr sz="1200" b="0">
                <a:solidFill>
                  <a:srgbClr val="282828"/>
                </a:solidFill>
                <a:latin typeface="Arial"/>
              </a:rPr>
              <a:t>•  How it works: a geometric-phase (metasurface) dimple applies +90° to one circular polarization and −90° to the other; a polarization splitter behind the pupil relay gives both pupil images in one exposure.  Per pixel the difference of the pair gives the sine of the phase and the sum the cosine, so the phase is solved exactly with no sign fold, and the reference wave is refined as for the exact reading.</a:t>
            </a:r>
          </a:p>
          <a:p>
            <a:pPr>
              <a:spcAft>
                <a:spcPts val="600"/>
              </a:spcAft>
            </a:pPr>
            <a:r>
              <a:rPr sz="1200" b="0">
                <a:solidFill>
                  <a:srgbClr val="282828"/>
                </a:solidFill>
                <a:latin typeface="Arial"/>
              </a:rPr>
              <a:t>•  What it buys: the one-frame exact reading's fold is gone (a 100 nm poke reads to 0.05 pm where the single frame errs by 9 nm), the calibration ages five times slower, and nothing moves between the two frames.  What it does not change: the sensor's range is still set by the focal core (all readings fail past 120 nm rms) and by half a wavelength.</a:t>
            </a:r>
          </a:p>
        </p:txBody>
      </p:sp>
      <p:sp>
        <p:nvSpPr>
          <p:cNvPr id="8" name="TextBox 7"/>
          <p:cNvSpPr txBox="1"/>
          <p:nvPr/>
        </p:nvSpPr>
        <p:spPr>
          <a:xfrm>
            <a:off x="6400800" y="6295643"/>
            <a:ext cx="5394960" cy="274320"/>
          </a:xfrm>
          <a:prstGeom prst="rect">
            <a:avLst/>
          </a:prstGeom>
          <a:noFill/>
        </p:spPr>
        <p:txBody>
          <a:bodyPr wrap="square">
            <a:spAutoFit/>
          </a:bodyPr>
          <a:lstStyle/>
          <a:p>
            <a:pPr>
              <a:spcAft>
                <a:spcPts val="600"/>
              </a:spcAft>
            </a:pPr>
            <a:r>
              <a:rPr sz="1050" b="0">
                <a:solidFill>
                  <a:srgbClr val="6E6E6E"/>
                </a:solidFill>
                <a:latin typeface="Arial"/>
              </a:rPr>
              <a:t>Ideal metasurface: each image is the scalar sensor with its own dimple sign.  Its two imperfections are priced on the next slide; still open: the stepped reading's between-frame drift.  Records: runs/v193base, v193noise, vloop193.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polarized dimple on the bench: the split behind the field lens</a:t>
            </a:r>
          </a:p>
          <a:p>
            <a:pPr>
              <a:spcAft>
                <a:spcPts val="0"/>
              </a:spcAft>
            </a:pPr>
            <a:r>
              <a:rPr sz="1250" b="0">
                <a:solidFill>
                  <a:srgbClr val="6E6E6E"/>
                </a:solidFill>
                <a:latin typeface="Arial"/>
              </a:rPr>
              <a:t>Nothing changes before the mask; behind the field lens a quarter-wave plate and a polarizing cube put the two pupil images on two cameras at the same distance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312136" y="1298448"/>
            <a:ext cx="7567422" cy="4269232"/>
          </a:xfrm>
          <a:prstGeom prst="rect">
            <a:avLst/>
          </a:prstGeom>
        </p:spPr>
      </p:pic>
      <p:sp>
        <p:nvSpPr>
          <p:cNvPr id="5" name="TextBox 4"/>
          <p:cNvSpPr txBox="1"/>
          <p:nvPr/>
        </p:nvSpPr>
        <p:spPr>
          <a:xfrm>
            <a:off x="411480" y="55859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tail of the vector Zernike sensor as traced by the engine, from the focus to the two cameras, seen from above the bench.  Purple: channel A, transmitted by the cube; orange: channel B, reflected.  The whole train (slide 3) is unchanged up to here.  Lower panel of the tool's figure.</a:t>
            </a:r>
          </a:p>
        </p:txBody>
      </p:sp>
      <p:sp>
        <p:nvSpPr>
          <p:cNvPr id="6" name="TextBox 5"/>
          <p:cNvSpPr txBox="1"/>
          <p:nvPr/>
        </p:nvSpPr>
        <p:spPr>
          <a:xfrm>
            <a:off x="411480" y="6016751"/>
            <a:ext cx="11368735" cy="274320"/>
          </a:xfrm>
          <a:prstGeom prst="rect">
            <a:avLst/>
          </a:prstGeom>
          <a:noFill/>
        </p:spPr>
        <p:txBody>
          <a:bodyPr wrap="square">
            <a:spAutoFit/>
          </a:bodyPr>
          <a:lstStyle/>
          <a:p>
            <a:pPr>
              <a:spcAft>
                <a:spcPts val="600"/>
              </a:spcAft>
            </a:pPr>
            <a:r>
              <a:rPr sz="1050" b="0">
                <a:solidFill>
                  <a:srgbClr val="6E6E6E"/>
                </a:solidFill>
                <a:latin typeface="Arial"/>
              </a:rPr>
              <a:t>The geometric-phase metasurface sits where the etched plate sat.  The quarter-wave plate turns the two circular outputs into the cube's s and p states; the 12.7 mm cemented MacNeille cube sends one to each camera, both 20.7 mm behind the cube at the pupil image (its glass lengthens the image distance by 5 mm, on both ports).  Two cameras rather than a Wollaston and one: the 9.4 mm pupil image sits 32 mm behind the field lens, so side-by-side images would need a 17° split, a calcite prism's limit; the cube's ports are identical legs by construction and its coated diagonal is the leakage term to price next.  Tool: zwfs_dm96/zwfs_vlayout.m (decks zwfs_v_camA.in, zwfs_v_camB.in; macos.view_rx).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the polarized dimple, priced</a:t>
            </a:r>
          </a:p>
          <a:p>
            <a:pPr>
              <a:spcAft>
                <a:spcPts val="0"/>
              </a:spcAft>
            </a:pPr>
            <a:r>
              <a:rPr sz="1250" b="0">
                <a:solidFill>
                  <a:srgbClr val="6E6E6E"/>
                </a:solidFill>
                <a:latin typeface="Arial"/>
              </a:rPr>
              <a:t>A retardance error in the metasurface and the test arm's polarization aberration both wash out through the working-surface matrix; only a large difference between the two channels' phases costs anything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097530"/>
        </p:xfrm>
        <a:graphic>
          <a:graphicData uri="http://schemas.openxmlformats.org/drawingml/2006/table">
            <a:tbl>
              <a:tblPr firstRow="1" bandRow="1">
                <a:tableStyleId>{5C22544A-7EE6-4342-B048-85BDC9FD1C3A}</a:tableStyleId>
              </a:tblPr>
              <a:tblGrid>
                <a:gridCol w="3644522"/>
                <a:gridCol w="1631875"/>
                <a:gridCol w="2556605"/>
                <a:gridCol w="3535731"/>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absolute (100 nm pokes)</a:t>
                      </a:r>
                    </a:p>
                  </a:txBody>
                  <a:tcPr marL="54864" marR="54864" marT="18288" marB="18288">
                    <a:solidFill>
                      <a:srgbClr val="1F4E79"/>
                    </a:solidFill>
                  </a:tcPr>
                </a:tc>
                <a:tc>
                  <a:txBody>
                    <a:bodyPr wrap="square"/>
                    <a:lstStyle/>
                    <a:p>
                      <a:r>
                        <a:rPr sz="1100" b="1">
                          <a:solidFill>
                            <a:srgbClr val="FFFFFF"/>
                          </a:solidFill>
                          <a:latin typeface="Arial"/>
                        </a:rPr>
                        <a:t>with the bench's own calibration</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30 nm surface: 10 nm change / 47 × 1 nm / dense 10 nm</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0.1 rad: 5% of the light unshifted, one complex constant on both images</a:t>
                      </a:r>
                    </a:p>
                  </a:txBody>
                  <a:tcPr marL="54864" marR="54864" marT="18288" marB="18288">
                    <a:solidFill>
                      <a:srgbClr val="FFFFFF"/>
                    </a:solidFill>
                  </a:tcPr>
                </a:tc>
                <a:tc>
                  <a:txBody>
                    <a:bodyPr wrap="square"/>
                    <a:lstStyle/>
                    <a:p>
                      <a:r>
                        <a:rPr sz="1100" b="0">
                          <a:solidFill>
                            <a:srgbClr val="282828"/>
                          </a:solidFill>
                          <a:latin typeface="Arial"/>
                        </a:rPr>
                        <a:t>0.75 nm (leak in phase), 18 pm (in quadrature)</a:t>
                      </a:r>
                    </a:p>
                  </a:txBody>
                  <a:tcPr marL="54864" marR="54864" marT="18288" marB="18288">
                    <a:solidFill>
                      <a:srgbClr val="FFFFFF"/>
                    </a:solidFill>
                  </a:tcPr>
                </a:tc>
                <a:tc>
                  <a:txBody>
                    <a:bodyPr wrap="square"/>
                    <a:lstStyle/>
                    <a:p>
                      <a:r>
                        <a:rPr sz="1100" b="0">
                          <a:solidFill>
                            <a:srgbClr val="282828"/>
                          </a:solidFill>
                          <a:latin typeface="Arial"/>
                        </a:rPr>
                        <a:t>0.05 pm: three numbers fitted on the flat's two images</a:t>
                      </a:r>
                    </a:p>
                  </a:txBody>
                  <a:tcPr marL="54864" marR="54864" marT="18288" marB="18288">
                    <a:solidFill>
                      <a:srgbClr val="FFFFFF"/>
                    </a:solidFill>
                  </a:tcPr>
                </a:tc>
                <a:tc>
                  <a:txBody>
                    <a:bodyPr wrap="square"/>
                    <a:lstStyle/>
                    <a:p>
                      <a:r>
                        <a:rPr sz="1100" b="0">
                          <a:solidFill>
                            <a:srgbClr val="282828"/>
                          </a:solidFill>
                          <a:latin typeface="Arial"/>
                        </a:rPr>
                        <a:t>0.993, 4 pm / 0.999, 3 pm / 0.33 nm — the ideal numbers; loop identical</a:t>
                      </a:r>
                    </a:p>
                  </a:txBody>
                  <a:tcPr marL="54864" marR="54864" marT="18288" marB="18288">
                    <a:solidFill>
                      <a:srgbClr val="FFFFFF"/>
                    </a:solidFill>
                  </a:tcPr>
                </a:tc>
              </a:tr>
              <a:tr h="657225">
                <a:tc>
                  <a:txBody>
                    <a:bodyPr wrap="square"/>
                    <a:lstStyle/>
                    <a:p>
                      <a:r>
                        <a:rPr sz="1100" b="0">
                          <a:solidFill>
                            <a:srgbClr val="282828"/>
                          </a:solidFill>
                          <a:latin typeface="Arial"/>
                        </a:rPr>
                        <a:t>this lens rig's arm, laser 45° to the fold plane: the channels' phases differ by 1.6 mrad rms (six 7° glass faces, 0.5% diattenuation)</a:t>
                      </a:r>
                    </a:p>
                  </a:txBody>
                  <a:tcPr marL="54864" marR="54864" marT="18288" marB="18288">
                    <a:solidFill>
                      <a:srgbClr val="ECF1F6"/>
                    </a:solidFill>
                  </a:tcPr>
                </a:tc>
                <a:tc>
                  <a:txBody>
                    <a:bodyPr wrap="square"/>
                    <a:lstStyle/>
                    <a:p>
                      <a:r>
                        <a:rPr sz="1100" b="0">
                          <a:solidFill>
                            <a:srgbClr val="282828"/>
                          </a:solidFill>
                          <a:latin typeface="Arial"/>
                        </a:rPr>
                        <a:t>9 pm (17 at 0°; 0.1 with the laser on the fold plane's axis)</a:t>
                      </a:r>
                    </a:p>
                  </a:txBody>
                  <a:tcPr marL="54864" marR="54864" marT="18288" marB="18288">
                    <a:solidFill>
                      <a:srgbClr val="ECF1F6"/>
                    </a:solidFill>
                  </a:tcPr>
                </a:tc>
                <a:tc>
                  <a:txBody>
                    <a:bodyPr wrap="square"/>
                    <a:lstStyle/>
                    <a:p>
                      <a:r>
                        <a:rPr sz="1100" b="0">
                          <a:solidFill>
                            <a:srgbClr val="282828"/>
                          </a:solidFill>
                          <a:latin typeface="Arial"/>
                        </a:rPr>
                        <a:t>9.5 pm: the unmasked reference frames cannot see a phase; 0.05 pm with a polarimetric map</a:t>
                      </a:r>
                    </a:p>
                  </a:txBody>
                  <a:tcPr marL="54864" marR="54864" marT="18288" marB="18288">
                    <a:solidFill>
                      <a:srgbClr val="ECF1F6"/>
                    </a:solidFill>
                  </a:tcPr>
                </a:tc>
                <a:tc>
                  <a:txBody>
                    <a:bodyPr wrap="square"/>
                    <a:lstStyle/>
                    <a:p>
                      <a:r>
                        <a:rPr sz="1100" b="0">
                          <a:solidFill>
                            <a:srgbClr val="282828"/>
                          </a:solidFill>
                          <a:latin typeface="Arial"/>
                        </a:rPr>
                        <a:t>ideal to the printed digit</a:t>
                      </a:r>
                    </a:p>
                  </a:txBody>
                  <a:tcPr marL="54864" marR="54864" marT="18288" marB="18288">
                    <a:solidFill>
                      <a:srgbClr val="ECF1F6"/>
                    </a:solidFill>
                  </a:tcPr>
                </a:tc>
              </a:tr>
              <a:tr h="657225">
                <a:tc>
                  <a:txBody>
                    <a:bodyPr wrap="square"/>
                    <a:lstStyle/>
                    <a:p>
                      <a:r>
                        <a:rPr sz="1100" b="0">
                          <a:solidFill>
                            <a:srgbClr val="282828"/>
                          </a:solidFill>
                          <a:latin typeface="Arial"/>
                        </a:rPr>
                        <a:t>channel phase difference 0.1 / 0.3 rad rms (a pupil-varying diattenuation)</a:t>
                      </a:r>
                    </a:p>
                  </a:txBody>
                  <a:tcPr marL="54864" marR="54864" marT="18288" marB="18288">
                    <a:solidFill>
                      <a:srgbClr val="FFFFFF"/>
                    </a:solidFill>
                  </a:tcPr>
                </a:tc>
                <a:tc>
                  <a:txBody>
                    <a:bodyPr wrap="square"/>
                    <a:lstStyle/>
                    <a:p>
                      <a:r>
                        <a:rPr sz="1100" b="0">
                          <a:solidFill>
                            <a:srgbClr val="282828"/>
                          </a:solidFill>
                          <a:latin typeface="Arial"/>
                        </a:rPr>
                        <a:t>0.6 / 1.9 nm (6 nm per rad)</a:t>
                      </a:r>
                    </a:p>
                  </a:txBody>
                  <a:tcPr marL="54864" marR="54864" marT="18288" marB="18288">
                    <a:solidFill>
                      <a:srgbClr val="FFFFFF"/>
                    </a:solidFill>
                  </a:tcPr>
                </a:tc>
                <a:tc>
                  <a:txBody>
                    <a:bodyPr wrap="square"/>
                    <a:lstStyle/>
                    <a:p>
                      <a:r>
                        <a:rPr sz="1100" b="0">
                          <a:solidFill>
                            <a:srgbClr val="282828"/>
                          </a:solidFill>
                          <a:latin typeface="Arial"/>
                        </a:rPr>
                        <a:t>unchanged</a:t>
                      </a:r>
                    </a:p>
                  </a:txBody>
                  <a:tcPr marL="54864" marR="54864" marT="18288" marB="18288">
                    <a:solidFill>
                      <a:srgbClr val="FFFFFF"/>
                    </a:solidFill>
                  </a:tcPr>
                </a:tc>
                <a:tc>
                  <a:txBody>
                    <a:bodyPr wrap="square"/>
                    <a:lstStyle/>
                    <a:p>
                      <a:r>
                        <a:rPr sz="1100" b="0">
                          <a:solidFill>
                            <a:srgbClr val="282828"/>
                          </a:solidFill>
                          <a:latin typeface="Arial"/>
                        </a:rPr>
                        <a:t>0.995, 4 / 1.001, 4 / 0.44 nm at 0.1; 0.997, 4 / 1.007, 8 / 0.96 nm at 0.3; loop at 0.3: 10% less gain, same noise, no fixed error</a:t>
                      </a:r>
                    </a:p>
                  </a:txBody>
                  <a:tcPr marL="54864" marR="54864" marT="18288" marB="18288">
                    <a:solidFill>
                      <a:srgbClr val="FFFFFF"/>
                    </a:solidFill>
                  </a:tcPr>
                </a:tc>
              </a:tr>
              <a:tr h="657225">
                <a:tc>
                  <a:txBody>
                    <a:bodyPr wrap="square"/>
                    <a:lstStyle/>
                    <a:p>
                      <a:r>
                        <a:rPr sz="1100" b="0">
                          <a:solidFill>
                            <a:srgbClr val="282828"/>
                          </a:solidFill>
                          <a:latin typeface="Arial"/>
                        </a:rPr>
                        <a:t>channel amplitude ratio 0.1 / 0.3 rms (a pupil-varying retardance, the all-mirror rig's term)</a:t>
                      </a:r>
                    </a:p>
                  </a:txBody>
                  <a:tcPr marL="54864" marR="54864" marT="18288" marB="18288">
                    <a:solidFill>
                      <a:srgbClr val="ECF1F6"/>
                    </a:solidFill>
                  </a:tcPr>
                </a:tc>
                <a:tc>
                  <a:txBody>
                    <a:bodyPr wrap="square"/>
                    <a:lstStyle/>
                    <a:p>
                      <a:r>
                        <a:rPr sz="1100" b="0">
                          <a:solidFill>
                            <a:srgbClr val="282828"/>
                          </a:solidFill>
                          <a:latin typeface="Arial"/>
                        </a:rPr>
                        <a:t>2.3 / 7.1 nm</a:t>
                      </a:r>
                    </a:p>
                  </a:txBody>
                  <a:tcPr marL="54864" marR="54864" marT="18288" marB="18288">
                    <a:solidFill>
                      <a:srgbClr val="ECF1F6"/>
                    </a:solidFill>
                  </a:tcPr>
                </a:tc>
                <a:tc>
                  <a:txBody>
                    <a:bodyPr wrap="square"/>
                    <a:lstStyle/>
                    <a:p>
                      <a:r>
                        <a:rPr sz="1100" b="0">
                          <a:solidFill>
                            <a:srgbClr val="282828"/>
                          </a:solidFill>
                          <a:latin typeface="Arial"/>
                        </a:rPr>
                        <a:t>0.05 pm: removed by the per-channel unmasked reference frames every Zernike-sensor bench takes</a:t>
                      </a:r>
                    </a:p>
                  </a:txBody>
                  <a:tcPr marL="54864" marR="54864" marT="18288" marB="18288">
                    <a:solidFill>
                      <a:srgbClr val="ECF1F6"/>
                    </a:solidFill>
                  </a:tcPr>
                </a:tc>
                <a:tc>
                  <a:txBody>
                    <a:bodyPr wrap="square"/>
                    <a:lstStyle/>
                    <a:p>
                      <a:r>
                        <a:rPr sz="1100" b="0">
                          <a:solidFill>
                            <a:srgbClr val="282828"/>
                          </a:solidFill>
                          <a:latin typeface="Arial"/>
                        </a:rPr>
                        <a:t>0.993, 4 / 1.000, 3 / 0.43 nm at 0.1 uncalibrated; the ideal numbers once calibrated</a:t>
                      </a:r>
                    </a:p>
                  </a:txBody>
                  <a:tcPr marL="54864" marR="54864" marT="18288" marB="18288">
                    <a:solidFill>
                      <a:srgbClr val="ECF1F6"/>
                    </a:solidFill>
                  </a:tcPr>
                </a:tc>
              </a:tr>
            </a:tbl>
          </a:graphicData>
        </a:graphic>
      </p:graphicFrame>
      <p:sp>
        <p:nvSpPr>
          <p:cNvPr id="5" name="TextBox 4"/>
          <p:cNvSpPr txBox="1"/>
          <p:nvPr/>
        </p:nvSpPr>
        <p:spPr>
          <a:xfrm>
            <a:off x="411480" y="4542282"/>
            <a:ext cx="11368735" cy="274320"/>
          </a:xfrm>
          <a:prstGeom prst="rect">
            <a:avLst/>
          </a:prstGeom>
          <a:noFill/>
        </p:spPr>
        <p:txBody>
          <a:bodyPr wrap="square">
            <a:spAutoFit/>
          </a:bodyPr>
          <a:lstStyle/>
          <a:p>
            <a:pPr>
              <a:spcAft>
                <a:spcPts val="600"/>
              </a:spcAft>
            </a:pPr>
            <a:r>
              <a:rPr sz="1500" b="0">
                <a:solidFill>
                  <a:srgbClr val="282828"/>
                </a:solidFill>
                <a:latin typeface="Arial"/>
              </a:rPr>
              <a:t>•  How the arm enters: the metasurface converts one circular polarization with +90° and the other with −90°, so each image is of that polarization's own pupil field.  The engine's polarized ray trace of the arm gives both fields at every pixel; a real Jones matrix makes the channels differ in phase only, by the diattenuation times sin 2(axis − laser angle).</a:t>
            </a:r>
          </a:p>
          <a:p>
            <a:pPr>
              <a:spcAft>
                <a:spcPts val="600"/>
              </a:spcAft>
            </a:pPr>
            <a:r>
              <a:rPr sz="1500" b="0">
                <a:solidFill>
                  <a:srgbClr val="282828"/>
                </a:solidFill>
                <a:latin typeface="Arial"/>
              </a:rPr>
              <a:t>•  Design rule: specify the arm's pupil-varying diattenuation (0.1 rad rms of channel phase difference costs nothing through the matrix; 0.3 costs the grid row 2.6× and 10% of loop gain) and put the laser on the arm's dominant axis; a pupil-varying retardance the sensor calibrates from frames it takes anyway.</a:t>
            </a:r>
          </a:p>
        </p:txBody>
      </p:sp>
      <p:sp>
        <p:nvSpPr>
          <p:cNvPr id="6" name="TextBox 5"/>
          <p:cNvSpPr txBox="1"/>
          <p:nvPr/>
        </p:nvSpPr>
        <p:spPr>
          <a:xfrm>
            <a:off x="411480" y="6592824"/>
            <a:ext cx="11368735" cy="274320"/>
          </a:xfrm>
          <a:prstGeom prst="rect">
            <a:avLst/>
          </a:prstGeom>
          <a:noFill/>
        </p:spPr>
        <p:txBody>
          <a:bodyPr wrap="square">
            <a:spAutoFit/>
          </a:bodyPr>
          <a:lstStyle/>
          <a:p>
            <a:pPr>
              <a:spcAft>
                <a:spcPts val="600"/>
              </a:spcAft>
            </a:pPr>
            <a:r>
              <a:rPr sz="1050" b="0">
                <a:solidFill>
                  <a:srgbClr val="6E6E6E"/>
                </a:solidFill>
                <a:latin typeface="Arial"/>
              </a:rPr>
              <a:t>Astigmatic maps, rms over the pupil; 193 rays; the mask's own change with incidence angle is not modeled.  Records: zwfs_dm96 runs (the v2, v3arm, v3s and v3loop series); README V2 and 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Both instruments through the same loop</a:t>
            </a:r>
          </a:p>
          <a:p>
            <a:pPr>
              <a:spcAft>
                <a:spcPts val="0"/>
              </a:spcAft>
            </a:pPr>
            <a:r>
              <a:rPr sz="1250" b="0">
                <a:solidFill>
                  <a:srgbClr val="6E6E6E"/>
                </a:solidFill>
                <a:latin typeface="Arial"/>
              </a:rPr>
              <a:t>The interferometer holds the surface at twice the sensor's light but keeps a 9% fixed error; its reflective version cannot hold a 2 pm walk at 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057400"/>
        </p:xfrm>
        <a:graphic>
          <a:graphicData uri="http://schemas.openxmlformats.org/drawingml/2006/table">
            <a:tbl>
              <a:tblPr firstRow="1" bandRow="1">
                <a:tableStyleId>{5C22544A-7EE6-4342-B048-85BDC9FD1C3A}</a:tableStyleId>
              </a:tblPr>
              <a:tblGrid>
                <a:gridCol w="2977188"/>
                <a:gridCol w="1889760"/>
                <a:gridCol w="1817116"/>
                <a:gridCol w="1889760"/>
                <a:gridCol w="2794911"/>
              </a:tblGrid>
              <a:tr h="468630">
                <a:tc>
                  <a:txBody>
                    <a:bodyPr wrap="square"/>
                    <a:lstStyle/>
                    <a:p>
                      <a:r>
                        <a:rPr sz="1100" b="1">
                          <a:solidFill>
                            <a:srgbClr val="FFFFFF"/>
                          </a:solidFill>
                          <a:latin typeface="Arial"/>
                        </a:rPr>
                        <a:t>held to 3 pm rms: photons per cycle</a:t>
                      </a:r>
                    </a:p>
                  </a:txBody>
                  <a:tcPr marL="54864" marR="54864" marT="18288" marB="18288">
                    <a:solidFill>
                      <a:srgbClr val="1F4E79"/>
                    </a:solidFill>
                  </a:tcPr>
                </a:tc>
                <a:tc>
                  <a:txBody>
                    <a:bodyPr wrap="square"/>
                    <a:lstStyle/>
                    <a:p>
                      <a:r>
                        <a:rPr sz="1100" b="1">
                          <a:solidFill>
                            <a:srgbClr val="FFFFFF"/>
                          </a:solidFill>
                          <a:latin typeface="Arial"/>
                        </a:rPr>
                        <a:t>ZWFS stepped (S)</a:t>
                      </a:r>
                    </a:p>
                  </a:txBody>
                  <a:tcPr marL="54864" marR="54864" marT="18288" marB="18288">
                    <a:solidFill>
                      <a:srgbClr val="1F4E79"/>
                    </a:solidFill>
                  </a:tcPr>
                </a:tc>
                <a:tc>
                  <a:txBody>
                    <a:bodyPr wrap="square"/>
                    <a:lstStyle/>
                    <a:p>
                      <a:r>
                        <a:rPr sz="1100" b="1">
                          <a:solidFill>
                            <a:srgbClr val="FFFFFF"/>
                          </a:solidFill>
                          <a:latin typeface="Arial"/>
                        </a:rPr>
                        <a:t>ZWFS polarized pair (V)</a:t>
                      </a:r>
                    </a:p>
                  </a:txBody>
                  <a:tcPr marL="54864" marR="54864" marT="18288" marB="18288">
                    <a:solidFill>
                      <a:srgbClr val="1F4E79"/>
                    </a:solidFill>
                  </a:tcPr>
                </a:tc>
                <a:tc>
                  <a:txBody>
                    <a:bodyPr wrap="square"/>
                    <a:lstStyle/>
                    <a:p>
                      <a:r>
                        <a:rPr sz="1100" b="1">
                          <a:solidFill>
                            <a:srgbClr val="FFFFFF"/>
                          </a:solidFill>
                          <a:latin typeface="Arial"/>
                        </a:rPr>
                        <a:t>interferometer, lens rig</a:t>
                      </a:r>
                    </a:p>
                  </a:txBody>
                  <a:tcPr marL="54864" marR="54864" marT="18288" marB="18288">
                    <a:solidFill>
                      <a:srgbClr val="1F4E79"/>
                    </a:solidFill>
                  </a:tcPr>
                </a:tc>
                <a:tc>
                  <a:txBody>
                    <a:bodyPr wrap="square"/>
                    <a:lstStyle/>
                    <a:p>
                      <a:r>
                        <a:rPr sz="1100" b="1">
                          <a:solidFill>
                            <a:srgbClr val="FFFFFF"/>
                          </a:solidFill>
                          <a:latin typeface="Arial"/>
                        </a:rPr>
                        <a:t>interferometer, reflective rig (bare aluminum)</a:t>
                      </a:r>
                    </a:p>
                  </a:txBody>
                  <a:tcPr marL="54864" marR="54864" marT="18288" marB="18288">
                    <a:solidFill>
                      <a:srgbClr val="1F4E79"/>
                    </a:solidFill>
                  </a:tcPr>
                </a:tc>
              </a:tr>
              <a:tr h="280035">
                <a:tc>
                  <a:txBody>
                    <a:bodyPr wrap="square"/>
                    <a:lstStyle/>
                    <a:p>
                      <a:r>
                        <a:rPr sz="1100" b="0">
                          <a:solidFill>
                            <a:srgbClr val="282828"/>
                          </a:solidFill>
                          <a:latin typeface="Arial"/>
                        </a:rPr>
                        <a:t>noise only</a:t>
                      </a:r>
                    </a:p>
                  </a:txBody>
                  <a:tcPr marL="54864" marR="54864" marT="18288" marB="18288">
                    <a:solidFill>
                      <a:srgbClr val="FFFFFF"/>
                    </a:solidFill>
                  </a:tcPr>
                </a:tc>
                <a:tc>
                  <a:txBody>
                    <a:bodyPr wrap="square"/>
                    <a:lstStyle/>
                    <a:p>
                      <a:r>
                        <a:rPr sz="1100" b="0">
                          <a:solidFill>
                            <a:srgbClr val="282828"/>
                          </a:solidFill>
                          <a:latin typeface="Arial"/>
                        </a:rPr>
                        <a:t>2.6×10¹²</a:t>
                      </a:r>
                    </a:p>
                  </a:txBody>
                  <a:tcPr marL="54864" marR="54864" marT="18288" marB="18288">
                    <a:solidFill>
                      <a:srgbClr val="FFFFFF"/>
                    </a:solidFill>
                  </a:tcPr>
                </a:tc>
                <a:tc>
                  <a:txBody>
                    <a:bodyPr wrap="square"/>
                    <a:lstStyle/>
                    <a:p>
                      <a:r>
                        <a:rPr sz="1100" b="0">
                          <a:solidFill>
                            <a:srgbClr val="282828"/>
                          </a:solidFill>
                          <a:latin typeface="Arial"/>
                        </a:rPr>
                        <a:t>1.5×10¹²</a:t>
                      </a:r>
                    </a:p>
                  </a:txBody>
                  <a:tcPr marL="54864" marR="54864" marT="18288" marB="18288">
                    <a:solidFill>
                      <a:srgbClr val="FFFFFF"/>
                    </a:solidFill>
                  </a:tcPr>
                </a:tc>
                <a:tc>
                  <a:txBody>
                    <a:bodyPr wrap="square"/>
                    <a:lstStyle/>
                    <a:p>
                      <a:r>
                        <a:rPr sz="1100" b="0">
                          <a:solidFill>
                            <a:srgbClr val="282828"/>
                          </a:solidFill>
                          <a:latin typeface="Arial"/>
                        </a:rPr>
                        <a:t>5.5×10¹²</a:t>
                      </a:r>
                    </a:p>
                  </a:txBody>
                  <a:tcPr marL="54864" marR="54864" marT="18288" marB="18288">
                    <a:solidFill>
                      <a:srgbClr val="FFFFFF"/>
                    </a:solidFill>
                  </a:tcPr>
                </a:tc>
                <a:tc>
                  <a:txBody>
                    <a:bodyPr wrap="square"/>
                    <a:lstStyle/>
                    <a:p>
                      <a:r>
                        <a:rPr sz="1100" b="0">
                          <a:solidFill>
                            <a:srgbClr val="282828"/>
                          </a:solidFill>
                          <a:latin typeface="Arial"/>
                        </a:rPr>
                        <a:t>3.4×10¹³</a:t>
                      </a:r>
                    </a:p>
                  </a:txBody>
                  <a:tcPr marL="54864" marR="54864" marT="18288" marB="18288">
                    <a:solidFill>
                      <a:srgbClr val="FFFFFF"/>
                    </a:solidFill>
                  </a:tcPr>
                </a:tc>
              </a:tr>
              <a:tr h="280035">
                <a:tc>
                  <a:txBody>
                    <a:bodyPr wrap="square"/>
                    <a:lstStyle/>
                    <a:p>
                      <a:r>
                        <a:rPr sz="1100" b="0">
                          <a:solidFill>
                            <a:srgbClr val="282828"/>
                          </a:solidFill>
                          <a:latin typeface="Arial"/>
                        </a:rPr>
                        <a:t>random walk, 2 pm per cycle</a:t>
                      </a:r>
                    </a:p>
                  </a:txBody>
                  <a:tcPr marL="54864" marR="54864" marT="18288" marB="18288">
                    <a:solidFill>
                      <a:srgbClr val="ECF1F6"/>
                    </a:solidFill>
                  </a:tcPr>
                </a:tc>
                <a:tc>
                  <a:txBody>
                    <a:bodyPr wrap="square"/>
                    <a:lstStyle/>
                    <a:p>
                      <a:r>
                        <a:rPr sz="1100" b="0">
                          <a:solidFill>
                            <a:srgbClr val="282828"/>
                          </a:solidFill>
                          <a:latin typeface="Arial"/>
                        </a:rPr>
                        <a:t>7.5×10¹²</a:t>
                      </a:r>
                    </a:p>
                  </a:txBody>
                  <a:tcPr marL="54864" marR="54864" marT="18288" marB="18288">
                    <a:solidFill>
                      <a:srgbClr val="ECF1F6"/>
                    </a:solidFill>
                  </a:tcPr>
                </a:tc>
                <a:tc>
                  <a:txBody>
                    <a:bodyPr wrap="square"/>
                    <a:lstStyle/>
                    <a:p>
                      <a:r>
                        <a:rPr sz="1100" b="0">
                          <a:solidFill>
                            <a:srgbClr val="282828"/>
                          </a:solidFill>
                          <a:latin typeface="Arial"/>
                        </a:rPr>
                        <a:t>5.3×10¹²</a:t>
                      </a:r>
                    </a:p>
                  </a:txBody>
                  <a:tcPr marL="54864" marR="54864" marT="18288" marB="18288">
                    <a:solidFill>
                      <a:srgbClr val="ECF1F6"/>
                    </a:solidFill>
                  </a:tcPr>
                </a:tc>
                <a:tc>
                  <a:txBody>
                    <a:bodyPr wrap="square"/>
                    <a:lstStyle/>
                    <a:p>
                      <a:r>
                        <a:rPr sz="1100" b="0">
                          <a:solidFill>
                            <a:srgbClr val="282828"/>
                          </a:solidFill>
                          <a:latin typeface="Arial"/>
                        </a:rPr>
                        <a:t>2.0×10¹³</a:t>
                      </a:r>
                    </a:p>
                  </a:txBody>
                  <a:tcPr marL="54864" marR="54864" marT="18288" marB="18288">
                    <a:solidFill>
                      <a:srgbClr val="ECF1F6"/>
                    </a:solidFill>
                  </a:tcPr>
                </a:tc>
                <a:tc>
                  <a:txBody>
                    <a:bodyPr wrap="square"/>
                    <a:lstStyle/>
                    <a:p>
                      <a:r>
                        <a:rPr sz="1100" b="0">
                          <a:solidFill>
                            <a:srgbClr val="282828"/>
                          </a:solidFill>
                          <a:latin typeface="Arial"/>
                        </a:rPr>
                        <a:t>never (4.1 pm floor)</a:t>
                      </a:r>
                    </a:p>
                  </a:txBody>
                  <a:tcPr marL="54864" marR="54864" marT="18288" marB="18288">
                    <a:solidFill>
                      <a:srgbClr val="ECF1F6"/>
                    </a:solidFill>
                  </a:tcPr>
                </a:tc>
              </a:tr>
              <a:tr h="280035">
                <a:tc>
                  <a:txBody>
                    <a:bodyPr wrap="square"/>
                    <a:lstStyle/>
                    <a:p>
                      <a:r>
                        <a:rPr sz="1100" b="0">
                          <a:solidFill>
                            <a:srgbClr val="282828"/>
                          </a:solidFill>
                          <a:latin typeface="Arial"/>
                        </a:rPr>
                        <a:t>thermal ramp, 5 pm per cycle</a:t>
                      </a:r>
                    </a:p>
                  </a:txBody>
                  <a:tcPr marL="54864" marR="54864" marT="18288" marB="18288">
                    <a:solidFill>
                      <a:srgbClr val="FFFFFF"/>
                    </a:solidFill>
                  </a:tcPr>
                </a:tc>
                <a:tc>
                  <a:txBody>
                    <a:bodyPr wrap="square"/>
                    <a:lstStyle/>
                    <a:p>
                      <a:r>
                        <a:rPr sz="1100" b="0">
                          <a:solidFill>
                            <a:srgbClr val="282828"/>
                          </a:solidFill>
                          <a:latin typeface="Arial"/>
                        </a:rPr>
                        <a:t>10.0 pm (the loop's lag)</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13.1 pm</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r>
              <a:tr h="280035">
                <a:tc>
                  <a:txBody>
                    <a:bodyPr wrap="square"/>
                    <a:lstStyle/>
                    <a:p>
                      <a:r>
                        <a:rPr sz="1100" b="0">
                          <a:solidFill>
                            <a:srgbClr val="282828"/>
                          </a:solidFill>
                          <a:latin typeface="Arial"/>
                        </a:rPr>
                        <a:t>noise-free 1 nm step, after 60 cycles</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c>
                  <a:txBody>
                    <a:bodyPr wrap="square"/>
                    <a:lstStyle/>
                    <a:p>
                      <a:r>
                        <a:rPr sz="1100" b="0">
                          <a:solidFill>
                            <a:srgbClr val="282828"/>
                          </a:solidFill>
                          <a:latin typeface="Arial"/>
                        </a:rPr>
                        <a:t>87 pm, rising</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r>
              <a:tr h="468630">
                <a:tc>
                  <a:txBody>
                    <a:bodyPr wrap="square"/>
                    <a:lstStyle/>
                    <a:p>
                      <a:r>
                        <a:rPr sz="1100" b="0">
                          <a:solidFill>
                            <a:srgbClr val="282828"/>
                          </a:solidFill>
                          <a:latin typeface="Arial"/>
                        </a:rPr>
                        <a:t>single-shot noise at 10¹² photons per measurement</a:t>
                      </a:r>
                    </a:p>
                  </a:txBody>
                  <a:tcPr marL="54864" marR="54864" marT="18288" marB="18288">
                    <a:solidFill>
                      <a:srgbClr val="FFFFFF"/>
                    </a:solidFill>
                  </a:tcPr>
                </a:tc>
                <a:tc>
                  <a:txBody>
                    <a:bodyPr wrap="square"/>
                    <a:lstStyle/>
                    <a:p>
                      <a:r>
                        <a:rPr sz="1100" b="0">
                          <a:solidFill>
                            <a:srgbClr val="282828"/>
                          </a:solidFill>
                          <a:latin typeface="Arial"/>
                        </a:rPr>
                        <a:t>8.2 pm</a:t>
                      </a:r>
                    </a:p>
                  </a:txBody>
                  <a:tcPr marL="54864" marR="54864" marT="18288" marB="18288">
                    <a:solidFill>
                      <a:srgbClr val="FFFFFF"/>
                    </a:solidFill>
                  </a:tcPr>
                </a:tc>
                <a:tc>
                  <a:txBody>
                    <a:bodyPr wrap="square"/>
                    <a:lstStyle/>
                    <a:p>
                      <a:r>
                        <a:rPr sz="1100" b="0">
                          <a:solidFill>
                            <a:srgbClr val="282828"/>
                          </a:solidFill>
                          <a:latin typeface="Arial"/>
                        </a:rPr>
                        <a:t>6.4 pm</a:t>
                      </a:r>
                    </a:p>
                  </a:txBody>
                  <a:tcPr marL="54864" marR="54864" marT="18288" marB="18288">
                    <a:solidFill>
                      <a:srgbClr val="FFFFFF"/>
                    </a:solidFill>
                  </a:tcPr>
                </a:tc>
                <a:tc>
                  <a:txBody>
                    <a:bodyPr wrap="square"/>
                    <a:lstStyle/>
                    <a:p>
                      <a:r>
                        <a:rPr sz="1100" b="0">
                          <a:solidFill>
                            <a:srgbClr val="282828"/>
                          </a:solidFill>
                          <a:latin typeface="Arial"/>
                        </a:rPr>
                        <a:t>12.0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3502152"/>
            <a:ext cx="11368735" cy="274320"/>
          </a:xfrm>
          <a:prstGeom prst="rect">
            <a:avLst/>
          </a:prstGeom>
          <a:noFill/>
        </p:spPr>
        <p:txBody>
          <a:bodyPr wrap="square">
            <a:spAutoFit/>
          </a:bodyPr>
          <a:lstStyle/>
          <a:p>
            <a:pPr>
              <a:spcAft>
                <a:spcPts val="600"/>
              </a:spcAft>
            </a:pPr>
            <a:r>
              <a:rPr sz="1500" b="0">
                <a:solidFill>
                  <a:srgbClr val="282828"/>
                </a:solidFill>
                <a:latin typeface="Arial"/>
              </a:rPr>
              <a:t>•  Same loop code, same drift realization, same scoring (dm_gauge_lib/dmg_loop; the interferometer rows by CCMac).  The loop propagates noise as theory says on every instrument, so the light each needs follows from its single-shot noise: the interferometer's four-step reading is about 1.5× noisier per photon than the sensor's stepped reading, about twice the photons.</a:t>
            </a:r>
          </a:p>
          <a:p>
            <a:pPr>
              <a:spcAft>
                <a:spcPts val="600"/>
              </a:spcAft>
            </a:pPr>
            <a:r>
              <a:rPr sz="1500" b="0">
                <a:solidFill>
                  <a:srgbClr val="282828"/>
                </a:solidFill>
                <a:latin typeface="Arial"/>
              </a:rPr>
              <a:t>•  The fixed error is the difference. The sensor's stepped and polarized readings return to zero after a step; the interferometer keeps about 9% of any change (its fine-pattern roll-off and cross-talk, now in closed loop), so it behaves like the sensor's linear reading, not its stepped one.  The reflective interferometer's remaining fold cross-talk (0.18 open-loop, once the ideal-reflector artifact was removed with bare aluminum) becomes a hard wall in hold mode: the 2 pm walk is never held to 3 pm.  Open-loop batteries could not make that distinction.</a:t>
            </a:r>
          </a:p>
        </p:txBody>
      </p:sp>
      <p:sp>
        <p:nvSpPr>
          <p:cNvPr id="6" name="TextBox 5"/>
          <p:cNvSpPr txBox="1"/>
          <p:nvPr/>
        </p:nvSpPr>
        <p:spPr>
          <a:xfrm>
            <a:off x="411480" y="6047994"/>
            <a:ext cx="11368735" cy="274320"/>
          </a:xfrm>
          <a:prstGeom prst="rect">
            <a:avLst/>
          </a:prstGeom>
          <a:noFill/>
        </p:spPr>
        <p:txBody>
          <a:bodyPr wrap="square">
            <a:spAutoFit/>
          </a:bodyPr>
          <a:lstStyle/>
          <a:p>
            <a:pPr>
              <a:spcAft>
                <a:spcPts val="600"/>
              </a:spcAft>
            </a:pPr>
            <a:r>
              <a:rPr sz="1050" b="0">
                <a:solidFill>
                  <a:srgbClr val="6E6E6E"/>
                </a:solidFill>
                <a:latin typeface="Arial"/>
              </a:rPr>
              <a:t>Sensor rows: zwfs_dm96 runs/loop193, vloop193.  Interferometer rows: tg_psi_dm96_oap runs/loop_lens, loop_oap (bare aluminum on both OAPs; the ideal-reflector null was an idealization, its exactly-zero retardance variation).  All at gain 0.5, 60 cycles, matrix measured on the 30 nm working surface.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3531564"/>
                <a:gridCol w="2418879"/>
                <a:gridCol w="541829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280035">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measurement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2.0×10¹³ (lens rig); never with the reflective rig</a:t>
                      </a:r>
                    </a:p>
                  </a:txBody>
                  <a:tcPr marL="54864" marR="54864" marT="18288" marB="18288">
                    <a:solidFill>
                      <a:srgbClr val="ECF1F6"/>
                    </a:solidFill>
                  </a:tcPr>
                </a:tc>
                <a:tc>
                  <a:txBody>
                    <a:bodyPr wrap="square"/>
                    <a:lstStyle/>
                    <a:p>
                      <a:r>
                        <a:rPr sz="1100" b="0">
                          <a:solidFill>
                            <a:srgbClr val="282828"/>
                          </a:solidFill>
                          <a:latin typeface="Arial"/>
                        </a:rPr>
                        <a:t>7.5×10¹² (stepped), 7.3×10¹² (linear), 5.3×10¹² (polarized pair)</a:t>
                      </a:r>
                    </a:p>
                  </a:txBody>
                  <a:tcPr marL="54864" marR="54864" marT="18288" marB="18288">
                    <a:solidFill>
                      <a:srgbClr val="ECF1F6"/>
                    </a:solidFill>
                  </a:tcPr>
                </a:tc>
              </a:tr>
              <a:tr h="468630">
                <a:tc>
                  <a:txBody>
                    <a:bodyPr wrap="square"/>
                    <a:lstStyle/>
                    <a:p>
                      <a:r>
                        <a:rPr sz="1100" b="0">
                          <a:solidFill>
                            <a:srgbClr val="282828"/>
                          </a:solidFill>
                          <a:latin typeface="Arial"/>
                        </a:rPr>
                        <a:t>fixed error in closed loop (noise-free 1 nm step after 60 cycles)</a:t>
                      </a:r>
                    </a:p>
                  </a:txBody>
                  <a:tcPr marL="54864" marR="54864" marT="18288" marB="18288">
                    <a:solidFill>
                      <a:srgbClr val="FFFFFF"/>
                    </a:solidFill>
                  </a:tcPr>
                </a:tc>
                <a:tc>
                  <a:txBody>
                    <a:bodyPr wrap="square"/>
                    <a:lstStyle/>
                    <a:p>
                      <a:r>
                        <a:rPr sz="1100" b="0">
                          <a:solidFill>
                            <a:srgbClr val="282828"/>
                          </a:solidFill>
                          <a:latin typeface="Arial"/>
                        </a:rPr>
                        <a:t>87 pm and rising (lens); 276 pm (reflective)</a:t>
                      </a:r>
                    </a:p>
                  </a:txBody>
                  <a:tcPr marL="54864" marR="54864" marT="18288" marB="18288">
                    <a:solidFill>
                      <a:srgbClr val="FFFFFF"/>
                    </a:solidFill>
                  </a:tcPr>
                </a:tc>
                <a:tc>
                  <a:txBody>
                    <a:bodyPr wrap="square"/>
                    <a:lstStyle/>
                    <a:p>
                      <a:r>
                        <a:rPr sz="1100" b="0">
                          <a:solidFill>
                            <a:srgbClr val="282828"/>
                          </a:solidFill>
                          <a:latin typeface="Arial"/>
                        </a:rPr>
                        <a:t>0.000 pm (stepped, polarized pair)</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667881"/>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center took that gain to 0.996 at 5 pixels per actuator.</a:t>
            </a:r>
          </a:p>
          <a:p>
            <a:pPr>
              <a:spcAft>
                <a:spcPts val="600"/>
              </a:spcAft>
            </a:pPr>
            <a:r>
              <a:rPr sz="1500" b="0">
                <a:solidFill>
                  <a:srgbClr val="282828"/>
                </a:solidFill>
                <a:latin typeface="Arial"/>
              </a:rPr>
              <a:t>•  Color and photons are not levers: the chromatic null was the defocus; 10¹⁴ photons per measurement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a:p>
            <a:pPr>
              <a:spcAft>
                <a:spcPts val="600"/>
              </a:spcAft>
            </a:pPr>
            <a:r>
              <a:rPr sz="1500" b="0">
                <a:solidFill>
                  <a:srgbClr val="282828"/>
                </a:solidFill>
                <a:latin typeface="Arial"/>
              </a:rPr>
              <a:t>•  The polarized dimple is the best reading on every line: two simultaneous frames, no fold, 3 pm held from 5.3×10¹² photons per cycle, and a calibration that stays within 2% out to 60 nm rms.</a:t>
            </a:r>
          </a:p>
        </p:txBody>
      </p:sp>
      <p:sp>
        <p:nvSpPr>
          <p:cNvPr id="5" name="TextBox 4"/>
          <p:cNvSpPr txBox="1"/>
          <p:nvPr/>
        </p:nvSpPr>
        <p:spPr>
          <a:xfrm>
            <a:off x="411480" y="7517130"/>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The vector sensor, priced before the metasurface is built: the exact two-image solution stands (slide 16); its metasurface retardance error and the arm's polarization aberration are priced (slide 18) and neither reaches the working-surface rows; still to price: the splitter's crosstalk between the two pupil images and defocus between them, the bench limits at Keck and SEAL.</a:t>
            </a:r>
          </a:p>
          <a:p>
            <a:pPr>
              <a:spcAft>
                <a:spcPts val="600"/>
              </a:spcAft>
            </a:pPr>
            <a:r>
              <a:rPr sz="1500" b="0">
                <a:solidFill>
                  <a:srgbClr val="282828"/>
                </a:solidFill>
                <a:latin typeface="Arial"/>
              </a:rPr>
              <a:t>•  The interferometer, for balance: a PZT phase shift buys no model gain — its floors are geometric and color-independent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6246113"/>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color claim ("five colors fill the blind band; single-actuator floor 720 → 224 pm") was the Talbot null moving as 1/λ.  On the corrected model there is no null and color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