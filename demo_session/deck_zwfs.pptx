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color and photon budgets re-run; one script with a parameter sheet reproduces every number; a sampling bias in the actuator fit found and fixed; calibration by a measured response matrix on the working surface takes the stepped reading to 5 pm;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center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center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gray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picometers.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State and frame: a state is one DM shape measured once.  A measurement of a change costs two states.  A state costs one camera frame for the one-frame readings and four frames for the stepped reading; photon budgets are quoted per state.</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centered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Calibrated on the flat DM with a single-site response pattern (the record's method); the measured-matrix calibration on slide 10 supersedes it.  Record: runs/m2048_lat.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center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center the fit uses.  Sampled at the center,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Calibrate with a measured response matrix</a:t>
            </a:r>
          </a:p>
          <a:p>
            <a:pPr>
              <a:spcAft>
                <a:spcPts val="0"/>
              </a:spcAft>
            </a:pPr>
            <a:r>
              <a:rPr sz="1250" b="0">
                <a:solidFill>
                  <a:srgbClr val="6E6E6E"/>
                </a:solidFill>
                <a:latin typeface="Arial"/>
              </a:rPr>
              <a:t>Every actuator's response measured once from 64 sparse-grid states; measured on the working surface, the stepped reading reads a 10 nm change to 5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method: 64 multiplexed states cover all 3252 lit actuators once; each response is cut from its own window in camera pixels and forms one column of dw/da; actuator changes are a least-squares fit against that matrix.  No single-site pattern, no shift-invariance, no frequency correction; registration only places the windows; a real DM's irregularities are in the calibration by construction.</a:t>
            </a:r>
          </a:p>
          <a:p>
            <a:pPr>
              <a:spcAft>
                <a:spcPts val="600"/>
              </a:spcAft>
            </a:pPr>
            <a:r>
              <a:rPr sz="1500" b="0">
                <a:solidFill>
                  <a:srgbClr val="282828"/>
                </a:solidFill>
                <a:latin typeface="Arial"/>
              </a:rPr>
              <a:t>•  One property of this sensor had to be carried: it cannot see piston, so each frame is mean-referenced and the pokes' shared pedestal sits in every window; cut naively, the fit over-responds 2 to 4× below 12 cycles across the pupil.  With each column's pedestal spread over the pupil (a rank-one term), the exact reading's response is 0.99 to 1.08 at every frequency uncorrected, and a single actuator on the flat reads 0.994 with a 4 pm floor (0.946, 37 pm with the single-site pattern).</a:t>
            </a:r>
          </a:p>
        </p:txBody>
      </p:sp>
      <p:graphicFrame>
        <p:nvGraphicFramePr>
          <p:cNvPr id="5" name="Table 4"/>
          <p:cNvGraphicFramePr>
            <a:graphicFrameLocks noGrp="1"/>
          </p:cNvGraphicFramePr>
          <p:nvPr/>
        </p:nvGraphicFramePr>
        <p:xfrm>
          <a:off x="411480" y="3844290"/>
          <a:ext cx="11368733" cy="1497330"/>
        </p:xfrm>
        <a:graphic>
          <a:graphicData uri="http://schemas.openxmlformats.org/drawingml/2006/table">
            <a:tbl>
              <a:tblPr firstRow="1" bandRow="1">
                <a:tableStyleId>{5C22544A-7EE6-4342-B048-85BDC9FD1C3A}</a:tableStyleId>
              </a:tblPr>
              <a:tblGrid>
                <a:gridCol w="5430924"/>
                <a:gridCol w="1955132"/>
                <a:gridCol w="1955132"/>
                <a:gridCol w="2027545"/>
              </a:tblGrid>
              <a:tr h="468630">
                <a:tc>
                  <a:txBody>
                    <a:bodyPr wrap="square"/>
                    <a:lstStyle/>
                    <a:p>
                      <a:r>
                        <a:rPr sz="1100" b="1">
                          <a:solidFill>
                            <a:srgbClr val="FFFFFF"/>
                          </a:solidFill>
                          <a:latin typeface="Arial"/>
                        </a:rPr>
                        <a:t>matrix measured on the flat / on the 30 nm surface; 30 nm surface, 385 rays</a:t>
                      </a:r>
                    </a:p>
                  </a:txBody>
                  <a:tcPr marL="54864" marR="54864" marT="18288" marB="18288">
                    <a:solidFill>
                      <a:srgbClr val="1F4E79"/>
                    </a:solidFill>
                  </a:tcPr>
                </a:tc>
                <a:tc>
                  <a:txBody>
                    <a:bodyPr wrap="square"/>
                    <a:lstStyle/>
                    <a:p>
                      <a:r>
                        <a:rPr sz="1100" b="1">
                          <a:solidFill>
                            <a:srgbClr val="FFFFFF"/>
                          </a:solidFill>
                          <a:latin typeface="Arial"/>
                        </a:rPr>
                        <a:t>linear (one frame)</a:t>
                      </a:r>
                    </a:p>
                  </a:txBody>
                  <a:tcPr marL="54864" marR="54864" marT="18288" marB="18288">
                    <a:solidFill>
                      <a:srgbClr val="1F4E79"/>
                    </a:solidFill>
                  </a:tcPr>
                </a:tc>
                <a:tc>
                  <a:txBody>
                    <a:bodyPr wrap="square"/>
                    <a:lstStyle/>
                    <a:p>
                      <a:r>
                        <a:rPr sz="1100" b="1">
                          <a:solidFill>
                            <a:srgbClr val="FFFFFF"/>
                          </a:solidFill>
                          <a:latin typeface="Arial"/>
                        </a:rPr>
                        <a:t>exact I+ (one frame)</a:t>
                      </a:r>
                    </a:p>
                  </a:txBody>
                  <a:tcPr marL="54864" marR="54864" marT="18288" marB="18288">
                    <a:solidFill>
                      <a:srgbClr val="1F4E79"/>
                    </a:solidFill>
                  </a:tcPr>
                </a:tc>
                <a:tc>
                  <a:txBody>
                    <a:bodyPr wrap="square"/>
                    <a:lstStyle/>
                    <a:p>
                      <a:r>
                        <a:rPr sz="1100" b="1">
                          <a:solidFill>
                            <a:srgbClr val="FFFFFF"/>
                          </a:solidFill>
                          <a:latin typeface="Arial"/>
                        </a:rPr>
                        <a:t>stepped (four frames)</a:t>
                      </a:r>
                    </a:p>
                  </a:txBody>
                  <a:tcPr marL="54864" marR="54864" marT="18288" marB="18288">
                    <a:solidFill>
                      <a:srgbClr val="1F4E79"/>
                    </a:solidFill>
                  </a:tcPr>
                </a:tc>
              </a:tr>
              <a:tr h="280035">
                <a:tc>
                  <a:txBody>
                    <a:bodyPr wrap="square"/>
                    <a:lstStyle/>
                    <a:p>
                      <a:r>
                        <a:rPr sz="1100" b="0">
                          <a:solidFill>
                            <a:srgbClr val="282828"/>
                          </a:solidFill>
                          <a:latin typeface="Arial"/>
                        </a:rPr>
                        <a:t>single 10 nm change: gain, floor</a:t>
                      </a:r>
                    </a:p>
                  </a:txBody>
                  <a:tcPr marL="54864" marR="54864" marT="18288" marB="18288">
                    <a:solidFill>
                      <a:srgbClr val="FFFFFF"/>
                    </a:solidFill>
                  </a:tcPr>
                </a:tc>
                <a:tc>
                  <a:txBody>
                    <a:bodyPr wrap="square"/>
                    <a:lstStyle/>
                    <a:p>
                      <a:r>
                        <a:rPr sz="1100" b="0">
                          <a:solidFill>
                            <a:srgbClr val="282828"/>
                          </a:solidFill>
                          <a:latin typeface="Arial"/>
                        </a:rPr>
                        <a:t>0.30, 142 pm / 1.05, 23 pm</a:t>
                      </a:r>
                    </a:p>
                  </a:txBody>
                  <a:tcPr marL="54864" marR="54864" marT="18288" marB="18288">
                    <a:solidFill>
                      <a:srgbClr val="FFFFFF"/>
                    </a:solidFill>
                  </a:tcPr>
                </a:tc>
                <a:tc>
                  <a:txBody>
                    <a:bodyPr wrap="square"/>
                    <a:lstStyle/>
                    <a:p>
                      <a:r>
                        <a:rPr sz="1100" b="0">
                          <a:solidFill>
                            <a:srgbClr val="282828"/>
                          </a:solidFill>
                          <a:latin typeface="Arial"/>
                        </a:rPr>
                        <a:t>0.78, 27 pm / 0.78, 74 pm</a:t>
                      </a:r>
                    </a:p>
                  </a:txBody>
                  <a:tcPr marL="54864" marR="54864" marT="18288" marB="18288">
                    <a:solidFill>
                      <a:srgbClr val="FFFFFF"/>
                    </a:solidFill>
                  </a:tcPr>
                </a:tc>
                <a:tc>
                  <a:txBody>
                    <a:bodyPr wrap="square"/>
                    <a:lstStyle/>
                    <a:p>
                      <a:r>
                        <a:rPr sz="1100" b="0">
                          <a:solidFill>
                            <a:srgbClr val="282828"/>
                          </a:solidFill>
                          <a:latin typeface="Arial"/>
                        </a:rPr>
                        <a:t>0.77, 18 pm / 0.99, 5 pm</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1 nm: gain, floor</a:t>
                      </a:r>
                    </a:p>
                  </a:txBody>
                  <a:tcPr marL="54864" marR="54864" marT="18288" marB="18288">
                    <a:solidFill>
                      <a:srgbClr val="ECF1F6"/>
                    </a:solidFill>
                  </a:tcPr>
                </a:tc>
                <a:tc>
                  <a:txBody>
                    <a:bodyPr wrap="square"/>
                    <a:lstStyle/>
                    <a:p>
                      <a:r>
                        <a:rPr sz="1100" b="0">
                          <a:solidFill>
                            <a:srgbClr val="282828"/>
                          </a:solidFill>
                          <a:latin typeface="Arial"/>
                        </a:rPr>
                        <a:t>1.01, 77 pm / 1.05, 22 pm</a:t>
                      </a:r>
                    </a:p>
                  </a:txBody>
                  <a:tcPr marL="54864" marR="54864" marT="18288" marB="18288">
                    <a:solidFill>
                      <a:srgbClr val="ECF1F6"/>
                    </a:solidFill>
                  </a:tcPr>
                </a:tc>
                <a:tc>
                  <a:txBody>
                    <a:bodyPr wrap="square"/>
                    <a:lstStyle/>
                    <a:p>
                      <a:r>
                        <a:rPr sz="1100" b="0">
                          <a:solidFill>
                            <a:srgbClr val="282828"/>
                          </a:solidFill>
                          <a:latin typeface="Arial"/>
                        </a:rPr>
                        <a:t>0.98, 12 pm / 0.90, 35 pm</a:t>
                      </a:r>
                    </a:p>
                  </a:txBody>
                  <a:tcPr marL="54864" marR="54864" marT="18288" marB="18288">
                    <a:solidFill>
                      <a:srgbClr val="ECF1F6"/>
                    </a:solidFill>
                  </a:tcPr>
                </a:tc>
                <a:tc>
                  <a:txBody>
                    <a:bodyPr wrap="square"/>
                    <a:lstStyle/>
                    <a:p>
                      <a:r>
                        <a:rPr sz="1100" b="0">
                          <a:solidFill>
                            <a:srgbClr val="282828"/>
                          </a:solidFill>
                          <a:latin typeface="Arial"/>
                        </a:rPr>
                        <a:t>0.83, 10 pm / 1.00, 3 pm</a:t>
                      </a:r>
                    </a:p>
                  </a:txBody>
                  <a:tcPr marL="54864" marR="54864" marT="18288" marB="18288">
                    <a:solidFill>
                      <a:srgbClr val="ECF1F6"/>
                    </a:solidFill>
                  </a:tcPr>
                </a:tc>
              </a:tr>
              <a:tr h="468630">
                <a:tc>
                  <a:txBody>
                    <a:bodyPr wrap="square"/>
                    <a:lstStyle/>
                    <a:p>
                      <a:r>
                        <a:rPr sz="1100" b="0">
                          <a:solidFill>
                            <a:srgbClr val="282828"/>
                          </a:solidFill>
                          <a:latin typeface="Arial"/>
                        </a:rPr>
                        <a:t>dense random 10 nm: gain, error</a:t>
                      </a:r>
                    </a:p>
                  </a:txBody>
                  <a:tcPr marL="54864" marR="54864" marT="18288" marB="18288">
                    <a:solidFill>
                      <a:srgbClr val="FFFFFF"/>
                    </a:solidFill>
                  </a:tcPr>
                </a:tc>
                <a:tc>
                  <a:txBody>
                    <a:bodyPr wrap="square"/>
                    <a:lstStyle/>
                    <a:p>
                      <a:r>
                        <a:rPr sz="1100" b="0">
                          <a:solidFill>
                            <a:srgbClr val="282828"/>
                          </a:solidFill>
                          <a:latin typeface="Arial"/>
                        </a:rPr>
                        <a:t>0.88, 9.9 nm / 1.04, 4.7 nm</a:t>
                      </a:r>
                    </a:p>
                  </a:txBody>
                  <a:tcPr marL="54864" marR="54864" marT="18288" marB="18288">
                    <a:solidFill>
                      <a:srgbClr val="FFFFFF"/>
                    </a:solidFill>
                  </a:tcPr>
                </a:tc>
                <a:tc>
                  <a:txBody>
                    <a:bodyPr wrap="square"/>
                    <a:lstStyle/>
                    <a:p>
                      <a:r>
                        <a:rPr sz="1100" b="0">
                          <a:solidFill>
                            <a:srgbClr val="282828"/>
                          </a:solidFill>
                          <a:latin typeface="Arial"/>
                        </a:rPr>
                        <a:t>0.90, 4.2 nm / 0.86, 5.2 nm</a:t>
                      </a:r>
                    </a:p>
                  </a:txBody>
                  <a:tcPr marL="54864" marR="54864" marT="18288" marB="18288">
                    <a:solidFill>
                      <a:srgbClr val="FFFFFF"/>
                    </a:solidFill>
                  </a:tcPr>
                </a:tc>
                <a:tc>
                  <a:txBody>
                    <a:bodyPr wrap="square"/>
                    <a:lstStyle/>
                    <a:p>
                      <a:r>
                        <a:rPr sz="1100" b="0">
                          <a:solidFill>
                            <a:srgbClr val="282828"/>
                          </a:solidFill>
                          <a:latin typeface="Arial"/>
                        </a:rPr>
                        <a:t>0.82, 2.1 nm / 0.98, 0.67 nm</a:t>
                      </a:r>
                    </a:p>
                  </a:txBody>
                  <a:tcPr marL="54864" marR="54864" marT="18288" marB="18288">
                    <a:solidFill>
                      <a:srgbClr val="FFFFFF"/>
                    </a:solidFill>
                  </a:tcPr>
                </a:tc>
              </a:tr>
            </a:tbl>
          </a:graphicData>
        </a:graphic>
      </p:graphicFrame>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500" b="0">
                <a:solidFill>
                  <a:srgbClr val="282828"/>
                </a:solidFill>
                <a:latin typeface="Arial"/>
              </a:rPr>
              <a:t>•  Why the surface matters: every reading's differential map on the 30 nm surface differs 30 to 60% from the same change read on the flat — the sensor's local sensitivity depends on the local phase.  A matrix measured on the working surface carries it; the readings without a sign ambiguity (stepped, linear) then read changes almost exactly.  The exact one-frame reading does not benefit: its surface error is the sign fold, which moves with the change.</a:t>
            </a:r>
          </a:p>
        </p:txBody>
      </p:sp>
      <p:sp>
        <p:nvSpPr>
          <p:cNvPr id="7" name="TextBox 6"/>
          <p:cNvSpPr txBox="1"/>
          <p:nvPr/>
        </p:nvSpPr>
        <p:spPr>
          <a:xfrm>
            <a:off x="411480" y="6655308"/>
            <a:ext cx="11368735" cy="274320"/>
          </a:xfrm>
          <a:prstGeom prst="rect">
            <a:avLst/>
          </a:prstGeom>
          <a:noFill/>
        </p:spPr>
        <p:txBody>
          <a:bodyPr wrap="square">
            <a:spAutoFit/>
          </a:bodyPr>
          <a:lstStyle/>
          <a:p>
            <a:pPr>
              <a:spcAft>
                <a:spcPts val="600"/>
              </a:spcAft>
            </a:pPr>
            <a:r>
              <a:rPr sz="1050" b="0">
                <a:solidFill>
                  <a:srgbClr val="6E6E6E"/>
                </a:solidFill>
                <a:latin typeface="Arial"/>
              </a:rPr>
              <a:t>Alternating ± pokes: neutral to slightly worse in the model (0.987, 11 pm vs 0.994, 4 pm); kept as a bench option (drift cancels between sets).  Records: runs/mat385, matbase385, mapdiag.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With the matrix measured at 30 nm, 47 changes at once read at 1.08 to 0.93 up to 50 nm rms (stepped) and 1.03 to 0.83 (linear); the calibration ages slowly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11780"/>
        </p:xfrm>
        <a:graphic>
          <a:graphicData uri="http://schemas.openxmlformats.org/drawingml/2006/table">
            <a:tbl>
              <a:tblPr firstRow="1" bandRow="1">
                <a:tableStyleId>{5C22544A-7EE6-4342-B048-85BDC9FD1C3A}</a:tableStyleId>
              </a:tblPr>
              <a:tblGrid>
                <a:gridCol w="5005103"/>
                <a:gridCol w="1644534"/>
                <a:gridCol w="1573032"/>
                <a:gridCol w="1573032"/>
                <a:gridCol w="1573032"/>
              </a:tblGrid>
              <a:tr h="468630">
                <a:tc>
                  <a:txBody>
                    <a:bodyPr wrap="square"/>
                    <a:lstStyle/>
                    <a:p>
                      <a:r>
                        <a:rPr sz="1100" b="1">
                          <a:solidFill>
                            <a:srgbClr val="FFFFFF"/>
                          </a:solidFill>
                          <a:latin typeface="Arial"/>
                        </a:rPr>
                        <a:t>10 nm changes on 47 actuators, 96×96;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468630">
                <a:tc>
                  <a:txBody>
                    <a:bodyPr wrap="square"/>
                    <a:lstStyle/>
                    <a:p>
                      <a:r>
                        <a:rPr sz="1100" b="0">
                          <a:solidFill>
                            <a:srgbClr val="282828"/>
                          </a:solidFill>
                          <a:latin typeface="Arial"/>
                        </a:rPr>
                        <a:t>matrix on the 30 nm surface — S (four frames)</a:t>
                      </a:r>
                    </a:p>
                  </a:txBody>
                  <a:tcPr marL="54864" marR="54864" marT="18288" marB="18288">
                    <a:solidFill>
                      <a:srgbClr val="FFFFFF"/>
                    </a:solidFill>
                  </a:tcPr>
                </a:tc>
                <a:tc>
                  <a:txBody>
                    <a:bodyPr wrap="square"/>
                    <a:lstStyle/>
                    <a:p>
                      <a:r>
                        <a:rPr sz="1100" b="0">
                          <a:solidFill>
                            <a:srgbClr val="282828"/>
                          </a:solidFill>
                          <a:latin typeface="Arial"/>
                        </a:rPr>
                        <a:t>1.08 → 10.8 nm, 0.25 nm</a:t>
                      </a:r>
                    </a:p>
                  </a:txBody>
                  <a:tcPr marL="54864" marR="54864" marT="18288" marB="18288">
                    <a:solidFill>
                      <a:srgbClr val="FFFFFF"/>
                    </a:solidFill>
                  </a:tcPr>
                </a:tc>
                <a:tc>
                  <a:txBody>
                    <a:bodyPr wrap="square"/>
                    <a:lstStyle/>
                    <a:p>
                      <a:r>
                        <a:rPr sz="1100" b="0">
                          <a:solidFill>
                            <a:srgbClr val="282828"/>
                          </a:solidFill>
                          <a:latin typeface="Arial"/>
                        </a:rPr>
                        <a:t>0.98 → 9.8 nm, 0.24 nm</a:t>
                      </a:r>
                    </a:p>
                  </a:txBody>
                  <a:tcPr marL="54864" marR="54864" marT="18288" marB="18288">
                    <a:solidFill>
                      <a:srgbClr val="FFFFFF"/>
                    </a:solidFill>
                  </a:tcPr>
                </a:tc>
                <a:tc>
                  <a:txBody>
                    <a:bodyPr wrap="square"/>
                    <a:lstStyle/>
                    <a:p>
                      <a:r>
                        <a:rPr sz="1100" b="0">
                          <a:solidFill>
                            <a:srgbClr val="282828"/>
                          </a:solidFill>
                          <a:latin typeface="Arial"/>
                        </a:rPr>
                        <a:t>0.93 → 9.3 nm, 0.40 nm</a:t>
                      </a:r>
                    </a:p>
                  </a:txBody>
                  <a:tcPr marL="54864" marR="54864" marT="18288" marB="18288">
                    <a:solidFill>
                      <a:srgbClr val="FFFFFF"/>
                    </a:solidFill>
                  </a:tcPr>
                </a:tc>
                <a:tc>
                  <a:txBody>
                    <a:bodyPr wrap="square"/>
                    <a:lstStyle/>
                    <a:p>
                      <a:r>
                        <a:rPr sz="1100" b="0">
                          <a:solidFill>
                            <a:srgbClr val="282828"/>
                          </a:solidFill>
                          <a:latin typeface="Arial"/>
                        </a:rPr>
                        <a:t>0.71 → 7.1 nm, 0.59 nm</a:t>
                      </a:r>
                    </a:p>
                  </a:txBody>
                  <a:tcPr marL="54864" marR="54864" marT="18288" marB="18288">
                    <a:solidFill>
                      <a:srgbClr val="FFFFFF"/>
                    </a:solidFill>
                  </a:tcPr>
                </a:tc>
              </a:tr>
              <a:tr h="468630">
                <a:tc>
                  <a:txBody>
                    <a:bodyPr wrap="square"/>
                    <a:lstStyle/>
                    <a:p>
                      <a:r>
                        <a:rPr sz="1100" b="0">
                          <a:solidFill>
                            <a:srgbClr val="282828"/>
                          </a:solidFill>
                          <a:latin typeface="Arial"/>
                        </a:rPr>
                        <a:t>matrix on the 30 nm surface — L (one frame)</a:t>
                      </a:r>
                    </a:p>
                  </a:txBody>
                  <a:tcPr marL="54864" marR="54864" marT="18288" marB="18288">
                    <a:solidFill>
                      <a:srgbClr val="ECF1F6"/>
                    </a:solidFill>
                  </a:tcPr>
                </a:tc>
                <a:tc>
                  <a:txBody>
                    <a:bodyPr wrap="square"/>
                    <a:lstStyle/>
                    <a:p>
                      <a:r>
                        <a:rPr sz="1100" b="0">
                          <a:solidFill>
                            <a:srgbClr val="282828"/>
                          </a:solidFill>
                          <a:latin typeface="Arial"/>
                        </a:rPr>
                        <a:t>1.03 → 10.3 nm, 0.28 nm</a:t>
                      </a:r>
                    </a:p>
                  </a:txBody>
                  <a:tcPr marL="54864" marR="54864" marT="18288" marB="18288">
                    <a:solidFill>
                      <a:srgbClr val="ECF1F6"/>
                    </a:solidFill>
                  </a:tcPr>
                </a:tc>
                <a:tc>
                  <a:txBody>
                    <a:bodyPr wrap="square"/>
                    <a:lstStyle/>
                    <a:p>
                      <a:r>
                        <a:rPr sz="1100" b="0">
                          <a:solidFill>
                            <a:srgbClr val="282828"/>
                          </a:solidFill>
                          <a:latin typeface="Arial"/>
                        </a:rPr>
                        <a:t>0.95 → 9.5 nm, 0.35 nm</a:t>
                      </a:r>
                    </a:p>
                  </a:txBody>
                  <a:tcPr marL="54864" marR="54864" marT="18288" marB="18288">
                    <a:solidFill>
                      <a:srgbClr val="ECF1F6"/>
                    </a:solidFill>
                  </a:tcPr>
                </a:tc>
                <a:tc>
                  <a:txBody>
                    <a:bodyPr wrap="square"/>
                    <a:lstStyle/>
                    <a:p>
                      <a:r>
                        <a:rPr sz="1100" b="0">
                          <a:solidFill>
                            <a:srgbClr val="282828"/>
                          </a:solidFill>
                          <a:latin typeface="Arial"/>
                        </a:rPr>
                        <a:t>0.83 → 8.3 nm, 0.50 nm</a:t>
                      </a:r>
                    </a:p>
                  </a:txBody>
                  <a:tcPr marL="54864" marR="54864" marT="18288" marB="18288">
                    <a:solidFill>
                      <a:srgbClr val="ECF1F6"/>
                    </a:solidFill>
                  </a:tcPr>
                </a:tc>
                <a:tc>
                  <a:txBody>
                    <a:bodyPr wrap="square"/>
                    <a:lstStyle/>
                    <a:p>
                      <a:r>
                        <a:rPr sz="1100" b="0">
                          <a:solidFill>
                            <a:srgbClr val="282828"/>
                          </a:solidFill>
                          <a:latin typeface="Arial"/>
                        </a:rPr>
                        <a:t>0.67 → 6.7 nm, 0.61 nm</a:t>
                      </a:r>
                    </a:p>
                  </a:txBody>
                  <a:tcPr marL="54864" marR="54864" marT="18288" marB="18288">
                    <a:solidFill>
                      <a:srgbClr val="ECF1F6"/>
                    </a:solidFill>
                  </a:tcPr>
                </a:tc>
              </a:tr>
              <a:tr h="468630">
                <a:tc>
                  <a:txBody>
                    <a:bodyPr wrap="square"/>
                    <a:lstStyle/>
                    <a:p>
                      <a:r>
                        <a:rPr sz="1100" b="0">
                          <a:solidFill>
                            <a:srgbClr val="282828"/>
                          </a:solidFill>
                          <a:latin typeface="Arial"/>
                        </a:rPr>
                        <a:t>matrix on the 30 nm surface — I+ (one frame)</a:t>
                      </a:r>
                    </a:p>
                  </a:txBody>
                  <a:tcPr marL="54864" marR="54864" marT="18288" marB="18288">
                    <a:solidFill>
                      <a:srgbClr val="FFFFFF"/>
                    </a:solidFill>
                  </a:tcPr>
                </a:tc>
                <a:tc>
                  <a:txBody>
                    <a:bodyPr wrap="square"/>
                    <a:lstStyle/>
                    <a:p>
                      <a:r>
                        <a:rPr sz="1100" b="0">
                          <a:solidFill>
                            <a:srgbClr val="282828"/>
                          </a:solidFill>
                          <a:latin typeface="Arial"/>
                        </a:rPr>
                        <a:t>1.01 → 10.1 nm, 0.20 nm</a:t>
                      </a:r>
                    </a:p>
                  </a:txBody>
                  <a:tcPr marL="54864" marR="54864" marT="18288" marB="18288">
                    <a:solidFill>
                      <a:srgbClr val="FFFFFF"/>
                    </a:solidFill>
                  </a:tcPr>
                </a:tc>
                <a:tc>
                  <a:txBody>
                    <a:bodyPr wrap="square"/>
                    <a:lstStyle/>
                    <a:p>
                      <a:r>
                        <a:rPr sz="1100" b="0">
                          <a:solidFill>
                            <a:srgbClr val="282828"/>
                          </a:solidFill>
                          <a:latin typeface="Arial"/>
                        </a:rPr>
                        <a:t>0.91 → 9.1 nm, 0.35 nm</a:t>
                      </a:r>
                    </a:p>
                  </a:txBody>
                  <a:tcPr marL="54864" marR="54864" marT="18288" marB="18288">
                    <a:solidFill>
                      <a:srgbClr val="FFFFFF"/>
                    </a:solidFill>
                  </a:tcPr>
                </a:tc>
                <a:tc>
                  <a:txBody>
                    <a:bodyPr wrap="square"/>
                    <a:lstStyle/>
                    <a:p>
                      <a:r>
                        <a:rPr sz="1100" b="0">
                          <a:solidFill>
                            <a:srgbClr val="282828"/>
                          </a:solidFill>
                          <a:latin typeface="Arial"/>
                        </a:rPr>
                        <a:t>0.69 → 6.9 nm, 1.9 nm</a:t>
                      </a:r>
                    </a:p>
                  </a:txBody>
                  <a:tcPr marL="54864" marR="54864" marT="18288" marB="18288">
                    <a:solidFill>
                      <a:srgbClr val="FFFFFF"/>
                    </a:solidFill>
                  </a:tcPr>
                </a:tc>
                <a:tc>
                  <a:txBody>
                    <a:bodyPr wrap="square"/>
                    <a:lstStyle/>
                    <a:p>
                      <a:r>
                        <a:rPr sz="1100" b="0">
                          <a:solidFill>
                            <a:srgbClr val="282828"/>
                          </a:solidFill>
                          <a:latin typeface="Arial"/>
                        </a:rPr>
                        <a:t>0.57 → 5.7 nm, 1.2 nm</a:t>
                      </a:r>
                    </a:p>
                  </a:txBody>
                  <a:tcPr marL="54864" marR="54864" marT="18288" marB="18288">
                    <a:solidFill>
                      <a:srgbClr val="FFFFFF"/>
                    </a:solidFill>
                  </a:tcPr>
                </a:tc>
              </a:tr>
              <a:tr h="468630">
                <a:tc>
                  <a:txBody>
                    <a:bodyPr wrap="square"/>
                    <a:lstStyle/>
                    <a:p>
                      <a:r>
                        <a:rPr sz="1100" b="0">
                          <a:solidFill>
                            <a:srgbClr val="282828"/>
                          </a:solidFill>
                          <a:latin typeface="Arial"/>
                        </a:rPr>
                        <a:t>matrix on the flat — I+</a:t>
                      </a:r>
                    </a:p>
                  </a:txBody>
                  <a:tcPr marL="54864" marR="54864" marT="18288" marB="18288">
                    <a:solidFill>
                      <a:srgbClr val="ECF1F6"/>
                    </a:solidFill>
                  </a:tcPr>
                </a:tc>
                <a:tc>
                  <a:txBody>
                    <a:bodyPr wrap="square"/>
                    <a:lstStyle/>
                    <a:p>
                      <a:r>
                        <a:rPr sz="1100" b="0">
                          <a:solidFill>
                            <a:srgbClr val="282828"/>
                          </a:solidFill>
                          <a:latin typeface="Arial"/>
                        </a:rPr>
                        <a:t>0.81 → 8.1 nm, 0.21 nm</a:t>
                      </a:r>
                    </a:p>
                  </a:txBody>
                  <a:tcPr marL="54864" marR="54864" marT="18288" marB="18288">
                    <a:solidFill>
                      <a:srgbClr val="ECF1F6"/>
                    </a:solidFill>
                  </a:tcPr>
                </a:tc>
                <a:tc>
                  <a:txBody>
                    <a:bodyPr wrap="square"/>
                    <a:lstStyle/>
                    <a:p>
                      <a:r>
                        <a:rPr sz="1100" b="0">
                          <a:solidFill>
                            <a:srgbClr val="282828"/>
                          </a:solidFill>
                          <a:latin typeface="Arial"/>
                        </a:rPr>
                        <a:t>0.83 → 8.3 nm, 0.16 nm</a:t>
                      </a:r>
                    </a:p>
                  </a:txBody>
                  <a:tcPr marL="54864" marR="54864" marT="18288" marB="18288">
                    <a:solidFill>
                      <a:srgbClr val="ECF1F6"/>
                    </a:solidFill>
                  </a:tcPr>
                </a:tc>
                <a:tc>
                  <a:txBody>
                    <a:bodyPr wrap="square"/>
                    <a:lstStyle/>
                    <a:p>
                      <a:r>
                        <a:rPr sz="1100" b="0">
                          <a:solidFill>
                            <a:srgbClr val="282828"/>
                          </a:solidFill>
                          <a:latin typeface="Arial"/>
                        </a:rPr>
                        <a:t>0.65 → 6.5 nm, 1.8 nm</a:t>
                      </a:r>
                    </a:p>
                  </a:txBody>
                  <a:tcPr marL="54864" marR="54864" marT="18288" marB="18288">
                    <a:solidFill>
                      <a:srgbClr val="ECF1F6"/>
                    </a:solidFill>
                  </a:tcPr>
                </a:tc>
                <a:tc>
                  <a:txBody>
                    <a:bodyPr wrap="square"/>
                    <a:lstStyle/>
                    <a:p>
                      <a:r>
                        <a:rPr sz="1100" b="0">
                          <a:solidFill>
                            <a:srgbClr val="282828"/>
                          </a:solidFill>
                          <a:latin typeface="Arial"/>
                        </a:rPr>
                        <a:t>0.58 → 5.8 nm, 1.2 nm</a:t>
                      </a:r>
                    </a:p>
                  </a:txBody>
                  <a:tcPr marL="54864" marR="54864" marT="18288" marB="18288">
                    <a:solidFill>
                      <a:srgbClr val="ECF1F6"/>
                    </a:solidFill>
                  </a:tcPr>
                </a:tc>
              </a:tr>
              <a:tr h="468630">
                <a:tc>
                  <a:txBody>
                    <a:bodyPr wrap="square"/>
                    <a:lstStyle/>
                    <a:p>
                      <a:r>
                        <a:rPr sz="1100" b="0">
                          <a:solidFill>
                            <a:srgbClr val="282828"/>
                          </a:solidFill>
                          <a:latin typeface="Arial"/>
                        </a:rPr>
                        <a:t>matrix on the flat — S</a:t>
                      </a:r>
                    </a:p>
                  </a:txBody>
                  <a:tcPr marL="54864" marR="54864" marT="18288" marB="18288">
                    <a:solidFill>
                      <a:srgbClr val="FFFFFF"/>
                    </a:solidFill>
                  </a:tcPr>
                </a:tc>
                <a:tc>
                  <a:txBody>
                    <a:bodyPr wrap="square"/>
                    <a:lstStyle/>
                    <a:p>
                      <a:r>
                        <a:rPr sz="1100" b="0">
                          <a:solidFill>
                            <a:srgbClr val="282828"/>
                          </a:solidFill>
                          <a:latin typeface="Arial"/>
                        </a:rPr>
                        <a:t>0.91 → 9.1 nm, 0.23 nm</a:t>
                      </a:r>
                    </a:p>
                  </a:txBody>
                  <a:tcPr marL="54864" marR="54864" marT="18288" marB="18288">
                    <a:solidFill>
                      <a:srgbClr val="FFFFFF"/>
                    </a:solidFill>
                  </a:tcPr>
                </a:tc>
                <a:tc>
                  <a:txBody>
                    <a:bodyPr wrap="square"/>
                    <a:lstStyle/>
                    <a:p>
                      <a:r>
                        <a:rPr sz="1100" b="0">
                          <a:solidFill>
                            <a:srgbClr val="282828"/>
                          </a:solidFill>
                          <a:latin typeface="Arial"/>
                        </a:rPr>
                        <a:t>0.83 → 8.3 nm, 0.23 nm</a:t>
                      </a:r>
                    </a:p>
                  </a:txBody>
                  <a:tcPr marL="54864" marR="54864" marT="18288" marB="18288">
                    <a:solidFill>
                      <a:srgbClr val="FFFFFF"/>
                    </a:solidFill>
                  </a:tcPr>
                </a:tc>
                <a:tc>
                  <a:txBody>
                    <a:bodyPr wrap="square"/>
                    <a:lstStyle/>
                    <a:p>
                      <a:r>
                        <a:rPr sz="1100" b="0">
                          <a:solidFill>
                            <a:srgbClr val="282828"/>
                          </a:solidFill>
                          <a:latin typeface="Arial"/>
                        </a:rPr>
                        <a:t>0.79 → 7.9 nm, 0.37 nm</a:t>
                      </a:r>
                    </a:p>
                  </a:txBody>
                  <a:tcPr marL="54864" marR="54864" marT="18288" marB="18288">
                    <a:solidFill>
                      <a:srgbClr val="FFFFFF"/>
                    </a:solidFill>
                  </a:tcPr>
                </a:tc>
                <a:tc>
                  <a:txBody>
                    <a:bodyPr wrap="square"/>
                    <a:lstStyle/>
                    <a:p>
                      <a:r>
                        <a:rPr sz="1100" b="0">
                          <a:solidFill>
                            <a:srgbClr val="282828"/>
                          </a:solidFill>
                          <a:latin typeface="Arial"/>
                        </a:rPr>
                        <a:t>0.59 → 5.9 nm, 0.55 nm</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gain is after calibration, so 0.93 means a 10 nm change reads 9.3 nm — a 7% error the calibration did not remove.  The floor is a second error on top: the spread over the 47 sites' unchanged neighbors (their crosstalk, 0.2 to 0.6 nm here).</a:t>
            </a:r>
          </a:p>
          <a:p>
            <a:pPr>
              <a:spcAft>
                <a:spcPts val="600"/>
              </a:spcAft>
            </a:pPr>
            <a:r>
              <a:rPr sz="1500" b="0">
                <a:solidFill>
                  <a:srgbClr val="282828"/>
                </a:solidFill>
                <a:latin typeface="Arial"/>
              </a:rPr>
              <a:t>•  Calibration on the working surface absorbs most of it for the readings without a sign ambiguity: the stepped reading goes from 0.91 to 1.08 at 30 nm and from 0.79 to 0.93 at 50 nm; the linear reading from unusable to 1.03.  A matrix measured at 30 nm is still within 7% at 50 nm rms, so a calibration follows the working surface slowly.  The one-frame exact reading is not helped: its surface error is the sign fold, which moves with the change (it fails at 50 nm, floor 1.9 nm, when some of the 47 sites fall past the fold).</a:t>
            </a:r>
          </a:p>
          <a:p>
            <a:pPr>
              <a:spcAft>
                <a:spcPts val="600"/>
              </a:spcAft>
            </a:pPr>
            <a:r>
              <a:rPr sz="1500" b="0">
                <a:solidFill>
                  <a:srgbClr val="282828"/>
                </a:solidFill>
                <a:latin typeface="Arial"/>
              </a:rPr>
              <a:t>•  Past 120 nm rms every reading aliases (the stepped retrieval itself wraps).</a:t>
            </a:r>
          </a:p>
        </p:txBody>
      </p:sp>
      <p:sp>
        <p:nvSpPr>
          <p:cNvPr id="6" name="TextBox 5"/>
          <p:cNvSpPr txBox="1"/>
          <p:nvPr/>
        </p:nvSpPr>
        <p:spPr>
          <a:xfrm>
            <a:off x="411480" y="6942582"/>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floors on slide 9.  385 rays; records: runs/matbase385 (surface matrix), runs/mat385 (flat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Color is no longer a lever</a:t>
            </a:r>
          </a:p>
          <a:p>
            <a:pPr>
              <a:spcAft>
                <a:spcPts val="0"/>
              </a:spcAft>
            </a:pPr>
            <a:r>
              <a:rPr sz="1250" b="0">
                <a:solidFill>
                  <a:srgbClr val="6E6E6E"/>
                </a:solidFill>
                <a:latin typeface="Arial"/>
              </a:rPr>
              <a:t>With the sensor's null gone, five colors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color is range: 780 nm is the best single color on nearly every row — less phase per nanometer of height, and a 1.6 λ/D dimple.  The interferometer is unchanged at every color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color; development sampling (193 rays, 1024 grid); runs/rec193full.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state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state,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state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What "photons per state" counts: every photon the camera detects over the whole pupil image while one DM shape is measured once, summed over the frames that measurement needs: one frame for the one-frame readings, four for the stepped reading (a quarter each).  Not per mode or per actuator: 10¹⁴ per state is 3×10¹⁰ per lit actuator.  Measuring a change takes two states, so twice the number.</a:t>
            </a:r>
          </a:p>
          <a:p>
            <a:pPr>
              <a:spcAft>
                <a:spcPts val="600"/>
              </a:spcAft>
            </a:pPr>
            <a:r>
              <a:rPr sz="1200" b="0">
                <a:solidFill>
                  <a:srgbClr val="282828"/>
                </a:solidFill>
                <a:latin typeface="Arial"/>
              </a:rPr>
              <a:t>•  In laser terms: at 633 nm, 10¹⁴ photons is 31 µJ.  The test arm passes a 50/50 splitter twice, so a quarter of the laser power reaches the camera (other losses not counted): a 1 mW laser needs 0.13 s per state, a 5 mW laser 25 ms; the interferometer's 8×10¹⁴ is 1 s at 1 mW.</a:t>
            </a:r>
          </a:p>
          <a:p>
            <a:pPr>
              <a:spcAft>
                <a:spcPts val="600"/>
              </a:spcAft>
            </a:pPr>
            <a:r>
              <a:rPr sz="1200" b="0">
                <a:solidFill>
                  <a:srgbClr val="282828"/>
                </a:solidFill>
                <a:latin typeface="Arial"/>
              </a:rPr>
              <a:t>•  Method: noise-free frames once per state, photon shot noise added numerically, eight trials per point.  The 1 pm budget is about systematic errors and gain stability, not light.</a:t>
            </a:r>
          </a:p>
        </p:txBody>
      </p:sp>
      <p:sp>
        <p:nvSpPr>
          <p:cNvPr id="8" name="TextBox 7"/>
          <p:cNvSpPr txBox="1"/>
          <p:nvPr/>
        </p:nvSpPr>
        <p:spPr>
          <a:xfrm>
            <a:off x="6400800" y="6317742"/>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Records: runs/rec193full; tg96_s5noise_report.txt.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Holding the surface in closed loop: the on-orbit metric</a:t>
            </a:r>
          </a:p>
          <a:p>
            <a:pPr>
              <a:spcAft>
                <a:spcPts val="0"/>
              </a:spcAft>
            </a:pPr>
            <a:r>
              <a:rPr sz="1250" b="0">
                <a:solidFill>
                  <a:srgbClr val="6E6E6E"/>
                </a:solidFill>
                <a:latin typeface="Arial"/>
              </a:rPr>
              <a:t>Servoed through the sensor, the readings cost the same light; what differs is each reading's fixed error: none, some, or a runaway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loop193_left.png"/>
          <p:cNvPicPr>
            <a:picLocks noChangeAspect="1"/>
          </p:cNvPicPr>
          <p:nvPr/>
        </p:nvPicPr>
        <p:blipFill>
          <a:blip r:embed="rId2"/>
          <a:stretch>
            <a:fillRect/>
          </a:stretch>
        </p:blipFill>
        <p:spPr>
          <a:xfrm>
            <a:off x="1654521" y="1298448"/>
            <a:ext cx="3320357" cy="2823972"/>
          </a:xfrm>
          <a:prstGeom prst="rect">
            <a:avLst/>
          </a:prstGeom>
        </p:spPr>
      </p:pic>
      <p:sp>
        <p:nvSpPr>
          <p:cNvPr id="5" name="TextBox 4"/>
          <p:cNvSpPr txBox="1"/>
          <p:nvPr/>
        </p:nvSpPr>
        <p:spPr>
          <a:xfrm>
            <a:off x="411480" y="4140708"/>
            <a:ext cx="5806440" cy="559307"/>
          </a:xfrm>
          <a:prstGeom prst="rect">
            <a:avLst/>
          </a:prstGeom>
          <a:noFill/>
        </p:spPr>
        <p:txBody>
          <a:bodyPr wrap="square">
            <a:spAutoFit/>
          </a:bodyPr>
          <a:lstStyle/>
          <a:p>
            <a:pPr algn="ctr">
              <a:spcAft>
                <a:spcPts val="0"/>
              </a:spcAft>
            </a:pPr>
            <a:r>
              <a:rPr sz="1000" b="0">
                <a:solidFill>
                  <a:srgbClr val="6E6E6E"/>
                </a:solidFill>
                <a:latin typeface="Arial"/>
              </a:rPr>
              <a:t>The stepped reading's residual per cycle under a 2 pm-per-cycle random walk at four light levels (10¹² to 10¹⁵ photons per cycle, light to dark), and a noise-free 1 nm step (dashed) returning to zero.  Left panel of the runner's figure.</a:t>
            </a:r>
          </a:p>
        </p:txBody>
      </p:sp>
      <p:graphicFrame>
        <p:nvGraphicFramePr>
          <p:cNvPr id="6" name="Table 5"/>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622874"/>
                <a:gridCol w="1052675"/>
                <a:gridCol w="921090"/>
                <a:gridCol w="1798320"/>
              </a:tblGrid>
              <a:tr h="434340">
                <a:tc>
                  <a:txBody>
                    <a:bodyPr wrap="square"/>
                    <a:lstStyle/>
                    <a:p>
                      <a:r>
                        <a:rPr sz="1000" b="1">
                          <a:solidFill>
                            <a:srgbClr val="FFFFFF"/>
                          </a:solidFill>
                          <a:latin typeface="Arial"/>
                        </a:rPr>
                        <a:t>held to 3 pm rms: photons per cycle</a:t>
                      </a:r>
                    </a:p>
                  </a:txBody>
                  <a:tcPr marL="54864" marR="54864" marT="18288" marB="18288">
                    <a:solidFill>
                      <a:srgbClr val="1F4E79"/>
                    </a:solidFill>
                  </a:tcPr>
                </a:tc>
                <a:tc>
                  <a:txBody>
                    <a:bodyPr wrap="square"/>
                    <a:lstStyle/>
                    <a:p>
                      <a:r>
                        <a:rPr sz="1000" b="1">
                          <a:solidFill>
                            <a:srgbClr val="FFFFFF"/>
                          </a:solidFill>
                          <a:latin typeface="Arial"/>
                        </a:rPr>
                        <a:t>linear (L)</a:t>
                      </a:r>
                    </a:p>
                  </a:txBody>
                  <a:tcPr marL="54864" marR="54864" marT="18288" marB="18288">
                    <a:solidFill>
                      <a:srgbClr val="1F4E79"/>
                    </a:solidFill>
                  </a:tcPr>
                </a:tc>
                <a:tc>
                  <a:txBody>
                    <a:bodyPr wrap="square"/>
                    <a:lstStyle/>
                    <a:p>
                      <a:r>
                        <a:rPr sz="1000" b="1">
                          <a:solidFill>
                            <a:srgbClr val="FFFFFF"/>
                          </a:solidFill>
                          <a:latin typeface="Arial"/>
                        </a:rPr>
                        <a:t>exact, one frame (I+)</a:t>
                      </a:r>
                    </a:p>
                  </a:txBody>
                  <a:tcPr marL="54864" marR="54864" marT="18288" marB="18288">
                    <a:solidFill>
                      <a:srgbClr val="1F4E79"/>
                    </a:solidFill>
                  </a:tcPr>
                </a:tc>
                <a:tc>
                  <a:txBody>
                    <a:bodyPr wrap="square"/>
                    <a:lstStyle/>
                    <a:p>
                      <a:r>
                        <a:rPr sz="1000" b="1">
                          <a:solidFill>
                            <a:srgbClr val="FFFFFF"/>
                          </a:solidFill>
                          <a:latin typeface="Arial"/>
                        </a:rPr>
                        <a:t>stepped (S)</a:t>
                      </a:r>
                    </a:p>
                  </a:txBody>
                  <a:tcPr marL="54864" marR="54864" marT="18288" marB="18288">
                    <a:solidFill>
                      <a:srgbClr val="1F4E79"/>
                    </a:solidFill>
                  </a:tcPr>
                </a:tc>
              </a:tr>
              <a:tr h="262890">
                <a:tc>
                  <a:txBody>
                    <a:bodyPr wrap="square"/>
                    <a:lstStyle/>
                    <a:p>
                      <a:r>
                        <a:rPr sz="1000" b="0">
                          <a:solidFill>
                            <a:srgbClr val="282828"/>
                          </a:solidFill>
                          <a:latin typeface="Arial"/>
                        </a:rPr>
                        <a:t>noise only</a:t>
                      </a:r>
                    </a:p>
                  </a:txBody>
                  <a:tcPr marL="54864" marR="54864" marT="18288" marB="18288">
                    <a:solidFill>
                      <a:srgbClr val="FFFFFF"/>
                    </a:solidFill>
                  </a:tcPr>
                </a:tc>
                <a:tc>
                  <a:txBody>
                    <a:bodyPr wrap="square"/>
                    <a:lstStyle/>
                    <a:p>
                      <a:r>
                        <a:rPr sz="1000" b="0">
                          <a:solidFill>
                            <a:srgbClr val="282828"/>
                          </a:solidFill>
                          <a:latin typeface="Arial"/>
                        </a:rPr>
                        <a:t>2.1×10¹²</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2.6×10¹²</a:t>
                      </a:r>
                    </a:p>
                  </a:txBody>
                  <a:tcPr marL="54864" marR="54864" marT="18288" marB="18288">
                    <a:solidFill>
                      <a:srgbClr val="FFFFFF"/>
                    </a:solidFill>
                  </a:tcPr>
                </a:tc>
              </a:tr>
              <a:tr h="434340">
                <a:tc>
                  <a:txBody>
                    <a:bodyPr wrap="square"/>
                    <a:lstStyle/>
                    <a:p>
                      <a:r>
                        <a:rPr sz="1000" b="0">
                          <a:solidFill>
                            <a:srgbClr val="282828"/>
                          </a:solidFill>
                          <a:latin typeface="Arial"/>
                        </a:rPr>
                        <a:t>random walk, 2 pm per cycle</a:t>
                      </a:r>
                    </a:p>
                  </a:txBody>
                  <a:tcPr marL="54864" marR="54864" marT="18288" marB="18288">
                    <a:solidFill>
                      <a:srgbClr val="ECF1F6"/>
                    </a:solidFill>
                  </a:tcPr>
                </a:tc>
                <a:tc>
                  <a:txBody>
                    <a:bodyPr wrap="square"/>
                    <a:lstStyle/>
                    <a:p>
                      <a:r>
                        <a:rPr sz="1000" b="0">
                          <a:solidFill>
                            <a:srgbClr val="282828"/>
                          </a:solidFill>
                          <a:latin typeface="Arial"/>
                        </a:rPr>
                        <a:t>7.3×10¹²</a:t>
                      </a:r>
                    </a:p>
                  </a:txBody>
                  <a:tcPr marL="54864" marR="54864" marT="18288" marB="18288">
                    <a:solidFill>
                      <a:srgbClr val="ECF1F6"/>
                    </a:solidFill>
                  </a:tcPr>
                </a:tc>
                <a:tc>
                  <a:txBody>
                    <a:bodyPr wrap="square"/>
                    <a:lstStyle/>
                    <a:p>
                      <a:r>
                        <a:rPr sz="1000" b="0">
                          <a:solidFill>
                            <a:srgbClr val="282828"/>
                          </a:solidFill>
                          <a:latin typeface="Arial"/>
                        </a:rPr>
                        <a:t>runs away</a:t>
                      </a:r>
                    </a:p>
                  </a:txBody>
                  <a:tcPr marL="54864" marR="54864" marT="18288" marB="18288">
                    <a:solidFill>
                      <a:srgbClr val="ECF1F6"/>
                    </a:solidFill>
                  </a:tcPr>
                </a:tc>
                <a:tc>
                  <a:txBody>
                    <a:bodyPr wrap="square"/>
                    <a:lstStyle/>
                    <a:p>
                      <a:r>
                        <a:rPr sz="1000" b="0">
                          <a:solidFill>
                            <a:srgbClr val="282828"/>
                          </a:solidFill>
                          <a:latin typeface="Arial"/>
                        </a:rPr>
                        <a:t>7.5×10¹²</a:t>
                      </a:r>
                    </a:p>
                  </a:txBody>
                  <a:tcPr marL="54864" marR="54864" marT="18288" marB="18288">
                    <a:solidFill>
                      <a:srgbClr val="ECF1F6"/>
                    </a:solidFill>
                  </a:tcPr>
                </a:tc>
              </a:tr>
              <a:tr h="434340">
                <a:tc>
                  <a:txBody>
                    <a:bodyPr wrap="square"/>
                    <a:lstStyle/>
                    <a:p>
                      <a:r>
                        <a:rPr sz="1000" b="0">
                          <a:solidFill>
                            <a:srgbClr val="282828"/>
                          </a:solidFill>
                          <a:latin typeface="Arial"/>
                        </a:rPr>
                        <a:t>thermal ramp, 5 pm per cycle</a:t>
                      </a:r>
                    </a:p>
                  </a:txBody>
                  <a:tcPr marL="54864" marR="54864" marT="18288" marB="18288">
                    <a:solidFill>
                      <a:srgbClr val="FFFFFF"/>
                    </a:solidFill>
                  </a:tcPr>
                </a:tc>
                <a:tc>
                  <a:txBody>
                    <a:bodyPr wrap="square"/>
                    <a:lstStyle/>
                    <a:p>
                      <a:r>
                        <a:rPr sz="1000" b="0">
                          <a:solidFill>
                            <a:srgbClr val="282828"/>
                          </a:solidFill>
                          <a:latin typeface="Arial"/>
                        </a:rPr>
                        <a:t>27.6 pm at any light</a:t>
                      </a:r>
                    </a:p>
                  </a:txBody>
                  <a:tcPr marL="54864" marR="54864" marT="18288" marB="18288">
                    <a:solidFill>
                      <a:srgbClr val="FFFFFF"/>
                    </a:solidFill>
                  </a:tcPr>
                </a:tc>
                <a:tc>
                  <a:txBody>
                    <a:bodyPr wrap="square"/>
                    <a:lstStyle/>
                    <a:p>
                      <a:r>
                        <a:rPr sz="1000" b="0">
                          <a:solidFill>
                            <a:srgbClr val="282828"/>
                          </a:solidFill>
                          <a:latin typeface="Arial"/>
                        </a:rPr>
                        <a:t>runs away</a:t>
                      </a:r>
                    </a:p>
                  </a:txBody>
                  <a:tcPr marL="54864" marR="54864" marT="18288" marB="18288">
                    <a:solidFill>
                      <a:srgbClr val="FFFFFF"/>
                    </a:solidFill>
                  </a:tcPr>
                </a:tc>
                <a:tc>
                  <a:txBody>
                    <a:bodyPr wrap="square"/>
                    <a:lstStyle/>
                    <a:p>
                      <a:r>
                        <a:rPr sz="1000" b="0">
                          <a:solidFill>
                            <a:srgbClr val="282828"/>
                          </a:solidFill>
                          <a:latin typeface="Arial"/>
                        </a:rPr>
                        <a:t>10.0 pm at any light (the loop's own lag)</a:t>
                      </a:r>
                    </a:p>
                  </a:txBody>
                  <a:tcPr marL="54864" marR="54864" marT="18288" marB="18288">
                    <a:solidFill>
                      <a:srgbClr val="FFFFFF"/>
                    </a:solidFill>
                  </a:tcPr>
                </a:tc>
              </a:tr>
              <a:tr h="434340">
                <a:tc>
                  <a:txBody>
                    <a:bodyPr wrap="square"/>
                    <a:lstStyle/>
                    <a:p>
                      <a:r>
                        <a:rPr sz="1000" b="0">
                          <a:solidFill>
                            <a:srgbClr val="282828"/>
                          </a:solidFill>
                          <a:latin typeface="Arial"/>
                        </a:rPr>
                        <a:t>noise-free 1 nm step, after 60 cycles</a:t>
                      </a:r>
                    </a:p>
                  </a:txBody>
                  <a:tcPr marL="54864" marR="54864" marT="18288" marB="18288">
                    <a:solidFill>
                      <a:srgbClr val="ECF1F6"/>
                    </a:solidFill>
                  </a:tcPr>
                </a:tc>
                <a:tc>
                  <a:txBody>
                    <a:bodyPr wrap="square"/>
                    <a:lstStyle/>
                    <a:p>
                      <a:r>
                        <a:rPr sz="1000" b="0">
                          <a:solidFill>
                            <a:srgbClr val="282828"/>
                          </a:solidFill>
                          <a:latin typeface="Arial"/>
                        </a:rPr>
                        <a:t>1.2 pm and still falling</a:t>
                      </a:r>
                    </a:p>
                  </a:txBody>
                  <a:tcPr marL="54864" marR="54864" marT="18288" marB="18288">
                    <a:solidFill>
                      <a:srgbClr val="ECF1F6"/>
                    </a:solidFill>
                  </a:tcPr>
                </a:tc>
                <a:tc>
                  <a:txBody>
                    <a:bodyPr wrap="square"/>
                    <a:lstStyle/>
                    <a:p>
                      <a:r>
                        <a:rPr sz="1000" b="0">
                          <a:solidFill>
                            <a:srgbClr val="282828"/>
                          </a:solidFill>
                          <a:latin typeface="Arial"/>
                        </a:rPr>
                        <a:t>99 nm</a:t>
                      </a:r>
                    </a:p>
                  </a:txBody>
                  <a:tcPr marL="54864" marR="54864" marT="18288" marB="18288">
                    <a:solidFill>
                      <a:srgbClr val="ECF1F6"/>
                    </a:solidFill>
                  </a:tcPr>
                </a:tc>
                <a:tc>
                  <a:txBody>
                    <a:bodyPr wrap="square"/>
                    <a:lstStyle/>
                    <a:p>
                      <a:r>
                        <a:rPr sz="1000" b="0">
                          <a:solidFill>
                            <a:srgbClr val="282828"/>
                          </a:solidFill>
                          <a:latin typeface="Arial"/>
                        </a:rPr>
                        <a:t>0.000 pm</a:t>
                      </a:r>
                    </a:p>
                  </a:txBody>
                  <a:tcPr marL="54864" marR="54864" marT="18288" marB="18288">
                    <a:solidFill>
                      <a:srgbClr val="ECF1F6"/>
                    </a:solidFill>
                  </a:tcPr>
                </a:tc>
              </a:tr>
            </a:tbl>
          </a:graphicData>
        </a:graphic>
      </p:graphicFrame>
      <p:sp>
        <p:nvSpPr>
          <p:cNvPr id="7" name="TextBox 6"/>
          <p:cNvSpPr txBox="1"/>
          <p:nvPr/>
        </p:nvSpPr>
        <p:spPr>
          <a:xfrm>
            <a:off x="6400800" y="3445002"/>
            <a:ext cx="5394960" cy="274320"/>
          </a:xfrm>
          <a:prstGeom prst="rect">
            <a:avLst/>
          </a:prstGeom>
          <a:noFill/>
        </p:spPr>
        <p:txBody>
          <a:bodyPr wrap="square">
            <a:spAutoFit/>
          </a:bodyPr>
          <a:lstStyle/>
          <a:p>
            <a:pPr>
              <a:spcAft>
                <a:spcPts val="600"/>
              </a:spcAft>
            </a:pPr>
            <a:r>
              <a:rPr sz="1200" b="0">
                <a:solidFill>
                  <a:srgbClr val="282828"/>
                </a:solidFill>
                <a:latin typeface="Arial"/>
              </a:rPr>
              <a:t>•  The loop: the DM is held at the 30 nm working surface by a proportional servo (gain 0.5) closed through one reading; each cycle the DM shape is measured once with N photons (photons per state, slide 13), compared with the set point's frames, and half the estimated change removed.  The same loop code will run the interferometer.</a:t>
            </a:r>
          </a:p>
          <a:p>
            <a:pPr>
              <a:spcAft>
                <a:spcPts val="600"/>
              </a:spcAft>
            </a:pPr>
            <a:r>
              <a:rPr sz="1200" b="0">
                <a:solidFill>
                  <a:srgbClr val="282828"/>
                </a:solidFill>
                <a:latin typeface="Arial"/>
              </a:rPr>
              <a:t>•  What it shows: noise and a random walk propagate exactly as theory says, and L and S cost the same light.  What differs is the fixed error: S has none; L imprints a fine-scale error on the DM when a slow ramp leaves a persistent low-order residual; I+ has sites that read with the wrong sign, and no gain fixes a wrong sign.</a:t>
            </a:r>
          </a:p>
        </p:txBody>
      </p:sp>
      <p:sp>
        <p:nvSpPr>
          <p:cNvPr id="8" name="TextBox 7"/>
          <p:cNvSpPr txBox="1"/>
          <p:nvPr/>
        </p:nvSpPr>
        <p:spPr>
          <a:xfrm>
            <a:off x="6400800" y="5743194"/>
            <a:ext cx="5394960" cy="274320"/>
          </a:xfrm>
          <a:prstGeom prst="rect">
            <a:avLst/>
          </a:prstGeom>
          <a:noFill/>
        </p:spPr>
        <p:txBody>
          <a:bodyPr wrap="square">
            <a:spAutoFit/>
          </a:bodyPr>
          <a:lstStyle/>
          <a:p>
            <a:pPr>
              <a:spcAft>
                <a:spcPts val="600"/>
              </a:spcAft>
            </a:pPr>
            <a:r>
              <a:rPr sz="1050" b="0">
                <a:solidFill>
                  <a:srgbClr val="6E6E6E"/>
                </a:solidFill>
                <a:latin typeface="Arial"/>
              </a:rPr>
              <a:t>7.5×10¹² photons per cycle is 2.4 µJ: 9 ms of a 1 mW laser at the test arm's 25% throughput.  Gain 0.5, 60 cycles, matrix measured on the working surface, 193 rays; the 385-ray check gives the same numbers (runs/loop385).  A ramp under a proportional loop always lags by rate/gain; an integral term is the fix.  Code dm_gauge_lib/dmg_loop, gated by tDmgLoop.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calibrated on its working surface, reads a change to 5 pm up to 50–60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3360"/>
        </p:xfrm>
        <a:graphic>
          <a:graphicData uri="http://schemas.openxmlformats.org/drawingml/2006/table">
            <a:tbl>
              <a:tblPr firstRow="1" bandRow="1">
                <a:tableStyleId>{5C22544A-7EE6-4342-B048-85BDC9FD1C3A}</a:tableStyleId>
              </a:tblPr>
              <a:tblGrid>
                <a:gridCol w="3608337"/>
                <a:gridCol w="2224317"/>
                <a:gridCol w="5536079"/>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468630">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or 4 camera frames; 256 calibration frames once per working surface</a:t>
                      </a:r>
                    </a:p>
                  </a:txBody>
                  <a:tcPr marL="54864" marR="54864" marT="18288" marB="18288">
                    <a:solidFill>
                      <a:srgbClr val="ECF1F6"/>
                    </a:solidFill>
                  </a:tcPr>
                </a:tc>
              </a:tr>
              <a:tr h="468630">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468630">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468630">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0.99, floor 5 pm (stepped, four frames; matrix on the surface) — gain 1.05, floor 23 pm (linear,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state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r h="468630">
                <a:tc>
                  <a:txBody>
                    <a:bodyPr wrap="square"/>
                    <a:lstStyle/>
                    <a:p>
                      <a:r>
                        <a:rPr sz="1100" b="0">
                          <a:solidFill>
                            <a:srgbClr val="282828"/>
                          </a:solidFill>
                          <a:latin typeface="Arial"/>
                        </a:rPr>
                        <a:t>held in closed loop to 3 pm against a 2 pm random walk: photons per cycle</a:t>
                      </a:r>
                    </a:p>
                  </a:txBody>
                  <a:tcPr marL="54864" marR="54864" marT="18288" marB="18288">
                    <a:solidFill>
                      <a:srgbClr val="ECF1F6"/>
                    </a:solidFill>
                  </a:tcPr>
                </a:tc>
                <a:tc>
                  <a:txBody>
                    <a:bodyPr wrap="square"/>
                    <a:lstStyle/>
                    <a:p>
                      <a:r>
                        <a:rPr sz="1100" b="0">
                          <a:solidFill>
                            <a:srgbClr val="282828"/>
                          </a:solidFill>
                          <a:latin typeface="Arial"/>
                        </a:rPr>
                        <a:t>pending (same loop code, CCMac)</a:t>
                      </a:r>
                    </a:p>
                  </a:txBody>
                  <a:tcPr marL="54864" marR="54864" marT="18288" marB="18288">
                    <a:solidFill>
                      <a:srgbClr val="ECF1F6"/>
                    </a:solidFill>
                  </a:tcPr>
                </a:tc>
                <a:tc>
                  <a:txBody>
                    <a:bodyPr wrap="square"/>
                    <a:lstStyle/>
                    <a:p>
                      <a:r>
                        <a:rPr sz="1100" b="0">
                          <a:solidFill>
                            <a:srgbClr val="282828"/>
                          </a:solidFill>
                          <a:latin typeface="Arial"/>
                        </a:rPr>
                        <a:t>7.5×10¹² (stepped), 7.3×10¹² (linear)</a:t>
                      </a:r>
                    </a:p>
                  </a:txBody>
                  <a:tcPr marL="54864" marR="54864" marT="18288" marB="18288">
                    <a:solidFill>
                      <a:srgbClr val="ECF1F6"/>
                    </a:solidFill>
                  </a:tcPr>
                </a:tc>
              </a:tr>
            </a:tbl>
          </a:graphicData>
        </a:graphic>
      </p:graphicFrame>
      <p:sp>
        <p:nvSpPr>
          <p:cNvPr id="5" name="TextBox 4"/>
          <p:cNvSpPr txBox="1"/>
          <p:nvPr/>
        </p:nvSpPr>
        <p:spPr>
          <a:xfrm>
            <a:off x="411480" y="5468112"/>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no polarization train, a floor ten times lower once its response matrix is measured on that surface — and pays at the lowest spatial frequencies and in the surface it can handle.</a:t>
            </a:r>
          </a:p>
        </p:txBody>
      </p:sp>
      <p:sp>
        <p:nvSpPr>
          <p:cNvPr id="6" name="TextBox 5"/>
          <p:cNvSpPr txBox="1"/>
          <p:nvPr/>
        </p:nvSpPr>
        <p:spPr>
          <a:xfrm>
            <a:off x="411480" y="6387846"/>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385 rays, matrix calibration on the working surface (slide 10), photons at development sampling.  Both in actuator units through the same code (dm_gauge_lib).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states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a response matrix measured on the working surface takes the stepped reading to 5 pm; color and photons are not the limit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Calibrate with a measured response matrix, on the working surface: the sparse-grid measurement of every actuator's response (with the sensor's piston null carried) reads a single actuator on the flat at 0.994 with a 4 pm floor; measured on the working surface it gives the stepped reading 0.99 and 5 pm there and makes the linear one-frame reading usable (1.05, 23 pm).  The floors fall ten times; what remains is gain stability as the surface drifts (7% over 20 nm rms) and the one-frame exact readings' sign fold.</a:t>
            </a:r>
          </a:p>
          <a:p>
            <a:pPr>
              <a:spcAft>
                <a:spcPts val="600"/>
              </a:spcAft>
            </a:pPr>
            <a:r>
              <a:rPr sz="1500" b="0">
                <a:solidFill>
                  <a:srgbClr val="282828"/>
                </a:solidFill>
                <a:latin typeface="Arial"/>
              </a:rPr>
              <a:t>•  Sampling is settled, and a bias in the fit is fixed: camera pixels per actuator (the ray count) set the gain on a test actuator; sampling the single-site response pattern at the actuator center took that gain to 0.996 at 5 pixels per actuator.</a:t>
            </a:r>
          </a:p>
          <a:p>
            <a:pPr>
              <a:spcAft>
                <a:spcPts val="600"/>
              </a:spcAft>
            </a:pPr>
            <a:r>
              <a:rPr sz="1500" b="0">
                <a:solidFill>
                  <a:srgbClr val="282828"/>
                </a:solidFill>
                <a:latin typeface="Arial"/>
              </a:rPr>
              <a:t>•  Color and photons are not levers: the chromatic null was the defocus; 10¹⁴ photons per state reach 1 pm.  The budget is systematic error: the 25 to 60 pm floors and the gain's stability.</a:t>
            </a:r>
          </a:p>
          <a:p>
            <a:pPr>
              <a:spcAft>
                <a:spcPts val="600"/>
              </a:spcAft>
            </a:pPr>
            <a:r>
              <a:rPr sz="1500" b="0">
                <a:solidFill>
                  <a:srgbClr val="282828"/>
                </a:solidFill>
                <a:latin typeface="Arial"/>
              </a:rPr>
              <a:t>•  In closed loop the stepped reading has no fixed error: it holds a 2 pm-per-cycle walk to 3 pm from 7.5×10¹² photons per cycle and returns to zero after a step; the linear reading costs the same light but leaves a fine-scale error under a slow ramp; the one-frame exact reading runs away.</a:t>
            </a:r>
          </a:p>
        </p:txBody>
      </p:sp>
      <p:sp>
        <p:nvSpPr>
          <p:cNvPr id="5" name="TextBox 4"/>
          <p:cNvSpPr txBox="1"/>
          <p:nvPr/>
        </p:nvSpPr>
        <p:spPr>
          <a:xfrm>
            <a:off x="411480" y="6881622"/>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 the quantity the working-surface effect on slide 10 is made of —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The response matrix for the interferometer too: its calibration still uses a single-site response pattern, with the stencil bias fixed here (slide 9); the sparse-grid measured matrix is the calibration its reflective build should carry.  Model-matched DM calibration (actuator positions and gains through the sensor's own images) remains the lever for a real DM's geometry.</a:t>
            </a:r>
          </a:p>
          <a:p>
            <a:pPr>
              <a:spcAft>
                <a:spcPts val="600"/>
              </a:spcAft>
            </a:pPr>
            <a:r>
              <a:rPr sz="1500" b="0">
                <a:solidFill>
                  <a:srgbClr val="282828"/>
                </a:solidFill>
                <a:latin typeface="Arial"/>
              </a:rPr>
              <a:t>•  Color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color claim ("five colors fill the blind band; single-actuator floor 720 → 224 pm") was the Talbot null moving as 1/λ.  On the corrected model there is no null and color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