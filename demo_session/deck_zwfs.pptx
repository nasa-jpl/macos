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A Zernike sensor for the DM gauge</a:t>
            </a:r>
          </a:p>
          <a:p>
            <a:pPr>
              <a:spcAft>
                <a:spcPts val="1400"/>
              </a:spcAft>
            </a:pPr>
            <a:r>
              <a:rPr sz="2200" b="0">
                <a:solidFill>
                  <a:srgbClr val="282828"/>
                </a:solidFill>
                <a:latin typeface="Arial"/>
              </a:rPr>
              <a:t>The same 96 mm bench with the reference arm removed: a quarter-wave dimple at the focus turns one camera frame into a wavefront measurement — compared with the phase-shifting interferometer on the same deformable mirror</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September 2026.</a:t>
            </a:r>
          </a:p>
          <a:p>
            <a:pPr>
              <a:spcAft>
                <a:spcPts val="800"/>
              </a:spcAft>
            </a:pPr>
            <a:r>
              <a:rPr sz="1500" b="0">
                <a:solidFill>
                  <a:srgbClr val="6E6E6E"/>
                </a:solidFill>
                <a:latin typeface="Arial"/>
              </a:rPr>
              <a:t>DRAFT — pending review.  Status: the sensor model has been corrected (the early model was out of focus); five ways of reading the frames measured on the corrected model; sampling settled on a 2048 grid; color and photon budgets re-run; one script with a parameter sheet reproduces every number; a sampling bias in the actuator fit found and fixed; calibration by a measured response matrix on the working surface takes the stepped reading to 5 pm; the polarizing (vector) version is still to come.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idea: the beam interferes with its own core</a:t>
            </a:r>
          </a:p>
          <a:p>
            <a:pPr>
              <a:spcAft>
                <a:spcPts val="0"/>
              </a:spcAft>
            </a:pPr>
            <a:r>
              <a:rPr sz="1250" b="0">
                <a:solidFill>
                  <a:srgbClr val="6E6E6E"/>
                </a:solidFill>
                <a:latin typeface="Arial"/>
              </a:rPr>
              <a:t>A small etched dimple at the focus delays the center of the beam; that light spreads back over the pupil and acts as the reference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One glass plate, one tiny etched spot.  At the focus, the center of the beam passes through the dimple and is delayed by a quarter wave; the rest of the beam misses it.  The delayed light spreads back over the whole pupil image and interferes with the rest.  This is an interferometer with no second arm.</a:t>
            </a:r>
          </a:p>
          <a:p>
            <a:pPr>
              <a:spcAft>
                <a:spcPts val="600"/>
              </a:spcAft>
            </a:pPr>
            <a:r>
              <a:rPr sz="1200" b="0">
                <a:solidFill>
                  <a:srgbClr val="282828"/>
                </a:solidFill>
                <a:latin typeface="Arial"/>
              </a:rPr>
              <a:t>•  Pupil brightness becomes a phase map.  Near a quarter wave of delay, the camera brightness is nearly proportional to the wavefront.  One frame per measurement, no moving parts, no polarization optics.  An exact pixel-by-pixel inversion (slide 8) removes the small-phase limit.</a:t>
            </a:r>
          </a:p>
          <a:p>
            <a:pPr>
              <a:spcAft>
                <a:spcPts val="600"/>
              </a:spcAft>
            </a:pPr>
            <a:r>
              <a:rPr sz="1200" b="0">
                <a:solidFill>
                  <a:srgbClr val="282828"/>
                </a:solidFill>
                <a:latin typeface="Arial"/>
              </a:rPr>
              <a:t>•  The two prices.  The sensor cannot see piston, and it is weak at the very lowest spatial frequencies, because the reference is made from the beam itself.  On the corrected model the weak band is 0.5 to 1 cycle across the pupil (half response at 1 cycle); defocus and everything finer read near full response.</a:t>
            </a:r>
          </a:p>
        </p:txBody>
      </p:sp>
      <p:pic>
        <p:nvPicPr>
          <p:cNvPr id="5" name="Picture 4" descr="zwfs_mask_fig.png"/>
          <p:cNvPicPr>
            <a:picLocks noChangeAspect="1"/>
          </p:cNvPicPr>
          <p:nvPr/>
        </p:nvPicPr>
        <p:blipFill>
          <a:blip r:embed="rId2"/>
          <a:stretch>
            <a:fillRect/>
          </a:stretch>
        </p:blipFill>
        <p:spPr>
          <a:xfrm>
            <a:off x="6926164" y="1298448"/>
            <a:ext cx="4344230" cy="1891792"/>
          </a:xfrm>
          <a:prstGeom prst="rect">
            <a:avLst/>
          </a:prstGeom>
        </p:spPr>
      </p:pic>
      <p:sp>
        <p:nvSpPr>
          <p:cNvPr id="6" name="TextBox 5"/>
          <p:cNvSpPr txBox="1"/>
          <p:nvPr/>
        </p:nvSpPr>
        <p:spPr>
          <a:xfrm>
            <a:off x="6400800" y="3208528"/>
            <a:ext cx="5394960" cy="394208"/>
          </a:xfrm>
          <a:prstGeom prst="rect">
            <a:avLst/>
          </a:prstGeom>
          <a:noFill/>
        </p:spPr>
        <p:txBody>
          <a:bodyPr wrap="square">
            <a:spAutoFit/>
          </a:bodyPr>
          <a:lstStyle/>
          <a:p>
            <a:pPr algn="ctr">
              <a:spcAft>
                <a:spcPts val="0"/>
              </a:spcAft>
            </a:pPr>
            <a:r>
              <a:rPr sz="1000" b="0">
                <a:solidFill>
                  <a:srgbClr val="6E6E6E"/>
                </a:solidFill>
                <a:latin typeface="Arial"/>
              </a:rPr>
              <a:t>The focal spot with the dimple on its core (left); the mask itself — a 1.57 rad phase disk with gray edges from area-weighted supersampling (right).</a:t>
            </a:r>
          </a:p>
        </p:txBody>
      </p:sp>
      <p:sp>
        <p:nvSpPr>
          <p:cNvPr id="7" name="TextBox 6"/>
          <p:cNvSpPr txBox="1"/>
          <p:nvPr/>
        </p:nvSpPr>
        <p:spPr>
          <a:xfrm>
            <a:off x="6400800" y="3639312"/>
            <a:ext cx="5394960" cy="274320"/>
          </a:xfrm>
          <a:prstGeom prst="rect">
            <a:avLst/>
          </a:prstGeom>
          <a:noFill/>
        </p:spPr>
        <p:txBody>
          <a:bodyPr wrap="square">
            <a:spAutoFit/>
          </a:bodyPr>
          <a:lstStyle/>
          <a:p>
            <a:pPr>
              <a:spcAft>
                <a:spcPts val="600"/>
              </a:spcAft>
            </a:pPr>
            <a:r>
              <a:rPr sz="1050" b="0">
                <a:solidFill>
                  <a:srgbClr val="6E6E6E"/>
                </a:solidFill>
                <a:latin typeface="Arial"/>
              </a:rPr>
              <a:t>The dimple takes 28.0% of the light — the fraction a 1.06 λF/D disk should take from a focused spot.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setup: the interferometer's test arm, alone</a:t>
            </a:r>
          </a:p>
          <a:p>
            <a:pPr>
              <a:spcAft>
                <a:spcPts val="0"/>
              </a:spcAft>
            </a:pPr>
            <a:r>
              <a:rPr sz="1250" b="0">
                <a:solidFill>
                  <a:srgbClr val="6E6E6E"/>
                </a:solidFill>
                <a:latin typeface="Arial"/>
              </a:rPr>
              <a:t>Same source, same splitter, same 700 mm mirror leg, same lenses — the reference arm and every polarization element removed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Reused whole: the TG96 bench laid out for the 96×96, 1 mm-pitch DM — splitter at 7°, legs solved for clearance, the tuned detector optics.  The dimple sits at the internal focus of the existing detector leg, in the mask seat the bench already had; the camera still views an image of the DM.</a:t>
            </a:r>
          </a:p>
          <a:p>
            <a:pPr>
              <a:spcAft>
                <a:spcPts val="600"/>
              </a:spcAft>
            </a:pPr>
            <a:r>
              <a:rPr sz="1200" b="0">
                <a:solidFill>
                  <a:srgbClr val="282828"/>
                </a:solidFill>
                <a:latin typeface="Arial"/>
              </a:rPr>
              <a:t>•  Removed: the reference flat and its leg; the polarizer, four arm waveplates, output waveplate and analyzer.  Nothing else moves.</a:t>
            </a:r>
          </a:p>
          <a:p>
            <a:pPr>
              <a:spcAft>
                <a:spcPts val="600"/>
              </a:spcAft>
            </a:pPr>
            <a:r>
              <a:rPr sz="1200" b="0">
                <a:solidFill>
                  <a:srgbClr val="282828"/>
                </a:solidFill>
                <a:latin typeface="Arial"/>
              </a:rPr>
              <a:t>•  Why this matters: when the two instruments are scored against each other, the only difference is how they sense — not the glass, not the geometry.</a:t>
            </a:r>
          </a:p>
        </p:txBody>
      </p:sp>
      <p:pic>
        <p:nvPicPr>
          <p:cNvPr id="5" name="Picture 4" descr="zwfs_render_rig.png"/>
          <p:cNvPicPr>
            <a:picLocks noChangeAspect="1"/>
          </p:cNvPicPr>
          <p:nvPr/>
        </p:nvPicPr>
        <p:blipFill>
          <a:blip r:embed="rId2"/>
          <a:stretch>
            <a:fillRect/>
          </a:stretch>
        </p:blipFill>
        <p:spPr>
          <a:xfrm>
            <a:off x="6503663" y="1298448"/>
            <a:ext cx="5189233" cy="1708912"/>
          </a:xfrm>
          <a:prstGeom prst="rect">
            <a:avLst/>
          </a:prstGeom>
        </p:spPr>
      </p:pic>
      <p:sp>
        <p:nvSpPr>
          <p:cNvPr id="6" name="TextBox 5"/>
          <p:cNvSpPr txBox="1"/>
          <p:nvPr/>
        </p:nvSpPr>
        <p:spPr>
          <a:xfrm>
            <a:off x="6400800" y="3025648"/>
            <a:ext cx="5394960" cy="394208"/>
          </a:xfrm>
          <a:prstGeom prst="rect">
            <a:avLst/>
          </a:prstGeom>
          <a:noFill/>
        </p:spPr>
        <p:txBody>
          <a:bodyPr wrap="square">
            <a:spAutoFit/>
          </a:bodyPr>
          <a:lstStyle/>
          <a:p>
            <a:pPr algn="ctr">
              <a:spcAft>
                <a:spcPts val="0"/>
              </a:spcAft>
            </a:pPr>
            <a:r>
              <a:rPr sz="1000" b="0">
                <a:solidFill>
                  <a:srgbClr val="6E6E6E"/>
                </a:solidFill>
                <a:latin typeface="Arial"/>
              </a:rPr>
              <a:t>The train as traced: source and splitter at left, the 96 mm DM on its 700 mm leg, the detector tail converging to the dimple's focus, and the camera at the pupil image.</a:t>
            </a:r>
          </a:p>
        </p:txBody>
      </p:sp>
      <p:sp>
        <p:nvSpPr>
          <p:cNvPr id="7" name="TextBox 6"/>
          <p:cNvSpPr txBox="1"/>
          <p:nvPr/>
        </p:nvSpPr>
        <p:spPr>
          <a:xfrm>
            <a:off x="6400800" y="3456432"/>
            <a:ext cx="5394960" cy="274320"/>
          </a:xfrm>
          <a:prstGeom prst="rect">
            <a:avLst/>
          </a:prstGeom>
          <a:noFill/>
        </p:spPr>
        <p:txBody>
          <a:bodyPr wrap="square">
            <a:spAutoFit/>
          </a:bodyPr>
          <a:lstStyle/>
          <a:p>
            <a:pPr>
              <a:spcAft>
                <a:spcPts val="600"/>
              </a:spcAft>
            </a:pPr>
            <a:r>
              <a:rPr sz="1050" b="0">
                <a:solidFill>
                  <a:srgbClr val="6E6E6E"/>
                </a:solidFill>
                <a:latin typeface="Arial"/>
              </a:rPr>
              <a:t>A mask a few microns across needs a diffraction calculation around the focus: two reference spheres, one before and one after the mask.  They must have the same radius — the finding on slide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the numbers are scored</a:t>
            </a:r>
          </a:p>
          <a:p>
            <a:pPr>
              <a:spcAft>
                <a:spcPts val="0"/>
              </a:spcAft>
            </a:pPr>
            <a:r>
              <a:rPr sz="1250" b="0">
                <a:solidFill>
                  <a:srgbClr val="6E6E6E"/>
                </a:solidFill>
                <a:latin typeface="Arial"/>
              </a:rPr>
              <a:t>Every result on the following slides is a change in the DM, measured before and after, in actuator units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test: put the DM in some shape (the working surface), measure it; change a known set of actuators by a known amount (10 nm unless stated); measure again; subtract; fit the actuator pattern to the difference.  The score is how well the actuator changes come back.</a:t>
            </a:r>
          </a:p>
          <a:p>
            <a:pPr>
              <a:spcAft>
                <a:spcPts val="600"/>
              </a:spcAft>
            </a:pPr>
            <a:r>
              <a:rPr sz="1500" b="0">
                <a:solidFill>
                  <a:srgbClr val="282828"/>
                </a:solidFill>
                <a:latin typeface="Arial"/>
              </a:rPr>
              <a:t>•  Gain: recovered change divided by the true change.  1.0 is perfect.  Gain is quoted after calibration: the sensor's response to one actuator and to patterns of each spatial frequency is measured on the flat DM and divided out.  A gain below 1 on a working surface is therefore an error the flat-DM calibration did not remove.</a:t>
            </a:r>
          </a:p>
          <a:p>
            <a:pPr>
              <a:spcAft>
                <a:spcPts val="600"/>
              </a:spcAft>
            </a:pPr>
            <a:r>
              <a:rPr sz="1500" b="0">
                <a:solidFill>
                  <a:srgbClr val="282828"/>
                </a:solidFill>
                <a:latin typeface="Arial"/>
              </a:rPr>
              <a:t>•  Floor: the spread (rms) of the actuators that were not changed, in picometers.  It is what the measurement puts on actuators that should read zero.</a:t>
            </a:r>
          </a:p>
          <a:p>
            <a:pPr>
              <a:spcAft>
                <a:spcPts val="600"/>
              </a:spcAft>
            </a:pPr>
            <a:r>
              <a:rPr sz="1500" b="0">
                <a:solidFill>
                  <a:srgbClr val="282828"/>
                </a:solidFill>
                <a:latin typeface="Arial"/>
              </a:rPr>
              <a:t>•  SNR: recovered change divided by the floor.  Above 5 counts as detected.</a:t>
            </a:r>
          </a:p>
          <a:p>
            <a:pPr>
              <a:spcAft>
                <a:spcPts val="600"/>
              </a:spcAft>
            </a:pPr>
            <a:r>
              <a:rPr sz="1500" b="0">
                <a:solidFill>
                  <a:srgbClr val="282828"/>
                </a:solidFill>
                <a:latin typeface="Arial"/>
              </a:rPr>
              <a:t>•  Working surface: a random DM shape, 30 nm rms unless stated, present during the test.  It is the same random pattern every time, scaled.</a:t>
            </a:r>
          </a:p>
          <a:p>
            <a:pPr>
              <a:spcAft>
                <a:spcPts val="600"/>
              </a:spcAft>
            </a:pPr>
            <a:r>
              <a:rPr sz="1500" b="0">
                <a:solidFill>
                  <a:srgbClr val="282828"/>
                </a:solidFill>
                <a:latin typeface="Arial"/>
              </a:rPr>
              <a:t>•  Measurement and frame: a measurement is one DM shape measured once; it takes one camera frame for the one-frame readings and four for the stepped reading.  Measuring a change costs two measurements (before and after).  Photon budgets are quoted per measurement, all its frames summed.</a:t>
            </a:r>
          </a:p>
        </p:txBody>
      </p:sp>
      <p:sp>
        <p:nvSpPr>
          <p:cNvPr id="5" name="TextBox 4"/>
          <p:cNvSpPr txBox="1"/>
          <p:nvPr/>
        </p:nvSpPr>
        <p:spPr>
          <a:xfrm>
            <a:off x="411480" y="5643372"/>
            <a:ext cx="11368735" cy="274320"/>
          </a:xfrm>
          <a:prstGeom prst="rect">
            <a:avLst/>
          </a:prstGeom>
          <a:noFill/>
        </p:spPr>
        <p:txBody>
          <a:bodyPr wrap="square">
            <a:spAutoFit/>
          </a:bodyPr>
          <a:lstStyle/>
          <a:p>
            <a:pPr>
              <a:spcAft>
                <a:spcPts val="600"/>
              </a:spcAft>
            </a:pPr>
            <a:r>
              <a:rPr sz="1050" b="0">
                <a:solidFill>
                  <a:srgbClr val="6E6E6E"/>
                </a:solidFill>
                <a:latin typeface="Arial"/>
              </a:rPr>
              <a:t>96×96 DM at 1 mm pitch unless stated (48×48 at 2 mm alongside).  The interferometer is scored the same way with the same code (dm_gauge_lib).  Target: 1 pm.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mask is real hardware, modeled with its own numbers</a:t>
            </a:r>
          </a:p>
          <a:p>
            <a:pPr>
              <a:spcAft>
                <a:spcPts val="0"/>
              </a:spcAft>
            </a:pPr>
            <a:r>
              <a:rPr sz="1250" b="0">
                <a:solidFill>
                  <a:srgbClr val="6E6E6E"/>
                </a:solidFill>
                <a:latin typeface="Arial"/>
              </a:rPr>
              <a:t>346.2 nm of etch in fused silica = 1.571 rad at 632.8 nm; a substrate with nine spots, one in the beam at a time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part: a fused-silica plate with a 3×3 array of etched dimples of different diameters — the VSG2 wavefront-sensor mask.  Etch depth 346.2 nm gives a phase delay 2π(n−1)d/λ = 1.571 rad, a quarter wave at 632.8 nm.  Moving the plate selects a spot; only one is ever in the beam.</a:t>
            </a:r>
          </a:p>
        </p:txBody>
      </p:sp>
      <p:graphicFrame>
        <p:nvGraphicFramePr>
          <p:cNvPr id="5" name="Table 4"/>
          <p:cNvGraphicFramePr>
            <a:graphicFrameLocks noGrp="1"/>
          </p:cNvGraphicFramePr>
          <p:nvPr/>
        </p:nvGraphicFramePr>
        <p:xfrm>
          <a:off x="411480" y="2218182"/>
          <a:ext cx="11368731" cy="560070"/>
        </p:xfrm>
        <a:graphic>
          <a:graphicData uri="http://schemas.openxmlformats.org/drawingml/2006/table">
            <a:tbl>
              <a:tblPr firstRow="1" bandRow="1">
                <a:tableStyleId>{5C22544A-7EE6-4342-B048-85BDC9FD1C3A}</a:tableStyleId>
              </a:tblPr>
              <a:tblGrid>
                <a:gridCol w="3989029"/>
                <a:gridCol w="2792320"/>
                <a:gridCol w="1396160"/>
                <a:gridCol w="1994514"/>
                <a:gridCol w="1196708"/>
              </a:tblGrid>
              <a:tr h="280035">
                <a:tc>
                  <a:txBody>
                    <a:bodyPr wrap="square"/>
                    <a:lstStyle/>
                    <a:p>
                      <a:r>
                        <a:rPr sz="1100" b="1">
                          <a:solidFill>
                            <a:srgbClr val="FFFFFF"/>
                          </a:solidFill>
                          <a:latin typeface="Arial"/>
                        </a:rPr>
                        <a:t>spot diameter (λF/D)</a:t>
                      </a:r>
                    </a:p>
                  </a:txBody>
                  <a:tcPr marL="54864" marR="54864" marT="18288" marB="18288">
                    <a:solidFill>
                      <a:srgbClr val="1F4E79"/>
                    </a:solidFill>
                  </a:tcPr>
                </a:tc>
                <a:tc>
                  <a:txBody>
                    <a:bodyPr wrap="square"/>
                    <a:lstStyle/>
                    <a:p>
                      <a:r>
                        <a:rPr sz="1100" b="1">
                          <a:solidFill>
                            <a:srgbClr val="FFFFFF"/>
                          </a:solidFill>
                          <a:latin typeface="Arial"/>
                        </a:rPr>
                        <a:t>1.06 (default)</a:t>
                      </a:r>
                    </a:p>
                  </a:txBody>
                  <a:tcPr marL="54864" marR="54864" marT="18288" marB="18288">
                    <a:solidFill>
                      <a:srgbClr val="1F4E79"/>
                    </a:solidFill>
                  </a:tcPr>
                </a:tc>
                <a:tc>
                  <a:txBody>
                    <a:bodyPr wrap="square"/>
                    <a:lstStyle/>
                    <a:p>
                      <a:r>
                        <a:rPr sz="1100" b="1">
                          <a:solidFill>
                            <a:srgbClr val="FFFFFF"/>
                          </a:solidFill>
                          <a:latin typeface="Arial"/>
                        </a:rPr>
                        <a:t>1.22</a:t>
                      </a:r>
                    </a:p>
                  </a:txBody>
                  <a:tcPr marL="54864" marR="54864" marT="18288" marB="18288">
                    <a:solidFill>
                      <a:srgbClr val="1F4E79"/>
                    </a:solidFill>
                  </a:tcPr>
                </a:tc>
                <a:tc>
                  <a:txBody>
                    <a:bodyPr wrap="square"/>
                    <a:lstStyle/>
                    <a:p>
                      <a:r>
                        <a:rPr sz="1100" b="1">
                          <a:solidFill>
                            <a:srgbClr val="FFFFFF"/>
                          </a:solidFill>
                          <a:latin typeface="Arial"/>
                        </a:rPr>
                        <a:t>2.0 (used)</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280035">
                <a:tc>
                  <a:txBody>
                    <a:bodyPr wrap="square"/>
                    <a:lstStyle/>
                    <a:p>
                      <a:r>
                        <a:rPr sz="1100" b="0">
                          <a:solidFill>
                            <a:srgbClr val="282828"/>
                          </a:solidFill>
                          <a:latin typeface="Arial"/>
                        </a:rPr>
                        <a:t>here, at F/4.2</a:t>
                      </a:r>
                    </a:p>
                  </a:txBody>
                  <a:tcPr marL="54864" marR="54864" marT="18288" marB="18288">
                    <a:solidFill>
                      <a:srgbClr val="FFFFFF"/>
                    </a:solidFill>
                  </a:tcPr>
                </a:tc>
                <a:tc>
                  <a:txBody>
                    <a:bodyPr wrap="square"/>
                    <a:lstStyle/>
                    <a:p>
                      <a:r>
                        <a:rPr sz="1100" b="0">
                          <a:solidFill>
                            <a:srgbClr val="282828"/>
                          </a:solidFill>
                          <a:latin typeface="Arial"/>
                        </a:rPr>
                        <a:t>2.79 µm</a:t>
                      </a:r>
                    </a:p>
                  </a:txBody>
                  <a:tcPr marL="54864" marR="54864" marT="18288" marB="18288">
                    <a:solidFill>
                      <a:srgbClr val="FFFFFF"/>
                    </a:solidFill>
                  </a:tcPr>
                </a:tc>
                <a:tc>
                  <a:txBody>
                    <a:bodyPr wrap="square"/>
                    <a:lstStyle/>
                    <a:p>
                      <a:r>
                        <a:rPr sz="1100" b="0">
                          <a:solidFill>
                            <a:srgbClr val="282828"/>
                          </a:solidFill>
                          <a:latin typeface="Arial"/>
                        </a:rPr>
                        <a:t>3.22 µm</a:t>
                      </a:r>
                    </a:p>
                  </a:txBody>
                  <a:tcPr marL="54864" marR="54864" marT="18288" marB="18288">
                    <a:solidFill>
                      <a:srgbClr val="FFFFFF"/>
                    </a:solidFill>
                  </a:tcPr>
                </a:tc>
                <a:tc>
                  <a:txBody>
                    <a:bodyPr wrap="square"/>
                    <a:lstStyle/>
                    <a:p>
                      <a:r>
                        <a:rPr sz="1100" b="0">
                          <a:solidFill>
                            <a:srgbClr val="282828"/>
                          </a:solidFill>
                          <a:latin typeface="Arial"/>
                        </a:rPr>
                        <a:t>5.3 µm</a:t>
                      </a:r>
                    </a:p>
                  </a:txBody>
                  <a:tcPr marL="54864" marR="54864" marT="18288" marB="18288">
                    <a:solidFill>
                      <a:srgbClr val="FFFFFF"/>
                    </a:solidFill>
                  </a:tcPr>
                </a:tc>
                <a:tc>
                  <a:txBody>
                    <a:bodyPr wrap="square"/>
                    <a:lstStyle/>
                    <a:p>
                      <a:r>
                        <a:rPr sz="1100" b="0">
                          <a:solidFill>
                            <a:srgbClr val="282828"/>
                          </a:solidFill>
                          <a:latin typeface="Arial"/>
                        </a:rPr>
                        <a:t>7.9 µm</a:t>
                      </a:r>
                    </a:p>
                  </a:txBody>
                  <a:tcPr marL="54864" marR="54864" marT="18288" marB="18288">
                    <a:solidFill>
                      <a:srgbClr val="FFFFFF"/>
                    </a:solidFill>
                  </a:tcPr>
                </a:tc>
              </a:tr>
            </a:tbl>
          </a:graphicData>
        </a:graphic>
      </p:graphicFrame>
      <p:sp>
        <p:nvSpPr>
          <p:cNvPr id="6" name="TextBox 5"/>
          <p:cNvSpPr txBox="1"/>
          <p:nvPr/>
        </p:nvSpPr>
        <p:spPr>
          <a:xfrm>
            <a:off x="411480" y="2924556"/>
            <a:ext cx="11368735" cy="274320"/>
          </a:xfrm>
          <a:prstGeom prst="rect">
            <a:avLst/>
          </a:prstGeom>
          <a:noFill/>
        </p:spPr>
        <p:txBody>
          <a:bodyPr wrap="square">
            <a:spAutoFit/>
          </a:bodyPr>
          <a:lstStyle/>
          <a:p>
            <a:pPr>
              <a:spcAft>
                <a:spcPts val="600"/>
              </a:spcAft>
            </a:pPr>
            <a:r>
              <a:rPr sz="1500" b="0">
                <a:solidFill>
                  <a:srgbClr val="282828"/>
                </a:solidFill>
                <a:latin typeface="Arial"/>
              </a:rPr>
              <a:t>•  In the model: the etched disk is a complex mask multiplied into the calculated field at the focus — edges area-weighted at 8× supersampling, the disk centered on the measured spot (the same alignment the real plate gets by moving it).  An exact identity checks it: the masked field equals the direct part plus the dimple's part to 15 digits, so the mask provably acts on the light.</a:t>
            </a:r>
          </a:p>
          <a:p>
            <a:pPr>
              <a:spcAft>
                <a:spcPts val="600"/>
              </a:spcAft>
            </a:pPr>
            <a:r>
              <a:rPr sz="1500" b="0">
                <a:solidFill>
                  <a:srgbClr val="282828"/>
                </a:solidFill>
                <a:latin typeface="Arial"/>
              </a:rPr>
              <a:t>•  Spot size sets the weak band: on the corrected model, the 3.0 λF/D spot deepens the sensor's own dip below 2 cycles across the pupil (response 0.22 against 0.50 at 2.0 λF/D) and changes nothing above it.  2.0 λF/D is the spot used throughout.</a:t>
            </a:r>
          </a:p>
        </p:txBody>
      </p:sp>
      <p:sp>
        <p:nvSpPr>
          <p:cNvPr id="7" name="TextBox 6"/>
          <p:cNvSpPr txBox="1"/>
          <p:nvPr/>
        </p:nvSpPr>
        <p:spPr>
          <a:xfrm>
            <a:off x="411480" y="4975098"/>
            <a:ext cx="11368735" cy="274320"/>
          </a:xfrm>
          <a:prstGeom prst="rect">
            <a:avLst/>
          </a:prstGeom>
          <a:noFill/>
        </p:spPr>
        <p:txBody>
          <a:bodyPr wrap="square">
            <a:spAutoFit/>
          </a:bodyPr>
          <a:lstStyle/>
          <a:p>
            <a:pPr>
              <a:spcAft>
                <a:spcPts val="600"/>
              </a:spcAft>
            </a:pPr>
            <a:r>
              <a:rPr sz="1050" b="0">
                <a:solidFill>
                  <a:srgbClr val="6E6E6E"/>
                </a:solidFill>
                <a:latin typeface="Arial"/>
              </a:rPr>
              <a:t>Hardware numbers from the VSG2 ZWFS upgrade deck, carried in vsg2_params.m; substrate class Thorlabs W4101FT1.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First light in the model</a:t>
            </a:r>
          </a:p>
          <a:p>
            <a:pPr>
              <a:spcAft>
                <a:spcPts val="0"/>
              </a:spcAft>
            </a:pPr>
            <a:r>
              <a:rPr sz="1250" b="0">
                <a:solidFill>
                  <a:srgbClr val="6E6E6E"/>
                </a:solidFill>
                <a:latin typeface="Arial"/>
              </a:rPr>
              <a:t>A known 8 nm ripple put on the DM comes back from one camera frame at gain 0.93, and reads as nothing when the dimple is removed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chain, checked: dimple 6.3 pixels across on the focal grid; masked frame = direct part + dimple part to 3×10⁻¹⁶; 0.280 of the light in the core.</a:t>
            </a:r>
          </a:p>
          <a:p>
            <a:pPr>
              <a:spcAft>
                <a:spcPts val="600"/>
              </a:spcAft>
            </a:pPr>
            <a:r>
              <a:rPr sz="1200" b="0">
                <a:solidFill>
                  <a:srgbClr val="282828"/>
                </a:solidFill>
                <a:latin typeface="Arial"/>
              </a:rPr>
              <a:t>•  The measurement: an 8 nm ring pattern on the DM, rebuilt from a single frame against the flat-DM reference maps — gain 0.932, residual 0.45 nm; the camera-to-DM mapping comes from traced rays (magnification 10.16, no anamorphism).</a:t>
            </a:r>
          </a:p>
          <a:p>
            <a:pPr>
              <a:spcAft>
                <a:spcPts val="600"/>
              </a:spcAft>
            </a:pPr>
            <a:r>
              <a:rPr sz="1200" b="0">
                <a:solidFill>
                  <a:srgbClr val="282828"/>
                </a:solidFill>
                <a:latin typeface="Arial"/>
              </a:rPr>
              <a:t>•  The control: the same DM shape read without the dimple gives gain −0.07.  Plain pupil imaging is blind to phase; the signal is the dimple's.</a:t>
            </a:r>
          </a:p>
          <a:p>
            <a:pPr>
              <a:spcAft>
                <a:spcPts val="600"/>
              </a:spcAft>
            </a:pPr>
            <a:r>
              <a:rPr sz="1200" b="0">
                <a:solidFill>
                  <a:srgbClr val="282828"/>
                </a:solidFill>
                <a:latin typeface="Arial"/>
              </a:rPr>
              <a:t>•  Low orders are less trouble than expected: defocus reads at 0.986.  The blind spot is piston and tilt only.</a:t>
            </a:r>
          </a:p>
        </p:txBody>
      </p:sp>
      <p:pic>
        <p:nvPicPr>
          <p:cNvPr id="5" name="Picture 4" descr="zwfs_response.png"/>
          <p:cNvPicPr>
            <a:picLocks noChangeAspect="1"/>
          </p:cNvPicPr>
          <p:nvPr/>
        </p:nvPicPr>
        <p:blipFill>
          <a:blip r:embed="rId2"/>
          <a:stretch>
            <a:fillRect/>
          </a:stretch>
        </p:blipFill>
        <p:spPr>
          <a:xfrm>
            <a:off x="6729237" y="1298448"/>
            <a:ext cx="473808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Commanded shape (left) against the single-frame recovery (right): same rings, same scale.</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Numbers from zwfs_s1_report.txt (five checks, 20 s a run, development resolution), taken on the model later found out of focus (next slide).  The five checks test structure, not accuracy, and still stand.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was out of focus; corrected, the ringing goes away</a:t>
            </a:r>
          </a:p>
          <a:p>
            <a:pPr>
              <a:spcAft>
                <a:spcPts val="0"/>
              </a:spcAft>
            </a:pPr>
            <a:r>
              <a:rPr sz="1250" b="0">
                <a:solidFill>
                  <a:srgbClr val="6E6E6E"/>
                </a:solidFill>
                <a:latin typeface="Arial"/>
              </a:rPr>
              <a:t>The exit sphere of the mask bracket had the wrong radius — a 4.9 m defocus of the pupil image, under every result of the first six stages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defect: the two reference spheres around the mask must share one radius so that, with no mask, the field comes back unchanged.  The exit sphere was written with a 23.9 mm radius against the entrance sphere's 352.7 mm; the engine then applied a quadratic phase at the focus, which is a defocus of the pupil image by 4.86 m.  Found while building the exact inversion, which needs the pupil brightness to be the same for every DM shape.</a:t>
            </a:r>
          </a:p>
          <a:p>
            <a:pPr>
              <a:spcAft>
                <a:spcPts val="600"/>
              </a:spcAft>
            </a:pPr>
            <a:r>
              <a:rPr sz="1200" b="0">
                <a:solidFill>
                  <a:srgbClr val="282828"/>
                </a:solidFill>
                <a:latin typeface="Arial"/>
              </a:rPr>
              <a:t>•  What it explained: with no mask the field came back changed by 0.159 on a flat DM (now 1.8×10⁻¹⁵); a 30 nm DM shape changed the pupil brightness by 29% rms (now 4×10⁻¹⁶); the response to one actuator rang (peak 0.27, ring −0.16; now 0.75, no ring); the response had a null near 30 cycles across the pupil — a Talbot effect of the defocus, predicted at 34.</a:t>
            </a:r>
          </a:p>
          <a:p>
            <a:pPr>
              <a:spcAft>
                <a:spcPts val="600"/>
              </a:spcAft>
            </a:pPr>
            <a:r>
              <a:rPr sz="1200" b="0">
                <a:solidFill>
                  <a:srgbClr val="282828"/>
                </a:solidFill>
                <a:latin typeface="Arial"/>
              </a:rPr>
              <a:t>•  What the correction alone buys (one-frame linear reading, 96×96, same frames): floor under a single-actuator change on the 30 nm surface 744 → 67 pm (SNR 9 → 80); the grid case the sensor could not detect goes from SNR 1.5 to 14; a dense random change 42 → 9.6 nm error.</a:t>
            </a:r>
          </a:p>
        </p:txBody>
      </p:sp>
      <p:pic>
        <p:nvPicPr>
          <p:cNvPr id="5" name="Picture 4" descr="zwfs_s7iter.png"/>
          <p:cNvPicPr>
            <a:picLocks noChangeAspect="1"/>
          </p:cNvPicPr>
          <p:nvPr/>
        </p:nvPicPr>
        <p:blipFill>
          <a:blip r:embed="rId2"/>
          <a:stretch>
            <a:fillRect/>
          </a:stretch>
        </p:blipFill>
        <p:spPr>
          <a:xfrm>
            <a:off x="6609767" y="1298448"/>
            <a:ext cx="4977024" cy="2183892"/>
          </a:xfrm>
          <a:prstGeom prst="rect">
            <a:avLst/>
          </a:prstGeom>
        </p:spPr>
      </p:pic>
      <p:sp>
        <p:nvSpPr>
          <p:cNvPr id="6" name="TextBox 5"/>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Left: the corrected model's response by spatial frequency for the three kinds of reading, against the old model's linear response (dashed) with its null.  Right: gain on one actuator as the working surface grows.</a:t>
            </a:r>
          </a:p>
        </p:txBody>
      </p:sp>
      <p:sp>
        <p:nvSpPr>
          <p:cNvPr id="7" name="TextBox 6"/>
          <p:cNvSpPr txBox="1"/>
          <p:nvPr/>
        </p:nvSpPr>
        <p:spPr>
          <a:xfrm>
            <a:off x="6400800" y="4096512"/>
            <a:ext cx="5394960" cy="274320"/>
          </a:xfrm>
          <a:prstGeom prst="rect">
            <a:avLst/>
          </a:prstGeom>
          <a:noFill/>
        </p:spPr>
        <p:txBody>
          <a:bodyPr wrap="square">
            <a:spAutoFit/>
          </a:bodyPr>
          <a:lstStyle/>
          <a:p>
            <a:pPr>
              <a:spcAft>
                <a:spcPts val="600"/>
              </a:spcAft>
            </a:pPr>
            <a:r>
              <a:rPr sz="1050" b="0">
                <a:solidFill>
                  <a:srgbClr val="6E6E6E"/>
                </a:solidFill>
                <a:latin typeface="Arial"/>
              </a:rPr>
              <a:t>The old emission is kept as a builder option so the first six stages reproduce byte for byte.  The interferometer traces the same tail by rays and was never affected.  Records: zwfs_s7iter_report.txt, README S7.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Five ways to read the same camera frames</a:t>
            </a:r>
          </a:p>
          <a:p>
            <a:pPr>
              <a:spcAft>
                <a:spcPts val="0"/>
              </a:spcAft>
            </a:pPr>
            <a:r>
              <a:rPr sz="1250" b="0">
                <a:solidFill>
                  <a:srgbClr val="6E6E6E"/>
                </a:solidFill>
                <a:latin typeface="Arial"/>
              </a:rPr>
              <a:t>The exact inversion, with its reference re-computed and the sign choice settled once, reads a 10 nm change to 19 pm from one frame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readings: L, linear, one frame, small phases only.  F, exact inversion pixel by pixel with the reference wave from the flat DM, one frame.  I, exact inversion with the reference wave re-computed from the current estimate through the mask model, five passes, one frame.  I+, the same, with the sign choice each pixel faces (which side of the quarter-wave fold it is on) settled once per working surface from four stepped frames, then refined; every later measurement is one frame.  S, phase stepping through three etch depths plus a clear frame, four frames.</a:t>
            </a:r>
          </a:p>
        </p:txBody>
      </p:sp>
      <p:graphicFrame>
        <p:nvGraphicFramePr>
          <p:cNvPr id="5" name="Table 4"/>
          <p:cNvGraphicFramePr>
            <a:graphicFrameLocks noGrp="1"/>
          </p:cNvGraphicFramePr>
          <p:nvPr/>
        </p:nvGraphicFramePr>
        <p:xfrm>
          <a:off x="411480" y="2713482"/>
          <a:ext cx="11368735" cy="1400175"/>
        </p:xfrm>
        <a:graphic>
          <a:graphicData uri="http://schemas.openxmlformats.org/drawingml/2006/table">
            <a:tbl>
              <a:tblPr firstRow="1" bandRow="1">
                <a:tableStyleId>{5C22544A-7EE6-4342-B048-85BDC9FD1C3A}</a:tableStyleId>
              </a:tblPr>
              <a:tblGrid>
                <a:gridCol w="6641795"/>
                <a:gridCol w="945388"/>
                <a:gridCol w="945388"/>
                <a:gridCol w="945388"/>
                <a:gridCol w="945388"/>
                <a:gridCol w="945388"/>
              </a:tblGrid>
              <a:tr h="280035">
                <a:tc>
                  <a:txBody>
                    <a:bodyPr wrap="square"/>
                    <a:lstStyle/>
                    <a:p>
                      <a:r>
                        <a:rPr sz="1100" b="1">
                          <a:solidFill>
                            <a:srgbClr val="FFFFFF"/>
                          </a:solidFill>
                          <a:latin typeface="Arial"/>
                        </a:rPr>
                        <a:t>10 nm change on the 30 nm working surface, 96×96</a:t>
                      </a:r>
                    </a:p>
                  </a:txBody>
                  <a:tcPr marL="54864" marR="54864" marT="18288" marB="18288">
                    <a:solidFill>
                      <a:srgbClr val="1F4E79"/>
                    </a:solidFill>
                  </a:tcPr>
                </a:tc>
                <a:tc>
                  <a:txBody>
                    <a:bodyPr wrap="square"/>
                    <a:lstStyle/>
                    <a:p>
                      <a:r>
                        <a:rPr sz="1100" b="1">
                          <a:solidFill>
                            <a:srgbClr val="FFFFFF"/>
                          </a:solidFill>
                          <a:latin typeface="Arial"/>
                        </a:rPr>
                        <a:t>L</a:t>
                      </a:r>
                    </a:p>
                  </a:txBody>
                  <a:tcPr marL="54864" marR="54864" marT="18288" marB="18288">
                    <a:solidFill>
                      <a:srgbClr val="1F4E79"/>
                    </a:solidFill>
                  </a:tcPr>
                </a:tc>
                <a:tc>
                  <a:txBody>
                    <a:bodyPr wrap="square"/>
                    <a:lstStyle/>
                    <a:p>
                      <a:r>
                        <a:rPr sz="1100" b="1">
                          <a:solidFill>
                            <a:srgbClr val="FFFFFF"/>
                          </a:solidFill>
                          <a:latin typeface="Arial"/>
                        </a:rPr>
                        <a:t>F</a:t>
                      </a:r>
                    </a:p>
                  </a:txBody>
                  <a:tcPr marL="54864" marR="54864" marT="18288" marB="18288">
                    <a:solidFill>
                      <a:srgbClr val="1F4E79"/>
                    </a:solidFill>
                  </a:tcPr>
                </a:tc>
                <a:tc>
                  <a:txBody>
                    <a:bodyPr wrap="square"/>
                    <a:lstStyle/>
                    <a:p>
                      <a:r>
                        <a:rPr sz="1100" b="1">
                          <a:solidFill>
                            <a:srgbClr val="FFFFFF"/>
                          </a:solidFill>
                          <a:latin typeface="Arial"/>
                        </a:rPr>
                        <a:t>I</a:t>
                      </a:r>
                    </a:p>
                  </a:txBody>
                  <a:tcPr marL="54864" marR="54864" marT="18288" marB="18288">
                    <a:solidFill>
                      <a:srgbClr val="1F4E79"/>
                    </a:solidFill>
                  </a:tcPr>
                </a:tc>
                <a:tc>
                  <a:txBody>
                    <a:bodyPr wrap="square"/>
                    <a:lstStyle/>
                    <a:p>
                      <a:r>
                        <a:rPr sz="1100" b="1">
                          <a:solidFill>
                            <a:srgbClr val="FFFFFF"/>
                          </a:solidFill>
                          <a:latin typeface="Arial"/>
                        </a:rPr>
                        <a:t>I+</a:t>
                      </a:r>
                    </a:p>
                  </a:txBody>
                  <a:tcPr marL="54864" marR="54864" marT="18288" marB="18288">
                    <a:solidFill>
                      <a:srgbClr val="1F4E79"/>
                    </a:solidFill>
                  </a:tcPr>
                </a:tc>
                <a:tc>
                  <a:txBody>
                    <a:bodyPr wrap="square"/>
                    <a:lstStyle/>
                    <a:p>
                      <a:r>
                        <a:rPr sz="1100" b="1">
                          <a:solidFill>
                            <a:srgbClr val="FFFFFF"/>
                          </a:solidFill>
                          <a:latin typeface="Arial"/>
                        </a:rPr>
                        <a:t>S</a:t>
                      </a:r>
                    </a:p>
                  </a:txBody>
                  <a:tcPr marL="54864" marR="54864" marT="18288" marB="18288">
                    <a:solidFill>
                      <a:srgbClr val="1F4E79"/>
                    </a:solidFill>
                  </a:tcPr>
                </a:tc>
              </a:tr>
              <a:tr h="280035">
                <a:tc>
                  <a:txBody>
                    <a:bodyPr wrap="square"/>
                    <a:lstStyle/>
                    <a:p>
                      <a:r>
                        <a:rPr sz="1100" b="0">
                          <a:solidFill>
                            <a:srgbClr val="282828"/>
                          </a:solidFill>
                          <a:latin typeface="Arial"/>
                        </a:rPr>
                        <a:t>gain, before / after the frequency correction</a:t>
                      </a:r>
                    </a:p>
                  </a:txBody>
                  <a:tcPr marL="54864" marR="54864" marT="18288" marB="18288">
                    <a:solidFill>
                      <a:srgbClr val="FFFFFF"/>
                    </a:solidFill>
                  </a:tcPr>
                </a:tc>
                <a:tc>
                  <a:txBody>
                    <a:bodyPr wrap="square"/>
                    <a:lstStyle/>
                    <a:p>
                      <a:r>
                        <a:rPr sz="1100" b="0">
                          <a:solidFill>
                            <a:srgbClr val="282828"/>
                          </a:solidFill>
                          <a:latin typeface="Arial"/>
                        </a:rPr>
                        <a:t>0.39 / 0.35</a:t>
                      </a:r>
                    </a:p>
                  </a:txBody>
                  <a:tcPr marL="54864" marR="54864" marT="18288" marB="18288">
                    <a:solidFill>
                      <a:srgbClr val="FFFFFF"/>
                    </a:solidFill>
                  </a:tcPr>
                </a:tc>
                <a:tc>
                  <a:txBody>
                    <a:bodyPr wrap="square"/>
                    <a:lstStyle/>
                    <a:p>
                      <a:r>
                        <a:rPr sz="1100" b="0">
                          <a:solidFill>
                            <a:srgbClr val="282828"/>
                          </a:solidFill>
                          <a:latin typeface="Arial"/>
                        </a:rPr>
                        <a:t>0.96 / 0.91</a:t>
                      </a:r>
                    </a:p>
                  </a:txBody>
                  <a:tcPr marL="54864" marR="54864" marT="18288" marB="18288">
                    <a:solidFill>
                      <a:srgbClr val="FFFFFF"/>
                    </a:solidFill>
                  </a:tcPr>
                </a:tc>
                <a:tc>
                  <a:txBody>
                    <a:bodyPr wrap="square"/>
                    <a:lstStyle/>
                    <a:p>
                      <a:r>
                        <a:rPr sz="1100" b="0">
                          <a:solidFill>
                            <a:srgbClr val="282828"/>
                          </a:solidFill>
                          <a:latin typeface="Arial"/>
                        </a:rPr>
                        <a:t>1.08 / 1.02</a:t>
                      </a:r>
                    </a:p>
                  </a:txBody>
                  <a:tcPr marL="54864" marR="54864" marT="18288" marB="18288">
                    <a:solidFill>
                      <a:srgbClr val="FFFFFF"/>
                    </a:solidFill>
                  </a:tcPr>
                </a:tc>
                <a:tc>
                  <a:txBody>
                    <a:bodyPr wrap="square"/>
                    <a:lstStyle/>
                    <a:p>
                      <a:r>
                        <a:rPr sz="1100" b="0">
                          <a:solidFill>
                            <a:srgbClr val="282828"/>
                          </a:solidFill>
                          <a:latin typeface="Arial"/>
                        </a:rPr>
                        <a:t>0.98 / 0.93</a:t>
                      </a:r>
                    </a:p>
                  </a:txBody>
                  <a:tcPr marL="54864" marR="54864" marT="18288" marB="18288">
                    <a:solidFill>
                      <a:srgbClr val="FFFFFF"/>
                    </a:solidFill>
                  </a:tcPr>
                </a:tc>
                <a:tc>
                  <a:txBody>
                    <a:bodyPr wrap="square"/>
                    <a:lstStyle/>
                    <a:p>
                      <a:r>
                        <a:rPr sz="1100" b="0">
                          <a:solidFill>
                            <a:srgbClr val="282828"/>
                          </a:solidFill>
                          <a:latin typeface="Arial"/>
                        </a:rPr>
                        <a:t>0.80 / 0.87</a:t>
                      </a:r>
                    </a:p>
                  </a:txBody>
                  <a:tcPr marL="54864" marR="54864" marT="18288" marB="18288">
                    <a:solidFill>
                      <a:srgbClr val="FFFFFF"/>
                    </a:solidFill>
                  </a:tcPr>
                </a:tc>
              </a:tr>
              <a:tr h="280035">
                <a:tc>
                  <a:txBody>
                    <a:bodyPr wrap="square"/>
                    <a:lstStyle/>
                    <a:p>
                      <a:r>
                        <a:rPr sz="1100" b="0">
                          <a:solidFill>
                            <a:srgbClr val="282828"/>
                          </a:solidFill>
                          <a:latin typeface="Arial"/>
                        </a:rPr>
                        <a:t>floor, pm, before / after</a:t>
                      </a:r>
                    </a:p>
                  </a:txBody>
                  <a:tcPr marL="54864" marR="54864" marT="18288" marB="18288">
                    <a:solidFill>
                      <a:srgbClr val="ECF1F6"/>
                    </a:solidFill>
                  </a:tcPr>
                </a:tc>
                <a:tc>
                  <a:txBody>
                    <a:bodyPr wrap="square"/>
                    <a:lstStyle/>
                    <a:p>
                      <a:r>
                        <a:rPr sz="1100" b="0">
                          <a:solidFill>
                            <a:srgbClr val="282828"/>
                          </a:solidFill>
                          <a:latin typeface="Arial"/>
                        </a:rPr>
                        <a:t>72 / 63</a:t>
                      </a:r>
                    </a:p>
                  </a:txBody>
                  <a:tcPr marL="54864" marR="54864" marT="18288" marB="18288">
                    <a:solidFill>
                      <a:srgbClr val="ECF1F6"/>
                    </a:solidFill>
                  </a:tcPr>
                </a:tc>
                <a:tc>
                  <a:txBody>
                    <a:bodyPr wrap="square"/>
                    <a:lstStyle/>
                    <a:p>
                      <a:r>
                        <a:rPr sz="1100" b="0">
                          <a:solidFill>
                            <a:srgbClr val="282828"/>
                          </a:solidFill>
                          <a:latin typeface="Arial"/>
                        </a:rPr>
                        <a:t>55 / 55</a:t>
                      </a:r>
                    </a:p>
                  </a:txBody>
                  <a:tcPr marL="54864" marR="54864" marT="18288" marB="18288">
                    <a:solidFill>
                      <a:srgbClr val="ECF1F6"/>
                    </a:solidFill>
                  </a:tcPr>
                </a:tc>
                <a:tc>
                  <a:txBody>
                    <a:bodyPr wrap="square"/>
                    <a:lstStyle/>
                    <a:p>
                      <a:r>
                        <a:rPr sz="1100" b="0">
                          <a:solidFill>
                            <a:srgbClr val="282828"/>
                          </a:solidFill>
                          <a:latin typeface="Arial"/>
                        </a:rPr>
                        <a:t>28 / 39</a:t>
                      </a:r>
                    </a:p>
                  </a:txBody>
                  <a:tcPr marL="54864" marR="54864" marT="18288" marB="18288">
                    <a:solidFill>
                      <a:srgbClr val="ECF1F6"/>
                    </a:solidFill>
                  </a:tcPr>
                </a:tc>
                <a:tc>
                  <a:txBody>
                    <a:bodyPr wrap="square"/>
                    <a:lstStyle/>
                    <a:p>
                      <a:r>
                        <a:rPr sz="1100" b="0">
                          <a:solidFill>
                            <a:srgbClr val="282828"/>
                          </a:solidFill>
                          <a:latin typeface="Arial"/>
                        </a:rPr>
                        <a:t>19 / 34</a:t>
                      </a:r>
                    </a:p>
                  </a:txBody>
                  <a:tcPr marL="54864" marR="54864" marT="18288" marB="18288">
                    <a:solidFill>
                      <a:srgbClr val="ECF1F6"/>
                    </a:solidFill>
                  </a:tcPr>
                </a:tc>
                <a:tc>
                  <a:txBody>
                    <a:bodyPr wrap="square"/>
                    <a:lstStyle/>
                    <a:p>
                      <a:r>
                        <a:rPr sz="1100" b="0">
                          <a:solidFill>
                            <a:srgbClr val="282828"/>
                          </a:solidFill>
                          <a:latin typeface="Arial"/>
                        </a:rPr>
                        <a:t>17 / 36</a:t>
                      </a:r>
                    </a:p>
                  </a:txBody>
                  <a:tcPr marL="54864" marR="54864" marT="18288" marB="18288">
                    <a:solidFill>
                      <a:srgbClr val="ECF1F6"/>
                    </a:solidFill>
                  </a:tcPr>
                </a:tc>
              </a:tr>
              <a:tr h="280035">
                <a:tc>
                  <a:txBody>
                    <a:bodyPr wrap="square"/>
                    <a:lstStyle/>
                    <a:p>
                      <a:r>
                        <a:rPr sz="1100" b="0">
                          <a:solidFill>
                            <a:srgbClr val="282828"/>
                          </a:solidFill>
                          <a:latin typeface="Arial"/>
                        </a:rPr>
                        <a:t>SNR (before)</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173</a:t>
                      </a:r>
                    </a:p>
                  </a:txBody>
                  <a:tcPr marL="54864" marR="54864" marT="18288" marB="18288">
                    <a:solidFill>
                      <a:srgbClr val="FFFFFF"/>
                    </a:solidFill>
                  </a:tcPr>
                </a:tc>
                <a:tc>
                  <a:txBody>
                    <a:bodyPr wrap="square"/>
                    <a:lstStyle/>
                    <a:p>
                      <a:r>
                        <a:rPr sz="1100" b="0">
                          <a:solidFill>
                            <a:srgbClr val="282828"/>
                          </a:solidFill>
                          <a:latin typeface="Arial"/>
                        </a:rPr>
                        <a:t>386</a:t>
                      </a:r>
                    </a:p>
                  </a:txBody>
                  <a:tcPr marL="54864" marR="54864" marT="18288" marB="18288">
                    <a:solidFill>
                      <a:srgbClr val="FFFFFF"/>
                    </a:solidFill>
                  </a:tcPr>
                </a:tc>
                <a:tc>
                  <a:txBody>
                    <a:bodyPr wrap="square"/>
                    <a:lstStyle/>
                    <a:p>
                      <a:r>
                        <a:rPr sz="1100" b="0">
                          <a:solidFill>
                            <a:srgbClr val="282828"/>
                          </a:solidFill>
                          <a:latin typeface="Arial"/>
                        </a:rPr>
                        <a:t>525</a:t>
                      </a:r>
                    </a:p>
                  </a:txBody>
                  <a:tcPr marL="54864" marR="54864" marT="18288" marB="18288">
                    <a:solidFill>
                      <a:srgbClr val="FFFFFF"/>
                    </a:solidFill>
                  </a:tcPr>
                </a:tc>
                <a:tc>
                  <a:txBody>
                    <a:bodyPr wrap="square"/>
                    <a:lstStyle/>
                    <a:p>
                      <a:r>
                        <a:rPr sz="1100" b="0">
                          <a:solidFill>
                            <a:srgbClr val="282828"/>
                          </a:solidFill>
                          <a:latin typeface="Arial"/>
                        </a:rPr>
                        <a:t>461</a:t>
                      </a:r>
                    </a:p>
                  </a:txBody>
                  <a:tcPr marL="54864" marR="54864" marT="18288" marB="18288">
                    <a:solidFill>
                      <a:srgbClr val="FFFFFF"/>
                    </a:solidFill>
                  </a:tcPr>
                </a:tc>
              </a:tr>
              <a:tr h="280035">
                <a:tc>
                  <a:txBody>
                    <a:bodyPr wrap="square"/>
                    <a:lstStyle/>
                    <a:p>
                      <a:r>
                        <a:rPr sz="1100" b="0">
                          <a:solidFill>
                            <a:srgbClr val="282828"/>
                          </a:solidFill>
                          <a:latin typeface="Arial"/>
                        </a:rPr>
                        <a:t>47 actuators changed by 1 nm on the same surface: SNR</a:t>
                      </a:r>
                    </a:p>
                  </a:txBody>
                  <a:tcPr marL="54864" marR="54864" marT="18288" marB="18288">
                    <a:solidFill>
                      <a:srgbClr val="ECF1F6"/>
                    </a:solidFill>
                  </a:tcPr>
                </a:tc>
                <a:tc>
                  <a:txBody>
                    <a:bodyPr wrap="square"/>
                    <a:lstStyle/>
                    <a:p>
                      <a:r>
                        <a:rPr sz="1100" b="0">
                          <a:solidFill>
                            <a:srgbClr val="282828"/>
                          </a:solidFill>
                          <a:latin typeface="Arial"/>
                        </a:rPr>
                        <a:t>13.4</a:t>
                      </a:r>
                    </a:p>
                  </a:txBody>
                  <a:tcPr marL="54864" marR="54864" marT="18288" marB="18288">
                    <a:solidFill>
                      <a:srgbClr val="ECF1F6"/>
                    </a:solidFill>
                  </a:tcPr>
                </a:tc>
                <a:tc>
                  <a:txBody>
                    <a:bodyPr wrap="square"/>
                    <a:lstStyle/>
                    <a:p>
                      <a:r>
                        <a:rPr sz="1100" b="0">
                          <a:solidFill>
                            <a:srgbClr val="282828"/>
                          </a:solidFill>
                          <a:latin typeface="Arial"/>
                        </a:rPr>
                        <a:t>12.4</a:t>
                      </a:r>
                    </a:p>
                  </a:txBody>
                  <a:tcPr marL="54864" marR="54864" marT="18288" marB="18288">
                    <a:solidFill>
                      <a:srgbClr val="ECF1F6"/>
                    </a:solidFill>
                  </a:tcPr>
                </a:tc>
                <a:tc>
                  <a:txBody>
                    <a:bodyPr wrap="square"/>
                    <a:lstStyle/>
                    <a:p>
                      <a:r>
                        <a:rPr sz="1100" b="0">
                          <a:solidFill>
                            <a:srgbClr val="282828"/>
                          </a:solidFill>
                          <a:latin typeface="Arial"/>
                        </a:rPr>
                        <a:t>12.6</a:t>
                      </a:r>
                    </a:p>
                  </a:txBody>
                  <a:tcPr marL="54864" marR="54864" marT="18288" marB="18288">
                    <a:solidFill>
                      <a:srgbClr val="ECF1F6"/>
                    </a:solidFill>
                  </a:tcPr>
                </a:tc>
                <a:tc>
                  <a:txBody>
                    <a:bodyPr wrap="square"/>
                    <a:lstStyle/>
                    <a:p>
                      <a:r>
                        <a:rPr sz="1100" b="0">
                          <a:solidFill>
                            <a:srgbClr val="282828"/>
                          </a:solidFill>
                          <a:latin typeface="Arial"/>
                        </a:rPr>
                        <a:t>45.5</a:t>
                      </a:r>
                    </a:p>
                  </a:txBody>
                  <a:tcPr marL="54864" marR="54864" marT="18288" marB="18288">
                    <a:solidFill>
                      <a:srgbClr val="ECF1F6"/>
                    </a:solidFill>
                  </a:tcPr>
                </a:tc>
                <a:tc>
                  <a:txBody>
                    <a:bodyPr wrap="square"/>
                    <a:lstStyle/>
                    <a:p>
                      <a:r>
                        <a:rPr sz="1100" b="0">
                          <a:solidFill>
                            <a:srgbClr val="282828"/>
                          </a:solidFill>
                          <a:latin typeface="Arial"/>
                        </a:rPr>
                        <a:t>47.1</a:t>
                      </a:r>
                    </a:p>
                  </a:txBody>
                  <a:tcPr marL="54864" marR="54864" marT="18288" marB="18288">
                    <a:solidFill>
                      <a:srgbClr val="ECF1F6"/>
                    </a:solidFill>
                  </a:tcPr>
                </a:tc>
              </a:tr>
            </a:tbl>
          </a:graphicData>
        </a:graphic>
      </p:graphicFrame>
      <p:sp>
        <p:nvSpPr>
          <p:cNvPr id="6" name="TextBox 5"/>
          <p:cNvSpPr txBox="1"/>
          <p:nvPr/>
        </p:nvSpPr>
        <p:spPr>
          <a:xfrm>
            <a:off x="411480" y="4259961"/>
            <a:ext cx="11368735" cy="274320"/>
          </a:xfrm>
          <a:prstGeom prst="rect">
            <a:avLst/>
          </a:prstGeom>
          <a:noFill/>
        </p:spPr>
        <p:txBody>
          <a:bodyPr wrap="square">
            <a:spAutoFit/>
          </a:bodyPr>
          <a:lstStyle/>
          <a:p>
            <a:pPr>
              <a:spcAft>
                <a:spcPts val="600"/>
              </a:spcAft>
            </a:pPr>
            <a:r>
              <a:rPr sz="1500" b="0">
                <a:solidFill>
                  <a:srgbClr val="282828"/>
                </a:solidFill>
                <a:latin typeface="Arial"/>
              </a:rPr>
              <a:t>•  The one physical limit is the sign fold: with the true sign map and the engine's own reference wave, the inversion is exact to 3×10⁻¹⁴.  On the 30 nm surface 7.8% of pixels sit past the fold.  The refined sign map gets 99.99% of pixels right; the plain stepped one misses 3%, enough to flip the sign of a single actuator.</a:t>
            </a:r>
          </a:p>
        </p:txBody>
      </p:sp>
      <p:sp>
        <p:nvSpPr>
          <p:cNvPr id="7" name="TextBox 6"/>
          <p:cNvSpPr txBox="1"/>
          <p:nvPr/>
        </p:nvSpPr>
        <p:spPr>
          <a:xfrm>
            <a:off x="411480" y="5179695"/>
            <a:ext cx="11368735" cy="274320"/>
          </a:xfrm>
          <a:prstGeom prst="rect">
            <a:avLst/>
          </a:prstGeom>
          <a:noFill/>
        </p:spPr>
        <p:txBody>
          <a:bodyPr wrap="square">
            <a:spAutoFit/>
          </a:bodyPr>
          <a:lstStyle/>
          <a:p>
            <a:pPr>
              <a:spcAft>
                <a:spcPts val="600"/>
              </a:spcAft>
            </a:pPr>
            <a:r>
              <a:rPr sz="1050" b="0">
                <a:solidFill>
                  <a:srgbClr val="6E6E6E"/>
                </a:solidFill>
                <a:latin typeface="Arial"/>
              </a:rPr>
              <a:t>Fully sampled setup (385 rays across the pupil, 2048 grid; slide 9).  "Frequency correction" = dividing out the measured response by spatial frequency.  The reference-wave model matches the engine's own field to 2×10⁻¹⁵.  Interferometer on the same row: gain 0.92, floor 46 pm.  Calibrated on the flat DM with a single-site response pattern (the record's method); the measured-matrix calibration on slide 10 supersedes it.  Record: runs/m2048_lat.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Sampling: two requirements that pull opposite ways</a:t>
            </a:r>
          </a:p>
          <a:p>
            <a:pPr>
              <a:spcAft>
                <a:spcPts val="0"/>
              </a:spcAft>
            </a:pPr>
            <a:r>
              <a:rPr sz="1250" b="0">
                <a:solidFill>
                  <a:srgbClr val="6E6E6E"/>
                </a:solidFill>
                <a:latin typeface="Arial"/>
              </a:rPr>
              <a:t>Dimple pixels go as grid size over ray count, camera pixels per actuator as ray count — only a larger grid serves both; a 2048 grid fits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1874520"/>
        </p:xfrm>
        <a:graphic>
          <a:graphicData uri="http://schemas.openxmlformats.org/drawingml/2006/table">
            <a:tbl>
              <a:tblPr firstRow="1" bandRow="1">
                <a:tableStyleId>{5C22544A-7EE6-4342-B048-85BDC9FD1C3A}</a:tableStyleId>
              </a:tblPr>
              <a:tblGrid>
                <a:gridCol w="1425289"/>
                <a:gridCol w="872744"/>
                <a:gridCol w="1206014"/>
                <a:gridCol w="1041558"/>
                <a:gridCol w="1260833"/>
              </a:tblGrid>
              <a:tr h="468630">
                <a:tc>
                  <a:txBody>
                    <a:bodyPr wrap="square"/>
                    <a:lstStyle/>
                    <a:p>
                      <a:r>
                        <a:rPr sz="1100" b="1">
                          <a:solidFill>
                            <a:srgbClr val="FFFFFF"/>
                          </a:solidFill>
                          <a:latin typeface="Arial"/>
                        </a:rPr>
                        <a:t>rays across / grid</a:t>
                      </a:r>
                    </a:p>
                  </a:txBody>
                  <a:tcPr marL="54864" marR="54864" marT="18288" marB="18288">
                    <a:solidFill>
                      <a:srgbClr val="1F4E79"/>
                    </a:solidFill>
                  </a:tcPr>
                </a:tc>
                <a:tc>
                  <a:txBody>
                    <a:bodyPr wrap="square"/>
                    <a:lstStyle/>
                    <a:p>
                      <a:r>
                        <a:rPr sz="1100" b="1">
                          <a:solidFill>
                            <a:srgbClr val="FFFFFF"/>
                          </a:solidFill>
                          <a:latin typeface="Arial"/>
                        </a:rPr>
                        <a:t>dimple, px</a:t>
                      </a:r>
                    </a:p>
                  </a:txBody>
                  <a:tcPr marL="54864" marR="54864" marT="18288" marB="18288">
                    <a:solidFill>
                      <a:srgbClr val="1F4E79"/>
                    </a:solidFill>
                  </a:tcPr>
                </a:tc>
                <a:tc>
                  <a:txBody>
                    <a:bodyPr wrap="square"/>
                    <a:lstStyle/>
                    <a:p>
                      <a:r>
                        <a:rPr sz="1100" b="1">
                          <a:solidFill>
                            <a:srgbClr val="FFFFFF"/>
                          </a:solidFill>
                          <a:latin typeface="Arial"/>
                        </a:rPr>
                        <a:t>camera px per actuator</a:t>
                      </a:r>
                    </a:p>
                  </a:txBody>
                  <a:tcPr marL="54864" marR="54864" marT="18288" marB="18288">
                    <a:solidFill>
                      <a:srgbClr val="1F4E79"/>
                    </a:solidFill>
                  </a:tcPr>
                </a:tc>
                <a:tc>
                  <a:txBody>
                    <a:bodyPr wrap="square"/>
                    <a:lstStyle/>
                    <a:p>
                      <a:r>
                        <a:rPr sz="1100" b="1">
                          <a:solidFill>
                            <a:srgbClr val="FFFFFF"/>
                          </a:solidFill>
                          <a:latin typeface="Arial"/>
                        </a:rPr>
                        <a:t>gain, test actuator</a:t>
                      </a:r>
                    </a:p>
                  </a:txBody>
                  <a:tcPr marL="54864" marR="54864" marT="18288" marB="18288">
                    <a:solidFill>
                      <a:srgbClr val="1F4E79"/>
                    </a:solidFill>
                  </a:tcPr>
                </a:tc>
                <a:tc>
                  <a:txBody>
                    <a:bodyPr wrap="square"/>
                    <a:lstStyle/>
                    <a:p>
                      <a:r>
                        <a:rPr sz="1100" b="1">
                          <a:solidFill>
                            <a:srgbClr val="FFFFFF"/>
                          </a:solidFill>
                          <a:latin typeface="Arial"/>
                        </a:rPr>
                        <a:t>I+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193 / 1024 (development)</a:t>
                      </a:r>
                    </a:p>
                  </a:txBody>
                  <a:tcPr marL="54864" marR="54864" marT="18288" marB="18288">
                    <a:solidFill>
                      <a:srgbClr val="FFFFFF"/>
                    </a:solidFill>
                  </a:tcPr>
                </a:tc>
                <a:tc>
                  <a:txBody>
                    <a:bodyPr wrap="square"/>
                    <a:lstStyle/>
                    <a:p>
                      <a:r>
                        <a:rPr sz="1100" b="0">
                          <a:solidFill>
                            <a:srgbClr val="282828"/>
                          </a:solidFill>
                          <a:latin typeface="Arial"/>
                        </a:rPr>
                        <a:t>7.92</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0.946</a:t>
                      </a:r>
                    </a:p>
                  </a:txBody>
                  <a:tcPr marL="54864" marR="54864" marT="18288" marB="18288">
                    <a:solidFill>
                      <a:srgbClr val="FFFFFF"/>
                    </a:solidFill>
                  </a:tcPr>
                </a:tc>
                <a:tc>
                  <a:txBody>
                    <a:bodyPr wrap="square"/>
                    <a:lstStyle/>
                    <a:p>
                      <a:r>
                        <a:rPr sz="1100" b="0">
                          <a:solidFill>
                            <a:srgbClr val="282828"/>
                          </a:solidFill>
                          <a:latin typeface="Arial"/>
                        </a:rPr>
                        <a:t>0.82, 13 pm, SNR 632</a:t>
                      </a:r>
                    </a:p>
                  </a:txBody>
                  <a:tcPr marL="54864" marR="54864" marT="18288" marB="18288">
                    <a:solidFill>
                      <a:srgbClr val="FFFFFF"/>
                    </a:solidFill>
                  </a:tcPr>
                </a:tc>
              </a:tr>
              <a:tr h="468630">
                <a:tc>
                  <a:txBody>
                    <a:bodyPr wrap="square"/>
                    <a:lstStyle/>
                    <a:p>
                      <a:r>
                        <a:rPr sz="1100" b="0">
                          <a:solidFill>
                            <a:srgbClr val="282828"/>
                          </a:solidFill>
                          <a:latin typeface="Arial"/>
                        </a:rPr>
                        <a:t>385 / 1024</a:t>
                      </a:r>
                    </a:p>
                  </a:txBody>
                  <a:tcPr marL="54864" marR="54864" marT="18288" marB="18288">
                    <a:solidFill>
                      <a:srgbClr val="ECF1F6"/>
                    </a:solidFill>
                  </a:tcPr>
                </a:tc>
                <a:tc>
                  <a:txBody>
                    <a:bodyPr wrap="square"/>
                    <a:lstStyle/>
                    <a:p>
                      <a:r>
                        <a:rPr sz="1100" b="0">
                          <a:solidFill>
                            <a:srgbClr val="282828"/>
                          </a:solidFill>
                          <a:latin typeface="Arial"/>
                        </a:rPr>
                        <a:t>3.96</a:t>
                      </a:r>
                    </a:p>
                  </a:txBody>
                  <a:tcPr marL="54864" marR="54864" marT="18288" marB="18288">
                    <a:solidFill>
                      <a:srgbClr val="ECF1F6"/>
                    </a:solidFill>
                  </a:tcPr>
                </a:tc>
                <a:tc>
                  <a:txBody>
                    <a:bodyPr wrap="square"/>
                    <a:lstStyle/>
                    <a:p>
                      <a:r>
                        <a:rPr sz="1100" b="0">
                          <a:solidFill>
                            <a:srgbClr val="282828"/>
                          </a:solidFill>
                          <a:latin typeface="Arial"/>
                        </a:rPr>
                        <a:t>5.0</a:t>
                      </a:r>
                    </a:p>
                  </a:txBody>
                  <a:tcPr marL="54864" marR="54864" marT="18288" marB="18288">
                    <a:solidFill>
                      <a:srgbClr val="ECF1F6"/>
                    </a:solidFill>
                  </a:tcPr>
                </a:tc>
                <a:tc>
                  <a:txBody>
                    <a:bodyPr wrap="square"/>
                    <a:lstStyle/>
                    <a:p>
                      <a:r>
                        <a:rPr sz="1100" b="0">
                          <a:solidFill>
                            <a:srgbClr val="282828"/>
                          </a:solidFill>
                          <a:latin typeface="Arial"/>
                        </a:rPr>
                        <a:t>0.996</a:t>
                      </a:r>
                    </a:p>
                  </a:txBody>
                  <a:tcPr marL="54864" marR="54864" marT="18288" marB="18288">
                    <a:solidFill>
                      <a:srgbClr val="ECF1F6"/>
                    </a:solidFill>
                  </a:tcPr>
                </a:tc>
                <a:tc>
                  <a:txBody>
                    <a:bodyPr wrap="square"/>
                    <a:lstStyle/>
                    <a:p>
                      <a:r>
                        <a:rPr sz="1100" b="0">
                          <a:solidFill>
                            <a:srgbClr val="282828"/>
                          </a:solidFill>
                          <a:latin typeface="Arial"/>
                        </a:rPr>
                        <a:t>0.97, 18 pm, SNR 529</a:t>
                      </a:r>
                    </a:p>
                  </a:txBody>
                  <a:tcPr marL="54864" marR="54864" marT="18288" marB="18288">
                    <a:solidFill>
                      <a:srgbClr val="ECF1F6"/>
                    </a:solidFill>
                  </a:tcPr>
                </a:tc>
              </a:tr>
              <a:tr h="468630">
                <a:tc>
                  <a:txBody>
                    <a:bodyPr wrap="square"/>
                    <a:lstStyle/>
                    <a:p>
                      <a:r>
                        <a:rPr sz="1100" b="0">
                          <a:solidFill>
                            <a:srgbClr val="282828"/>
                          </a:solidFill>
                          <a:latin typeface="Arial"/>
                        </a:rPr>
                        <a:t>385 / 2048 (fully sampled)</a:t>
                      </a:r>
                    </a:p>
                  </a:txBody>
                  <a:tcPr marL="54864" marR="54864" marT="18288" marB="18288">
                    <a:solidFill>
                      <a:srgbClr val="FFFFFF"/>
                    </a:solidFill>
                  </a:tcPr>
                </a:tc>
                <a:tc>
                  <a:txBody>
                    <a:bodyPr wrap="square"/>
                    <a:lstStyle/>
                    <a:p>
                      <a:r>
                        <a:rPr sz="1100" b="0">
                          <a:solidFill>
                            <a:srgbClr val="282828"/>
                          </a:solidFill>
                          <a:latin typeface="Arial"/>
                        </a:rPr>
                        <a:t>7.92</a:t>
                      </a:r>
                    </a:p>
                  </a:txBody>
                  <a:tcPr marL="54864" marR="54864" marT="18288" marB="18288">
                    <a:solidFill>
                      <a:srgbClr val="FFFFFF"/>
                    </a:solidFill>
                  </a:tcPr>
                </a:tc>
                <a:tc>
                  <a:txBody>
                    <a:bodyPr wrap="square"/>
                    <a:lstStyle/>
                    <a:p>
                      <a:r>
                        <a:rPr sz="1100" b="0">
                          <a:solidFill>
                            <a:srgbClr val="282828"/>
                          </a:solidFill>
                          <a:latin typeface="Arial"/>
                        </a:rPr>
                        <a:t>5.0</a:t>
                      </a:r>
                    </a:p>
                  </a:txBody>
                  <a:tcPr marL="54864" marR="54864" marT="18288" marB="18288">
                    <a:solidFill>
                      <a:srgbClr val="FFFFFF"/>
                    </a:solidFill>
                  </a:tcPr>
                </a:tc>
                <a:tc>
                  <a:txBody>
                    <a:bodyPr wrap="square"/>
                    <a:lstStyle/>
                    <a:p>
                      <a:r>
                        <a:rPr sz="1100" b="0">
                          <a:solidFill>
                            <a:srgbClr val="282828"/>
                          </a:solidFill>
                          <a:latin typeface="Arial"/>
                        </a:rPr>
                        <a:t>0.996</a:t>
                      </a:r>
                    </a:p>
                  </a:txBody>
                  <a:tcPr marL="54864" marR="54864" marT="18288" marB="18288">
                    <a:solidFill>
                      <a:srgbClr val="FFFFFF"/>
                    </a:solidFill>
                  </a:tcPr>
                </a:tc>
                <a:tc>
                  <a:txBody>
                    <a:bodyPr wrap="square"/>
                    <a:lstStyle/>
                    <a:p>
                      <a:r>
                        <a:rPr sz="1100" b="0">
                          <a:solidFill>
                            <a:srgbClr val="282828"/>
                          </a:solidFill>
                          <a:latin typeface="Arial"/>
                        </a:rPr>
                        <a:t>0.98, 19 pm, SNR 525</a:t>
                      </a:r>
                    </a:p>
                  </a:txBody>
                  <a:tcPr marL="54864" marR="54864" marT="18288" marB="18288">
                    <a:solidFill>
                      <a:srgbClr val="FFFFFF"/>
                    </a:solidFill>
                  </a:tcPr>
                </a:tc>
              </a:tr>
            </a:tbl>
          </a:graphicData>
        </a:graphic>
      </p:graphicFrame>
      <p:sp>
        <p:nvSpPr>
          <p:cNvPr id="5" name="TextBox 4"/>
          <p:cNvSpPr txBox="1"/>
          <p:nvPr/>
        </p:nvSpPr>
        <p:spPr>
          <a:xfrm>
            <a:off x="411480" y="3319272"/>
            <a:ext cx="5806440" cy="274320"/>
          </a:xfrm>
          <a:prstGeom prst="rect">
            <a:avLst/>
          </a:prstGeom>
          <a:noFill/>
        </p:spPr>
        <p:txBody>
          <a:bodyPr wrap="square">
            <a:spAutoFit/>
          </a:bodyPr>
          <a:lstStyle/>
          <a:p>
            <a:pPr>
              <a:spcAft>
                <a:spcPts val="600"/>
              </a:spcAft>
            </a:pPr>
            <a:r>
              <a:rPr sz="1200" b="0">
                <a:solidFill>
                  <a:srgbClr val="282828"/>
                </a:solidFill>
                <a:latin typeface="Arial"/>
              </a:rPr>
              <a:t>•  The rule: pixels per λ/D at the mask = 0.74 × grid / rays; camera pixels per actuator ∝ rays.  Halving the rays doubles the focal resolution and halves the pupil sampling.</a:t>
            </a:r>
          </a:p>
          <a:p>
            <a:pPr>
              <a:spcAft>
                <a:spcPts val="600"/>
              </a:spcAft>
            </a:pPr>
            <a:r>
              <a:rPr sz="1200" b="0">
                <a:solidFill>
                  <a:srgbClr val="282828"/>
                </a:solidFill>
                <a:latin typeface="Arial"/>
              </a:rPr>
              <a:t>•  What it settled: the gain on a test actuator (calibrated on the center actuator, tested on another) is set by the ray count, not by the dimple's sampling — the same at 4 and 8 pixels across the dimple, the same at spot 3.0.  At 5 pixels per actuator it is 0.996: within the 3% the plan asked for.</a:t>
            </a:r>
          </a:p>
          <a:p>
            <a:pPr>
              <a:spcAft>
                <a:spcPts val="600"/>
              </a:spcAft>
            </a:pPr>
            <a:r>
              <a:rPr sz="1200" b="0">
                <a:solidFill>
                  <a:srgbClr val="282828"/>
                </a:solidFill>
                <a:latin typeface="Arial"/>
              </a:rPr>
              <a:t>•  A bias in the fit, found and fixed: the sensor's response pattern was sampled about the poke on the 0.28 mm map grid, up to 0.14 mm off the actuator center the fit uses.  Sampled at the center, a kernel tested at its own site recovers 0.99 instead of 0.96, and the numbers above rose from 0.900 / 0.935 / 0.935.  The interferometer's calibration code shares the bias (flagged for its reflective build).</a:t>
            </a:r>
          </a:p>
          <a:p>
            <a:pPr>
              <a:spcAft>
                <a:spcPts val="600"/>
              </a:spcAft>
            </a:pPr>
            <a:r>
              <a:rPr sz="1200" b="0">
                <a:solidFill>
                  <a:srgbClr val="282828"/>
                </a:solidFill>
                <a:latin typeface="Arial"/>
              </a:rPr>
              <a:t>•  The 2048 grid runs on a 30 GB machine with a trimmed engine size table dropped in the run folder (grid-surface slots 200 → 4 saves 1.7 GB): 32 minutes, under 4 GB.</a:t>
            </a:r>
          </a:p>
        </p:txBody>
      </p:sp>
      <p:pic>
        <p:nvPicPr>
          <p:cNvPr id="6" name="Picture 5" descr="zwfs_m2048_battery_n96.png"/>
          <p:cNvPicPr>
            <a:picLocks noChangeAspect="1"/>
          </p:cNvPicPr>
          <p:nvPr/>
        </p:nvPicPr>
        <p:blipFill>
          <a:blip r:embed="rId2"/>
          <a:stretch>
            <a:fillRect/>
          </a:stretch>
        </p:blipFill>
        <p:spPr>
          <a:xfrm>
            <a:off x="6533907" y="1298448"/>
            <a:ext cx="5128744" cy="2257552"/>
          </a:xfrm>
          <a:prstGeom prst="rect">
            <a:avLst/>
          </a:prstGeom>
        </p:spPr>
      </p:pic>
      <p:sp>
        <p:nvSpPr>
          <p:cNvPr id="7" name="TextBox 6"/>
          <p:cNvSpPr txBox="1"/>
          <p:nvPr/>
        </p:nvSpPr>
        <p:spPr>
          <a:xfrm>
            <a:off x="6400800" y="3574288"/>
            <a:ext cx="5394960" cy="394208"/>
          </a:xfrm>
          <a:prstGeom prst="rect">
            <a:avLst/>
          </a:prstGeom>
          <a:noFill/>
        </p:spPr>
        <p:txBody>
          <a:bodyPr wrap="square">
            <a:spAutoFit/>
          </a:bodyPr>
          <a:lstStyle/>
          <a:p>
            <a:pPr algn="ctr">
              <a:spcAft>
                <a:spcPts val="0"/>
              </a:spcAft>
            </a:pPr>
            <a:r>
              <a:rPr sz="1000" b="0">
                <a:solidFill>
                  <a:srgbClr val="6E6E6E"/>
                </a:solidFill>
                <a:latin typeface="Arial"/>
              </a:rPr>
              <a:t>The fully sampled setup (385 rays, 2048 grid): response by spatial frequency per kind of reading (left) and gain on one actuator as the working surface grows (right).</a:t>
            </a:r>
          </a:p>
        </p:txBody>
      </p:sp>
      <p:sp>
        <p:nvSpPr>
          <p:cNvPr id="8" name="TextBox 7"/>
          <p:cNvSpPr txBox="1"/>
          <p:nvPr/>
        </p:nvSpPr>
        <p:spPr>
          <a:xfrm>
            <a:off x="6400800" y="4005072"/>
            <a:ext cx="5394960" cy="274320"/>
          </a:xfrm>
          <a:prstGeom prst="rect">
            <a:avLst/>
          </a:prstGeom>
          <a:noFill/>
        </p:spPr>
        <p:txBody>
          <a:bodyPr wrap="square">
            <a:spAutoFit/>
          </a:bodyPr>
          <a:lstStyle/>
          <a:p>
            <a:pPr>
              <a:spcAft>
                <a:spcPts val="600"/>
              </a:spcAft>
            </a:pPr>
            <a:r>
              <a:rPr sz="1050" b="0">
                <a:solidFill>
                  <a:srgbClr val="6E6E6E"/>
                </a:solidFill>
                <a:latin typeface="Arial"/>
              </a:rPr>
              <a:t>Test actuator = a single 20 nm change away from the calibration actuator, gain before the frequency correction.  I+ values before correction.  Records: runs/rec193, ng385, ng385s3, m2048.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Calibrate with a measured response matrix</a:t>
            </a:r>
          </a:p>
          <a:p>
            <a:pPr>
              <a:spcAft>
                <a:spcPts val="0"/>
              </a:spcAft>
            </a:pPr>
            <a:r>
              <a:rPr sz="1250" b="0">
                <a:solidFill>
                  <a:srgbClr val="6E6E6E"/>
                </a:solidFill>
                <a:latin typeface="Arial"/>
              </a:rPr>
              <a:t>Every actuator's response measured once from 64 sparse-grid states; measured on the working surface, the stepped reading reads a 10 nm change to 5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method: 64 multiplexed states cover all 3252 lit actuators once; each response is cut from its own window in camera pixels and forms one column of dw/da; actuator changes are a least-squares fit against that matrix.  No single-site pattern, no shift-invariance, no frequency correction; registration only places the windows; a real DM's irregularities are in the calibration by construction.</a:t>
            </a:r>
          </a:p>
          <a:p>
            <a:pPr>
              <a:spcAft>
                <a:spcPts val="600"/>
              </a:spcAft>
            </a:pPr>
            <a:r>
              <a:rPr sz="1500" b="0">
                <a:solidFill>
                  <a:srgbClr val="282828"/>
                </a:solidFill>
                <a:latin typeface="Arial"/>
              </a:rPr>
              <a:t>•  One property of this sensor had to be carried: it cannot see piston, so each frame is mean-referenced and the pokes' shared pedestal sits in every window; cut naively, the fit over-responds 2 to 4× below 12 cycles across the pupil.  With each column's pedestal spread over the pupil (a rank-one term), the exact reading's response is 0.99 to 1.08 at every frequency uncorrected, and a single actuator on the flat reads 0.994 with a 4 pm floor (0.946, 37 pm with the single-site pattern).</a:t>
            </a:r>
          </a:p>
        </p:txBody>
      </p:sp>
      <p:graphicFrame>
        <p:nvGraphicFramePr>
          <p:cNvPr id="5" name="Table 4"/>
          <p:cNvGraphicFramePr>
            <a:graphicFrameLocks noGrp="1"/>
          </p:cNvGraphicFramePr>
          <p:nvPr/>
        </p:nvGraphicFramePr>
        <p:xfrm>
          <a:off x="411480" y="3844290"/>
          <a:ext cx="11368733" cy="1497330"/>
        </p:xfrm>
        <a:graphic>
          <a:graphicData uri="http://schemas.openxmlformats.org/drawingml/2006/table">
            <a:tbl>
              <a:tblPr firstRow="1" bandRow="1">
                <a:tableStyleId>{5C22544A-7EE6-4342-B048-85BDC9FD1C3A}</a:tableStyleId>
              </a:tblPr>
              <a:tblGrid>
                <a:gridCol w="5430924"/>
                <a:gridCol w="1955132"/>
                <a:gridCol w="1955132"/>
                <a:gridCol w="2027545"/>
              </a:tblGrid>
              <a:tr h="468630">
                <a:tc>
                  <a:txBody>
                    <a:bodyPr wrap="square"/>
                    <a:lstStyle/>
                    <a:p>
                      <a:r>
                        <a:rPr sz="1100" b="1">
                          <a:solidFill>
                            <a:srgbClr val="FFFFFF"/>
                          </a:solidFill>
                          <a:latin typeface="Arial"/>
                        </a:rPr>
                        <a:t>matrix measured on the flat / on the 30 nm surface; 30 nm surface, 385 rays</a:t>
                      </a:r>
                    </a:p>
                  </a:txBody>
                  <a:tcPr marL="54864" marR="54864" marT="18288" marB="18288">
                    <a:solidFill>
                      <a:srgbClr val="1F4E79"/>
                    </a:solidFill>
                  </a:tcPr>
                </a:tc>
                <a:tc>
                  <a:txBody>
                    <a:bodyPr wrap="square"/>
                    <a:lstStyle/>
                    <a:p>
                      <a:r>
                        <a:rPr sz="1100" b="1">
                          <a:solidFill>
                            <a:srgbClr val="FFFFFF"/>
                          </a:solidFill>
                          <a:latin typeface="Arial"/>
                        </a:rPr>
                        <a:t>linear (one frame)</a:t>
                      </a:r>
                    </a:p>
                  </a:txBody>
                  <a:tcPr marL="54864" marR="54864" marT="18288" marB="18288">
                    <a:solidFill>
                      <a:srgbClr val="1F4E79"/>
                    </a:solidFill>
                  </a:tcPr>
                </a:tc>
                <a:tc>
                  <a:txBody>
                    <a:bodyPr wrap="square"/>
                    <a:lstStyle/>
                    <a:p>
                      <a:r>
                        <a:rPr sz="1100" b="1">
                          <a:solidFill>
                            <a:srgbClr val="FFFFFF"/>
                          </a:solidFill>
                          <a:latin typeface="Arial"/>
                        </a:rPr>
                        <a:t>exact I+ (one frame)</a:t>
                      </a:r>
                    </a:p>
                  </a:txBody>
                  <a:tcPr marL="54864" marR="54864" marT="18288" marB="18288">
                    <a:solidFill>
                      <a:srgbClr val="1F4E79"/>
                    </a:solidFill>
                  </a:tcPr>
                </a:tc>
                <a:tc>
                  <a:txBody>
                    <a:bodyPr wrap="square"/>
                    <a:lstStyle/>
                    <a:p>
                      <a:r>
                        <a:rPr sz="1100" b="1">
                          <a:solidFill>
                            <a:srgbClr val="FFFFFF"/>
                          </a:solidFill>
                          <a:latin typeface="Arial"/>
                        </a:rPr>
                        <a:t>stepped (four frames)</a:t>
                      </a:r>
                    </a:p>
                  </a:txBody>
                  <a:tcPr marL="54864" marR="54864" marT="18288" marB="18288">
                    <a:solidFill>
                      <a:srgbClr val="1F4E79"/>
                    </a:solidFill>
                  </a:tcPr>
                </a:tc>
              </a:tr>
              <a:tr h="280035">
                <a:tc>
                  <a:txBody>
                    <a:bodyPr wrap="square"/>
                    <a:lstStyle/>
                    <a:p>
                      <a:r>
                        <a:rPr sz="1100" b="0">
                          <a:solidFill>
                            <a:srgbClr val="282828"/>
                          </a:solidFill>
                          <a:latin typeface="Arial"/>
                        </a:rPr>
                        <a:t>single 10 nm change: gain, floor</a:t>
                      </a:r>
                    </a:p>
                  </a:txBody>
                  <a:tcPr marL="54864" marR="54864" marT="18288" marB="18288">
                    <a:solidFill>
                      <a:srgbClr val="FFFFFF"/>
                    </a:solidFill>
                  </a:tcPr>
                </a:tc>
                <a:tc>
                  <a:txBody>
                    <a:bodyPr wrap="square"/>
                    <a:lstStyle/>
                    <a:p>
                      <a:r>
                        <a:rPr sz="1100" b="0">
                          <a:solidFill>
                            <a:srgbClr val="282828"/>
                          </a:solidFill>
                          <a:latin typeface="Arial"/>
                        </a:rPr>
                        <a:t>0.30, 142 pm / 1.05, 23 pm</a:t>
                      </a:r>
                    </a:p>
                  </a:txBody>
                  <a:tcPr marL="54864" marR="54864" marT="18288" marB="18288">
                    <a:solidFill>
                      <a:srgbClr val="FFFFFF"/>
                    </a:solidFill>
                  </a:tcPr>
                </a:tc>
                <a:tc>
                  <a:txBody>
                    <a:bodyPr wrap="square"/>
                    <a:lstStyle/>
                    <a:p>
                      <a:r>
                        <a:rPr sz="1100" b="0">
                          <a:solidFill>
                            <a:srgbClr val="282828"/>
                          </a:solidFill>
                          <a:latin typeface="Arial"/>
                        </a:rPr>
                        <a:t>0.78, 27 pm / 0.78, 74 pm</a:t>
                      </a:r>
                    </a:p>
                  </a:txBody>
                  <a:tcPr marL="54864" marR="54864" marT="18288" marB="18288">
                    <a:solidFill>
                      <a:srgbClr val="FFFFFF"/>
                    </a:solidFill>
                  </a:tcPr>
                </a:tc>
                <a:tc>
                  <a:txBody>
                    <a:bodyPr wrap="square"/>
                    <a:lstStyle/>
                    <a:p>
                      <a:r>
                        <a:rPr sz="1100" b="0">
                          <a:solidFill>
                            <a:srgbClr val="282828"/>
                          </a:solidFill>
                          <a:latin typeface="Arial"/>
                        </a:rPr>
                        <a:t>0.77, 18 pm / 0.99, 5 pm</a:t>
                      </a:r>
                    </a:p>
                  </a:txBody>
                  <a:tcPr marL="54864" marR="54864" marT="18288" marB="18288">
                    <a:solidFill>
                      <a:srgbClr val="FFFFFF"/>
                    </a:solidFill>
                  </a:tcPr>
                </a:tc>
              </a:tr>
              <a:tr h="280035">
                <a:tc>
                  <a:txBody>
                    <a:bodyPr wrap="square"/>
                    <a:lstStyle/>
                    <a:p>
                      <a:r>
                        <a:rPr sz="1100" b="0">
                          <a:solidFill>
                            <a:srgbClr val="282828"/>
                          </a:solidFill>
                          <a:latin typeface="Arial"/>
                        </a:rPr>
                        <a:t>47 actuators changed 1 nm: gain, floor</a:t>
                      </a:r>
                    </a:p>
                  </a:txBody>
                  <a:tcPr marL="54864" marR="54864" marT="18288" marB="18288">
                    <a:solidFill>
                      <a:srgbClr val="ECF1F6"/>
                    </a:solidFill>
                  </a:tcPr>
                </a:tc>
                <a:tc>
                  <a:txBody>
                    <a:bodyPr wrap="square"/>
                    <a:lstStyle/>
                    <a:p>
                      <a:r>
                        <a:rPr sz="1100" b="0">
                          <a:solidFill>
                            <a:srgbClr val="282828"/>
                          </a:solidFill>
                          <a:latin typeface="Arial"/>
                        </a:rPr>
                        <a:t>1.01, 77 pm / 1.05, 22 pm</a:t>
                      </a:r>
                    </a:p>
                  </a:txBody>
                  <a:tcPr marL="54864" marR="54864" marT="18288" marB="18288">
                    <a:solidFill>
                      <a:srgbClr val="ECF1F6"/>
                    </a:solidFill>
                  </a:tcPr>
                </a:tc>
                <a:tc>
                  <a:txBody>
                    <a:bodyPr wrap="square"/>
                    <a:lstStyle/>
                    <a:p>
                      <a:r>
                        <a:rPr sz="1100" b="0">
                          <a:solidFill>
                            <a:srgbClr val="282828"/>
                          </a:solidFill>
                          <a:latin typeface="Arial"/>
                        </a:rPr>
                        <a:t>0.98, 12 pm / 0.90, 35 pm</a:t>
                      </a:r>
                    </a:p>
                  </a:txBody>
                  <a:tcPr marL="54864" marR="54864" marT="18288" marB="18288">
                    <a:solidFill>
                      <a:srgbClr val="ECF1F6"/>
                    </a:solidFill>
                  </a:tcPr>
                </a:tc>
                <a:tc>
                  <a:txBody>
                    <a:bodyPr wrap="square"/>
                    <a:lstStyle/>
                    <a:p>
                      <a:r>
                        <a:rPr sz="1100" b="0">
                          <a:solidFill>
                            <a:srgbClr val="282828"/>
                          </a:solidFill>
                          <a:latin typeface="Arial"/>
                        </a:rPr>
                        <a:t>0.83, 10 pm / 1.00, 3 pm</a:t>
                      </a:r>
                    </a:p>
                  </a:txBody>
                  <a:tcPr marL="54864" marR="54864" marT="18288" marB="18288">
                    <a:solidFill>
                      <a:srgbClr val="ECF1F6"/>
                    </a:solidFill>
                  </a:tcPr>
                </a:tc>
              </a:tr>
              <a:tr h="468630">
                <a:tc>
                  <a:txBody>
                    <a:bodyPr wrap="square"/>
                    <a:lstStyle/>
                    <a:p>
                      <a:r>
                        <a:rPr sz="1100" b="0">
                          <a:solidFill>
                            <a:srgbClr val="282828"/>
                          </a:solidFill>
                          <a:latin typeface="Arial"/>
                        </a:rPr>
                        <a:t>dense random 10 nm: gain, error</a:t>
                      </a:r>
                    </a:p>
                  </a:txBody>
                  <a:tcPr marL="54864" marR="54864" marT="18288" marB="18288">
                    <a:solidFill>
                      <a:srgbClr val="FFFFFF"/>
                    </a:solidFill>
                  </a:tcPr>
                </a:tc>
                <a:tc>
                  <a:txBody>
                    <a:bodyPr wrap="square"/>
                    <a:lstStyle/>
                    <a:p>
                      <a:r>
                        <a:rPr sz="1100" b="0">
                          <a:solidFill>
                            <a:srgbClr val="282828"/>
                          </a:solidFill>
                          <a:latin typeface="Arial"/>
                        </a:rPr>
                        <a:t>0.88, 9.9 nm / 1.04, 4.7 nm</a:t>
                      </a:r>
                    </a:p>
                  </a:txBody>
                  <a:tcPr marL="54864" marR="54864" marT="18288" marB="18288">
                    <a:solidFill>
                      <a:srgbClr val="FFFFFF"/>
                    </a:solidFill>
                  </a:tcPr>
                </a:tc>
                <a:tc>
                  <a:txBody>
                    <a:bodyPr wrap="square"/>
                    <a:lstStyle/>
                    <a:p>
                      <a:r>
                        <a:rPr sz="1100" b="0">
                          <a:solidFill>
                            <a:srgbClr val="282828"/>
                          </a:solidFill>
                          <a:latin typeface="Arial"/>
                        </a:rPr>
                        <a:t>0.90, 4.2 nm / 0.86, 5.2 nm</a:t>
                      </a:r>
                    </a:p>
                  </a:txBody>
                  <a:tcPr marL="54864" marR="54864" marT="18288" marB="18288">
                    <a:solidFill>
                      <a:srgbClr val="FFFFFF"/>
                    </a:solidFill>
                  </a:tcPr>
                </a:tc>
                <a:tc>
                  <a:txBody>
                    <a:bodyPr wrap="square"/>
                    <a:lstStyle/>
                    <a:p>
                      <a:r>
                        <a:rPr sz="1100" b="0">
                          <a:solidFill>
                            <a:srgbClr val="282828"/>
                          </a:solidFill>
                          <a:latin typeface="Arial"/>
                        </a:rPr>
                        <a:t>0.82, 2.1 nm / 0.98, 0.67 nm</a:t>
                      </a:r>
                    </a:p>
                  </a:txBody>
                  <a:tcPr marL="54864" marR="54864" marT="18288" marB="18288">
                    <a:solidFill>
                      <a:srgbClr val="FFFFFF"/>
                    </a:solidFill>
                  </a:tcPr>
                </a:tc>
              </a:tr>
            </a:tbl>
          </a:graphicData>
        </a:graphic>
      </p:graphicFrame>
      <p:sp>
        <p:nvSpPr>
          <p:cNvPr id="6" name="TextBox 5"/>
          <p:cNvSpPr txBox="1"/>
          <p:nvPr/>
        </p:nvSpPr>
        <p:spPr>
          <a:xfrm>
            <a:off x="411480" y="5487924"/>
            <a:ext cx="11368735" cy="274320"/>
          </a:xfrm>
          <a:prstGeom prst="rect">
            <a:avLst/>
          </a:prstGeom>
          <a:noFill/>
        </p:spPr>
        <p:txBody>
          <a:bodyPr wrap="square">
            <a:spAutoFit/>
          </a:bodyPr>
          <a:lstStyle/>
          <a:p>
            <a:pPr>
              <a:spcAft>
                <a:spcPts val="600"/>
              </a:spcAft>
            </a:pPr>
            <a:r>
              <a:rPr sz="1500" b="0">
                <a:solidFill>
                  <a:srgbClr val="282828"/>
                </a:solidFill>
                <a:latin typeface="Arial"/>
              </a:rPr>
              <a:t>•  Why the surface matters: every reading's differential map on the 30 nm surface differs 30 to 60% from the same change read on the flat — the sensor's local sensitivity depends on the local phase.  A matrix measured on the working surface carries it; the readings without a sign ambiguity (stepped, linear) then read changes almost exactly.  The exact one-frame reading does not benefit: its surface error is the sign fold, which moves with the change.</a:t>
            </a:r>
          </a:p>
        </p:txBody>
      </p:sp>
      <p:sp>
        <p:nvSpPr>
          <p:cNvPr id="7" name="TextBox 6"/>
          <p:cNvSpPr txBox="1"/>
          <p:nvPr/>
        </p:nvSpPr>
        <p:spPr>
          <a:xfrm>
            <a:off x="411480" y="6655308"/>
            <a:ext cx="11368735" cy="274320"/>
          </a:xfrm>
          <a:prstGeom prst="rect">
            <a:avLst/>
          </a:prstGeom>
          <a:noFill/>
        </p:spPr>
        <p:txBody>
          <a:bodyPr wrap="square">
            <a:spAutoFit/>
          </a:bodyPr>
          <a:lstStyle/>
          <a:p>
            <a:pPr>
              <a:spcAft>
                <a:spcPts val="600"/>
              </a:spcAft>
            </a:pPr>
            <a:r>
              <a:rPr sz="1050" b="0">
                <a:solidFill>
                  <a:srgbClr val="6E6E6E"/>
                </a:solidFill>
                <a:latin typeface="Arial"/>
              </a:rPr>
              <a:t>Alternating ± pokes: neutral to slightly worse in the model (0.987, 11 pm vs 0.994, 4 pm); kept as a bench option (drift cancels between sets).  Records: runs/mat385, matbase385, mapdiag.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large a working surface each reading can handle</a:t>
            </a:r>
          </a:p>
          <a:p>
            <a:pPr>
              <a:spcAft>
                <a:spcPts val="0"/>
              </a:spcAft>
            </a:pPr>
            <a:r>
              <a:rPr sz="1250" b="0">
                <a:solidFill>
                  <a:srgbClr val="6E6E6E"/>
                </a:solidFill>
                <a:latin typeface="Arial"/>
              </a:rPr>
              <a:t>With the matrix measured at 30 nm, 47 changes at once read at 1.08 to 0.93 up to 50 nm rms (stepped) and 1.03 to 0.83 (linear); the calibration ages slowly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811780"/>
        </p:xfrm>
        <a:graphic>
          <a:graphicData uri="http://schemas.openxmlformats.org/drawingml/2006/table">
            <a:tbl>
              <a:tblPr firstRow="1" bandRow="1">
                <a:tableStyleId>{5C22544A-7EE6-4342-B048-85BDC9FD1C3A}</a:tableStyleId>
              </a:tblPr>
              <a:tblGrid>
                <a:gridCol w="5005103"/>
                <a:gridCol w="1644534"/>
                <a:gridCol w="1573032"/>
                <a:gridCol w="1573032"/>
                <a:gridCol w="1573032"/>
              </a:tblGrid>
              <a:tr h="468630">
                <a:tc>
                  <a:txBody>
                    <a:bodyPr wrap="square"/>
                    <a:lstStyle/>
                    <a:p>
                      <a:r>
                        <a:rPr sz="1100" b="1">
                          <a:solidFill>
                            <a:srgbClr val="FFFFFF"/>
                          </a:solidFill>
                          <a:latin typeface="Arial"/>
                        </a:rPr>
                        <a:t>10 nm changes on 47 actuators, 96×96; gain, read value of 10 nm, floor</a:t>
                      </a:r>
                    </a:p>
                  </a:txBody>
                  <a:tcPr marL="54864" marR="54864" marT="18288" marB="18288">
                    <a:solidFill>
                      <a:srgbClr val="1F4E79"/>
                    </a:solidFill>
                  </a:tcPr>
                </a:tc>
                <a:tc>
                  <a:txBody>
                    <a:bodyPr wrap="square"/>
                    <a:lstStyle/>
                    <a:p>
                      <a:r>
                        <a:rPr sz="1100" b="1">
                          <a:solidFill>
                            <a:srgbClr val="FFFFFF"/>
                          </a:solidFill>
                          <a:latin typeface="Arial"/>
                        </a:rPr>
                        <a:t>30 nm surface</a:t>
                      </a:r>
                    </a:p>
                  </a:txBody>
                  <a:tcPr marL="54864" marR="54864" marT="18288" marB="18288">
                    <a:solidFill>
                      <a:srgbClr val="1F4E79"/>
                    </a:solidFill>
                  </a:tcPr>
                </a:tc>
                <a:tc>
                  <a:txBody>
                    <a:bodyPr wrap="square"/>
                    <a:lstStyle/>
                    <a:p>
                      <a:r>
                        <a:rPr sz="1100" b="1">
                          <a:solidFill>
                            <a:srgbClr val="FFFFFF"/>
                          </a:solidFill>
                          <a:latin typeface="Arial"/>
                        </a:rPr>
                        <a:t>40 nm</a:t>
                      </a:r>
                    </a:p>
                  </a:txBody>
                  <a:tcPr marL="54864" marR="54864" marT="18288" marB="18288">
                    <a:solidFill>
                      <a:srgbClr val="1F4E79"/>
                    </a:solidFill>
                  </a:tcPr>
                </a:tc>
                <a:tc>
                  <a:txBody>
                    <a:bodyPr wrap="square"/>
                    <a:lstStyle/>
                    <a:p>
                      <a:r>
                        <a:rPr sz="1100" b="1">
                          <a:solidFill>
                            <a:srgbClr val="FFFFFF"/>
                          </a:solidFill>
                          <a:latin typeface="Arial"/>
                        </a:rPr>
                        <a:t>50 nm</a:t>
                      </a:r>
                    </a:p>
                  </a:txBody>
                  <a:tcPr marL="54864" marR="54864" marT="18288" marB="18288">
                    <a:solidFill>
                      <a:srgbClr val="1F4E79"/>
                    </a:solidFill>
                  </a:tcPr>
                </a:tc>
                <a:tc>
                  <a:txBody>
                    <a:bodyPr wrap="square"/>
                    <a:lstStyle/>
                    <a:p>
                      <a:r>
                        <a:rPr sz="1100" b="1">
                          <a:solidFill>
                            <a:srgbClr val="FFFFFF"/>
                          </a:solidFill>
                          <a:latin typeface="Arial"/>
                        </a:rPr>
                        <a:t>60 nm</a:t>
                      </a:r>
                    </a:p>
                  </a:txBody>
                  <a:tcPr marL="54864" marR="54864" marT="18288" marB="18288">
                    <a:solidFill>
                      <a:srgbClr val="1F4E79"/>
                    </a:solidFill>
                  </a:tcPr>
                </a:tc>
              </a:tr>
              <a:tr h="468630">
                <a:tc>
                  <a:txBody>
                    <a:bodyPr wrap="square"/>
                    <a:lstStyle/>
                    <a:p>
                      <a:r>
                        <a:rPr sz="1100" b="0">
                          <a:solidFill>
                            <a:srgbClr val="282828"/>
                          </a:solidFill>
                          <a:latin typeface="Arial"/>
                        </a:rPr>
                        <a:t>matrix on the 30 nm surface — S (four frames)</a:t>
                      </a:r>
                    </a:p>
                  </a:txBody>
                  <a:tcPr marL="54864" marR="54864" marT="18288" marB="18288">
                    <a:solidFill>
                      <a:srgbClr val="FFFFFF"/>
                    </a:solidFill>
                  </a:tcPr>
                </a:tc>
                <a:tc>
                  <a:txBody>
                    <a:bodyPr wrap="square"/>
                    <a:lstStyle/>
                    <a:p>
                      <a:r>
                        <a:rPr sz="1100" b="0">
                          <a:solidFill>
                            <a:srgbClr val="282828"/>
                          </a:solidFill>
                          <a:latin typeface="Arial"/>
                        </a:rPr>
                        <a:t>1.08 → 10.8 nm, 0.25 nm</a:t>
                      </a:r>
                    </a:p>
                  </a:txBody>
                  <a:tcPr marL="54864" marR="54864" marT="18288" marB="18288">
                    <a:solidFill>
                      <a:srgbClr val="FFFFFF"/>
                    </a:solidFill>
                  </a:tcPr>
                </a:tc>
                <a:tc>
                  <a:txBody>
                    <a:bodyPr wrap="square"/>
                    <a:lstStyle/>
                    <a:p>
                      <a:r>
                        <a:rPr sz="1100" b="0">
                          <a:solidFill>
                            <a:srgbClr val="282828"/>
                          </a:solidFill>
                          <a:latin typeface="Arial"/>
                        </a:rPr>
                        <a:t>0.98 → 9.8 nm, 0.24 nm</a:t>
                      </a:r>
                    </a:p>
                  </a:txBody>
                  <a:tcPr marL="54864" marR="54864" marT="18288" marB="18288">
                    <a:solidFill>
                      <a:srgbClr val="FFFFFF"/>
                    </a:solidFill>
                  </a:tcPr>
                </a:tc>
                <a:tc>
                  <a:txBody>
                    <a:bodyPr wrap="square"/>
                    <a:lstStyle/>
                    <a:p>
                      <a:r>
                        <a:rPr sz="1100" b="0">
                          <a:solidFill>
                            <a:srgbClr val="282828"/>
                          </a:solidFill>
                          <a:latin typeface="Arial"/>
                        </a:rPr>
                        <a:t>0.93 → 9.3 nm, 0.40 nm</a:t>
                      </a:r>
                    </a:p>
                  </a:txBody>
                  <a:tcPr marL="54864" marR="54864" marT="18288" marB="18288">
                    <a:solidFill>
                      <a:srgbClr val="FFFFFF"/>
                    </a:solidFill>
                  </a:tcPr>
                </a:tc>
                <a:tc>
                  <a:txBody>
                    <a:bodyPr wrap="square"/>
                    <a:lstStyle/>
                    <a:p>
                      <a:r>
                        <a:rPr sz="1100" b="0">
                          <a:solidFill>
                            <a:srgbClr val="282828"/>
                          </a:solidFill>
                          <a:latin typeface="Arial"/>
                        </a:rPr>
                        <a:t>0.71 → 7.1 nm, 0.59 nm</a:t>
                      </a:r>
                    </a:p>
                  </a:txBody>
                  <a:tcPr marL="54864" marR="54864" marT="18288" marB="18288">
                    <a:solidFill>
                      <a:srgbClr val="FFFFFF"/>
                    </a:solidFill>
                  </a:tcPr>
                </a:tc>
              </a:tr>
              <a:tr h="468630">
                <a:tc>
                  <a:txBody>
                    <a:bodyPr wrap="square"/>
                    <a:lstStyle/>
                    <a:p>
                      <a:r>
                        <a:rPr sz="1100" b="0">
                          <a:solidFill>
                            <a:srgbClr val="282828"/>
                          </a:solidFill>
                          <a:latin typeface="Arial"/>
                        </a:rPr>
                        <a:t>matrix on the 30 nm surface — L (one frame)</a:t>
                      </a:r>
                    </a:p>
                  </a:txBody>
                  <a:tcPr marL="54864" marR="54864" marT="18288" marB="18288">
                    <a:solidFill>
                      <a:srgbClr val="ECF1F6"/>
                    </a:solidFill>
                  </a:tcPr>
                </a:tc>
                <a:tc>
                  <a:txBody>
                    <a:bodyPr wrap="square"/>
                    <a:lstStyle/>
                    <a:p>
                      <a:r>
                        <a:rPr sz="1100" b="0">
                          <a:solidFill>
                            <a:srgbClr val="282828"/>
                          </a:solidFill>
                          <a:latin typeface="Arial"/>
                        </a:rPr>
                        <a:t>1.03 → 10.3 nm, 0.28 nm</a:t>
                      </a:r>
                    </a:p>
                  </a:txBody>
                  <a:tcPr marL="54864" marR="54864" marT="18288" marB="18288">
                    <a:solidFill>
                      <a:srgbClr val="ECF1F6"/>
                    </a:solidFill>
                  </a:tcPr>
                </a:tc>
                <a:tc>
                  <a:txBody>
                    <a:bodyPr wrap="square"/>
                    <a:lstStyle/>
                    <a:p>
                      <a:r>
                        <a:rPr sz="1100" b="0">
                          <a:solidFill>
                            <a:srgbClr val="282828"/>
                          </a:solidFill>
                          <a:latin typeface="Arial"/>
                        </a:rPr>
                        <a:t>0.95 → 9.5 nm, 0.35 nm</a:t>
                      </a:r>
                    </a:p>
                  </a:txBody>
                  <a:tcPr marL="54864" marR="54864" marT="18288" marB="18288">
                    <a:solidFill>
                      <a:srgbClr val="ECF1F6"/>
                    </a:solidFill>
                  </a:tcPr>
                </a:tc>
                <a:tc>
                  <a:txBody>
                    <a:bodyPr wrap="square"/>
                    <a:lstStyle/>
                    <a:p>
                      <a:r>
                        <a:rPr sz="1100" b="0">
                          <a:solidFill>
                            <a:srgbClr val="282828"/>
                          </a:solidFill>
                          <a:latin typeface="Arial"/>
                        </a:rPr>
                        <a:t>0.83 → 8.3 nm, 0.50 nm</a:t>
                      </a:r>
                    </a:p>
                  </a:txBody>
                  <a:tcPr marL="54864" marR="54864" marT="18288" marB="18288">
                    <a:solidFill>
                      <a:srgbClr val="ECF1F6"/>
                    </a:solidFill>
                  </a:tcPr>
                </a:tc>
                <a:tc>
                  <a:txBody>
                    <a:bodyPr wrap="square"/>
                    <a:lstStyle/>
                    <a:p>
                      <a:r>
                        <a:rPr sz="1100" b="0">
                          <a:solidFill>
                            <a:srgbClr val="282828"/>
                          </a:solidFill>
                          <a:latin typeface="Arial"/>
                        </a:rPr>
                        <a:t>0.67 → 6.7 nm, 0.61 nm</a:t>
                      </a:r>
                    </a:p>
                  </a:txBody>
                  <a:tcPr marL="54864" marR="54864" marT="18288" marB="18288">
                    <a:solidFill>
                      <a:srgbClr val="ECF1F6"/>
                    </a:solidFill>
                  </a:tcPr>
                </a:tc>
              </a:tr>
              <a:tr h="468630">
                <a:tc>
                  <a:txBody>
                    <a:bodyPr wrap="square"/>
                    <a:lstStyle/>
                    <a:p>
                      <a:r>
                        <a:rPr sz="1100" b="0">
                          <a:solidFill>
                            <a:srgbClr val="282828"/>
                          </a:solidFill>
                          <a:latin typeface="Arial"/>
                        </a:rPr>
                        <a:t>matrix on the 30 nm surface — I+ (one frame)</a:t>
                      </a:r>
                    </a:p>
                  </a:txBody>
                  <a:tcPr marL="54864" marR="54864" marT="18288" marB="18288">
                    <a:solidFill>
                      <a:srgbClr val="FFFFFF"/>
                    </a:solidFill>
                  </a:tcPr>
                </a:tc>
                <a:tc>
                  <a:txBody>
                    <a:bodyPr wrap="square"/>
                    <a:lstStyle/>
                    <a:p>
                      <a:r>
                        <a:rPr sz="1100" b="0">
                          <a:solidFill>
                            <a:srgbClr val="282828"/>
                          </a:solidFill>
                          <a:latin typeface="Arial"/>
                        </a:rPr>
                        <a:t>1.01 → 10.1 nm, 0.20 nm</a:t>
                      </a:r>
                    </a:p>
                  </a:txBody>
                  <a:tcPr marL="54864" marR="54864" marT="18288" marB="18288">
                    <a:solidFill>
                      <a:srgbClr val="FFFFFF"/>
                    </a:solidFill>
                  </a:tcPr>
                </a:tc>
                <a:tc>
                  <a:txBody>
                    <a:bodyPr wrap="square"/>
                    <a:lstStyle/>
                    <a:p>
                      <a:r>
                        <a:rPr sz="1100" b="0">
                          <a:solidFill>
                            <a:srgbClr val="282828"/>
                          </a:solidFill>
                          <a:latin typeface="Arial"/>
                        </a:rPr>
                        <a:t>0.91 → 9.1 nm, 0.35 nm</a:t>
                      </a:r>
                    </a:p>
                  </a:txBody>
                  <a:tcPr marL="54864" marR="54864" marT="18288" marB="18288">
                    <a:solidFill>
                      <a:srgbClr val="FFFFFF"/>
                    </a:solidFill>
                  </a:tcPr>
                </a:tc>
                <a:tc>
                  <a:txBody>
                    <a:bodyPr wrap="square"/>
                    <a:lstStyle/>
                    <a:p>
                      <a:r>
                        <a:rPr sz="1100" b="0">
                          <a:solidFill>
                            <a:srgbClr val="282828"/>
                          </a:solidFill>
                          <a:latin typeface="Arial"/>
                        </a:rPr>
                        <a:t>0.69 → 6.9 nm, 1.9 nm</a:t>
                      </a:r>
                    </a:p>
                  </a:txBody>
                  <a:tcPr marL="54864" marR="54864" marT="18288" marB="18288">
                    <a:solidFill>
                      <a:srgbClr val="FFFFFF"/>
                    </a:solidFill>
                  </a:tcPr>
                </a:tc>
                <a:tc>
                  <a:txBody>
                    <a:bodyPr wrap="square"/>
                    <a:lstStyle/>
                    <a:p>
                      <a:r>
                        <a:rPr sz="1100" b="0">
                          <a:solidFill>
                            <a:srgbClr val="282828"/>
                          </a:solidFill>
                          <a:latin typeface="Arial"/>
                        </a:rPr>
                        <a:t>0.57 → 5.7 nm, 1.2 nm</a:t>
                      </a:r>
                    </a:p>
                  </a:txBody>
                  <a:tcPr marL="54864" marR="54864" marT="18288" marB="18288">
                    <a:solidFill>
                      <a:srgbClr val="FFFFFF"/>
                    </a:solidFill>
                  </a:tcPr>
                </a:tc>
              </a:tr>
              <a:tr h="468630">
                <a:tc>
                  <a:txBody>
                    <a:bodyPr wrap="square"/>
                    <a:lstStyle/>
                    <a:p>
                      <a:r>
                        <a:rPr sz="1100" b="0">
                          <a:solidFill>
                            <a:srgbClr val="282828"/>
                          </a:solidFill>
                          <a:latin typeface="Arial"/>
                        </a:rPr>
                        <a:t>matrix on the flat — I+</a:t>
                      </a:r>
                    </a:p>
                  </a:txBody>
                  <a:tcPr marL="54864" marR="54864" marT="18288" marB="18288">
                    <a:solidFill>
                      <a:srgbClr val="ECF1F6"/>
                    </a:solidFill>
                  </a:tcPr>
                </a:tc>
                <a:tc>
                  <a:txBody>
                    <a:bodyPr wrap="square"/>
                    <a:lstStyle/>
                    <a:p>
                      <a:r>
                        <a:rPr sz="1100" b="0">
                          <a:solidFill>
                            <a:srgbClr val="282828"/>
                          </a:solidFill>
                          <a:latin typeface="Arial"/>
                        </a:rPr>
                        <a:t>0.81 → 8.1 nm, 0.21 nm</a:t>
                      </a:r>
                    </a:p>
                  </a:txBody>
                  <a:tcPr marL="54864" marR="54864" marT="18288" marB="18288">
                    <a:solidFill>
                      <a:srgbClr val="ECF1F6"/>
                    </a:solidFill>
                  </a:tcPr>
                </a:tc>
                <a:tc>
                  <a:txBody>
                    <a:bodyPr wrap="square"/>
                    <a:lstStyle/>
                    <a:p>
                      <a:r>
                        <a:rPr sz="1100" b="0">
                          <a:solidFill>
                            <a:srgbClr val="282828"/>
                          </a:solidFill>
                          <a:latin typeface="Arial"/>
                        </a:rPr>
                        <a:t>0.83 → 8.3 nm, 0.16 nm</a:t>
                      </a:r>
                    </a:p>
                  </a:txBody>
                  <a:tcPr marL="54864" marR="54864" marT="18288" marB="18288">
                    <a:solidFill>
                      <a:srgbClr val="ECF1F6"/>
                    </a:solidFill>
                  </a:tcPr>
                </a:tc>
                <a:tc>
                  <a:txBody>
                    <a:bodyPr wrap="square"/>
                    <a:lstStyle/>
                    <a:p>
                      <a:r>
                        <a:rPr sz="1100" b="0">
                          <a:solidFill>
                            <a:srgbClr val="282828"/>
                          </a:solidFill>
                          <a:latin typeface="Arial"/>
                        </a:rPr>
                        <a:t>0.65 → 6.5 nm, 1.8 nm</a:t>
                      </a:r>
                    </a:p>
                  </a:txBody>
                  <a:tcPr marL="54864" marR="54864" marT="18288" marB="18288">
                    <a:solidFill>
                      <a:srgbClr val="ECF1F6"/>
                    </a:solidFill>
                  </a:tcPr>
                </a:tc>
                <a:tc>
                  <a:txBody>
                    <a:bodyPr wrap="square"/>
                    <a:lstStyle/>
                    <a:p>
                      <a:r>
                        <a:rPr sz="1100" b="0">
                          <a:solidFill>
                            <a:srgbClr val="282828"/>
                          </a:solidFill>
                          <a:latin typeface="Arial"/>
                        </a:rPr>
                        <a:t>0.58 → 5.8 nm, 1.2 nm</a:t>
                      </a:r>
                    </a:p>
                  </a:txBody>
                  <a:tcPr marL="54864" marR="54864" marT="18288" marB="18288">
                    <a:solidFill>
                      <a:srgbClr val="ECF1F6"/>
                    </a:solidFill>
                  </a:tcPr>
                </a:tc>
              </a:tr>
              <a:tr h="468630">
                <a:tc>
                  <a:txBody>
                    <a:bodyPr wrap="square"/>
                    <a:lstStyle/>
                    <a:p>
                      <a:r>
                        <a:rPr sz="1100" b="0">
                          <a:solidFill>
                            <a:srgbClr val="282828"/>
                          </a:solidFill>
                          <a:latin typeface="Arial"/>
                        </a:rPr>
                        <a:t>matrix on the flat — S</a:t>
                      </a:r>
                    </a:p>
                  </a:txBody>
                  <a:tcPr marL="54864" marR="54864" marT="18288" marB="18288">
                    <a:solidFill>
                      <a:srgbClr val="FFFFFF"/>
                    </a:solidFill>
                  </a:tcPr>
                </a:tc>
                <a:tc>
                  <a:txBody>
                    <a:bodyPr wrap="square"/>
                    <a:lstStyle/>
                    <a:p>
                      <a:r>
                        <a:rPr sz="1100" b="0">
                          <a:solidFill>
                            <a:srgbClr val="282828"/>
                          </a:solidFill>
                          <a:latin typeface="Arial"/>
                        </a:rPr>
                        <a:t>0.91 → 9.1 nm, 0.23 nm</a:t>
                      </a:r>
                    </a:p>
                  </a:txBody>
                  <a:tcPr marL="54864" marR="54864" marT="18288" marB="18288">
                    <a:solidFill>
                      <a:srgbClr val="FFFFFF"/>
                    </a:solidFill>
                  </a:tcPr>
                </a:tc>
                <a:tc>
                  <a:txBody>
                    <a:bodyPr wrap="square"/>
                    <a:lstStyle/>
                    <a:p>
                      <a:r>
                        <a:rPr sz="1100" b="0">
                          <a:solidFill>
                            <a:srgbClr val="282828"/>
                          </a:solidFill>
                          <a:latin typeface="Arial"/>
                        </a:rPr>
                        <a:t>0.83 → 8.3 nm, 0.23 nm</a:t>
                      </a:r>
                    </a:p>
                  </a:txBody>
                  <a:tcPr marL="54864" marR="54864" marT="18288" marB="18288">
                    <a:solidFill>
                      <a:srgbClr val="FFFFFF"/>
                    </a:solidFill>
                  </a:tcPr>
                </a:tc>
                <a:tc>
                  <a:txBody>
                    <a:bodyPr wrap="square"/>
                    <a:lstStyle/>
                    <a:p>
                      <a:r>
                        <a:rPr sz="1100" b="0">
                          <a:solidFill>
                            <a:srgbClr val="282828"/>
                          </a:solidFill>
                          <a:latin typeface="Arial"/>
                        </a:rPr>
                        <a:t>0.79 → 7.9 nm, 0.37 nm</a:t>
                      </a:r>
                    </a:p>
                  </a:txBody>
                  <a:tcPr marL="54864" marR="54864" marT="18288" marB="18288">
                    <a:solidFill>
                      <a:srgbClr val="FFFFFF"/>
                    </a:solidFill>
                  </a:tcPr>
                </a:tc>
                <a:tc>
                  <a:txBody>
                    <a:bodyPr wrap="square"/>
                    <a:lstStyle/>
                    <a:p>
                      <a:r>
                        <a:rPr sz="1100" b="0">
                          <a:solidFill>
                            <a:srgbClr val="282828"/>
                          </a:solidFill>
                          <a:latin typeface="Arial"/>
                        </a:rPr>
                        <a:t>0.59 → 5.9 nm, 0.55 nm</a:t>
                      </a:r>
                    </a:p>
                  </a:txBody>
                  <a:tcPr marL="54864" marR="54864" marT="18288" marB="18288">
                    <a:solidFill>
                      <a:srgbClr val="FFFFFF"/>
                    </a:solidFill>
                  </a:tcPr>
                </a:tc>
              </a:tr>
            </a:tbl>
          </a:graphicData>
        </a:graphic>
      </p:graphicFrame>
      <p:sp>
        <p:nvSpPr>
          <p:cNvPr id="5" name="TextBox 4"/>
          <p:cNvSpPr txBox="1"/>
          <p:nvPr/>
        </p:nvSpPr>
        <p:spPr>
          <a:xfrm>
            <a:off x="411480" y="4256532"/>
            <a:ext cx="11368735" cy="274320"/>
          </a:xfrm>
          <a:prstGeom prst="rect">
            <a:avLst/>
          </a:prstGeom>
          <a:noFill/>
        </p:spPr>
        <p:txBody>
          <a:bodyPr wrap="square">
            <a:spAutoFit/>
          </a:bodyPr>
          <a:lstStyle/>
          <a:p>
            <a:pPr>
              <a:spcAft>
                <a:spcPts val="600"/>
              </a:spcAft>
            </a:pPr>
            <a:r>
              <a:rPr sz="1500" b="0">
                <a:solidFill>
                  <a:srgbClr val="282828"/>
                </a:solidFill>
                <a:latin typeface="Arial"/>
              </a:rPr>
              <a:t>•  What gain means here: gain is after calibration, so 0.93 means a 10 nm change reads 9.3 nm — a 7% error the calibration did not remove.  The floor is a second error on top: the spread over the 47 sites' unchanged neighbors (their crosstalk, 0.2 to 0.6 nm here).</a:t>
            </a:r>
          </a:p>
          <a:p>
            <a:pPr>
              <a:spcAft>
                <a:spcPts val="600"/>
              </a:spcAft>
            </a:pPr>
            <a:r>
              <a:rPr sz="1500" b="0">
                <a:solidFill>
                  <a:srgbClr val="282828"/>
                </a:solidFill>
                <a:latin typeface="Arial"/>
              </a:rPr>
              <a:t>•  Calibration on the working surface absorbs most of it for the readings without a sign ambiguity: the stepped reading goes from 0.91 to 1.08 at 30 nm and from 0.79 to 0.93 at 50 nm; the linear reading from unusable to 1.03.  A matrix measured at 30 nm is still within 7% at 50 nm rms, so a calibration follows the working surface slowly.  The one-frame exact reading is not helped: its surface error is the sign fold, which moves with the change (it fails at 50 nm, floor 1.9 nm, when some of the 47 sites fall past the fold).</a:t>
            </a:r>
          </a:p>
          <a:p>
            <a:pPr>
              <a:spcAft>
                <a:spcPts val="600"/>
              </a:spcAft>
            </a:pPr>
            <a:r>
              <a:rPr sz="1500" b="0">
                <a:solidFill>
                  <a:srgbClr val="282828"/>
                </a:solidFill>
                <a:latin typeface="Arial"/>
              </a:rPr>
              <a:t>•  Past 120 nm rms every reading aliases (the stepped retrieval itself wraps).</a:t>
            </a:r>
          </a:p>
        </p:txBody>
      </p:sp>
      <p:sp>
        <p:nvSpPr>
          <p:cNvPr id="6" name="TextBox 5"/>
          <p:cNvSpPr txBox="1"/>
          <p:nvPr/>
        </p:nvSpPr>
        <p:spPr>
          <a:xfrm>
            <a:off x="411480" y="6942582"/>
            <a:ext cx="11368735" cy="274320"/>
          </a:xfrm>
          <a:prstGeom prst="rect">
            <a:avLst/>
          </a:prstGeom>
          <a:noFill/>
        </p:spPr>
        <p:txBody>
          <a:bodyPr wrap="square">
            <a:spAutoFit/>
          </a:bodyPr>
          <a:lstStyle/>
          <a:p>
            <a:pPr>
              <a:spcAft>
                <a:spcPts val="600"/>
              </a:spcAft>
            </a:pPr>
            <a:r>
              <a:rPr sz="1050" b="0">
                <a:solidFill>
                  <a:srgbClr val="6E6E6E"/>
                </a:solidFill>
                <a:latin typeface="Arial"/>
              </a:rPr>
              <a:t>Floor here = spread of the unchanged actuators under 47 simultaneous 10 nm changes (their crosstalk), larger than the single-site floors on slide 9.  385 rays; records: runs/matbase385 (surface matrix), runs/mat385 (flat matrix).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Color is no longer a lever</a:t>
            </a:r>
          </a:p>
          <a:p>
            <a:pPr>
              <a:spcAft>
                <a:spcPts val="0"/>
              </a:spcAft>
            </a:pPr>
            <a:r>
              <a:rPr sz="1250" b="0">
                <a:solidFill>
                  <a:srgbClr val="6E6E6E"/>
                </a:solidFill>
                <a:latin typeface="Arial"/>
              </a:rPr>
              <a:t>With the sensor's null gone, five colors raise the combined response by 3% instead of 3×, and do nothing for the measurement rows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rec193full_color_L.png"/>
          <p:cNvPicPr>
            <a:picLocks noChangeAspect="1"/>
          </p:cNvPicPr>
          <p:nvPr/>
        </p:nvPicPr>
        <p:blipFill>
          <a:blip r:embed="rId2"/>
          <a:stretch>
            <a:fillRect/>
          </a:stretch>
        </p:blipFill>
        <p:spPr>
          <a:xfrm>
            <a:off x="2014629" y="1298448"/>
            <a:ext cx="2600140" cy="2549652"/>
          </a:xfrm>
          <a:prstGeom prst="rect">
            <a:avLst/>
          </a:prstGeom>
        </p:spPr>
      </p:pic>
      <p:sp>
        <p:nvSpPr>
          <p:cNvPr id="5" name="TextBox 4"/>
          <p:cNvSpPr txBox="1"/>
          <p:nvPr/>
        </p:nvSpPr>
        <p:spPr>
          <a:xfrm>
            <a:off x="411480" y="3866387"/>
            <a:ext cx="5806440" cy="559307"/>
          </a:xfrm>
          <a:prstGeom prst="rect">
            <a:avLst/>
          </a:prstGeom>
          <a:noFill/>
        </p:spPr>
        <p:txBody>
          <a:bodyPr wrap="square">
            <a:spAutoFit/>
          </a:bodyPr>
          <a:lstStyle/>
          <a:p>
            <a:pPr algn="ctr">
              <a:spcAft>
                <a:spcPts val="0"/>
              </a:spcAft>
            </a:pPr>
            <a:r>
              <a:rPr sz="1000" b="0">
                <a:solidFill>
                  <a:srgbClr val="6E6E6E"/>
                </a:solidFill>
                <a:latin typeface="Arial"/>
              </a:rPr>
              <a:t>Response by spatial frequency of the linear reading at five wavelengths on the corrected model: no null, only the dimple's own low-order dip, which moves with the spot's size in λ/D; the five-color combination (orange) sits at 0.99 to 1.</a:t>
            </a:r>
          </a:p>
        </p:txBody>
      </p:sp>
      <p:sp>
        <p:nvSpPr>
          <p:cNvPr id="6" name="TextBox 5"/>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What moved: the "blind band near 30 cycles across the pupil that shifts with wavelength" was the out-of-focus model's Talbot null.  On the corrected model each color's response bottoms at 0.92 to 0.97 after the frequency correction, and the combination at 0.991.</a:t>
            </a:r>
          </a:p>
          <a:p>
            <a:pPr>
              <a:spcAft>
                <a:spcPts val="600"/>
              </a:spcAft>
            </a:pPr>
            <a:r>
              <a:rPr sz="1200" b="0">
                <a:solidFill>
                  <a:srgbClr val="282828"/>
                </a:solidFill>
                <a:latin typeface="Arial"/>
              </a:rPr>
              <a:t>•  On the measurement rows (30 nm surface, single 10 nm change): I+ at 632.8 nm SNR 269; five colors combined 183; best pair, 700 + 780 nm, 255.  The 47-site case: 32 → 32.  The linear reading gets worse when combined (84 → 34): at 480 nm the dimple delay is 2.1 rad and the small-phase reading turns negative on this surface; an equal-weight combination inherits that.</a:t>
            </a:r>
          </a:p>
          <a:p>
            <a:pPr>
              <a:spcAft>
                <a:spcPts val="600"/>
              </a:spcAft>
            </a:pPr>
            <a:r>
              <a:rPr sz="1200" b="0">
                <a:solidFill>
                  <a:srgbClr val="282828"/>
                </a:solidFill>
                <a:latin typeface="Arial"/>
              </a:rPr>
              <a:t>•  What stays with color is range: 780 nm is the best single color on nearly every row — less phase per nanometer of height, and a 1.6 λ/D dimple.  The interferometer is unchanged at every color (its deck).</a:t>
            </a:r>
          </a:p>
        </p:txBody>
      </p:sp>
      <p:sp>
        <p:nvSpPr>
          <p:cNvPr id="7" name="TextBox 6"/>
          <p:cNvSpPr txBox="1"/>
          <p:nvPr/>
        </p:nvSpPr>
        <p:spPr>
          <a:xfrm>
            <a:off x="6400800" y="4331208"/>
            <a:ext cx="5394960" cy="274320"/>
          </a:xfrm>
          <a:prstGeom prst="rect">
            <a:avLst/>
          </a:prstGeom>
          <a:noFill/>
        </p:spPr>
        <p:txBody>
          <a:bodyPr wrap="square">
            <a:spAutoFit/>
          </a:bodyPr>
          <a:lstStyle/>
          <a:p>
            <a:pPr>
              <a:spcAft>
                <a:spcPts val="600"/>
              </a:spcAft>
            </a:pPr>
            <a:r>
              <a:rPr sz="1050" b="0">
                <a:solidFill>
                  <a:srgbClr val="6E6E6E"/>
                </a:solidFill>
                <a:latin typeface="Arial"/>
              </a:rPr>
              <a:t>632.8 / 480 / 532 / 700 / 780 nm through one physical mask, every calibration redone per color; development sampling (193 rays, 1024 grid); runs/rec193full.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10¹⁴ per measurement reaches 1 pm</a:t>
            </a:r>
          </a:p>
          <a:p>
            <a:pPr>
              <a:spcAft>
                <a:spcPts val="0"/>
              </a:spcAft>
            </a:pPr>
            <a:r>
              <a:rPr sz="1250" b="0">
                <a:solidFill>
                  <a:srgbClr val="6E6E6E"/>
                </a:solidFill>
                <a:latin typeface="Arial"/>
              </a:rPr>
              <a:t>Every reading needs about the same light, 25× less than the out-of-focus model said; the sign map's own noise costs 5%</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zwfs_rec193full_noise.png"/>
          <p:cNvPicPr>
            <a:picLocks noChangeAspect="1"/>
          </p:cNvPicPr>
          <p:nvPr/>
        </p:nvPicPr>
        <p:blipFill>
          <a:blip r:embed="rId2"/>
          <a:stretch>
            <a:fillRect/>
          </a:stretch>
        </p:blipFill>
        <p:spPr>
          <a:xfrm>
            <a:off x="1600240" y="1298448"/>
            <a:ext cx="3428919" cy="2714752"/>
          </a:xfrm>
          <a:prstGeom prst="rect">
            <a:avLst/>
          </a:prstGeom>
        </p:spPr>
      </p:pic>
      <p:sp>
        <p:nvSpPr>
          <p:cNvPr id="5" name="TextBox 4"/>
          <p:cNvSpPr txBox="1"/>
          <p:nvPr/>
        </p:nvSpPr>
        <p:spPr>
          <a:xfrm>
            <a:off x="411480" y="4031488"/>
            <a:ext cx="5806440" cy="394208"/>
          </a:xfrm>
          <a:prstGeom prst="rect">
            <a:avLst/>
          </a:prstGeom>
          <a:noFill/>
        </p:spPr>
        <p:txBody>
          <a:bodyPr wrap="square">
            <a:spAutoFit/>
          </a:bodyPr>
          <a:lstStyle/>
          <a:p>
            <a:pPr algn="ctr">
              <a:spcAft>
                <a:spcPts val="0"/>
              </a:spcAft>
            </a:pPr>
            <a:r>
              <a:rPr sz="1000" b="0">
                <a:solidFill>
                  <a:srgbClr val="6E6E6E"/>
                </a:solidFill>
                <a:latin typeface="Arial"/>
              </a:rPr>
              <a:t>Noise on the single-actuator estimate against photons per measurement, per reading; the dotted line is the 1 pm target.</a:t>
            </a:r>
          </a:p>
        </p:txBody>
      </p:sp>
      <p:graphicFrame>
        <p:nvGraphicFramePr>
          <p:cNvPr id="6" name="Table 5"/>
          <p:cNvGraphicFramePr>
            <a:graphicFrameLocks noGrp="1"/>
          </p:cNvGraphicFramePr>
          <p:nvPr/>
        </p:nvGraphicFramePr>
        <p:xfrm>
          <a:off x="6400800" y="1298448"/>
          <a:ext cx="5394959" cy="1840230"/>
        </p:xfrm>
        <a:graphic>
          <a:graphicData uri="http://schemas.openxmlformats.org/drawingml/2006/table">
            <a:tbl>
              <a:tblPr firstRow="1" bandRow="1">
                <a:tableStyleId>{5C22544A-7EE6-4342-B048-85BDC9FD1C3A}</a:tableStyleId>
              </a:tblPr>
              <a:tblGrid>
                <a:gridCol w="2131342"/>
                <a:gridCol w="3263617"/>
              </a:tblGrid>
              <a:tr h="262890">
                <a:tc>
                  <a:txBody>
                    <a:bodyPr wrap="square"/>
                    <a:lstStyle/>
                    <a:p>
                      <a:r>
                        <a:rPr sz="1000" b="1">
                          <a:solidFill>
                            <a:srgbClr val="FFFFFF"/>
                          </a:solidFill>
                          <a:latin typeface="Arial"/>
                        </a:rPr>
                        <a:t>reading</a:t>
                      </a:r>
                    </a:p>
                  </a:txBody>
                  <a:tcPr marL="54864" marR="54864" marT="18288" marB="18288">
                    <a:solidFill>
                      <a:srgbClr val="1F4E79"/>
                    </a:solidFill>
                  </a:tcPr>
                </a:tc>
                <a:tc>
                  <a:txBody>
                    <a:bodyPr wrap="square"/>
                    <a:lstStyle/>
                    <a:p>
                      <a:r>
                        <a:rPr sz="1000" b="1">
                          <a:solidFill>
                            <a:srgbClr val="FFFFFF"/>
                          </a:solidFill>
                          <a:latin typeface="Arial"/>
                        </a:rPr>
                        <a:t>photons per measurement for 1 pm</a:t>
                      </a:r>
                    </a:p>
                  </a:txBody>
                  <a:tcPr marL="54864" marR="54864" marT="18288" marB="18288">
                    <a:solidFill>
                      <a:srgbClr val="1F4E79"/>
                    </a:solidFill>
                  </a:tcPr>
                </a:tc>
              </a:tr>
              <a:tr h="262890">
                <a:tc>
                  <a:txBody>
                    <a:bodyPr wrap="square"/>
                    <a:lstStyle/>
                    <a:p>
                      <a:r>
                        <a:rPr sz="1000" b="0">
                          <a:solidFill>
                            <a:srgbClr val="282828"/>
                          </a:solidFill>
                          <a:latin typeface="Arial"/>
                        </a:rPr>
                        <a:t>linear (L)</a:t>
                      </a:r>
                    </a:p>
                  </a:txBody>
                  <a:tcPr marL="54864" marR="54864" marT="18288" marB="18288">
                    <a:solidFill>
                      <a:srgbClr val="FFFFFF"/>
                    </a:solidFill>
                  </a:tcPr>
                </a:tc>
                <a:tc>
                  <a:txBody>
                    <a:bodyPr wrap="square"/>
                    <a:lstStyle/>
                    <a:p>
                      <a:r>
                        <a:rPr sz="1000" b="0">
                          <a:solidFill>
                            <a:srgbClr val="282828"/>
                          </a:solidFill>
                          <a:latin typeface="Arial"/>
                        </a:rPr>
                        <a:t>5.4×10¹³</a:t>
                      </a:r>
                    </a:p>
                  </a:txBody>
                  <a:tcPr marL="54864" marR="54864" marT="18288" marB="18288">
                    <a:solidFill>
                      <a:srgbClr val="FFFFFF"/>
                    </a:solidFill>
                  </a:tcPr>
                </a:tc>
              </a:tr>
              <a:tr h="262890">
                <a:tc>
                  <a:txBody>
                    <a:bodyPr wrap="square"/>
                    <a:lstStyle/>
                    <a:p>
                      <a:r>
                        <a:rPr sz="1000" b="0">
                          <a:solidFill>
                            <a:srgbClr val="282828"/>
                          </a:solidFill>
                          <a:latin typeface="Arial"/>
                        </a:rPr>
                        <a:t>exact, flat-DM reference (F)</a:t>
                      </a:r>
                    </a:p>
                  </a:txBody>
                  <a:tcPr marL="54864" marR="54864" marT="18288" marB="18288">
                    <a:solidFill>
                      <a:srgbClr val="ECF1F6"/>
                    </a:solidFill>
                  </a:tcPr>
                </a:tc>
                <a:tc>
                  <a:txBody>
                    <a:bodyPr wrap="square"/>
                    <a:lstStyle/>
                    <a:p>
                      <a:r>
                        <a:rPr sz="1000" b="0">
                          <a:solidFill>
                            <a:srgbClr val="282828"/>
                          </a:solidFill>
                          <a:latin typeface="Arial"/>
                        </a:rPr>
                        <a:t>3.7×10¹³</a:t>
                      </a:r>
                    </a:p>
                  </a:txBody>
                  <a:tcPr marL="54864" marR="54864" marT="18288" marB="18288">
                    <a:solidFill>
                      <a:srgbClr val="ECF1F6"/>
                    </a:solidFill>
                  </a:tcPr>
                </a:tc>
              </a:tr>
              <a:tr h="262890">
                <a:tc>
                  <a:txBody>
                    <a:bodyPr wrap="square"/>
                    <a:lstStyle/>
                    <a:p>
                      <a:r>
                        <a:rPr sz="1000" b="0">
                          <a:solidFill>
                            <a:srgbClr val="282828"/>
                          </a:solidFill>
                          <a:latin typeface="Arial"/>
                        </a:rPr>
                        <a:t>exact, re-computed reference (I)</a:t>
                      </a:r>
                    </a:p>
                  </a:txBody>
                  <a:tcPr marL="54864" marR="54864" marT="18288" marB="18288">
                    <a:solidFill>
                      <a:srgbClr val="FFFFFF"/>
                    </a:solidFill>
                  </a:tcPr>
                </a:tc>
                <a:tc>
                  <a:txBody>
                    <a:bodyPr wrap="square"/>
                    <a:lstStyle/>
                    <a:p>
                      <a:r>
                        <a:rPr sz="1000" b="0">
                          <a:solidFill>
                            <a:srgbClr val="282828"/>
                          </a:solidFill>
                          <a:latin typeface="Arial"/>
                        </a:rPr>
                        <a:t>6.4×10¹³</a:t>
                      </a:r>
                    </a:p>
                  </a:txBody>
                  <a:tcPr marL="54864" marR="54864" marT="18288" marB="18288">
                    <a:solidFill>
                      <a:srgbClr val="FFFFFF"/>
                    </a:solidFill>
                  </a:tcPr>
                </a:tc>
              </a:tr>
              <a:tr h="262890">
                <a:tc>
                  <a:txBody>
                    <a:bodyPr wrap="square"/>
                    <a:lstStyle/>
                    <a:p>
                      <a:r>
                        <a:rPr sz="1000" b="0">
                          <a:solidFill>
                            <a:srgbClr val="282828"/>
                          </a:solidFill>
                          <a:latin typeface="Arial"/>
                        </a:rPr>
                        <a:t>I with the sign map (I+)</a:t>
                      </a:r>
                    </a:p>
                  </a:txBody>
                  <a:tcPr marL="54864" marR="54864" marT="18288" marB="18288">
                    <a:solidFill>
                      <a:srgbClr val="ECF1F6"/>
                    </a:solidFill>
                  </a:tcPr>
                </a:tc>
                <a:tc>
                  <a:txBody>
                    <a:bodyPr wrap="square"/>
                    <a:lstStyle/>
                    <a:p>
                      <a:r>
                        <a:rPr sz="1000" b="0">
                          <a:solidFill>
                            <a:srgbClr val="282828"/>
                          </a:solidFill>
                          <a:latin typeface="Arial"/>
                        </a:rPr>
                        <a:t>8.8×10¹³ (8.4×10¹³ if the sign map is noise-free)</a:t>
                      </a:r>
                    </a:p>
                  </a:txBody>
                  <a:tcPr marL="54864" marR="54864" marT="18288" marB="18288">
                    <a:solidFill>
                      <a:srgbClr val="ECF1F6"/>
                    </a:solidFill>
                  </a:tcPr>
                </a:tc>
              </a:tr>
              <a:tr h="262890">
                <a:tc>
                  <a:txBody>
                    <a:bodyPr wrap="square"/>
                    <a:lstStyle/>
                    <a:p>
                      <a:r>
                        <a:rPr sz="1000" b="0">
                          <a:solidFill>
                            <a:srgbClr val="282828"/>
                          </a:solidFill>
                          <a:latin typeface="Arial"/>
                        </a:rPr>
                        <a:t>phase-stepped (S)</a:t>
                      </a:r>
                    </a:p>
                  </a:txBody>
                  <a:tcPr marL="54864" marR="54864" marT="18288" marB="18288">
                    <a:solidFill>
                      <a:srgbClr val="FFFFFF"/>
                    </a:solidFill>
                  </a:tcPr>
                </a:tc>
                <a:tc>
                  <a:txBody>
                    <a:bodyPr wrap="square"/>
                    <a:lstStyle/>
                    <a:p>
                      <a:r>
                        <a:rPr sz="1000" b="0">
                          <a:solidFill>
                            <a:srgbClr val="282828"/>
                          </a:solidFill>
                          <a:latin typeface="Arial"/>
                        </a:rPr>
                        <a:t>1.0×10¹⁴ (four frames of 2.5×10¹³)</a:t>
                      </a:r>
                    </a:p>
                  </a:txBody>
                  <a:tcPr marL="54864" marR="54864" marT="18288" marB="18288">
                    <a:solidFill>
                      <a:srgbClr val="FFFFFF"/>
                    </a:solidFill>
                  </a:tcPr>
                </a:tc>
              </a:tr>
              <a:tr h="262890">
                <a:tc>
                  <a:txBody>
                    <a:bodyPr wrap="square"/>
                    <a:lstStyle/>
                    <a:p>
                      <a:r>
                        <a:rPr sz="1000" b="0">
                          <a:solidFill>
                            <a:srgbClr val="282828"/>
                          </a:solidFill>
                          <a:latin typeface="Arial"/>
                        </a:rPr>
                        <a:t>interferometer, four-step</a:t>
                      </a:r>
                    </a:p>
                  </a:txBody>
                  <a:tcPr marL="54864" marR="54864" marT="18288" marB="18288">
                    <a:solidFill>
                      <a:srgbClr val="ECF1F6"/>
                    </a:solidFill>
                  </a:tcPr>
                </a:tc>
                <a:tc>
                  <a:txBody>
                    <a:bodyPr wrap="square"/>
                    <a:lstStyle/>
                    <a:p>
                      <a:r>
                        <a:rPr sz="1000" b="0">
                          <a:solidFill>
                            <a:srgbClr val="282828"/>
                          </a:solidFill>
                          <a:latin typeface="Arial"/>
                        </a:rPr>
                        <a:t>8×10¹⁴ (four frames of 2×10¹⁴)</a:t>
                      </a:r>
                    </a:p>
                  </a:txBody>
                  <a:tcPr marL="54864" marR="54864" marT="18288" marB="18288">
                    <a:solidFill>
                      <a:srgbClr val="ECF1F6"/>
                    </a:solidFill>
                  </a:tcPr>
                </a:tc>
              </a:tr>
            </a:tbl>
          </a:graphicData>
        </a:graphic>
      </p:graphicFrame>
      <p:sp>
        <p:nvSpPr>
          <p:cNvPr id="7" name="TextBox 6"/>
          <p:cNvSpPr txBox="1"/>
          <p:nvPr/>
        </p:nvSpPr>
        <p:spPr>
          <a:xfrm>
            <a:off x="6400800" y="3284982"/>
            <a:ext cx="5394960" cy="274320"/>
          </a:xfrm>
          <a:prstGeom prst="rect">
            <a:avLst/>
          </a:prstGeom>
          <a:noFill/>
        </p:spPr>
        <p:txBody>
          <a:bodyPr wrap="square">
            <a:spAutoFit/>
          </a:bodyPr>
          <a:lstStyle/>
          <a:p>
            <a:pPr>
              <a:spcAft>
                <a:spcPts val="600"/>
              </a:spcAft>
            </a:pPr>
            <a:r>
              <a:rPr sz="1200" b="0">
                <a:solidFill>
                  <a:srgbClr val="282828"/>
                </a:solidFill>
                <a:latin typeface="Arial"/>
              </a:rPr>
              <a:t>•  What "photons per measurement" counts: every photon the camera detects over the whole pupil image while one DM shape is measured once, summed over the frames that reading needs: one frame for the one-frame readings, four for the stepped reading (a quarter each).  Not per mode or per actuator: 10¹⁴ per measurement is 3×10¹⁰ per lit actuator.  Measuring a change takes two measurements, so twice the number.</a:t>
            </a:r>
          </a:p>
          <a:p>
            <a:pPr>
              <a:spcAft>
                <a:spcPts val="600"/>
              </a:spcAft>
            </a:pPr>
            <a:r>
              <a:rPr sz="1200" b="0">
                <a:solidFill>
                  <a:srgbClr val="282828"/>
                </a:solidFill>
                <a:latin typeface="Arial"/>
              </a:rPr>
              <a:t>•  In laser terms: at 633 nm, 10¹⁴ photons is 31 µJ.  The test arm passes a 50/50 splitter twice, so a quarter of the laser power reaches the camera (other losses not counted): a 1 mW laser needs 0.13 s per measurement, a 5 mW laser 25 ms; the interferometer's 8×10¹⁴ is 1 s at 1 mW.</a:t>
            </a:r>
          </a:p>
          <a:p>
            <a:pPr>
              <a:spcAft>
                <a:spcPts val="600"/>
              </a:spcAft>
            </a:pPr>
            <a:r>
              <a:rPr sz="1200" b="0">
                <a:solidFill>
                  <a:srgbClr val="282828"/>
                </a:solidFill>
                <a:latin typeface="Arial"/>
              </a:rPr>
              <a:t>•  Method: noise-free frames once per measurement, photon shot noise added numerically, eight trials per point.  The 1 pm budget is about systematic errors and gain stability, not light.</a:t>
            </a:r>
          </a:p>
        </p:txBody>
      </p:sp>
      <p:sp>
        <p:nvSpPr>
          <p:cNvPr id="8" name="TextBox 7"/>
          <p:cNvSpPr txBox="1"/>
          <p:nvPr/>
        </p:nvSpPr>
        <p:spPr>
          <a:xfrm>
            <a:off x="6400800" y="6317742"/>
            <a:ext cx="5394960" cy="274320"/>
          </a:xfrm>
          <a:prstGeom prst="rect">
            <a:avLst/>
          </a:prstGeom>
          <a:noFill/>
        </p:spPr>
        <p:txBody>
          <a:bodyPr wrap="square">
            <a:spAutoFit/>
          </a:bodyPr>
          <a:lstStyle/>
          <a:p>
            <a:pPr>
              <a:spcAft>
                <a:spcPts val="600"/>
              </a:spcAft>
            </a:pPr>
            <a:r>
              <a:rPr sz="1050" b="0">
                <a:solidFill>
                  <a:srgbClr val="6E6E6E"/>
                </a:solidFill>
                <a:latin typeface="Arial"/>
              </a:rPr>
              <a:t>Case: a single 10 nm change on the 30 nm surface, 96×96, development sampling; read noise, drift and calibration noise are the next terms.  Records: runs/rec193full; tg96_s5noise_report.txt.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Holding the surface in closed loop: the on-orbit metric</a:t>
            </a:r>
          </a:p>
          <a:p>
            <a:pPr>
              <a:spcAft>
                <a:spcPts val="0"/>
              </a:spcAft>
            </a:pPr>
            <a:r>
              <a:rPr sz="1250" b="0">
                <a:solidFill>
                  <a:srgbClr val="6E6E6E"/>
                </a:solidFill>
                <a:latin typeface="Arial"/>
              </a:rPr>
              <a:t>Servoed through the sensor, the readings cost the same light; what differs is each reading's fixed error: none, some, or a runaway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loop193_left.png"/>
          <p:cNvPicPr>
            <a:picLocks noChangeAspect="1"/>
          </p:cNvPicPr>
          <p:nvPr/>
        </p:nvPicPr>
        <p:blipFill>
          <a:blip r:embed="rId2"/>
          <a:stretch>
            <a:fillRect/>
          </a:stretch>
        </p:blipFill>
        <p:spPr>
          <a:xfrm>
            <a:off x="1654521" y="1298448"/>
            <a:ext cx="3320357" cy="2823972"/>
          </a:xfrm>
          <a:prstGeom prst="rect">
            <a:avLst/>
          </a:prstGeom>
        </p:spPr>
      </p:pic>
      <p:sp>
        <p:nvSpPr>
          <p:cNvPr id="5" name="TextBox 4"/>
          <p:cNvSpPr txBox="1"/>
          <p:nvPr/>
        </p:nvSpPr>
        <p:spPr>
          <a:xfrm>
            <a:off x="411480" y="4140708"/>
            <a:ext cx="5806440" cy="559307"/>
          </a:xfrm>
          <a:prstGeom prst="rect">
            <a:avLst/>
          </a:prstGeom>
          <a:noFill/>
        </p:spPr>
        <p:txBody>
          <a:bodyPr wrap="square">
            <a:spAutoFit/>
          </a:bodyPr>
          <a:lstStyle/>
          <a:p>
            <a:pPr algn="ctr">
              <a:spcAft>
                <a:spcPts val="0"/>
              </a:spcAft>
            </a:pPr>
            <a:r>
              <a:rPr sz="1000" b="0">
                <a:solidFill>
                  <a:srgbClr val="6E6E6E"/>
                </a:solidFill>
                <a:latin typeface="Arial"/>
              </a:rPr>
              <a:t>The stepped reading's residual per cycle under a 2 pm-per-cycle random walk at four light levels (10¹² to 10¹⁵ photons per cycle, light to dark), and a noise-free 1 nm step (dashed) returning to zero.  Left panel of the runner's figure.</a:t>
            </a:r>
          </a:p>
        </p:txBody>
      </p:sp>
      <p:graphicFrame>
        <p:nvGraphicFramePr>
          <p:cNvPr id="6" name="Table 5"/>
          <p:cNvGraphicFramePr>
            <a:graphicFrameLocks noGrp="1"/>
          </p:cNvGraphicFramePr>
          <p:nvPr/>
        </p:nvGraphicFramePr>
        <p:xfrm>
          <a:off x="6400800" y="1298448"/>
          <a:ext cx="5394958" cy="2000250"/>
        </p:xfrm>
        <a:graphic>
          <a:graphicData uri="http://schemas.openxmlformats.org/drawingml/2006/table">
            <a:tbl>
              <a:tblPr firstRow="1" bandRow="1">
                <a:tableStyleId>{5C22544A-7EE6-4342-B048-85BDC9FD1C3A}</a:tableStyleId>
              </a:tblPr>
              <a:tblGrid>
                <a:gridCol w="1304663"/>
                <a:gridCol w="846268"/>
                <a:gridCol w="740484"/>
                <a:gridCol w="1445708"/>
                <a:gridCol w="1057835"/>
              </a:tblGrid>
              <a:tr h="434340">
                <a:tc>
                  <a:txBody>
                    <a:bodyPr wrap="square"/>
                    <a:lstStyle/>
                    <a:p>
                      <a:r>
                        <a:rPr sz="1000" b="1">
                          <a:solidFill>
                            <a:srgbClr val="FFFFFF"/>
                          </a:solidFill>
                          <a:latin typeface="Arial"/>
                        </a:rPr>
                        <a:t>held to 3 pm rms: photons per cycle</a:t>
                      </a:r>
                    </a:p>
                  </a:txBody>
                  <a:tcPr marL="54864" marR="54864" marT="18288" marB="18288">
                    <a:solidFill>
                      <a:srgbClr val="1F4E79"/>
                    </a:solidFill>
                  </a:tcPr>
                </a:tc>
                <a:tc>
                  <a:txBody>
                    <a:bodyPr wrap="square"/>
                    <a:lstStyle/>
                    <a:p>
                      <a:r>
                        <a:rPr sz="1000" b="1">
                          <a:solidFill>
                            <a:srgbClr val="FFFFFF"/>
                          </a:solidFill>
                          <a:latin typeface="Arial"/>
                        </a:rPr>
                        <a:t>linear (L)</a:t>
                      </a:r>
                    </a:p>
                  </a:txBody>
                  <a:tcPr marL="54864" marR="54864" marT="18288" marB="18288">
                    <a:solidFill>
                      <a:srgbClr val="1F4E79"/>
                    </a:solidFill>
                  </a:tcPr>
                </a:tc>
                <a:tc>
                  <a:txBody>
                    <a:bodyPr wrap="square"/>
                    <a:lstStyle/>
                    <a:p>
                      <a:r>
                        <a:rPr sz="1000" b="1">
                          <a:solidFill>
                            <a:srgbClr val="FFFFFF"/>
                          </a:solidFill>
                          <a:latin typeface="Arial"/>
                        </a:rPr>
                        <a:t>exact, one frame (I+)</a:t>
                      </a:r>
                    </a:p>
                  </a:txBody>
                  <a:tcPr marL="54864" marR="54864" marT="18288" marB="18288">
                    <a:solidFill>
                      <a:srgbClr val="1F4E79"/>
                    </a:solidFill>
                  </a:tcPr>
                </a:tc>
                <a:tc>
                  <a:txBody>
                    <a:bodyPr wrap="square"/>
                    <a:lstStyle/>
                    <a:p>
                      <a:r>
                        <a:rPr sz="1000" b="1">
                          <a:solidFill>
                            <a:srgbClr val="FFFFFF"/>
                          </a:solidFill>
                          <a:latin typeface="Arial"/>
                        </a:rPr>
                        <a:t>stepped (S)</a:t>
                      </a:r>
                    </a:p>
                  </a:txBody>
                  <a:tcPr marL="54864" marR="54864" marT="18288" marB="18288">
                    <a:solidFill>
                      <a:srgbClr val="1F4E79"/>
                    </a:solidFill>
                  </a:tcPr>
                </a:tc>
                <a:tc>
                  <a:txBody>
                    <a:bodyPr wrap="square"/>
                    <a:lstStyle/>
                    <a:p>
                      <a:r>
                        <a:rPr sz="1000" b="1">
                          <a:solidFill>
                            <a:srgbClr val="FFFFFF"/>
                          </a:solidFill>
                          <a:latin typeface="Arial"/>
                        </a:rPr>
                        <a:t>polarized pair (V, next slide)</a:t>
                      </a:r>
                    </a:p>
                  </a:txBody>
                  <a:tcPr marL="54864" marR="54864" marT="18288" marB="18288">
                    <a:solidFill>
                      <a:srgbClr val="1F4E79"/>
                    </a:solidFill>
                  </a:tcPr>
                </a:tc>
              </a:tr>
              <a:tr h="262890">
                <a:tc>
                  <a:txBody>
                    <a:bodyPr wrap="square"/>
                    <a:lstStyle/>
                    <a:p>
                      <a:r>
                        <a:rPr sz="1000" b="0">
                          <a:solidFill>
                            <a:srgbClr val="282828"/>
                          </a:solidFill>
                          <a:latin typeface="Arial"/>
                        </a:rPr>
                        <a:t>noise only</a:t>
                      </a:r>
                    </a:p>
                  </a:txBody>
                  <a:tcPr marL="54864" marR="54864" marT="18288" marB="18288">
                    <a:solidFill>
                      <a:srgbClr val="FFFFFF"/>
                    </a:solidFill>
                  </a:tcPr>
                </a:tc>
                <a:tc>
                  <a:txBody>
                    <a:bodyPr wrap="square"/>
                    <a:lstStyle/>
                    <a:p>
                      <a:r>
                        <a:rPr sz="1000" b="0">
                          <a:solidFill>
                            <a:srgbClr val="282828"/>
                          </a:solidFill>
                          <a:latin typeface="Arial"/>
                        </a:rPr>
                        <a:t>2.1×10¹²</a:t>
                      </a:r>
                    </a:p>
                  </a:txBody>
                  <a:tcPr marL="54864" marR="54864" marT="18288" marB="18288">
                    <a:solidFill>
                      <a:srgbClr val="FFFFFF"/>
                    </a:solidFill>
                  </a:tcPr>
                </a:tc>
                <a:tc>
                  <a:txBody>
                    <a:bodyPr wrap="square"/>
                    <a:lstStyle/>
                    <a:p>
                      <a:r>
                        <a:rPr sz="1000" b="0">
                          <a:solidFill>
                            <a:srgbClr val="282828"/>
                          </a:solidFill>
                          <a:latin typeface="Arial"/>
                        </a:rPr>
                        <a:t>runs away</a:t>
                      </a:r>
                    </a:p>
                  </a:txBody>
                  <a:tcPr marL="54864" marR="54864" marT="18288" marB="18288">
                    <a:solidFill>
                      <a:srgbClr val="FFFFFF"/>
                    </a:solidFill>
                  </a:tcPr>
                </a:tc>
                <a:tc>
                  <a:txBody>
                    <a:bodyPr wrap="square"/>
                    <a:lstStyle/>
                    <a:p>
                      <a:r>
                        <a:rPr sz="1000" b="0">
                          <a:solidFill>
                            <a:srgbClr val="282828"/>
                          </a:solidFill>
                          <a:latin typeface="Arial"/>
                        </a:rPr>
                        <a:t>2.6×10¹²</a:t>
                      </a:r>
                    </a:p>
                  </a:txBody>
                  <a:tcPr marL="54864" marR="54864" marT="18288" marB="18288">
                    <a:solidFill>
                      <a:srgbClr val="FFFFFF"/>
                    </a:solidFill>
                  </a:tcPr>
                </a:tc>
                <a:tc>
                  <a:txBody>
                    <a:bodyPr wrap="square"/>
                    <a:lstStyle/>
                    <a:p>
                      <a:r>
                        <a:rPr sz="1000" b="0">
                          <a:solidFill>
                            <a:srgbClr val="282828"/>
                          </a:solidFill>
                          <a:latin typeface="Arial"/>
                        </a:rPr>
                        <a:t>1.5×10¹²</a:t>
                      </a:r>
                    </a:p>
                  </a:txBody>
                  <a:tcPr marL="54864" marR="54864" marT="18288" marB="18288">
                    <a:solidFill>
                      <a:srgbClr val="FFFFFF"/>
                    </a:solidFill>
                  </a:tcPr>
                </a:tc>
              </a:tr>
              <a:tr h="434340">
                <a:tc>
                  <a:txBody>
                    <a:bodyPr wrap="square"/>
                    <a:lstStyle/>
                    <a:p>
                      <a:r>
                        <a:rPr sz="1000" b="0">
                          <a:solidFill>
                            <a:srgbClr val="282828"/>
                          </a:solidFill>
                          <a:latin typeface="Arial"/>
                        </a:rPr>
                        <a:t>random walk, 2 pm per cycle</a:t>
                      </a:r>
                    </a:p>
                  </a:txBody>
                  <a:tcPr marL="54864" marR="54864" marT="18288" marB="18288">
                    <a:solidFill>
                      <a:srgbClr val="ECF1F6"/>
                    </a:solidFill>
                  </a:tcPr>
                </a:tc>
                <a:tc>
                  <a:txBody>
                    <a:bodyPr wrap="square"/>
                    <a:lstStyle/>
                    <a:p>
                      <a:r>
                        <a:rPr sz="1000" b="0">
                          <a:solidFill>
                            <a:srgbClr val="282828"/>
                          </a:solidFill>
                          <a:latin typeface="Arial"/>
                        </a:rPr>
                        <a:t>7.3×10¹²</a:t>
                      </a:r>
                    </a:p>
                  </a:txBody>
                  <a:tcPr marL="54864" marR="54864" marT="18288" marB="18288">
                    <a:solidFill>
                      <a:srgbClr val="ECF1F6"/>
                    </a:solidFill>
                  </a:tcPr>
                </a:tc>
                <a:tc>
                  <a:txBody>
                    <a:bodyPr wrap="square"/>
                    <a:lstStyle/>
                    <a:p>
                      <a:r>
                        <a:rPr sz="1000" b="0">
                          <a:solidFill>
                            <a:srgbClr val="282828"/>
                          </a:solidFill>
                          <a:latin typeface="Arial"/>
                        </a:rPr>
                        <a:t>runs away</a:t>
                      </a:r>
                    </a:p>
                  </a:txBody>
                  <a:tcPr marL="54864" marR="54864" marT="18288" marB="18288">
                    <a:solidFill>
                      <a:srgbClr val="ECF1F6"/>
                    </a:solidFill>
                  </a:tcPr>
                </a:tc>
                <a:tc>
                  <a:txBody>
                    <a:bodyPr wrap="square"/>
                    <a:lstStyle/>
                    <a:p>
                      <a:r>
                        <a:rPr sz="1000" b="0">
                          <a:solidFill>
                            <a:srgbClr val="282828"/>
                          </a:solidFill>
                          <a:latin typeface="Arial"/>
                        </a:rPr>
                        <a:t>7.5×10¹²</a:t>
                      </a:r>
                    </a:p>
                  </a:txBody>
                  <a:tcPr marL="54864" marR="54864" marT="18288" marB="18288">
                    <a:solidFill>
                      <a:srgbClr val="ECF1F6"/>
                    </a:solidFill>
                  </a:tcPr>
                </a:tc>
                <a:tc>
                  <a:txBody>
                    <a:bodyPr wrap="square"/>
                    <a:lstStyle/>
                    <a:p>
                      <a:r>
                        <a:rPr sz="1000" b="0">
                          <a:solidFill>
                            <a:srgbClr val="282828"/>
                          </a:solidFill>
                          <a:latin typeface="Arial"/>
                        </a:rPr>
                        <a:t>5.3×10¹²</a:t>
                      </a:r>
                    </a:p>
                  </a:txBody>
                  <a:tcPr marL="54864" marR="54864" marT="18288" marB="18288">
                    <a:solidFill>
                      <a:srgbClr val="ECF1F6"/>
                    </a:solidFill>
                  </a:tcPr>
                </a:tc>
              </a:tr>
              <a:tr h="434340">
                <a:tc>
                  <a:txBody>
                    <a:bodyPr wrap="square"/>
                    <a:lstStyle/>
                    <a:p>
                      <a:r>
                        <a:rPr sz="1000" b="0">
                          <a:solidFill>
                            <a:srgbClr val="282828"/>
                          </a:solidFill>
                          <a:latin typeface="Arial"/>
                        </a:rPr>
                        <a:t>thermal ramp, 5 pm per cycle</a:t>
                      </a:r>
                    </a:p>
                  </a:txBody>
                  <a:tcPr marL="54864" marR="54864" marT="18288" marB="18288">
                    <a:solidFill>
                      <a:srgbClr val="FFFFFF"/>
                    </a:solidFill>
                  </a:tcPr>
                </a:tc>
                <a:tc>
                  <a:txBody>
                    <a:bodyPr wrap="square"/>
                    <a:lstStyle/>
                    <a:p>
                      <a:r>
                        <a:rPr sz="1000" b="0">
                          <a:solidFill>
                            <a:srgbClr val="282828"/>
                          </a:solidFill>
                          <a:latin typeface="Arial"/>
                        </a:rPr>
                        <a:t>27.6 pm at any light</a:t>
                      </a:r>
                    </a:p>
                  </a:txBody>
                  <a:tcPr marL="54864" marR="54864" marT="18288" marB="18288">
                    <a:solidFill>
                      <a:srgbClr val="FFFFFF"/>
                    </a:solidFill>
                  </a:tcPr>
                </a:tc>
                <a:tc>
                  <a:txBody>
                    <a:bodyPr wrap="square"/>
                    <a:lstStyle/>
                    <a:p>
                      <a:r>
                        <a:rPr sz="1000" b="0">
                          <a:solidFill>
                            <a:srgbClr val="282828"/>
                          </a:solidFill>
                          <a:latin typeface="Arial"/>
                        </a:rPr>
                        <a:t>runs away</a:t>
                      </a:r>
                    </a:p>
                  </a:txBody>
                  <a:tcPr marL="54864" marR="54864" marT="18288" marB="18288">
                    <a:solidFill>
                      <a:srgbClr val="FFFFFF"/>
                    </a:solidFill>
                  </a:tcPr>
                </a:tc>
                <a:tc>
                  <a:txBody>
                    <a:bodyPr wrap="square"/>
                    <a:lstStyle/>
                    <a:p>
                      <a:r>
                        <a:rPr sz="1000" b="0">
                          <a:solidFill>
                            <a:srgbClr val="282828"/>
                          </a:solidFill>
                          <a:latin typeface="Arial"/>
                        </a:rPr>
                        <a:t>10.0 pm at any light (the loop's own lag)</a:t>
                      </a:r>
                    </a:p>
                  </a:txBody>
                  <a:tcPr marL="54864" marR="54864" marT="18288" marB="18288">
                    <a:solidFill>
                      <a:srgbClr val="FFFFFF"/>
                    </a:solidFill>
                  </a:tcPr>
                </a:tc>
                <a:tc>
                  <a:txBody>
                    <a:bodyPr wrap="square"/>
                    <a:lstStyle/>
                    <a:p>
                      <a:r>
                        <a:rPr sz="1000" b="0">
                          <a:solidFill>
                            <a:srgbClr val="282828"/>
                          </a:solidFill>
                          <a:latin typeface="Arial"/>
                        </a:rPr>
                        <a:t>9.9 pm</a:t>
                      </a:r>
                    </a:p>
                  </a:txBody>
                  <a:tcPr marL="54864" marR="54864" marT="18288" marB="18288">
                    <a:solidFill>
                      <a:srgbClr val="FFFFFF"/>
                    </a:solidFill>
                  </a:tcPr>
                </a:tc>
              </a:tr>
              <a:tr h="434340">
                <a:tc>
                  <a:txBody>
                    <a:bodyPr wrap="square"/>
                    <a:lstStyle/>
                    <a:p>
                      <a:r>
                        <a:rPr sz="1000" b="0">
                          <a:solidFill>
                            <a:srgbClr val="282828"/>
                          </a:solidFill>
                          <a:latin typeface="Arial"/>
                        </a:rPr>
                        <a:t>noise-free 1 nm step, after 60 cycles</a:t>
                      </a:r>
                    </a:p>
                  </a:txBody>
                  <a:tcPr marL="54864" marR="54864" marT="18288" marB="18288">
                    <a:solidFill>
                      <a:srgbClr val="ECF1F6"/>
                    </a:solidFill>
                  </a:tcPr>
                </a:tc>
                <a:tc>
                  <a:txBody>
                    <a:bodyPr wrap="square"/>
                    <a:lstStyle/>
                    <a:p>
                      <a:r>
                        <a:rPr sz="1000" b="0">
                          <a:solidFill>
                            <a:srgbClr val="282828"/>
                          </a:solidFill>
                          <a:latin typeface="Arial"/>
                        </a:rPr>
                        <a:t>1.2 pm and still falling</a:t>
                      </a:r>
                    </a:p>
                  </a:txBody>
                  <a:tcPr marL="54864" marR="54864" marT="18288" marB="18288">
                    <a:solidFill>
                      <a:srgbClr val="ECF1F6"/>
                    </a:solidFill>
                  </a:tcPr>
                </a:tc>
                <a:tc>
                  <a:txBody>
                    <a:bodyPr wrap="square"/>
                    <a:lstStyle/>
                    <a:p>
                      <a:r>
                        <a:rPr sz="1000" b="0">
                          <a:solidFill>
                            <a:srgbClr val="282828"/>
                          </a:solidFill>
                          <a:latin typeface="Arial"/>
                        </a:rPr>
                        <a:t>99 nm</a:t>
                      </a:r>
                    </a:p>
                  </a:txBody>
                  <a:tcPr marL="54864" marR="54864" marT="18288" marB="18288">
                    <a:solidFill>
                      <a:srgbClr val="ECF1F6"/>
                    </a:solidFill>
                  </a:tcPr>
                </a:tc>
                <a:tc>
                  <a:txBody>
                    <a:bodyPr wrap="square"/>
                    <a:lstStyle/>
                    <a:p>
                      <a:r>
                        <a:rPr sz="1000" b="0">
                          <a:solidFill>
                            <a:srgbClr val="282828"/>
                          </a:solidFill>
                          <a:latin typeface="Arial"/>
                        </a:rPr>
                        <a:t>0.000 pm</a:t>
                      </a:r>
                    </a:p>
                  </a:txBody>
                  <a:tcPr marL="54864" marR="54864" marT="18288" marB="18288">
                    <a:solidFill>
                      <a:srgbClr val="ECF1F6"/>
                    </a:solidFill>
                  </a:tcPr>
                </a:tc>
                <a:tc>
                  <a:txBody>
                    <a:bodyPr wrap="square"/>
                    <a:lstStyle/>
                    <a:p>
                      <a:r>
                        <a:rPr sz="1000" b="0">
                          <a:solidFill>
                            <a:srgbClr val="282828"/>
                          </a:solidFill>
                          <a:latin typeface="Arial"/>
                        </a:rPr>
                        <a:t>0.000 pm</a:t>
                      </a:r>
                    </a:p>
                  </a:txBody>
                  <a:tcPr marL="54864" marR="54864" marT="18288" marB="18288">
                    <a:solidFill>
                      <a:srgbClr val="ECF1F6"/>
                    </a:solidFill>
                  </a:tcPr>
                </a:tc>
              </a:tr>
            </a:tbl>
          </a:graphicData>
        </a:graphic>
      </p:graphicFrame>
      <p:sp>
        <p:nvSpPr>
          <p:cNvPr id="7" name="TextBox 6"/>
          <p:cNvSpPr txBox="1"/>
          <p:nvPr/>
        </p:nvSpPr>
        <p:spPr>
          <a:xfrm>
            <a:off x="6400800" y="3445002"/>
            <a:ext cx="5394960" cy="274320"/>
          </a:xfrm>
          <a:prstGeom prst="rect">
            <a:avLst/>
          </a:prstGeom>
          <a:noFill/>
        </p:spPr>
        <p:txBody>
          <a:bodyPr wrap="square">
            <a:spAutoFit/>
          </a:bodyPr>
          <a:lstStyle/>
          <a:p>
            <a:pPr>
              <a:spcAft>
                <a:spcPts val="600"/>
              </a:spcAft>
            </a:pPr>
            <a:r>
              <a:rPr sz="1200" b="0">
                <a:solidFill>
                  <a:srgbClr val="282828"/>
                </a:solidFill>
                <a:latin typeface="Arial"/>
              </a:rPr>
              <a:t>•  The loop: the DM is held at the 30 nm working surface by a proportional servo (gain 0.5) through one reading: each cycle the shape is measured once with N photons (slide 13), compared with the set point's frames, and half the estimated change removed.</a:t>
            </a:r>
          </a:p>
          <a:p>
            <a:pPr>
              <a:spcAft>
                <a:spcPts val="600"/>
              </a:spcAft>
            </a:pPr>
            <a:r>
              <a:rPr sz="1200" b="0">
                <a:solidFill>
                  <a:srgbClr val="282828"/>
                </a:solidFill>
                <a:latin typeface="Arial"/>
              </a:rPr>
              <a:t>•  What it shows: noise and a random walk propagate as theory says, and L and S cost the same light.  What differs is the fixed error: S has none; L imprints a fine-scale error under a slow ramp; I+ reads some sites with the wrong sign, and no gain fixes a wrong sign.</a:t>
            </a:r>
          </a:p>
        </p:txBody>
      </p:sp>
      <p:sp>
        <p:nvSpPr>
          <p:cNvPr id="8" name="TextBox 7"/>
          <p:cNvSpPr txBox="1"/>
          <p:nvPr/>
        </p:nvSpPr>
        <p:spPr>
          <a:xfrm>
            <a:off x="6400800" y="5346953"/>
            <a:ext cx="5394960" cy="274320"/>
          </a:xfrm>
          <a:prstGeom prst="rect">
            <a:avLst/>
          </a:prstGeom>
          <a:noFill/>
        </p:spPr>
        <p:txBody>
          <a:bodyPr wrap="square">
            <a:spAutoFit/>
          </a:bodyPr>
          <a:lstStyle/>
          <a:p>
            <a:pPr>
              <a:spcAft>
                <a:spcPts val="600"/>
              </a:spcAft>
            </a:pPr>
            <a:r>
              <a:rPr sz="1050" b="0">
                <a:solidFill>
                  <a:srgbClr val="6E6E6E"/>
                </a:solidFill>
                <a:latin typeface="Arial"/>
              </a:rPr>
              <a:t>7.5×10¹² photons per cycle is 2.4 µJ: 9 ms of a 1 mW laser at the test arm's 25% throughput.  Gain 0.5, 60 cycles, matrix measured on the working surface, 193 rays; the 385-ray check gives the same numbers.  A ramp under a proportional loop always lags by rate/gain.  Code dm_gauge_lib/dmg_loop, gated by tDmgLoop.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polarized dimple: two images at once, no fold</a:t>
            </a:r>
          </a:p>
          <a:p>
            <a:pPr>
              <a:spcAft>
                <a:spcPts val="0"/>
              </a:spcAft>
            </a:pPr>
            <a:r>
              <a:rPr sz="1250" b="0">
                <a:solidFill>
                  <a:srgbClr val="6E6E6E"/>
                </a:solidFill>
                <a:latin typeface="Arial"/>
              </a:rPr>
              <a:t>A dimple that shifts the two circular polarizations by opposite phases gives an exact reading from two simultaneous frames; it is the best reading on every line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oop193_right.png"/>
          <p:cNvPicPr>
            <a:picLocks noChangeAspect="1"/>
          </p:cNvPicPr>
          <p:nvPr/>
        </p:nvPicPr>
        <p:blipFill>
          <a:blip r:embed="rId2"/>
          <a:stretch>
            <a:fillRect/>
          </a:stretch>
        </p:blipFill>
        <p:spPr>
          <a:xfrm>
            <a:off x="1639392" y="1298448"/>
            <a:ext cx="3350615" cy="2823972"/>
          </a:xfrm>
          <a:prstGeom prst="rect">
            <a:avLst/>
          </a:prstGeom>
        </p:spPr>
      </p:pic>
      <p:sp>
        <p:nvSpPr>
          <p:cNvPr id="5" name="TextBox 4"/>
          <p:cNvSpPr txBox="1"/>
          <p:nvPr/>
        </p:nvSpPr>
        <p:spPr>
          <a:xfrm>
            <a:off x="411480" y="4140708"/>
            <a:ext cx="5806440" cy="559307"/>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reading (green) and the polarized-dimple pair (purple), under no drift (dotted), a 2 pm random walk (solid) and a 5 pm thermal ramp (dashed).  Right panel of the runner's figure.</a:t>
            </a:r>
          </a:p>
        </p:txBody>
      </p:sp>
      <p:graphicFrame>
        <p:nvGraphicFramePr>
          <p:cNvPr id="6" name="Table 5"/>
          <p:cNvGraphicFramePr>
            <a:graphicFrameLocks noGrp="1"/>
          </p:cNvGraphicFramePr>
          <p:nvPr/>
        </p:nvGraphicFramePr>
        <p:xfrm>
          <a:off x="6400800" y="1298448"/>
          <a:ext cx="5394960" cy="2354580"/>
        </p:xfrm>
        <a:graphic>
          <a:graphicData uri="http://schemas.openxmlformats.org/drawingml/2006/table">
            <a:tbl>
              <a:tblPr firstRow="1" bandRow="1">
                <a:tableStyleId>{5C22544A-7EE6-4342-B048-85BDC9FD1C3A}</a:tableStyleId>
              </a:tblPr>
              <a:tblGrid>
                <a:gridCol w="2697480"/>
                <a:gridCol w="1198880"/>
                <a:gridCol w="1498600"/>
              </a:tblGrid>
              <a:tr h="434340">
                <a:tc>
                  <a:txBody>
                    <a:bodyPr wrap="square"/>
                    <a:lstStyle/>
                    <a:p>
                      <a:r>
                        <a:rPr sz="1000" b="1">
                          <a:solidFill>
                            <a:srgbClr val="FFFFFF"/>
                          </a:solidFill>
                          <a:latin typeface="Arial"/>
                        </a:rPr>
                        <a:t>matrix measured on the 30 nm surface; 193 rays</a:t>
                      </a:r>
                    </a:p>
                  </a:txBody>
                  <a:tcPr marL="54864" marR="54864" marT="18288" marB="18288">
                    <a:solidFill>
                      <a:srgbClr val="1F4E79"/>
                    </a:solidFill>
                  </a:tcPr>
                </a:tc>
                <a:tc>
                  <a:txBody>
                    <a:bodyPr wrap="square"/>
                    <a:lstStyle/>
                    <a:p>
                      <a:r>
                        <a:rPr sz="1000" b="1">
                          <a:solidFill>
                            <a:srgbClr val="FFFFFF"/>
                          </a:solidFill>
                          <a:latin typeface="Arial"/>
                        </a:rPr>
                        <a:t>stepped (S), four frames</a:t>
                      </a:r>
                    </a:p>
                  </a:txBody>
                  <a:tcPr marL="54864" marR="54864" marT="18288" marB="18288">
                    <a:solidFill>
                      <a:srgbClr val="1F4E79"/>
                    </a:solidFill>
                  </a:tcPr>
                </a:tc>
                <a:tc>
                  <a:txBody>
                    <a:bodyPr wrap="square"/>
                    <a:lstStyle/>
                    <a:p>
                      <a:r>
                        <a:rPr sz="1000" b="1">
                          <a:solidFill>
                            <a:srgbClr val="FFFFFF"/>
                          </a:solidFill>
                          <a:latin typeface="Arial"/>
                        </a:rPr>
                        <a:t>polarized pair (V), two frames</a:t>
                      </a:r>
                    </a:p>
                  </a:txBody>
                  <a:tcPr marL="54864" marR="54864" marT="18288" marB="18288">
                    <a:solidFill>
                      <a:srgbClr val="1F4E79"/>
                    </a:solidFill>
                  </a:tcPr>
                </a:tc>
              </a:tr>
              <a:tr h="262890">
                <a:tc>
                  <a:txBody>
                    <a:bodyPr wrap="square"/>
                    <a:lstStyle/>
                    <a:p>
                      <a:r>
                        <a:rPr sz="1000" b="0">
                          <a:solidFill>
                            <a:srgbClr val="282828"/>
                          </a:solidFill>
                          <a:latin typeface="Arial"/>
                        </a:rPr>
                        <a:t>single 10 nm change: gain, floor</a:t>
                      </a:r>
                    </a:p>
                  </a:txBody>
                  <a:tcPr marL="54864" marR="54864" marT="18288" marB="18288">
                    <a:solidFill>
                      <a:srgbClr val="FFFFFF"/>
                    </a:solidFill>
                  </a:tcPr>
                </a:tc>
                <a:tc>
                  <a:txBody>
                    <a:bodyPr wrap="square"/>
                    <a:lstStyle/>
                    <a:p>
                      <a:r>
                        <a:rPr sz="1000" b="0">
                          <a:solidFill>
                            <a:srgbClr val="282828"/>
                          </a:solidFill>
                          <a:latin typeface="Arial"/>
                        </a:rPr>
                        <a:t>0.989, 5 pm</a:t>
                      </a:r>
                    </a:p>
                  </a:txBody>
                  <a:tcPr marL="54864" marR="54864" marT="18288" marB="18288">
                    <a:solidFill>
                      <a:srgbClr val="FFFFFF"/>
                    </a:solidFill>
                  </a:tcPr>
                </a:tc>
                <a:tc>
                  <a:txBody>
                    <a:bodyPr wrap="square"/>
                    <a:lstStyle/>
                    <a:p>
                      <a:r>
                        <a:rPr sz="1000" b="0">
                          <a:solidFill>
                            <a:srgbClr val="282828"/>
                          </a:solidFill>
                          <a:latin typeface="Arial"/>
                        </a:rPr>
                        <a:t>0.994, 4 pm</a:t>
                      </a:r>
                    </a:p>
                  </a:txBody>
                  <a:tcPr marL="54864" marR="54864" marT="18288" marB="18288">
                    <a:solidFill>
                      <a:srgbClr val="FFFFFF"/>
                    </a:solidFill>
                  </a:tcPr>
                </a:tc>
              </a:tr>
              <a:tr h="262890">
                <a:tc>
                  <a:txBody>
                    <a:bodyPr wrap="square"/>
                    <a:lstStyle/>
                    <a:p>
                      <a:r>
                        <a:rPr sz="1000" b="0">
                          <a:solidFill>
                            <a:srgbClr val="282828"/>
                          </a:solidFill>
                          <a:latin typeface="Arial"/>
                        </a:rPr>
                        <a:t>47 actuators changed 1 nm</a:t>
                      </a:r>
                    </a:p>
                  </a:txBody>
                  <a:tcPr marL="54864" marR="54864" marT="18288" marB="18288">
                    <a:solidFill>
                      <a:srgbClr val="ECF1F6"/>
                    </a:solidFill>
                  </a:tcPr>
                </a:tc>
                <a:tc>
                  <a:txBody>
                    <a:bodyPr wrap="square"/>
                    <a:lstStyle/>
                    <a:p>
                      <a:r>
                        <a:rPr sz="1000" b="0">
                          <a:solidFill>
                            <a:srgbClr val="282828"/>
                          </a:solidFill>
                          <a:latin typeface="Arial"/>
                        </a:rPr>
                        <a:t>0.999, 4 pm</a:t>
                      </a:r>
                    </a:p>
                  </a:txBody>
                  <a:tcPr marL="54864" marR="54864" marT="18288" marB="18288">
                    <a:solidFill>
                      <a:srgbClr val="ECF1F6"/>
                    </a:solidFill>
                  </a:tcPr>
                </a:tc>
                <a:tc>
                  <a:txBody>
                    <a:bodyPr wrap="square"/>
                    <a:lstStyle/>
                    <a:p>
                      <a:r>
                        <a:rPr sz="1000" b="0">
                          <a:solidFill>
                            <a:srgbClr val="282828"/>
                          </a:solidFill>
                          <a:latin typeface="Arial"/>
                        </a:rPr>
                        <a:t>0.999, 3 pm</a:t>
                      </a:r>
                    </a:p>
                  </a:txBody>
                  <a:tcPr marL="54864" marR="54864" marT="18288" marB="18288">
                    <a:solidFill>
                      <a:srgbClr val="ECF1F6"/>
                    </a:solidFill>
                  </a:tcPr>
                </a:tc>
              </a:tr>
              <a:tr h="262890">
                <a:tc>
                  <a:txBody>
                    <a:bodyPr wrap="square"/>
                    <a:lstStyle/>
                    <a:p>
                      <a:r>
                        <a:rPr sz="1000" b="0">
                          <a:solidFill>
                            <a:srgbClr val="282828"/>
                          </a:solidFill>
                          <a:latin typeface="Arial"/>
                        </a:rPr>
                        <a:t>dense random 10 nm: gain, error</a:t>
                      </a:r>
                    </a:p>
                  </a:txBody>
                  <a:tcPr marL="54864" marR="54864" marT="18288" marB="18288">
                    <a:solidFill>
                      <a:srgbClr val="FFFFFF"/>
                    </a:solidFill>
                  </a:tcPr>
                </a:tc>
                <a:tc>
                  <a:txBody>
                    <a:bodyPr wrap="square"/>
                    <a:lstStyle/>
                    <a:p>
                      <a:r>
                        <a:rPr sz="1000" b="0">
                          <a:solidFill>
                            <a:srgbClr val="282828"/>
                          </a:solidFill>
                          <a:latin typeface="Arial"/>
                        </a:rPr>
                        <a:t>0.98, 0.68 nm</a:t>
                      </a:r>
                    </a:p>
                  </a:txBody>
                  <a:tcPr marL="54864" marR="54864" marT="18288" marB="18288">
                    <a:solidFill>
                      <a:srgbClr val="FFFFFF"/>
                    </a:solidFill>
                  </a:tcPr>
                </a:tc>
                <a:tc>
                  <a:txBody>
                    <a:bodyPr wrap="square"/>
                    <a:lstStyle/>
                    <a:p>
                      <a:r>
                        <a:rPr sz="1000" b="0">
                          <a:solidFill>
                            <a:srgbClr val="282828"/>
                          </a:solidFill>
                          <a:latin typeface="Arial"/>
                        </a:rPr>
                        <a:t>1.000, 0.33 nm</a:t>
                      </a:r>
                    </a:p>
                  </a:txBody>
                  <a:tcPr marL="54864" marR="54864" marT="18288" marB="18288">
                    <a:solidFill>
                      <a:srgbClr val="FFFFFF"/>
                    </a:solidFill>
                  </a:tcPr>
                </a:tc>
              </a:tr>
              <a:tr h="434340">
                <a:tc>
                  <a:txBody>
                    <a:bodyPr wrap="square"/>
                    <a:lstStyle/>
                    <a:p>
                      <a:r>
                        <a:rPr sz="1000" b="0">
                          <a:solidFill>
                            <a:srgbClr val="282828"/>
                          </a:solidFill>
                          <a:latin typeface="Arial"/>
                        </a:rPr>
                        <a:t>gain at 40 / 50 / 60 nm rms with the 30 nm calibration</a:t>
                      </a:r>
                    </a:p>
                  </a:txBody>
                  <a:tcPr marL="54864" marR="54864" marT="18288" marB="18288">
                    <a:solidFill>
                      <a:srgbClr val="ECF1F6"/>
                    </a:solidFill>
                  </a:tcPr>
                </a:tc>
                <a:tc>
                  <a:txBody>
                    <a:bodyPr wrap="square"/>
                    <a:lstStyle/>
                    <a:p>
                      <a:r>
                        <a:rPr sz="1000" b="0">
                          <a:solidFill>
                            <a:srgbClr val="282828"/>
                          </a:solidFill>
                          <a:latin typeface="Arial"/>
                        </a:rPr>
                        <a:t>0.91 / 0.86 / 0.66</a:t>
                      </a:r>
                    </a:p>
                  </a:txBody>
                  <a:tcPr marL="54864" marR="54864" marT="18288" marB="18288">
                    <a:solidFill>
                      <a:srgbClr val="ECF1F6"/>
                    </a:solidFill>
                  </a:tcPr>
                </a:tc>
                <a:tc>
                  <a:txBody>
                    <a:bodyPr wrap="square"/>
                    <a:lstStyle/>
                    <a:p>
                      <a:r>
                        <a:rPr sz="1000" b="0">
                          <a:solidFill>
                            <a:srgbClr val="282828"/>
                          </a:solidFill>
                          <a:latin typeface="Arial"/>
                        </a:rPr>
                        <a:t>0.996 / 0.991 / 0.981</a:t>
                      </a:r>
                    </a:p>
                  </a:txBody>
                  <a:tcPr marL="54864" marR="54864" marT="18288" marB="18288">
                    <a:solidFill>
                      <a:srgbClr val="ECF1F6"/>
                    </a:solidFill>
                  </a:tcPr>
                </a:tc>
              </a:tr>
              <a:tr h="262890">
                <a:tc>
                  <a:txBody>
                    <a:bodyPr wrap="square"/>
                    <a:lstStyle/>
                    <a:p>
                      <a:r>
                        <a:rPr sz="1000" b="0">
                          <a:solidFill>
                            <a:srgbClr val="282828"/>
                          </a:solidFill>
                          <a:latin typeface="Arial"/>
                        </a:rPr>
                        <a:t>photons per measurement for 1 pm</a:t>
                      </a:r>
                    </a:p>
                  </a:txBody>
                  <a:tcPr marL="54864" marR="54864" marT="18288" marB="18288">
                    <a:solidFill>
                      <a:srgbClr val="FFFFFF"/>
                    </a:solidFill>
                  </a:tcPr>
                </a:tc>
                <a:tc>
                  <a:txBody>
                    <a:bodyPr wrap="square"/>
                    <a:lstStyle/>
                    <a:p>
                      <a:r>
                        <a:rPr sz="1000" b="0">
                          <a:solidFill>
                            <a:srgbClr val="282828"/>
                          </a:solidFill>
                          <a:latin typeface="Arial"/>
                        </a:rPr>
                        <a:t>5.6×10¹³</a:t>
                      </a:r>
                    </a:p>
                  </a:txBody>
                  <a:tcPr marL="54864" marR="54864" marT="18288" marB="18288">
                    <a:solidFill>
                      <a:srgbClr val="FFFFFF"/>
                    </a:solidFill>
                  </a:tcPr>
                </a:tc>
                <a:tc>
                  <a:txBody>
                    <a:bodyPr wrap="square"/>
                    <a:lstStyle/>
                    <a:p>
                      <a:r>
                        <a:rPr sz="1000" b="0">
                          <a:solidFill>
                            <a:srgbClr val="282828"/>
                          </a:solidFill>
                          <a:latin typeface="Arial"/>
                        </a:rPr>
                        <a:t>4.7×10¹³</a:t>
                      </a:r>
                    </a:p>
                  </a:txBody>
                  <a:tcPr marL="54864" marR="54864" marT="18288" marB="18288">
                    <a:solidFill>
                      <a:srgbClr val="FFFFFF"/>
                    </a:solidFill>
                  </a:tcPr>
                </a:tc>
              </a:tr>
              <a:tr h="434340">
                <a:tc>
                  <a:txBody>
                    <a:bodyPr wrap="square"/>
                    <a:lstStyle/>
                    <a:p>
                      <a:r>
                        <a:rPr sz="1000" b="0">
                          <a:solidFill>
                            <a:srgbClr val="282828"/>
                          </a:solidFill>
                          <a:latin typeface="Arial"/>
                        </a:rPr>
                        <a:t>held to 3 pm in closed loop: noise only / 2 pm walk</a:t>
                      </a:r>
                    </a:p>
                  </a:txBody>
                  <a:tcPr marL="54864" marR="54864" marT="18288" marB="18288">
                    <a:solidFill>
                      <a:srgbClr val="ECF1F6"/>
                    </a:solidFill>
                  </a:tcPr>
                </a:tc>
                <a:tc>
                  <a:txBody>
                    <a:bodyPr wrap="square"/>
                    <a:lstStyle/>
                    <a:p>
                      <a:r>
                        <a:rPr sz="1000" b="0">
                          <a:solidFill>
                            <a:srgbClr val="282828"/>
                          </a:solidFill>
                          <a:latin typeface="Arial"/>
                        </a:rPr>
                        <a:t>2.6×10¹² / 7.5×10¹²</a:t>
                      </a:r>
                    </a:p>
                  </a:txBody>
                  <a:tcPr marL="54864" marR="54864" marT="18288" marB="18288">
                    <a:solidFill>
                      <a:srgbClr val="ECF1F6"/>
                    </a:solidFill>
                  </a:tcPr>
                </a:tc>
                <a:tc>
                  <a:txBody>
                    <a:bodyPr wrap="square"/>
                    <a:lstStyle/>
                    <a:p>
                      <a:r>
                        <a:rPr sz="1000" b="0">
                          <a:solidFill>
                            <a:srgbClr val="282828"/>
                          </a:solidFill>
                          <a:latin typeface="Arial"/>
                        </a:rPr>
                        <a:t>1.5×10¹² / 5.3×10¹²</a:t>
                      </a:r>
                    </a:p>
                  </a:txBody>
                  <a:tcPr marL="54864" marR="54864" marT="18288" marB="18288">
                    <a:solidFill>
                      <a:srgbClr val="ECF1F6"/>
                    </a:solidFill>
                  </a:tcPr>
                </a:tc>
              </a:tr>
            </a:tbl>
          </a:graphicData>
        </a:graphic>
      </p:graphicFrame>
      <p:sp>
        <p:nvSpPr>
          <p:cNvPr id="7" name="TextBox 6"/>
          <p:cNvSpPr txBox="1"/>
          <p:nvPr/>
        </p:nvSpPr>
        <p:spPr>
          <a:xfrm>
            <a:off x="6400800" y="3799331"/>
            <a:ext cx="5394960" cy="274320"/>
          </a:xfrm>
          <a:prstGeom prst="rect">
            <a:avLst/>
          </a:prstGeom>
          <a:noFill/>
        </p:spPr>
        <p:txBody>
          <a:bodyPr wrap="square">
            <a:spAutoFit/>
          </a:bodyPr>
          <a:lstStyle/>
          <a:p>
            <a:pPr>
              <a:spcAft>
                <a:spcPts val="600"/>
              </a:spcAft>
            </a:pPr>
            <a:r>
              <a:rPr sz="1200" b="0">
                <a:solidFill>
                  <a:srgbClr val="282828"/>
                </a:solidFill>
                <a:latin typeface="Arial"/>
              </a:rPr>
              <a:t>•  How it works: a geometric-phase (metasurface) dimple applies +90° to one circular polarization and −90° to the other; a polarization splitter behind the pupil relay gives both pupil images in one exposure.  Per pixel the difference of the pair gives the sine of the phase and the sum the cosine, so the phase is solved exactly with no sign fold, and the reference wave is refined as for the exact reading.</a:t>
            </a:r>
          </a:p>
          <a:p>
            <a:pPr>
              <a:spcAft>
                <a:spcPts val="600"/>
              </a:spcAft>
            </a:pPr>
            <a:r>
              <a:rPr sz="1200" b="0">
                <a:solidFill>
                  <a:srgbClr val="282828"/>
                </a:solidFill>
                <a:latin typeface="Arial"/>
              </a:rPr>
              <a:t>•  What it buys: the one-frame exact reading's fold is gone (a 100 nm poke reads to 0.05 pm where the single frame errs by 9 nm), the calibration ages five times slower, and nothing moves between the two frames.  What it does not change: the sensor's range is still set by the focal core (all readings fail past 120 nm rms) and by half a wavelength.</a:t>
            </a:r>
          </a:p>
        </p:txBody>
      </p:sp>
      <p:sp>
        <p:nvSpPr>
          <p:cNvPr id="8" name="TextBox 7"/>
          <p:cNvSpPr txBox="1"/>
          <p:nvPr/>
        </p:nvSpPr>
        <p:spPr>
          <a:xfrm>
            <a:off x="6400800" y="6295643"/>
            <a:ext cx="5394960" cy="274320"/>
          </a:xfrm>
          <a:prstGeom prst="rect">
            <a:avLst/>
          </a:prstGeom>
          <a:noFill/>
        </p:spPr>
        <p:txBody>
          <a:bodyPr wrap="square">
            <a:spAutoFit/>
          </a:bodyPr>
          <a:lstStyle/>
          <a:p>
            <a:pPr>
              <a:spcAft>
                <a:spcPts val="600"/>
              </a:spcAft>
            </a:pPr>
            <a:r>
              <a:rPr sz="1050" b="0">
                <a:solidFill>
                  <a:srgbClr val="6E6E6E"/>
                </a:solidFill>
                <a:latin typeface="Arial"/>
              </a:rPr>
              <a:t>Ideal metasurface: each image is the scalar sensor with its own dimple sign.  Its two imperfections are priced on the next slide; still open: the stepped reading's between-frame drift.  Records: runs/v193base, v193noise, vloop193.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can spoil the polarized dimple, priced</a:t>
            </a:r>
          </a:p>
          <a:p>
            <a:pPr>
              <a:spcAft>
                <a:spcPts val="0"/>
              </a:spcAft>
            </a:pPr>
            <a:r>
              <a:rPr sz="1250" b="0">
                <a:solidFill>
                  <a:srgbClr val="6E6E6E"/>
                </a:solidFill>
                <a:latin typeface="Arial"/>
              </a:rPr>
              <a:t>A retardance error in the metasurface and the test arm's polarization aberration both wash out through the working-surface matrix; only a large difference between the two channels' phases costs anything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097530"/>
        </p:xfrm>
        <a:graphic>
          <a:graphicData uri="http://schemas.openxmlformats.org/drawingml/2006/table">
            <a:tbl>
              <a:tblPr firstRow="1" bandRow="1">
                <a:tableStyleId>{5C22544A-7EE6-4342-B048-85BDC9FD1C3A}</a:tableStyleId>
              </a:tblPr>
              <a:tblGrid>
                <a:gridCol w="3644522"/>
                <a:gridCol w="1631875"/>
                <a:gridCol w="2556605"/>
                <a:gridCol w="3535731"/>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absolute (100 nm pokes)</a:t>
                      </a:r>
                    </a:p>
                  </a:txBody>
                  <a:tcPr marL="54864" marR="54864" marT="18288" marB="18288">
                    <a:solidFill>
                      <a:srgbClr val="1F4E79"/>
                    </a:solidFill>
                  </a:tcPr>
                </a:tc>
                <a:tc>
                  <a:txBody>
                    <a:bodyPr wrap="square"/>
                    <a:lstStyle/>
                    <a:p>
                      <a:r>
                        <a:rPr sz="1100" b="1">
                          <a:solidFill>
                            <a:srgbClr val="FFFFFF"/>
                          </a:solidFill>
                          <a:latin typeface="Arial"/>
                        </a:rPr>
                        <a:t>with the bench's own calibration</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30 nm surface: 10 nm change / 47 × 1 nm / dense 10 nm</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0.1 rad: 5% of the light unshifted, one complex constant on both images</a:t>
                      </a:r>
                    </a:p>
                  </a:txBody>
                  <a:tcPr marL="54864" marR="54864" marT="18288" marB="18288">
                    <a:solidFill>
                      <a:srgbClr val="FFFFFF"/>
                    </a:solidFill>
                  </a:tcPr>
                </a:tc>
                <a:tc>
                  <a:txBody>
                    <a:bodyPr wrap="square"/>
                    <a:lstStyle/>
                    <a:p>
                      <a:r>
                        <a:rPr sz="1100" b="0">
                          <a:solidFill>
                            <a:srgbClr val="282828"/>
                          </a:solidFill>
                          <a:latin typeface="Arial"/>
                        </a:rPr>
                        <a:t>0.75 nm (leak in phase), 18 pm (in quadrature)</a:t>
                      </a:r>
                    </a:p>
                  </a:txBody>
                  <a:tcPr marL="54864" marR="54864" marT="18288" marB="18288">
                    <a:solidFill>
                      <a:srgbClr val="FFFFFF"/>
                    </a:solidFill>
                  </a:tcPr>
                </a:tc>
                <a:tc>
                  <a:txBody>
                    <a:bodyPr wrap="square"/>
                    <a:lstStyle/>
                    <a:p>
                      <a:r>
                        <a:rPr sz="1100" b="0">
                          <a:solidFill>
                            <a:srgbClr val="282828"/>
                          </a:solidFill>
                          <a:latin typeface="Arial"/>
                        </a:rPr>
                        <a:t>0.05 pm: three numbers fitted on the flat's two images</a:t>
                      </a:r>
                    </a:p>
                  </a:txBody>
                  <a:tcPr marL="54864" marR="54864" marT="18288" marB="18288">
                    <a:solidFill>
                      <a:srgbClr val="FFFFFF"/>
                    </a:solidFill>
                  </a:tcPr>
                </a:tc>
                <a:tc>
                  <a:txBody>
                    <a:bodyPr wrap="square"/>
                    <a:lstStyle/>
                    <a:p>
                      <a:r>
                        <a:rPr sz="1100" b="0">
                          <a:solidFill>
                            <a:srgbClr val="282828"/>
                          </a:solidFill>
                          <a:latin typeface="Arial"/>
                        </a:rPr>
                        <a:t>0.993, 4 pm / 0.999, 3 pm / 0.33 nm — the ideal numbers; loop identical</a:t>
                      </a:r>
                    </a:p>
                  </a:txBody>
                  <a:tcPr marL="54864" marR="54864" marT="18288" marB="18288">
                    <a:solidFill>
                      <a:srgbClr val="FFFFFF"/>
                    </a:solidFill>
                  </a:tcPr>
                </a:tc>
              </a:tr>
              <a:tr h="657225">
                <a:tc>
                  <a:txBody>
                    <a:bodyPr wrap="square"/>
                    <a:lstStyle/>
                    <a:p>
                      <a:r>
                        <a:rPr sz="1100" b="0">
                          <a:solidFill>
                            <a:srgbClr val="282828"/>
                          </a:solidFill>
                          <a:latin typeface="Arial"/>
                        </a:rPr>
                        <a:t>this lens rig's arm, laser 45° to the fold plane: the channels' phases differ by 1.6 mrad rms (six 7° glass faces, 0.5% diattenuation)</a:t>
                      </a:r>
                    </a:p>
                  </a:txBody>
                  <a:tcPr marL="54864" marR="54864" marT="18288" marB="18288">
                    <a:solidFill>
                      <a:srgbClr val="ECF1F6"/>
                    </a:solidFill>
                  </a:tcPr>
                </a:tc>
                <a:tc>
                  <a:txBody>
                    <a:bodyPr wrap="square"/>
                    <a:lstStyle/>
                    <a:p>
                      <a:r>
                        <a:rPr sz="1100" b="0">
                          <a:solidFill>
                            <a:srgbClr val="282828"/>
                          </a:solidFill>
                          <a:latin typeface="Arial"/>
                        </a:rPr>
                        <a:t>9 pm (17 at 0°; 0.1 with the laser on the fold plane's axis)</a:t>
                      </a:r>
                    </a:p>
                  </a:txBody>
                  <a:tcPr marL="54864" marR="54864" marT="18288" marB="18288">
                    <a:solidFill>
                      <a:srgbClr val="ECF1F6"/>
                    </a:solidFill>
                  </a:tcPr>
                </a:tc>
                <a:tc>
                  <a:txBody>
                    <a:bodyPr wrap="square"/>
                    <a:lstStyle/>
                    <a:p>
                      <a:r>
                        <a:rPr sz="1100" b="0">
                          <a:solidFill>
                            <a:srgbClr val="282828"/>
                          </a:solidFill>
                          <a:latin typeface="Arial"/>
                        </a:rPr>
                        <a:t>9.5 pm: the unmasked reference frames cannot see a phase; 0.05 pm with a polarimetric map</a:t>
                      </a:r>
                    </a:p>
                  </a:txBody>
                  <a:tcPr marL="54864" marR="54864" marT="18288" marB="18288">
                    <a:solidFill>
                      <a:srgbClr val="ECF1F6"/>
                    </a:solidFill>
                  </a:tcPr>
                </a:tc>
                <a:tc>
                  <a:txBody>
                    <a:bodyPr wrap="square"/>
                    <a:lstStyle/>
                    <a:p>
                      <a:r>
                        <a:rPr sz="1100" b="0">
                          <a:solidFill>
                            <a:srgbClr val="282828"/>
                          </a:solidFill>
                          <a:latin typeface="Arial"/>
                        </a:rPr>
                        <a:t>ideal to the printed digit</a:t>
                      </a:r>
                    </a:p>
                  </a:txBody>
                  <a:tcPr marL="54864" marR="54864" marT="18288" marB="18288">
                    <a:solidFill>
                      <a:srgbClr val="ECF1F6"/>
                    </a:solidFill>
                  </a:tcPr>
                </a:tc>
              </a:tr>
              <a:tr h="657225">
                <a:tc>
                  <a:txBody>
                    <a:bodyPr wrap="square"/>
                    <a:lstStyle/>
                    <a:p>
                      <a:r>
                        <a:rPr sz="1100" b="0">
                          <a:solidFill>
                            <a:srgbClr val="282828"/>
                          </a:solidFill>
                          <a:latin typeface="Arial"/>
                        </a:rPr>
                        <a:t>channel phase difference 0.1 / 0.3 rad rms (a pupil-varying diattenuation)</a:t>
                      </a:r>
                    </a:p>
                  </a:txBody>
                  <a:tcPr marL="54864" marR="54864" marT="18288" marB="18288">
                    <a:solidFill>
                      <a:srgbClr val="FFFFFF"/>
                    </a:solidFill>
                  </a:tcPr>
                </a:tc>
                <a:tc>
                  <a:txBody>
                    <a:bodyPr wrap="square"/>
                    <a:lstStyle/>
                    <a:p>
                      <a:r>
                        <a:rPr sz="1100" b="0">
                          <a:solidFill>
                            <a:srgbClr val="282828"/>
                          </a:solidFill>
                          <a:latin typeface="Arial"/>
                        </a:rPr>
                        <a:t>0.6 / 1.9 nm (6 nm per rad)</a:t>
                      </a:r>
                    </a:p>
                  </a:txBody>
                  <a:tcPr marL="54864" marR="54864" marT="18288" marB="18288">
                    <a:solidFill>
                      <a:srgbClr val="FFFFFF"/>
                    </a:solidFill>
                  </a:tcPr>
                </a:tc>
                <a:tc>
                  <a:txBody>
                    <a:bodyPr wrap="square"/>
                    <a:lstStyle/>
                    <a:p>
                      <a:r>
                        <a:rPr sz="1100" b="0">
                          <a:solidFill>
                            <a:srgbClr val="282828"/>
                          </a:solidFill>
                          <a:latin typeface="Arial"/>
                        </a:rPr>
                        <a:t>unchanged</a:t>
                      </a:r>
                    </a:p>
                  </a:txBody>
                  <a:tcPr marL="54864" marR="54864" marT="18288" marB="18288">
                    <a:solidFill>
                      <a:srgbClr val="FFFFFF"/>
                    </a:solidFill>
                  </a:tcPr>
                </a:tc>
                <a:tc>
                  <a:txBody>
                    <a:bodyPr wrap="square"/>
                    <a:lstStyle/>
                    <a:p>
                      <a:r>
                        <a:rPr sz="1100" b="0">
                          <a:solidFill>
                            <a:srgbClr val="282828"/>
                          </a:solidFill>
                          <a:latin typeface="Arial"/>
                        </a:rPr>
                        <a:t>0.995, 4 / 1.001, 4 / 0.44 nm at 0.1; 0.997, 4 / 1.007, 8 / 0.96 nm at 0.3; loop at 0.3: 10% less gain, same noise, no fixed error</a:t>
                      </a:r>
                    </a:p>
                  </a:txBody>
                  <a:tcPr marL="54864" marR="54864" marT="18288" marB="18288">
                    <a:solidFill>
                      <a:srgbClr val="FFFFFF"/>
                    </a:solidFill>
                  </a:tcPr>
                </a:tc>
              </a:tr>
              <a:tr h="657225">
                <a:tc>
                  <a:txBody>
                    <a:bodyPr wrap="square"/>
                    <a:lstStyle/>
                    <a:p>
                      <a:r>
                        <a:rPr sz="1100" b="0">
                          <a:solidFill>
                            <a:srgbClr val="282828"/>
                          </a:solidFill>
                          <a:latin typeface="Arial"/>
                        </a:rPr>
                        <a:t>channel amplitude ratio 0.1 / 0.3 rms (a pupil-varying retardance, the all-mirror rig's term)</a:t>
                      </a:r>
                    </a:p>
                  </a:txBody>
                  <a:tcPr marL="54864" marR="54864" marT="18288" marB="18288">
                    <a:solidFill>
                      <a:srgbClr val="ECF1F6"/>
                    </a:solidFill>
                  </a:tcPr>
                </a:tc>
                <a:tc>
                  <a:txBody>
                    <a:bodyPr wrap="square"/>
                    <a:lstStyle/>
                    <a:p>
                      <a:r>
                        <a:rPr sz="1100" b="0">
                          <a:solidFill>
                            <a:srgbClr val="282828"/>
                          </a:solidFill>
                          <a:latin typeface="Arial"/>
                        </a:rPr>
                        <a:t>2.3 / 7.1 nm</a:t>
                      </a:r>
                    </a:p>
                  </a:txBody>
                  <a:tcPr marL="54864" marR="54864" marT="18288" marB="18288">
                    <a:solidFill>
                      <a:srgbClr val="ECF1F6"/>
                    </a:solidFill>
                  </a:tcPr>
                </a:tc>
                <a:tc>
                  <a:txBody>
                    <a:bodyPr wrap="square"/>
                    <a:lstStyle/>
                    <a:p>
                      <a:r>
                        <a:rPr sz="1100" b="0">
                          <a:solidFill>
                            <a:srgbClr val="282828"/>
                          </a:solidFill>
                          <a:latin typeface="Arial"/>
                        </a:rPr>
                        <a:t>0.05 pm: removed by the per-channel unmasked reference frames every Zernike-sensor bench takes</a:t>
                      </a:r>
                    </a:p>
                  </a:txBody>
                  <a:tcPr marL="54864" marR="54864" marT="18288" marB="18288">
                    <a:solidFill>
                      <a:srgbClr val="ECF1F6"/>
                    </a:solidFill>
                  </a:tcPr>
                </a:tc>
                <a:tc>
                  <a:txBody>
                    <a:bodyPr wrap="square"/>
                    <a:lstStyle/>
                    <a:p>
                      <a:r>
                        <a:rPr sz="1100" b="0">
                          <a:solidFill>
                            <a:srgbClr val="282828"/>
                          </a:solidFill>
                          <a:latin typeface="Arial"/>
                        </a:rPr>
                        <a:t>0.993, 4 / 1.000, 3 / 0.43 nm at 0.1 uncalibrated; the ideal numbers once calibrated</a:t>
                      </a:r>
                    </a:p>
                  </a:txBody>
                  <a:tcPr marL="54864" marR="54864" marT="18288" marB="18288">
                    <a:solidFill>
                      <a:srgbClr val="ECF1F6"/>
                    </a:solidFill>
                  </a:tcPr>
                </a:tc>
              </a:tr>
            </a:tbl>
          </a:graphicData>
        </a:graphic>
      </p:graphicFrame>
      <p:sp>
        <p:nvSpPr>
          <p:cNvPr id="5" name="TextBox 4"/>
          <p:cNvSpPr txBox="1"/>
          <p:nvPr/>
        </p:nvSpPr>
        <p:spPr>
          <a:xfrm>
            <a:off x="411480" y="4542282"/>
            <a:ext cx="11368735" cy="274320"/>
          </a:xfrm>
          <a:prstGeom prst="rect">
            <a:avLst/>
          </a:prstGeom>
          <a:noFill/>
        </p:spPr>
        <p:txBody>
          <a:bodyPr wrap="square">
            <a:spAutoFit/>
          </a:bodyPr>
          <a:lstStyle/>
          <a:p>
            <a:pPr>
              <a:spcAft>
                <a:spcPts val="600"/>
              </a:spcAft>
            </a:pPr>
            <a:r>
              <a:rPr sz="1500" b="0">
                <a:solidFill>
                  <a:srgbClr val="282828"/>
                </a:solidFill>
                <a:latin typeface="Arial"/>
              </a:rPr>
              <a:t>•  How the arm enters: the metasurface converts one circular polarization with +90° and the other with −90°, so each image is of that polarization's own pupil field.  The engine's polarized ray trace of the arm gives both fields at every pixel; a real Jones matrix makes the channels differ in phase only, by the diattenuation times sin 2(axis − laser angle).</a:t>
            </a:r>
          </a:p>
          <a:p>
            <a:pPr>
              <a:spcAft>
                <a:spcPts val="600"/>
              </a:spcAft>
            </a:pPr>
            <a:r>
              <a:rPr sz="1500" b="0">
                <a:solidFill>
                  <a:srgbClr val="282828"/>
                </a:solidFill>
                <a:latin typeface="Arial"/>
              </a:rPr>
              <a:t>•  Design rule: specify the arm's pupil-varying diattenuation (0.1 rad rms of channel phase difference costs nothing through the matrix; 0.3 costs the grid row 2.6× and 10% of loop gain) and put the laser on the arm's dominant axis; a pupil-varying retardance the sensor calibrates from frames it takes anyway.</a:t>
            </a:r>
          </a:p>
        </p:txBody>
      </p:sp>
      <p:sp>
        <p:nvSpPr>
          <p:cNvPr id="6" name="TextBox 5"/>
          <p:cNvSpPr txBox="1"/>
          <p:nvPr/>
        </p:nvSpPr>
        <p:spPr>
          <a:xfrm>
            <a:off x="411480" y="6592824"/>
            <a:ext cx="11368735" cy="274320"/>
          </a:xfrm>
          <a:prstGeom prst="rect">
            <a:avLst/>
          </a:prstGeom>
          <a:noFill/>
        </p:spPr>
        <p:txBody>
          <a:bodyPr wrap="square">
            <a:spAutoFit/>
          </a:bodyPr>
          <a:lstStyle/>
          <a:p>
            <a:pPr>
              <a:spcAft>
                <a:spcPts val="600"/>
              </a:spcAft>
            </a:pPr>
            <a:r>
              <a:rPr sz="1050" b="0">
                <a:solidFill>
                  <a:srgbClr val="6E6E6E"/>
                </a:solidFill>
                <a:latin typeface="Arial"/>
              </a:rPr>
              <a:t>Astigmatic maps, rms over the pupil; 193 rays; the mask's own change with incidence angle is not modeled.  Records: zwfs_dm96 runs (the v2, v3arm, v3s and v3loop series); README V2 and V3.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Both instruments through the same loop</a:t>
            </a:r>
          </a:p>
          <a:p>
            <a:pPr>
              <a:spcAft>
                <a:spcPts val="0"/>
              </a:spcAft>
            </a:pPr>
            <a:r>
              <a:rPr sz="1250" b="0">
                <a:solidFill>
                  <a:srgbClr val="6E6E6E"/>
                </a:solidFill>
                <a:latin typeface="Arial"/>
              </a:rPr>
              <a:t>The interferometer holds the surface at twice the sensor's light but keeps a 9% fixed error; its reflective version cannot hold a 2 pm walk at all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2057400"/>
        </p:xfrm>
        <a:graphic>
          <a:graphicData uri="http://schemas.openxmlformats.org/drawingml/2006/table">
            <a:tbl>
              <a:tblPr firstRow="1" bandRow="1">
                <a:tableStyleId>{5C22544A-7EE6-4342-B048-85BDC9FD1C3A}</a:tableStyleId>
              </a:tblPr>
              <a:tblGrid>
                <a:gridCol w="2977188"/>
                <a:gridCol w="1889760"/>
                <a:gridCol w="1817116"/>
                <a:gridCol w="1889760"/>
                <a:gridCol w="2794911"/>
              </a:tblGrid>
              <a:tr h="468630">
                <a:tc>
                  <a:txBody>
                    <a:bodyPr wrap="square"/>
                    <a:lstStyle/>
                    <a:p>
                      <a:r>
                        <a:rPr sz="1100" b="1">
                          <a:solidFill>
                            <a:srgbClr val="FFFFFF"/>
                          </a:solidFill>
                          <a:latin typeface="Arial"/>
                        </a:rPr>
                        <a:t>held to 3 pm rms: photons per cycle</a:t>
                      </a:r>
                    </a:p>
                  </a:txBody>
                  <a:tcPr marL="54864" marR="54864" marT="18288" marB="18288">
                    <a:solidFill>
                      <a:srgbClr val="1F4E79"/>
                    </a:solidFill>
                  </a:tcPr>
                </a:tc>
                <a:tc>
                  <a:txBody>
                    <a:bodyPr wrap="square"/>
                    <a:lstStyle/>
                    <a:p>
                      <a:r>
                        <a:rPr sz="1100" b="1">
                          <a:solidFill>
                            <a:srgbClr val="FFFFFF"/>
                          </a:solidFill>
                          <a:latin typeface="Arial"/>
                        </a:rPr>
                        <a:t>ZWFS stepped (S)</a:t>
                      </a:r>
                    </a:p>
                  </a:txBody>
                  <a:tcPr marL="54864" marR="54864" marT="18288" marB="18288">
                    <a:solidFill>
                      <a:srgbClr val="1F4E79"/>
                    </a:solidFill>
                  </a:tcPr>
                </a:tc>
                <a:tc>
                  <a:txBody>
                    <a:bodyPr wrap="square"/>
                    <a:lstStyle/>
                    <a:p>
                      <a:r>
                        <a:rPr sz="1100" b="1">
                          <a:solidFill>
                            <a:srgbClr val="FFFFFF"/>
                          </a:solidFill>
                          <a:latin typeface="Arial"/>
                        </a:rPr>
                        <a:t>ZWFS polarized pair (V)</a:t>
                      </a:r>
                    </a:p>
                  </a:txBody>
                  <a:tcPr marL="54864" marR="54864" marT="18288" marB="18288">
                    <a:solidFill>
                      <a:srgbClr val="1F4E79"/>
                    </a:solidFill>
                  </a:tcPr>
                </a:tc>
                <a:tc>
                  <a:txBody>
                    <a:bodyPr wrap="square"/>
                    <a:lstStyle/>
                    <a:p>
                      <a:r>
                        <a:rPr sz="1100" b="1">
                          <a:solidFill>
                            <a:srgbClr val="FFFFFF"/>
                          </a:solidFill>
                          <a:latin typeface="Arial"/>
                        </a:rPr>
                        <a:t>interferometer, lens rig</a:t>
                      </a:r>
                    </a:p>
                  </a:txBody>
                  <a:tcPr marL="54864" marR="54864" marT="18288" marB="18288">
                    <a:solidFill>
                      <a:srgbClr val="1F4E79"/>
                    </a:solidFill>
                  </a:tcPr>
                </a:tc>
                <a:tc>
                  <a:txBody>
                    <a:bodyPr wrap="square"/>
                    <a:lstStyle/>
                    <a:p>
                      <a:r>
                        <a:rPr sz="1100" b="1">
                          <a:solidFill>
                            <a:srgbClr val="FFFFFF"/>
                          </a:solidFill>
                          <a:latin typeface="Arial"/>
                        </a:rPr>
                        <a:t>interferometer, reflective rig (bare aluminum)</a:t>
                      </a:r>
                    </a:p>
                  </a:txBody>
                  <a:tcPr marL="54864" marR="54864" marT="18288" marB="18288">
                    <a:solidFill>
                      <a:srgbClr val="1F4E79"/>
                    </a:solidFill>
                  </a:tcPr>
                </a:tc>
              </a:tr>
              <a:tr h="280035">
                <a:tc>
                  <a:txBody>
                    <a:bodyPr wrap="square"/>
                    <a:lstStyle/>
                    <a:p>
                      <a:r>
                        <a:rPr sz="1100" b="0">
                          <a:solidFill>
                            <a:srgbClr val="282828"/>
                          </a:solidFill>
                          <a:latin typeface="Arial"/>
                        </a:rPr>
                        <a:t>noise only</a:t>
                      </a:r>
                    </a:p>
                  </a:txBody>
                  <a:tcPr marL="54864" marR="54864" marT="18288" marB="18288">
                    <a:solidFill>
                      <a:srgbClr val="FFFFFF"/>
                    </a:solidFill>
                  </a:tcPr>
                </a:tc>
                <a:tc>
                  <a:txBody>
                    <a:bodyPr wrap="square"/>
                    <a:lstStyle/>
                    <a:p>
                      <a:r>
                        <a:rPr sz="1100" b="0">
                          <a:solidFill>
                            <a:srgbClr val="282828"/>
                          </a:solidFill>
                          <a:latin typeface="Arial"/>
                        </a:rPr>
                        <a:t>2.6×10¹²</a:t>
                      </a:r>
                    </a:p>
                  </a:txBody>
                  <a:tcPr marL="54864" marR="54864" marT="18288" marB="18288">
                    <a:solidFill>
                      <a:srgbClr val="FFFFFF"/>
                    </a:solidFill>
                  </a:tcPr>
                </a:tc>
                <a:tc>
                  <a:txBody>
                    <a:bodyPr wrap="square"/>
                    <a:lstStyle/>
                    <a:p>
                      <a:r>
                        <a:rPr sz="1100" b="0">
                          <a:solidFill>
                            <a:srgbClr val="282828"/>
                          </a:solidFill>
                          <a:latin typeface="Arial"/>
                        </a:rPr>
                        <a:t>1.5×10¹²</a:t>
                      </a:r>
                    </a:p>
                  </a:txBody>
                  <a:tcPr marL="54864" marR="54864" marT="18288" marB="18288">
                    <a:solidFill>
                      <a:srgbClr val="FFFFFF"/>
                    </a:solidFill>
                  </a:tcPr>
                </a:tc>
                <a:tc>
                  <a:txBody>
                    <a:bodyPr wrap="square"/>
                    <a:lstStyle/>
                    <a:p>
                      <a:r>
                        <a:rPr sz="1100" b="0">
                          <a:solidFill>
                            <a:srgbClr val="282828"/>
                          </a:solidFill>
                          <a:latin typeface="Arial"/>
                        </a:rPr>
                        <a:t>5.5×10¹²</a:t>
                      </a:r>
                    </a:p>
                  </a:txBody>
                  <a:tcPr marL="54864" marR="54864" marT="18288" marB="18288">
                    <a:solidFill>
                      <a:srgbClr val="FFFFFF"/>
                    </a:solidFill>
                  </a:tcPr>
                </a:tc>
                <a:tc>
                  <a:txBody>
                    <a:bodyPr wrap="square"/>
                    <a:lstStyle/>
                    <a:p>
                      <a:r>
                        <a:rPr sz="1100" b="0">
                          <a:solidFill>
                            <a:srgbClr val="282828"/>
                          </a:solidFill>
                          <a:latin typeface="Arial"/>
                        </a:rPr>
                        <a:t>3.4×10¹³</a:t>
                      </a:r>
                    </a:p>
                  </a:txBody>
                  <a:tcPr marL="54864" marR="54864" marT="18288" marB="18288">
                    <a:solidFill>
                      <a:srgbClr val="FFFFFF"/>
                    </a:solidFill>
                  </a:tcPr>
                </a:tc>
              </a:tr>
              <a:tr h="280035">
                <a:tc>
                  <a:txBody>
                    <a:bodyPr wrap="square"/>
                    <a:lstStyle/>
                    <a:p>
                      <a:r>
                        <a:rPr sz="1100" b="0">
                          <a:solidFill>
                            <a:srgbClr val="282828"/>
                          </a:solidFill>
                          <a:latin typeface="Arial"/>
                        </a:rPr>
                        <a:t>random walk, 2 pm per cycle</a:t>
                      </a:r>
                    </a:p>
                  </a:txBody>
                  <a:tcPr marL="54864" marR="54864" marT="18288" marB="18288">
                    <a:solidFill>
                      <a:srgbClr val="ECF1F6"/>
                    </a:solidFill>
                  </a:tcPr>
                </a:tc>
                <a:tc>
                  <a:txBody>
                    <a:bodyPr wrap="square"/>
                    <a:lstStyle/>
                    <a:p>
                      <a:r>
                        <a:rPr sz="1100" b="0">
                          <a:solidFill>
                            <a:srgbClr val="282828"/>
                          </a:solidFill>
                          <a:latin typeface="Arial"/>
                        </a:rPr>
                        <a:t>7.5×10¹²</a:t>
                      </a:r>
                    </a:p>
                  </a:txBody>
                  <a:tcPr marL="54864" marR="54864" marT="18288" marB="18288">
                    <a:solidFill>
                      <a:srgbClr val="ECF1F6"/>
                    </a:solidFill>
                  </a:tcPr>
                </a:tc>
                <a:tc>
                  <a:txBody>
                    <a:bodyPr wrap="square"/>
                    <a:lstStyle/>
                    <a:p>
                      <a:r>
                        <a:rPr sz="1100" b="0">
                          <a:solidFill>
                            <a:srgbClr val="282828"/>
                          </a:solidFill>
                          <a:latin typeface="Arial"/>
                        </a:rPr>
                        <a:t>5.3×10¹²</a:t>
                      </a:r>
                    </a:p>
                  </a:txBody>
                  <a:tcPr marL="54864" marR="54864" marT="18288" marB="18288">
                    <a:solidFill>
                      <a:srgbClr val="ECF1F6"/>
                    </a:solidFill>
                  </a:tcPr>
                </a:tc>
                <a:tc>
                  <a:txBody>
                    <a:bodyPr wrap="square"/>
                    <a:lstStyle/>
                    <a:p>
                      <a:r>
                        <a:rPr sz="1100" b="0">
                          <a:solidFill>
                            <a:srgbClr val="282828"/>
                          </a:solidFill>
                          <a:latin typeface="Arial"/>
                        </a:rPr>
                        <a:t>2.0×10¹³</a:t>
                      </a:r>
                    </a:p>
                  </a:txBody>
                  <a:tcPr marL="54864" marR="54864" marT="18288" marB="18288">
                    <a:solidFill>
                      <a:srgbClr val="ECF1F6"/>
                    </a:solidFill>
                  </a:tcPr>
                </a:tc>
                <a:tc>
                  <a:txBody>
                    <a:bodyPr wrap="square"/>
                    <a:lstStyle/>
                    <a:p>
                      <a:r>
                        <a:rPr sz="1100" b="0">
                          <a:solidFill>
                            <a:srgbClr val="282828"/>
                          </a:solidFill>
                          <a:latin typeface="Arial"/>
                        </a:rPr>
                        <a:t>never (4.1 pm floor)</a:t>
                      </a:r>
                    </a:p>
                  </a:txBody>
                  <a:tcPr marL="54864" marR="54864" marT="18288" marB="18288">
                    <a:solidFill>
                      <a:srgbClr val="ECF1F6"/>
                    </a:solidFill>
                  </a:tcPr>
                </a:tc>
              </a:tr>
              <a:tr h="280035">
                <a:tc>
                  <a:txBody>
                    <a:bodyPr wrap="square"/>
                    <a:lstStyle/>
                    <a:p>
                      <a:r>
                        <a:rPr sz="1100" b="0">
                          <a:solidFill>
                            <a:srgbClr val="282828"/>
                          </a:solidFill>
                          <a:latin typeface="Arial"/>
                        </a:rPr>
                        <a:t>thermal ramp, 5 pm per cycle</a:t>
                      </a:r>
                    </a:p>
                  </a:txBody>
                  <a:tcPr marL="54864" marR="54864" marT="18288" marB="18288">
                    <a:solidFill>
                      <a:srgbClr val="FFFFFF"/>
                    </a:solidFill>
                  </a:tcPr>
                </a:tc>
                <a:tc>
                  <a:txBody>
                    <a:bodyPr wrap="square"/>
                    <a:lstStyle/>
                    <a:p>
                      <a:r>
                        <a:rPr sz="1100" b="0">
                          <a:solidFill>
                            <a:srgbClr val="282828"/>
                          </a:solidFill>
                          <a:latin typeface="Arial"/>
                        </a:rPr>
                        <a:t>10.0 pm (the loop's lag)</a:t>
                      </a:r>
                    </a:p>
                  </a:txBody>
                  <a:tcPr marL="54864" marR="54864" marT="18288" marB="18288">
                    <a:solidFill>
                      <a:srgbClr val="FFFFFF"/>
                    </a:solidFill>
                  </a:tcPr>
                </a:tc>
                <a:tc>
                  <a:txBody>
                    <a:bodyPr wrap="square"/>
                    <a:lstStyle/>
                    <a:p>
                      <a:r>
                        <a:rPr sz="1100" b="0">
                          <a:solidFill>
                            <a:srgbClr val="282828"/>
                          </a:solidFill>
                          <a:latin typeface="Arial"/>
                        </a:rPr>
                        <a:t>9.9 pm</a:t>
                      </a:r>
                    </a:p>
                  </a:txBody>
                  <a:tcPr marL="54864" marR="54864" marT="18288" marB="18288">
                    <a:solidFill>
                      <a:srgbClr val="FFFFFF"/>
                    </a:solidFill>
                  </a:tcPr>
                </a:tc>
                <a:tc>
                  <a:txBody>
                    <a:bodyPr wrap="square"/>
                    <a:lstStyle/>
                    <a:p>
                      <a:r>
                        <a:rPr sz="1100" b="0">
                          <a:solidFill>
                            <a:srgbClr val="282828"/>
                          </a:solidFill>
                          <a:latin typeface="Arial"/>
                        </a:rPr>
                        <a:t>13.1 pm</a:t>
                      </a:r>
                    </a:p>
                  </a:txBody>
                  <a:tcPr marL="54864" marR="54864" marT="18288" marB="18288">
                    <a:solidFill>
                      <a:srgbClr val="FFFFFF"/>
                    </a:solidFill>
                  </a:tcPr>
                </a:tc>
                <a:tc>
                  <a:txBody>
                    <a:bodyPr wrap="square"/>
                    <a:lstStyle/>
                    <a:p>
                      <a:r>
                        <a:rPr sz="1100" b="0">
                          <a:solidFill>
                            <a:srgbClr val="282828"/>
                          </a:solidFill>
                          <a:latin typeface="Arial"/>
                        </a:rPr>
                        <a:t>39 pm</a:t>
                      </a:r>
                    </a:p>
                  </a:txBody>
                  <a:tcPr marL="54864" marR="54864" marT="18288" marB="18288">
                    <a:solidFill>
                      <a:srgbClr val="FFFFFF"/>
                    </a:solidFill>
                  </a:tcPr>
                </a:tc>
              </a:tr>
              <a:tr h="280035">
                <a:tc>
                  <a:txBody>
                    <a:bodyPr wrap="square"/>
                    <a:lstStyle/>
                    <a:p>
                      <a:r>
                        <a:rPr sz="1100" b="0">
                          <a:solidFill>
                            <a:srgbClr val="282828"/>
                          </a:solidFill>
                          <a:latin typeface="Arial"/>
                        </a:rPr>
                        <a:t>noise-free 1 nm step, after 60 cycles</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c>
                  <a:txBody>
                    <a:bodyPr wrap="square"/>
                    <a:lstStyle/>
                    <a:p>
                      <a:r>
                        <a:rPr sz="1100" b="0">
                          <a:solidFill>
                            <a:srgbClr val="282828"/>
                          </a:solidFill>
                          <a:latin typeface="Arial"/>
                        </a:rPr>
                        <a:t>87 pm, rising</a:t>
                      </a:r>
                    </a:p>
                  </a:txBody>
                  <a:tcPr marL="54864" marR="54864" marT="18288" marB="18288">
                    <a:solidFill>
                      <a:srgbClr val="ECF1F6"/>
                    </a:solidFill>
                  </a:tcPr>
                </a:tc>
                <a:tc>
                  <a:txBody>
                    <a:bodyPr wrap="square"/>
                    <a:lstStyle/>
                    <a:p>
                      <a:r>
                        <a:rPr sz="1100" b="0">
                          <a:solidFill>
                            <a:srgbClr val="282828"/>
                          </a:solidFill>
                          <a:latin typeface="Arial"/>
                        </a:rPr>
                        <a:t>276 pm</a:t>
                      </a:r>
                    </a:p>
                  </a:txBody>
                  <a:tcPr marL="54864" marR="54864" marT="18288" marB="18288">
                    <a:solidFill>
                      <a:srgbClr val="ECF1F6"/>
                    </a:solidFill>
                  </a:tcPr>
                </a:tc>
              </a:tr>
              <a:tr h="468630">
                <a:tc>
                  <a:txBody>
                    <a:bodyPr wrap="square"/>
                    <a:lstStyle/>
                    <a:p>
                      <a:r>
                        <a:rPr sz="1100" b="0">
                          <a:solidFill>
                            <a:srgbClr val="282828"/>
                          </a:solidFill>
                          <a:latin typeface="Arial"/>
                        </a:rPr>
                        <a:t>single-shot noise at 10¹² photons per measurement</a:t>
                      </a:r>
                    </a:p>
                  </a:txBody>
                  <a:tcPr marL="54864" marR="54864" marT="18288" marB="18288">
                    <a:solidFill>
                      <a:srgbClr val="FFFFFF"/>
                    </a:solidFill>
                  </a:tcPr>
                </a:tc>
                <a:tc>
                  <a:txBody>
                    <a:bodyPr wrap="square"/>
                    <a:lstStyle/>
                    <a:p>
                      <a:r>
                        <a:rPr sz="1100" b="0">
                          <a:solidFill>
                            <a:srgbClr val="282828"/>
                          </a:solidFill>
                          <a:latin typeface="Arial"/>
                        </a:rPr>
                        <a:t>8.2 pm</a:t>
                      </a:r>
                    </a:p>
                  </a:txBody>
                  <a:tcPr marL="54864" marR="54864" marT="18288" marB="18288">
                    <a:solidFill>
                      <a:srgbClr val="FFFFFF"/>
                    </a:solidFill>
                  </a:tcPr>
                </a:tc>
                <a:tc>
                  <a:txBody>
                    <a:bodyPr wrap="square"/>
                    <a:lstStyle/>
                    <a:p>
                      <a:r>
                        <a:rPr sz="1100" b="0">
                          <a:solidFill>
                            <a:srgbClr val="282828"/>
                          </a:solidFill>
                          <a:latin typeface="Arial"/>
                        </a:rPr>
                        <a:t>6.4 pm</a:t>
                      </a:r>
                    </a:p>
                  </a:txBody>
                  <a:tcPr marL="54864" marR="54864" marT="18288" marB="18288">
                    <a:solidFill>
                      <a:srgbClr val="FFFFFF"/>
                    </a:solidFill>
                  </a:tcPr>
                </a:tc>
                <a:tc>
                  <a:txBody>
                    <a:bodyPr wrap="square"/>
                    <a:lstStyle/>
                    <a:p>
                      <a:r>
                        <a:rPr sz="1100" b="0">
                          <a:solidFill>
                            <a:srgbClr val="282828"/>
                          </a:solidFill>
                          <a:latin typeface="Arial"/>
                        </a:rPr>
                        <a:t>12.0 pm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bl>
          </a:graphicData>
        </a:graphic>
      </p:graphicFrame>
      <p:sp>
        <p:nvSpPr>
          <p:cNvPr id="5" name="TextBox 4"/>
          <p:cNvSpPr txBox="1"/>
          <p:nvPr/>
        </p:nvSpPr>
        <p:spPr>
          <a:xfrm>
            <a:off x="411480" y="3502152"/>
            <a:ext cx="11368735" cy="274320"/>
          </a:xfrm>
          <a:prstGeom prst="rect">
            <a:avLst/>
          </a:prstGeom>
          <a:noFill/>
        </p:spPr>
        <p:txBody>
          <a:bodyPr wrap="square">
            <a:spAutoFit/>
          </a:bodyPr>
          <a:lstStyle/>
          <a:p>
            <a:pPr>
              <a:spcAft>
                <a:spcPts val="600"/>
              </a:spcAft>
            </a:pPr>
            <a:r>
              <a:rPr sz="1500" b="0">
                <a:solidFill>
                  <a:srgbClr val="282828"/>
                </a:solidFill>
                <a:latin typeface="Arial"/>
              </a:rPr>
              <a:t>•  Same loop code, same drift realization, same scoring (dm_gauge_lib/dmg_loop; the interferometer rows by CCMac).  The loop propagates noise as theory says on every instrument, so the light each needs follows from its single-shot noise: the interferometer's four-step reading is about 1.5× noisier per photon than the sensor's stepped reading, about twice the photons.</a:t>
            </a:r>
          </a:p>
          <a:p>
            <a:pPr>
              <a:spcAft>
                <a:spcPts val="600"/>
              </a:spcAft>
            </a:pPr>
            <a:r>
              <a:rPr sz="1500" b="0">
                <a:solidFill>
                  <a:srgbClr val="282828"/>
                </a:solidFill>
                <a:latin typeface="Arial"/>
              </a:rPr>
              <a:t>•  The fixed error is the difference. The sensor's stepped and polarized readings return to zero after a step; the interferometer keeps about 9% of any change (its fine-pattern roll-off and cross-talk, now in closed loop), so it behaves like the sensor's linear reading, not its stepped one.  The reflective interferometer's remaining fold cross-talk (0.18 open-loop, once the ideal-reflector artifact was removed with bare aluminum) becomes a hard wall in hold mode: the 2 pm walk is never held to 3 pm.  Open-loop batteries could not make that distinction.</a:t>
            </a:r>
          </a:p>
        </p:txBody>
      </p:sp>
      <p:sp>
        <p:nvSpPr>
          <p:cNvPr id="6" name="TextBox 5"/>
          <p:cNvSpPr txBox="1"/>
          <p:nvPr/>
        </p:nvSpPr>
        <p:spPr>
          <a:xfrm>
            <a:off x="411480" y="6047994"/>
            <a:ext cx="11368735" cy="274320"/>
          </a:xfrm>
          <a:prstGeom prst="rect">
            <a:avLst/>
          </a:prstGeom>
          <a:noFill/>
        </p:spPr>
        <p:txBody>
          <a:bodyPr wrap="square">
            <a:spAutoFit/>
          </a:bodyPr>
          <a:lstStyle/>
          <a:p>
            <a:pPr>
              <a:spcAft>
                <a:spcPts val="600"/>
              </a:spcAft>
            </a:pPr>
            <a:r>
              <a:rPr sz="1050" b="0">
                <a:solidFill>
                  <a:srgbClr val="6E6E6E"/>
                </a:solidFill>
                <a:latin typeface="Arial"/>
              </a:rPr>
              <a:t>Sensor rows: zwfs_dm96 runs/loop193, vloop193.  Interferometer rows: tg_psi_dm96_oap runs/loop_lens, loop_oap (bare aluminum on both OAPs; the ideal-reflector null was an idealization, its exactly-zero retardance variation).  All at gain 0.5, 60 cycles, matrix measured on the 30 nm working surface.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sheet and one script reproduce every number here; the defaults reproduce the stage-7 record to the last printed digit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Two files: zwfs_params.m returns every setting at its value of record — grid and ray count, wavelength, the bench's lengths and tuned figures, the mask's etch and spot, the sampling checks, registration, the DM sizes, the test amplitudes and seeds, the color and photon stages.  zwfs_run.m runs the chosen stages and writes the report, a .mat file and the figures into a folder named by the run's tag.</a:t>
            </a:r>
          </a:p>
        </p:txBody>
      </p:sp>
      <p:graphicFrame>
        <p:nvGraphicFramePr>
          <p:cNvPr id="5" name="Table 4"/>
          <p:cNvGraphicFramePr>
            <a:graphicFrameLocks noGrp="1"/>
          </p:cNvGraphicFramePr>
          <p:nvPr/>
        </p:nvGraphicFramePr>
        <p:xfrm>
          <a:off x="411480" y="2465831"/>
          <a:ext cx="11368735" cy="1680210"/>
        </p:xfrm>
        <a:graphic>
          <a:graphicData uri="http://schemas.openxmlformats.org/drawingml/2006/table">
            <a:tbl>
              <a:tblPr firstRow="1" bandRow="1">
                <a:tableStyleId>{5C22544A-7EE6-4342-B048-85BDC9FD1C3A}</a:tableStyleId>
              </a:tblPr>
              <a:tblGrid>
                <a:gridCol w="6601201"/>
                <a:gridCol w="4767534"/>
              </a:tblGrid>
              <a:tr h="280035">
                <a:tc>
                  <a:txBody>
                    <a:bodyPr wrap="square"/>
                    <a:lstStyle/>
                    <a:p>
                      <a:r>
                        <a:rPr sz="1100" b="1">
                          <a:solidFill>
                            <a:srgbClr val="FFFFFF"/>
                          </a:solidFill>
                          <a:latin typeface="Arial"/>
                        </a:rPr>
                        <a:t>call</a:t>
                      </a:r>
                    </a:p>
                  </a:txBody>
                  <a:tcPr marL="54864" marR="54864" marT="18288" marB="18288">
                    <a:solidFill>
                      <a:srgbClr val="1F4E79"/>
                    </a:solidFill>
                  </a:tcPr>
                </a:tc>
                <a:tc>
                  <a:txBody>
                    <a:bodyPr wrap="square"/>
                    <a:lstStyle/>
                    <a:p>
                      <a:r>
                        <a:rPr sz="1100" b="1">
                          <a:solidFill>
                            <a:srgbClr val="FFFFFF"/>
                          </a:solidFill>
                          <a:latin typeface="Arial"/>
                        </a:rPr>
                        <a:t>what it does</a:t>
                      </a:r>
                    </a:p>
                  </a:txBody>
                  <a:tcPr marL="54864" marR="54864" marT="18288" marB="18288">
                    <a:solidFill>
                      <a:srgbClr val="1F4E79"/>
                    </a:solidFill>
                  </a:tcPr>
                </a:tc>
              </a:tr>
              <a:tr h="280035">
                <a:tc>
                  <a:txBody>
                    <a:bodyPr wrap="square"/>
                    <a:lstStyle/>
                    <a:p>
                      <a:r>
                        <a:rPr sz="1100" b="0">
                          <a:solidFill>
                            <a:srgbClr val="282828"/>
                          </a:solidFill>
                          <a:latin typeface="Arial"/>
                        </a:rPr>
                        <a:t>zwfs_run</a:t>
                      </a:r>
                    </a:p>
                  </a:txBody>
                  <a:tcPr marL="54864" marR="54864" marT="18288" marB="18288">
                    <a:solidFill>
                      <a:srgbClr val="FFFFFF"/>
                    </a:solidFill>
                  </a:tcPr>
                </a:tc>
                <a:tc>
                  <a:txBody>
                    <a:bodyPr wrap="square"/>
                    <a:lstStyle/>
                    <a:p>
                      <a:r>
                        <a:rPr sz="1100" b="0">
                          <a:solidFill>
                            <a:srgbClr val="282828"/>
                          </a:solidFill>
                          <a:latin typeface="Arial"/>
                        </a:rPr>
                        <a:t>the record: bench checks, the full test set, figures</a:t>
                      </a:r>
                    </a:p>
                  </a:txBody>
                  <a:tcPr marL="54864" marR="54864" marT="18288" marB="18288">
                    <a:solidFill>
                      <a:srgbClr val="FFFFFF"/>
                    </a:solidFill>
                  </a:tcPr>
                </a:tc>
              </a:tr>
              <a:tr h="280035">
                <a:tc>
                  <a:txBody>
                    <a:bodyPr wrap="square"/>
                    <a:lstStyle/>
                    <a:p>
                      <a:r>
                        <a:rPr sz="1100" b="0">
                          <a:solidFill>
                            <a:srgbClr val="282828"/>
                          </a:solidFill>
                          <a:latin typeface="Arial"/>
                        </a:rPr>
                        <a:t>zwfs_run('tag','ng385', 'NGRID',385)</a:t>
                      </a:r>
                    </a:p>
                  </a:txBody>
                  <a:tcPr marL="54864" marR="54864" marT="18288" marB="18288">
                    <a:solidFill>
                      <a:srgbClr val="ECF1F6"/>
                    </a:solidFill>
                  </a:tcPr>
                </a:tc>
                <a:tc>
                  <a:txBody>
                    <a:bodyPr wrap="square"/>
                    <a:lstStyle/>
                    <a:p>
                      <a:r>
                        <a:rPr sz="1100" b="0">
                          <a:solidFill>
                            <a:srgbClr val="282828"/>
                          </a:solidFill>
                          <a:latin typeface="Arial"/>
                        </a:rPr>
                        <a:t>the 1-megapixel camera</a:t>
                      </a:r>
                    </a:p>
                  </a:txBody>
                  <a:tcPr marL="54864" marR="54864" marT="18288" marB="18288">
                    <a:solidFill>
                      <a:srgbClr val="ECF1F6"/>
                    </a:solidFill>
                  </a:tcPr>
                </a:tc>
              </a:tr>
              <a:tr h="280035">
                <a:tc>
                  <a:txBody>
                    <a:bodyPr wrap="square"/>
                    <a:lstStyle/>
                    <a:p>
                      <a:r>
                        <a:rPr sz="1100" b="0">
                          <a:solidFill>
                            <a:srgbClr val="282828"/>
                          </a:solidFill>
                          <a:latin typeface="Arial"/>
                        </a:rPr>
                        <a:t>zwfs_run('MODEL',2048, 'NGRID',385, 'param_file','macos_param_2048.txt')</a:t>
                      </a:r>
                    </a:p>
                  </a:txBody>
                  <a:tcPr marL="54864" marR="54864" marT="18288" marB="18288">
                    <a:solidFill>
                      <a:srgbClr val="FFFFFF"/>
                    </a:solidFill>
                  </a:tcPr>
                </a:tc>
                <a:tc>
                  <a:txBody>
                    <a:bodyPr wrap="square"/>
                    <a:lstStyle/>
                    <a:p>
                      <a:r>
                        <a:rPr sz="1100" b="0">
                          <a:solidFill>
                            <a:srgbClr val="282828"/>
                          </a:solidFill>
                          <a:latin typeface="Arial"/>
                        </a:rPr>
                        <a:t>the fully sampled setup on a 30 GB machine</a:t>
                      </a:r>
                    </a:p>
                  </a:txBody>
                  <a:tcPr marL="54864" marR="54864" marT="18288" marB="18288">
                    <a:solidFill>
                      <a:srgbClr val="FFFFFF"/>
                    </a:solidFill>
                  </a:tcPr>
                </a:tc>
              </a:tr>
              <a:tr h="280035">
                <a:tc>
                  <a:txBody>
                    <a:bodyPr wrap="square"/>
                    <a:lstStyle/>
                    <a:p>
                      <a:r>
                        <a:rPr sz="1100" b="0">
                          <a:solidFill>
                            <a:srgbClr val="282828"/>
                          </a:solidFill>
                          <a:latin typeface="Arial"/>
                        </a:rPr>
                        <a:t>zwfs_run('stages',{'battery','color','noise','figs'})</a:t>
                      </a:r>
                    </a:p>
                  </a:txBody>
                  <a:tcPr marL="54864" marR="54864" marT="18288" marB="18288">
                    <a:solidFill>
                      <a:srgbClr val="ECF1F6"/>
                    </a:solidFill>
                  </a:tcPr>
                </a:tc>
                <a:tc>
                  <a:txBody>
                    <a:bodyPr wrap="square"/>
                    <a:lstStyle/>
                    <a:p>
                      <a:r>
                        <a:rPr sz="1100" b="0">
                          <a:solidFill>
                            <a:srgbClr val="282828"/>
                          </a:solidFill>
                          <a:latin typeface="Arial"/>
                        </a:rPr>
                        <a:t>everything on this deck's later slides</a:t>
                      </a:r>
                    </a:p>
                  </a:txBody>
                  <a:tcPr marL="54864" marR="54864" marT="18288" marB="18288">
                    <a:solidFill>
                      <a:srgbClr val="ECF1F6"/>
                    </a:solidFill>
                  </a:tcPr>
                </a:tc>
              </a:tr>
              <a:tr h="280035">
                <a:tc>
                  <a:txBody>
                    <a:bodyPr wrap="square"/>
                    <a:lstStyle/>
                    <a:p>
                      <a:r>
                        <a:rPr sz="1100" b="0">
                          <a:solidFill>
                            <a:srgbClr val="282828"/>
                          </a:solidFill>
                          <a:latin typeface="Arial"/>
                        </a:rPr>
                        <a:t>./zwfs_batch.sh TAG "the same arguments"</a:t>
                      </a:r>
                    </a:p>
                  </a:txBody>
                  <a:tcPr marL="54864" marR="54864" marT="18288" marB="18288">
                    <a:solidFill>
                      <a:srgbClr val="FFFFFF"/>
                    </a:solidFill>
                  </a:tcPr>
                </a:tc>
                <a:tc>
                  <a:txBody>
                    <a:bodyPr wrap="square"/>
                    <a:lstStyle/>
                    <a:p>
                      <a:r>
                        <a:rPr sz="1100" b="0">
                          <a:solidFill>
                            <a:srgbClr val="282828"/>
                          </a:solidFill>
                          <a:latin typeface="Arial"/>
                        </a:rPr>
                        <a:t>unattended, memory-capped, logged</a:t>
                      </a:r>
                    </a:p>
                  </a:txBody>
                  <a:tcPr marL="54864" marR="54864" marT="18288" marB="18288">
                    <a:solidFill>
                      <a:srgbClr val="FFFFFF"/>
                    </a:solidFill>
                  </a:tcPr>
                </a:tc>
              </a:tr>
            </a:tbl>
          </a:graphicData>
        </a:graphic>
      </p:graphicFrame>
      <p:sp>
        <p:nvSpPr>
          <p:cNvPr id="6" name="TextBox 5"/>
          <p:cNvSpPr txBox="1"/>
          <p:nvPr/>
        </p:nvSpPr>
        <p:spPr>
          <a:xfrm>
            <a:off x="411480" y="4292346"/>
            <a:ext cx="11368735" cy="274320"/>
          </a:xfrm>
          <a:prstGeom prst="rect">
            <a:avLst/>
          </a:prstGeom>
          <a:noFill/>
        </p:spPr>
        <p:txBody>
          <a:bodyPr wrap="square">
            <a:spAutoFit/>
          </a:bodyPr>
          <a:lstStyle/>
          <a:p>
            <a:pPr>
              <a:spcAft>
                <a:spcPts val="600"/>
              </a:spcAft>
            </a:pPr>
            <a:r>
              <a:rPr sz="1500" b="0">
                <a:solidFill>
                  <a:srgbClr val="282828"/>
                </a:solidFill>
                <a:latin typeface="Arial"/>
              </a:rPr>
              <a:t>•  Checks that run every time: the no-mask round trip through the bracket (must return the field unchanged); the reference-wave model against the engine's own field; the pupil brightness must not change with the DM shape; the sampling checks (pixels across the dimple, camera pixels per actuator); and the search for the camera-to-DM mirror/transpose and sign.</a:t>
            </a:r>
          </a:p>
        </p:txBody>
      </p:sp>
      <p:sp>
        <p:nvSpPr>
          <p:cNvPr id="7" name="TextBox 6"/>
          <p:cNvSpPr txBox="1"/>
          <p:nvPr/>
        </p:nvSpPr>
        <p:spPr>
          <a:xfrm>
            <a:off x="411480" y="5459730"/>
            <a:ext cx="11368735" cy="274320"/>
          </a:xfrm>
          <a:prstGeom prst="rect">
            <a:avLst/>
          </a:prstGeom>
          <a:noFill/>
        </p:spPr>
        <p:txBody>
          <a:bodyPr wrap="square">
            <a:spAutoFit/>
          </a:bodyPr>
          <a:lstStyle/>
          <a:p>
            <a:pPr>
              <a:spcAft>
                <a:spcPts val="600"/>
              </a:spcAft>
            </a:pPr>
            <a:r>
              <a:rPr sz="1050" b="0">
                <a:solidFill>
                  <a:srgbClr val="6E6E6E"/>
                </a:solidFill>
                <a:latin typeface="Arial"/>
              </a:rPr>
              <a:t>Reproduction check: 64 lines of results against the stage-7 report, 8 differ in the last printed digit (the actuator fit's solver tolerance).  README "Run it yourself" carries the parameter table.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Side by side with the Twyman–Green</a:t>
            </a:r>
          </a:p>
          <a:p>
            <a:pPr>
              <a:spcAft>
                <a:spcPts val="0"/>
              </a:spcAft>
            </a:pPr>
            <a:r>
              <a:rPr sz="1250" b="0">
                <a:solidFill>
                  <a:srgbClr val="6E6E6E"/>
                </a:solidFill>
                <a:latin typeface="Arial"/>
              </a:rPr>
              <a:t>The interferometer loses response at fine patterns and never fails; the sensor, calibrated on its working surface, reads a change to 5 pm up to 50–60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303395"/>
        </p:xfrm>
        <a:graphic>
          <a:graphicData uri="http://schemas.openxmlformats.org/drawingml/2006/table">
            <a:tbl>
              <a:tblPr firstRow="1" bandRow="1">
                <a:tableStyleId>{5C22544A-7EE6-4342-B048-85BDC9FD1C3A}</a:tableStyleId>
              </a:tblPr>
              <a:tblGrid>
                <a:gridCol w="3531564"/>
                <a:gridCol w="2418879"/>
                <a:gridCol w="5418290"/>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Twyman–Green PSI (measured)</a:t>
                      </a:r>
                    </a:p>
                  </a:txBody>
                  <a:tcPr marL="54864" marR="54864" marT="18288" marB="18288">
                    <a:solidFill>
                      <a:srgbClr val="1F4E79"/>
                    </a:solidFill>
                  </a:tcPr>
                </a:tc>
                <a:tc>
                  <a:txBody>
                    <a:bodyPr wrap="square"/>
                    <a:lstStyle/>
                    <a:p>
                      <a:r>
                        <a:rPr sz="1100" b="1">
                          <a:solidFill>
                            <a:srgbClr val="FFFFFF"/>
                          </a:solidFill>
                          <a:latin typeface="Arial"/>
                        </a:rPr>
                        <a:t>Zernike sensor (measured)</a:t>
                      </a:r>
                    </a:p>
                  </a:txBody>
                  <a:tcPr marL="54864" marR="54864" marT="18288" marB="18288">
                    <a:solidFill>
                      <a:srgbClr val="1F4E79"/>
                    </a:solidFill>
                  </a:tcPr>
                </a:tc>
              </a:tr>
              <a:tr h="280035">
                <a:tc>
                  <a:txBody>
                    <a:bodyPr wrap="square"/>
                    <a:lstStyle/>
                    <a:p>
                      <a:r>
                        <a:rPr sz="1100" b="0">
                          <a:solidFill>
                            <a:srgbClr val="282828"/>
                          </a:solidFill>
                          <a:latin typeface="Arial"/>
                        </a:rPr>
                        <a:t>reference beam</a:t>
                      </a:r>
                    </a:p>
                  </a:txBody>
                  <a:tcPr marL="54864" marR="54864" marT="18288" marB="18288">
                    <a:solidFill>
                      <a:srgbClr val="FFFFFF"/>
                    </a:solidFill>
                  </a:tcPr>
                </a:tc>
                <a:tc>
                  <a:txBody>
                    <a:bodyPr wrap="square"/>
                    <a:lstStyle/>
                    <a:p>
                      <a:r>
                        <a:rPr sz="1100" b="0">
                          <a:solidFill>
                            <a:srgbClr val="282828"/>
                          </a:solidFill>
                          <a:latin typeface="Arial"/>
                        </a:rPr>
                        <a:t>the second arm's flat</a:t>
                      </a:r>
                    </a:p>
                  </a:txBody>
                  <a:tcPr marL="54864" marR="54864" marT="18288" marB="18288">
                    <a:solidFill>
                      <a:srgbClr val="FFFFFF"/>
                    </a:solidFill>
                  </a:tcPr>
                </a:tc>
                <a:tc>
                  <a:txBody>
                    <a:bodyPr wrap="square"/>
                    <a:lstStyle/>
                    <a:p>
                      <a:r>
                        <a:rPr sz="1100" b="0">
                          <a:solidFill>
                            <a:srgbClr val="282828"/>
                          </a:solidFill>
                          <a:latin typeface="Arial"/>
                        </a:rPr>
                        <a:t>made from the beam's own focal core</a:t>
                      </a:r>
                    </a:p>
                  </a:txBody>
                  <a:tcPr marL="54864" marR="54864" marT="18288" marB="18288">
                    <a:solidFill>
                      <a:srgbClr val="FFFFFF"/>
                    </a:solidFill>
                  </a:tcPr>
                </a:tc>
              </a:tr>
              <a:tr h="468630">
                <a:tc>
                  <a:txBody>
                    <a:bodyPr wrap="square"/>
                    <a:lstStyle/>
                    <a:p>
                      <a:r>
                        <a:rPr sz="1100" b="0">
                          <a:solidFill>
                            <a:srgbClr val="282828"/>
                          </a:solidFill>
                          <a:latin typeface="Arial"/>
                        </a:rPr>
                        <a:t>one measurement costs</a:t>
                      </a:r>
                    </a:p>
                  </a:txBody>
                  <a:tcPr marL="54864" marR="54864" marT="18288" marB="18288">
                    <a:solidFill>
                      <a:srgbClr val="ECF1F6"/>
                    </a:solidFill>
                  </a:tcPr>
                </a:tc>
                <a:tc>
                  <a:txBody>
                    <a:bodyPr wrap="square"/>
                    <a:lstStyle/>
                    <a:p>
                      <a:r>
                        <a:rPr sz="1100" b="0">
                          <a:solidFill>
                            <a:srgbClr val="282828"/>
                          </a:solidFill>
                          <a:latin typeface="Arial"/>
                        </a:rPr>
                        <a:t>6 traces (3 per arm), 4 fringe frames</a:t>
                      </a:r>
                    </a:p>
                  </a:txBody>
                  <a:tcPr marL="54864" marR="54864" marT="18288" marB="18288">
                    <a:solidFill>
                      <a:srgbClr val="ECF1F6"/>
                    </a:solidFill>
                  </a:tcPr>
                </a:tc>
                <a:tc>
                  <a:txBody>
                    <a:bodyPr wrap="square"/>
                    <a:lstStyle/>
                    <a:p>
                      <a:r>
                        <a:rPr sz="1100" b="0">
                          <a:solidFill>
                            <a:srgbClr val="282828"/>
                          </a:solidFill>
                          <a:latin typeface="Arial"/>
                        </a:rPr>
                        <a:t>1 or 4 camera frames; 256 calibration frames once per working surface</a:t>
                      </a:r>
                    </a:p>
                  </a:txBody>
                  <a:tcPr marL="54864" marR="54864" marT="18288" marB="18288">
                    <a:solidFill>
                      <a:srgbClr val="ECF1F6"/>
                    </a:solidFill>
                  </a:tcPr>
                </a:tc>
              </a:tr>
              <a:tr h="280035">
                <a:tc>
                  <a:txBody>
                    <a:bodyPr wrap="square"/>
                    <a:lstStyle/>
                    <a:p>
                      <a:r>
                        <a:rPr sz="1100" b="0">
                          <a:solidFill>
                            <a:srgbClr val="282828"/>
                          </a:solidFill>
                          <a:latin typeface="Arial"/>
                        </a:rPr>
                        <a:t>polarization hardware</a:t>
                      </a:r>
                    </a:p>
                  </a:txBody>
                  <a:tcPr marL="54864" marR="54864" marT="18288" marB="18288">
                    <a:solidFill>
                      <a:srgbClr val="FFFFFF"/>
                    </a:solidFill>
                  </a:tcPr>
                </a:tc>
                <a:tc>
                  <a:txBody>
                    <a:bodyPr wrap="square"/>
                    <a:lstStyle/>
                    <a:p>
                      <a:r>
                        <a:rPr sz="1100" b="0">
                          <a:solidFill>
                            <a:srgbClr val="282828"/>
                          </a:solidFill>
                          <a:latin typeface="Arial"/>
                        </a:rPr>
                        <a:t>polarizer, 5 waveplates, analyzer</a:t>
                      </a:r>
                    </a:p>
                  </a:txBody>
                  <a:tcPr marL="54864" marR="54864" marT="18288" marB="18288">
                    <a:solidFill>
                      <a:srgbClr val="FFFFFF"/>
                    </a:solidFill>
                  </a:tcPr>
                </a:tc>
                <a:tc>
                  <a:txBody>
                    <a:bodyPr wrap="square"/>
                    <a:lstStyle/>
                    <a:p>
                      <a:r>
                        <a:rPr sz="1100" b="0">
                          <a:solidFill>
                            <a:srgbClr val="282828"/>
                          </a:solidFill>
                          <a:latin typeface="Arial"/>
                        </a:rPr>
                        <a:t>none</a:t>
                      </a:r>
                    </a:p>
                  </a:txBody>
                  <a:tcPr marL="54864" marR="54864" marT="18288" marB="18288">
                    <a:solidFill>
                      <a:srgbClr val="FFFFFF"/>
                    </a:solidFill>
                  </a:tcPr>
                </a:tc>
              </a:tr>
              <a:tr h="280035">
                <a:tc>
                  <a:txBody>
                    <a:bodyPr wrap="square"/>
                    <a:lstStyle/>
                    <a:p>
                      <a:r>
                        <a:rPr sz="1100" b="0">
                          <a:solidFill>
                            <a:srgbClr val="282828"/>
                          </a:solidFill>
                          <a:latin typeface="Arial"/>
                        </a:rPr>
                        <a:t>moving parts</a:t>
                      </a:r>
                    </a:p>
                  </a:txBody>
                  <a:tcPr marL="54864" marR="54864" marT="18288" marB="18288">
                    <a:solidFill>
                      <a:srgbClr val="ECF1F6"/>
                    </a:solidFill>
                  </a:tcPr>
                </a:tc>
                <a:tc>
                  <a:txBody>
                    <a:bodyPr wrap="square"/>
                    <a:lstStyle/>
                    <a:p>
                      <a:r>
                        <a:rPr sz="1100" b="0">
                          <a:solidFill>
                            <a:srgbClr val="282828"/>
                          </a:solidFill>
                          <a:latin typeface="Arial"/>
                        </a:rPr>
                        <a:t>none (polarization-stepped)</a:t>
                      </a:r>
                    </a:p>
                  </a:txBody>
                  <a:tcPr marL="54864" marR="54864" marT="18288" marB="18288">
                    <a:solidFill>
                      <a:srgbClr val="ECF1F6"/>
                    </a:solidFill>
                  </a:tcPr>
                </a:tc>
                <a:tc>
                  <a:txBody>
                    <a:bodyPr wrap="square"/>
                    <a:lstStyle/>
                    <a:p>
                      <a:r>
                        <a:rPr sz="1100" b="0">
                          <a:solidFill>
                            <a:srgbClr val="282828"/>
                          </a:solidFill>
                          <a:latin typeface="Arial"/>
                        </a:rPr>
                        <a:t>none</a:t>
                      </a:r>
                    </a:p>
                  </a:txBody>
                  <a:tcPr marL="54864" marR="54864" marT="18288" marB="18288">
                    <a:solidFill>
                      <a:srgbClr val="ECF1F6"/>
                    </a:solidFill>
                  </a:tcPr>
                </a:tc>
              </a:tr>
              <a:tr h="280035">
                <a:tc>
                  <a:txBody>
                    <a:bodyPr wrap="square"/>
                    <a:lstStyle/>
                    <a:p>
                      <a:r>
                        <a:rPr sz="1100" b="0">
                          <a:solidFill>
                            <a:srgbClr val="282828"/>
                          </a:solidFill>
                          <a:latin typeface="Arial"/>
                        </a:rPr>
                        <a:t>null, nothing aligned</a:t>
                      </a:r>
                    </a:p>
                  </a:txBody>
                  <a:tcPr marL="54864" marR="54864" marT="18288" marB="18288">
                    <a:solidFill>
                      <a:srgbClr val="FFFFFF"/>
                    </a:solidFill>
                  </a:tcPr>
                </a:tc>
                <a:tc>
                  <a:txBody>
                    <a:bodyPr wrap="square"/>
                    <a:lstStyle/>
                    <a:p>
                      <a:r>
                        <a:rPr sz="1100" b="0">
                          <a:solidFill>
                            <a:srgbClr val="282828"/>
                          </a:solidFill>
                          <a:latin typeface="Arial"/>
                        </a:rPr>
                        <a:t>0.134 nm</a:t>
                      </a:r>
                    </a:p>
                  </a:txBody>
                  <a:tcPr marL="54864" marR="54864" marT="18288" marB="18288">
                    <a:solidFill>
                      <a:srgbClr val="FFFFFF"/>
                    </a:solidFill>
                  </a:tcPr>
                </a:tc>
                <a:tc>
                  <a:txBody>
                    <a:bodyPr wrap="square"/>
                    <a:lstStyle/>
                    <a:p>
                      <a:r>
                        <a:rPr sz="1100" b="0">
                          <a:solidFill>
                            <a:srgbClr val="282828"/>
                          </a:solidFill>
                          <a:latin typeface="Arial"/>
                        </a:rPr>
                        <a:t>0 by construction (the flat is the reference)</a:t>
                      </a:r>
                    </a:p>
                  </a:txBody>
                  <a:tcPr marL="54864" marR="54864" marT="18288" marB="18288">
                    <a:solidFill>
                      <a:srgbClr val="FFFFFF"/>
                    </a:solidFill>
                  </a:tcPr>
                </a:tc>
              </a:tr>
              <a:tr h="468630">
                <a:tc>
                  <a:txBody>
                    <a:bodyPr wrap="square"/>
                    <a:lstStyle/>
                    <a:p>
                      <a:r>
                        <a:rPr sz="1100" b="0">
                          <a:solidFill>
                            <a:srgbClr val="282828"/>
                          </a:solidFill>
                          <a:latin typeface="Arial"/>
                        </a:rPr>
                        <a:t>response falls off at</a:t>
                      </a:r>
                    </a:p>
                  </a:txBody>
                  <a:tcPr marL="54864" marR="54864" marT="18288" marB="18288">
                    <a:solidFill>
                      <a:srgbClr val="ECF1F6"/>
                    </a:solidFill>
                  </a:tcPr>
                </a:tc>
                <a:tc>
                  <a:txBody>
                    <a:bodyPr wrap="square"/>
                    <a:lstStyle/>
                    <a:p>
                      <a:r>
                        <a:rPr sz="1100" b="0">
                          <a:solidFill>
                            <a:srgbClr val="282828"/>
                          </a:solidFill>
                          <a:latin typeface="Arial"/>
                        </a:rPr>
                        <a:t>fine patterns: 0.50 at the 96×96 checkerboard</a:t>
                      </a:r>
                    </a:p>
                  </a:txBody>
                  <a:tcPr marL="54864" marR="54864" marT="18288" marB="18288">
                    <a:solidFill>
                      <a:srgbClr val="ECF1F6"/>
                    </a:solidFill>
                  </a:tcPr>
                </a:tc>
                <a:tc>
                  <a:txBody>
                    <a:bodyPr wrap="square"/>
                    <a:lstStyle/>
                    <a:p>
                      <a:r>
                        <a:rPr sz="1100" b="0">
                          <a:solidFill>
                            <a:srgbClr val="282828"/>
                          </a:solidFill>
                          <a:latin typeface="Arial"/>
                        </a:rPr>
                        <a:t>0.5 to 1 cycle across the pupil (0.5 at 1); piston unseen</a:t>
                      </a:r>
                    </a:p>
                  </a:txBody>
                  <a:tcPr marL="54864" marR="54864" marT="18288" marB="18288">
                    <a:solidFill>
                      <a:srgbClr val="ECF1F6"/>
                    </a:solidFill>
                  </a:tcPr>
                </a:tc>
              </a:tr>
              <a:tr h="280035">
                <a:tc>
                  <a:txBody>
                    <a:bodyPr wrap="square"/>
                    <a:lstStyle/>
                    <a:p>
                      <a:r>
                        <a:rPr sz="1100" b="0">
                          <a:solidFill>
                            <a:srgbClr val="282828"/>
                          </a:solidFill>
                          <a:latin typeface="Arial"/>
                        </a:rPr>
                        <a:t>working surface it can handle</a:t>
                      </a:r>
                    </a:p>
                  </a:txBody>
                  <a:tcPr marL="54864" marR="54864" marT="18288" marB="18288">
                    <a:solidFill>
                      <a:srgbClr val="FFFFFF"/>
                    </a:solidFill>
                  </a:tcPr>
                </a:tc>
                <a:tc>
                  <a:txBody>
                    <a:bodyPr wrap="square"/>
                    <a:lstStyle/>
                    <a:p>
                      <a:r>
                        <a:rPr sz="1100" b="0">
                          <a:solidFill>
                            <a:srgbClr val="282828"/>
                          </a:solidFill>
                          <a:latin typeface="Arial"/>
                        </a:rPr>
                        <a:t>480 nm rms and beyond</a:t>
                      </a:r>
                    </a:p>
                  </a:txBody>
                  <a:tcPr marL="54864" marR="54864" marT="18288" marB="18288">
                    <a:solidFill>
                      <a:srgbClr val="FFFFFF"/>
                    </a:solidFill>
                  </a:tcPr>
                </a:tc>
                <a:tc>
                  <a:txBody>
                    <a:bodyPr wrap="square"/>
                    <a:lstStyle/>
                    <a:p>
                      <a:r>
                        <a:rPr sz="1100" b="0">
                          <a:solidFill>
                            <a:srgbClr val="282828"/>
                          </a:solidFill>
                          <a:latin typeface="Arial"/>
                        </a:rPr>
                        <a:t>40 nm rms one-frame (1 mm actuators), 50–60 nm four-frame</a:t>
                      </a:r>
                    </a:p>
                  </a:txBody>
                  <a:tcPr marL="54864" marR="54864" marT="18288" marB="18288">
                    <a:solidFill>
                      <a:srgbClr val="FFFFFF"/>
                    </a:solidFill>
                  </a:tcPr>
                </a:tc>
              </a:tr>
              <a:tr h="468630">
                <a:tc>
                  <a:txBody>
                    <a:bodyPr wrap="square"/>
                    <a:lstStyle/>
                    <a:p>
                      <a:r>
                        <a:rPr sz="1100" b="0">
                          <a:solidFill>
                            <a:srgbClr val="282828"/>
                          </a:solidFill>
                          <a:latin typeface="Arial"/>
                        </a:rPr>
                        <a:t>a 10 nm actuator change on a 30 nm surface</a:t>
                      </a:r>
                    </a:p>
                  </a:txBody>
                  <a:tcPr marL="54864" marR="54864" marT="18288" marB="18288">
                    <a:solidFill>
                      <a:srgbClr val="ECF1F6"/>
                    </a:solidFill>
                  </a:tcPr>
                </a:tc>
                <a:tc>
                  <a:txBody>
                    <a:bodyPr wrap="square"/>
                    <a:lstStyle/>
                    <a:p>
                      <a:r>
                        <a:rPr sz="1100" b="0">
                          <a:solidFill>
                            <a:srgbClr val="282828"/>
                          </a:solidFill>
                          <a:latin typeface="Arial"/>
                        </a:rPr>
                        <a:t>gain 0.92, floor 46 pm</a:t>
                      </a:r>
                    </a:p>
                  </a:txBody>
                  <a:tcPr marL="54864" marR="54864" marT="18288" marB="18288">
                    <a:solidFill>
                      <a:srgbClr val="ECF1F6"/>
                    </a:solidFill>
                  </a:tcPr>
                </a:tc>
                <a:tc>
                  <a:txBody>
                    <a:bodyPr wrap="square"/>
                    <a:lstStyle/>
                    <a:p>
                      <a:r>
                        <a:rPr sz="1100" b="0">
                          <a:solidFill>
                            <a:srgbClr val="282828"/>
                          </a:solidFill>
                          <a:latin typeface="Arial"/>
                        </a:rPr>
                        <a:t>gain 0.99, floor 5 pm (stepped, four frames; matrix on the surface) — gain 1.05, floor 23 pm (linear, one frame)</a:t>
                      </a:r>
                    </a:p>
                  </a:txBody>
                  <a:tcPr marL="54864" marR="54864" marT="18288" marB="18288">
                    <a:solidFill>
                      <a:srgbClr val="ECF1F6"/>
                    </a:solidFill>
                  </a:tcPr>
                </a:tc>
              </a:tr>
              <a:tr h="280035">
                <a:tc>
                  <a:txBody>
                    <a:bodyPr wrap="square"/>
                    <a:lstStyle/>
                    <a:p>
                      <a:r>
                        <a:rPr sz="1100" b="0">
                          <a:solidFill>
                            <a:srgbClr val="282828"/>
                          </a:solidFill>
                          <a:latin typeface="Arial"/>
                        </a:rPr>
                        <a:t>photons per measurement for 1 pm</a:t>
                      </a:r>
                    </a:p>
                  </a:txBody>
                  <a:tcPr marL="54864" marR="54864" marT="18288" marB="18288">
                    <a:solidFill>
                      <a:srgbClr val="FFFFFF"/>
                    </a:solidFill>
                  </a:tcPr>
                </a:tc>
                <a:tc>
                  <a:txBody>
                    <a:bodyPr wrap="square"/>
                    <a:lstStyle/>
                    <a:p>
                      <a:r>
                        <a:rPr sz="1100" b="0">
                          <a:solidFill>
                            <a:srgbClr val="282828"/>
                          </a:solidFill>
                          <a:latin typeface="Arial"/>
                        </a:rPr>
                        <a:t>8×10¹⁴</a:t>
                      </a:r>
                    </a:p>
                  </a:txBody>
                  <a:tcPr marL="54864" marR="54864" marT="18288" marB="18288">
                    <a:solidFill>
                      <a:srgbClr val="FFFFFF"/>
                    </a:solidFill>
                  </a:tcPr>
                </a:tc>
                <a:tc>
                  <a:txBody>
                    <a:bodyPr wrap="square"/>
                    <a:lstStyle/>
                    <a:p>
                      <a:r>
                        <a:rPr sz="1100" b="0">
                          <a:solidFill>
                            <a:srgbClr val="282828"/>
                          </a:solidFill>
                          <a:latin typeface="Arial"/>
                        </a:rPr>
                        <a:t>0.4 to 1×10¹⁴</a:t>
                      </a:r>
                    </a:p>
                  </a:txBody>
                  <a:tcPr marL="54864" marR="54864" marT="18288" marB="18288">
                    <a:solidFill>
                      <a:srgbClr val="FFFFFF"/>
                    </a:solidFill>
                  </a:tcPr>
                </a:tc>
              </a:tr>
              <a:tr h="468630">
                <a:tc>
                  <a:txBody>
                    <a:bodyPr wrap="square"/>
                    <a:lstStyle/>
                    <a:p>
                      <a:r>
                        <a:rPr sz="1100" b="0">
                          <a:solidFill>
                            <a:srgbClr val="282828"/>
                          </a:solidFill>
                          <a:latin typeface="Arial"/>
                        </a:rPr>
                        <a:t>held in closed loop to 3 pm against a 2 pm random walk: photons per cycle</a:t>
                      </a:r>
                    </a:p>
                  </a:txBody>
                  <a:tcPr marL="54864" marR="54864" marT="18288" marB="18288">
                    <a:solidFill>
                      <a:srgbClr val="ECF1F6"/>
                    </a:solidFill>
                  </a:tcPr>
                </a:tc>
                <a:tc>
                  <a:txBody>
                    <a:bodyPr wrap="square"/>
                    <a:lstStyle/>
                    <a:p>
                      <a:r>
                        <a:rPr sz="1100" b="0">
                          <a:solidFill>
                            <a:srgbClr val="282828"/>
                          </a:solidFill>
                          <a:latin typeface="Arial"/>
                        </a:rPr>
                        <a:t>2.0×10¹³ (lens rig); never with the reflective rig</a:t>
                      </a:r>
                    </a:p>
                  </a:txBody>
                  <a:tcPr marL="54864" marR="54864" marT="18288" marB="18288">
                    <a:solidFill>
                      <a:srgbClr val="ECF1F6"/>
                    </a:solidFill>
                  </a:tcPr>
                </a:tc>
                <a:tc>
                  <a:txBody>
                    <a:bodyPr wrap="square"/>
                    <a:lstStyle/>
                    <a:p>
                      <a:r>
                        <a:rPr sz="1100" b="0">
                          <a:solidFill>
                            <a:srgbClr val="282828"/>
                          </a:solidFill>
                          <a:latin typeface="Arial"/>
                        </a:rPr>
                        <a:t>7.5×10¹² (stepped), 7.3×10¹² (linear), 5.3×10¹² (polarized pair)</a:t>
                      </a:r>
                    </a:p>
                  </a:txBody>
                  <a:tcPr marL="54864" marR="54864" marT="18288" marB="18288">
                    <a:solidFill>
                      <a:srgbClr val="ECF1F6"/>
                    </a:solidFill>
                  </a:tcPr>
                </a:tc>
              </a:tr>
              <a:tr h="468630">
                <a:tc>
                  <a:txBody>
                    <a:bodyPr wrap="square"/>
                    <a:lstStyle/>
                    <a:p>
                      <a:r>
                        <a:rPr sz="1100" b="0">
                          <a:solidFill>
                            <a:srgbClr val="282828"/>
                          </a:solidFill>
                          <a:latin typeface="Arial"/>
                        </a:rPr>
                        <a:t>fixed error in closed loop (noise-free 1 nm step after 60 cycles)</a:t>
                      </a:r>
                    </a:p>
                  </a:txBody>
                  <a:tcPr marL="54864" marR="54864" marT="18288" marB="18288">
                    <a:solidFill>
                      <a:srgbClr val="FFFFFF"/>
                    </a:solidFill>
                  </a:tcPr>
                </a:tc>
                <a:tc>
                  <a:txBody>
                    <a:bodyPr wrap="square"/>
                    <a:lstStyle/>
                    <a:p>
                      <a:r>
                        <a:rPr sz="1100" b="0">
                          <a:solidFill>
                            <a:srgbClr val="282828"/>
                          </a:solidFill>
                          <a:latin typeface="Arial"/>
                        </a:rPr>
                        <a:t>87 pm and rising (lens); 276 pm (reflective)</a:t>
                      </a:r>
                    </a:p>
                  </a:txBody>
                  <a:tcPr marL="54864" marR="54864" marT="18288" marB="18288">
                    <a:solidFill>
                      <a:srgbClr val="FFFFFF"/>
                    </a:solidFill>
                  </a:tcPr>
                </a:tc>
                <a:tc>
                  <a:txBody>
                    <a:bodyPr wrap="square"/>
                    <a:lstStyle/>
                    <a:p>
                      <a:r>
                        <a:rPr sz="1100" b="0">
                          <a:solidFill>
                            <a:srgbClr val="282828"/>
                          </a:solidFill>
                          <a:latin typeface="Arial"/>
                        </a:rPr>
                        <a:t>0.000 pm (stepped, polarized pair)</a:t>
                      </a:r>
                    </a:p>
                  </a:txBody>
                  <a:tcPr marL="54864" marR="54864" marT="18288" marB="18288">
                    <a:solidFill>
                      <a:srgbClr val="FFFFFF"/>
                    </a:solidFill>
                  </a:tcPr>
                </a:tc>
              </a:tr>
            </a:tbl>
          </a:graphicData>
        </a:graphic>
      </p:graphicFrame>
      <p:sp>
        <p:nvSpPr>
          <p:cNvPr id="5" name="TextBox 4"/>
          <p:cNvSpPr txBox="1"/>
          <p:nvPr/>
        </p:nvSpPr>
        <p:spPr>
          <a:xfrm>
            <a:off x="411480" y="5748147"/>
            <a:ext cx="11368735" cy="274320"/>
          </a:xfrm>
          <a:prstGeom prst="rect">
            <a:avLst/>
          </a:prstGeom>
          <a:noFill/>
        </p:spPr>
        <p:txBody>
          <a:bodyPr wrap="square">
            <a:spAutoFit/>
          </a:bodyPr>
          <a:lstStyle/>
          <a:p>
            <a:pPr>
              <a:spcAft>
                <a:spcPts val="600"/>
              </a:spcAft>
            </a:pPr>
            <a:r>
              <a:rPr sz="1500" b="0">
                <a:solidFill>
                  <a:srgbClr val="282828"/>
                </a:solidFill>
                <a:latin typeface="Arial"/>
              </a:rPr>
              <a:t>•  Reading: the interferometer measures any surface and pays at fine patterns; the sensor measures small changes on a small working surface more cheaply — no polarization train, a floor ten times lower once its response matrix is measured on that surface — and pays at the lowest spatial frequencies and in the surface it can handle.</a:t>
            </a:r>
          </a:p>
        </p:txBody>
      </p:sp>
      <p:sp>
        <p:nvSpPr>
          <p:cNvPr id="6" name="TextBox 5"/>
          <p:cNvSpPr txBox="1"/>
          <p:nvPr/>
        </p:nvSpPr>
        <p:spPr>
          <a:xfrm>
            <a:off x="411480" y="6667881"/>
            <a:ext cx="11368735" cy="274320"/>
          </a:xfrm>
          <a:prstGeom prst="rect">
            <a:avLst/>
          </a:prstGeom>
          <a:noFill/>
        </p:spPr>
        <p:txBody>
          <a:bodyPr wrap="square">
            <a:spAutoFit/>
          </a:bodyPr>
          <a:lstStyle/>
          <a:p>
            <a:pPr>
              <a:spcAft>
                <a:spcPts val="600"/>
              </a:spcAft>
            </a:pPr>
            <a:r>
              <a:rPr sz="1050" b="0">
                <a:solidFill>
                  <a:srgbClr val="6E6E6E"/>
                </a:solidFill>
                <a:latin typeface="Arial"/>
              </a:rPr>
              <a:t>PSI column: tg_psi_dm96 run 10 and S4/S5; sensor column: 385 rays, matrix calibration on the working surface (slide 10), photons at development sampling.  Both in actuator units through the same code (dm_gauge_lib).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now built and measured (slide 8)</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91592"/>
                <a:gridCol w="3730058"/>
                <a:gridCol w="7347084"/>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468630">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reconstructor above</a:t>
                      </a:r>
                    </a:p>
                  </a:txBody>
                  <a:tcPr marL="54864" marR="54864" marT="18288" marB="18288">
                    <a:solidFill>
                      <a:srgbClr val="FFFFFF"/>
                    </a:solidFill>
                  </a:tcPr>
                </a:tc>
              </a:tr>
              <a:tr h="468630">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Conclusions: what the corrected model and the exact reading settled</a:t>
            </a:r>
          </a:p>
          <a:p>
            <a:pPr>
              <a:spcAft>
                <a:spcPts val="0"/>
              </a:spcAft>
            </a:pPr>
            <a:r>
              <a:rPr sz="1250" b="0">
                <a:solidFill>
                  <a:srgbClr val="6E6E6E"/>
                </a:solidFill>
                <a:latin typeface="Arial"/>
              </a:rPr>
              <a:t>Fixing the model was the bigger gain; a response matrix measured on the working surface takes the stepped reading to 5 pm; color and photons are not the limit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model must keep the pupil image in focus: the two spheres around the mask share one radius, and the script checks the no-mask round trip on every run.  The correction alone took the single-actuator floor from 744 to 67 pm and made the undetected grid case detectable.</a:t>
            </a:r>
          </a:p>
          <a:p>
            <a:pPr>
              <a:spcAft>
                <a:spcPts val="600"/>
              </a:spcAft>
            </a:pPr>
            <a:r>
              <a:rPr sz="1500" b="0">
                <a:solidFill>
                  <a:srgbClr val="282828"/>
                </a:solidFill>
                <a:latin typeface="Arial"/>
              </a:rPr>
              <a:t>•  The exact reading with a re-computed reference is the import that paid (paper 1): 26 pm from one frame on a 30 nm working surface, SNR 355 — with the sign fold settled once from four stepped frames and refined.  The plain stepped sign map misses 3% of pixels and can flip a single actuator's sign.</a:t>
            </a:r>
          </a:p>
          <a:p>
            <a:pPr>
              <a:spcAft>
                <a:spcPts val="600"/>
              </a:spcAft>
            </a:pPr>
            <a:r>
              <a:rPr sz="1500" b="0">
                <a:solidFill>
                  <a:srgbClr val="282828"/>
                </a:solidFill>
                <a:latin typeface="Arial"/>
              </a:rPr>
              <a:t>•  Calibrate with a measured response matrix, on the working surface: the sparse-grid measurement of every actuator's response (with the sensor's piston null carried) reads a single actuator on the flat at 0.994 with a 4 pm floor; measured on the working surface it gives the stepped reading 0.99 and 5 pm there and makes the linear one-frame reading usable (1.05, 23 pm).  The floors fall ten times; what remains is gain stability as the surface drifts (7% over 20 nm rms) and the one-frame exact readings' sign fold.</a:t>
            </a:r>
          </a:p>
          <a:p>
            <a:pPr>
              <a:spcAft>
                <a:spcPts val="600"/>
              </a:spcAft>
            </a:pPr>
            <a:r>
              <a:rPr sz="1500" b="0">
                <a:solidFill>
                  <a:srgbClr val="282828"/>
                </a:solidFill>
                <a:latin typeface="Arial"/>
              </a:rPr>
              <a:t>•  Sampling is settled, and a bias in the fit is fixed: camera pixels per actuator (the ray count) set the gain on a test actuator; sampling the single-site response pattern at the actuator center took that gain to 0.996 at 5 pixels per actuator.</a:t>
            </a:r>
          </a:p>
          <a:p>
            <a:pPr>
              <a:spcAft>
                <a:spcPts val="600"/>
              </a:spcAft>
            </a:pPr>
            <a:r>
              <a:rPr sz="1500" b="0">
                <a:solidFill>
                  <a:srgbClr val="282828"/>
                </a:solidFill>
                <a:latin typeface="Arial"/>
              </a:rPr>
              <a:t>•  Color and photons are not levers: the chromatic null was the defocus; 10¹⁴ photons per measurement reach 1 pm.  The budget is systematic error: the 25 to 60 pm floors and the gain's stability.</a:t>
            </a:r>
          </a:p>
          <a:p>
            <a:pPr>
              <a:spcAft>
                <a:spcPts val="600"/>
              </a:spcAft>
            </a:pPr>
            <a:r>
              <a:rPr sz="1500" b="0">
                <a:solidFill>
                  <a:srgbClr val="282828"/>
                </a:solidFill>
                <a:latin typeface="Arial"/>
              </a:rPr>
              <a:t>•  In closed loop the stepped reading has no fixed error: it holds a 2 pm-per-cycle walk to 3 pm from 7.5×10¹² photons per cycle and returns to zero after a step; the linear reading costs the same light but leaves a fine-scale error under a slow ramp; the one-frame exact reading runs away.</a:t>
            </a:r>
          </a:p>
          <a:p>
            <a:pPr>
              <a:spcAft>
                <a:spcPts val="600"/>
              </a:spcAft>
            </a:pPr>
            <a:r>
              <a:rPr sz="1500" b="0">
                <a:solidFill>
                  <a:srgbClr val="282828"/>
                </a:solidFill>
                <a:latin typeface="Arial"/>
              </a:rPr>
              <a:t>•  The polarized dimple is the best reading on every line: two simultaneous frames, no fold, 3 pm held from 5.3×10¹² photons per cycle, and a calibration that stays within 2% out to 60 nm rms.</a:t>
            </a:r>
          </a:p>
        </p:txBody>
      </p:sp>
      <p:sp>
        <p:nvSpPr>
          <p:cNvPr id="5" name="TextBox 4"/>
          <p:cNvSpPr txBox="1"/>
          <p:nvPr/>
        </p:nvSpPr>
        <p:spPr>
          <a:xfrm>
            <a:off x="411480" y="7517130"/>
            <a:ext cx="11368735" cy="274320"/>
          </a:xfrm>
          <a:prstGeom prst="rect">
            <a:avLst/>
          </a:prstGeom>
          <a:noFill/>
        </p:spPr>
        <p:txBody>
          <a:bodyPr wrap="square">
            <a:spAutoFit/>
          </a:bodyPr>
          <a:lstStyle/>
          <a:p>
            <a:pPr>
              <a:spcAft>
                <a:spcPts val="600"/>
              </a:spcAft>
            </a:pPr>
            <a:r>
              <a:rPr sz="1050" b="0">
                <a:solidFill>
                  <a:srgbClr val="6E6E6E"/>
                </a:solidFill>
                <a:latin typeface="Arial"/>
              </a:rPr>
              <a:t>Script and records: templates/40_benches/zwfs_dm96 (README S7/S8; runs/rec193, ng385, ng385s3, m2048, rec193full).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Conclusions: what to import next, in order</a:t>
            </a:r>
          </a:p>
          <a:p>
            <a:pPr>
              <a:spcAft>
                <a:spcPts val="0"/>
              </a:spcAft>
            </a:pPr>
            <a:r>
              <a:rPr sz="1250" b="0">
                <a:solidFill>
                  <a:srgbClr val="6E6E6E"/>
                </a:solidFill>
                <a:latin typeface="Arial"/>
              </a:rPr>
              <a:t>The JPL budget form, DM calibration through the sensor's own images, the vector sensor priced before it is built, and the interferometer's lever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The JPL budget form: a sensitivity factor per pixel from the measured fields — the quantity the working-surface effect on slide 10 is made of — predicts the photon-noise stage analytically, and four systematic terms (pupil calibration at ½, reference wave at 1, dimple depth, initial phase) become the rows of the error budget.</a:t>
            </a:r>
          </a:p>
          <a:p>
            <a:pPr>
              <a:spcAft>
                <a:spcPts val="600"/>
              </a:spcAft>
            </a:pPr>
            <a:r>
              <a:rPr sz="1500" b="0">
                <a:solidFill>
                  <a:srgbClr val="282828"/>
                </a:solidFill>
                <a:latin typeface="Arial"/>
              </a:rPr>
              <a:t>•  The response matrix for the interferometer too: its calibration still uses a single-site response pattern, with the stencil bias fixed here (slide 9); the sparse-grid measured matrix is the calibration its reflective build should carry.  Model-matched DM calibration (actuator positions and gains through the sensor's own images) remains the lever for a real DM's geometry.</a:t>
            </a:r>
          </a:p>
          <a:p>
            <a:pPr>
              <a:spcAft>
                <a:spcPts val="600"/>
              </a:spcAft>
            </a:pPr>
            <a:r>
              <a:rPr sz="1500" b="0">
                <a:solidFill>
                  <a:srgbClr val="282828"/>
                </a:solidFill>
                <a:latin typeface="Arial"/>
              </a:rPr>
              <a:t>•  Color as a joint fit, not a combination: an equal-weight combination inherits a bad channel; a joint fit through the exact reading would use 700 to 780 nm for range and 632.8 nm for the calibration of record.</a:t>
            </a:r>
          </a:p>
          <a:p>
            <a:pPr>
              <a:spcAft>
                <a:spcPts val="600"/>
              </a:spcAft>
            </a:pPr>
            <a:r>
              <a:rPr sz="1500" b="0">
                <a:solidFill>
                  <a:srgbClr val="282828"/>
                </a:solidFill>
                <a:latin typeface="Arial"/>
              </a:rPr>
              <a:t>•  The vector sensor, priced before the metasurface is built: the exact two-image solution stands (slide 15); its metasurface retardance error and the arm's polarization aberration are priced (slide 16) and neither reaches the working-surface rows; still to price: the splitter's crosstalk between the two pupil images and defocus between them, the bench limits at Keck and SEAL.</a:t>
            </a:r>
          </a:p>
          <a:p>
            <a:pPr>
              <a:spcAft>
                <a:spcPts val="600"/>
              </a:spcAft>
            </a:pPr>
            <a:r>
              <a:rPr sz="1500" b="0">
                <a:solidFill>
                  <a:srgbClr val="282828"/>
                </a:solidFill>
                <a:latin typeface="Arial"/>
              </a:rPr>
              <a:t>•  The interferometer, for balance: a PZT phase shift buys no model gain — its floors are geometric and color-independent — but on hardware an absolute phase scale and freedom from polarization systematics; the recommended form is a hybrid: polarization snapshot for the change measurements, a PZT on the reference flat as calibrator.  Its all-mirror (OAP) version is in build.</a:t>
            </a:r>
          </a:p>
        </p:txBody>
      </p:sp>
      <p:sp>
        <p:nvSpPr>
          <p:cNvPr id="5" name="TextBox 4"/>
          <p:cNvSpPr txBox="1"/>
          <p:nvPr/>
        </p:nvSpPr>
        <p:spPr>
          <a:xfrm>
            <a:off x="411480" y="6246113"/>
            <a:ext cx="11368735" cy="274320"/>
          </a:xfrm>
          <a:prstGeom prst="rect">
            <a:avLst/>
          </a:prstGeom>
          <a:noFill/>
        </p:spPr>
        <p:txBody>
          <a:bodyPr wrap="square">
            <a:spAutoFit/>
          </a:bodyPr>
          <a:lstStyle/>
          <a:p>
            <a:pPr>
              <a:spcAft>
                <a:spcPts val="600"/>
              </a:spcAft>
            </a:pPr>
            <a:r>
              <a:rPr sz="1050" b="0">
                <a:solidFill>
                  <a:srgbClr val="6E6E6E"/>
                </a:solidFill>
                <a:latin typeface="Arial"/>
              </a:rPr>
              <a:t>Segmented-mirror lessons carried forward: the sensor reads segment piston but not global piston, DM quantization appears as steps in the response, and piston is underestimated below 50 % Strehl (Keck) — all three enter the e5-class segmented gauges.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743200"/>
            <a:ext cx="10545775" cy="1280160"/>
          </a:xfrm>
          <a:prstGeom prst="rect">
            <a:avLst/>
          </a:prstGeom>
          <a:noFill/>
        </p:spPr>
        <p:txBody>
          <a:bodyPr wrap="square">
            <a:spAutoFit/>
          </a:bodyPr>
          <a:lstStyle/>
          <a:p>
            <a:pPr algn="ctr">
              <a:spcAft>
                <a:spcPts val="400"/>
              </a:spcAft>
            </a:pPr>
            <a:r>
              <a:rPr sz="4000" b="1">
                <a:solidFill>
                  <a:srgbClr val="1F4E79"/>
                </a:solidFill>
                <a:latin typeface="Arial"/>
              </a:rPr>
              <a:t>Backup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Before the correction: the first poke and color results</a:t>
            </a:r>
          </a:p>
          <a:p>
            <a:pPr>
              <a:spcAft>
                <a:spcPts val="0"/>
              </a:spcAft>
            </a:pPr>
            <a:r>
              <a:rPr sz="1250" b="0">
                <a:solidFill>
                  <a:srgbClr val="6E6E6E"/>
                </a:solidFill>
                <a:latin typeface="Arial"/>
              </a:rPr>
              <a:t>Kept for the record; every number on this slide is from the out-of-focus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zwfs_poke_triptych.png"/>
          <p:cNvPicPr>
            <a:picLocks noChangeAspect="1"/>
          </p:cNvPicPr>
          <p:nvPr/>
        </p:nvPicPr>
        <p:blipFill>
          <a:blip r:embed="rId2"/>
          <a:stretch>
            <a:fillRect/>
          </a:stretch>
        </p:blipFill>
        <p:spPr>
          <a:xfrm>
            <a:off x="3643334" y="1298448"/>
            <a:ext cx="4905026" cy="1462532"/>
          </a:xfrm>
          <a:prstGeom prst="rect">
            <a:avLst/>
          </a:prstGeom>
        </p:spPr>
      </p:pic>
      <p:sp>
        <p:nvSpPr>
          <p:cNvPr id="5" name="TextBox 4"/>
          <p:cNvSpPr txBox="1"/>
          <p:nvPr/>
        </p:nvSpPr>
        <p:spPr>
          <a:xfrm>
            <a:off x="411480" y="2779268"/>
            <a:ext cx="11368735" cy="229107"/>
          </a:xfrm>
          <a:prstGeom prst="rect">
            <a:avLst/>
          </a:prstGeom>
          <a:noFill/>
        </p:spPr>
        <p:txBody>
          <a:bodyPr wrap="square">
            <a:spAutoFit/>
          </a:bodyPr>
          <a:lstStyle/>
          <a:p>
            <a:pPr algn="ctr">
              <a:spcAft>
                <a:spcPts val="0"/>
              </a:spcAft>
            </a:pPr>
            <a:r>
              <a:rPr sz="1000" b="0">
                <a:solidFill>
                  <a:srgbClr val="6E6E6E"/>
                </a:solidFill>
                <a:latin typeface="Arial"/>
              </a:rPr>
              <a:t>One actuator moved 20 nm on the out-of-focus model: the sensed blob is broadened and dimmed — gain 0.445, 0.29 nm rms error; the ring is the 4.9 m defocus.</a:t>
            </a:r>
          </a:p>
        </p:txBody>
      </p:sp>
      <p:pic>
        <p:nvPicPr>
          <p:cNvPr id="6" name="Picture 5" descr="zwfs_defocus_triptych.png"/>
          <p:cNvPicPr>
            <a:picLocks noChangeAspect="1"/>
          </p:cNvPicPr>
          <p:nvPr/>
        </p:nvPicPr>
        <p:blipFill>
          <a:blip r:embed="rId3"/>
          <a:stretch>
            <a:fillRect/>
          </a:stretch>
        </p:blipFill>
        <p:spPr>
          <a:xfrm>
            <a:off x="3635414" y="3044952"/>
            <a:ext cx="4920865" cy="1462532"/>
          </a:xfrm>
          <a:prstGeom prst="rect">
            <a:avLst/>
          </a:prstGeom>
        </p:spPr>
      </p:pic>
      <p:sp>
        <p:nvSpPr>
          <p:cNvPr id="7" name="TextBox 6"/>
          <p:cNvSpPr txBox="1"/>
          <p:nvPr/>
        </p:nvSpPr>
        <p:spPr>
          <a:xfrm>
            <a:off x="411480" y="4525771"/>
            <a:ext cx="11368735" cy="229107"/>
          </a:xfrm>
          <a:prstGeom prst="rect">
            <a:avLst/>
          </a:prstGeom>
          <a:noFill/>
        </p:spPr>
        <p:txBody>
          <a:bodyPr wrap="square">
            <a:spAutoFit/>
          </a:bodyPr>
          <a:lstStyle/>
          <a:p>
            <a:pPr algn="ctr">
              <a:spcAft>
                <a:spcPts val="0"/>
              </a:spcAft>
            </a:pPr>
            <a:r>
              <a:rPr sz="1000" b="0">
                <a:solidFill>
                  <a:srgbClr val="6E6E6E"/>
                </a:solidFill>
                <a:latin typeface="Arial"/>
              </a:rPr>
              <a:t>Defocus at 8 nm on the same model: sensed matches applied at gain 0.986, 0.16 nm rms — low orders were never the trouble.</a:t>
            </a:r>
          </a:p>
        </p:txBody>
      </p:sp>
      <p:sp>
        <p:nvSpPr>
          <p:cNvPr id="8" name="TextBox 7"/>
          <p:cNvSpPr txBox="1"/>
          <p:nvPr/>
        </p:nvSpPr>
        <p:spPr>
          <a:xfrm>
            <a:off x="411480" y="4791455"/>
            <a:ext cx="11368735" cy="274320"/>
          </a:xfrm>
          <a:prstGeom prst="rect">
            <a:avLst/>
          </a:prstGeom>
          <a:noFill/>
        </p:spPr>
        <p:txBody>
          <a:bodyPr wrap="square">
            <a:spAutoFit/>
          </a:bodyPr>
          <a:lstStyle/>
          <a:p>
            <a:pPr>
              <a:spcAft>
                <a:spcPts val="600"/>
              </a:spcAft>
            </a:pPr>
            <a:r>
              <a:rPr sz="1500" b="0">
                <a:solidFill>
                  <a:srgbClr val="282828"/>
                </a:solidFill>
                <a:latin typeface="Arial"/>
              </a:rPr>
              <a:t>•  The sampling sweep then read the spot as a band selector (gain on one actuator 0.45 / 0.59 / −0.38 at spots 2.0 / 3.0 / 1.06) and calibration recovered a 0.90 gain on a test actuator; both were measured on the ringing response.  On the corrected model the response peak is 0.75 (linear) and 0.93 (exact) and the spot only moves the low-order dip.</a:t>
            </a:r>
          </a:p>
          <a:p>
            <a:pPr>
              <a:spcAft>
                <a:spcPts val="600"/>
              </a:spcAft>
            </a:pPr>
            <a:r>
              <a:rPr sz="1500" b="0">
                <a:solidFill>
                  <a:srgbClr val="282828"/>
                </a:solidFill>
                <a:latin typeface="Arial"/>
              </a:rPr>
              <a:t>•  The color claim ("five colors fill the blind band; single-actuator floor 720 → 224 pm") was the Talbot null moving as 1/λ.  On the corrected model there is no null and color is not a lever (main slide 11).</a:t>
            </a:r>
          </a:p>
        </p:txBody>
      </p:sp>
      <p:sp>
        <p:nvSpPr>
          <p:cNvPr id="9" name="TextBox 8"/>
          <p:cNvSpPr txBox="1"/>
          <p:nvPr/>
        </p:nvSpPr>
        <p:spPr>
          <a:xfrm>
            <a:off x="411480" y="6346698"/>
            <a:ext cx="11368735" cy="274320"/>
          </a:xfrm>
          <a:prstGeom prst="rect">
            <a:avLst/>
          </a:prstGeom>
          <a:noFill/>
        </p:spPr>
        <p:txBody>
          <a:bodyPr wrap="square">
            <a:spAutoFit/>
          </a:bodyPr>
          <a:lstStyle/>
          <a:p>
            <a:pPr>
              <a:spcAft>
                <a:spcPts val="600"/>
              </a:spcAft>
            </a:pPr>
            <a:r>
              <a:rPr sz="1050" b="0">
                <a:solidFill>
                  <a:srgbClr val="6E6E6E"/>
                </a:solidFill>
                <a:latin typeface="Arial"/>
              </a:rPr>
              <a:t>Records: zwfs_s1 … zwfs_s6color reports and zwfs_sweep_report.txt; the old emission ('nf_legacy') reproduces them byte for byte.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 and records</a:t>
            </a:r>
          </a:p>
          <a:p>
            <a:pPr>
              <a:spcAft>
                <a:spcPts val="0"/>
              </a:spcAft>
            </a:pPr>
            <a:r>
              <a:rPr sz="1250" b="0">
                <a:solidFill>
                  <a:srgbClr val="6E6E6E"/>
                </a:solidFill>
                <a:latin typeface="Arial"/>
              </a:rPr>
              <a:t>Every number re-derives from a committed script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Campaign: templates/40_benches/zwfs_dm96 — the script and parameter sheet (zwfs_params.m, zwfs_run.m, zwfs_run_figs.m, zwfs_run_batch.m, zwfs_batch.sh, macos_param_2048.txt) and its runs (runs/rec193 = the stage-7 reproduction check; ng385, ng385s3, m2048 = the sampling setups; rec193full = color + photons); the stage scripts zwfs_s1 … zwfs_s7iter as the historical record; README with the findings chain (S1–S8); plan and rulings in macos/BRIEF_zwfs_campaign.md.</a:t>
            </a:r>
          </a:p>
          <a:p>
            <a:pPr>
              <a:spcAft>
                <a:spcPts val="600"/>
              </a:spcAft>
            </a:pPr>
            <a:r>
              <a:rPr sz="1500" b="0">
                <a:solidFill>
                  <a:srgbClr val="282828"/>
                </a:solidFill>
                <a:latin typeface="Arial"/>
              </a:rPr>
              <a:t>•  Findings from stage 1, recorded so they are not re-derived: the stock detector leg is ray-traced at the mask plane — a mask a few microns across needs the reference-sphere bracket (a builder option, default off, existing decks bit-identical, suites green); the mask must sit at the optimized lens's real focus (−5.58 mm from the thin-lens seed); the camera-to-DM frame must come from traced rays — an estimate from the support area was 25% off.</a:t>
            </a:r>
          </a:p>
          <a:p>
            <a:pPr>
              <a:spcAft>
                <a:spcPts val="600"/>
              </a:spcAft>
            </a:pPr>
            <a:r>
              <a:rPr sz="1500" b="0">
                <a:solidFill>
                  <a:srgbClr val="282828"/>
                </a:solidFill>
                <a:latin typeface="Arial"/>
              </a:rPr>
              <a:t>•  The stage-7 correction: the bracket's exit sphere now carries the entrance sphere's radius ('nf'); 'nf_legacy' reproduces the stage 1–6 emission; the interferometer twin traces the mask plane by rays and is unaffected.</a:t>
            </a:r>
          </a:p>
          <a:p>
            <a:pPr>
              <a:spcAft>
                <a:spcPts val="600"/>
              </a:spcAft>
            </a:pPr>
            <a:r>
              <a:rPr sz="1500" b="0">
                <a:solidFill>
                  <a:srgbClr val="282828"/>
                </a:solidFill>
                <a:latin typeface="Arial"/>
              </a:rPr>
              <a:t>•  Sign convention checked by a negative control: surface height = −φ·λ/4π on this deck (a single reflection doubles the height).</a:t>
            </a:r>
          </a:p>
          <a:p>
            <a:pPr>
              <a:spcAft>
                <a:spcPts val="600"/>
              </a:spcAft>
            </a:pPr>
            <a:r>
              <a:rPr sz="1500" b="0">
                <a:solidFill>
                  <a:srgbClr val="282828"/>
                </a:solidFill>
                <a:latin typeface="Arial"/>
              </a:rPr>
              <a:t>•  Scoring: actuator units through the DM influence model, one library for both instruments (dm_gauge_lib: registration, actuator fit, frequency correction, both measurement factories).</a:t>
            </a:r>
          </a:p>
          <a:p>
            <a:pPr>
              <a:spcAft>
                <a:spcPts val="600"/>
              </a:spcAft>
            </a:pPr>
            <a:r>
              <a:rPr sz="1500" b="0">
                <a:solidFill>
                  <a:srgbClr val="282828"/>
                </a:solidFill>
                <a:latin typeface="Arial"/>
              </a:rPr>
              <a:t>•  Hardware source: "VSG2 Zernike Wavefront Sensor Update -v2" deck, parameters carried in templates/40_benches/vsg_wip/vsg2_params.m §9.</a:t>
            </a:r>
          </a:p>
          <a:p>
            <a:pPr>
              <a:spcAft>
                <a:spcPts val="600"/>
              </a:spcAft>
            </a:pPr>
            <a:r>
              <a:rPr sz="1500" b="0">
                <a:solidFill>
                  <a:srgbClr val="282828"/>
                </a:solidFill>
                <a:latin typeface="Arial"/>
              </a:rPr>
              <a:t>•  Interferometer comparison column: templates/40_benches/tg_psi_dm96, run 10, S4, S5 (tg96_report.txt, tg96_s4_report.txt, tg96_s5noise_report.txt).</a:t>
            </a:r>
          </a:p>
          <a:p>
            <a:pPr>
              <a:spcAft>
                <a:spcPts val="600"/>
              </a:spcAft>
            </a:pPr>
            <a:r>
              <a:rPr sz="1500" b="0">
                <a:solidFill>
                  <a:srgbClr val="282828"/>
                </a:solidFill>
                <a:latin typeface="Arial"/>
              </a:rPr>
              <a:t>•  Literature scan (2026-09-09): macos/REPORT_zwfs_lit_scan.md — twelve papers, ranked, with the PZT verdict for the interferometer.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