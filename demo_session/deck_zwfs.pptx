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color and photon budgets re-run; one script with a parameter sheet reproduces every number; a sampling bias in the actuator fit found and fixed; calibration by a measured response matrix on the working surface takes the stepped reading to 5 pm;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center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center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gray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picometers.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Measurement and frame: a measurement is one DM shape measured once; it takes one camera frame for the one-frame readings and four for the stepped reading.  Measuring a change costs two measurements (before and after).  Photon budgets are quoted per measurement, all its frames summed.</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centered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Calibrated on the flat DM with a single-site response pattern (the record's method); the measured-matrix calibration on slide 10 supersedes it.  Record: runs/m2048_lat.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center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center the fit uses.  Sampled at the center,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Calibrate with a measured response matrix</a:t>
            </a:r>
          </a:p>
          <a:p>
            <a:pPr>
              <a:spcAft>
                <a:spcPts val="0"/>
              </a:spcAft>
            </a:pPr>
            <a:r>
              <a:rPr sz="1250" b="0">
                <a:solidFill>
                  <a:srgbClr val="6E6E6E"/>
                </a:solidFill>
                <a:latin typeface="Arial"/>
              </a:rPr>
              <a:t>Every actuator's response measured once from 64 sparse-grid states; measured on the working surface, the stepped reading reads a 10 nm change to 5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method: 64 multiplexed states cover all 3252 lit actuators once; each response is cut from its own window in camera pixels and forms one column of dw/da; actuator changes are a least-squares fit against that matrix.  No single-site pattern, no shift-invariance, no frequency correction; registration only places the windows; a real DM's irregularities are in the calibration by construction.</a:t>
            </a:r>
          </a:p>
          <a:p>
            <a:pPr>
              <a:spcAft>
                <a:spcPts val="600"/>
              </a:spcAft>
            </a:pPr>
            <a:r>
              <a:rPr sz="1500" b="0">
                <a:solidFill>
                  <a:srgbClr val="282828"/>
                </a:solidFill>
                <a:latin typeface="Arial"/>
              </a:rPr>
              <a:t>•  One property of this sensor had to be carried: it cannot see piston, so each frame is mean-referenced and the pokes' shared pedestal sits in every window; cut naively, the fit over-responds 2 to 4× below 12 cycles across the pupil.  With each column's pedestal spread over the pupil (a rank-one term), the exact reading's response is 0.99 to 1.08 at every frequency uncorrected, and a single actuator on the flat reads 0.994 with a 4 pm floor (0.946, 37 pm with the single-site pattern).</a:t>
            </a:r>
          </a:p>
        </p:txBody>
      </p:sp>
      <p:graphicFrame>
        <p:nvGraphicFramePr>
          <p:cNvPr id="5" name="Table 4"/>
          <p:cNvGraphicFramePr>
            <a:graphicFrameLocks noGrp="1"/>
          </p:cNvGraphicFramePr>
          <p:nvPr/>
        </p:nvGraphicFramePr>
        <p:xfrm>
          <a:off x="411480" y="3844290"/>
          <a:ext cx="11368733" cy="1497330"/>
        </p:xfrm>
        <a:graphic>
          <a:graphicData uri="http://schemas.openxmlformats.org/drawingml/2006/table">
            <a:tbl>
              <a:tblPr firstRow="1" bandRow="1">
                <a:tableStyleId>{5C22544A-7EE6-4342-B048-85BDC9FD1C3A}</a:tableStyleId>
              </a:tblPr>
              <a:tblGrid>
                <a:gridCol w="5430924"/>
                <a:gridCol w="1955132"/>
                <a:gridCol w="1955132"/>
                <a:gridCol w="2027545"/>
              </a:tblGrid>
              <a:tr h="468630">
                <a:tc>
                  <a:txBody>
                    <a:bodyPr wrap="square"/>
                    <a:lstStyle/>
                    <a:p>
                      <a:r>
                        <a:rPr sz="1100" b="1">
                          <a:solidFill>
                            <a:srgbClr val="FFFFFF"/>
                          </a:solidFill>
                          <a:latin typeface="Arial"/>
                        </a:rPr>
                        <a:t>matrix measured on the flat / on the 30 nm surface; 30 nm surface, 385 rays</a:t>
                      </a:r>
                    </a:p>
                  </a:txBody>
                  <a:tcPr marL="54864" marR="54864" marT="18288" marB="18288">
                    <a:solidFill>
                      <a:srgbClr val="1F4E79"/>
                    </a:solidFill>
                  </a:tcPr>
                </a:tc>
                <a:tc>
                  <a:txBody>
                    <a:bodyPr wrap="square"/>
                    <a:lstStyle/>
                    <a:p>
                      <a:r>
                        <a:rPr sz="1100" b="1">
                          <a:solidFill>
                            <a:srgbClr val="FFFFFF"/>
                          </a:solidFill>
                          <a:latin typeface="Arial"/>
                        </a:rPr>
                        <a:t>linear (one frame)</a:t>
                      </a:r>
                    </a:p>
                  </a:txBody>
                  <a:tcPr marL="54864" marR="54864" marT="18288" marB="18288">
                    <a:solidFill>
                      <a:srgbClr val="1F4E79"/>
                    </a:solidFill>
                  </a:tcPr>
                </a:tc>
                <a:tc>
                  <a:txBody>
                    <a:bodyPr wrap="square"/>
                    <a:lstStyle/>
                    <a:p>
                      <a:r>
                        <a:rPr sz="1100" b="1">
                          <a:solidFill>
                            <a:srgbClr val="FFFFFF"/>
                          </a:solidFill>
                          <a:latin typeface="Arial"/>
                        </a:rPr>
                        <a:t>exact I+ (one frame)</a:t>
                      </a:r>
                    </a:p>
                  </a:txBody>
                  <a:tcPr marL="54864" marR="54864" marT="18288" marB="18288">
                    <a:solidFill>
                      <a:srgbClr val="1F4E79"/>
                    </a:solidFill>
                  </a:tcPr>
                </a:tc>
                <a:tc>
                  <a:txBody>
                    <a:bodyPr wrap="square"/>
                    <a:lstStyle/>
                    <a:p>
                      <a:r>
                        <a:rPr sz="1100" b="1">
                          <a:solidFill>
                            <a:srgbClr val="FFFFFF"/>
                          </a:solidFill>
                          <a:latin typeface="Arial"/>
                        </a:rPr>
                        <a:t>stepped (four frames)</a:t>
                      </a:r>
                    </a:p>
                  </a:txBody>
                  <a:tcPr marL="54864" marR="54864" marT="18288" marB="18288">
                    <a:solidFill>
                      <a:srgbClr val="1F4E79"/>
                    </a:solidFill>
                  </a:tcPr>
                </a:tc>
              </a:tr>
              <a:tr h="280035">
                <a:tc>
                  <a:txBody>
                    <a:bodyPr wrap="square"/>
                    <a:lstStyle/>
                    <a:p>
                      <a:r>
                        <a:rPr sz="1100" b="0">
                          <a:solidFill>
                            <a:srgbClr val="282828"/>
                          </a:solidFill>
                          <a:latin typeface="Arial"/>
                        </a:rPr>
                        <a:t>single 10 nm change: gain, floor</a:t>
                      </a:r>
                    </a:p>
                  </a:txBody>
                  <a:tcPr marL="54864" marR="54864" marT="18288" marB="18288">
                    <a:solidFill>
                      <a:srgbClr val="FFFFFF"/>
                    </a:solidFill>
                  </a:tcPr>
                </a:tc>
                <a:tc>
                  <a:txBody>
                    <a:bodyPr wrap="square"/>
                    <a:lstStyle/>
                    <a:p>
                      <a:r>
                        <a:rPr sz="1100" b="0">
                          <a:solidFill>
                            <a:srgbClr val="282828"/>
                          </a:solidFill>
                          <a:latin typeface="Arial"/>
                        </a:rPr>
                        <a:t>0.30, 142 pm / 1.05, 23 pm</a:t>
                      </a:r>
                    </a:p>
                  </a:txBody>
                  <a:tcPr marL="54864" marR="54864" marT="18288" marB="18288">
                    <a:solidFill>
                      <a:srgbClr val="FFFFFF"/>
                    </a:solidFill>
                  </a:tcPr>
                </a:tc>
                <a:tc>
                  <a:txBody>
                    <a:bodyPr wrap="square"/>
                    <a:lstStyle/>
                    <a:p>
                      <a:r>
                        <a:rPr sz="1100" b="0">
                          <a:solidFill>
                            <a:srgbClr val="282828"/>
                          </a:solidFill>
                          <a:latin typeface="Arial"/>
                        </a:rPr>
                        <a:t>0.78, 27 pm / 0.78, 74 pm</a:t>
                      </a:r>
                    </a:p>
                  </a:txBody>
                  <a:tcPr marL="54864" marR="54864" marT="18288" marB="18288">
                    <a:solidFill>
                      <a:srgbClr val="FFFFFF"/>
                    </a:solidFill>
                  </a:tcPr>
                </a:tc>
                <a:tc>
                  <a:txBody>
                    <a:bodyPr wrap="square"/>
                    <a:lstStyle/>
                    <a:p>
                      <a:r>
                        <a:rPr sz="1100" b="0">
                          <a:solidFill>
                            <a:srgbClr val="282828"/>
                          </a:solidFill>
                          <a:latin typeface="Arial"/>
                        </a:rPr>
                        <a:t>0.77, 18 pm / 0.99, 5 pm</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gain, floor</a:t>
                      </a:r>
                    </a:p>
                  </a:txBody>
                  <a:tcPr marL="54864" marR="54864" marT="18288" marB="18288">
                    <a:solidFill>
                      <a:srgbClr val="ECF1F6"/>
                    </a:solidFill>
                  </a:tcPr>
                </a:tc>
                <a:tc>
                  <a:txBody>
                    <a:bodyPr wrap="square"/>
                    <a:lstStyle/>
                    <a:p>
                      <a:r>
                        <a:rPr sz="1100" b="0">
                          <a:solidFill>
                            <a:srgbClr val="282828"/>
                          </a:solidFill>
                          <a:latin typeface="Arial"/>
                        </a:rPr>
                        <a:t>1.01, 77 pm / 1.05, 22 pm</a:t>
                      </a:r>
                    </a:p>
                  </a:txBody>
                  <a:tcPr marL="54864" marR="54864" marT="18288" marB="18288">
                    <a:solidFill>
                      <a:srgbClr val="ECF1F6"/>
                    </a:solidFill>
                  </a:tcPr>
                </a:tc>
                <a:tc>
                  <a:txBody>
                    <a:bodyPr wrap="square"/>
                    <a:lstStyle/>
                    <a:p>
                      <a:r>
                        <a:rPr sz="1100" b="0">
                          <a:solidFill>
                            <a:srgbClr val="282828"/>
                          </a:solidFill>
                          <a:latin typeface="Arial"/>
                        </a:rPr>
                        <a:t>0.98, 12 pm / 0.90, 35 pm</a:t>
                      </a:r>
                    </a:p>
                  </a:txBody>
                  <a:tcPr marL="54864" marR="54864" marT="18288" marB="18288">
                    <a:solidFill>
                      <a:srgbClr val="ECF1F6"/>
                    </a:solidFill>
                  </a:tcPr>
                </a:tc>
                <a:tc>
                  <a:txBody>
                    <a:bodyPr wrap="square"/>
                    <a:lstStyle/>
                    <a:p>
                      <a:r>
                        <a:rPr sz="1100" b="0">
                          <a:solidFill>
                            <a:srgbClr val="282828"/>
                          </a:solidFill>
                          <a:latin typeface="Arial"/>
                        </a:rPr>
                        <a:t>0.83, 10 pm / 1.00, 3 pm</a:t>
                      </a:r>
                    </a:p>
                  </a:txBody>
                  <a:tcPr marL="54864" marR="54864" marT="18288" marB="18288">
                    <a:solidFill>
                      <a:srgbClr val="ECF1F6"/>
                    </a:solidFill>
                  </a:tcPr>
                </a:tc>
              </a:tr>
              <a:tr h="468630">
                <a:tc>
                  <a:txBody>
                    <a:bodyPr wrap="square"/>
                    <a:lstStyle/>
                    <a:p>
                      <a:r>
                        <a:rPr sz="1100" b="0">
                          <a:solidFill>
                            <a:srgbClr val="282828"/>
                          </a:solidFill>
                          <a:latin typeface="Arial"/>
                        </a:rPr>
                        <a:t>dense random 10 nm: gain, error</a:t>
                      </a:r>
                    </a:p>
                  </a:txBody>
                  <a:tcPr marL="54864" marR="54864" marT="18288" marB="18288">
                    <a:solidFill>
                      <a:srgbClr val="FFFFFF"/>
                    </a:solidFill>
                  </a:tcPr>
                </a:tc>
                <a:tc>
                  <a:txBody>
                    <a:bodyPr wrap="square"/>
                    <a:lstStyle/>
                    <a:p>
                      <a:r>
                        <a:rPr sz="1100" b="0">
                          <a:solidFill>
                            <a:srgbClr val="282828"/>
                          </a:solidFill>
                          <a:latin typeface="Arial"/>
                        </a:rPr>
                        <a:t>0.88, 9.9 nm / 1.04, 4.7 nm</a:t>
                      </a:r>
                    </a:p>
                  </a:txBody>
                  <a:tcPr marL="54864" marR="54864" marT="18288" marB="18288">
                    <a:solidFill>
                      <a:srgbClr val="FFFFFF"/>
                    </a:solidFill>
                  </a:tcPr>
                </a:tc>
                <a:tc>
                  <a:txBody>
                    <a:bodyPr wrap="square"/>
                    <a:lstStyle/>
                    <a:p>
                      <a:r>
                        <a:rPr sz="1100" b="0">
                          <a:solidFill>
                            <a:srgbClr val="282828"/>
                          </a:solidFill>
                          <a:latin typeface="Arial"/>
                        </a:rPr>
                        <a:t>0.90, 4.2 nm / 0.86, 5.2 nm</a:t>
                      </a:r>
                    </a:p>
                  </a:txBody>
                  <a:tcPr marL="54864" marR="54864" marT="18288" marB="18288">
                    <a:solidFill>
                      <a:srgbClr val="FFFFFF"/>
                    </a:solidFill>
                  </a:tcPr>
                </a:tc>
                <a:tc>
                  <a:txBody>
                    <a:bodyPr wrap="square"/>
                    <a:lstStyle/>
                    <a:p>
                      <a:r>
                        <a:rPr sz="1100" b="0">
                          <a:solidFill>
                            <a:srgbClr val="282828"/>
                          </a:solidFill>
                          <a:latin typeface="Arial"/>
                        </a:rPr>
                        <a:t>0.82, 2.1 nm / 0.98, 0.67 nm</a:t>
                      </a:r>
                    </a:p>
                  </a:txBody>
                  <a:tcPr marL="54864" marR="54864" marT="18288" marB="18288">
                    <a:solidFill>
                      <a:srgbClr val="FFFFFF"/>
                    </a:solidFill>
                  </a:tcPr>
                </a:tc>
              </a:tr>
            </a:tbl>
          </a:graphicData>
        </a:graphic>
      </p:graphicFrame>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500" b="0">
                <a:solidFill>
                  <a:srgbClr val="282828"/>
                </a:solidFill>
                <a:latin typeface="Arial"/>
              </a:rPr>
              <a:t>•  Why the surface matters: every reading's differential map on the 30 nm surface differs 30 to 60% from the same change read on the flat — the sensor's local sensitivity depends on the local phase.  A matrix measured on the working surface carries it; the readings without a sign ambiguity (stepped, linear) then read changes almost exactly.  The exact one-frame reading does not benefit: its surface error is the sign fold, which moves with the change.</a:t>
            </a:r>
          </a:p>
        </p:txBody>
      </p:sp>
      <p:sp>
        <p:nvSpPr>
          <p:cNvPr id="7" name="TextBox 6"/>
          <p:cNvSpPr txBox="1"/>
          <p:nvPr/>
        </p:nvSpPr>
        <p:spPr>
          <a:xfrm>
            <a:off x="411480" y="6655308"/>
            <a:ext cx="11368735" cy="274320"/>
          </a:xfrm>
          <a:prstGeom prst="rect">
            <a:avLst/>
          </a:prstGeom>
          <a:noFill/>
        </p:spPr>
        <p:txBody>
          <a:bodyPr wrap="square">
            <a:spAutoFit/>
          </a:bodyPr>
          <a:lstStyle/>
          <a:p>
            <a:pPr>
              <a:spcAft>
                <a:spcPts val="600"/>
              </a:spcAft>
            </a:pPr>
            <a:r>
              <a:rPr sz="1050" b="0">
                <a:solidFill>
                  <a:srgbClr val="6E6E6E"/>
                </a:solidFill>
                <a:latin typeface="Arial"/>
              </a:rPr>
              <a:t>Alternating ± pokes: neutral to slightly worse in the model (0.987, 11 pm vs 0.994, 4 pm); kept as a bench option (drift cancels between sets).  Records: runs/mat385, matbase385, mapdiag.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With the matrix measured at 30 nm, 47 changes at once read at 1.08 to 0.93 up to 50 nm rms (stepped) and 1.03 to 0.83 (linear); the calibration ages slowly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11780"/>
        </p:xfrm>
        <a:graphic>
          <a:graphicData uri="http://schemas.openxmlformats.org/drawingml/2006/table">
            <a:tbl>
              <a:tblPr firstRow="1" bandRow="1">
                <a:tableStyleId>{5C22544A-7EE6-4342-B048-85BDC9FD1C3A}</a:tableStyleId>
              </a:tblPr>
              <a:tblGrid>
                <a:gridCol w="5005103"/>
                <a:gridCol w="1644534"/>
                <a:gridCol w="1573032"/>
                <a:gridCol w="1573032"/>
                <a:gridCol w="1573032"/>
              </a:tblGrid>
              <a:tr h="468630">
                <a:tc>
                  <a:txBody>
                    <a:bodyPr wrap="square"/>
                    <a:lstStyle/>
                    <a:p>
                      <a:r>
                        <a:rPr sz="1100" b="1">
                          <a:solidFill>
                            <a:srgbClr val="FFFFFF"/>
                          </a:solidFill>
                          <a:latin typeface="Arial"/>
                        </a:rPr>
                        <a:t>10 nm changes on 47 actuators, 96×96;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468630">
                <a:tc>
                  <a:txBody>
                    <a:bodyPr wrap="square"/>
                    <a:lstStyle/>
                    <a:p>
                      <a:r>
                        <a:rPr sz="1100" b="0">
                          <a:solidFill>
                            <a:srgbClr val="282828"/>
                          </a:solidFill>
                          <a:latin typeface="Arial"/>
                        </a:rPr>
                        <a:t>matrix on the 30 nm surface — S (four frames)</a:t>
                      </a:r>
                    </a:p>
                  </a:txBody>
                  <a:tcPr marL="54864" marR="54864" marT="18288" marB="18288">
                    <a:solidFill>
                      <a:srgbClr val="FFFFFF"/>
                    </a:solidFill>
                  </a:tcPr>
                </a:tc>
                <a:tc>
                  <a:txBody>
                    <a:bodyPr wrap="square"/>
                    <a:lstStyle/>
                    <a:p>
                      <a:r>
                        <a:rPr sz="1100" b="0">
                          <a:solidFill>
                            <a:srgbClr val="282828"/>
                          </a:solidFill>
                          <a:latin typeface="Arial"/>
                        </a:rPr>
                        <a:t>1.08 → 10.8 nm, 0.25 nm</a:t>
                      </a:r>
                    </a:p>
                  </a:txBody>
                  <a:tcPr marL="54864" marR="54864" marT="18288" marB="18288">
                    <a:solidFill>
                      <a:srgbClr val="FFFFFF"/>
                    </a:solidFill>
                  </a:tcPr>
                </a:tc>
                <a:tc>
                  <a:txBody>
                    <a:bodyPr wrap="square"/>
                    <a:lstStyle/>
                    <a:p>
                      <a:r>
                        <a:rPr sz="1100" b="0">
                          <a:solidFill>
                            <a:srgbClr val="282828"/>
                          </a:solidFill>
                          <a:latin typeface="Arial"/>
                        </a:rPr>
                        <a:t>0.98 → 9.8 nm, 0.24 nm</a:t>
                      </a:r>
                    </a:p>
                  </a:txBody>
                  <a:tcPr marL="54864" marR="54864" marT="18288" marB="18288">
                    <a:solidFill>
                      <a:srgbClr val="FFFFFF"/>
                    </a:solidFill>
                  </a:tcPr>
                </a:tc>
                <a:tc>
                  <a:txBody>
                    <a:bodyPr wrap="square"/>
                    <a:lstStyle/>
                    <a:p>
                      <a:r>
                        <a:rPr sz="1100" b="0">
                          <a:solidFill>
                            <a:srgbClr val="282828"/>
                          </a:solidFill>
                          <a:latin typeface="Arial"/>
                        </a:rPr>
                        <a:t>0.93 → 9.3 nm, 0.40 nm</a:t>
                      </a:r>
                    </a:p>
                  </a:txBody>
                  <a:tcPr marL="54864" marR="54864" marT="18288" marB="18288">
                    <a:solidFill>
                      <a:srgbClr val="FFFFFF"/>
                    </a:solidFill>
                  </a:tcPr>
                </a:tc>
                <a:tc>
                  <a:txBody>
                    <a:bodyPr wrap="square"/>
                    <a:lstStyle/>
                    <a:p>
                      <a:r>
                        <a:rPr sz="1100" b="0">
                          <a:solidFill>
                            <a:srgbClr val="282828"/>
                          </a:solidFill>
                          <a:latin typeface="Arial"/>
                        </a:rPr>
                        <a:t>0.71 → 7.1 nm, 0.59 nm</a:t>
                      </a:r>
                    </a:p>
                  </a:txBody>
                  <a:tcPr marL="54864" marR="54864" marT="18288" marB="18288">
                    <a:solidFill>
                      <a:srgbClr val="FFFFFF"/>
                    </a:solidFill>
                  </a:tcPr>
                </a:tc>
              </a:tr>
              <a:tr h="468630">
                <a:tc>
                  <a:txBody>
                    <a:bodyPr wrap="square"/>
                    <a:lstStyle/>
                    <a:p>
                      <a:r>
                        <a:rPr sz="1100" b="0">
                          <a:solidFill>
                            <a:srgbClr val="282828"/>
                          </a:solidFill>
                          <a:latin typeface="Arial"/>
                        </a:rPr>
                        <a:t>matrix on the 30 nm surface — L (one frame)</a:t>
                      </a:r>
                    </a:p>
                  </a:txBody>
                  <a:tcPr marL="54864" marR="54864" marT="18288" marB="18288">
                    <a:solidFill>
                      <a:srgbClr val="ECF1F6"/>
                    </a:solidFill>
                  </a:tcPr>
                </a:tc>
                <a:tc>
                  <a:txBody>
                    <a:bodyPr wrap="square"/>
                    <a:lstStyle/>
                    <a:p>
                      <a:r>
                        <a:rPr sz="1100" b="0">
                          <a:solidFill>
                            <a:srgbClr val="282828"/>
                          </a:solidFill>
                          <a:latin typeface="Arial"/>
                        </a:rPr>
                        <a:t>1.03 → 10.3 nm, 0.28 nm</a:t>
                      </a:r>
                    </a:p>
                  </a:txBody>
                  <a:tcPr marL="54864" marR="54864" marT="18288" marB="18288">
                    <a:solidFill>
                      <a:srgbClr val="ECF1F6"/>
                    </a:solidFill>
                  </a:tcPr>
                </a:tc>
                <a:tc>
                  <a:txBody>
                    <a:bodyPr wrap="square"/>
                    <a:lstStyle/>
                    <a:p>
                      <a:r>
                        <a:rPr sz="1100" b="0">
                          <a:solidFill>
                            <a:srgbClr val="282828"/>
                          </a:solidFill>
                          <a:latin typeface="Arial"/>
                        </a:rPr>
                        <a:t>0.95 → 9.5 nm, 0.35 nm</a:t>
                      </a:r>
                    </a:p>
                  </a:txBody>
                  <a:tcPr marL="54864" marR="54864" marT="18288" marB="18288">
                    <a:solidFill>
                      <a:srgbClr val="ECF1F6"/>
                    </a:solidFill>
                  </a:tcPr>
                </a:tc>
                <a:tc>
                  <a:txBody>
                    <a:bodyPr wrap="square"/>
                    <a:lstStyle/>
                    <a:p>
                      <a:r>
                        <a:rPr sz="1100" b="0">
                          <a:solidFill>
                            <a:srgbClr val="282828"/>
                          </a:solidFill>
                          <a:latin typeface="Arial"/>
                        </a:rPr>
                        <a:t>0.83 → 8.3 nm, 0.50 nm</a:t>
                      </a:r>
                    </a:p>
                  </a:txBody>
                  <a:tcPr marL="54864" marR="54864" marT="18288" marB="18288">
                    <a:solidFill>
                      <a:srgbClr val="ECF1F6"/>
                    </a:solidFill>
                  </a:tcPr>
                </a:tc>
                <a:tc>
                  <a:txBody>
                    <a:bodyPr wrap="square"/>
                    <a:lstStyle/>
                    <a:p>
                      <a:r>
                        <a:rPr sz="1100" b="0">
                          <a:solidFill>
                            <a:srgbClr val="282828"/>
                          </a:solidFill>
                          <a:latin typeface="Arial"/>
                        </a:rPr>
                        <a:t>0.67 → 6.7 nm, 0.61 nm</a:t>
                      </a:r>
                    </a:p>
                  </a:txBody>
                  <a:tcPr marL="54864" marR="54864" marT="18288" marB="18288">
                    <a:solidFill>
                      <a:srgbClr val="ECF1F6"/>
                    </a:solidFill>
                  </a:tcPr>
                </a:tc>
              </a:tr>
              <a:tr h="468630">
                <a:tc>
                  <a:txBody>
                    <a:bodyPr wrap="square"/>
                    <a:lstStyle/>
                    <a:p>
                      <a:r>
                        <a:rPr sz="1100" b="0">
                          <a:solidFill>
                            <a:srgbClr val="282828"/>
                          </a:solidFill>
                          <a:latin typeface="Arial"/>
                        </a:rPr>
                        <a:t>matrix on the 30 nm surface — I+ (one frame)</a:t>
                      </a:r>
                    </a:p>
                  </a:txBody>
                  <a:tcPr marL="54864" marR="54864" marT="18288" marB="18288">
                    <a:solidFill>
                      <a:srgbClr val="FFFFFF"/>
                    </a:solidFill>
                  </a:tcPr>
                </a:tc>
                <a:tc>
                  <a:txBody>
                    <a:bodyPr wrap="square"/>
                    <a:lstStyle/>
                    <a:p>
                      <a:r>
                        <a:rPr sz="1100" b="0">
                          <a:solidFill>
                            <a:srgbClr val="282828"/>
                          </a:solidFill>
                          <a:latin typeface="Arial"/>
                        </a:rPr>
                        <a:t>1.01 → 10.1 nm, 0.20 nm</a:t>
                      </a:r>
                    </a:p>
                  </a:txBody>
                  <a:tcPr marL="54864" marR="54864" marT="18288" marB="18288">
                    <a:solidFill>
                      <a:srgbClr val="FFFFFF"/>
                    </a:solidFill>
                  </a:tcPr>
                </a:tc>
                <a:tc>
                  <a:txBody>
                    <a:bodyPr wrap="square"/>
                    <a:lstStyle/>
                    <a:p>
                      <a:r>
                        <a:rPr sz="1100" b="0">
                          <a:solidFill>
                            <a:srgbClr val="282828"/>
                          </a:solidFill>
                          <a:latin typeface="Arial"/>
                        </a:rPr>
                        <a:t>0.91 → 9.1 nm, 0.35 nm</a:t>
                      </a:r>
                    </a:p>
                  </a:txBody>
                  <a:tcPr marL="54864" marR="54864" marT="18288" marB="18288">
                    <a:solidFill>
                      <a:srgbClr val="FFFFFF"/>
                    </a:solidFill>
                  </a:tcPr>
                </a:tc>
                <a:tc>
                  <a:txBody>
                    <a:bodyPr wrap="square"/>
                    <a:lstStyle/>
                    <a:p>
                      <a:r>
                        <a:rPr sz="1100" b="0">
                          <a:solidFill>
                            <a:srgbClr val="282828"/>
                          </a:solidFill>
                          <a:latin typeface="Arial"/>
                        </a:rPr>
                        <a:t>0.69 → 6.9 nm, 1.9 nm</a:t>
                      </a:r>
                    </a:p>
                  </a:txBody>
                  <a:tcPr marL="54864" marR="54864" marT="18288" marB="18288">
                    <a:solidFill>
                      <a:srgbClr val="FFFFFF"/>
                    </a:solidFill>
                  </a:tcPr>
                </a:tc>
                <a:tc>
                  <a:txBody>
                    <a:bodyPr wrap="square"/>
                    <a:lstStyle/>
                    <a:p>
                      <a:r>
                        <a:rPr sz="1100" b="0">
                          <a:solidFill>
                            <a:srgbClr val="282828"/>
                          </a:solidFill>
                          <a:latin typeface="Arial"/>
                        </a:rPr>
                        <a:t>0.57 → 5.7 nm, 1.2 nm</a:t>
                      </a:r>
                    </a:p>
                  </a:txBody>
                  <a:tcPr marL="54864" marR="54864" marT="18288" marB="18288">
                    <a:solidFill>
                      <a:srgbClr val="FFFFFF"/>
                    </a:solidFill>
                  </a:tcPr>
                </a:tc>
              </a:tr>
              <a:tr h="468630">
                <a:tc>
                  <a:txBody>
                    <a:bodyPr wrap="square"/>
                    <a:lstStyle/>
                    <a:p>
                      <a:r>
                        <a:rPr sz="1100" b="0">
                          <a:solidFill>
                            <a:srgbClr val="282828"/>
                          </a:solidFill>
                          <a:latin typeface="Arial"/>
                        </a:rPr>
                        <a:t>matrix on the flat — I+</a:t>
                      </a:r>
                    </a:p>
                  </a:txBody>
                  <a:tcPr marL="54864" marR="54864" marT="18288" marB="18288">
                    <a:solidFill>
                      <a:srgbClr val="ECF1F6"/>
                    </a:solidFill>
                  </a:tcPr>
                </a:tc>
                <a:tc>
                  <a:txBody>
                    <a:bodyPr wrap="square"/>
                    <a:lstStyle/>
                    <a:p>
                      <a:r>
                        <a:rPr sz="1100" b="0">
                          <a:solidFill>
                            <a:srgbClr val="282828"/>
                          </a:solidFill>
                          <a:latin typeface="Arial"/>
                        </a:rPr>
                        <a:t>0.81 → 8.1 nm, 0.21 nm</a:t>
                      </a:r>
                    </a:p>
                  </a:txBody>
                  <a:tcPr marL="54864" marR="54864" marT="18288" marB="18288">
                    <a:solidFill>
                      <a:srgbClr val="ECF1F6"/>
                    </a:solidFill>
                  </a:tcPr>
                </a:tc>
                <a:tc>
                  <a:txBody>
                    <a:bodyPr wrap="square"/>
                    <a:lstStyle/>
                    <a:p>
                      <a:r>
                        <a:rPr sz="1100" b="0">
                          <a:solidFill>
                            <a:srgbClr val="282828"/>
                          </a:solidFill>
                          <a:latin typeface="Arial"/>
                        </a:rPr>
                        <a:t>0.83 → 8.3 nm, 0.16 nm</a:t>
                      </a:r>
                    </a:p>
                  </a:txBody>
                  <a:tcPr marL="54864" marR="54864" marT="18288" marB="18288">
                    <a:solidFill>
                      <a:srgbClr val="ECF1F6"/>
                    </a:solidFill>
                  </a:tcPr>
                </a:tc>
                <a:tc>
                  <a:txBody>
                    <a:bodyPr wrap="square"/>
                    <a:lstStyle/>
                    <a:p>
                      <a:r>
                        <a:rPr sz="1100" b="0">
                          <a:solidFill>
                            <a:srgbClr val="282828"/>
                          </a:solidFill>
                          <a:latin typeface="Arial"/>
                        </a:rPr>
                        <a:t>0.65 → 6.5 nm, 1.8 nm</a:t>
                      </a:r>
                    </a:p>
                  </a:txBody>
                  <a:tcPr marL="54864" marR="54864" marT="18288" marB="18288">
                    <a:solidFill>
                      <a:srgbClr val="ECF1F6"/>
                    </a:solidFill>
                  </a:tcPr>
                </a:tc>
                <a:tc>
                  <a:txBody>
                    <a:bodyPr wrap="square"/>
                    <a:lstStyle/>
                    <a:p>
                      <a:r>
                        <a:rPr sz="1100" b="0">
                          <a:solidFill>
                            <a:srgbClr val="282828"/>
                          </a:solidFill>
                          <a:latin typeface="Arial"/>
                        </a:rPr>
                        <a:t>0.58 → 5.8 nm, 1.2 nm</a:t>
                      </a:r>
                    </a:p>
                  </a:txBody>
                  <a:tcPr marL="54864" marR="54864" marT="18288" marB="18288">
                    <a:solidFill>
                      <a:srgbClr val="ECF1F6"/>
                    </a:solidFill>
                  </a:tcPr>
                </a:tc>
              </a:tr>
              <a:tr h="468630">
                <a:tc>
                  <a:txBody>
                    <a:bodyPr wrap="square"/>
                    <a:lstStyle/>
                    <a:p>
                      <a:r>
                        <a:rPr sz="1100" b="0">
                          <a:solidFill>
                            <a:srgbClr val="282828"/>
                          </a:solidFill>
                          <a:latin typeface="Arial"/>
                        </a:rPr>
                        <a:t>matrix on the flat — S</a:t>
                      </a:r>
                    </a:p>
                  </a:txBody>
                  <a:tcPr marL="54864" marR="54864" marT="18288" marB="18288">
                    <a:solidFill>
                      <a:srgbClr val="FFFFFF"/>
                    </a:solidFill>
                  </a:tcPr>
                </a:tc>
                <a:tc>
                  <a:txBody>
                    <a:bodyPr wrap="square"/>
                    <a:lstStyle/>
                    <a:p>
                      <a:r>
                        <a:rPr sz="1100" b="0">
                          <a:solidFill>
                            <a:srgbClr val="282828"/>
                          </a:solidFill>
                          <a:latin typeface="Arial"/>
                        </a:rPr>
                        <a:t>0.91 → 9.1 nm, 0.23 nm</a:t>
                      </a:r>
                    </a:p>
                  </a:txBody>
                  <a:tcPr marL="54864" marR="54864" marT="18288" marB="18288">
                    <a:solidFill>
                      <a:srgbClr val="FFFFFF"/>
                    </a:solidFill>
                  </a:tcPr>
                </a:tc>
                <a:tc>
                  <a:txBody>
                    <a:bodyPr wrap="square"/>
                    <a:lstStyle/>
                    <a:p>
                      <a:r>
                        <a:rPr sz="1100" b="0">
                          <a:solidFill>
                            <a:srgbClr val="282828"/>
                          </a:solidFill>
                          <a:latin typeface="Arial"/>
                        </a:rPr>
                        <a:t>0.83 → 8.3 nm, 0.23 nm</a:t>
                      </a:r>
                    </a:p>
                  </a:txBody>
                  <a:tcPr marL="54864" marR="54864" marT="18288" marB="18288">
                    <a:solidFill>
                      <a:srgbClr val="FFFFFF"/>
                    </a:solidFill>
                  </a:tcPr>
                </a:tc>
                <a:tc>
                  <a:txBody>
                    <a:bodyPr wrap="square"/>
                    <a:lstStyle/>
                    <a:p>
                      <a:r>
                        <a:rPr sz="1100" b="0">
                          <a:solidFill>
                            <a:srgbClr val="282828"/>
                          </a:solidFill>
                          <a:latin typeface="Arial"/>
                        </a:rPr>
                        <a:t>0.79 → 7.9 nm, 0.37 nm</a:t>
                      </a:r>
                    </a:p>
                  </a:txBody>
                  <a:tcPr marL="54864" marR="54864" marT="18288" marB="18288">
                    <a:solidFill>
                      <a:srgbClr val="FFFFFF"/>
                    </a:solidFill>
                  </a:tcPr>
                </a:tc>
                <a:tc>
                  <a:txBody>
                    <a:bodyPr wrap="square"/>
                    <a:lstStyle/>
                    <a:p>
                      <a:r>
                        <a:rPr sz="1100" b="0">
                          <a:solidFill>
                            <a:srgbClr val="282828"/>
                          </a:solidFill>
                          <a:latin typeface="Arial"/>
                        </a:rPr>
                        <a:t>0.59 → 5.9 nm, 0.55 nm</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gain is after calibration, so 0.93 means a 10 nm change reads 9.3 nm — a 7% error the calibration did not remove.  The floor is a second error on top: the spread over the 47 sites' unchanged neighbors (their crosstalk, 0.2 to 0.6 nm here).</a:t>
            </a:r>
          </a:p>
          <a:p>
            <a:pPr>
              <a:spcAft>
                <a:spcPts val="600"/>
              </a:spcAft>
            </a:pPr>
            <a:r>
              <a:rPr sz="1500" b="0">
                <a:solidFill>
                  <a:srgbClr val="282828"/>
                </a:solidFill>
                <a:latin typeface="Arial"/>
              </a:rPr>
              <a:t>•  Calibration on the working surface absorbs most of it for the readings without a sign ambiguity: the stepped reading goes from 0.91 to 1.08 at 30 nm and from 0.79 to 0.93 at 50 nm; the linear reading from unusable to 1.03.  A matrix measured at 30 nm is still within 7% at 50 nm rms, so a calibration follows the working surface slowly.  The one-frame exact reading is not helped: its surface error is the sign fold, which moves with the change (it fails at 50 nm, floor 1.9 nm, when some of the 47 sites fall past the fold).</a:t>
            </a:r>
          </a:p>
          <a:p>
            <a:pPr>
              <a:spcAft>
                <a:spcPts val="600"/>
              </a:spcAft>
            </a:pPr>
            <a:r>
              <a:rPr sz="1500" b="0">
                <a:solidFill>
                  <a:srgbClr val="282828"/>
                </a:solidFill>
                <a:latin typeface="Arial"/>
              </a:rPr>
              <a:t>•  Past 120 nm rms every reading aliases (the stepped retrieval itself wraps).</a:t>
            </a:r>
          </a:p>
        </p:txBody>
      </p:sp>
      <p:sp>
        <p:nvSpPr>
          <p:cNvPr id="6" name="TextBox 5"/>
          <p:cNvSpPr txBox="1"/>
          <p:nvPr/>
        </p:nvSpPr>
        <p:spPr>
          <a:xfrm>
            <a:off x="411480" y="6942582"/>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floors on slide 9.  385 rays; records: runs/matbase385 (surface matrix), runs/mat385 (flat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Color is no longer a lever</a:t>
            </a:r>
          </a:p>
          <a:p>
            <a:pPr>
              <a:spcAft>
                <a:spcPts val="0"/>
              </a:spcAft>
            </a:pPr>
            <a:r>
              <a:rPr sz="1250" b="0">
                <a:solidFill>
                  <a:srgbClr val="6E6E6E"/>
                </a:solidFill>
                <a:latin typeface="Arial"/>
              </a:rPr>
              <a:t>With the sensor's null gone, five colors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color is range: 780 nm is the best single color on nearly every row — less phase per nanometer of height, and a 1.6 λ/D dimple.  The interferometer is unchanged at every color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color; development sampling (193 rays, 1024 grid); runs/rec193full.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measurement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measurement,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measurement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 (four frames of 2.5×10¹³)</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 (four frames of 2×10¹⁴)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What "photons per measurement" counts: every photon the camera detects over the whole pupil image while one DM shape is measured once, summed over the frames that reading needs: one frame for the one-frame readings, four for the stepped reading (a quarter each).  Not per mode or per actuator: 10¹⁴ per measurement is 3×10¹⁰ per lit actuator.  Measuring a change takes two measurements, so twice the number.</a:t>
            </a:r>
          </a:p>
          <a:p>
            <a:pPr>
              <a:spcAft>
                <a:spcPts val="600"/>
              </a:spcAft>
            </a:pPr>
            <a:r>
              <a:rPr sz="1200" b="0">
                <a:solidFill>
                  <a:srgbClr val="282828"/>
                </a:solidFill>
                <a:latin typeface="Arial"/>
              </a:rPr>
              <a:t>•  In laser terms: at 633 nm, 10¹⁴ photons is 31 µJ.  The test arm passes a 50/50 splitter twice, so a quarter of the laser power reaches the camera (other losses not counted): a 1 mW laser needs 0.13 s per measurement, a 5 mW laser 25 ms; the interferometer's 8×10¹⁴ is 1 s at 1 mW.</a:t>
            </a:r>
          </a:p>
          <a:p>
            <a:pPr>
              <a:spcAft>
                <a:spcPts val="600"/>
              </a:spcAft>
            </a:pPr>
            <a:r>
              <a:rPr sz="1200" b="0">
                <a:solidFill>
                  <a:srgbClr val="282828"/>
                </a:solidFill>
                <a:latin typeface="Arial"/>
              </a:rPr>
              <a:t>•  Method: noise-free frames once per measurement, photon shot noise added numerically, eight trials per point.  The 1 pm budget is about systematic errors and gain stability, not light.</a:t>
            </a:r>
          </a:p>
        </p:txBody>
      </p:sp>
      <p:sp>
        <p:nvSpPr>
          <p:cNvPr id="8" name="TextBox 7"/>
          <p:cNvSpPr txBox="1"/>
          <p:nvPr/>
        </p:nvSpPr>
        <p:spPr>
          <a:xfrm>
            <a:off x="6400800" y="6317742"/>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Records: runs/rec193full; tg96_s5noise_report.txt.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Holding the surface in closed loop: the on-orbit metric</a:t>
            </a:r>
          </a:p>
          <a:p>
            <a:pPr>
              <a:spcAft>
                <a:spcPts val="0"/>
              </a:spcAft>
            </a:pPr>
            <a:r>
              <a:rPr sz="1250" b="0">
                <a:solidFill>
                  <a:srgbClr val="6E6E6E"/>
                </a:solidFill>
                <a:latin typeface="Arial"/>
              </a:rPr>
              <a:t>Servoed through the sensor, the readings cost the same light; what differs is each reading's fixed error: none, some, or a runaway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loop193_left.png"/>
          <p:cNvPicPr>
            <a:picLocks noChangeAspect="1"/>
          </p:cNvPicPr>
          <p:nvPr/>
        </p:nvPicPr>
        <p:blipFill>
          <a:blip r:embed="rId2"/>
          <a:stretch>
            <a:fillRect/>
          </a:stretch>
        </p:blipFill>
        <p:spPr>
          <a:xfrm>
            <a:off x="1654521" y="1298448"/>
            <a:ext cx="3320357"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The stepped reading's residual per cycle under a 2 pm-per-cycle random walk at four light levels (10¹² to 10¹⁵ photons per cycle, light to dark), and a noise-free 1 nm step (dashed) returning to zero.  Left panel of the runner's figure.</a:t>
            </a:r>
          </a:p>
        </p:txBody>
      </p:sp>
      <p:graphicFrame>
        <p:nvGraphicFramePr>
          <p:cNvPr id="6" name="Table 5"/>
          <p:cNvGraphicFramePr>
            <a:graphicFrameLocks noGrp="1"/>
          </p:cNvGraphicFramePr>
          <p:nvPr/>
        </p:nvGraphicFramePr>
        <p:xfrm>
          <a:off x="6400800" y="1298448"/>
          <a:ext cx="5394958" cy="2000250"/>
        </p:xfrm>
        <a:graphic>
          <a:graphicData uri="http://schemas.openxmlformats.org/drawingml/2006/table">
            <a:tbl>
              <a:tblPr firstRow="1" bandRow="1">
                <a:tableStyleId>{5C22544A-7EE6-4342-B048-85BDC9FD1C3A}</a:tableStyleId>
              </a:tblPr>
              <a:tblGrid>
                <a:gridCol w="1304663"/>
                <a:gridCol w="846268"/>
                <a:gridCol w="740484"/>
                <a:gridCol w="1445708"/>
                <a:gridCol w="1057835"/>
              </a:tblGrid>
              <a:tr h="434340">
                <a:tc>
                  <a:txBody>
                    <a:bodyPr wrap="square"/>
                    <a:lstStyle/>
                    <a:p>
                      <a:r>
                        <a:rPr sz="1000" b="1">
                          <a:solidFill>
                            <a:srgbClr val="FFFFFF"/>
                          </a:solidFill>
                          <a:latin typeface="Arial"/>
                        </a:rPr>
                        <a:t>held to 3 pm rms: photons per cycle</a:t>
                      </a:r>
                    </a:p>
                  </a:txBody>
                  <a:tcPr marL="54864" marR="54864" marT="18288" marB="18288">
                    <a:solidFill>
                      <a:srgbClr val="1F4E79"/>
                    </a:solidFill>
                  </a:tcPr>
                </a:tc>
                <a:tc>
                  <a:txBody>
                    <a:bodyPr wrap="square"/>
                    <a:lstStyle/>
                    <a:p>
                      <a:r>
                        <a:rPr sz="1000" b="1">
                          <a:solidFill>
                            <a:srgbClr val="FFFFFF"/>
                          </a:solidFill>
                          <a:latin typeface="Arial"/>
                        </a:rPr>
                        <a:t>linear (L)</a:t>
                      </a:r>
                    </a:p>
                  </a:txBody>
                  <a:tcPr marL="54864" marR="54864" marT="18288" marB="18288">
                    <a:solidFill>
                      <a:srgbClr val="1F4E79"/>
                    </a:solidFill>
                  </a:tcPr>
                </a:tc>
                <a:tc>
                  <a:txBody>
                    <a:bodyPr wrap="square"/>
                    <a:lstStyle/>
                    <a:p>
                      <a:r>
                        <a:rPr sz="1000" b="1">
                          <a:solidFill>
                            <a:srgbClr val="FFFFFF"/>
                          </a:solidFill>
                          <a:latin typeface="Arial"/>
                        </a:rPr>
                        <a:t>exact, one frame (I+)</a:t>
                      </a:r>
                    </a:p>
                  </a:txBody>
                  <a:tcPr marL="54864" marR="54864" marT="18288" marB="18288">
                    <a:solidFill>
                      <a:srgbClr val="1F4E79"/>
                    </a:solidFill>
                  </a:tcPr>
                </a:tc>
                <a:tc>
                  <a:txBody>
                    <a:bodyPr wrap="square"/>
                    <a:lstStyle/>
                    <a:p>
                      <a:r>
                        <a:rPr sz="1000" b="1">
                          <a:solidFill>
                            <a:srgbClr val="FFFFFF"/>
                          </a:solidFill>
                          <a:latin typeface="Arial"/>
                        </a:rPr>
                        <a:t>stepped (S)</a:t>
                      </a:r>
                    </a:p>
                  </a:txBody>
                  <a:tcPr marL="54864" marR="54864" marT="18288" marB="18288">
                    <a:solidFill>
                      <a:srgbClr val="1F4E79"/>
                    </a:solidFill>
                  </a:tcPr>
                </a:tc>
                <a:tc>
                  <a:txBody>
                    <a:bodyPr wrap="square"/>
                    <a:lstStyle/>
                    <a:p>
                      <a:r>
                        <a:rPr sz="1000" b="1">
                          <a:solidFill>
                            <a:srgbClr val="FFFFFF"/>
                          </a:solidFill>
                          <a:latin typeface="Arial"/>
                        </a:rPr>
                        <a:t>polarized pair (V, next slide)</a:t>
                      </a:r>
                    </a:p>
                  </a:txBody>
                  <a:tcPr marL="54864" marR="54864" marT="18288" marB="18288">
                    <a:solidFill>
                      <a:srgbClr val="1F4E79"/>
                    </a:solidFill>
                  </a:tcPr>
                </a:tc>
              </a:tr>
              <a:tr h="262890">
                <a:tc>
                  <a:txBody>
                    <a:bodyPr wrap="square"/>
                    <a:lstStyle/>
                    <a:p>
                      <a:r>
                        <a:rPr sz="1000" b="0">
                          <a:solidFill>
                            <a:srgbClr val="282828"/>
                          </a:solidFill>
                          <a:latin typeface="Arial"/>
                        </a:rPr>
                        <a:t>noise only</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c>
                  <a:txBody>
                    <a:bodyPr wrap="square"/>
                    <a:lstStyle/>
                    <a:p>
                      <a:r>
                        <a:rPr sz="1000" b="0">
                          <a:solidFill>
                            <a:srgbClr val="282828"/>
                          </a:solidFill>
                          <a:latin typeface="Arial"/>
                        </a:rPr>
                        <a:t>1.5×10¹²</a:t>
                      </a:r>
                    </a:p>
                  </a:txBody>
                  <a:tcPr marL="54864" marR="54864" marT="18288" marB="18288">
                    <a:solidFill>
                      <a:srgbClr val="FFFFFF"/>
                    </a:solidFill>
                  </a:tcPr>
                </a:tc>
              </a:tr>
              <a:tr h="434340">
                <a:tc>
                  <a:txBody>
                    <a:bodyPr wrap="square"/>
                    <a:lstStyle/>
                    <a:p>
                      <a:r>
                        <a:rPr sz="1000" b="0">
                          <a:solidFill>
                            <a:srgbClr val="282828"/>
                          </a:solidFill>
                          <a:latin typeface="Arial"/>
                        </a:rPr>
                        <a:t>random walk, 2 pm per cycle</a:t>
                      </a:r>
                    </a:p>
                  </a:txBody>
                  <a:tcPr marL="54864" marR="54864" marT="18288" marB="18288">
                    <a:solidFill>
                      <a:srgbClr val="ECF1F6"/>
                    </a:solidFill>
                  </a:tcPr>
                </a:tc>
                <a:tc>
                  <a:txBody>
                    <a:bodyPr wrap="square"/>
                    <a:lstStyle/>
                    <a:p>
                      <a:r>
                        <a:rPr sz="1000" b="0">
                          <a:solidFill>
                            <a:srgbClr val="282828"/>
                          </a:solidFill>
                          <a:latin typeface="Arial"/>
                        </a:rPr>
                        <a:t>7.3×10¹²</a:t>
                      </a:r>
                    </a:p>
                  </a:txBody>
                  <a:tcPr marL="54864" marR="54864" marT="18288" marB="18288">
                    <a:solidFill>
                      <a:srgbClr val="ECF1F6"/>
                    </a:solidFill>
                  </a:tcPr>
                </a:tc>
                <a:tc>
                  <a:txBody>
                    <a:bodyPr wrap="square"/>
                    <a:lstStyle/>
                    <a:p>
                      <a:r>
                        <a:rPr sz="1000" b="0">
                          <a:solidFill>
                            <a:srgbClr val="282828"/>
                          </a:solidFill>
                          <a:latin typeface="Arial"/>
                        </a:rPr>
                        <a:t>runs away</a:t>
                      </a:r>
                    </a:p>
                  </a:txBody>
                  <a:tcPr marL="54864" marR="54864" marT="18288" marB="18288">
                    <a:solidFill>
                      <a:srgbClr val="ECF1F6"/>
                    </a:solidFill>
                  </a:tcPr>
                </a:tc>
                <a:tc>
                  <a:txBody>
                    <a:bodyPr wrap="square"/>
                    <a:lstStyle/>
                    <a:p>
                      <a:r>
                        <a:rPr sz="1000" b="0">
                          <a:solidFill>
                            <a:srgbClr val="282828"/>
                          </a:solidFill>
                          <a:latin typeface="Arial"/>
                        </a:rPr>
                        <a:t>7.5×10¹²</a:t>
                      </a:r>
                    </a:p>
                  </a:txBody>
                  <a:tcPr marL="54864" marR="54864" marT="18288" marB="18288">
                    <a:solidFill>
                      <a:srgbClr val="ECF1F6"/>
                    </a:solidFill>
                  </a:tcPr>
                </a:tc>
                <a:tc>
                  <a:txBody>
                    <a:bodyPr wrap="square"/>
                    <a:lstStyle/>
                    <a:p>
                      <a:r>
                        <a:rPr sz="1000" b="0">
                          <a:solidFill>
                            <a:srgbClr val="282828"/>
                          </a:solidFill>
                          <a:latin typeface="Arial"/>
                        </a:rPr>
                        <a:t>5.3×10¹²</a:t>
                      </a:r>
                    </a:p>
                  </a:txBody>
                  <a:tcPr marL="54864" marR="54864" marT="18288" marB="18288">
                    <a:solidFill>
                      <a:srgbClr val="ECF1F6"/>
                    </a:solidFill>
                  </a:tcPr>
                </a:tc>
              </a:tr>
              <a:tr h="434340">
                <a:tc>
                  <a:txBody>
                    <a:bodyPr wrap="square"/>
                    <a:lstStyle/>
                    <a:p>
                      <a:r>
                        <a:rPr sz="1000" b="0">
                          <a:solidFill>
                            <a:srgbClr val="282828"/>
                          </a:solidFill>
                          <a:latin typeface="Arial"/>
                        </a:rPr>
                        <a:t>thermal ramp, 5 pm per cycle</a:t>
                      </a:r>
                    </a:p>
                  </a:txBody>
                  <a:tcPr marL="54864" marR="54864" marT="18288" marB="18288">
                    <a:solidFill>
                      <a:srgbClr val="FFFFFF"/>
                    </a:solidFill>
                  </a:tcPr>
                </a:tc>
                <a:tc>
                  <a:txBody>
                    <a:bodyPr wrap="square"/>
                    <a:lstStyle/>
                    <a:p>
                      <a:r>
                        <a:rPr sz="1000" b="0">
                          <a:solidFill>
                            <a:srgbClr val="282828"/>
                          </a:solidFill>
                          <a:latin typeface="Arial"/>
                        </a:rPr>
                        <a:t>27.6 pm at any light</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10.0 pm at any light (the loop's own lag)</a:t>
                      </a:r>
                    </a:p>
                  </a:txBody>
                  <a:tcPr marL="54864" marR="54864" marT="18288" marB="18288">
                    <a:solidFill>
                      <a:srgbClr val="FFFFFF"/>
                    </a:solidFill>
                  </a:tcPr>
                </a:tc>
                <a:tc>
                  <a:txBody>
                    <a:bodyPr wrap="square"/>
                    <a:lstStyle/>
                    <a:p>
                      <a:r>
                        <a:rPr sz="1000" b="0">
                          <a:solidFill>
                            <a:srgbClr val="282828"/>
                          </a:solidFill>
                          <a:latin typeface="Arial"/>
                        </a:rPr>
                        <a:t>9.9 pm</a:t>
                      </a:r>
                    </a:p>
                  </a:txBody>
                  <a:tcPr marL="54864" marR="54864" marT="18288" marB="18288">
                    <a:solidFill>
                      <a:srgbClr val="FFFFFF"/>
                    </a:solidFill>
                  </a:tcPr>
                </a:tc>
              </a:tr>
              <a:tr h="434340">
                <a:tc>
                  <a:txBody>
                    <a:bodyPr wrap="square"/>
                    <a:lstStyle/>
                    <a:p>
                      <a:r>
                        <a:rPr sz="1000" b="0">
                          <a:solidFill>
                            <a:srgbClr val="282828"/>
                          </a:solidFill>
                          <a:latin typeface="Arial"/>
                        </a:rPr>
                        <a:t>noise-free 1 nm step, after 60 cycles</a:t>
                      </a:r>
                    </a:p>
                  </a:txBody>
                  <a:tcPr marL="54864" marR="54864" marT="18288" marB="18288">
                    <a:solidFill>
                      <a:srgbClr val="ECF1F6"/>
                    </a:solidFill>
                  </a:tcPr>
                </a:tc>
                <a:tc>
                  <a:txBody>
                    <a:bodyPr wrap="square"/>
                    <a:lstStyle/>
                    <a:p>
                      <a:r>
                        <a:rPr sz="1000" b="0">
                          <a:solidFill>
                            <a:srgbClr val="282828"/>
                          </a:solidFill>
                          <a:latin typeface="Arial"/>
                        </a:rPr>
                        <a:t>1.2 pm and still falling</a:t>
                      </a:r>
                    </a:p>
                  </a:txBody>
                  <a:tcPr marL="54864" marR="54864" marT="18288" marB="18288">
                    <a:solidFill>
                      <a:srgbClr val="ECF1F6"/>
                    </a:solidFill>
                  </a:tcPr>
                </a:tc>
                <a:tc>
                  <a:txBody>
                    <a:bodyPr wrap="square"/>
                    <a:lstStyle/>
                    <a:p>
                      <a:r>
                        <a:rPr sz="1000" b="0">
                          <a:solidFill>
                            <a:srgbClr val="282828"/>
                          </a:solidFill>
                          <a:latin typeface="Arial"/>
                        </a:rPr>
                        <a:t>99 nm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r>
            </a:tbl>
          </a:graphicData>
        </a:graphic>
      </p:graphicFrame>
      <p:sp>
        <p:nvSpPr>
          <p:cNvPr id="7" name="TextBox 6"/>
          <p:cNvSpPr txBox="1"/>
          <p:nvPr/>
        </p:nvSpPr>
        <p:spPr>
          <a:xfrm>
            <a:off x="6400800" y="3445002"/>
            <a:ext cx="5394960" cy="274320"/>
          </a:xfrm>
          <a:prstGeom prst="rect">
            <a:avLst/>
          </a:prstGeom>
          <a:noFill/>
        </p:spPr>
        <p:txBody>
          <a:bodyPr wrap="square">
            <a:spAutoFit/>
          </a:bodyPr>
          <a:lstStyle/>
          <a:p>
            <a:pPr>
              <a:spcAft>
                <a:spcPts val="600"/>
              </a:spcAft>
            </a:pPr>
            <a:r>
              <a:rPr sz="1200" b="0">
                <a:solidFill>
                  <a:srgbClr val="282828"/>
                </a:solidFill>
                <a:latin typeface="Arial"/>
              </a:rPr>
              <a:t>•  The loop: the DM is held at the 30 nm working surface by a proportional servo (gain 0.5) closed through one reading; each cycle the DM shape is measured once with N photons (photons per measurement, slide 13), compared with the set point's frames, and half the estimated change removed.  The same loop code will run the interferometer.</a:t>
            </a:r>
          </a:p>
          <a:p>
            <a:pPr>
              <a:spcAft>
                <a:spcPts val="600"/>
              </a:spcAft>
            </a:pPr>
            <a:r>
              <a:rPr sz="1200" b="0">
                <a:solidFill>
                  <a:srgbClr val="282828"/>
                </a:solidFill>
                <a:latin typeface="Arial"/>
              </a:rPr>
              <a:t>•  What it shows: noise and a random walk propagate exactly as theory says, and L and S cost the same light.  What differs is the fixed error: S has none; L imprints a fine-scale error on the DM when a slow ramp leaves a persistent low-order residual; I+ has sites that read with the wrong sign, and no gain fixes a wrong sign.</a:t>
            </a:r>
          </a:p>
        </p:txBody>
      </p:sp>
      <p:sp>
        <p:nvSpPr>
          <p:cNvPr id="8" name="TextBox 7"/>
          <p:cNvSpPr txBox="1"/>
          <p:nvPr/>
        </p:nvSpPr>
        <p:spPr>
          <a:xfrm>
            <a:off x="6400800" y="5743194"/>
            <a:ext cx="5394960" cy="274320"/>
          </a:xfrm>
          <a:prstGeom prst="rect">
            <a:avLst/>
          </a:prstGeom>
          <a:noFill/>
        </p:spPr>
        <p:txBody>
          <a:bodyPr wrap="square">
            <a:spAutoFit/>
          </a:bodyPr>
          <a:lstStyle/>
          <a:p>
            <a:pPr>
              <a:spcAft>
                <a:spcPts val="600"/>
              </a:spcAft>
            </a:pPr>
            <a:r>
              <a:rPr sz="1050" b="0">
                <a:solidFill>
                  <a:srgbClr val="6E6E6E"/>
                </a:solidFill>
                <a:latin typeface="Arial"/>
              </a:rPr>
              <a:t>7.5×10¹² photons per cycle is 2.4 µJ: 9 ms of a 1 mW laser at the test arm's 25% throughput.  Gain 0.5, 60 cycles, matrix measured on the working surface, 193 rays; the 385-ray check gives the same numbers (runs/loop385).  A ramp under a proportional loop always lags by rate/gain; an integral term is the fix.  Code dm_gauge_lib/dmg_loop, gated by tDmgLoop.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polarized dimple: two images at once, no fold</a:t>
            </a:r>
          </a:p>
          <a:p>
            <a:pPr>
              <a:spcAft>
                <a:spcPts val="0"/>
              </a:spcAft>
            </a:pPr>
            <a:r>
              <a:rPr sz="1250" b="0">
                <a:solidFill>
                  <a:srgbClr val="6E6E6E"/>
                </a:solidFill>
                <a:latin typeface="Arial"/>
              </a:rPr>
              <a:t>A dimple that shifts the two circular polarizations by opposite phases gives an exact reading from two simultaneous frames; it is the best reading on every line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oop193_right.png"/>
          <p:cNvPicPr>
            <a:picLocks noChangeAspect="1"/>
          </p:cNvPicPr>
          <p:nvPr/>
        </p:nvPicPr>
        <p:blipFill>
          <a:blip r:embed="rId2"/>
          <a:stretch>
            <a:fillRect/>
          </a:stretch>
        </p:blipFill>
        <p:spPr>
          <a:xfrm>
            <a:off x="1639392" y="1298448"/>
            <a:ext cx="3350615"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reading (green) and the polarized-dimple pair (purple), under no drift (dotted), a 2 pm random walk (solid) and a 5 pm thermal ramp (dashed).  Right panel of the runner's figure.</a:t>
            </a:r>
          </a:p>
        </p:txBody>
      </p:sp>
      <p:graphicFrame>
        <p:nvGraphicFramePr>
          <p:cNvPr id="6" name="Table 5"/>
          <p:cNvGraphicFramePr>
            <a:graphicFrameLocks noGrp="1"/>
          </p:cNvGraphicFramePr>
          <p:nvPr/>
        </p:nvGraphicFramePr>
        <p:xfrm>
          <a:off x="6400800" y="1298448"/>
          <a:ext cx="5394960" cy="2354580"/>
        </p:xfrm>
        <a:graphic>
          <a:graphicData uri="http://schemas.openxmlformats.org/drawingml/2006/table">
            <a:tbl>
              <a:tblPr firstRow="1" bandRow="1">
                <a:tableStyleId>{5C22544A-7EE6-4342-B048-85BDC9FD1C3A}</a:tableStyleId>
              </a:tblPr>
              <a:tblGrid>
                <a:gridCol w="2697480"/>
                <a:gridCol w="1198880"/>
                <a:gridCol w="1498600"/>
              </a:tblGrid>
              <a:tr h="434340">
                <a:tc>
                  <a:txBody>
                    <a:bodyPr wrap="square"/>
                    <a:lstStyle/>
                    <a:p>
                      <a:r>
                        <a:rPr sz="1000" b="1">
                          <a:solidFill>
                            <a:srgbClr val="FFFFFF"/>
                          </a:solidFill>
                          <a:latin typeface="Arial"/>
                        </a:rPr>
                        <a:t>matrix measured on the 30 nm surface; 193 rays</a:t>
                      </a:r>
                    </a:p>
                  </a:txBody>
                  <a:tcPr marL="54864" marR="54864" marT="18288" marB="18288">
                    <a:solidFill>
                      <a:srgbClr val="1F4E79"/>
                    </a:solidFill>
                  </a:tcPr>
                </a:tc>
                <a:tc>
                  <a:txBody>
                    <a:bodyPr wrap="square"/>
                    <a:lstStyle/>
                    <a:p>
                      <a:r>
                        <a:rPr sz="1000" b="1">
                          <a:solidFill>
                            <a:srgbClr val="FFFFFF"/>
                          </a:solidFill>
                          <a:latin typeface="Arial"/>
                        </a:rPr>
                        <a:t>stepped (S), four frames</a:t>
                      </a:r>
                    </a:p>
                  </a:txBody>
                  <a:tcPr marL="54864" marR="54864" marT="18288" marB="18288">
                    <a:solidFill>
                      <a:srgbClr val="1F4E79"/>
                    </a:solidFill>
                  </a:tcPr>
                </a:tc>
                <a:tc>
                  <a:txBody>
                    <a:bodyPr wrap="square"/>
                    <a:lstStyle/>
                    <a:p>
                      <a:r>
                        <a:rPr sz="1000" b="1">
                          <a:solidFill>
                            <a:srgbClr val="FFFFFF"/>
                          </a:solidFill>
                          <a:latin typeface="Arial"/>
                        </a:rPr>
                        <a:t>polarized pair (V), two frames</a:t>
                      </a:r>
                    </a:p>
                  </a:txBody>
                  <a:tcPr marL="54864" marR="54864" marT="18288" marB="18288">
                    <a:solidFill>
                      <a:srgbClr val="1F4E79"/>
                    </a:solidFill>
                  </a:tcPr>
                </a:tc>
              </a:tr>
              <a:tr h="262890">
                <a:tc>
                  <a:txBody>
                    <a:bodyPr wrap="square"/>
                    <a:lstStyle/>
                    <a:p>
                      <a:r>
                        <a:rPr sz="1000" b="0">
                          <a:solidFill>
                            <a:srgbClr val="282828"/>
                          </a:solidFill>
                          <a:latin typeface="Arial"/>
                        </a:rPr>
                        <a:t>single 10 nm change: gain, floor</a:t>
                      </a:r>
                    </a:p>
                  </a:txBody>
                  <a:tcPr marL="54864" marR="54864" marT="18288" marB="18288">
                    <a:solidFill>
                      <a:srgbClr val="FFFFFF"/>
                    </a:solidFill>
                  </a:tcPr>
                </a:tc>
                <a:tc>
                  <a:txBody>
                    <a:bodyPr wrap="square"/>
                    <a:lstStyle/>
                    <a:p>
                      <a:r>
                        <a:rPr sz="1000" b="0">
                          <a:solidFill>
                            <a:srgbClr val="282828"/>
                          </a:solidFill>
                          <a:latin typeface="Arial"/>
                        </a:rPr>
                        <a:t>0.989, 5 pm</a:t>
                      </a:r>
                    </a:p>
                  </a:txBody>
                  <a:tcPr marL="54864" marR="54864" marT="18288" marB="18288">
                    <a:solidFill>
                      <a:srgbClr val="FFFFFF"/>
                    </a:solidFill>
                  </a:tcPr>
                </a:tc>
                <a:tc>
                  <a:txBody>
                    <a:bodyPr wrap="square"/>
                    <a:lstStyle/>
                    <a:p>
                      <a:r>
                        <a:rPr sz="1000" b="0">
                          <a:solidFill>
                            <a:srgbClr val="282828"/>
                          </a:solidFill>
                          <a:latin typeface="Arial"/>
                        </a:rPr>
                        <a:t>0.994, 4 pm</a:t>
                      </a:r>
                    </a:p>
                  </a:txBody>
                  <a:tcPr marL="54864" marR="54864" marT="18288" marB="18288">
                    <a:solidFill>
                      <a:srgbClr val="FFFFFF"/>
                    </a:solidFill>
                  </a:tcPr>
                </a:tc>
              </a:tr>
              <a:tr h="262890">
                <a:tc>
                  <a:txBody>
                    <a:bodyPr wrap="square"/>
                    <a:lstStyle/>
                    <a:p>
                      <a:r>
                        <a:rPr sz="1000" b="0">
                          <a:solidFill>
                            <a:srgbClr val="282828"/>
                          </a:solidFill>
                          <a:latin typeface="Arial"/>
                        </a:rPr>
                        <a:t>47 actuators changed 1 nm</a:t>
                      </a:r>
                    </a:p>
                  </a:txBody>
                  <a:tcPr marL="54864" marR="54864" marT="18288" marB="18288">
                    <a:solidFill>
                      <a:srgbClr val="ECF1F6"/>
                    </a:solidFill>
                  </a:tcPr>
                </a:tc>
                <a:tc>
                  <a:txBody>
                    <a:bodyPr wrap="square"/>
                    <a:lstStyle/>
                    <a:p>
                      <a:r>
                        <a:rPr sz="1000" b="0">
                          <a:solidFill>
                            <a:srgbClr val="282828"/>
                          </a:solidFill>
                          <a:latin typeface="Arial"/>
                        </a:rPr>
                        <a:t>0.999, 4 pm</a:t>
                      </a:r>
                    </a:p>
                  </a:txBody>
                  <a:tcPr marL="54864" marR="54864" marT="18288" marB="18288">
                    <a:solidFill>
                      <a:srgbClr val="ECF1F6"/>
                    </a:solidFill>
                  </a:tcPr>
                </a:tc>
                <a:tc>
                  <a:txBody>
                    <a:bodyPr wrap="square"/>
                    <a:lstStyle/>
                    <a:p>
                      <a:r>
                        <a:rPr sz="1000" b="0">
                          <a:solidFill>
                            <a:srgbClr val="282828"/>
                          </a:solidFill>
                          <a:latin typeface="Arial"/>
                        </a:rPr>
                        <a:t>0.999, 3 pm</a:t>
                      </a:r>
                    </a:p>
                  </a:txBody>
                  <a:tcPr marL="54864" marR="54864" marT="18288" marB="18288">
                    <a:solidFill>
                      <a:srgbClr val="ECF1F6"/>
                    </a:solidFill>
                  </a:tcPr>
                </a:tc>
              </a:tr>
              <a:tr h="262890">
                <a:tc>
                  <a:txBody>
                    <a:bodyPr wrap="square"/>
                    <a:lstStyle/>
                    <a:p>
                      <a:r>
                        <a:rPr sz="1000" b="0">
                          <a:solidFill>
                            <a:srgbClr val="282828"/>
                          </a:solidFill>
                          <a:latin typeface="Arial"/>
                        </a:rPr>
                        <a:t>dense random 10 nm: gain, error</a:t>
                      </a:r>
                    </a:p>
                  </a:txBody>
                  <a:tcPr marL="54864" marR="54864" marT="18288" marB="18288">
                    <a:solidFill>
                      <a:srgbClr val="FFFFFF"/>
                    </a:solidFill>
                  </a:tcPr>
                </a:tc>
                <a:tc>
                  <a:txBody>
                    <a:bodyPr wrap="square"/>
                    <a:lstStyle/>
                    <a:p>
                      <a:r>
                        <a:rPr sz="1000" b="0">
                          <a:solidFill>
                            <a:srgbClr val="282828"/>
                          </a:solidFill>
                          <a:latin typeface="Arial"/>
                        </a:rPr>
                        <a:t>0.98, 0.68 nm</a:t>
                      </a:r>
                    </a:p>
                  </a:txBody>
                  <a:tcPr marL="54864" marR="54864" marT="18288" marB="18288">
                    <a:solidFill>
                      <a:srgbClr val="FFFFFF"/>
                    </a:solidFill>
                  </a:tcPr>
                </a:tc>
                <a:tc>
                  <a:txBody>
                    <a:bodyPr wrap="square"/>
                    <a:lstStyle/>
                    <a:p>
                      <a:r>
                        <a:rPr sz="1000" b="0">
                          <a:solidFill>
                            <a:srgbClr val="282828"/>
                          </a:solidFill>
                          <a:latin typeface="Arial"/>
                        </a:rPr>
                        <a:t>1.000, 0.33 nm</a:t>
                      </a:r>
                    </a:p>
                  </a:txBody>
                  <a:tcPr marL="54864" marR="54864" marT="18288" marB="18288">
                    <a:solidFill>
                      <a:srgbClr val="FFFFFF"/>
                    </a:solidFill>
                  </a:tcPr>
                </a:tc>
              </a:tr>
              <a:tr h="434340">
                <a:tc>
                  <a:txBody>
                    <a:bodyPr wrap="square"/>
                    <a:lstStyle/>
                    <a:p>
                      <a:r>
                        <a:rPr sz="1000" b="0">
                          <a:solidFill>
                            <a:srgbClr val="282828"/>
                          </a:solidFill>
                          <a:latin typeface="Arial"/>
                        </a:rPr>
                        <a:t>gain at 40 / 50 / 60 nm rms with the 30 nm calibration</a:t>
                      </a:r>
                    </a:p>
                  </a:txBody>
                  <a:tcPr marL="54864" marR="54864" marT="18288" marB="18288">
                    <a:solidFill>
                      <a:srgbClr val="ECF1F6"/>
                    </a:solidFill>
                  </a:tcPr>
                </a:tc>
                <a:tc>
                  <a:txBody>
                    <a:bodyPr wrap="square"/>
                    <a:lstStyle/>
                    <a:p>
                      <a:r>
                        <a:rPr sz="1000" b="0">
                          <a:solidFill>
                            <a:srgbClr val="282828"/>
                          </a:solidFill>
                          <a:latin typeface="Arial"/>
                        </a:rPr>
                        <a:t>0.91 / 0.86 / 0.66</a:t>
                      </a:r>
                    </a:p>
                  </a:txBody>
                  <a:tcPr marL="54864" marR="54864" marT="18288" marB="18288">
                    <a:solidFill>
                      <a:srgbClr val="ECF1F6"/>
                    </a:solidFill>
                  </a:tcPr>
                </a:tc>
                <a:tc>
                  <a:txBody>
                    <a:bodyPr wrap="square"/>
                    <a:lstStyle/>
                    <a:p>
                      <a:r>
                        <a:rPr sz="1000" b="0">
                          <a:solidFill>
                            <a:srgbClr val="282828"/>
                          </a:solidFill>
                          <a:latin typeface="Arial"/>
                        </a:rPr>
                        <a:t>0.996 / 0.991 / 0.981</a:t>
                      </a:r>
                    </a:p>
                  </a:txBody>
                  <a:tcPr marL="54864" marR="54864" marT="18288" marB="18288">
                    <a:solidFill>
                      <a:srgbClr val="ECF1F6"/>
                    </a:solidFill>
                  </a:tcPr>
                </a:tc>
              </a:tr>
              <a:tr h="262890">
                <a:tc>
                  <a:txBody>
                    <a:bodyPr wrap="square"/>
                    <a:lstStyle/>
                    <a:p>
                      <a:r>
                        <a:rPr sz="1000" b="0">
                          <a:solidFill>
                            <a:srgbClr val="282828"/>
                          </a:solidFill>
                          <a:latin typeface="Arial"/>
                        </a:rPr>
                        <a:t>photons per measurement for 1 pm</a:t>
                      </a:r>
                    </a:p>
                  </a:txBody>
                  <a:tcPr marL="54864" marR="54864" marT="18288" marB="18288">
                    <a:solidFill>
                      <a:srgbClr val="FFFFFF"/>
                    </a:solidFill>
                  </a:tcPr>
                </a:tc>
                <a:tc>
                  <a:txBody>
                    <a:bodyPr wrap="square"/>
                    <a:lstStyle/>
                    <a:p>
                      <a:r>
                        <a:rPr sz="1000" b="0">
                          <a:solidFill>
                            <a:srgbClr val="282828"/>
                          </a:solidFill>
                          <a:latin typeface="Arial"/>
                        </a:rPr>
                        <a:t>5.6×10¹³</a:t>
                      </a:r>
                    </a:p>
                  </a:txBody>
                  <a:tcPr marL="54864" marR="54864" marT="18288" marB="18288">
                    <a:solidFill>
                      <a:srgbClr val="FFFFFF"/>
                    </a:solidFill>
                  </a:tcPr>
                </a:tc>
                <a:tc>
                  <a:txBody>
                    <a:bodyPr wrap="square"/>
                    <a:lstStyle/>
                    <a:p>
                      <a:r>
                        <a:rPr sz="1000" b="0">
                          <a:solidFill>
                            <a:srgbClr val="282828"/>
                          </a:solidFill>
                          <a:latin typeface="Arial"/>
                        </a:rPr>
                        <a:t>4.7×10¹³</a:t>
                      </a:r>
                    </a:p>
                  </a:txBody>
                  <a:tcPr marL="54864" marR="54864" marT="18288" marB="18288">
                    <a:solidFill>
                      <a:srgbClr val="FFFFFF"/>
                    </a:solidFill>
                  </a:tcPr>
                </a:tc>
              </a:tr>
              <a:tr h="434340">
                <a:tc>
                  <a:txBody>
                    <a:bodyPr wrap="square"/>
                    <a:lstStyle/>
                    <a:p>
                      <a:r>
                        <a:rPr sz="1000" b="0">
                          <a:solidFill>
                            <a:srgbClr val="282828"/>
                          </a:solidFill>
                          <a:latin typeface="Arial"/>
                        </a:rPr>
                        <a:t>held to 3 pm in closed loop: noise only / 2 pm walk</a:t>
                      </a:r>
                    </a:p>
                  </a:txBody>
                  <a:tcPr marL="54864" marR="54864" marT="18288" marB="18288">
                    <a:solidFill>
                      <a:srgbClr val="ECF1F6"/>
                    </a:solidFill>
                  </a:tcPr>
                </a:tc>
                <a:tc>
                  <a:txBody>
                    <a:bodyPr wrap="square"/>
                    <a:lstStyle/>
                    <a:p>
                      <a:r>
                        <a:rPr sz="1000" b="0">
                          <a:solidFill>
                            <a:srgbClr val="282828"/>
                          </a:solidFill>
                          <a:latin typeface="Arial"/>
                        </a:rPr>
                        <a:t>2.6×10¹² / 7.5×10¹²</a:t>
                      </a:r>
                    </a:p>
                  </a:txBody>
                  <a:tcPr marL="54864" marR="54864" marT="18288" marB="18288">
                    <a:solidFill>
                      <a:srgbClr val="ECF1F6"/>
                    </a:solidFill>
                  </a:tcPr>
                </a:tc>
                <a:tc>
                  <a:txBody>
                    <a:bodyPr wrap="square"/>
                    <a:lstStyle/>
                    <a:p>
                      <a:r>
                        <a:rPr sz="1000" b="0">
                          <a:solidFill>
                            <a:srgbClr val="282828"/>
                          </a:solidFill>
                          <a:latin typeface="Arial"/>
                        </a:rPr>
                        <a:t>1.5×10¹² / 5.3×10¹²</a:t>
                      </a:r>
                    </a:p>
                  </a:txBody>
                  <a:tcPr marL="54864" marR="54864" marT="18288" marB="18288">
                    <a:solidFill>
                      <a:srgbClr val="ECF1F6"/>
                    </a:solidFill>
                  </a:tcPr>
                </a:tc>
              </a:tr>
            </a:tbl>
          </a:graphicData>
        </a:graphic>
      </p:graphicFrame>
      <p:sp>
        <p:nvSpPr>
          <p:cNvPr id="7" name="TextBox 6"/>
          <p:cNvSpPr txBox="1"/>
          <p:nvPr/>
        </p:nvSpPr>
        <p:spPr>
          <a:xfrm>
            <a:off x="6400800" y="3799331"/>
            <a:ext cx="5394960" cy="274320"/>
          </a:xfrm>
          <a:prstGeom prst="rect">
            <a:avLst/>
          </a:prstGeom>
          <a:noFill/>
        </p:spPr>
        <p:txBody>
          <a:bodyPr wrap="square">
            <a:spAutoFit/>
          </a:bodyPr>
          <a:lstStyle/>
          <a:p>
            <a:pPr>
              <a:spcAft>
                <a:spcPts val="600"/>
              </a:spcAft>
            </a:pPr>
            <a:r>
              <a:rPr sz="1200" b="0">
                <a:solidFill>
                  <a:srgbClr val="282828"/>
                </a:solidFill>
                <a:latin typeface="Arial"/>
              </a:rPr>
              <a:t>•  How it works: a geometric-phase (metasurface) dimple applies +90° to one circular polarization and −90° to the other; a polarization splitter behind the pupil relay gives both pupil images in one exposure.  Per pixel the difference of the pair gives the sine of the phase and the sum the cosine, so the phase is solved exactly with no sign fold, and the reference wave is refined as for the exact reading.</a:t>
            </a:r>
          </a:p>
          <a:p>
            <a:pPr>
              <a:spcAft>
                <a:spcPts val="600"/>
              </a:spcAft>
            </a:pPr>
            <a:r>
              <a:rPr sz="1200" b="0">
                <a:solidFill>
                  <a:srgbClr val="282828"/>
                </a:solidFill>
                <a:latin typeface="Arial"/>
              </a:rPr>
              <a:t>•  What it buys: the one-frame exact reading's fold is gone (a 100 nm poke reads to 0.05 pm where the single frame errs by 9 nm), the calibration ages five times slower, and nothing moves between the two frames.  What it does not change: the sensor's range is still set by the focal core (all readings fail past 120 nm rms) and by half a wavelength.</a:t>
            </a:r>
          </a:p>
        </p:txBody>
      </p:sp>
      <p:sp>
        <p:nvSpPr>
          <p:cNvPr id="8" name="TextBox 7"/>
          <p:cNvSpPr txBox="1"/>
          <p:nvPr/>
        </p:nvSpPr>
        <p:spPr>
          <a:xfrm>
            <a:off x="6400800" y="6295643"/>
            <a:ext cx="5394960" cy="274320"/>
          </a:xfrm>
          <a:prstGeom prst="rect">
            <a:avLst/>
          </a:prstGeom>
          <a:noFill/>
        </p:spPr>
        <p:txBody>
          <a:bodyPr wrap="square">
            <a:spAutoFit/>
          </a:bodyPr>
          <a:lstStyle/>
          <a:p>
            <a:pPr>
              <a:spcAft>
                <a:spcPts val="600"/>
              </a:spcAft>
            </a:pPr>
            <a:r>
              <a:rPr sz="1050" b="0">
                <a:solidFill>
                  <a:srgbClr val="6E6E6E"/>
                </a:solidFill>
                <a:latin typeface="Arial"/>
              </a:rPr>
              <a:t>Ideal metasurface: each image is the scalar sensor with its own dimple sign.  Next: metasurface retardance error, the arm's polarization aberrations, the stepped reading's between-frame drift.  Records: runs/v193base, v193noise, vloop193.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calibrated on its working surface, reads a change to 5 pm up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3360"/>
        </p:xfrm>
        <a:graphic>
          <a:graphicData uri="http://schemas.openxmlformats.org/drawingml/2006/table">
            <a:tbl>
              <a:tblPr firstRow="1" bandRow="1">
                <a:tableStyleId>{5C22544A-7EE6-4342-B048-85BDC9FD1C3A}</a:tableStyleId>
              </a:tblPr>
              <a:tblGrid>
                <a:gridCol w="3608337"/>
                <a:gridCol w="2224317"/>
                <a:gridCol w="5536079"/>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468630">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or 4 camera frames; 256 calibration frames once per working surface</a:t>
                      </a:r>
                    </a:p>
                  </a:txBody>
                  <a:tcPr marL="54864" marR="54864" marT="18288" marB="18288">
                    <a:solidFill>
                      <a:srgbClr val="ECF1F6"/>
                    </a:solidFill>
                  </a:tcPr>
                </a:tc>
              </a:tr>
              <a:tr h="468630">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468630">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468630">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0.99, floor 5 pm (stepped, four frames; matrix on the surface) — gain 1.05, floor 23 pm (linear,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measurement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r h="468630">
                <a:tc>
                  <a:txBody>
                    <a:bodyPr wrap="square"/>
                    <a:lstStyle/>
                    <a:p>
                      <a:r>
                        <a:rPr sz="1100" b="0">
                          <a:solidFill>
                            <a:srgbClr val="282828"/>
                          </a:solidFill>
                          <a:latin typeface="Arial"/>
                        </a:rPr>
                        <a:t>held in closed loop to 3 pm against a 2 pm random walk: photons per cycle</a:t>
                      </a:r>
                    </a:p>
                  </a:txBody>
                  <a:tcPr marL="54864" marR="54864" marT="18288" marB="18288">
                    <a:solidFill>
                      <a:srgbClr val="ECF1F6"/>
                    </a:solidFill>
                  </a:tcPr>
                </a:tc>
                <a:tc>
                  <a:txBody>
                    <a:bodyPr wrap="square"/>
                    <a:lstStyle/>
                    <a:p>
                      <a:r>
                        <a:rPr sz="1100" b="0">
                          <a:solidFill>
                            <a:srgbClr val="282828"/>
                          </a:solidFill>
                          <a:latin typeface="Arial"/>
                        </a:rPr>
                        <a:t>pending (same loop code, CCMac)</a:t>
                      </a:r>
                    </a:p>
                  </a:txBody>
                  <a:tcPr marL="54864" marR="54864" marT="18288" marB="18288">
                    <a:solidFill>
                      <a:srgbClr val="ECF1F6"/>
                    </a:solidFill>
                  </a:tcPr>
                </a:tc>
                <a:tc>
                  <a:txBody>
                    <a:bodyPr wrap="square"/>
                    <a:lstStyle/>
                    <a:p>
                      <a:r>
                        <a:rPr sz="1100" b="0">
                          <a:solidFill>
                            <a:srgbClr val="282828"/>
                          </a:solidFill>
                          <a:latin typeface="Arial"/>
                        </a:rPr>
                        <a:t>7.5×10¹² (stepped), 7.3×10¹² (linear), 5.3×10¹² (polarized pair)</a:t>
                      </a:r>
                    </a:p>
                  </a:txBody>
                  <a:tcPr marL="54864" marR="54864" marT="18288" marB="18288">
                    <a:solidFill>
                      <a:srgbClr val="ECF1F6"/>
                    </a:solidFill>
                  </a:tcPr>
                </a:tc>
              </a:tr>
            </a:tbl>
          </a:graphicData>
        </a:graphic>
      </p:graphicFrame>
      <p:sp>
        <p:nvSpPr>
          <p:cNvPr id="5" name="TextBox 4"/>
          <p:cNvSpPr txBox="1"/>
          <p:nvPr/>
        </p:nvSpPr>
        <p:spPr>
          <a:xfrm>
            <a:off x="411480" y="5468112"/>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no polarization train, a floor ten times lower once its response matrix is measured on that surface — and pays at the lowest spatial frequencies and in the surface it can handle.</a:t>
            </a:r>
          </a:p>
        </p:txBody>
      </p:sp>
      <p:sp>
        <p:nvSpPr>
          <p:cNvPr id="6" name="TextBox 5"/>
          <p:cNvSpPr txBox="1"/>
          <p:nvPr/>
        </p:nvSpPr>
        <p:spPr>
          <a:xfrm>
            <a:off x="411480" y="6387846"/>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385 rays, matrix calibration on the working surface (slide 10), photons at development sampling.  Both in actuator units through the same code (dm_gauge_lib).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a response matrix measured on the working surface takes the stepped reading to 5 pm; color and photons are not the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Calibrate with a measured response matrix, on the working surface: the sparse-grid measurement of every actuator's response (with the sensor's piston null carried) reads a single actuator on the flat at 0.994 with a 4 pm floor; measured on the working surface it gives the stepped reading 0.99 and 5 pm there and makes the linear one-frame reading usable (1.05, 23 pm).  The floors fall ten times; what remains is gain stability as the surface drifts (7% over 20 nm rms) and the one-frame exact readings' sign fold.</a:t>
            </a:r>
          </a:p>
          <a:p>
            <a:pPr>
              <a:spcAft>
                <a:spcPts val="600"/>
              </a:spcAft>
            </a:pPr>
            <a:r>
              <a:rPr sz="1500" b="0">
                <a:solidFill>
                  <a:srgbClr val="282828"/>
                </a:solidFill>
                <a:latin typeface="Arial"/>
              </a:rPr>
              <a:t>•  Sampling is settled, and a bias in the fit is fixed: camera pixels per actuator (the ray count) set the gain on a test actuator; sampling the single-site response pattern at the actuator center took that gain to 0.996 at 5 pixels per actuator.</a:t>
            </a:r>
          </a:p>
          <a:p>
            <a:pPr>
              <a:spcAft>
                <a:spcPts val="600"/>
              </a:spcAft>
            </a:pPr>
            <a:r>
              <a:rPr sz="1500" b="0">
                <a:solidFill>
                  <a:srgbClr val="282828"/>
                </a:solidFill>
                <a:latin typeface="Arial"/>
              </a:rPr>
              <a:t>•  Color and photons are not levers: the chromatic null was the defocus; 10¹⁴ photons per measurement reach 1 pm.  The budget is systematic error: the 25 to 60 pm floors and the gain's stability.</a:t>
            </a:r>
          </a:p>
          <a:p>
            <a:pPr>
              <a:spcAft>
                <a:spcPts val="600"/>
              </a:spcAft>
            </a:pPr>
            <a:r>
              <a:rPr sz="1500" b="0">
                <a:solidFill>
                  <a:srgbClr val="282828"/>
                </a:solidFill>
                <a:latin typeface="Arial"/>
              </a:rPr>
              <a:t>•  In closed loop the stepped reading has no fixed error: it holds a 2 pm-per-cycle walk to 3 pm from 7.5×10¹² photons per cycle and returns to zero after a step; the linear reading costs the same light but leaves a fine-scale error under a slow ramp; the one-frame exact reading runs away.</a:t>
            </a:r>
          </a:p>
          <a:p>
            <a:pPr>
              <a:spcAft>
                <a:spcPts val="600"/>
              </a:spcAft>
            </a:pPr>
            <a:r>
              <a:rPr sz="1500" b="0">
                <a:solidFill>
                  <a:srgbClr val="282828"/>
                </a:solidFill>
                <a:latin typeface="Arial"/>
              </a:rPr>
              <a:t>•  The polarized dimple is the best reading on every line: two simultaneous frames, no fold, 3 pm held from 5.3×10¹² photons per cycle, and a calibration that stays within 2% out to 60 nm rms.</a:t>
            </a:r>
          </a:p>
        </p:txBody>
      </p:sp>
      <p:sp>
        <p:nvSpPr>
          <p:cNvPr id="5" name="TextBox 4"/>
          <p:cNvSpPr txBox="1"/>
          <p:nvPr/>
        </p:nvSpPr>
        <p:spPr>
          <a:xfrm>
            <a:off x="411480" y="7517130"/>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 the quantity the working-surface effect on slide 10 is made of —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The response matrix for the interferometer too: its calibration still uses a single-site response pattern, with the stencil bias fixed here (slide 9); the sparse-grid measured matrix is the calibration its reflective build should carry.  Model-matched DM calibration (actuator positions and gains through the sensor's own images) remains the lever for a real DM's geometry.</a:t>
            </a:r>
          </a:p>
          <a:p>
            <a:pPr>
              <a:spcAft>
                <a:spcPts val="600"/>
              </a:spcAft>
            </a:pPr>
            <a:r>
              <a:rPr sz="1500" b="0">
                <a:solidFill>
                  <a:srgbClr val="282828"/>
                </a:solidFill>
                <a:latin typeface="Arial"/>
              </a:rPr>
              <a:t>•  Color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color claim ("five colors fill the blind band; single-actuator floor 720 → 224 pm") was the Talbot null moving as 1/λ.  On the corrected model there is no null and color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