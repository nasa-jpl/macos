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3</a:t>
            </a:r>
            <a:r>
              <a:rPr sz="1500" b="0">
                <a:solidFill>
                  <a:srgbClr val="282828"/>
                </a:solidFill>
                <a:latin typeface="Arial"/>
              </a:rPr>
              <a:t> One optical bench to demo 4 surface gauges, in mirror and lens forms</a:t>
            </a:r>
          </a:p>
          <a:p>
            <a:pPr>
              <a:spcAft>
                <a:spcPts val="600"/>
              </a:spcAft>
            </a:pPr>
            <a:r>
              <a:rPr sz="1500" b="0">
                <a:solidFill>
                  <a:srgbClr val="282828"/>
                </a:solidFill>
                <a:latin typeface="Arial"/>
              </a:rPr>
              <a:t>•  </a:t>
            </a:r>
            <a:r>
              <a:rPr sz="1500" b="1">
                <a:solidFill>
                  <a:srgbClr val="282828"/>
                </a:solidFill>
                <a:latin typeface="Arial"/>
              </a:rPr>
              <a:t>4</a:t>
            </a:r>
            <a:r>
              <a:rPr sz="1500" b="0">
                <a:solidFill>
                  <a:srgbClr val="282828"/>
                </a:solidFill>
                <a:latin typeface="Arial"/>
              </a:rPr>
              <a:t> Introduction: the three jobs and how they are scored</a:t>
            </a:r>
          </a:p>
          <a:p>
            <a:pPr>
              <a:spcAft>
                <a:spcPts val="600"/>
              </a:spcAft>
            </a:pPr>
            <a:r>
              <a:rPr sz="1500" b="0">
                <a:solidFill>
                  <a:srgbClr val="282828"/>
                </a:solidFill>
                <a:latin typeface="Arial"/>
              </a:rPr>
              <a:t>•  </a:t>
            </a:r>
            <a:r>
              <a:rPr sz="1500" b="1">
                <a:solidFill>
                  <a:srgbClr val="282828"/>
                </a:solidFill>
                <a:latin typeface="Arial"/>
              </a:rPr>
              <a:t>5</a:t>
            </a:r>
            <a:r>
              <a:rPr sz="1500" b="0">
                <a:solidFill>
                  <a:srgbClr val="282828"/>
                </a:solidFill>
                <a:latin typeface="Arial"/>
              </a:rPr>
              <a:t> The bench layout</a:t>
            </a:r>
          </a:p>
          <a:p>
            <a:pPr>
              <a:spcAft>
                <a:spcPts val="600"/>
              </a:spcAft>
            </a:pPr>
            <a:r>
              <a:rPr sz="1500" b="0">
                <a:solidFill>
                  <a:srgbClr val="282828"/>
                </a:solidFill>
                <a:latin typeface="Arial"/>
              </a:rPr>
              <a:t>•  </a:t>
            </a:r>
            <a:r>
              <a:rPr sz="1500" b="1">
                <a:solidFill>
                  <a:srgbClr val="282828"/>
                </a:solidFill>
                <a:latin typeface="Arial"/>
              </a:rPr>
              <a:t>7</a:t>
            </a:r>
            <a:r>
              <a:rPr sz="1500" b="0">
                <a:solidFill>
                  <a:srgbClr val="282828"/>
                </a:solidFill>
                <a:latin typeface="Arial"/>
              </a:rPr>
              <a:t> Parts: the front end and the detector leg</a:t>
            </a:r>
          </a:p>
          <a:p>
            <a:pPr>
              <a:spcAft>
                <a:spcPts val="600"/>
              </a:spcAft>
            </a:pPr>
            <a:r>
              <a:rPr sz="1500" b="0">
                <a:solidFill>
                  <a:srgbClr val="282828"/>
                </a:solidFill>
                <a:latin typeface="Arial"/>
              </a:rPr>
              <a:t>•  </a:t>
            </a:r>
            <a:r>
              <a:rPr sz="1500" b="1">
                <a:solidFill>
                  <a:srgbClr val="282828"/>
                </a:solidFill>
                <a:latin typeface="Arial"/>
              </a:rPr>
              <a:t>9</a:t>
            </a:r>
            <a:r>
              <a:rPr sz="1500" b="0">
                <a:solidFill>
                  <a:srgbClr val="282828"/>
                </a:solidFill>
                <a:latin typeface="Arial"/>
              </a:rPr>
              <a:t> Parts: the interferometer and the sensors</a:t>
            </a:r>
          </a:p>
          <a:p>
            <a:pPr>
              <a:spcAft>
                <a:spcPts val="600"/>
              </a:spcAft>
            </a:pPr>
            <a:r>
              <a:rPr sz="1500" b="0">
                <a:solidFill>
                  <a:srgbClr val="282828"/>
                </a:solidFill>
                <a:latin typeface="Arial"/>
              </a:rPr>
              <a:t>•  </a:t>
            </a:r>
            <a:r>
              <a:rPr sz="1500" b="1">
                <a:solidFill>
                  <a:srgbClr val="282828"/>
                </a:solidFill>
                <a:latin typeface="Arial"/>
              </a:rPr>
              <a:t>11</a:t>
            </a:r>
            <a:r>
              <a:rPr sz="1500" b="0">
                <a:solidFill>
                  <a:srgbClr val="282828"/>
                </a:solidFill>
                <a:latin typeface="Arial"/>
              </a:rPr>
              <a:t> Twyman-Green interferometer</a:t>
            </a:r>
          </a:p>
          <a:p>
            <a:pPr>
              <a:spcAft>
                <a:spcPts val="600"/>
              </a:spcAft>
            </a:pPr>
            <a:r>
              <a:rPr sz="1500" b="0">
                <a:solidFill>
                  <a:srgbClr val="282828"/>
                </a:solidFill>
                <a:latin typeface="Arial"/>
              </a:rPr>
              <a:t>•  </a:t>
            </a:r>
            <a:r>
              <a:rPr sz="1500" b="1">
                <a:solidFill>
                  <a:srgbClr val="282828"/>
                </a:solidFill>
                <a:latin typeface="Arial"/>
              </a:rPr>
              <a:t>17</a:t>
            </a:r>
            <a:r>
              <a:rPr sz="1500" b="0">
                <a:solidFill>
                  <a:srgbClr val="282828"/>
                </a:solidFill>
                <a:latin typeface="Arial"/>
              </a:rPr>
              <a:t> Zernike sensor</a:t>
            </a:r>
          </a:p>
          <a:p>
            <a:pPr>
              <a:spcAft>
                <a:spcPts val="600"/>
              </a:spcAft>
            </a:pPr>
            <a:r>
              <a:rPr sz="1500" b="0">
                <a:solidFill>
                  <a:srgbClr val="282828"/>
                </a:solidFill>
                <a:latin typeface="Arial"/>
              </a:rPr>
              <a:t>•  </a:t>
            </a:r>
            <a:r>
              <a:rPr sz="1500" b="1">
                <a:solidFill>
                  <a:srgbClr val="282828"/>
                </a:solidFill>
                <a:latin typeface="Arial"/>
              </a:rPr>
              <a:t>19</a:t>
            </a:r>
            <a:r>
              <a:rPr sz="1500" b="0">
                <a:solidFill>
                  <a:srgbClr val="282828"/>
                </a:solidFill>
                <a:latin typeface="Arial"/>
              </a:rPr>
              <a:t> Vector Zernike sensor</a:t>
            </a:r>
          </a:p>
          <a:p>
            <a:pPr>
              <a:spcAft>
                <a:spcPts val="600"/>
              </a:spcAft>
            </a:pPr>
            <a:r>
              <a:rPr sz="1500" b="0">
                <a:solidFill>
                  <a:srgbClr val="282828"/>
                </a:solidFill>
                <a:latin typeface="Arial"/>
              </a:rPr>
              <a:t>•  </a:t>
            </a:r>
            <a:r>
              <a:rPr sz="1500" b="1">
                <a:solidFill>
                  <a:srgbClr val="282828"/>
                </a:solidFill>
                <a:latin typeface="Arial"/>
              </a:rPr>
              <a:t>22</a:t>
            </a:r>
            <a:r>
              <a:rPr sz="1500" b="0">
                <a:solidFill>
                  <a:srgbClr val="282828"/>
                </a:solidFill>
                <a:latin typeface="Arial"/>
              </a:rPr>
              <a:t> Point-diffraction sensor</a:t>
            </a:r>
          </a:p>
          <a:p>
            <a:pPr>
              <a:spcAft>
                <a:spcPts val="600"/>
              </a:spcAft>
            </a:pPr>
            <a:r>
              <a:rPr sz="1500" b="0">
                <a:solidFill>
                  <a:srgbClr val="282828"/>
                </a:solidFill>
                <a:latin typeface="Arial"/>
              </a:rPr>
              <a:t>•  </a:t>
            </a:r>
            <a:r>
              <a:rPr sz="1500" b="1">
                <a:solidFill>
                  <a:srgbClr val="282828"/>
                </a:solidFill>
                <a:latin typeface="Arial"/>
              </a:rPr>
              <a:t>25</a:t>
            </a:r>
            <a:r>
              <a:rPr sz="1500" b="0">
                <a:solidFill>
                  <a:srgbClr val="282828"/>
                </a:solidFill>
                <a:latin typeface="Arial"/>
              </a:rPr>
              <a:t> Performance: rows, capture, photons, servo</a:t>
            </a:r>
          </a:p>
          <a:p>
            <a:pPr>
              <a:spcAft>
                <a:spcPts val="600"/>
              </a:spcAft>
            </a:pPr>
            <a:r>
              <a:rPr sz="1500" b="0">
                <a:solidFill>
                  <a:srgbClr val="282828"/>
                </a:solidFill>
                <a:latin typeface="Arial"/>
              </a:rPr>
              <a:t>•  </a:t>
            </a:r>
            <a:r>
              <a:rPr sz="1500" b="1">
                <a:solidFill>
                  <a:srgbClr val="282828"/>
                </a:solidFill>
                <a:latin typeface="Arial"/>
              </a:rPr>
              <a:t>31</a:t>
            </a:r>
            <a:r>
              <a:rPr sz="1500" b="0">
                <a:solidFill>
                  <a:srgbClr val="282828"/>
                </a:solidFill>
                <a:latin typeface="Arial"/>
              </a:rPr>
              <a:t> Lenses versus off-axis parabolas</a:t>
            </a:r>
          </a:p>
          <a:p>
            <a:pPr>
              <a:spcAft>
                <a:spcPts val="600"/>
              </a:spcAft>
            </a:pPr>
            <a:r>
              <a:rPr sz="1500" b="0">
                <a:solidFill>
                  <a:srgbClr val="282828"/>
                </a:solidFill>
                <a:latin typeface="Arial"/>
              </a:rPr>
              <a:t>•  </a:t>
            </a:r>
            <a:r>
              <a:rPr sz="1500" b="1">
                <a:solidFill>
                  <a:srgbClr val="282828"/>
                </a:solidFill>
                <a:latin typeface="Arial"/>
              </a:rPr>
              <a:t>32</a:t>
            </a:r>
            <a:r>
              <a:rPr sz="1500" b="0">
                <a:solidFill>
                  <a:srgbClr val="282828"/>
                </a:solidFill>
                <a:latin typeface="Arial"/>
              </a:rPr>
              <a:t> The reflective front end</a:t>
            </a:r>
          </a:p>
          <a:p>
            <a:pPr>
              <a:spcAft>
                <a:spcPts val="600"/>
              </a:spcAft>
            </a:pPr>
            <a:r>
              <a:rPr sz="1500" b="0">
                <a:solidFill>
                  <a:srgbClr val="282828"/>
                </a:solidFill>
                <a:latin typeface="Arial"/>
              </a:rPr>
              <a:t>•  </a:t>
            </a:r>
            <a:r>
              <a:rPr sz="1500" b="1">
                <a:solidFill>
                  <a:srgbClr val="282828"/>
                </a:solidFill>
                <a:latin typeface="Arial"/>
              </a:rPr>
              <a:t>33</a:t>
            </a:r>
            <a:r>
              <a:rPr sz="1500" b="0">
                <a:solidFill>
                  <a:srgbClr val="282828"/>
                </a:solidFill>
                <a:latin typeface="Arial"/>
              </a:rPr>
              <a:t> Comparison and recommendation</a:t>
            </a:r>
          </a:p>
          <a:p>
            <a:pPr>
              <a:spcAft>
                <a:spcPts val="600"/>
              </a:spcAft>
            </a:pPr>
            <a:r>
              <a:rPr sz="1500" b="0">
                <a:solidFill>
                  <a:srgbClr val="282828"/>
                </a:solidFill>
                <a:latin typeface="Arial"/>
              </a:rPr>
              <a:t>•  </a:t>
            </a:r>
            <a:r>
              <a:rPr sz="1500" b="1">
                <a:solidFill>
                  <a:srgbClr val="282828"/>
                </a:solidFill>
                <a:latin typeface="Arial"/>
              </a:rPr>
              <a:t>36</a:t>
            </a:r>
            <a:r>
              <a:rPr sz="1500" b="0">
                <a:solidFill>
                  <a:srgbClr val="282828"/>
                </a:solidFill>
                <a:latin typeface="Arial"/>
              </a:rPr>
              <a:t> Measuring the complex amplitude</a:t>
            </a:r>
          </a:p>
          <a:p>
            <a:pPr>
              <a:spcAft>
                <a:spcPts val="600"/>
              </a:spcAft>
            </a:pPr>
            <a:r>
              <a:rPr sz="1500" b="0">
                <a:solidFill>
                  <a:srgbClr val="282828"/>
                </a:solidFill>
                <a:latin typeface="Arial"/>
              </a:rPr>
              <a:t>•  </a:t>
            </a:r>
            <a:r>
              <a:rPr sz="1500" b="1">
                <a:solidFill>
                  <a:srgbClr val="282828"/>
                </a:solidFill>
                <a:latin typeface="Arial"/>
              </a:rPr>
              <a:t>37</a:t>
            </a:r>
            <a:r>
              <a:rPr sz="1500" b="0">
                <a:solidFill>
                  <a:srgbClr val="282828"/>
                </a:solidFill>
                <a:latin typeface="Arial"/>
              </a:rPr>
              <a:t> Summary and future work</a:t>
            </a:r>
          </a:p>
          <a:p>
            <a:pPr>
              <a:spcAft>
                <a:spcPts val="600"/>
              </a:spcAft>
            </a:pPr>
            <a:r>
              <a:rPr sz="1500" b="0">
                <a:solidFill>
                  <a:srgbClr val="282828"/>
                </a:solidFill>
                <a:latin typeface="Arial"/>
              </a:rPr>
              <a:t>•  </a:t>
            </a:r>
            <a:r>
              <a:rPr sz="1500" b="1">
                <a:solidFill>
                  <a:srgbClr val="282828"/>
                </a:solidFill>
                <a:latin typeface="Arial"/>
              </a:rPr>
              <a:t>42</a:t>
            </a:r>
            <a:r>
              <a:rPr sz="1500" b="0">
                <a:solidFill>
                  <a:srgbClr val="282828"/>
                </a:solidFill>
                <a:latin typeface="Arial"/>
              </a:rPr>
              <a:t> Run it yourself</a:t>
            </a:r>
          </a:p>
          <a:p>
            <a:pPr>
              <a:spcAft>
                <a:spcPts val="600"/>
              </a:spcAft>
            </a:pPr>
            <a:r>
              <a:rPr sz="1500" b="0">
                <a:solidFill>
                  <a:srgbClr val="282828"/>
                </a:solidFill>
                <a:latin typeface="Arial"/>
              </a:rPr>
              <a:t>•  </a:t>
            </a:r>
            <a:r>
              <a:rPr sz="1500" b="1">
                <a:solidFill>
                  <a:srgbClr val="282828"/>
                </a:solidFill>
                <a:latin typeface="Arial"/>
              </a:rPr>
              <a:t>43</a:t>
            </a:r>
            <a:r>
              <a:rPr sz="1500" b="0">
                <a:solidFill>
                  <a:srgbClr val="282828"/>
                </a:solidFill>
                <a:latin typeface="Arial"/>
              </a:rPr>
              <a:t>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94660"/>
        </p:xfrm>
        <a:graphic>
          <a:graphicData uri="http://schemas.openxmlformats.org/drawingml/2006/table">
            <a:tbl>
              <a:tblPr firstRow="1" bandRow="1">
                <a:tableStyleId>{5C22544A-7EE6-4342-B048-85BDC9FD1C3A}</a:tableStyleId>
              </a:tblPr>
              <a:tblGrid>
                <a:gridCol w="1875344"/>
                <a:gridCol w="5423294"/>
                <a:gridCol w="2035048"/>
                <a:gridCol w="2035048"/>
              </a:tblGrid>
              <a:tr h="468630">
                <a:tc>
                  <a:txBody>
                    <a:bodyPr wrap="square"/>
                    <a:lstStyle/>
                    <a:p>
                      <a:r>
                        <a:rPr sz="1100" b="1">
                          <a:solidFill>
                            <a:srgbClr val="FFFFFF"/>
                          </a:solidFill>
                          <a:latin typeface="Arial"/>
                        </a:rPr>
                        <a:t>the claim (interferometer, both rigs)</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468630">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a 10 nm change on one actuator, read through the matrix measured on the 30 nm surface: gain (error) / floor</a:t>
                      </a:r>
                    </a:p>
                  </a:txBody>
                  <a:tcPr marL="54864" marR="54864" marT="18288" marB="18288">
                    <a:solidFill>
                      <a:srgbClr val="FFFFFF"/>
                    </a:solidFill>
                  </a:tcPr>
                </a:tc>
                <a:tc>
                  <a:txBody>
                    <a:bodyPr wrap="square"/>
                    <a:lstStyle/>
                    <a:p>
                      <a:r>
                        <a:rPr sz="1100" b="0">
                          <a:solidFill>
                            <a:srgbClr val="282828"/>
                          </a:solidFill>
                          <a:latin typeface="Arial"/>
                        </a:rPr>
                        <a:t>1.004 (0.4 %) / 1.4 pm</a:t>
                      </a:r>
                    </a:p>
                  </a:txBody>
                  <a:tcPr marL="54864" marR="54864" marT="18288" marB="18288">
                    <a:solidFill>
                      <a:srgbClr val="FFFFFF"/>
                    </a:solidFill>
                  </a:tcPr>
                </a:tc>
                <a:tc>
                  <a:txBody>
                    <a:bodyPr wrap="square"/>
                    <a:lstStyle/>
                    <a:p>
                      <a:r>
                        <a:rPr sz="1100" b="0">
                          <a:solidFill>
                            <a:srgbClr val="282828"/>
                          </a:solidFill>
                          <a:latin typeface="Arial"/>
                        </a:rPr>
                        <a:t>0.986 (1.4 %) / 2.3 pm</a:t>
                      </a:r>
                    </a:p>
                  </a:txBody>
                  <a:tcPr marL="54864" marR="54864" marT="18288" marB="18288">
                    <a:solidFill>
                      <a:srgbClr val="FFFFFF"/>
                    </a:solidFill>
                  </a:tcPr>
                </a:tc>
              </a:tr>
              <a:tr h="468630">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raw map of the 30 nm surface against the engine's field at the camera, before any calibration</a:t>
                      </a:r>
                    </a:p>
                  </a:txBody>
                  <a:tcPr marL="54864" marR="54864" marT="18288" marB="18288">
                    <a:solidFill>
                      <a:srgbClr val="ECF1F6"/>
                    </a:solidFill>
                  </a:tcPr>
                </a:tc>
                <a:tc>
                  <a:txBody>
                    <a:bodyPr wrap="square"/>
                    <a:lstStyle/>
                    <a:p>
                      <a:r>
                        <a:rPr sz="1100" b="0">
                          <a:solidFill>
                            <a:srgbClr val="282828"/>
                          </a:solidFill>
                          <a:latin typeface="Arial"/>
                        </a:rPr>
                        <a:t>1.4 % (350 pm), gain 0.993</a:t>
                      </a:r>
                    </a:p>
                  </a:txBody>
                  <a:tcPr marL="54864" marR="54864" marT="18288" marB="18288">
                    <a:solidFill>
                      <a:srgbClr val="ECF1F6"/>
                    </a:solidFill>
                  </a:tcPr>
                </a:tc>
                <a:tc>
                  <a:txBody>
                    <a:bodyPr wrap="square"/>
                    <a:lstStyle/>
                    <a:p>
                      <a:r>
                        <a:rPr sz="1100" b="0">
                          <a:solidFill>
                            <a:srgbClr val="282828"/>
                          </a:solidFill>
                          <a:latin typeface="Arial"/>
                        </a:rPr>
                        <a:t>1.5 % (463 pm), gain 0.987</a:t>
                      </a:r>
                    </a:p>
                  </a:txBody>
                  <a:tcPr marL="54864" marR="54864" marT="18288" marB="18288">
                    <a:solidFill>
                      <a:srgbClr val="ECF1F6"/>
                    </a:solidFill>
                  </a:tcPr>
                </a:tc>
              </a:tr>
              <a:tr h="468630">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of which the pupil imaging, piston and tilt removed; in the top spatial band</a:t>
                      </a:r>
                    </a:p>
                  </a:txBody>
                  <a:tcPr marL="54864" marR="54864" marT="18288" marB="18288">
                    <a:solidFill>
                      <a:srgbClr val="FFFFFF"/>
                    </a:solidFill>
                  </a:tcPr>
                </a:tc>
                <a:tc>
                  <a:txBody>
                    <a:bodyPr wrap="square"/>
                    <a:lstStyle/>
                    <a:p>
                      <a:r>
                        <a:rPr sz="1100" b="0">
                          <a:solidFill>
                            <a:srgbClr val="282828"/>
                          </a:solidFill>
                          <a:latin typeface="Arial"/>
                        </a:rPr>
                        <a:t>0.13 % (42 pm); 0.5 %</a:t>
                      </a:r>
                    </a:p>
                  </a:txBody>
                  <a:tcPr marL="54864" marR="54864" marT="18288" marB="18288">
                    <a:solidFill>
                      <a:srgbClr val="FFFFFF"/>
                    </a:solidFill>
                  </a:tcPr>
                </a:tc>
                <a:tc>
                  <a:txBody>
                    <a:bodyPr wrap="square"/>
                    <a:lstStyle/>
                    <a:p>
                      <a:r>
                        <a:rPr sz="1100" b="0">
                          <a:solidFill>
                            <a:srgbClr val="282828"/>
                          </a:solidFill>
                          <a:latin typeface="Arial"/>
                        </a:rPr>
                        <a:t>0.29 % (92 pm); 0.9 %</a:t>
                      </a:r>
                    </a:p>
                  </a:txBody>
                  <a:tcPr marL="54864" marR="54864" marT="18288" marB="18288">
                    <a:solidFill>
                      <a:srgbClr val="FFFFFF"/>
                    </a:solidFill>
                  </a:tcPr>
                </a:tc>
              </a:tr>
              <a:tr h="280035">
                <a:tc>
                  <a:txBody>
                    <a:bodyPr wrap="square"/>
                    <a:lstStyle/>
                    <a:p>
                      <a:r>
                        <a:rPr sz="1100" b="0">
                          <a:solidFill>
                            <a:srgbClr val="282828"/>
                          </a:solidFill>
                          <a:latin typeface="Arial"/>
                        </a:rPr>
                        <a:t>precision</a:t>
                      </a:r>
                    </a:p>
                  </a:txBody>
                  <a:tcPr marL="54864" marR="54864" marT="18288" marB="18288">
                    <a:solidFill>
                      <a:srgbClr val="ECF1F6"/>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ECF1F6"/>
                    </a:solidFill>
                  </a:tcPr>
                </a:tc>
                <a:tc>
                  <a:txBody>
                    <a:bodyPr wrap="square"/>
                    <a:lstStyle/>
                    <a:p>
                      <a:r>
                        <a:rPr sz="1100" b="0">
                          <a:solidFill>
                            <a:srgbClr val="282828"/>
                          </a:solidFill>
                          <a:latin typeface="Arial"/>
                        </a:rPr>
                        <a:t>2.3 / 0.7 pm</a:t>
                      </a:r>
                    </a:p>
                  </a:txBody>
                  <a:tcPr marL="54864" marR="54864" marT="18288" marB="18288">
                    <a:solidFill>
                      <a:srgbClr val="ECF1F6"/>
                    </a:solidFill>
                  </a:tcPr>
                </a:tc>
                <a:tc>
                  <a:txBody>
                    <a:bodyPr wrap="square"/>
                    <a:lstStyle/>
                    <a:p>
                      <a:r>
                        <a:rPr sz="1100" b="0">
                          <a:solidFill>
                            <a:srgbClr val="282828"/>
                          </a:solidFill>
                          <a:latin typeface="Arial"/>
                        </a:rPr>
                        <a:t>2.1 / 0.7 pm</a:t>
                      </a:r>
                    </a:p>
                  </a:txBody>
                  <a:tcPr marL="54864" marR="54864" marT="18288" marB="18288">
                    <a:solidFill>
                      <a:srgbClr val="ECF1F6"/>
                    </a:solidFill>
                  </a:tcPr>
                </a:tc>
              </a:tr>
              <a:tr h="280035">
                <a:tc>
                  <a:txBody>
                    <a:bodyPr wrap="square"/>
                    <a:lstStyle/>
                    <a:p>
                      <a:r>
                        <a:rPr sz="1100" b="0">
                          <a:solidFill>
                            <a:srgbClr val="282828"/>
                          </a:solidFill>
                          <a:latin typeface="Arial"/>
                        </a:rPr>
                        <a:t>repeatability</a:t>
                      </a:r>
                    </a:p>
                  </a:txBody>
                  <a:tcPr marL="54864" marR="54864" marT="18288" marB="18288">
                    <a:solidFill>
                      <a:srgbClr val="FFFFFF"/>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FFFFFF"/>
                    </a:solidFill>
                  </a:tcPr>
                </a:tc>
                <a:tc>
                  <a:txBody>
                    <a:bodyPr wrap="square"/>
                    <a:lstStyle/>
                    <a:p>
                      <a:r>
                        <a:rPr sz="1100" b="0">
                          <a:solidFill>
                            <a:srgbClr val="282828"/>
                          </a:solidFill>
                          <a:latin typeface="Arial"/>
                        </a:rPr>
                        <a:t>1.4 / 0.5 pm</a:t>
                      </a:r>
                    </a:p>
                  </a:txBody>
                  <a:tcPr marL="54864" marR="54864" marT="18288" marB="18288">
                    <a:solidFill>
                      <a:srgbClr val="FFFFFF"/>
                    </a:solidFill>
                  </a:tcPr>
                </a:tc>
                <a:tc>
                  <a:txBody>
                    <a:bodyPr wrap="square"/>
                    <a:lstStyle/>
                    <a:p>
                      <a:r>
                        <a:rPr sz="1100" b="0">
                          <a:solidFill>
                            <a:srgbClr val="282828"/>
                          </a:solidFill>
                          <a:latin typeface="Arial"/>
                        </a:rPr>
                        <a:t>1.3 / 0.4 pm</a:t>
                      </a:r>
                    </a:p>
                  </a:txBody>
                  <a:tcPr marL="54864" marR="54864" marT="18288" marB="18288">
                    <a:solidFill>
                      <a:srgbClr val="FFFFFF"/>
                    </a:solidFill>
                  </a:tcPr>
                </a:tc>
              </a:tr>
              <a:tr h="280035">
                <a:tc>
                  <a:txBody>
                    <a:bodyPr wrap="square"/>
                    <a:lstStyle/>
                    <a:p>
                      <a:r>
                        <a:rPr sz="1100" b="0">
                          <a:solidFill>
                            <a:srgbClr val="282828"/>
                          </a:solidFill>
                          <a:latin typeface="Arial"/>
                        </a:rPr>
                        <a:t>hold</a:t>
                      </a:r>
                    </a:p>
                  </a:txBody>
                  <a:tcPr marL="54864" marR="54864" marT="18288" marB="18288">
                    <a:solidFill>
                      <a:srgbClr val="ECF1F6"/>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ECF1F6"/>
                    </a:solidFill>
                  </a:tcPr>
                </a:tc>
                <a:tc>
                  <a:txBody>
                    <a:bodyPr wrap="square"/>
                    <a:lstStyle/>
                    <a:p>
                      <a:r>
                        <a:rPr sz="1100" b="0">
                          <a:solidFill>
                            <a:srgbClr val="282828"/>
                          </a:solidFill>
                          <a:latin typeface="Arial"/>
                        </a:rPr>
                        <a:t>2.3e13</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r>
              <a:tr h="280035">
                <a:tc>
                  <a:txBody>
                    <a:bodyPr wrap="square"/>
                    <a:lstStyle/>
                    <a:p/>
                  </a:txBody>
                  <a:tcPr marL="54864" marR="54864" marT="18288" marB="18288">
                    <a:solidFill>
                      <a:srgbClr val="FFFFFF"/>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6.6e13</a:t>
                      </a:r>
                    </a:p>
                  </a:txBody>
                  <a:tcPr marL="54864" marR="54864" marT="18288" marB="18288">
                    <a:solidFill>
                      <a:srgbClr val="FFFFFF"/>
                    </a:solidFill>
                  </a:tcPr>
                </a:tc>
              </a:tr>
            </a:tbl>
          </a:graphicData>
        </a:graphic>
      </p:graphicFrame>
      <p:sp>
        <p:nvSpPr>
          <p:cNvPr id="5" name="TextBox 4"/>
          <p:cNvSpPr txBox="1"/>
          <p:nvPr/>
        </p:nvSpPr>
        <p:spPr>
          <a:xfrm>
            <a:off x="411480" y="4439412"/>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Picometer measurement is photon-limited, not bench-limited.</a:t>
            </a:r>
            <a:r>
              <a:rPr sz="12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200" b="1">
                <a:solidFill>
                  <a:srgbClr val="282828"/>
                </a:solidFill>
                <a:latin typeface="Arial"/>
              </a:rPr>
              <a:t>Steeves et al. (2020, Optica 7, 1267) demonstrate 1.6 pm in 4.3 s on a real interferometer</a:t>
            </a:r>
            <a:r>
              <a:rPr sz="12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200" b="0">
                <a:solidFill>
                  <a:srgbClr val="282828"/>
                </a:solidFill>
                <a:latin typeface="Arial"/>
              </a:rPr>
              <a:t>•  </a:t>
            </a:r>
            <a:r>
              <a:rPr sz="1200" b="1">
                <a:solidFill>
                  <a:srgbClr val="282828"/>
                </a:solidFill>
                <a:latin typeface="Arial"/>
              </a:rPr>
              <a:t>Accuracy is a gain: systematic and proportional to the figure read.</a:t>
            </a:r>
            <a:r>
              <a:rPr sz="1200" b="0">
                <a:solidFill>
                  <a:srgbClr val="282828"/>
                </a:solidFill>
                <a:latin typeface="Arial"/>
              </a:rPr>
              <a:t>  Raw, the four-step reads the 30 nm surface 0.7 % low on lenses (350 pm) and 1.3 % low on mirrors (463 pm); through the matrix measured on the surface a 10 nm change reads at gain 1.004 on lenses and 0.986 on mirrors, with floors of 1.4 and 2.3 pm.  The pupil imaging is the smaller part (0.13 % / 0.29 %); the gain is the polarization snapshot's, and the matrix measured on the surface is what carries it.</a:t>
            </a:r>
          </a:p>
          <a:p>
            <a:pPr>
              <a:spcAft>
                <a:spcPts val="600"/>
              </a:spcAft>
            </a:pPr>
            <a:r>
              <a:rPr sz="1200" b="0">
                <a:solidFill>
                  <a:srgbClr val="282828"/>
                </a:solidFill>
                <a:latin typeface="Arial"/>
              </a:rPr>
              <a:t>•  </a:t>
            </a:r>
            <a:r>
              <a:rPr sz="1200" b="1">
                <a:solidFill>
                  <a:srgbClr val="282828"/>
                </a:solidFill>
                <a:latin typeface="Arial"/>
              </a:rPr>
              <a:t>One disturbance is not photon-limited:</a:t>
            </a:r>
            <a:r>
              <a:rPr sz="12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6199632"/>
            <a:ext cx="11365992" cy="274320"/>
          </a:xfrm>
          <a:prstGeom prst="rect">
            <a:avLst/>
          </a:prstGeom>
          <a:noFill/>
        </p:spPr>
        <p:txBody>
          <a:bodyPr wrap="square">
            <a:spAutoFit/>
          </a:bodyPr>
          <a:lstStyle/>
          <a:p>
            <a:pPr>
              <a:spcAft>
                <a:spcPts val="600"/>
              </a:spcAft>
            </a:pPr>
            <a:r>
              <a:rPr sz="1050" b="0">
                <a:solidFill>
                  <a:srgbClr val="6E6E6E"/>
                </a:solidFill>
                <a:latin typeface="Arial"/>
              </a:rPr>
              <a:t>The table is the interferometer's, the one gauge scored on both front ends; the three sensors, scored on the mirror rig, read within 1 % and 2 pm of it on the same surface (the side-by-side slide).  The raw-map row is the station-by-station figure's number (runs redo96_lensstn2, redo96_oapstn2), the four-step's sign set by a +50 nm push as on a real interferometer: the two rigs' polarization inputs give opposite fringe directions, which the matrix carries and an absolute map does not (the lens rig's earlier 51 nm 'fold' was the sign).  Run tags are on the provenance slide and on each slide that derives a number.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2_stations.png"/>
          <p:cNvPicPr>
            <a:picLocks noChangeAspect="1"/>
          </p:cNvPicPr>
          <p:nvPr/>
        </p:nvPicPr>
        <p:blipFill>
          <a:blip r:embed="rId2"/>
          <a:stretch>
            <a:fillRect/>
          </a:stretch>
        </p:blipFill>
        <p:spPr>
          <a:xfrm>
            <a:off x="1713761" y="1298448"/>
            <a:ext cx="8764172"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redo96_oapstn2 (the mirror rig; the DM's full-lattice 30 nm command, seed 7, the same surface in every station figure).  The lens rig's figure (redo96_lensstn2) reads 350 pm at gain 0.993 once the four-step's sign is set by a +50 nm push: the two rigs' polarization inputs ('collimated' on lenses, at the source on mirrors) give opposite fringe directions with the analyzer, so the lens rig's raw map came out as the negative of the surface (the 51 nm residual of the 09-17 figure was 2 x the surface, not a fold); every differential row carries the sign in its matrix and never saw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reads the surface 22 % low (7.1 nm rms, gain 0.78)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S.png"/>
          <p:cNvPicPr>
            <a:picLocks noChangeAspect="1"/>
          </p:cNvPicPr>
          <p:nvPr/>
        </p:nvPicPr>
        <p:blipFill>
          <a:blip r:embed="rId2"/>
          <a:stretch>
            <a:fillRect/>
          </a:stretch>
        </p:blipFill>
        <p:spPr>
          <a:xfrm>
            <a:off x="2493141" y="1298448"/>
            <a:ext cx="7205411" cy="2018792"/>
          </a:xfrm>
          <a:prstGeom prst="rect">
            <a:avLst/>
          </a:prstGeom>
        </p:spPr>
      </p:pic>
      <p:sp>
        <p:nvSpPr>
          <p:cNvPr id="5" name="TextBox 4"/>
          <p:cNvSpPr txBox="1"/>
          <p:nvPr/>
        </p:nvSpPr>
        <p:spPr>
          <a:xfrm>
            <a:off x="411480" y="3335528"/>
            <a:ext cx="11368735" cy="724408"/>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7.1 nm rms on the working surface, gain 0.78).  The runner's own figure, run stations193_oap on the mirror rig at 193 pixels per pupil.</a:t>
            </a:r>
          </a:p>
        </p:txBody>
      </p:sp>
      <p:sp>
        <p:nvSpPr>
          <p:cNvPr id="6" name="TextBox 5"/>
          <p:cNvSpPr txBox="1"/>
          <p:nvPr/>
        </p:nvSpPr>
        <p:spPr>
          <a:xfrm>
            <a:off x="411480" y="4096511"/>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and the inversion takes its amplitude from the flat.  On the 30 nm surface (0.6 rad rms of wavefront phase, double pass) the core is weaker, the recovered phase scales as one over that amplitude, and the raw map reads the surface 22 % low -- gain 0.78, 7.1 nm rms, shaped like the surface: a gain error, not noise.  The matrix measured on the surface absorbs it, which is how the stepped reading reaches 5 pm on its rows; left as calibrated on the flat, it is what limits the self-referenced sensors' capture range to 36-70 nm.</a:t>
            </a:r>
          </a:p>
        </p:txBody>
      </p:sp>
      <p:sp>
        <p:nvSpPr>
          <p:cNvPr id="7" name="TextBox 6"/>
          <p:cNvSpPr txBox="1"/>
          <p:nvPr/>
        </p:nvSpPr>
        <p:spPr>
          <a:xfrm>
            <a:off x="411480" y="575919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at gain 0.993 against the engine's field on the 30 nm working surface: the pixel-by-pixel solve needs no reference amplitude from the flat; what remains (863 pm, 200 of them already on the flat) is the mirror rig's arm term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V.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863 pm is the raw absolute map's error on the 30 nm surface with the flat's calibration, at gain 0.993; 200 pm of it is there on the flat too -- the mirror rig's uncalibrated metasurface-arm term, which the calibration absorbs.  On the same surface the calibrated reading is 0.9935 / 4 pm.  Run stations193_oap.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at gain 0.981, 0.73 nm rms against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oap_stations_P.png"/>
          <p:cNvPicPr>
            <a:picLocks noChangeAspect="1"/>
          </p:cNvPicPr>
          <p:nvPr/>
        </p:nvPicPr>
        <p:blipFill>
          <a:blip r:embed="rId2"/>
          <a:stretch>
            <a:fillRect/>
          </a:stretch>
        </p:blipFill>
        <p:spPr>
          <a:xfrm>
            <a:off x="2198506" y="1298448"/>
            <a:ext cx="7794681"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0.73 nm (gain 0.981) is the raw map's error with the flat's calibration, run stations193_oap on the mirror rig; through the matrix on the surface the pinhole reads 0.9935 / 4 pm, the same as the vector dimple.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Each gauge reading the 30 nm working surface, station by station</a:t>
            </a:r>
          </a:p>
          <a:p>
            <a:pPr>
              <a:spcAft>
                <a:spcPts val="0"/>
              </a:spcAft>
            </a:pPr>
            <a:r>
              <a:rPr sz="1250" b="0">
                <a:solidFill>
                  <a:srgbClr val="6E6E6E"/>
                </a:solidFill>
                <a:latin typeface="Arial"/>
              </a:rPr>
              <a:t>The same mirror command through the four trains: what the camera sees, and what comes back; the last column is the raw map against the engine's own field, before any calibration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stations_row2_I.png"/>
          <p:cNvPicPr>
            <a:picLocks noChangeAspect="1"/>
          </p:cNvPicPr>
          <p:nvPr/>
        </p:nvPicPr>
        <p:blipFill>
          <a:blip r:embed="rId2"/>
          <a:stretch>
            <a:fillRect/>
          </a:stretch>
        </p:blipFill>
        <p:spPr>
          <a:xfrm>
            <a:off x="5212080" y="1060704"/>
            <a:ext cx="6629400" cy="1225296"/>
          </a:xfrm>
          <a:prstGeom prst="rect">
            <a:avLst/>
          </a:prstGeom>
        </p:spPr>
      </p:pic>
      <p:sp>
        <p:nvSpPr>
          <p:cNvPr id="5" name="TextBox 4"/>
          <p:cNvSpPr txBox="1"/>
          <p:nvPr/>
        </p:nvSpPr>
        <p:spPr>
          <a:xfrm>
            <a:off x="228600" y="1170432"/>
            <a:ext cx="3931920" cy="724408"/>
          </a:xfrm>
          <a:prstGeom prst="rect">
            <a:avLst/>
          </a:prstGeom>
          <a:noFill/>
        </p:spPr>
        <p:txBody>
          <a:bodyPr wrap="square">
            <a:spAutoFit/>
          </a:bodyPr>
          <a:lstStyle/>
          <a:p>
            <a:pPr algn="l">
              <a:spcAft>
                <a:spcPts val="0"/>
              </a:spcAft>
            </a:pPr>
            <a:r>
              <a:rPr sz="1000" b="0">
                <a:solidFill>
                  <a:srgbClr val="6E6E6E"/>
                </a:solidFill>
                <a:latin typeface="Arial"/>
              </a:rPr>
              <a:t>Interferometer (hybrid): the command; the test and reference arms at the camera; two of the four phase-stepped frames; the recovered surface, 25.8 nm rms; the raw map minus the engine's field, 463 pm, gain 0.987.</a:t>
            </a:r>
          </a:p>
        </p:txBody>
      </p:sp>
      <p:pic>
        <p:nvPicPr>
          <p:cNvPr id="6" name="Picture 5" descr="crop_stations_row2_S.png"/>
          <p:cNvPicPr>
            <a:picLocks noChangeAspect="1"/>
          </p:cNvPicPr>
          <p:nvPr/>
        </p:nvPicPr>
        <p:blipFill>
          <a:blip r:embed="rId3"/>
          <a:stretch>
            <a:fillRect/>
          </a:stretch>
        </p:blipFill>
        <p:spPr>
          <a:xfrm>
            <a:off x="5212080" y="2340864"/>
            <a:ext cx="6629400" cy="1161288"/>
          </a:xfrm>
          <a:prstGeom prst="rect">
            <a:avLst/>
          </a:prstGeom>
        </p:spPr>
      </p:pic>
      <p:sp>
        <p:nvSpPr>
          <p:cNvPr id="7" name="TextBox 6"/>
          <p:cNvSpPr txBox="1"/>
          <p:nvPr/>
        </p:nvSpPr>
        <p:spPr>
          <a:xfrm>
            <a:off x="228600" y="2450592"/>
            <a:ext cx="3931920" cy="889508"/>
          </a:xfrm>
          <a:prstGeom prst="rect">
            <a:avLst/>
          </a:prstGeom>
          <a:noFill/>
        </p:spPr>
        <p:txBody>
          <a:bodyPr wrap="square">
            <a:spAutoFit/>
          </a:bodyPr>
          <a:lstStyle/>
          <a:p>
            <a:pPr algn="l">
              <a:spcAft>
                <a:spcPts val="0"/>
              </a:spcAft>
            </a:pPr>
            <a:r>
              <a:rPr sz="1000" b="0">
                <a:solidFill>
                  <a:srgbClr val="6E6E6E"/>
                </a:solidFill>
                <a:latin typeface="Arial"/>
              </a:rPr>
              <a:t>Stepped Zernike: the focal spot with the dimple's footprint; the dimple's phase; the reference wave the dimple makes from the beam; the clear frame and the first depth frame; the recovered surface, 24.6 nm rms; raw map minus the engine 7.1 nm, gain 0.78.</a:t>
            </a:r>
          </a:p>
        </p:txBody>
      </p:sp>
      <p:pic>
        <p:nvPicPr>
          <p:cNvPr id="8" name="Picture 7" descr="crop_stations_row2_V.png"/>
          <p:cNvPicPr>
            <a:picLocks noChangeAspect="1"/>
          </p:cNvPicPr>
          <p:nvPr/>
        </p:nvPicPr>
        <p:blipFill>
          <a:blip r:embed="rId4"/>
          <a:stretch>
            <a:fillRect/>
          </a:stretch>
        </p:blipFill>
        <p:spPr>
          <a:xfrm>
            <a:off x="5212080" y="3557016"/>
            <a:ext cx="6629400" cy="1143000"/>
          </a:xfrm>
          <a:prstGeom prst="rect">
            <a:avLst/>
          </a:prstGeom>
        </p:spPr>
      </p:pic>
      <p:sp>
        <p:nvSpPr>
          <p:cNvPr id="9" name="TextBox 8"/>
          <p:cNvSpPr txBox="1"/>
          <p:nvPr/>
        </p:nvSpPr>
        <p:spPr>
          <a:xfrm>
            <a:off x="182880" y="3666744"/>
            <a:ext cx="3977639" cy="724408"/>
          </a:xfrm>
          <a:prstGeom prst="rect">
            <a:avLst/>
          </a:prstGeom>
          <a:noFill/>
        </p:spPr>
        <p:txBody>
          <a:bodyPr wrap="square">
            <a:spAutoFit/>
          </a:bodyPr>
          <a:lstStyle/>
          <a:p>
            <a:pPr algn="l">
              <a:spcAft>
                <a:spcPts val="0"/>
              </a:spcAft>
            </a:pPr>
            <a:r>
              <a:rPr sz="1000" b="0">
                <a:solidFill>
                  <a:srgbClr val="6E6E6E"/>
                </a:solidFill>
                <a:latin typeface="Arial"/>
              </a:rPr>
              <a:t>Vector Zernike: the metasurface (+90° on one circular state, −90° on the other); camera A and camera B, both frames at once; the pixel-by-pixel solve, 31.1 nm rms; raw map minus the engine 863 pm, gain 0.993 (200 pm of it on the flat: the arm term).</a:t>
            </a:r>
          </a:p>
        </p:txBody>
      </p:sp>
      <p:pic>
        <p:nvPicPr>
          <p:cNvPr id="10" name="Picture 9" descr="crop_stations_row2_P.png"/>
          <p:cNvPicPr>
            <a:picLocks noChangeAspect="1"/>
          </p:cNvPicPr>
          <p:nvPr/>
        </p:nvPicPr>
        <p:blipFill>
          <a:blip r:embed="rId5"/>
          <a:stretch>
            <a:fillRect/>
          </a:stretch>
        </p:blipFill>
        <p:spPr>
          <a:xfrm>
            <a:off x="5212080" y="4754880"/>
            <a:ext cx="6629400" cy="1143000"/>
          </a:xfrm>
          <a:prstGeom prst="rect">
            <a:avLst/>
          </a:prstGeom>
        </p:spPr>
      </p:pic>
      <p:sp>
        <p:nvSpPr>
          <p:cNvPr id="11" name="TextBox 10"/>
          <p:cNvSpPr txBox="1"/>
          <p:nvPr/>
        </p:nvSpPr>
        <p:spPr>
          <a:xfrm>
            <a:off x="182880" y="4864608"/>
            <a:ext cx="3977639" cy="724408"/>
          </a:xfrm>
          <a:prstGeom prst="rect">
            <a:avLst/>
          </a:prstGeom>
          <a:noFill/>
        </p:spPr>
        <p:txBody>
          <a:bodyPr wrap="square">
            <a:spAutoFit/>
          </a:bodyPr>
          <a:lstStyle/>
          <a:p>
            <a:pPr algn="l">
              <a:spcAft>
                <a:spcPts val="0"/>
              </a:spcAft>
            </a:pPr>
            <a:r>
              <a:rPr sz="1000" b="0">
                <a:solidFill>
                  <a:srgbClr val="6E6E6E"/>
                </a:solidFill>
                <a:latin typeface="Arial"/>
              </a:rPr>
              <a:t>Stepped pinhole: the pinhole plate (clear pinhole, the surround at 0.72); the first step frame and the shutter frame (the pinhole's light alone); the recovered surface, 30.7 nm rms; raw map minus the engine 730 pm, gain 0.981.</a:t>
            </a:r>
          </a:p>
        </p:txBody>
      </p:sp>
      <p:sp>
        <p:nvSpPr>
          <p:cNvPr id="12" name="TextBox 11"/>
          <p:cNvSpPr txBox="1"/>
          <p:nvPr/>
        </p:nvSpPr>
        <p:spPr>
          <a:xfrm>
            <a:off x="411480" y="5998464"/>
            <a:ext cx="11384280" cy="274320"/>
          </a:xfrm>
          <a:prstGeom prst="rect">
            <a:avLst/>
          </a:prstGeom>
          <a:noFill/>
        </p:spPr>
        <p:txBody>
          <a:bodyPr wrap="square">
            <a:spAutoFit/>
          </a:bodyPr>
          <a:lstStyle/>
          <a:p>
            <a:pPr>
              <a:spcAft>
                <a:spcPts val="600"/>
              </a:spcAft>
            </a:pPr>
            <a:r>
              <a:rPr sz="1000" b="0">
                <a:solidFill>
                  <a:srgbClr val="282828"/>
                </a:solidFill>
                <a:latin typeface="Arial"/>
              </a:rPr>
              <a:t>•  </a:t>
            </a:r>
            <a:r>
              <a:rPr sz="1000" b="1">
                <a:solidFill>
                  <a:srgbClr val="282828"/>
                </a:solidFill>
                <a:latin typeface="Arial"/>
              </a:rPr>
              <a:t>The stepped Zernike's 7.1 nm is a gain error, not noise:</a:t>
            </a:r>
            <a:r>
              <a:rPr sz="1000" b="0">
                <a:solidFill>
                  <a:srgbClr val="282828"/>
                </a:solidFill>
                <a:latin typeface="Arial"/>
              </a:rPr>
              <a:t> its inversion takes the reference wave's amplitude from the flat; on the 30 nm surface the focal core is weaker, so the raw map reads 22 % low (gain 0.78), shaped like the surface, and the matrix measured on the surface absorbs it (5 pm calibrated).  The vector pair's two simultaneous frames need no amplitude from the flat: gain 0.993.</a:t>
            </a:r>
          </a:p>
        </p:txBody>
      </p:sp>
      <p:sp>
        <p:nvSpPr>
          <p:cNvPr id="13" name="TextBox 12"/>
          <p:cNvSpPr txBox="1"/>
          <p:nvPr/>
        </p:nvSpPr>
        <p:spPr>
          <a:xfrm>
            <a:off x="411480" y="6455664"/>
            <a:ext cx="11384280" cy="274320"/>
          </a:xfrm>
          <a:prstGeom prst="rect">
            <a:avLst/>
          </a:prstGeom>
          <a:noFill/>
        </p:spPr>
        <p:txBody>
          <a:bodyPr wrap="square">
            <a:spAutoFit/>
          </a:bodyPr>
          <a:lstStyle/>
          <a:p>
            <a:pPr>
              <a:spcAft>
                <a:spcPts val="600"/>
              </a:spcAft>
            </a:pPr>
            <a:r>
              <a:rPr sz="1050" b="0">
                <a:solidFill>
                  <a:srgbClr val="6E6E6E"/>
                </a:solidFill>
                <a:latin typeface="Arial"/>
              </a:rPr>
              <a:t>Row 2 of each station figure, mirror rig, the same DM command in all four (30 nm rms over the lattice, seed 7); the full figures are in the backup.  The interferometer's camera sees 25.8 nm rms of it, the sensors' 31: the detector legs image the pupil differently (the pupil-image slide), and each matrix is measured through its own train.  Runs redo96_oapstn2, stations193_oap.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to 1-6 %; the light for 1 pm then rises 30-100× for the self-referenced sensors between 30 and 160 nm (vector 4.6e13 → 4.5e15) and falls for the interferometer (7.0e14 → 4.4e14), whose reference does not move with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657600"/>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the grid sites, matrix re-measured at 60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stepped Zernike</a:t>
                      </a:r>
                    </a:p>
                  </a:txBody>
                  <a:tcPr marL="54864" marR="54864" marT="18288" marB="18288">
                    <a:solidFill>
                      <a:srgbClr val="FFFFFF"/>
                    </a:solidFill>
                  </a:tcPr>
                </a:tc>
                <a:tc>
                  <a:txBody>
                    <a:bodyPr wrap="square"/>
                    <a:lstStyle/>
                    <a:p>
                      <a:r>
                        <a:rPr sz="1100" b="0">
                          <a:solidFill>
                            <a:srgbClr val="282828"/>
                          </a:solidFill>
                          <a:latin typeface="Arial"/>
                        </a:rPr>
                        <a:t>0.94 / 50, 0.99 / 26, 0.99 / 26 pm</a:t>
                      </a:r>
                    </a:p>
                  </a:txBody>
                  <a:tcPr marL="54864" marR="54864" marT="18288" marB="18288">
                    <a:solidFill>
                      <a:srgbClr val="FFFFFF"/>
                    </a:solidFill>
                  </a:tcPr>
                </a:tc>
                <a:tc>
                  <a:txBody>
                    <a:bodyPr wrap="square"/>
                    <a:lstStyle/>
                    <a:p>
                      <a:r>
                        <a:rPr sz="1100" b="0">
                          <a:solidFill>
                            <a:srgbClr val="282828"/>
                          </a:solidFill>
                          <a:latin typeface="Arial"/>
                        </a:rPr>
                        <a:t>1.2e14, 5.3e14, 4.6e15, 7.5e15</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0.99 / 6, 0.99 / 26, 0.99 / 26 pm</a:t>
                      </a:r>
                    </a:p>
                  </a:txBody>
                  <a:tcPr marL="54864" marR="54864" marT="18288" marB="18288">
                    <a:solidFill>
                      <a:srgbClr val="ECF1F6"/>
                    </a:solidFill>
                  </a:tcPr>
                </a:tc>
                <a:tc>
                  <a:txBody>
                    <a:bodyPr wrap="square"/>
                    <a:lstStyle/>
                    <a:p>
                      <a:r>
                        <a:rPr sz="1100" b="0">
                          <a:solidFill>
                            <a:srgbClr val="282828"/>
                          </a:solidFill>
                          <a:latin typeface="Arial"/>
                        </a:rPr>
                        <a:t>4.6e13, 1.4e14, 2.4e15, 4.5e15</a:t>
                      </a:r>
                    </a:p>
                  </a:txBody>
                  <a:tcPr marL="54864" marR="54864" marT="18288" marB="18288">
                    <a:solidFill>
                      <a:srgbClr val="ECF1F6"/>
                    </a:solidFill>
                  </a:tcPr>
                </a:tc>
              </a:tr>
              <a:tr h="468630">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0.98 / 16, 0.99 / 26, 0.99 / 26 pm</a:t>
                      </a:r>
                    </a:p>
                  </a:txBody>
                  <a:tcPr marL="54864" marR="54864" marT="18288" marB="18288">
                    <a:solidFill>
                      <a:srgbClr val="FFFFFF"/>
                    </a:solidFill>
                  </a:tcPr>
                </a:tc>
                <a:tc>
                  <a:txBody>
                    <a:bodyPr wrap="square"/>
                    <a:lstStyle/>
                    <a:p>
                      <a:r>
                        <a:rPr sz="1100" b="0">
                          <a:solidFill>
                            <a:srgbClr val="282828"/>
                          </a:solidFill>
                          <a:latin typeface="Arial"/>
                        </a:rPr>
                        <a:t>1.5e14, 3.0e14, 3.0e15, 7.3e15</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10235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gain through recalibration but pays in light (4.5e15 photons is 1.4 mJ, 6 s of a 1 mW laser at 25 % throughput) and its floor rises to 26 pm; the interferometer pays nothing because its reference does not move with the surface.</a:t>
            </a:r>
          </a:p>
        </p:txBody>
      </p:sp>
      <p:sp>
        <p:nvSpPr>
          <p:cNvPr id="6" name="TextBox 5"/>
          <p:cNvSpPr txBox="1"/>
          <p:nvPr/>
        </p:nvSpPr>
        <p:spPr>
          <a:xfrm>
            <a:off x="411480" y="6022086"/>
            <a:ext cx="11368735" cy="274320"/>
          </a:xfrm>
          <a:prstGeom prst="rect">
            <a:avLst/>
          </a:prstGeom>
          <a:noFill/>
        </p:spPr>
        <p:txBody>
          <a:bodyPr wrap="square">
            <a:spAutoFit/>
          </a:bodyPr>
          <a:lstStyle/>
          <a:p>
            <a:pPr>
              <a:spcAft>
                <a:spcPts val="600"/>
              </a:spcAft>
            </a:pPr>
            <a:r>
              <a:rPr sz="1050" b="0">
                <a:solidFill>
                  <a:srgbClr val="6E6E6E"/>
                </a:solidFill>
                <a:latin typeface="Arial"/>
              </a:rPr>
              <a:t>All rows on the built bench.  Interferometer: redo96_lensph, redo96_oapph (the re-measured matrix on each surface, 1 nm on 112 sites).  Sensors, mirror rig at 193 px: redo96_senscap_b60/b120/b160 (1 nm on 77 grid sites, matrix re-measured on the surface), redo96_sensnoise and redo96_sensnoise_b60/b120/b160 (photons).  Photons are per measurement, all frames summed, 6 noise realizations per point.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 redo96_oapstn2.</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 stations193_oap.</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