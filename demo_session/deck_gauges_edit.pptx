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What the bench delivers</a:t>
            </a:r>
          </a:p>
          <a:p>
            <a:pPr>
              <a:spcAft>
                <a:spcPts val="600"/>
              </a:spcAft>
            </a:pPr>
            <a:r>
              <a:rPr sz="1200" b="0">
                <a:solidFill>
                  <a:srgbClr val="282828"/>
                </a:solidFill>
                <a:latin typeface="Arial"/>
              </a:rPr>
              <a:t>•  4 Introduction: the three jobs and how they are scored</a:t>
            </a:r>
          </a:p>
          <a:p>
            <a:pPr>
              <a:spcAft>
                <a:spcPts val="600"/>
              </a:spcAft>
            </a:pPr>
            <a:r>
              <a:rPr sz="1200" b="0">
                <a:solidFill>
                  <a:srgbClr val="282828"/>
                </a:solidFill>
                <a:latin typeface="Arial"/>
              </a:rPr>
              <a:t>•  5 The bench layout</a:t>
            </a:r>
          </a:p>
          <a:p>
            <a:pPr>
              <a:spcAft>
                <a:spcPts val="600"/>
              </a:spcAft>
            </a:pPr>
            <a:r>
              <a:rPr sz="1200" b="0">
                <a:solidFill>
                  <a:srgbClr val="282828"/>
                </a:solidFill>
                <a:latin typeface="Arial"/>
              </a:rPr>
              <a:t>•  7 Parts: the front end and the detector leg</a:t>
            </a:r>
          </a:p>
          <a:p>
            <a:pPr>
              <a:spcAft>
                <a:spcPts val="600"/>
              </a:spcAft>
            </a:pPr>
            <a:r>
              <a:rPr sz="1200" b="0">
                <a:solidFill>
                  <a:srgbClr val="282828"/>
                </a:solidFill>
                <a:latin typeface="Arial"/>
              </a:rPr>
              <a:t>•  9 Parts: the interferometer and the sensors</a:t>
            </a:r>
          </a:p>
          <a:p>
            <a:pPr>
              <a:spcAft>
                <a:spcPts val="600"/>
              </a:spcAft>
            </a:pPr>
            <a:r>
              <a:rPr sz="1200" b="0">
                <a:solidFill>
                  <a:srgbClr val="282828"/>
                </a:solidFill>
                <a:latin typeface="Arial"/>
              </a:rPr>
              <a:t>•  11 Twyman-Green interferometer</a:t>
            </a:r>
          </a:p>
          <a:p>
            <a:pPr>
              <a:spcAft>
                <a:spcPts val="600"/>
              </a:spcAft>
            </a:pPr>
            <a:r>
              <a:rPr sz="1200" b="0">
                <a:solidFill>
                  <a:srgbClr val="282828"/>
                </a:solidFill>
                <a:latin typeface="Arial"/>
              </a:rPr>
              <a:t>•  18 Zernike sensor</a:t>
            </a:r>
          </a:p>
          <a:p>
            <a:pPr>
              <a:spcAft>
                <a:spcPts val="600"/>
              </a:spcAft>
            </a:pPr>
            <a:r>
              <a:rPr sz="1200" b="0">
                <a:solidFill>
                  <a:srgbClr val="282828"/>
                </a:solidFill>
                <a:latin typeface="Arial"/>
              </a:rPr>
              <a:t>•  20 Vector Zernike sensor</a:t>
            </a:r>
          </a:p>
          <a:p>
            <a:pPr>
              <a:spcAft>
                <a:spcPts val="600"/>
              </a:spcAft>
            </a:pPr>
            <a:r>
              <a:rPr sz="1200" b="0">
                <a:solidFill>
                  <a:srgbClr val="282828"/>
                </a:solidFill>
                <a:latin typeface="Arial"/>
              </a:rPr>
              <a:t>•  23 Point-diffraction sensor</a:t>
            </a:r>
          </a:p>
          <a:p>
            <a:pPr>
              <a:spcAft>
                <a:spcPts val="600"/>
              </a:spcAft>
            </a:pPr>
            <a:r>
              <a:rPr sz="1200" b="0">
                <a:solidFill>
                  <a:srgbClr val="282828"/>
                </a:solidFill>
                <a:latin typeface="Arial"/>
              </a:rPr>
              <a:t>•  26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32 Lenses versus off-axis parabolas</a:t>
            </a:r>
          </a:p>
          <a:p>
            <a:pPr>
              <a:spcAft>
                <a:spcPts val="600"/>
              </a:spcAft>
            </a:pPr>
            <a:r>
              <a:rPr sz="1200" b="0">
                <a:solidFill>
                  <a:srgbClr val="282828"/>
                </a:solidFill>
                <a:latin typeface="Arial"/>
              </a:rPr>
              <a:t>•  33 The reflective front end and its performance</a:t>
            </a:r>
          </a:p>
          <a:p>
            <a:pPr>
              <a:spcAft>
                <a:spcPts val="600"/>
              </a:spcAft>
            </a:pPr>
            <a:r>
              <a:rPr sz="1200" b="0">
                <a:solidFill>
                  <a:srgbClr val="282828"/>
                </a:solidFill>
                <a:latin typeface="Arial"/>
              </a:rPr>
              <a:t>•  35 Comparison and recommendation</a:t>
            </a:r>
          </a:p>
          <a:p>
            <a:pPr>
              <a:spcAft>
                <a:spcPts val="600"/>
              </a:spcAft>
            </a:pPr>
            <a:r>
              <a:rPr sz="1200" b="0">
                <a:solidFill>
                  <a:srgbClr val="282828"/>
                </a:solidFill>
                <a:latin typeface="Arial"/>
              </a:rPr>
              <a:t>•  38 Measuring the complex amplitude</a:t>
            </a:r>
          </a:p>
          <a:p>
            <a:pPr>
              <a:spcAft>
                <a:spcPts val="600"/>
              </a:spcAft>
            </a:pPr>
            <a:r>
              <a:rPr sz="1200" b="0">
                <a:solidFill>
                  <a:srgbClr val="282828"/>
                </a:solidFill>
                <a:latin typeface="Arial"/>
              </a:rPr>
              <a:t>•  39 Summary and future work</a:t>
            </a:r>
          </a:p>
          <a:p>
            <a:pPr>
              <a:spcAft>
                <a:spcPts val="600"/>
              </a:spcAft>
            </a:pPr>
            <a:r>
              <a:rPr sz="1200" b="0">
                <a:solidFill>
                  <a:srgbClr val="282828"/>
                </a:solidFill>
                <a:latin typeface="Arial"/>
              </a:rPr>
              <a:t>•  45 Run it yourself</a:t>
            </a:r>
          </a:p>
          <a:p>
            <a:pPr>
              <a:spcAft>
                <a:spcPts val="600"/>
              </a:spcAft>
            </a:pPr>
            <a:r>
              <a:rPr sz="1200" b="0">
                <a:solidFill>
                  <a:srgbClr val="282828"/>
                </a:solidFill>
                <a:latin typeface="Arial"/>
              </a:rPr>
              <a:t>•  46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bench delivers</a:t>
            </a:r>
          </a:p>
          <a:p>
            <a:pPr>
              <a:spcAft>
                <a:spcPts val="0"/>
              </a:spcAft>
            </a:pPr>
            <a:r>
              <a:rPr sz="1250" b="0">
                <a:solidFill>
                  <a:srgbClr val="6E6E6E"/>
                </a:solidFill>
                <a:latin typeface="Arial"/>
              </a:rPr>
              <a:t>Accuracy, precision, repeatability and hold — measured on both front ends, on the bench as it will be built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0280"/>
        </p:xfrm>
        <a:graphic>
          <a:graphicData uri="http://schemas.openxmlformats.org/drawingml/2006/table">
            <a:tbl>
              <a:tblPr firstRow="1" bandRow="1">
                <a:tableStyleId>{5C22544A-7EE6-4342-B048-85BDC9FD1C3A}</a:tableStyleId>
              </a:tblPr>
              <a:tblGrid>
                <a:gridCol w="1090676"/>
                <a:gridCol w="7370267"/>
                <a:gridCol w="1453895"/>
                <a:gridCol w="1453895"/>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r h="280035">
                <a:tc>
                  <a:txBody>
                    <a:bodyPr wrap="square"/>
                    <a:lstStyle/>
                    <a:p>
                      <a:r>
                        <a:rPr sz="1100" b="0">
                          <a:solidFill>
                            <a:srgbClr val="282828"/>
                          </a:solidFill>
                          <a:latin typeface="Arial"/>
                        </a:rPr>
                        <a:t>differential</a:t>
                      </a:r>
                    </a:p>
                  </a:txBody>
                  <a:tcPr marL="54864" marR="54864" marT="18288" marB="18288">
                    <a:solidFill>
                      <a:srgbClr val="FFFFFF"/>
                    </a:solidFill>
                  </a:tcPr>
                </a:tc>
                <a:tc>
                  <a:txBody>
                    <a:bodyPr wrap="square"/>
                    <a:lstStyle/>
                    <a:p>
                      <a:r>
                        <a:rPr sz="1100" b="0">
                          <a:solidFill>
                            <a:srgbClr val="282828"/>
                          </a:solidFill>
                          <a:latin typeface="Arial"/>
                        </a:rPr>
                        <a:t>a 10 nm single-actuator change, read against truth</a:t>
                      </a:r>
                    </a:p>
                  </a:txBody>
                  <a:tcPr marL="54864" marR="54864" marT="18288" marB="18288">
                    <a:solidFill>
                      <a:srgbClr val="FFFFFF"/>
                    </a:solidFill>
                  </a:tcPr>
                </a:tc>
                <a:tc>
                  <a:txBody>
                    <a:bodyPr wrap="square"/>
                    <a:lstStyle/>
                    <a:p>
                      <a:r>
                        <a:rPr sz="1100" b="0">
                          <a:solidFill>
                            <a:srgbClr val="282828"/>
                          </a:solidFill>
                          <a:latin typeface="Arial"/>
                        </a:rPr>
                        <a:t>1.5 pm, gain 1.001</a:t>
                      </a:r>
                    </a:p>
                  </a:txBody>
                  <a:tcPr marL="54864" marR="54864" marT="18288" marB="18288">
                    <a:solidFill>
                      <a:srgbClr val="FFFFFF"/>
                    </a:solidFill>
                  </a:tcPr>
                </a:tc>
                <a:tc>
                  <a:txBody>
                    <a:bodyPr wrap="square"/>
                    <a:lstStyle/>
                    <a:p>
                      <a:r>
                        <a:rPr sz="1100" b="0">
                          <a:solidFill>
                            <a:srgbClr val="282828"/>
                          </a:solidFill>
                          <a:latin typeface="Arial"/>
                        </a:rPr>
                        <a:t>1.8 pm, gain 0.993</a:t>
                      </a:r>
                    </a:p>
                  </a:txBody>
                  <a:tcPr marL="54864" marR="54864" marT="18288" marB="18288">
                    <a:solidFill>
                      <a:srgbClr val="FFFFFF"/>
                    </a:solidFill>
                  </a:tcPr>
                </a:tc>
              </a:tr>
            </a:tbl>
          </a:graphicData>
        </a:graphic>
      </p:graphicFrame>
      <p:sp>
        <p:nvSpPr>
          <p:cNvPr id="5" name="TextBox 4"/>
          <p:cNvSpPr txBox="1"/>
          <p:nvPr/>
        </p:nvSpPr>
        <p:spPr>
          <a:xfrm>
            <a:off x="411480" y="3685032"/>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is repeatable to 0.7 pm, and a servo fed at that rate holds the surface to under half a picometer.  Both front ends give the same answer to within 10 %.</a:t>
            </a:r>
          </a:p>
          <a:p>
            <a:pPr>
              <a:spcAft>
                <a:spcPts val="600"/>
              </a:spcAft>
            </a:pPr>
            <a:r>
              <a:rPr sz="1500" b="0">
                <a:solidFill>
                  <a:srgbClr val="282828"/>
                </a:solidFill>
                <a:latin typeface="Arial"/>
              </a:rPr>
              <a:t>•  The accuracy figure is systematic and proportional: it is a fraction of the figure being read, so a 30 nm working surface costs tens of picometers and a 200 nm capture figure costs hundreds.  It holds because the response matrix is measured on the surface rather than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That is a cadence and a thermal-control requirement, not a sensing one.</a:t>
            </a:r>
          </a:p>
        </p:txBody>
      </p:sp>
      <p:sp>
        <p:nvSpPr>
          <p:cNvPr id="6" name="TextBox 5"/>
          <p:cNvSpPr txBox="1"/>
          <p:nvPr/>
        </p:nvSpPr>
        <p:spPr>
          <a:xfrm>
            <a:off x="411480" y="6123432"/>
            <a:ext cx="11368735" cy="274320"/>
          </a:xfrm>
          <a:prstGeom prst="rect">
            <a:avLst/>
          </a:prstGeom>
          <a:noFill/>
        </p:spPr>
        <p:txBody>
          <a:bodyPr wrap="square">
            <a:spAutoFit/>
          </a:bodyPr>
          <a:lstStyle/>
          <a:p>
            <a:pPr>
              <a:spcAft>
                <a:spcPts val="600"/>
              </a:spcAft>
            </a:pPr>
            <a:r>
              <a:rPr sz="1050" b="0">
                <a:solidFill>
                  <a:srgbClr val="6E6E6E"/>
                </a:solidFill>
                <a:latin typeface="Arial"/>
              </a:rPr>
              <a:t>Every number on this slide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