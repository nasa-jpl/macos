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Introduction: the three jobs and how they are scored</a:t>
            </a:r>
          </a:p>
          <a:p>
            <a:pPr>
              <a:spcAft>
                <a:spcPts val="600"/>
              </a:spcAft>
            </a:pPr>
            <a:r>
              <a:rPr sz="1200" b="0">
                <a:solidFill>
                  <a:srgbClr val="282828"/>
                </a:solidFill>
                <a:latin typeface="Arial"/>
              </a:rPr>
              <a:t>•  4 The bench layout</a:t>
            </a:r>
          </a:p>
          <a:p>
            <a:pPr>
              <a:spcAft>
                <a:spcPts val="600"/>
              </a:spcAft>
            </a:pPr>
            <a:r>
              <a:rPr sz="1200" b="0">
                <a:solidFill>
                  <a:srgbClr val="282828"/>
                </a:solidFill>
                <a:latin typeface="Arial"/>
              </a:rPr>
              <a:t>•  6 Parts</a:t>
            </a:r>
          </a:p>
          <a:p>
            <a:pPr>
              <a:spcAft>
                <a:spcPts val="600"/>
              </a:spcAft>
            </a:pPr>
            <a:r>
              <a:rPr sz="1200" b="0">
                <a:solidFill>
                  <a:srgbClr val="282828"/>
                </a:solidFill>
                <a:latin typeface="Arial"/>
              </a:rPr>
              <a:t>•  9 Twyman-Green interferometer</a:t>
            </a:r>
          </a:p>
          <a:p>
            <a:pPr>
              <a:spcAft>
                <a:spcPts val="600"/>
              </a:spcAft>
            </a:pPr>
            <a:r>
              <a:rPr sz="1200" b="0">
                <a:solidFill>
                  <a:srgbClr val="282828"/>
                </a:solidFill>
                <a:latin typeface="Arial"/>
              </a:rPr>
              <a:t>•  16 Zernike sensor</a:t>
            </a:r>
          </a:p>
          <a:p>
            <a:pPr>
              <a:spcAft>
                <a:spcPts val="600"/>
              </a:spcAft>
            </a:pPr>
            <a:r>
              <a:rPr sz="1200" b="0">
                <a:solidFill>
                  <a:srgbClr val="282828"/>
                </a:solidFill>
                <a:latin typeface="Arial"/>
              </a:rPr>
              <a:t>•  18 Vector Zernike sensor</a:t>
            </a:r>
          </a:p>
          <a:p>
            <a:pPr>
              <a:spcAft>
                <a:spcPts val="600"/>
              </a:spcAft>
            </a:pPr>
            <a:r>
              <a:rPr sz="1200" b="0">
                <a:solidFill>
                  <a:srgbClr val="282828"/>
                </a:solidFill>
                <a:latin typeface="Arial"/>
              </a:rPr>
              <a:t>•  21 Point-diffraction sensor</a:t>
            </a:r>
          </a:p>
          <a:p>
            <a:pPr>
              <a:spcAft>
                <a:spcPts val="600"/>
              </a:spcAft>
            </a:pPr>
            <a:r>
              <a:rPr sz="1200" b="0">
                <a:solidFill>
                  <a:srgbClr val="282828"/>
                </a:solidFill>
                <a:latin typeface="Arial"/>
              </a:rPr>
              <a:t>•  24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30 Lenses versus off-axis parabolas</a:t>
            </a:r>
          </a:p>
          <a:p>
            <a:pPr>
              <a:spcAft>
                <a:spcPts val="600"/>
              </a:spcAft>
            </a:pPr>
            <a:r>
              <a:rPr sz="1200" b="0">
                <a:solidFill>
                  <a:srgbClr val="282828"/>
                </a:solidFill>
                <a:latin typeface="Arial"/>
              </a:rPr>
              <a:t>•  31 The reflective front end and its performance</a:t>
            </a:r>
          </a:p>
          <a:p>
            <a:pPr>
              <a:spcAft>
                <a:spcPts val="600"/>
              </a:spcAft>
            </a:pPr>
            <a:r>
              <a:rPr sz="1200" b="0">
                <a:solidFill>
                  <a:srgbClr val="282828"/>
                </a:solidFill>
                <a:latin typeface="Arial"/>
              </a:rPr>
              <a:t>•  33 Comparison and recommendation</a:t>
            </a:r>
          </a:p>
          <a:p>
            <a:pPr>
              <a:spcAft>
                <a:spcPts val="600"/>
              </a:spcAft>
            </a:pPr>
            <a:r>
              <a:rPr sz="1200" b="0">
                <a:solidFill>
                  <a:srgbClr val="282828"/>
                </a:solidFill>
                <a:latin typeface="Arial"/>
              </a:rPr>
              <a:t>•  36 Measuring the complex amplitude</a:t>
            </a:r>
          </a:p>
          <a:p>
            <a:pPr>
              <a:spcAft>
                <a:spcPts val="600"/>
              </a:spcAft>
            </a:pPr>
            <a:r>
              <a:rPr sz="1200" b="0">
                <a:solidFill>
                  <a:srgbClr val="282828"/>
                </a:solidFill>
                <a:latin typeface="Arial"/>
              </a:rPr>
              <a:t>•  37 Summary and future work</a:t>
            </a:r>
          </a:p>
          <a:p>
            <a:pPr>
              <a:spcAft>
                <a:spcPts val="600"/>
              </a:spcAft>
            </a:pPr>
            <a:r>
              <a:rPr sz="1200" b="0">
                <a:solidFill>
                  <a:srgbClr val="282828"/>
                </a:solidFill>
                <a:latin typeface="Arial"/>
              </a:rPr>
              <a:t>•  43 Run it yourself</a:t>
            </a:r>
          </a:p>
          <a:p>
            <a:pPr>
              <a:spcAft>
                <a:spcPts val="600"/>
              </a:spcAft>
            </a:pPr>
            <a:r>
              <a:rPr sz="1200" b="0">
                <a:solidFill>
                  <a:srgbClr val="282828"/>
                </a:solidFill>
                <a:latin typeface="Arial"/>
              </a:rPr>
              <a:t>•  44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5532120"/>
        </p:xfrm>
        <a:graphic>
          <a:graphicData uri="http://schemas.openxmlformats.org/drawingml/2006/table">
            <a:tbl>
              <a:tblPr firstRow="1" bandRow="1">
                <a:tableStyleId>{5C22544A-7EE6-4342-B048-85BDC9FD1C3A}</a:tableStyleId>
              </a:tblPr>
              <a:tblGrid>
                <a:gridCol w="1962404"/>
                <a:gridCol w="4818338"/>
                <a:gridCol w="2180336"/>
                <a:gridCol w="509524"/>
                <a:gridCol w="1898133"/>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65722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shifts the transmitted beam 1.39 mm, the flat null 0.13 → 20 nm, the reading attenuated 13% (floor, not gain; rows hold)</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65722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65722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 at the seed station 10.8 mm past the focus (slide 15)</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binned 4 to 377 px across the 9.8 mm image; or a 24 µm-pixel camera unbinned (408)</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97687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tretch>
            <a:fillRect/>
          </a:stretch>
        </p:blipFill>
        <p:spPr>
          <a:xfrm>
            <a:off x="1366701" y="1298448"/>
            <a:ext cx="3895997" cy="1818132"/>
          </a:xfrm>
          <a:prstGeom prst="rect">
            <a:avLst/>
          </a:prstGeom>
        </p:spPr>
      </p:pic>
      <p:sp>
        <p:nvSpPr>
          <p:cNvPr id="5" name="TextBox 4"/>
          <p:cNvSpPr txBox="1"/>
          <p:nvPr/>
        </p:nvSpPr>
        <p:spPr>
          <a:xfrm>
            <a:off x="411480" y="3134868"/>
            <a:ext cx="580644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2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2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4463034"/>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5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5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5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486765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tretch>
            <a:fillRect/>
          </a:stretch>
        </p:blipFill>
        <p:spPr>
          <a:xfrm>
            <a:off x="411480" y="1298448"/>
            <a:ext cx="5806440" cy="1935479"/>
          </a:xfrm>
          <a:prstGeom prst="rect">
            <a:avLst/>
          </a:prstGeom>
        </p:spPr>
      </p:pic>
      <p:sp>
        <p:nvSpPr>
          <p:cNvPr id="5" name="TextBox 4"/>
          <p:cNvSpPr txBox="1"/>
          <p:nvPr/>
        </p:nvSpPr>
        <p:spPr>
          <a:xfrm>
            <a:off x="411480" y="3252215"/>
            <a:ext cx="5806440"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6400800" y="1298448"/>
          <a:ext cx="5394959" cy="1051560"/>
        </p:xfrm>
        <a:graphic>
          <a:graphicData uri="http://schemas.openxmlformats.org/drawingml/2006/table">
            <a:tbl>
              <a:tblPr firstRow="1" bandRow="1">
                <a:tableStyleId>{5C22544A-7EE6-4342-B048-85BDC9FD1C3A}</a:tableStyleId>
              </a:tblPr>
              <a:tblGrid>
                <a:gridCol w="2481441"/>
                <a:gridCol w="542544"/>
                <a:gridCol w="476504"/>
                <a:gridCol w="476504"/>
                <a:gridCol w="1417966"/>
              </a:tblGrid>
              <a:tr h="26289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6400800" y="2496312"/>
            <a:ext cx="5394960" cy="274320"/>
          </a:xfrm>
          <a:prstGeom prst="rect">
            <a:avLst/>
          </a:prstGeom>
          <a:noFill/>
        </p:spPr>
        <p:txBody>
          <a:bodyPr wrap="square">
            <a:spAutoFit/>
          </a:bodyPr>
          <a:lstStyle/>
          <a:p>
            <a:pPr>
              <a:spcAft>
                <a:spcPts val="600"/>
              </a:spcAft>
            </a:pPr>
            <a:r>
              <a:rPr sz="120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20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20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6400800" y="533095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74272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Expected movement: the lens rig's rows and station figure improve; the pupil image grows to 9.8 mm; all 96×96 actuators in the lit set; the mirror rig's rows move only with the beam.</a:t>
            </a:r>
          </a:p>
        </p:txBody>
      </p:sp>
      <p:sp>
        <p:nvSpPr>
          <p:cNvPr id="6" name="TextBox 5"/>
          <p:cNvSpPr txBox="1"/>
          <p:nvPr/>
        </p:nvSpPr>
        <p:spPr>
          <a:xfrm>
            <a:off x="6400800" y="4867656"/>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Plan: BRIEF_to_tg_redo.md (packages A0, A, B, C); tools tg96_pupilsim, tg96_pupil_options, tg96_pupil_s2s.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