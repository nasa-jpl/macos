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3</a:t>
            </a:r>
            <a:r>
              <a:rPr sz="1500" b="0">
                <a:solidFill>
                  <a:srgbClr val="282828"/>
                </a:solidFill>
                <a:latin typeface="Arial"/>
              </a:rPr>
              <a:t> One optical bench to demo 4 surface gauges, in mirror and lens forms</a:t>
            </a:r>
          </a:p>
          <a:p>
            <a:pPr>
              <a:spcAft>
                <a:spcPts val="600"/>
              </a:spcAft>
            </a:pPr>
            <a:r>
              <a:rPr sz="1500" b="0">
                <a:solidFill>
                  <a:srgbClr val="282828"/>
                </a:solidFill>
                <a:latin typeface="Arial"/>
              </a:rPr>
              <a:t>•  </a:t>
            </a:r>
            <a:r>
              <a:rPr sz="1500" b="1">
                <a:solidFill>
                  <a:srgbClr val="282828"/>
                </a:solidFill>
                <a:latin typeface="Arial"/>
              </a:rPr>
              <a:t>4</a:t>
            </a:r>
            <a:r>
              <a:rPr sz="1500" b="0">
                <a:solidFill>
                  <a:srgbClr val="282828"/>
                </a:solidFill>
                <a:latin typeface="Arial"/>
              </a:rPr>
              <a:t> Introduction: the three jobs and how they are scored</a:t>
            </a:r>
          </a:p>
          <a:p>
            <a:pPr>
              <a:spcAft>
                <a:spcPts val="600"/>
              </a:spcAft>
            </a:pPr>
            <a:r>
              <a:rPr sz="1500" b="0">
                <a:solidFill>
                  <a:srgbClr val="282828"/>
                </a:solidFill>
                <a:latin typeface="Arial"/>
              </a:rPr>
              <a:t>•  </a:t>
            </a:r>
            <a:r>
              <a:rPr sz="1500" b="1">
                <a:solidFill>
                  <a:srgbClr val="282828"/>
                </a:solidFill>
                <a:latin typeface="Arial"/>
              </a:rPr>
              <a:t>5</a:t>
            </a:r>
            <a:r>
              <a:rPr sz="1500" b="0">
                <a:solidFill>
                  <a:srgbClr val="282828"/>
                </a:solidFill>
                <a:latin typeface="Arial"/>
              </a:rPr>
              <a:t> The bench layout</a:t>
            </a:r>
          </a:p>
          <a:p>
            <a:pPr>
              <a:spcAft>
                <a:spcPts val="600"/>
              </a:spcAft>
            </a:pPr>
            <a:r>
              <a:rPr sz="1500" b="0">
                <a:solidFill>
                  <a:srgbClr val="282828"/>
                </a:solidFill>
                <a:latin typeface="Arial"/>
              </a:rPr>
              <a:t>•  </a:t>
            </a:r>
            <a:r>
              <a:rPr sz="1500" b="1">
                <a:solidFill>
                  <a:srgbClr val="282828"/>
                </a:solidFill>
                <a:latin typeface="Arial"/>
              </a:rPr>
              <a:t>7</a:t>
            </a:r>
            <a:r>
              <a:rPr sz="1500" b="0">
                <a:solidFill>
                  <a:srgbClr val="282828"/>
                </a:solidFill>
                <a:latin typeface="Arial"/>
              </a:rPr>
              <a:t> Parts: the front end and the detector leg</a:t>
            </a:r>
          </a:p>
          <a:p>
            <a:pPr>
              <a:spcAft>
                <a:spcPts val="600"/>
              </a:spcAft>
            </a:pPr>
            <a:r>
              <a:rPr sz="1500" b="0">
                <a:solidFill>
                  <a:srgbClr val="282828"/>
                </a:solidFill>
                <a:latin typeface="Arial"/>
              </a:rPr>
              <a:t>•  </a:t>
            </a:r>
            <a:r>
              <a:rPr sz="1500" b="1">
                <a:solidFill>
                  <a:srgbClr val="282828"/>
                </a:solidFill>
                <a:latin typeface="Arial"/>
              </a:rPr>
              <a:t>9</a:t>
            </a:r>
            <a:r>
              <a:rPr sz="1500" b="0">
                <a:solidFill>
                  <a:srgbClr val="282828"/>
                </a:solidFill>
                <a:latin typeface="Arial"/>
              </a:rPr>
              <a:t> Parts: the interferometer and the sensors</a:t>
            </a:r>
          </a:p>
          <a:p>
            <a:pPr>
              <a:spcAft>
                <a:spcPts val="600"/>
              </a:spcAft>
            </a:pPr>
            <a:r>
              <a:rPr sz="1500" b="0">
                <a:solidFill>
                  <a:srgbClr val="282828"/>
                </a:solidFill>
                <a:latin typeface="Arial"/>
              </a:rPr>
              <a:t>•  </a:t>
            </a:r>
            <a:r>
              <a:rPr sz="1500" b="1">
                <a:solidFill>
                  <a:srgbClr val="282828"/>
                </a:solidFill>
                <a:latin typeface="Arial"/>
              </a:rPr>
              <a:t>11</a:t>
            </a:r>
            <a:r>
              <a:rPr sz="1500" b="0">
                <a:solidFill>
                  <a:srgbClr val="282828"/>
                </a:solidFill>
                <a:latin typeface="Arial"/>
              </a:rPr>
              <a:t> Twyman-Green interferometer</a:t>
            </a:r>
          </a:p>
          <a:p>
            <a:pPr>
              <a:spcAft>
                <a:spcPts val="600"/>
              </a:spcAft>
            </a:pPr>
            <a:r>
              <a:rPr sz="1500" b="0">
                <a:solidFill>
                  <a:srgbClr val="282828"/>
                </a:solidFill>
                <a:latin typeface="Arial"/>
              </a:rPr>
              <a:t>•  </a:t>
            </a:r>
            <a:r>
              <a:rPr sz="1500" b="1">
                <a:solidFill>
                  <a:srgbClr val="282828"/>
                </a:solidFill>
                <a:latin typeface="Arial"/>
              </a:rPr>
              <a:t>17</a:t>
            </a:r>
            <a:r>
              <a:rPr sz="1500" b="0">
                <a:solidFill>
                  <a:srgbClr val="282828"/>
                </a:solidFill>
                <a:latin typeface="Arial"/>
              </a:rPr>
              <a:t> Zernike sensor</a:t>
            </a:r>
          </a:p>
          <a:p>
            <a:pPr>
              <a:spcAft>
                <a:spcPts val="600"/>
              </a:spcAft>
            </a:pPr>
            <a:r>
              <a:rPr sz="1500" b="0">
                <a:solidFill>
                  <a:srgbClr val="282828"/>
                </a:solidFill>
                <a:latin typeface="Arial"/>
              </a:rPr>
              <a:t>•  </a:t>
            </a:r>
            <a:r>
              <a:rPr sz="1500" b="1">
                <a:solidFill>
                  <a:srgbClr val="282828"/>
                </a:solidFill>
                <a:latin typeface="Arial"/>
              </a:rPr>
              <a:t>19</a:t>
            </a:r>
            <a:r>
              <a:rPr sz="1500" b="0">
                <a:solidFill>
                  <a:srgbClr val="282828"/>
                </a:solidFill>
                <a:latin typeface="Arial"/>
              </a:rPr>
              <a:t> Vector Zernike sensor</a:t>
            </a:r>
          </a:p>
          <a:p>
            <a:pPr>
              <a:spcAft>
                <a:spcPts val="600"/>
              </a:spcAft>
            </a:pPr>
            <a:r>
              <a:rPr sz="1500" b="0">
                <a:solidFill>
                  <a:srgbClr val="282828"/>
                </a:solidFill>
                <a:latin typeface="Arial"/>
              </a:rPr>
              <a:t>•  </a:t>
            </a:r>
            <a:r>
              <a:rPr sz="1500" b="1">
                <a:solidFill>
                  <a:srgbClr val="282828"/>
                </a:solidFill>
                <a:latin typeface="Arial"/>
              </a:rPr>
              <a:t>22</a:t>
            </a:r>
            <a:r>
              <a:rPr sz="1500" b="0">
                <a:solidFill>
                  <a:srgbClr val="282828"/>
                </a:solidFill>
                <a:latin typeface="Arial"/>
              </a:rPr>
              <a:t> Point-diffraction sensor</a:t>
            </a:r>
          </a:p>
          <a:p>
            <a:pPr>
              <a:spcAft>
                <a:spcPts val="600"/>
              </a:spcAft>
            </a:pPr>
            <a:r>
              <a:rPr sz="1500" b="0">
                <a:solidFill>
                  <a:srgbClr val="282828"/>
                </a:solidFill>
                <a:latin typeface="Arial"/>
              </a:rPr>
              <a:t>•  </a:t>
            </a:r>
            <a:r>
              <a:rPr sz="1500" b="1">
                <a:solidFill>
                  <a:srgbClr val="282828"/>
                </a:solidFill>
                <a:latin typeface="Arial"/>
              </a:rPr>
              <a:t>25</a:t>
            </a:r>
            <a:r>
              <a:rPr sz="1500" b="0">
                <a:solidFill>
                  <a:srgbClr val="282828"/>
                </a:solidFill>
                <a:latin typeface="Arial"/>
              </a:rPr>
              <a:t> Performance: rows, capture, photons, servo</a:t>
            </a:r>
          </a:p>
          <a:p>
            <a:pPr>
              <a:spcAft>
                <a:spcPts val="600"/>
              </a:spcAft>
            </a:pPr>
            <a:r>
              <a:rPr sz="1500" b="0">
                <a:solidFill>
                  <a:srgbClr val="282828"/>
                </a:solidFill>
                <a:latin typeface="Arial"/>
              </a:rPr>
              <a:t>•  </a:t>
            </a:r>
            <a:r>
              <a:rPr sz="1500" b="1">
                <a:solidFill>
                  <a:srgbClr val="282828"/>
                </a:solidFill>
                <a:latin typeface="Arial"/>
              </a:rPr>
              <a:t>31</a:t>
            </a:r>
            <a:r>
              <a:rPr sz="1500" b="0">
                <a:solidFill>
                  <a:srgbClr val="282828"/>
                </a:solidFill>
                <a:latin typeface="Arial"/>
              </a:rPr>
              <a:t> Lenses versus off-axis parabolas</a:t>
            </a:r>
          </a:p>
          <a:p>
            <a:pPr>
              <a:spcAft>
                <a:spcPts val="600"/>
              </a:spcAft>
            </a:pPr>
            <a:r>
              <a:rPr sz="1500" b="0">
                <a:solidFill>
                  <a:srgbClr val="282828"/>
                </a:solidFill>
                <a:latin typeface="Arial"/>
              </a:rPr>
              <a:t>•  </a:t>
            </a:r>
            <a:r>
              <a:rPr sz="1500" b="1">
                <a:solidFill>
                  <a:srgbClr val="282828"/>
                </a:solidFill>
                <a:latin typeface="Arial"/>
              </a:rPr>
              <a:t>32</a:t>
            </a:r>
            <a:r>
              <a:rPr sz="1500" b="0">
                <a:solidFill>
                  <a:srgbClr val="282828"/>
                </a:solidFill>
                <a:latin typeface="Arial"/>
              </a:rPr>
              <a:t> The reflective front end</a:t>
            </a:r>
          </a:p>
          <a:p>
            <a:pPr>
              <a:spcAft>
                <a:spcPts val="600"/>
              </a:spcAft>
            </a:pPr>
            <a:r>
              <a:rPr sz="1500" b="0">
                <a:solidFill>
                  <a:srgbClr val="282828"/>
                </a:solidFill>
                <a:latin typeface="Arial"/>
              </a:rPr>
              <a:t>•  </a:t>
            </a:r>
            <a:r>
              <a:rPr sz="1500" b="1">
                <a:solidFill>
                  <a:srgbClr val="282828"/>
                </a:solidFill>
                <a:latin typeface="Arial"/>
              </a:rPr>
              <a:t>33</a:t>
            </a:r>
            <a:r>
              <a:rPr sz="1500" b="0">
                <a:solidFill>
                  <a:srgbClr val="282828"/>
                </a:solidFill>
                <a:latin typeface="Arial"/>
              </a:rPr>
              <a:t> Comparison and recommendation</a:t>
            </a:r>
          </a:p>
          <a:p>
            <a:pPr>
              <a:spcAft>
                <a:spcPts val="600"/>
              </a:spcAft>
            </a:pPr>
            <a:r>
              <a:rPr sz="1500" b="0">
                <a:solidFill>
                  <a:srgbClr val="282828"/>
                </a:solidFill>
                <a:latin typeface="Arial"/>
              </a:rPr>
              <a:t>•  </a:t>
            </a:r>
            <a:r>
              <a:rPr sz="1500" b="1">
                <a:solidFill>
                  <a:srgbClr val="282828"/>
                </a:solidFill>
                <a:latin typeface="Arial"/>
              </a:rPr>
              <a:t>36</a:t>
            </a:r>
            <a:r>
              <a:rPr sz="1500" b="0">
                <a:solidFill>
                  <a:srgbClr val="282828"/>
                </a:solidFill>
                <a:latin typeface="Arial"/>
              </a:rPr>
              <a:t> Measuring the complex amplitude</a:t>
            </a:r>
          </a:p>
          <a:p>
            <a:pPr>
              <a:spcAft>
                <a:spcPts val="600"/>
              </a:spcAft>
            </a:pPr>
            <a:r>
              <a:rPr sz="1500" b="0">
                <a:solidFill>
                  <a:srgbClr val="282828"/>
                </a:solidFill>
                <a:latin typeface="Arial"/>
              </a:rPr>
              <a:t>•  </a:t>
            </a:r>
            <a:r>
              <a:rPr sz="1500" b="1">
                <a:solidFill>
                  <a:srgbClr val="282828"/>
                </a:solidFill>
                <a:latin typeface="Arial"/>
              </a:rPr>
              <a:t>37</a:t>
            </a:r>
            <a:r>
              <a:rPr sz="1500" b="0">
                <a:solidFill>
                  <a:srgbClr val="282828"/>
                </a:solidFill>
                <a:latin typeface="Arial"/>
              </a:rPr>
              <a:t> Summary and future work</a:t>
            </a:r>
          </a:p>
          <a:p>
            <a:pPr>
              <a:spcAft>
                <a:spcPts val="600"/>
              </a:spcAft>
            </a:pPr>
            <a:r>
              <a:rPr sz="1500" b="0">
                <a:solidFill>
                  <a:srgbClr val="282828"/>
                </a:solidFill>
                <a:latin typeface="Arial"/>
              </a:rPr>
              <a:t>•  </a:t>
            </a:r>
            <a:r>
              <a:rPr sz="1500" b="1">
                <a:solidFill>
                  <a:srgbClr val="282828"/>
                </a:solidFill>
                <a:latin typeface="Arial"/>
              </a:rPr>
              <a:t>42</a:t>
            </a:r>
            <a:r>
              <a:rPr sz="1500" b="0">
                <a:solidFill>
                  <a:srgbClr val="282828"/>
                </a:solidFill>
                <a:latin typeface="Arial"/>
              </a:rPr>
              <a:t> Run it yourself</a:t>
            </a:r>
          </a:p>
          <a:p>
            <a:pPr>
              <a:spcAft>
                <a:spcPts val="600"/>
              </a:spcAft>
            </a:pPr>
            <a:r>
              <a:rPr sz="1500" b="0">
                <a:solidFill>
                  <a:srgbClr val="282828"/>
                </a:solidFill>
                <a:latin typeface="Arial"/>
              </a:rPr>
              <a:t>•  </a:t>
            </a:r>
            <a:r>
              <a:rPr sz="1500" b="1">
                <a:solidFill>
                  <a:srgbClr val="282828"/>
                </a:solidFill>
                <a:latin typeface="Arial"/>
              </a:rPr>
              <a:t>43</a:t>
            </a:r>
            <a:r>
              <a:rPr sz="1500" b="0">
                <a:solidFill>
                  <a:srgbClr val="282828"/>
                </a:solidFill>
                <a:latin typeface="Arial"/>
              </a:rPr>
              <a:t>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960245"/>
        </p:xfrm>
        <a:graphic>
          <a:graphicData uri="http://schemas.openxmlformats.org/drawingml/2006/table">
            <a:tbl>
              <a:tblPr firstRow="1" bandRow="1">
                <a:tableStyleId>{5C22544A-7EE6-4342-B048-85BDC9FD1C3A}</a:tableStyleId>
              </a:tblPr>
              <a:tblGrid>
                <a:gridCol w="2884116"/>
                <a:gridCol w="6157978"/>
                <a:gridCol w="1163320"/>
                <a:gridCol w="1163320"/>
              </a:tblGrid>
              <a:tr h="280035">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Picometer measurement is photon-limited, not bench-limited.</a:t>
            </a:r>
            <a:r>
              <a:rPr sz="15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500" b="1">
                <a:solidFill>
                  <a:srgbClr val="282828"/>
                </a:solidFill>
                <a:latin typeface="Arial"/>
              </a:rPr>
              <a:t>Steeves et al. (2020, Optica 7, 1267) demonstrate 1.6 pm in 4.3 s on a real interferometer</a:t>
            </a:r>
            <a:r>
              <a:rPr sz="15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t>
            </a:r>
            <a:r>
              <a:rPr sz="1500" b="1">
                <a:solidFill>
                  <a:srgbClr val="282828"/>
                </a:solidFill>
                <a:latin typeface="Arial"/>
              </a:rPr>
              <a:t>Accuracy is systematic and proportional</a:t>
            </a:r>
            <a:r>
              <a:rPr sz="1500" b="0">
                <a:solidFill>
                  <a:srgbClr val="282828"/>
                </a:solidFill>
                <a:latin typeface="Arial"/>
              </a:rPr>
              <a:t>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a:t>
            </a:r>
            <a:r>
              <a:rPr sz="1500" b="1">
                <a:solidFill>
                  <a:srgbClr val="282828"/>
                </a:solidFill>
                <a:latin typeface="Arial"/>
              </a:rPr>
              <a:t>One disturbance is not photon-limited:</a:t>
            </a:r>
            <a:r>
              <a:rPr sz="15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576072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A 10 nm single-actuator change, what the servo corrects, reads against truth to 1.5 pm at gain 1.001 on lenses and 1.8 pm at 0.993 on mirrors.  Run tags are on the provenance slide and on each slide that derives a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about 16 % low -- 4.8 nm,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4800600" y="1060704"/>
            <a:ext cx="7287768" cy="1453896"/>
          </a:xfrm>
          <a:prstGeom prst="rect">
            <a:avLst/>
          </a:prstGeom>
        </p:spPr>
      </p:pic>
      <p:sp>
        <p:nvSpPr>
          <p:cNvPr id="5" name="TextBox 4"/>
          <p:cNvSpPr txBox="1"/>
          <p:nvPr/>
        </p:nvSpPr>
        <p:spPr>
          <a:xfrm>
            <a:off x="228600" y="1371600"/>
            <a:ext cx="388620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mirror rig): the command; the test and reference arms at the camera; two of the four phase-stepped frames; the recovered surface; the raw map minus the engine's field, 463 pm (1.5 %).</a:t>
            </a:r>
          </a:p>
        </p:txBody>
      </p:sp>
      <p:pic>
        <p:nvPicPr>
          <p:cNvPr id="6" name="Picture 5" descr="crop_stations_row2_S.png"/>
          <p:cNvPicPr>
            <a:picLocks noChangeAspect="1"/>
          </p:cNvPicPr>
          <p:nvPr/>
        </p:nvPicPr>
        <p:blipFill>
          <a:blip r:embed="rId3"/>
          <a:srcRect r="2040" t="10160" b="12700"/>
          <a:stretch>
            <a:fillRect/>
          </a:stretch>
        </p:blipFill>
        <p:spPr>
          <a:xfrm>
            <a:off x="4233672" y="2487168"/>
            <a:ext cx="7790688" cy="1005840"/>
          </a:xfrm>
          <a:prstGeom prst="rect">
            <a:avLst/>
          </a:prstGeom>
        </p:spPr>
      </p:pic>
      <p:sp>
        <p:nvSpPr>
          <p:cNvPr id="7" name="TextBox 6"/>
          <p:cNvSpPr txBox="1"/>
          <p:nvPr/>
        </p:nvSpPr>
        <p:spPr>
          <a:xfrm>
            <a:off x="228600" y="2578608"/>
            <a:ext cx="3886200" cy="10546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raw map minus the engine, 4.8 nm (the beam-made reference, which the matrix measured on the surface absorbs).</a:t>
            </a:r>
          </a:p>
        </p:txBody>
      </p:sp>
      <p:pic>
        <p:nvPicPr>
          <p:cNvPr id="8" name="Picture 7" descr="crop_stations_row2_V.png"/>
          <p:cNvPicPr>
            <a:picLocks noChangeAspect="1"/>
          </p:cNvPicPr>
          <p:nvPr/>
        </p:nvPicPr>
        <p:blipFill>
          <a:blip r:embed="rId4"/>
          <a:srcRect r="2130" t="10080" b="10710"/>
          <a:stretch>
            <a:fillRect/>
          </a:stretch>
        </p:blipFill>
        <p:spPr>
          <a:xfrm>
            <a:off x="4215384" y="3566160"/>
            <a:ext cx="7781544" cy="1033271"/>
          </a:xfrm>
          <a:prstGeom prst="rect">
            <a:avLst/>
          </a:prstGeom>
        </p:spPr>
      </p:pic>
      <p:sp>
        <p:nvSpPr>
          <p:cNvPr id="9" name="TextBox 8"/>
          <p:cNvSpPr txBox="1"/>
          <p:nvPr/>
        </p:nvSpPr>
        <p:spPr>
          <a:xfrm>
            <a:off x="182880" y="3794760"/>
            <a:ext cx="3931920" cy="559307"/>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raw map minus the engine, 25 pm.</a:t>
            </a:r>
          </a:p>
        </p:txBody>
      </p:sp>
      <p:pic>
        <p:nvPicPr>
          <p:cNvPr id="10" name="Picture 9" descr="crop_stations_row2_P.png"/>
          <p:cNvPicPr>
            <a:picLocks noChangeAspect="1"/>
          </p:cNvPicPr>
          <p:nvPr/>
        </p:nvPicPr>
        <p:blipFill>
          <a:blip r:embed="rId5"/>
          <a:srcRect r="1580" t="10550" b="11620"/>
          <a:stretch>
            <a:fillRect/>
          </a:stretch>
        </p:blipFill>
        <p:spPr>
          <a:xfrm>
            <a:off x="4215384" y="4709160"/>
            <a:ext cx="7827264" cy="1014984"/>
          </a:xfrm>
          <a:prstGeom prst="rect">
            <a:avLst/>
          </a:prstGeom>
        </p:spPr>
      </p:pic>
      <p:sp>
        <p:nvSpPr>
          <p:cNvPr id="11" name="TextBox 10"/>
          <p:cNvSpPr txBox="1"/>
          <p:nvPr/>
        </p:nvSpPr>
        <p:spPr>
          <a:xfrm>
            <a:off x="182880" y="4937760"/>
            <a:ext cx="3931920"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raw map minus the engine, 184 pm.</a:t>
            </a:r>
          </a:p>
        </p:txBody>
      </p:sp>
      <p:sp>
        <p:nvSpPr>
          <p:cNvPr id="12" name="TextBox 11"/>
          <p:cNvSpPr txBox="1"/>
          <p:nvPr/>
        </p:nvSpPr>
        <p:spPr>
          <a:xfrm>
            <a:off x="411480" y="5788152"/>
            <a:ext cx="11384280"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The stepped Zernike's 4.8 nm is a gain error, not noise:</a:t>
            </a:r>
            <a:r>
              <a:rPr sz="1100" b="0">
                <a:solidFill>
                  <a:srgbClr val="282828"/>
                </a:solidFill>
                <a:latin typeface="Arial"/>
              </a:rPr>
              <a:t> its inversion takes the reference wave's amplitude from the flat, and on the 30 nm surface the focal core that makes it is weaker, so the raw map reads about 16 % low, shaped like the surface; the matrix measured on the surface absorbs it (5 pm calibrated).  The vector pair's two simultaneous frames divide the reference out: 25 pm raw.</a:t>
            </a:r>
          </a:p>
        </p:txBody>
      </p:sp>
      <p:sp>
        <p:nvSpPr>
          <p:cNvPr id="13" name="TextBox 12"/>
          <p:cNvSpPr txBox="1"/>
          <p:nvPr/>
        </p:nvSpPr>
        <p:spPr>
          <a:xfrm>
            <a:off x="411480" y="6327648"/>
            <a:ext cx="11338560" cy="274320"/>
          </a:xfrm>
          <a:prstGeom prst="rect">
            <a:avLst/>
          </a:prstGeom>
          <a:noFill/>
        </p:spPr>
        <p:txBody>
          <a:bodyPr wrap="square">
            <a:spAutoFit/>
          </a:bodyPr>
          <a:lstStyle/>
          <a:p>
            <a:pPr>
              <a:spcAft>
                <a:spcPts val="600"/>
              </a:spcAft>
            </a:pPr>
            <a:r>
              <a:rPr sz="1050" b="0">
                <a:solidFill>
                  <a:srgbClr val="6E6E6E"/>
                </a:solidFill>
                <a:latin typeface="Arial"/>
              </a:rPr>
              <a:t>Row 2 of each gauge's station-by-station figure (the full figures, with the flat mirror as row 1, are in the backup).  Run tags redo96_oapstn (interferometer) and stations193 (the three sensors, 193 pixels per pupil).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