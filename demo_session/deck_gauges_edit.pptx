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three jobs: measure the surface, capture its shape after launch, and hold the surface to &lt;&lt;10 pm in a servo.</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  For the JPL HWO WFS&amp;C discussion group.</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  Bench geometry under revision (2026-09-15): the record's 7° splitter is not buildable; the splitter goes to 22.5° (ruled 2026-09-15; the layouts show it), and the substrates, part thicknesses and camera are in the model (2026-09-16: the sensors do not move; the interferometer's 10 mm plates cost its flat null, its differential rows being re-measured).  The reflective front end has been redesigned and re-measured (rows, servo, descent, sensors, 2026-09-16); the lenses-versus-mirrors comparison is now measured on both rigs.</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Three jobs, one bench, four ways of sensing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3 Introduction: the three jobs and how they are scored</a:t>
            </a:r>
          </a:p>
          <a:p>
            <a:pPr>
              <a:spcAft>
                <a:spcPts val="600"/>
              </a:spcAft>
            </a:pPr>
            <a:r>
              <a:rPr sz="1500" b="0">
                <a:solidFill>
                  <a:srgbClr val="282828"/>
                </a:solidFill>
                <a:latin typeface="Arial"/>
              </a:rPr>
              <a:t>•  4 The bench layout</a:t>
            </a:r>
          </a:p>
          <a:p>
            <a:pPr>
              <a:spcAft>
                <a:spcPts val="600"/>
              </a:spcAft>
            </a:pPr>
            <a:r>
              <a:rPr sz="1500" b="0">
                <a:solidFill>
                  <a:srgbClr val="282828"/>
                </a:solidFill>
                <a:latin typeface="Arial"/>
              </a:rPr>
              <a:t>•  6 Parts: the front end and the detector leg</a:t>
            </a:r>
          </a:p>
          <a:p>
            <a:pPr>
              <a:spcAft>
                <a:spcPts val="600"/>
              </a:spcAft>
            </a:pPr>
            <a:r>
              <a:rPr sz="1500" b="0">
                <a:solidFill>
                  <a:srgbClr val="282828"/>
                </a:solidFill>
                <a:latin typeface="Arial"/>
              </a:rPr>
              <a:t>•  8 Parts: the interferometer and the sensors</a:t>
            </a:r>
          </a:p>
          <a:p>
            <a:pPr>
              <a:spcAft>
                <a:spcPts val="600"/>
              </a:spcAft>
            </a:pPr>
            <a:r>
              <a:rPr sz="1500" b="0">
                <a:solidFill>
                  <a:srgbClr val="282828"/>
                </a:solidFill>
                <a:latin typeface="Arial"/>
              </a:rPr>
              <a:t>•  10 Twyman-Green interferometer</a:t>
            </a:r>
          </a:p>
          <a:p>
            <a:pPr>
              <a:spcAft>
                <a:spcPts val="600"/>
              </a:spcAft>
            </a:pPr>
            <a:r>
              <a:rPr sz="1500" b="0">
                <a:solidFill>
                  <a:srgbClr val="282828"/>
                </a:solidFill>
                <a:latin typeface="Arial"/>
              </a:rPr>
              <a:t>•  17 Zernike sensor</a:t>
            </a:r>
          </a:p>
          <a:p>
            <a:pPr>
              <a:spcAft>
                <a:spcPts val="600"/>
              </a:spcAft>
            </a:pPr>
            <a:r>
              <a:rPr sz="1500" b="0">
                <a:solidFill>
                  <a:srgbClr val="282828"/>
                </a:solidFill>
                <a:latin typeface="Arial"/>
              </a:rPr>
              <a:t>•  19 Vector Zernike sensor</a:t>
            </a:r>
          </a:p>
          <a:p>
            <a:pPr>
              <a:spcAft>
                <a:spcPts val="600"/>
              </a:spcAft>
            </a:pPr>
            <a:r>
              <a:rPr sz="1500" b="0">
                <a:solidFill>
                  <a:srgbClr val="282828"/>
                </a:solidFill>
                <a:latin typeface="Arial"/>
              </a:rPr>
              <a:t>•  22 Point-diffraction sensor</a:t>
            </a:r>
          </a:p>
          <a:p>
            <a:pPr>
              <a:spcAft>
                <a:spcPts val="600"/>
              </a:spcAft>
            </a:pPr>
            <a:r>
              <a:rPr sz="1500" b="0">
                <a:solidFill>
                  <a:srgbClr val="282828"/>
                </a:solidFill>
                <a:latin typeface="Arial"/>
              </a:rPr>
              <a:t>•  25 Performance: rows, capture, photons, servo</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31 Lenses versus off-axis parabolas</a:t>
            </a:r>
          </a:p>
          <a:p>
            <a:pPr>
              <a:spcAft>
                <a:spcPts val="600"/>
              </a:spcAft>
            </a:pPr>
            <a:r>
              <a:rPr sz="1200" b="0">
                <a:solidFill>
                  <a:srgbClr val="282828"/>
                </a:solidFill>
                <a:latin typeface="Arial"/>
              </a:rPr>
              <a:t>•  32 The reflective front end and its performance</a:t>
            </a:r>
          </a:p>
          <a:p>
            <a:pPr>
              <a:spcAft>
                <a:spcPts val="600"/>
              </a:spcAft>
            </a:pPr>
            <a:r>
              <a:rPr sz="1200" b="0">
                <a:solidFill>
                  <a:srgbClr val="282828"/>
                </a:solidFill>
                <a:latin typeface="Arial"/>
              </a:rPr>
              <a:t>•  34 Comparison and recommendation</a:t>
            </a:r>
          </a:p>
          <a:p>
            <a:pPr>
              <a:spcAft>
                <a:spcPts val="600"/>
              </a:spcAft>
            </a:pPr>
            <a:r>
              <a:rPr sz="1200" b="0">
                <a:solidFill>
                  <a:srgbClr val="282828"/>
                </a:solidFill>
                <a:latin typeface="Arial"/>
              </a:rPr>
              <a:t>•  37 Measuring the complex amplitude</a:t>
            </a:r>
          </a:p>
          <a:p>
            <a:pPr>
              <a:spcAft>
                <a:spcPts val="600"/>
              </a:spcAft>
            </a:pPr>
            <a:r>
              <a:rPr sz="1200" b="0">
                <a:solidFill>
                  <a:srgbClr val="282828"/>
                </a:solidFill>
                <a:latin typeface="Arial"/>
              </a:rPr>
              <a:t>•  38 Summary and future work</a:t>
            </a:r>
          </a:p>
          <a:p>
            <a:pPr>
              <a:spcAft>
                <a:spcPts val="600"/>
              </a:spcAft>
            </a:pPr>
            <a:r>
              <a:rPr sz="1200" b="0">
                <a:solidFill>
                  <a:srgbClr val="282828"/>
                </a:solidFill>
                <a:latin typeface="Arial"/>
              </a:rPr>
              <a:t>•  44 Run it yourself</a:t>
            </a:r>
          </a:p>
          <a:p>
            <a:pPr>
              <a:spcAft>
                <a:spcPts val="600"/>
              </a:spcAft>
            </a:pPr>
            <a:r>
              <a:rPr sz="1200" b="0">
                <a:solidFill>
                  <a:srgbClr val="282828"/>
                </a:solidFill>
                <a:latin typeface="Arial"/>
              </a:rPr>
              <a:t>•  45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The DM: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400" b="0">
                <a:solidFill>
                  <a:srgbClr val="282828"/>
                </a:solidFill>
                <a:latin typeface="Arial"/>
              </a:rPr>
              <a:t>•  Job 1, measure: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400" b="0">
                <a:solidFill>
                  <a:srgbClr val="282828"/>
                </a:solidFill>
                <a:latin typeface="Arial"/>
              </a:rPr>
              <a:t>•  Job 2, capture: bring the largest possible starting surface, 100-200 nm of wavefront, down to the servo's floor; every phase reading wraps at ±158 nm of surface (±π at 632.8 nm, double pass), so this is a wrapping problem before it is a noise problem.</a:t>
            </a:r>
          </a:p>
          <a:p>
            <a:pPr>
              <a:spcAft>
                <a:spcPts val="600"/>
              </a:spcAft>
            </a:pPr>
            <a:r>
              <a:rPr sz="1400" b="0">
                <a:solidFill>
                  <a:srgbClr val="282828"/>
                </a:solidFill>
                <a:latin typeface="Arial"/>
              </a:rPr>
              <a:t>•  Job 3, hold: the servo at picometers on the 30 nm rms working surface, its set point: the light per cycle that holds changes about it to 3 pm rms under a 2 pm per-cycle random walk,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1876107" y="1298448"/>
            <a:ext cx="2877184" cy="1653032"/>
          </a:xfrm>
          <a:prstGeom prst="rect">
            <a:avLst/>
          </a:prstGeom>
        </p:spPr>
      </p:pic>
      <p:sp>
        <p:nvSpPr>
          <p:cNvPr id="5" name="TextBox 4"/>
          <p:cNvSpPr txBox="1"/>
          <p:nvPr/>
        </p:nvSpPr>
        <p:spPr>
          <a:xfrm>
            <a:off x="411480" y="2969768"/>
            <a:ext cx="5806440" cy="724408"/>
          </a:xfrm>
          <a:prstGeom prst="rect">
            <a:avLst/>
          </a:prstGeom>
          <a:noFill/>
        </p:spPr>
        <p:txBody>
          <a:bodyPr wrap="square">
            <a:spAutoFit/>
          </a:bodyPr>
          <a:lstStyle/>
          <a:p>
            <a:pPr algn="ctr">
              <a:spcAft>
                <a:spcPts val="0"/>
              </a:spcAft>
            </a:pPr>
            <a:r>
              <a:rPr sz="1000" b="0">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differ.</a:t>
            </a:r>
          </a:p>
        </p:txBody>
      </p:sp>
      <p:pic>
        <p:nvPicPr>
          <p:cNvPr id="6" name="Picture 5" descr="crop_lay96_oap_train.png"/>
          <p:cNvPicPr>
            <a:picLocks noChangeAspect="1"/>
          </p:cNvPicPr>
          <p:nvPr/>
        </p:nvPicPr>
        <p:blipFill>
          <a:blip r:embed="rId3"/>
          <a:stretch>
            <a:fillRect/>
          </a:stretch>
        </p:blipFill>
        <p:spPr>
          <a:xfrm>
            <a:off x="8177841" y="1298448"/>
            <a:ext cx="1840876" cy="1653032"/>
          </a:xfrm>
          <a:prstGeom prst="rect">
            <a:avLst/>
          </a:prstGeom>
        </p:spPr>
      </p:pic>
      <p:sp>
        <p:nvSpPr>
          <p:cNvPr id="7" name="TextBox 6"/>
          <p:cNvSpPr txBox="1"/>
          <p:nvPr/>
        </p:nvSpPr>
        <p:spPr>
          <a:xfrm>
            <a:off x="6400800" y="2969768"/>
            <a:ext cx="5394960" cy="724408"/>
          </a:xfrm>
          <a:prstGeom prst="rect">
            <a:avLst/>
          </a:prstGeom>
          <a:noFill/>
        </p:spPr>
        <p:txBody>
          <a:bodyPr wrap="square">
            <a:spAutoFit/>
          </a:bodyPr>
          <a:lstStyle/>
          <a:p>
            <a:pPr algn="ctr">
              <a:spcAft>
                <a:spcPts val="0"/>
              </a:spcAft>
            </a:pPr>
            <a:r>
              <a:rPr sz="1000" b="0">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p>
        </p:txBody>
      </p:sp>
      <p:graphicFrame>
        <p:nvGraphicFramePr>
          <p:cNvPr id="8" name="Table 7"/>
          <p:cNvGraphicFramePr>
            <a:graphicFrameLocks noGrp="1"/>
          </p:cNvGraphicFramePr>
          <p:nvPr/>
        </p:nvGraphicFramePr>
        <p:xfrm>
          <a:off x="411480" y="3730752"/>
          <a:ext cx="11368735" cy="2628900"/>
        </p:xfrm>
        <a:graphic>
          <a:graphicData uri="http://schemas.openxmlformats.org/drawingml/2006/table">
            <a:tbl>
              <a:tblPr firstRow="1" bandRow="1">
                <a:tableStyleId>{5C22544A-7EE6-4342-B048-85BDC9FD1C3A}</a:tableStyleId>
              </a:tblPr>
              <a:tblGrid>
                <a:gridCol w="1235964"/>
                <a:gridCol w="3635559"/>
                <a:gridCol w="649721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lenses (L1, L2: 103 mm singlets)</a:t>
                      </a:r>
                    </a:p>
                  </a:txBody>
                  <a:tcPr marL="54864" marR="54864" marT="18288" marB="18288">
                    <a:solidFill>
                      <a:srgbClr val="1F4E79"/>
                    </a:solidFill>
                  </a:tcPr>
                </a:tc>
                <a:tc>
                  <a:txBody>
                    <a:bodyPr wrap="square"/>
                    <a:lstStyle/>
                    <a:p>
                      <a:r>
                        <a:rPr sz="1100" b="1">
                          <a:solidFill>
                            <a:srgbClr val="FFFFFF"/>
                          </a:solidFill>
                          <a:latin typeface="Arial"/>
                        </a:rPr>
                        <a:t>off-axis parabolas (OAP1 20°, OAP2 25°)</a:t>
                      </a:r>
                    </a:p>
                  </a:txBody>
                  <a:tcPr marL="54864" marR="54864" marT="18288" marB="18288">
                    <a:solidFill>
                      <a:srgbClr val="1F4E79"/>
                    </a:solidFill>
                  </a:tcPr>
                </a:tc>
              </a:tr>
              <a:tr h="657225">
                <a:tc>
                  <a:txBody>
                    <a:bodyPr wrap="square"/>
                    <a:lstStyle/>
                    <a:p>
                      <a:r>
                        <a:rPr sz="1100" b="0">
                          <a:solidFill>
                            <a:srgbClr val="282828"/>
                          </a:solidFill>
                          <a:latin typeface="Arial"/>
                        </a:rPr>
                        <a:t>for</a:t>
                      </a:r>
                    </a:p>
                  </a:txBody>
                  <a:tcPr marL="54864" marR="54864" marT="18288" marB="18288">
                    <a:solidFill>
                      <a:srgbClr val="FFFFFF"/>
                    </a:solidFill>
                  </a:tcPr>
                </a:tc>
                <a:tc>
                  <a:txBody>
                    <a:bodyPr wrap="square"/>
                    <a:lstStyle/>
                    <a:p>
                      <a:r>
                        <a:rPr sz="1100" b="0">
                          <a:solidFill>
                            <a:srgbClr val="282828"/>
                          </a:solidFill>
                          <a:latin typeface="Arial"/>
                        </a:rPr>
                        <a:t>on axis, no polarization from folds; inexpensive parts; every record reading was measured on it</a:t>
                      </a:r>
                    </a:p>
                  </a:txBody>
                  <a:tcPr marL="54864" marR="54864" marT="18288" marB="18288">
                    <a:solidFill>
                      <a:srgbClr val="FFFFFF"/>
                    </a:solidFill>
                  </a:tcPr>
                </a:tc>
                <a:tc>
                  <a:txBody>
                    <a:bodyPr wrap="square"/>
                    <a:lstStyle/>
                    <a:p>
                      <a:r>
                        <a:rPr sz="1100" b="0">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p>
                  </a:txBody>
                  <a:tcPr marL="54864" marR="54864" marT="18288" marB="18288">
                    <a:solidFill>
                      <a:srgbClr val="FFFFFF"/>
                    </a:solidFill>
                  </a:tcPr>
                </a:tc>
              </a:tr>
              <a:tr h="1034415">
                <a:tc>
                  <a:txBody>
                    <a:bodyPr wrap="square"/>
                    <a:lstStyle/>
                    <a:p>
                      <a:r>
                        <a:rPr sz="1100" b="0">
                          <a:solidFill>
                            <a:srgbClr val="282828"/>
                          </a:solidFill>
                          <a:latin typeface="Arial"/>
                        </a:rPr>
                        <a:t>against</a:t>
                      </a:r>
                    </a:p>
                  </a:txBody>
                  <a:tcPr marL="54864" marR="54864" marT="18288" marB="18288">
                    <a:solidFill>
                      <a:srgbClr val="ECF1F6"/>
                    </a:solidFill>
                  </a:tcPr>
                </a:tc>
                <a:tc>
                  <a:txBody>
                    <a:bodyPr wrap="square"/>
                    <a:lstStyle/>
                    <a:p>
                      <a:r>
                        <a:rPr sz="1100" b="0">
                          <a:solidFill>
                            <a:srgbClr val="282828"/>
                          </a:solidFill>
                          <a:latin typeface="Arial"/>
                        </a:rPr>
                        <a:t>one color at a time; each plate in the converging beam adds aberration (0.03 wave per 2 mm); the detector leg reaches its best focus only after a numerical adjustment; faces need anti-reflection coating</a:t>
                      </a:r>
                    </a:p>
                  </a:txBody>
                  <a:tcPr marL="54864" marR="54864" marT="18288" marB="18288">
                    <a:solidFill>
                      <a:srgbClr val="ECF1F6"/>
                    </a:solidFill>
                  </a:tcPr>
                </a:tc>
                <a:tc>
                  <a:txBody>
                    <a:bodyPr wrap="square"/>
                    <a:lstStyle/>
                    <a:p>
                      <a:r>
                        <a:rPr sz="1100" b="0">
                          <a:solidFill>
                            <a:srgbClr val="282828"/>
                          </a:solidFill>
                          <a:latin typeface="Arial"/>
                        </a:rPr>
                        <a:t>the metal folds polarize: the vector reading needs its two channels calibrated (634 pm raw, 0.054 pm calibrated; a quarter-wave overcoat halves the raw error); 10 µrad of mirror tilt moves the null 95-103 nm; the raw four-step reading wraps between 60 and 120 nm of surface on both rigs (a base past λ/2 reads 91 nm whatever it is); both capture with unwrapping</a:t>
                      </a:r>
                    </a:p>
                  </a:txBody>
                  <a:tcPr marL="54864" marR="54864" marT="18288" marB="18288">
                    <a:solidFill>
                      <a:srgbClr val="ECF1F6"/>
                    </a:solidFill>
                  </a:tcPr>
                </a:tc>
              </a:tr>
              <a:tr h="657225">
                <a:tc>
                  <a:txBody>
                    <a:bodyPr wrap="square"/>
                    <a:lstStyle/>
                    <a:p>
                      <a:r>
                        <a:rPr sz="1100" b="0">
                          <a:solidFill>
                            <a:srgbClr val="282828"/>
                          </a:solidFill>
                          <a:latin typeface="Arial"/>
                        </a:rPr>
                        <a:t>where it stands</a:t>
                      </a:r>
                    </a:p>
                  </a:txBody>
                  <a:tcPr marL="54864" marR="54864" marT="18288" marB="18288">
                    <a:solidFill>
                      <a:srgbClr val="FFFFFF"/>
                    </a:solidFill>
                  </a:tcPr>
                </a:tc>
                <a:tc>
                  <a:txBody>
                    <a:bodyPr wrap="square"/>
                    <a:lstStyle/>
                    <a:p>
                      <a:r>
                        <a:rPr sz="1100" b="0">
                          <a:solidFill>
                            <a:srgbClr val="282828"/>
                          </a:solidFill>
                          <a:latin typeface="Arial"/>
                        </a:rPr>
                        <a:t>the record</a:t>
                      </a:r>
                    </a:p>
                  </a:txBody>
                  <a:tcPr marL="54864" marR="54864" marT="18288" marB="18288">
                    <a:solidFill>
                      <a:srgbClr val="FFFFFF"/>
                    </a:solidFill>
                  </a:tcPr>
                </a:tc>
                <a:tc>
                  <a:txBody>
                    <a:bodyPr wrap="square"/>
                    <a:lstStyle/>
                    <a:p>
                      <a:r>
                        <a:rPr sz="1100" b="0">
                          <a:solidFill>
                            <a:srgbClr val="282828"/>
                          </a:solidFill>
                          <a:latin typeface="Arial"/>
                        </a:rPr>
                        <a:t>measured 2026-09-16: reads 0.99 / 2.4 pm and 0.99 / 161 pm with the lens rig's cross-talk; holds 3 pm from 1.7e13 photons per cycle (lens 2.0e13); captures from 200 nm; the pinhole and the calibrated vector pair pass</a:t>
                      </a:r>
                    </a:p>
                  </a:txBody>
                  <a:tcPr marL="54864" marR="54864" marT="18288" marB="18288">
                    <a:solidFill>
                      <a:srgbClr val="FFFFFF"/>
                    </a:solidFill>
                  </a:tcPr>
                </a:tc>
              </a:tr>
            </a:tbl>
          </a:graphicData>
        </a:graphic>
      </p:graphicFrame>
      <p:sp>
        <p:nvSpPr>
          <p:cNvPr id="9" name="TextBox 8"/>
          <p:cNvSpPr txBox="1"/>
          <p:nvPr/>
        </p:nvSpPr>
        <p:spPr>
          <a:xfrm>
            <a:off x="411480" y="6505956"/>
            <a:ext cx="11368735"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564 mm leg) is the interferometer's; shuttered, the same bench is every other sensor.  Run tags bench_bs22, oapdraw3, oapifo2, oapsens22; the priced comparison is on the lenses-versus-mirrors slides.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The record's 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250210" y="1298448"/>
            <a:ext cx="7691274"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the record: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511671"/>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front end</a:t>
            </a:r>
          </a:p>
          <a:p>
            <a:pPr>
              <a:spcAft>
                <a:spcPts val="0"/>
              </a:spcAft>
            </a:pPr>
            <a:r>
              <a:rPr sz="1250" b="0">
                <a:solidFill>
                  <a:srgbClr val="6E6E6E"/>
                </a:solidFill>
                <a:latin typeface="Arial"/>
              </a:rPr>
              <a:t>The source, the collimator and the splitter node, from the parameter sheet; the substrates are now decided (10 mm splitter and compensator, 2 mm fused-silica plates under every polarizing element, a 2 mm mask plate, 4 mm lens edges) and go into every deck from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937635"/>
        </p:xfrm>
        <a:graphic>
          <a:graphicData uri="http://schemas.openxmlformats.org/drawingml/2006/table">
            <a:tbl>
              <a:tblPr firstRow="1" bandRow="1">
                <a:tableStyleId>{5C22544A-7EE6-4342-B048-85BDC9FD1C3A}</a:tableStyleId>
              </a:tblPr>
              <a:tblGrid>
                <a:gridCol w="1962404"/>
                <a:gridCol w="5301770"/>
                <a:gridCol w="1561480"/>
                <a:gridCol w="509524"/>
                <a:gridCol w="2033555"/>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the source cone is baffled to 59 mm radius, overfilling the mirror by 11 mm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657225">
                <a:tc>
                  <a:txBody>
                    <a:bodyPr wrap="square"/>
                    <a:lstStyle/>
                    <a:p>
                      <a:r>
                        <a:rPr sz="1100" b="0">
                          <a:solidFill>
                            <a:srgbClr val="282828"/>
                          </a:solidFill>
                          <a:latin typeface="Arial"/>
                        </a:rPr>
                        <a:t>collimator: L1 or OAP1</a:t>
                      </a:r>
                    </a:p>
                  </a:txBody>
                  <a:tcPr marL="54864" marR="54864" marT="18288" marB="18288">
                    <a:solidFill>
                      <a:srgbClr val="ECF1F6"/>
                    </a:solidFill>
                  </a:tcPr>
                </a:tc>
                <a:tc>
                  <a:txBody>
                    <a:bodyPr wrap="square"/>
                    <a:lstStyle/>
                    <a:p>
                      <a:r>
                        <a:rPr sz="1100" b="0">
                          <a:solidFill>
                            <a:srgbClr val="282828"/>
                          </a:solidFill>
                          <a:latin typeface="Arial"/>
                        </a:rPr>
                        <a:t>L1: f 857 mm, 103 mm, plano-convex conic (R 427.3, conic −0.583), 5 mm center.  OAP1: parent f 757 mm (R −1514), 551 mm off-axis, 20° fold, 113 mm</a:t>
                      </a:r>
                    </a:p>
                  </a:txBody>
                  <a:tcPr marL="54864" marR="54864" marT="18288" marB="18288">
                    <a:solidFill>
                      <a:srgbClr val="ECF1F6"/>
                    </a:solidFill>
                  </a:tcPr>
                </a:tc>
                <a:tc>
                  <a:txBody>
                    <a:bodyPr wrap="square"/>
                    <a:lstStyle/>
                    <a:p>
                      <a:r>
                        <a:rPr sz="1100" b="0">
                          <a:solidFill>
                            <a:srgbClr val="282828"/>
                          </a:solidFill>
                          <a:latin typeface="Arial"/>
                        </a:rPr>
                        <a:t>L1 anti-reflection; OAP1 protected aluminum</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468630">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103 mm, 22.5°, 50/50, 10 mm thick; the glass shifts the transmitted beam 1.39 mm and takes the flat null 0.13 → 20 nm</a:t>
                      </a:r>
                    </a:p>
                  </a:txBody>
                  <a:tcPr marL="54864" marR="54864" marT="18288" marB="18288">
                    <a:solidFill>
                      <a:srgbClr val="FFFFFF"/>
                    </a:solidFill>
                  </a:tcPr>
                </a:tc>
                <a:tc>
                  <a:txBody>
                    <a:bodyPr wrap="square"/>
                    <a:lstStyle/>
                    <a:p>
                      <a:r>
                        <a:rPr sz="1100" b="0">
                          <a:solidFill>
                            <a:srgbClr val="282828"/>
                          </a:solidFill>
                          <a:latin typeface="Arial"/>
                        </a:rPr>
                        <a:t>50/50 front coating, AR back</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a:t>
                      </a:r>
                    </a:p>
                  </a:txBody>
                  <a:tcPr marL="54864" marR="54864" marT="18288" marB="18288">
                    <a:solidFill>
                      <a:srgbClr val="FFFFFF"/>
                    </a:solidFill>
                  </a:tcPr>
                </a:tc>
              </a:tr>
              <a:tr h="468630">
                <a:tc>
                  <a:txBody>
                    <a:bodyPr wrap="square"/>
                    <a:lstStyle/>
                    <a:p>
                      <a:r>
                        <a:rPr sz="1100" b="0">
                          <a:solidFill>
                            <a:srgbClr val="282828"/>
                          </a:solidFill>
                          <a:latin typeface="Arial"/>
                        </a:rPr>
                        <a:t>compensator plate</a:t>
                      </a:r>
                    </a:p>
                  </a:txBody>
                  <a:tcPr marL="54864" marR="54864" marT="18288" marB="18288">
                    <a:solidFill>
                      <a:srgbClr val="ECF1F6"/>
                    </a:solidFill>
                  </a:tcPr>
                </a:tc>
                <a:tc>
                  <a:txBody>
                    <a:bodyPr wrap="square"/>
                    <a:lstStyle/>
                    <a:p>
                      <a:r>
                        <a:rPr sz="1100" b="0">
                          <a:solidFill>
                            <a:srgbClr val="282828"/>
                          </a:solidFill>
                          <a:latin typeface="Arial"/>
                        </a:rPr>
                        <a:t>103 mm, matched to the splitter, in the mirror leg</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balances the glass path through the splitter</a:t>
                      </a:r>
                    </a:p>
                  </a:txBody>
                  <a:tcPr marL="54864" marR="54864" marT="18288" marB="18288">
                    <a:solidFill>
                      <a:srgbClr val="ECF1F6"/>
                    </a:solidFill>
                  </a:tcPr>
                </a:tc>
              </a:tr>
              <a:tr h="468630">
                <a:tc>
                  <a:txBody>
                    <a:bodyPr wrap="square"/>
                    <a:lstStyle/>
                    <a:p>
                      <a:r>
                        <a:rPr sz="1100" b="0">
                          <a:solidFill>
                            <a:srgbClr val="282828"/>
                          </a:solidFill>
                          <a:latin typeface="Arial"/>
                        </a:rPr>
                        <a:t>deformable mirror</a:t>
                      </a:r>
                    </a:p>
                  </a:txBody>
                  <a:tcPr marL="54864" marR="54864" marT="18288" marB="18288">
                    <a:solidFill>
                      <a:srgbClr val="FFFFFF"/>
                    </a:solidFill>
                  </a:tcPr>
                </a:tc>
                <a:tc>
                  <a:txBody>
                    <a:bodyPr wrap="square"/>
                    <a:lstStyle/>
                    <a:p>
                      <a:r>
                        <a:rPr sz="1100" b="0">
                          <a:solidFill>
                            <a:srgbClr val="282828"/>
                          </a:solidFill>
                          <a:latin typeface="Arial"/>
                        </a:rPr>
                        <a:t>96×96, 1 mm pitch, 96 mm, 700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test object; its surface is the measurand</a:t>
                      </a:r>
                    </a:p>
                  </a:txBody>
                  <a:tcPr marL="54864" marR="54864" marT="18288" marB="18288">
                    <a:solidFill>
                      <a:srgbClr val="FFFFFF"/>
                    </a:solidFill>
                  </a:tcPr>
                </a:tc>
              </a:tr>
              <a:tr h="657225">
                <a:tc>
                  <a:txBody>
                    <a:bodyPr wrap="square"/>
                    <a:lstStyle/>
                    <a:p>
                      <a:r>
                        <a:rPr sz="1100" b="0">
                          <a:solidFill>
                            <a:srgbClr val="282828"/>
                          </a:solidFill>
                          <a:latin typeface="Arial"/>
                        </a:rPr>
                        <a:t>aperture on the mirror</a:t>
                      </a:r>
                    </a:p>
                  </a:txBody>
                  <a:tcPr marL="54864" marR="54864" marT="18288" marB="18288">
                    <a:solidFill>
                      <a:srgbClr val="ECF1F6"/>
                    </a:solidFill>
                  </a:tcPr>
                </a:tc>
                <a:tc>
                  <a:txBody>
                    <a:bodyPr wrap="square"/>
                    <a:lstStyle/>
                    <a:p>
                      <a:r>
                        <a:rPr sz="1100" b="0">
                          <a:solidFill>
                            <a:srgbClr val="282828"/>
                          </a:solidFill>
                          <a:latin typeface="Arial"/>
                        </a:rPr>
                        <a:t>96 mm, at the actuator footprint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stop: it defines the pupil, so the baffle never does</a:t>
                      </a:r>
                    </a:p>
                  </a:txBody>
                  <a:tcPr marL="54864" marR="54864" marT="18288" marB="18288">
                    <a:solidFill>
                      <a:srgbClr val="ECF1F6"/>
                    </a:solidFill>
                  </a:tcPr>
                </a:tc>
              </a:tr>
              <a:tr h="468630">
                <a:tc>
                  <a:txBody>
                    <a:bodyPr wrap="square"/>
                    <a:lstStyle/>
                    <a:p>
                      <a:r>
                        <a:rPr sz="1100" b="0">
                          <a:solidFill>
                            <a:srgbClr val="282828"/>
                          </a:solidFill>
                          <a:latin typeface="Arial"/>
                        </a:rPr>
                        <a:t>mounts, bench</a:t>
                      </a:r>
                    </a:p>
                  </a:txBody>
                  <a:tcPr marL="54864" marR="54864" marT="18288" marB="18288">
                    <a:solidFill>
                      <a:srgbClr val="FFFFFF"/>
                    </a:solidFill>
                  </a:tcPr>
                </a:tc>
                <a:tc>
                  <a:txBody>
                    <a:bodyPr wrap="square"/>
                    <a:lstStyle/>
                    <a:p>
                      <a:r>
                        <a:rPr sz="1100" b="0">
                          <a:solidFill>
                            <a:srgbClr val="282828"/>
                          </a:solidFill>
                          <a:latin typeface="Arial"/>
                        </a:rPr>
                        <a:t>2 m × 1 m table; 103 mm mounts, 25 mm clearance</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the 22.5° layout clears every part</a:t>
                      </a:r>
                    </a:p>
                  </a:txBody>
                  <a:tcPr marL="54864" marR="54864" marT="18288" marB="18288">
                    <a:solidFill>
                      <a:srgbClr val="FFFFFF"/>
                    </a:solidFill>
                  </a:tcPr>
                </a:tc>
              </a:tr>
            </a:tbl>
          </a:graphicData>
        </a:graphic>
      </p:graphicFrame>
      <p:sp>
        <p:nvSpPr>
          <p:cNvPr id="5" name="TextBox 4"/>
          <p:cNvSpPr txBox="1"/>
          <p:nvPr/>
        </p:nvSpPr>
        <p:spPr>
          <a:xfrm>
            <a:off x="411480" y="5382387"/>
            <a:ext cx="11368735" cy="274320"/>
          </a:xfrm>
          <a:prstGeom prst="rect">
            <a:avLst/>
          </a:prstGeom>
          <a:noFill/>
        </p:spPr>
        <p:txBody>
          <a:bodyPr wrap="square">
            <a:spAutoFit/>
          </a:bodyPr>
          <a:lstStyle/>
          <a:p>
            <a:pPr>
              <a:spcAft>
                <a:spcPts val="600"/>
              </a:spcAft>
            </a:pPr>
            <a:r>
              <a:rPr sz="1050" b="0">
                <a:solidFill>
                  <a:srgbClr val="6E6E6E"/>
                </a:solidFill>
                <a:latin typeface="Arial"/>
              </a:rPr>
              <a:t>The two front ends are alternatives, not additions: a rig is all lenses or all mirrors, and the conjugates are identical either way.  One coating entry still needs a decision — the overcoat on the parabolas is modeled as a half wave of MgF2, and the polarization cost of an overcoat reverses sign across the quarter-wave condition, so a quarter wave AT 632.8 nm is the specification to order if the mirror rig is built.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detector leg</a:t>
            </a:r>
          </a:p>
          <a:p>
            <a:pPr>
              <a:spcAft>
                <a:spcPts val="0"/>
              </a:spcAft>
            </a:pPr>
            <a:r>
              <a:rPr sz="1250" b="0">
                <a:solidFill>
                  <a:srgbClr val="6E6E6E"/>
                </a:solidFill>
                <a:latin typeface="Arial"/>
              </a:rPr>
              <a:t>From the focuser to the camera: focused once and shared by every configuration, so only the mask seat's contents and what follows the field lens change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154555"/>
        </p:xfrm>
        <a:graphic>
          <a:graphicData uri="http://schemas.openxmlformats.org/drawingml/2006/table">
            <a:tbl>
              <a:tblPr firstRow="1" bandRow="1">
                <a:tableStyleId>{5C22544A-7EE6-4342-B048-85BDC9FD1C3A}</a:tableStyleId>
              </a:tblPr>
              <a:tblGrid>
                <a:gridCol w="1526540"/>
                <a:gridCol w="5300957"/>
                <a:gridCol w="1605219"/>
                <a:gridCol w="509524"/>
                <a:gridCol w="2426494"/>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focuser: L2 or OAP2</a:t>
                      </a:r>
                    </a:p>
                  </a:txBody>
                  <a:tcPr marL="54864" marR="54864" marT="18288" marB="18288">
                    <a:solidFill>
                      <a:srgbClr val="FFFFFF"/>
                    </a:solidFill>
                  </a:tcPr>
                </a:tc>
                <a:tc>
                  <a:txBody>
                    <a:bodyPr wrap="square"/>
                    <a:lstStyle/>
                    <a:p>
                      <a:r>
                        <a:rPr sz="1100" b="0">
                          <a:solidFill>
                            <a:srgbClr val="282828"/>
                          </a:solidFill>
                          <a:latin typeface="Arial"/>
                        </a:rPr>
                        <a:t>L2: f 429 mm, 103 mm, plano-convex conic (conic −0.582), 8 mm center.  OAP2: parent f 352 mm (R −704), 328 mm off-axis, 25° fold, 113 mm</a:t>
                      </a:r>
                    </a:p>
                  </a:txBody>
                  <a:tcPr marL="54864" marR="54864" marT="18288" marB="18288">
                    <a:solidFill>
                      <a:srgbClr val="FFFFFF"/>
                    </a:solidFill>
                  </a:tcPr>
                </a:tc>
                <a:tc>
                  <a:txBody>
                    <a:bodyPr wrap="square"/>
                    <a:lstStyle/>
                    <a:p>
                      <a:r>
                        <a:rPr sz="1100" b="0">
                          <a:solidFill>
                            <a:srgbClr val="282828"/>
                          </a:solidFill>
                          <a:latin typeface="Arial"/>
                        </a:rPr>
                        <a:t>L2 anti-reflection; OAP2 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FFFFFF"/>
                    </a:solidFill>
                  </a:tcPr>
                </a:tc>
              </a:tr>
              <a:tr h="468630">
                <a:tc>
                  <a:txBody>
                    <a:bodyPr wrap="square"/>
                    <a:lstStyle/>
                    <a:p>
                      <a:r>
                        <a:rPr sz="1100" b="0">
                          <a:solidFill>
                            <a:srgbClr val="282828"/>
                          </a:solidFill>
                          <a:latin typeface="Arial"/>
                        </a:rPr>
                        <a:t>mask seat</a:t>
                      </a:r>
                    </a:p>
                  </a:txBody>
                  <a:tcPr marL="54864" marR="54864" marT="18288" marB="18288">
                    <a:solidFill>
                      <a:srgbClr val="ECF1F6"/>
                    </a:solidFill>
                  </a:tcPr>
                </a:tc>
                <a:tc>
                  <a:txBody>
                    <a:bodyPr wrap="square"/>
                    <a:lstStyle/>
                    <a:p>
                      <a:r>
                        <a:rPr sz="1100" b="0">
                          <a:solidFill>
                            <a:srgbClr val="282828"/>
                          </a:solidFill>
                          <a:latin typeface="Arial"/>
                        </a:rPr>
                        <a:t>translation stage at the internal focus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ECF1F6"/>
                    </a:solidFill>
                  </a:tcPr>
                </a:tc>
              </a:tr>
              <a:tr h="468630">
                <a:tc>
                  <a:txBody>
                    <a:bodyPr wrap="square"/>
                    <a:lstStyle/>
                    <a:p>
                      <a:r>
                        <a:rPr sz="1100" b="0">
                          <a:solidFill>
                            <a:srgbClr val="282828"/>
                          </a:solidFill>
                          <a:latin typeface="Arial"/>
                        </a:rPr>
                        <a:t>field lens</a:t>
                      </a:r>
                    </a:p>
                  </a:txBody>
                  <a:tcPr marL="54864" marR="54864" marT="18288" marB="18288">
                    <a:solidFill>
                      <a:srgbClr val="FFFFFF"/>
                    </a:solidFill>
                  </a:tcPr>
                </a:tc>
                <a:tc>
                  <a:txBody>
                    <a:bodyPr wrap="square"/>
                    <a:lstStyle/>
                    <a:p>
                      <a:r>
                        <a:rPr sz="1100" b="0">
                          <a:solidFill>
                            <a:srgbClr val="282828"/>
                          </a:solidFill>
                          <a:latin typeface="Arial"/>
                        </a:rPr>
                        <a:t>f 43 mm, 21 mm, a conic: −2.11 at the seed station 10.8 mm past the focus, or −7.77 tuned — over the 2.4 mm of it the beam uses, 0.20 µm apart</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reimages the DM: 9.8 mm across on the 96 mm beam, 38 mm behind it</a:t>
                      </a:r>
                    </a:p>
                  </a:txBody>
                  <a:tcPr marL="54864" marR="54864" marT="18288" marB="18288">
                    <a:solidFill>
                      <a:srgbClr val="FFFFFF"/>
                    </a:solidFill>
                  </a:tcPr>
                </a:tc>
              </a:tr>
              <a:tr h="468630">
                <a:tc>
                  <a:txBody>
                    <a:bodyPr wrap="square"/>
                    <a:lstStyle/>
                    <a:p>
                      <a:r>
                        <a:rPr sz="1100" b="0">
                          <a:solidFill>
                            <a:srgbClr val="282828"/>
                          </a:solidFill>
                          <a:latin typeface="Arial"/>
                        </a:rPr>
                        <a:t>camera A</a:t>
                      </a:r>
                    </a:p>
                  </a:txBody>
                  <a:tcPr marL="54864" marR="54864" marT="18288" marB="18288">
                    <a:solidFill>
                      <a:srgbClr val="ECF1F6"/>
                    </a:solidFill>
                  </a:tcPr>
                </a:tc>
                <a:tc>
                  <a:txBody>
                    <a:bodyPr wrap="square"/>
                    <a:lstStyle/>
                    <a:p>
                      <a:r>
                        <a:rPr sz="1100" b="0">
                          <a:solidFill>
                            <a:srgbClr val="282828"/>
                          </a:solidFill>
                          <a:latin typeface="Arial"/>
                        </a:rPr>
                        <a:t>sCMOS 2048×2048, 6.5 µm binned 4 to 377 px across the 9.8 mm image; or 24 µm pixels unbinned (408)</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every configuration's pupil image</a:t>
                      </a:r>
                    </a:p>
                  </a:txBody>
                  <a:tcPr marL="54864" marR="54864" marT="18288" marB="18288">
                    <a:solidFill>
                      <a:srgbClr val="ECF1F6"/>
                    </a:solidFill>
                  </a:tcPr>
                </a:tc>
              </a:tr>
            </a:tbl>
          </a:graphicData>
        </a:graphic>
      </p:graphicFrame>
      <p:sp>
        <p:nvSpPr>
          <p:cNvPr id="5" name="TextBox 4"/>
          <p:cNvSpPr txBox="1"/>
          <p:nvPr/>
        </p:nvSpPr>
        <p:spPr>
          <a:xfrm>
            <a:off x="411480" y="3599307"/>
            <a:ext cx="11368735" cy="274320"/>
          </a:xfrm>
          <a:prstGeom prst="rect">
            <a:avLst/>
          </a:prstGeom>
          <a:noFill/>
        </p:spPr>
        <p:txBody>
          <a:bodyPr wrap="square">
            <a:spAutoFit/>
          </a:bodyPr>
          <a:lstStyle/>
          <a:p>
            <a:pPr>
              <a:spcAft>
                <a:spcPts val="600"/>
              </a:spcAft>
            </a:pPr>
            <a:r>
              <a:rPr sz="1050" b="0">
                <a:solidFill>
                  <a:srgbClr val="6E6E6E"/>
                </a:solidFill>
                <a:latin typeface="Arial"/>
              </a:rPr>
              <a:t>The field lens's conic is the one part still open: the seed station images the mirror flat, the tuned station reads it 2.3x better, and the two differ by 0.20 µm over the 2.4 mm the beam uses.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77765"/>
        </p:xfrm>
        <a:graphic>
          <a:graphicData uri="http://schemas.openxmlformats.org/drawingml/2006/table">
            <a:tbl>
              <a:tblPr firstRow="1" bandRow="1">
                <a:tableStyleId>{5C22544A-7EE6-4342-B048-85BDC9FD1C3A}</a:tableStyleId>
              </a:tblPr>
              <a:tblGrid>
                <a:gridCol w="1090676"/>
                <a:gridCol w="1930802"/>
                <a:gridCol w="2844300"/>
                <a:gridCol w="2398268"/>
                <a:gridCol w="509524"/>
                <a:gridCol w="259516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a:t>
                      </a:r>
                    </a:p>
                  </a:txBody>
                  <a:tcPr marL="54864" marR="54864" marT="18288" marB="18288">
                    <a:solidFill>
                      <a:srgbClr val="FFFFFF"/>
                    </a:solidFill>
                  </a:tcPr>
                </a:tc>
                <a:tc>
                  <a:txBody>
                    <a:bodyPr wrap="square"/>
                    <a:lstStyle/>
                    <a:p>
                      <a:r>
                        <a:rPr sz="1100" b="0">
                          <a:solidFill>
                            <a:srgbClr val="282828"/>
                          </a:solidFill>
                          <a:latin typeface="Arial"/>
                        </a:rPr>
                        <a:t>103 mm, λ/20; 564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arm that makes this the one gauge to capture a whole wave</a:t>
                      </a:r>
                    </a:p>
                  </a:txBody>
                  <a:tcPr marL="54864" marR="54864" marT="18288" marB="18288">
                    <a:solidFill>
                      <a:srgbClr val="FFFFFF"/>
                    </a:solidFill>
                  </a:tcPr>
                </a:tc>
              </a:tr>
              <a:tr h="845820">
                <a:tc>
                  <a:txBody>
                    <a:bodyPr wrap="square"/>
                    <a:lstStyle/>
                    <a:p>
                      <a:r>
                        <a:rPr sz="1100" b="0">
                          <a:solidFill>
                            <a:srgbClr val="282828"/>
                          </a:solidFill>
                          <a:latin typeface="Arial"/>
                        </a:rPr>
                        <a:t>piezo form</a:t>
                      </a:r>
                    </a:p>
                  </a:txBody>
                  <a:tcPr marL="54864" marR="54864" marT="18288" marB="18288">
                    <a:solidFill>
                      <a:srgbClr val="ECF1F6"/>
                    </a:solidFill>
                  </a:tcPr>
                </a:tc>
                <a:tc>
                  <a:txBody>
                    <a:bodyPr wrap="square"/>
                    <a:lstStyle/>
                    <a:p>
                      <a:r>
                        <a:rPr sz="1100" b="0">
                          <a:solidFill>
                            <a:srgbClr val="282828"/>
                          </a:solidFill>
                          <a:latin typeface="Arial"/>
                        </a:rPr>
                        <a:t>closed-loop piezo stage under the flat</a:t>
                      </a:r>
                    </a:p>
                  </a:txBody>
                  <a:tcPr marL="54864" marR="54864" marT="18288" marB="18288">
                    <a:solidFill>
                      <a:srgbClr val="ECF1F6"/>
                    </a:solidFill>
                  </a:tcPr>
                </a:tc>
                <a:tc>
                  <a:txBody>
                    <a:bodyPr wrap="square"/>
                    <a:lstStyle/>
                    <a:p>
                      <a:r>
                        <a:rPr sz="1100" b="0">
                          <a:solidFill>
                            <a:srgbClr val="282828"/>
                          </a:solidFill>
                          <a:latin typeface="Arial"/>
                        </a:rPr>
                        <a:t>stroke over one wave (633 nm) in four steps of λ/8 of surface; closed-loop, since the step error is read directly as phase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steps the reference phase; a 2% step error is priced in the servo, and the stepping is what exposes it to within-scan drift</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input polarizer; one quarter-wave plate in each arm, double-passed; output quarter-wave plate</a:t>
                      </a:r>
                    </a:p>
                  </a:txBody>
                  <a:tcPr marL="54864" marR="54864" marT="18288" marB="18288">
                    <a:solidFill>
                      <a:srgbClr val="FFFFFF"/>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4</a:t>
                      </a:r>
                    </a:p>
                  </a:txBody>
                  <a:tcPr marL="54864" marR="54864" marT="18288" marB="18288">
                    <a:solidFill>
                      <a:srgbClr val="FFFFFF"/>
                    </a:solidFill>
                  </a:tcPr>
                </a:tc>
                <a:tc>
                  <a:txBody>
                    <a:bodyPr wrap="square"/>
                    <a:lstStyle/>
                    <a:p>
                      <a:r>
                        <a:rPr sz="1100" b="0">
                          <a:solidFill>
                            <a:srgbClr val="282828"/>
                          </a:solidFill>
                          <a:latin typeface="Arial"/>
                        </a:rPr>
                        <a:t>codes the four channels in polarization</a:t>
                      </a:r>
                    </a:p>
                  </a:txBody>
                  <a:tcPr marL="54864" marR="54864" marT="18288" marB="18288">
                    <a:solidFill>
                      <a:srgbClr val="FFFFFF"/>
                    </a:solidFill>
                  </a:tcPr>
                </a:tc>
              </a:tr>
              <a:tr h="845820">
                <a:tc>
                  <a:txBody>
                    <a:bodyPr wrap="square"/>
                    <a:lstStyle/>
                    <a:p>
                      <a:r>
                        <a:rPr sz="1100" b="0">
                          <a:solidFill>
                            <a:srgbClr val="282828"/>
                          </a:solidFill>
                          <a:latin typeface="Arial"/>
                        </a:rPr>
                        <a:t>piezo</a:t>
                      </a:r>
                    </a:p>
                  </a:txBody>
                  <a:tcPr marL="54864" marR="54864" marT="18288" marB="18288">
                    <a:solidFill>
                      <a:srgbClr val="ECF1F6"/>
                    </a:solidFill>
                  </a:tcPr>
                </a:tc>
                <a:tc>
                  <a:txBody>
                    <a:bodyPr wrap="square"/>
                    <a:lstStyle/>
                    <a:p>
                      <a:r>
                        <a:rPr sz="1100" b="0">
                          <a:solidFill>
                            <a:srgbClr val="282828"/>
                          </a:solidFill>
                          <a:latin typeface="Arial"/>
                        </a:rPr>
                        <a:t>analyzer</a:t>
                      </a:r>
                    </a:p>
                  </a:txBody>
                  <a:tcPr marL="54864" marR="54864" marT="18288" marB="18288">
                    <a:solidFill>
                      <a:srgbClr val="ECF1F6"/>
                    </a:solidFill>
                  </a:tcPr>
                </a:tc>
                <a:tc>
                  <a:txBody>
                    <a:bodyPr wrap="square"/>
                    <a:lstStyle/>
                    <a:p>
                      <a:r>
                        <a:rPr sz="1100" b="0">
                          <a:solidFill>
                            <a:srgbClr val="282828"/>
                          </a:solidFill>
                          <a:latin typeface="Arial"/>
                        </a:rPr>
                        <a:t>103 mm polarizer on a 2 mm substrate, 160 mm behind the splitter with the output plate</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sets the interference to be read; in the snapshot form the camera's own micro-polarizer array does this job four ways at once</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replacing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over a 2048×2048 sCMOS, 3.45 µm pixels in 2×2 super-pixels,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in one frame: no moving part, and immune to the drift within a scan that the piezo form pays for</a:t>
                      </a:r>
                    </a:p>
                  </a:txBody>
                  <a:tcPr marL="54864" marR="54864" marT="18288" marB="18288">
                    <a:solidFill>
                      <a:srgbClr val="FFFFFF"/>
                    </a:solidFill>
                  </a:tcPr>
                </a:tc>
              </a:tr>
              <a:tr h="657225">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6422517"/>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977765"/>
        </p:xfrm>
        <a:graphic>
          <a:graphicData uri="http://schemas.openxmlformats.org/drawingml/2006/table">
            <a:tbl>
              <a:tblPr firstRow="1" bandRow="1">
                <a:tableStyleId>{5C22544A-7EE6-4342-B048-85BDC9FD1C3A}</a:tableStyleId>
              </a:tblPr>
              <a:tblGrid>
                <a:gridCol w="2252980"/>
                <a:gridCol w="3029232"/>
                <a:gridCol w="2547765"/>
                <a:gridCol w="762323"/>
                <a:gridCol w="509524"/>
                <a:gridCol w="2266909"/>
              </a:tblGrid>
              <a:tr h="280035">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record's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84582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845820">
                <a:tc>
                  <a:txBody>
                    <a:bodyPr wrap="square"/>
                    <a:lstStyle/>
                    <a:p>
                      <a:r>
                        <a:rPr sz="1100" b="0">
                          <a:solidFill>
                            <a:srgbClr val="282828"/>
                          </a:solidFill>
                          <a:latin typeface="Arial"/>
                        </a:rPr>
                        <a:t>vector Zernike, split form</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845820">
                <a:tc>
                  <a:txBody>
                    <a:bodyPr wrap="square"/>
                    <a:lstStyle/>
                    <a:p>
                      <a:r>
                        <a:rPr sz="1100" b="0">
                          <a:solidFill>
                            <a:srgbClr val="282828"/>
                          </a:solidFill>
                          <a:latin typeface="Arial"/>
                        </a:rPr>
                        <a:t>vector Zernike, snapshot form</a:t>
                      </a:r>
                    </a:p>
                  </a:txBody>
                  <a:tcPr marL="54864" marR="54864" marT="18288" marB="18288">
                    <a:solidFill>
                      <a:srgbClr val="ECF1F6"/>
                    </a:solidFill>
                  </a:tcPr>
                </a:tc>
                <a:tc>
                  <a:txBody>
                    <a:bodyPr wrap="square"/>
                    <a:lstStyle/>
                    <a:p>
                      <a:r>
                        <a:rPr sz="1100" b="0">
                          <a:solidFill>
                            <a:srgbClr val="282828"/>
                          </a:solidFill>
                          <a:latin typeface="Arial"/>
                        </a:rPr>
                        <a:t>quarter-wave plate; the interferometer's polarization camera in place of camera A</a:t>
                      </a:r>
                    </a:p>
                  </a:txBody>
                  <a:tcPr marL="54864" marR="54864" marT="18288" marB="18288">
                    <a:solidFill>
                      <a:srgbClr val="ECF1F6"/>
                    </a:solidFill>
                  </a:tcPr>
                </a:tc>
                <a:tc>
                  <a:txBody>
                    <a:bodyPr wrap="square"/>
                    <a:lstStyle/>
                    <a:p>
                      <a:r>
                        <a:rPr sz="1100" b="0">
                          <a:solidFill>
                            <a:srgbClr val="282828"/>
                          </a:solidFill>
                          <a:latin typeface="Arial"/>
                        </a:rPr>
                        <a:t>the same zero-order plate; the micro-polarizer array already on the bench for the snapshot interferometer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same two states read on one camera: one detector, no split leg to align, at a quarter of the pixels per state</a:t>
                      </a:r>
                    </a:p>
                  </a:txBody>
                  <a:tcPr marL="54864" marR="54864" marT="18288" marB="18288">
                    <a:solidFill>
                      <a:srgbClr val="ECF1F6"/>
                    </a:solidFill>
                  </a:tcPr>
                </a:tc>
              </a:tr>
              <a:tr h="65722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FFFFFF"/>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FFFFFF"/>
                    </a:solidFill>
                  </a:tcPr>
                </a:tc>
                <a:tc>
                  <a:txBody>
                    <a:bodyPr wrap="square"/>
                    <a:lstStyle/>
                    <a:p>
                      <a:r>
                        <a:rPr sz="1100" b="0">
                          <a:solidFill>
                            <a:srgbClr val="282828"/>
                          </a:solidFill>
                          <a:latin typeface="Arial"/>
                        </a:rPr>
                        <a:t>metal-film attenuator</a:t>
                      </a:r>
                    </a:p>
                  </a:txBody>
                  <a:tcPr marL="54864" marR="54864" marT="18288" marB="18288">
                    <a:solidFill>
                      <a:srgbClr val="FFFFFF"/>
                    </a:solidFill>
                  </a:tcPr>
                </a:tc>
                <a:tc>
                  <a:txBody>
                    <a:bodyPr wrap="square"/>
                    <a:lstStyle/>
                    <a:p>
                      <a:r>
                        <a:rPr sz="1100" b="0">
                          <a:solidFill>
                            <a:srgbClr val="282828"/>
                          </a:solidFill>
                          <a:latin typeface="Arial"/>
                        </a:rPr>
                        <a:t>2</a:t>
                      </a:r>
                    </a:p>
                  </a:txBody>
                  <a:tcPr marL="54864" marR="54864" marT="18288" marB="18288">
                    <a:solidFill>
                      <a:srgbClr val="FFFFFF"/>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FFFFFF"/>
                    </a:solidFill>
                  </a:tcPr>
                </a:tc>
              </a:tr>
              <a:tr h="845820">
                <a:tc>
                  <a:txBody>
                    <a:bodyPr wrap="square"/>
                    <a:lstStyle/>
                    <a:p>
                      <a:r>
                        <a:rPr sz="1100" b="0">
                          <a:solidFill>
                            <a:srgbClr val="282828"/>
                          </a:solidFill>
                          <a:latin typeface="Arial"/>
                        </a:rPr>
                        <a:t>P/SRI (backup)</a:t>
                      </a:r>
                    </a:p>
                  </a:txBody>
                  <a:tcPr marL="54864" marR="54864" marT="18288" marB="18288">
                    <a:solidFill>
                      <a:srgbClr val="ECF1F6"/>
                    </a:solidFill>
                  </a:tcPr>
                </a:tc>
                <a:tc>
                  <a:txBody>
                    <a:bodyPr wrap="square"/>
                    <a:lstStyle/>
                    <a:p>
                      <a:r>
                        <a:rPr sz="1100" b="0">
                          <a:solidFill>
                            <a:srgbClr val="282828"/>
                          </a:solidFill>
                          <a:latin typeface="Arial"/>
                        </a:rPr>
                        <a:t>pickoff plate; lens Lr1; pinhole into a single-mode waveguide with a thermo-optic phase shifter; lens Lr2; two folds; compensator; recombiner; camera C</a:t>
                      </a:r>
                    </a:p>
                  </a:txBody>
                  <a:tcPr marL="54864" marR="54864" marT="18288" marB="18288">
                    <a:solidFill>
                      <a:srgbClr val="ECF1F6"/>
                    </a:solidFill>
                  </a:tcPr>
                </a:tc>
                <a:tc>
                  <a:txBody>
                    <a:bodyPr wrap="square"/>
                    <a:lstStyle/>
                    <a:p>
                      <a:r>
                        <a:rPr sz="1100" b="0">
                          <a:solidFill>
                            <a:srgbClr val="282828"/>
                          </a:solidFill>
                          <a:latin typeface="Arial"/>
                        </a:rPr>
                        <a:t>60/40 plate at 45°; f 300 mm F/2.9; 3.7 µm; f 300 mm mirrored; 150 mm flats at 45°; 21.9 mm of glass; 50/50 plate at 45°; sCMOS</a:t>
                      </a:r>
                    </a:p>
                  </a:txBody>
                  <a:tcPr marL="54864" marR="54864" marT="18288" marB="18288">
                    <a:solidFill>
                      <a:srgbClr val="ECF1F6"/>
                    </a:solidFill>
                  </a:tcPr>
                </a:tc>
                <a:tc>
                  <a:txBody>
                    <a:bodyPr wrap="square"/>
                    <a:lstStyle/>
                    <a:p>
                      <a:r>
                        <a:rPr sz="1100" b="0">
                          <a:solidFill>
                            <a:srgbClr val="282828"/>
                          </a:solidFill>
                          <a:latin typeface="Arial"/>
                        </a:rPr>
                        <a:t>AR; protected-metal folds</a:t>
                      </a:r>
                    </a:p>
                  </a:txBody>
                  <a:tcPr marL="54864" marR="54864" marT="18288" marB="18288">
                    <a:solidFill>
                      <a:srgbClr val="ECF1F6"/>
                    </a:solidFill>
                  </a:tcPr>
                </a:tc>
                <a:tc>
                  <a:txBody>
                    <a:bodyPr wrap="square"/>
                    <a:lstStyle/>
                    <a:p>
                      <a:r>
                        <a:rPr sz="1100" b="0">
                          <a:solidFill>
                            <a:srgbClr val="282828"/>
                          </a:solidFill>
                          <a:latin typeface="Arial"/>
                        </a:rPr>
                        <a:t>9</a:t>
                      </a:r>
                    </a:p>
                  </a:txBody>
                  <a:tcPr marL="54864" marR="54864" marT="18288" marB="18288">
                    <a:solidFill>
                      <a:srgbClr val="ECF1F6"/>
                    </a:solidFill>
                  </a:tcPr>
                </a:tc>
                <a:tc>
                  <a:txBody>
                    <a:bodyPr wrap="square"/>
                    <a:lstStyle/>
                    <a:p>
                      <a:r>
                        <a:rPr sz="1100" b="0">
                          <a:solidFill>
                            <a:srgbClr val="282828"/>
                          </a:solidFill>
                          <a:latin typeface="Arial"/>
                        </a:rPr>
                        <a:t>the two-arm form with a reference that does not move with the surface</a:t>
                      </a:r>
                    </a:p>
                  </a:txBody>
                  <a:tcPr marL="54864" marR="54864" marT="18288" marB="18288">
                    <a:solidFill>
                      <a:srgbClr val="ECF1F6"/>
                    </a:solidFill>
                  </a:tcPr>
                </a:tc>
              </a:tr>
            </a:tbl>
          </a:graphicData>
        </a:graphic>
      </p:graphicFrame>
      <p:sp>
        <p:nvSpPr>
          <p:cNvPr id="5" name="TextBox 4"/>
          <p:cNvSpPr txBox="1"/>
          <p:nvPr/>
        </p:nvSpPr>
        <p:spPr>
          <a:xfrm>
            <a:off x="411480" y="6422517"/>
            <a:ext cx="11368735" cy="274320"/>
          </a:xfrm>
          <a:prstGeom prst="rect">
            <a:avLst/>
          </a:prstGeom>
          <a:noFill/>
        </p:spPr>
        <p:txBody>
          <a:bodyPr wrap="square">
            <a:spAutoFit/>
          </a:bodyPr>
          <a:lstStyle/>
          <a:p>
            <a:pPr>
              <a:spcAft>
                <a:spcPts val="600"/>
              </a:spcAft>
            </a:pPr>
            <a:r>
              <a:rPr sz="1050" b="0">
                <a:solidFill>
                  <a:srgbClr val="6E6E6E"/>
                </a:solidFill>
                <a:latin typeface="Arial"/>
              </a:rPr>
              <a:t>The vector sensor is the one configuration with a choice of readout: the split form buys full pixel count per state, the snapshot form reuses the interferometer's own camera.  The Zernike, vector and pinhole plates share one substrate on the seat.  Full parts tables with vendors' classes are in each lane's README.  What the photonic reference is, and is not, in these numbers: the P/SRI arm's reference is modeled as the recollimated LP01 mode of a single-mode fiber, with the pickoff fraction, the coupling into the mode, and a miscalibration of the phase steps all priced.  The waveguide itself is not a traced element and the thermo-optic shifter is an ideal phase per frame, so the photonic option is costed as an ideal device on a real mode: its own loss, dispersion and thermal drift are the next thing to model, not something already in these numbers.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a:t>
            </a:r>
          </a:p>
          <a:p>
            <a:pPr>
              <a:spcAft>
                <a:spcPts val="600"/>
              </a:spcAft>
            </a:pPr>
            <a:r>
              <a:rPr sz="1500" b="0">
                <a:solidFill>
                  <a:srgbClr val="282828"/>
                </a:solidFill>
                <a:latin typeface="Arial"/>
              </a:rPr>
              <a:t>•  On the 30 nm surface, matrix measured on it: 10 nm on one actuator 0.991 / 2 pm / SNR 6076; 1 nm on 52 sites 0.990 / 1 pm; dense 10 nm 0.990, 168 pm.</a:t>
            </a:r>
          </a:p>
          <a:p>
            <a:pPr>
              <a:spcAft>
                <a:spcPts val="600"/>
              </a:spcAft>
            </a:pPr>
            <a:r>
              <a:rPr sz="1500" b="0">
                <a:solidFill>
                  <a:srgbClr val="282828"/>
                </a:solidFill>
                <a:latin typeface="Arial"/>
              </a:rPr>
              <a:t>•  Servo: 3 pm from 5.5e12 photons per cycle with noise only, 2.0e13 under a 2 pm per-cycle actuator walk; a fixed error of about 9% on a noiseless step, from the four-step's roll-off.</a:t>
            </a:r>
          </a:p>
        </p:txBody>
      </p:sp>
      <p:graphicFrame>
        <p:nvGraphicFramePr>
          <p:cNvPr id="5" name="Table 4"/>
          <p:cNvGraphicFramePr>
            <a:graphicFrameLocks noGrp="1"/>
          </p:cNvGraphicFramePr>
          <p:nvPr/>
        </p:nvGraphicFramePr>
        <p:xfrm>
          <a:off x="6400800" y="1298448"/>
          <a:ext cx="5394959" cy="1828800"/>
        </p:xfrm>
        <a:graphic>
          <a:graphicData uri="http://schemas.openxmlformats.org/drawingml/2006/table">
            <a:tbl>
              <a:tblPr firstRow="1" bandRow="1">
                <a:tableStyleId>{5C22544A-7EE6-4342-B048-85BDC9FD1C3A}</a:tableStyleId>
              </a:tblPr>
              <a:tblGrid>
                <a:gridCol w="2861415"/>
                <a:gridCol w="2533544"/>
              </a:tblGrid>
              <a:tr h="2628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262890">
                <a:tc>
                  <a:txBody>
                    <a:bodyPr wrap="square"/>
                    <a:lstStyle/>
                    <a:p>
                      <a:r>
                        <a:rPr sz="1000" b="0">
                          <a:solidFill>
                            <a:srgbClr val="282828"/>
                          </a:solidFill>
                          <a:latin typeface="Arial"/>
                        </a:rPr>
                        <a:t>reference flat on a piezo stage</a:t>
                      </a:r>
                    </a:p>
                  </a:txBody>
                  <a:tcPr marL="54864" marR="54864" marT="18288" marB="18288">
                    <a:solidFill>
                      <a:srgbClr val="FFFFFF"/>
                    </a:solidFill>
                  </a:tcPr>
                </a:tc>
                <a:tc>
                  <a:txBody>
                    <a:bodyPr wrap="square"/>
                    <a:lstStyle/>
                    <a:p>
                      <a:r>
                        <a:rPr sz="1000" b="0">
                          <a:solidFill>
                            <a:srgbClr val="282828"/>
                          </a:solidFill>
                          <a:latin typeface="Arial"/>
                        </a:rPr>
                        <a:t>103 mm, protected aluminum, 564 mm leg</a:t>
                      </a:r>
                    </a:p>
                  </a:txBody>
                  <a:tcPr marL="54864" marR="54864" marT="18288" marB="18288">
                    <a:solidFill>
                      <a:srgbClr val="FFFFFF"/>
                    </a:solidFill>
                  </a:tcPr>
                </a:tc>
              </a:tr>
              <a:tr h="262890">
                <a:tc>
                  <a:txBody>
                    <a:bodyPr wrap="square"/>
                    <a:lstStyle/>
                    <a:p>
                      <a:r>
                        <a:rPr sz="1000" b="0">
                          <a:solidFill>
                            <a:srgbClr val="282828"/>
                          </a:solidFill>
                          <a:latin typeface="Arial"/>
                        </a:rPr>
                        <a:t>compensator plate</a:t>
                      </a:r>
                    </a:p>
                  </a:txBody>
                  <a:tcPr marL="54864" marR="54864" marT="18288" marB="18288">
                    <a:solidFill>
                      <a:srgbClr val="ECF1F6"/>
                    </a:solidFill>
                  </a:tcPr>
                </a:tc>
                <a:tc>
                  <a:txBody>
                    <a:bodyPr wrap="square"/>
                    <a:lstStyle/>
                    <a:p>
                      <a:r>
                        <a:rPr sz="1000" b="0">
                          <a:solidFill>
                            <a:srgbClr val="282828"/>
                          </a:solidFill>
                          <a:latin typeface="Arial"/>
                        </a:rPr>
                        <a:t>matched to the splitter</a:t>
                      </a:r>
                    </a:p>
                  </a:txBody>
                  <a:tcPr marL="54864" marR="54864" marT="18288" marB="18288">
                    <a:solidFill>
                      <a:srgbClr val="ECF1F6"/>
                    </a:solidFill>
                  </a:tcPr>
                </a:tc>
              </a:tr>
              <a:tr h="605790">
                <a:tc>
                  <a:txBody>
                    <a:bodyPr wrap="square"/>
                    <a:lstStyle/>
                    <a:p>
                      <a:r>
                        <a:rPr sz="1000" b="0">
                          <a:solidFill>
                            <a:srgbClr val="282828"/>
                          </a:solidFill>
                          <a:latin typeface="Arial"/>
                        </a:rPr>
                        <a:t>snapshot form: input polarizer, two arm quarter-wave plates, output quarter-wave plate, analyzer</a:t>
                      </a:r>
                    </a:p>
                  </a:txBody>
                  <a:tcPr marL="54864" marR="54864" marT="18288" marB="18288">
                    <a:solidFill>
                      <a:srgbClr val="FFFFFF"/>
                    </a:solidFill>
                  </a:tcPr>
                </a:tc>
                <a:tc>
                  <a:txBody>
                    <a:bodyPr wrap="square"/>
                    <a:lstStyle/>
                    <a:p>
                      <a:r>
                        <a:rPr sz="1000" b="0">
                          <a:solidFill>
                            <a:srgbClr val="282828"/>
                          </a:solidFill>
                          <a:latin typeface="Arial"/>
                        </a:rPr>
                        <a:t>zero-order plates on 2-3 mm substrates (to be modeled); azimuths 45 / 0 / 45 / 0 / 0°</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4 (snapshot: at once; piezo: in sequence)</a:t>
                      </a:r>
                    </a:p>
                  </a:txBody>
                  <a:tcPr marL="54864" marR="54864" marT="18288" marB="18288">
                    <a:solidFill>
                      <a:srgbClr val="ECF1F6"/>
                    </a:solidFill>
                  </a:tcPr>
                </a:tc>
              </a:tr>
            </a:tbl>
          </a:graphicData>
        </a:graphic>
      </p:graphicFrame>
      <p:sp>
        <p:nvSpPr>
          <p:cNvPr id="6" name="TextBox 5"/>
          <p:cNvSpPr txBox="1"/>
          <p:nvPr/>
        </p:nvSpPr>
        <p:spPr>
          <a:xfrm>
            <a:off x="6400800" y="32735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lens_deck, loop_lens, lens_deck_se2; the three phase-shift forms are priced in backup.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205553" y="1298448"/>
            <a:ext cx="5780588"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station by station</a:t>
            </a:r>
          </a:p>
          <a:p>
            <a:pPr>
              <a:spcAft>
                <a:spcPts val="0"/>
              </a:spcAft>
            </a:pPr>
            <a:r>
              <a:rPr sz="1250" b="0">
                <a:solidFill>
                  <a:srgbClr val="6E6E6E"/>
                </a:solidFill>
                <a:latin typeface="Arial"/>
              </a:rPr>
              <a:t>The key signals along the train for the flat mirror and for the 30 nm working surface, on the redesigned mirror rig: the absolute map is within 2% of the engine's field, the differential rows within 2.4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noap_stations.png"/>
          <p:cNvPicPr>
            <a:picLocks noChangeAspect="1"/>
          </p:cNvPicPr>
          <p:nvPr/>
        </p:nvPicPr>
        <p:blipFill>
          <a:blip r:embed="rId2"/>
          <a:stretch>
            <a:fillRect/>
          </a:stretch>
        </p:blipFill>
        <p:spPr>
          <a:xfrm>
            <a:off x="2026767" y="1298448"/>
            <a:ext cx="8138160" cy="2531872"/>
          </a:xfrm>
          <a:prstGeom prst="rect">
            <a:avLst/>
          </a:prstGeom>
        </p:spPr>
      </p:pic>
      <p:sp>
        <p:nvSpPr>
          <p:cNvPr id="5" name="TextBox 4"/>
          <p:cNvSpPr txBox="1"/>
          <p:nvPr/>
        </p:nvSpPr>
        <p:spPr>
          <a:xfrm>
            <a:off x="411480" y="3848608"/>
            <a:ext cx="11368735" cy="394208"/>
          </a:xfrm>
          <a:prstGeom prst="rect">
            <a:avLst/>
          </a:prstGeom>
          <a:noFill/>
        </p:spPr>
        <p:txBody>
          <a:bodyPr wrap="square">
            <a:spAutoFit/>
          </a:bodyPr>
          <a:lstStyle/>
          <a:p>
            <a:pPr algn="ctr">
              <a:spcAft>
                <a:spcPts val="0"/>
              </a:spcAft>
            </a:pPr>
            <a:r>
              <a:rPr sz="1000" b="0">
                <a:solidFill>
                  <a:srgbClr val="6E6E6E"/>
                </a:solidFill>
                <a:latin typeface="Arial"/>
              </a:rPr>
              <a:t>Two rows (the flat mirror, the 30 nm rms working surface) by seven stations: the mirror command, the test-arm field at the camera, the reference-arm field, two of the four phase-stepped frames (0 and π/2), the surface recovered from the four-step, and the recovered map minus the engine's own field.  The runner's own figure from the servo run.</a:t>
            </a:r>
          </a:p>
        </p:txBody>
      </p:sp>
      <p:sp>
        <p:nvSpPr>
          <p:cNvPr id="6" name="TextBox 5"/>
          <p:cNvSpPr txBox="1"/>
          <p:nvPr/>
        </p:nvSpPr>
        <p:spPr>
          <a:xfrm>
            <a:off x="411480" y="4279392"/>
            <a:ext cx="11368735" cy="274320"/>
          </a:xfrm>
          <a:prstGeom prst="rect">
            <a:avLst/>
          </a:prstGeom>
          <a:noFill/>
        </p:spPr>
        <p:txBody>
          <a:bodyPr wrap="square">
            <a:spAutoFit/>
          </a:bodyPr>
          <a:lstStyle/>
          <a:p>
            <a:pPr>
              <a:spcAft>
                <a:spcPts val="600"/>
              </a:spcAft>
            </a:pPr>
            <a:r>
              <a:rPr sz="1500" b="0">
                <a:solidFill>
                  <a:srgbClr val="282828"/>
                </a:solidFill>
                <a:latin typeface="Arial"/>
              </a:rPr>
              <a:t>•  The residual column is the absolute read against the engine: 0.00 pm on the flat, 626 pm on the 30 nm surface (2% of the figure); the differential rows the servo uses read the same surface's changes to 2.4 pm, which is why the matrix is measured on the surface.</a:t>
            </a:r>
          </a:p>
        </p:txBody>
      </p:sp>
      <p:sp>
        <p:nvSpPr>
          <p:cNvPr id="7" name="TextBox 6"/>
          <p:cNvSpPr txBox="1"/>
          <p:nvPr/>
        </p:nvSpPr>
        <p:spPr>
          <a:xfrm>
            <a:off x="411480" y="5199126"/>
            <a:ext cx="11368735" cy="274320"/>
          </a:xfrm>
          <a:prstGeom prst="rect">
            <a:avLst/>
          </a:prstGeom>
          <a:noFill/>
        </p:spPr>
        <p:txBody>
          <a:bodyPr wrap="square">
            <a:spAutoFit/>
          </a:bodyPr>
          <a:lstStyle/>
          <a:p>
            <a:pPr>
              <a:spcAft>
                <a:spcPts val="600"/>
              </a:spcAft>
            </a:pPr>
            <a:r>
              <a:rPr sz="1050" b="0">
                <a:solidFill>
                  <a:srgbClr val="6E6E6E"/>
                </a:solidFill>
                <a:latin typeface="Arial"/>
              </a:rPr>
              <a:t>Run tag stnoap (the redesigned mirror rig, seed detector leg; bit-identical to the servo run's figure).  The lens rig's figure exists but its residual panel reads 62 nm against the engine, a misregistration under investigation, so it is not shown.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pupil image quality</a:t>
            </a:r>
          </a:p>
          <a:p>
            <a:pPr>
              <a:spcAft>
                <a:spcPts val="0"/>
              </a:spcAft>
            </a:pPr>
            <a:r>
              <a:rPr sz="1250" b="0">
                <a:solidFill>
                  <a:srgbClr val="6E6E6E"/>
                </a:solidFill>
                <a:latin typeface="Arial"/>
              </a:rPr>
              <a:t>The camera sees the DM sharply on both front ends; against a single global mapping the image is distorted by a third of a pitch at the edge on lenses and most of a pitch on mirrors, which the measured response matrix absorbs and a geometric mapping would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q_lens_pupil.png"/>
          <p:cNvPicPr>
            <a:picLocks noChangeAspect="1"/>
          </p:cNvPicPr>
          <p:nvPr/>
        </p:nvPicPr>
        <p:blipFill>
          <a:blip r:embed="rId2"/>
          <a:srcRect l="7850" r="7850" b="4270"/>
          <a:stretch>
            <a:fillRect/>
          </a:stretch>
        </p:blipFill>
        <p:spPr>
          <a:xfrm>
            <a:off x="0" y="1298448"/>
            <a:ext cx="6400800" cy="3273552"/>
          </a:xfrm>
          <a:prstGeom prst="rect">
            <a:avLst/>
          </a:prstGeom>
        </p:spPr>
      </p:pic>
      <p:sp>
        <p:nvSpPr>
          <p:cNvPr id="5" name="TextBox 4"/>
          <p:cNvSpPr txBox="1"/>
          <p:nvPr/>
        </p:nvSpPr>
        <p:spPr>
          <a:xfrm>
            <a:off x="402336" y="5193792"/>
            <a:ext cx="6400800" cy="559307"/>
          </a:xfrm>
          <a:prstGeom prst="rect">
            <a:avLst/>
          </a:prstGeom>
          <a:noFill/>
        </p:spPr>
        <p:txBody>
          <a:bodyPr wrap="square">
            <a:spAutoFit/>
          </a:bodyPr>
          <a:lstStyle/>
          <a:p>
            <a:pPr algn="ctr">
              <a:spcAft>
                <a:spcPts val="0"/>
              </a:spcAft>
            </a:pPr>
            <a:r>
              <a:rPr sz="1000" b="0">
                <a:solidFill>
                  <a:srgbClr val="6E6E6E"/>
                </a:solidFill>
                <a:latin typeface="Arial"/>
              </a:rPr>
              <a:t>The DM's image at the camera on the lens rig, the DM as the stop: left, distortion against the global affine (arrows ×3, DM mm); right, the blur of each zone's image over the band of tilts the DM can make.  The runner's own figure.</a:t>
            </a:r>
          </a:p>
        </p:txBody>
      </p:sp>
      <p:graphicFrame>
        <p:nvGraphicFramePr>
          <p:cNvPr id="6" name="Table 5"/>
          <p:cNvGraphicFramePr>
            <a:graphicFrameLocks noGrp="1"/>
          </p:cNvGraphicFramePr>
          <p:nvPr/>
        </p:nvGraphicFramePr>
        <p:xfrm>
          <a:off x="6400800" y="1298448"/>
          <a:ext cx="5394958" cy="1314450"/>
        </p:xfrm>
        <a:graphic>
          <a:graphicData uri="http://schemas.openxmlformats.org/drawingml/2006/table">
            <a:tbl>
              <a:tblPr firstRow="1" bandRow="1">
                <a:tableStyleId>{5C22544A-7EE6-4342-B048-85BDC9FD1C3A}</a:tableStyleId>
              </a:tblPr>
              <a:tblGrid>
                <a:gridCol w="3159202"/>
                <a:gridCol w="1098853"/>
                <a:gridCol w="1136903"/>
              </a:tblGrid>
              <a:tr h="262890">
                <a:tc>
                  <a:txBody>
                    <a:bodyPr wrap="square"/>
                    <a:lstStyle/>
                    <a:p>
                      <a:r>
                        <a:rPr sz="1000" b="1">
                          <a:solidFill>
                            <a:srgbClr val="FFFFFF"/>
                          </a:solidFill>
                          <a:latin typeface="Arial"/>
                        </a:rPr>
                        <a:t>DM mm unless stated</a:t>
                      </a:r>
                    </a:p>
                  </a:txBody>
                  <a:tcPr marL="54864" marR="54864" marT="18288" marB="18288">
                    <a:solidFill>
                      <a:srgbClr val="1F4E79"/>
                    </a:solidFill>
                  </a:tcPr>
                </a:tc>
                <a:tc>
                  <a:txBody>
                    <a:bodyPr wrap="square"/>
                    <a:lstStyle/>
                    <a:p>
                      <a:r>
                        <a:rPr sz="1000" b="1">
                          <a:solidFill>
                            <a:srgbClr val="FFFFFF"/>
                          </a:solidFill>
                          <a:latin typeface="Arial"/>
                        </a:rPr>
                        <a:t>lens rig</a:t>
                      </a:r>
                    </a:p>
                  </a:txBody>
                  <a:tcPr marL="54864" marR="54864" marT="18288" marB="18288">
                    <a:solidFill>
                      <a:srgbClr val="1F4E79"/>
                    </a:solidFill>
                  </a:tcPr>
                </a:tc>
                <a:tc>
                  <a:txBody>
                    <a:bodyPr wrap="square"/>
                    <a:lstStyle/>
                    <a:p>
                      <a:r>
                        <a:rPr sz="1000" b="1">
                          <a:solidFill>
                            <a:srgbClr val="FFFFFF"/>
                          </a:solidFill>
                          <a:latin typeface="Arial"/>
                        </a:rPr>
                        <a:t>mirror rig</a:t>
                      </a:r>
                    </a:p>
                  </a:txBody>
                  <a:tcPr marL="54864" marR="54864" marT="18288" marB="18288">
                    <a:solidFill>
                      <a:srgbClr val="1F4E79"/>
                    </a:solidFill>
                  </a:tcPr>
                </a:tc>
              </a:tr>
              <a:tr h="262890">
                <a:tc>
                  <a:txBody>
                    <a:bodyPr wrap="square"/>
                    <a:lstStyle/>
                    <a:p>
                      <a:r>
                        <a:rPr sz="1000" b="0">
                          <a:solidFill>
                            <a:srgbClr val="282828"/>
                          </a:solidFill>
                          <a:latin typeface="Arial"/>
                        </a:rPr>
                        <a:t>distortion vs one affine: rms / edge</a:t>
                      </a:r>
                    </a:p>
                  </a:txBody>
                  <a:tcPr marL="54864" marR="54864" marT="18288" marB="18288">
                    <a:solidFill>
                      <a:srgbClr val="FFFFFF"/>
                    </a:solidFill>
                  </a:tcPr>
                </a:tc>
                <a:tc>
                  <a:txBody>
                    <a:bodyPr wrap="square"/>
                    <a:lstStyle/>
                    <a:p>
                      <a:r>
                        <a:rPr sz="1000" b="0">
                          <a:solidFill>
                            <a:srgbClr val="282828"/>
                          </a:solidFill>
                          <a:latin typeface="Arial"/>
                        </a:rPr>
                        <a:t>0.13 / 0.30</a:t>
                      </a:r>
                    </a:p>
                  </a:txBody>
                  <a:tcPr marL="54864" marR="54864" marT="18288" marB="18288">
                    <a:solidFill>
                      <a:srgbClr val="FFFFFF"/>
                    </a:solidFill>
                  </a:tcPr>
                </a:tc>
                <a:tc>
                  <a:txBody>
                    <a:bodyPr wrap="square"/>
                    <a:lstStyle/>
                    <a:p>
                      <a:r>
                        <a:rPr sz="1000" b="0">
                          <a:solidFill>
                            <a:srgbClr val="282828"/>
                          </a:solidFill>
                          <a:latin typeface="Arial"/>
                        </a:rPr>
                        <a:t>0.45 / 0.85</a:t>
                      </a:r>
                    </a:p>
                  </a:txBody>
                  <a:tcPr marL="54864" marR="54864" marT="18288" marB="18288">
                    <a:solidFill>
                      <a:srgbClr val="FFFFFF"/>
                    </a:solidFill>
                  </a:tcPr>
                </a:tc>
              </a:tr>
              <a:tr h="262890">
                <a:tc>
                  <a:txBody>
                    <a:bodyPr wrap="square"/>
                    <a:lstStyle/>
                    <a:p>
                      <a:r>
                        <a:rPr sz="1000" b="0">
                          <a:solidFill>
                            <a:srgbClr val="282828"/>
                          </a:solidFill>
                          <a:latin typeface="Arial"/>
                        </a:rPr>
                        <a:t>blur over the actuator band: rms / max</a:t>
                      </a:r>
                    </a:p>
                  </a:txBody>
                  <a:tcPr marL="54864" marR="54864" marT="18288" marB="18288">
                    <a:solidFill>
                      <a:srgbClr val="ECF1F6"/>
                    </a:solidFill>
                  </a:tcPr>
                </a:tc>
                <a:tc>
                  <a:txBody>
                    <a:bodyPr wrap="square"/>
                    <a:lstStyle/>
                    <a:p>
                      <a:r>
                        <a:rPr sz="1000" b="0">
                          <a:solidFill>
                            <a:srgbClr val="282828"/>
                          </a:solidFill>
                          <a:latin typeface="Arial"/>
                        </a:rPr>
                        <a:t>0.023 / 0.060</a:t>
                      </a:r>
                    </a:p>
                  </a:txBody>
                  <a:tcPr marL="54864" marR="54864" marT="18288" marB="18288">
                    <a:solidFill>
                      <a:srgbClr val="ECF1F6"/>
                    </a:solidFill>
                  </a:tcPr>
                </a:tc>
                <a:tc>
                  <a:txBody>
                    <a:bodyPr wrap="square"/>
                    <a:lstStyle/>
                    <a:p>
                      <a:r>
                        <a:rPr sz="1000" b="0">
                          <a:solidFill>
                            <a:srgbClr val="282828"/>
                          </a:solidFill>
                          <a:latin typeface="Arial"/>
                        </a:rPr>
                        <a:t>0.032 / 0.093</a:t>
                      </a:r>
                    </a:p>
                  </a:txBody>
                  <a:tcPr marL="54864" marR="54864" marT="18288" marB="18288">
                    <a:solidFill>
                      <a:srgbClr val="ECF1F6"/>
                    </a:solidFill>
                  </a:tcPr>
                </a:tc>
              </a:tr>
              <a:tr h="262890">
                <a:tc>
                  <a:txBody>
                    <a:bodyPr wrap="square"/>
                    <a:lstStyle/>
                    <a:p>
                      <a:r>
                        <a:rPr sz="1000" b="0">
                          <a:solidFill>
                            <a:srgbClr val="282828"/>
                          </a:solidFill>
                          <a:latin typeface="Arial"/>
                        </a:rPr>
                        <a:t>image surface: defocus / tilt (mm of sag)</a:t>
                      </a:r>
                    </a:p>
                  </a:txBody>
                  <a:tcPr marL="54864" marR="54864" marT="18288" marB="18288">
                    <a:solidFill>
                      <a:srgbClr val="FFFFFF"/>
                    </a:solidFill>
                  </a:tcPr>
                </a:tc>
                <a:tc>
                  <a:txBody>
                    <a:bodyPr wrap="square"/>
                    <a:lstStyle/>
                    <a:p>
                      <a:r>
                        <a:rPr sz="1000" b="0">
                          <a:solidFill>
                            <a:srgbClr val="282828"/>
                          </a:solidFill>
                          <a:latin typeface="Arial"/>
                        </a:rPr>
                        <a:t>3.8 / 0.0</a:t>
                      </a:r>
                    </a:p>
                  </a:txBody>
                  <a:tcPr marL="54864" marR="54864" marT="18288" marB="18288">
                    <a:solidFill>
                      <a:srgbClr val="FFFFFF"/>
                    </a:solidFill>
                  </a:tcPr>
                </a:tc>
                <a:tc>
                  <a:txBody>
                    <a:bodyPr wrap="square"/>
                    <a:lstStyle/>
                    <a:p>
                      <a:r>
                        <a:rPr sz="1000" b="0">
                          <a:solidFill>
                            <a:srgbClr val="282828"/>
                          </a:solidFill>
                          <a:latin typeface="Arial"/>
                        </a:rPr>
                        <a:t>-0.5 / 0.45</a:t>
                      </a:r>
                    </a:p>
                  </a:txBody>
                  <a:tcPr marL="54864" marR="54864" marT="18288" marB="18288">
                    <a:solidFill>
                      <a:srgbClr val="FFFFFF"/>
                    </a:solidFill>
                  </a:tcPr>
                </a:tc>
              </a:tr>
              <a:tr h="262890">
                <a:tc>
                  <a:txBody>
                    <a:bodyPr wrap="square"/>
                    <a:lstStyle/>
                    <a:p>
                      <a:r>
                        <a:rPr sz="1000" b="0">
                          <a:solidFill>
                            <a:srgbClr val="282828"/>
                          </a:solidFill>
                          <a:latin typeface="Arial"/>
                        </a:rPr>
                        <a:t>focal spot on axis / at the actuator-band tilt</a:t>
                      </a:r>
                    </a:p>
                  </a:txBody>
                  <a:tcPr marL="54864" marR="54864" marT="18288" marB="18288">
                    <a:solidFill>
                      <a:srgbClr val="ECF1F6"/>
                    </a:solidFill>
                  </a:tcPr>
                </a:tc>
                <a:tc>
                  <a:txBody>
                    <a:bodyPr wrap="square"/>
                    <a:lstStyle/>
                    <a:p>
                      <a:r>
                        <a:rPr sz="1000" b="0">
                          <a:solidFill>
                            <a:srgbClr val="282828"/>
                          </a:solidFill>
                          <a:latin typeface="Arial"/>
                        </a:rPr>
                        <a:t>0.16 / 0.16 λF/D</a:t>
                      </a:r>
                    </a:p>
                  </a:txBody>
                  <a:tcPr marL="54864" marR="54864" marT="18288" marB="18288">
                    <a:solidFill>
                      <a:srgbClr val="ECF1F6"/>
                    </a:solidFill>
                  </a:tcPr>
                </a:tc>
                <a:tc>
                  <a:txBody>
                    <a:bodyPr wrap="square"/>
                    <a:lstStyle/>
                    <a:p>
                      <a:r>
                        <a:rPr sz="1000" b="0">
                          <a:solidFill>
                            <a:srgbClr val="282828"/>
                          </a:solidFill>
                          <a:latin typeface="Arial"/>
                        </a:rPr>
                        <a:t>0.00 / 2.3 λF/D</a:t>
                      </a:r>
                    </a:p>
                  </a:txBody>
                  <a:tcPr marL="54864" marR="54864" marT="18288" marB="18288">
                    <a:solidFill>
                      <a:srgbClr val="ECF1F6"/>
                    </a:solidFill>
                  </a:tcPr>
                </a:tc>
              </a:tr>
            </a:tbl>
          </a:graphicData>
        </a:graphic>
      </p:graphicFrame>
      <p:sp>
        <p:nvSpPr>
          <p:cNvPr id="7" name="TextBox 6"/>
          <p:cNvSpPr txBox="1"/>
          <p:nvPr/>
        </p:nvSpPr>
        <p:spPr>
          <a:xfrm>
            <a:off x="6400800" y="2759202"/>
            <a:ext cx="5394960" cy="274320"/>
          </a:xfrm>
          <a:prstGeom prst="rect">
            <a:avLst/>
          </a:prstGeom>
          <a:noFill/>
        </p:spPr>
        <p:txBody>
          <a:bodyPr wrap="square">
            <a:spAutoFit/>
          </a:bodyPr>
          <a:lstStyle/>
          <a:p>
            <a:pPr>
              <a:spcAft>
                <a:spcPts val="600"/>
              </a:spcAft>
            </a:pPr>
            <a:r>
              <a:rPr sz="1400" b="0">
                <a:solidFill>
                  <a:srgbClr val="282828"/>
                </a:solidFill>
                <a:latin typeface="Arial"/>
              </a:rPr>
              <a:t>•  Method: the DM declared the stop; the field a tilt about it (a spatial frequency on its surface); two traces a small field step apart cross at each zone's image at the camera; scored in DM millimeters against the 1 mm pitch and the 0.4 mm pixel.</a:t>
            </a:r>
          </a:p>
          <a:p>
            <a:pPr>
              <a:spcAft>
                <a:spcPts val="600"/>
              </a:spcAft>
            </a:pPr>
            <a:r>
              <a:rPr sz="1400" b="0">
                <a:solidFill>
                  <a:srgbClr val="282828"/>
                </a:solidFill>
                <a:latin typeface="Arial"/>
              </a:rPr>
              <a:t>•  The mirror rig's focus is perfect on axis and coma-limited off it (2.3 λF/D at the actuator-band tilt); not a pupil-image or mask-sensor cost, a number to know for any off-axis reading at the seat.</a:t>
            </a:r>
          </a:p>
        </p:txBody>
      </p:sp>
      <p:sp>
        <p:nvSpPr>
          <p:cNvPr id="8" name="TextBox 7"/>
          <p:cNvSpPr txBox="1"/>
          <p:nvPr/>
        </p:nvSpPr>
        <p:spPr>
          <a:xfrm>
            <a:off x="6400800" y="5184648"/>
            <a:ext cx="5394960" cy="274320"/>
          </a:xfrm>
          <a:prstGeom prst="rect">
            <a:avLst/>
          </a:prstGeom>
          <a:noFill/>
        </p:spPr>
        <p:txBody>
          <a:bodyPr wrap="square">
            <a:spAutoFit/>
          </a:bodyPr>
          <a:lstStyle/>
          <a:p>
            <a:pPr>
              <a:spcAft>
                <a:spcPts val="600"/>
              </a:spcAft>
            </a:pPr>
            <a:r>
              <a:rPr sz="1050" b="0">
                <a:solidFill>
                  <a:srgbClr val="6E6E6E"/>
                </a:solidFill>
                <a:latin typeface="Arial"/>
              </a:rPr>
              <a:t>Run tags pupilq_lens, pupilq_oap (tg96_pupilq, model 512); tg_psi_dm96_oap/REPORT_bench_realism.md section 6.  Requested by Fang Shi.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question: must the pupil imaging be simulated, and how?</a:t>
            </a:r>
          </a:p>
          <a:p>
            <a:pPr>
              <a:spcAft>
                <a:spcPts val="0"/>
              </a:spcAft>
            </a:pPr>
            <a:r>
              <a:rPr sz="1250" b="0">
                <a:solidFill>
                  <a:srgbClr val="6E6E6E"/>
                </a:solidFill>
                <a:latin typeface="Arial"/>
              </a:rPr>
              <a:t>Is it possible or even necessary to simulate the effect of the pupil imaging geometry on the pupil images of the DM?  Convolve the pupil image with the complex amplitude?  (Dave, 2026-09-16)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800" b="0">
                <a:solidFill>
                  <a:srgbClr val="282828"/>
                </a:solidFill>
                <a:latin typeface="Arial"/>
              </a:rPr>
              <a:t>•  The right model is coherent imaging: the field at the camera is the field at the DM convolved with the complex point-spread function of the detector leg; equivalently, the leg's transfer function at a DM spatial frequency is the aperture function at the matching focal-plane position, phase included.  A convolution of the intensity image would be wrong; a convolution of complex amplitudes is the Fourier statement of the same thing.</a:t>
            </a:r>
          </a:p>
          <a:p>
            <a:pPr>
              <a:spcAft>
                <a:spcPts val="600"/>
              </a:spcAft>
            </a:pPr>
            <a:r>
              <a:rPr sz="1800" b="0">
                <a:solidFill>
                  <a:srgbClr val="282828"/>
                </a:solidFill>
                <a:latin typeface="Arial"/>
              </a:rPr>
              <a:t>•  For the mask sensors it is already in the runner: the mask sandwich propagates the field to the seat, applies the mask, and propagates back to the pupil image, mask shape and all.</a:t>
            </a:r>
          </a:p>
          <a:p>
            <a:pPr>
              <a:spcAft>
                <a:spcPts val="600"/>
              </a:spcAft>
            </a:pPr>
            <a:r>
              <a:rPr sz="1800" b="0">
                <a:solidFill>
                  <a:srgbClr val="282828"/>
                </a:solidFill>
                <a:latin typeface="Arial"/>
              </a:rPr>
              <a:t>•  For the interferometer the aperture at the focus is wide (the field lens, 21 mm at F/4.2: a coherent resolution of 13 µm at the DM against a 1 mm pitch), so the leg's resolution is not the question.  What is: the phase of the transfer function over the actuator band, set by how far each zone's image lies from the camera plane.  That is simulated on the next slide.</a:t>
            </a:r>
          </a:p>
          <a:p>
            <a:pPr>
              <a:spcAft>
                <a:spcPts val="600"/>
              </a:spcAft>
            </a:pPr>
            <a:r>
              <a:rPr sz="1800" b="0">
                <a:solidFill>
                  <a:srgbClr val="282828"/>
                </a:solidFill>
                <a:latin typeface="Arial"/>
              </a:rPr>
              <a:t>•  When a small field stop sits at the focus (a spatial filter of a few λ/D), the pupil image is low-pass filtered and actuator responses blur; then one aperture element at the seat through the existing sandwich answers it in one run.</a:t>
            </a:r>
          </a:p>
        </p:txBody>
      </p:sp>
      <p:sp>
        <p:nvSpPr>
          <p:cNvPr id="5" name="TextBox 4"/>
          <p:cNvSpPr txBox="1"/>
          <p:nvPr/>
        </p:nvSpPr>
        <p:spPr>
          <a:xfrm>
            <a:off x="411480" y="5660136"/>
            <a:ext cx="11368735" cy="274320"/>
          </a:xfrm>
          <a:prstGeom prst="rect">
            <a:avLst/>
          </a:prstGeom>
          <a:noFill/>
        </p:spPr>
        <p:txBody>
          <a:bodyPr wrap="square">
            <a:spAutoFit/>
          </a:bodyPr>
          <a:lstStyle/>
          <a:p>
            <a:pPr>
              <a:spcAft>
                <a:spcPts val="600"/>
              </a:spcAft>
            </a:pPr>
            <a:r>
              <a:rPr sz="1050" b="0">
                <a:solidFill>
                  <a:srgbClr val="6E6E6E"/>
                </a:solidFill>
                <a:latin typeface="Arial"/>
              </a:rPr>
              <a:t>The answer as given on 2026-09-16, before the simulation; the next slide supersedes its "not needed" with numbers.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Pupil imaging: the DM's modes through the detector leg</a:t>
            </a:r>
          </a:p>
          <a:p>
            <a:pPr>
              <a:spcAft>
                <a:spcPts val="0"/>
              </a:spcAft>
            </a:pPr>
            <a:r>
              <a:rPr sz="1250" b="0">
                <a:solidFill>
                  <a:srgbClr val="6E6E6E"/>
                </a:solidFill>
                <a:latin typeface="Arial"/>
              </a:rPr>
              <a:t>The leg's point-spread function, zone by zone from the rays, applied to the DM's field and read out as the interferometer reads: every mode is observable; the lens rig's camera is not at the pupil image, and 4 mm fixes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sim_lens_gain.png"/>
          <p:cNvPicPr>
            <a:picLocks noChangeAspect="1"/>
          </p:cNvPicPr>
          <p:nvPr/>
        </p:nvPicPr>
        <p:blipFill>
          <a:blip r:embed="rId2"/>
          <a:srcRect l="8740" r="8080" b="1760"/>
          <a:stretch>
            <a:fillRect/>
          </a:stretch>
        </p:blipFill>
        <p:spPr>
          <a:xfrm>
            <a:off x="45720" y="1691640"/>
            <a:ext cx="6967728" cy="2743200"/>
          </a:xfrm>
          <a:prstGeom prst="rect">
            <a:avLst/>
          </a:prstGeom>
        </p:spPr>
      </p:pic>
      <p:sp>
        <p:nvSpPr>
          <p:cNvPr id="5" name="TextBox 4"/>
          <p:cNvSpPr txBox="1"/>
          <p:nvPr/>
        </p:nvSpPr>
        <p:spPr>
          <a:xfrm>
            <a:off x="411480" y="5394960"/>
            <a:ext cx="6967728" cy="559307"/>
          </a:xfrm>
          <a:prstGeom prst="rect">
            <a:avLst/>
          </a:prstGeom>
          <a:noFill/>
        </p:spPr>
        <p:txBody>
          <a:bodyPr wrap="square">
            <a:spAutoFit/>
          </a:bodyPr>
          <a:lstStyle/>
          <a:p>
            <a:pPr algn="ctr">
              <a:spcAft>
                <a:spcPts val="0"/>
              </a:spcAft>
            </a:pPr>
            <a:r>
              <a:rPr sz="1000" b="0">
                <a:solidFill>
                  <a:srgbClr val="6E6E6E"/>
                </a:solidFill>
                <a:latin typeface="Arial"/>
              </a:rPr>
              <a:t>Phase gain (recovered over true) versus pupil radius on the lens rig for DM sinusoids at 2, 4, 8 and 16 mm period, at the camera plane as built (left) and 4.3 mm downstream (middle); right, the amplitude cross-talk the four-step ignores.  The runner's own figure.</a:t>
            </a:r>
          </a:p>
        </p:txBody>
      </p:sp>
      <p:graphicFrame>
        <p:nvGraphicFramePr>
          <p:cNvPr id="6" name="Table 5"/>
          <p:cNvGraphicFramePr>
            <a:graphicFrameLocks noGrp="1"/>
          </p:cNvGraphicFramePr>
          <p:nvPr/>
        </p:nvGraphicFramePr>
        <p:xfrm>
          <a:off x="7086600" y="1298448"/>
          <a:ext cx="4709159" cy="1223010"/>
        </p:xfrm>
        <a:graphic>
          <a:graphicData uri="http://schemas.openxmlformats.org/drawingml/2006/table">
            <a:tbl>
              <a:tblPr firstRow="1" bandRow="1">
                <a:tableStyleId>{5C22544A-7EE6-4342-B048-85BDC9FD1C3A}</a:tableStyleId>
              </a:tblPr>
              <a:tblGrid>
                <a:gridCol w="2045023"/>
                <a:gridCol w="542544"/>
                <a:gridCol w="476504"/>
                <a:gridCol w="476504"/>
                <a:gridCol w="1168584"/>
              </a:tblGrid>
              <a:tr h="434340">
                <a:tc>
                  <a:txBody>
                    <a:bodyPr wrap="square"/>
                    <a:lstStyle/>
                    <a:p>
                      <a:r>
                        <a:rPr sz="1000" b="1">
                          <a:solidFill>
                            <a:srgbClr val="FFFFFF"/>
                          </a:solidFill>
                          <a:latin typeface="Arial"/>
                        </a:rPr>
                        <a:t>gain at the actuator Nyquist (2 mm)</a:t>
                      </a:r>
                    </a:p>
                  </a:txBody>
                  <a:tcPr marL="54864" marR="54864" marT="18288" marB="18288">
                    <a:solidFill>
                      <a:srgbClr val="1F4E79"/>
                    </a:solidFill>
                  </a:tcPr>
                </a:tc>
                <a:tc>
                  <a:txBody>
                    <a:bodyPr wrap="square"/>
                    <a:lstStyle/>
                    <a:p>
                      <a:r>
                        <a:rPr sz="1000" b="1">
                          <a:solidFill>
                            <a:srgbClr val="FFFFFF"/>
                          </a:solidFill>
                          <a:latin typeface="Arial"/>
                        </a:rPr>
                        <a:t>center</a:t>
                      </a:r>
                    </a:p>
                  </a:txBody>
                  <a:tcPr marL="54864" marR="54864" marT="18288" marB="18288">
                    <a:solidFill>
                      <a:srgbClr val="1F4E79"/>
                    </a:solidFill>
                  </a:tcPr>
                </a:tc>
                <a:tc>
                  <a:txBody>
                    <a:bodyPr wrap="square"/>
                    <a:lstStyle/>
                    <a:p>
                      <a:r>
                        <a:rPr sz="1000" b="1">
                          <a:solidFill>
                            <a:srgbClr val="FFFFFF"/>
                          </a:solidFill>
                          <a:latin typeface="Arial"/>
                        </a:rPr>
                        <a:t>edge</a:t>
                      </a:r>
                    </a:p>
                  </a:txBody>
                  <a:tcPr marL="54864" marR="54864" marT="18288" marB="18288">
                    <a:solidFill>
                      <a:srgbClr val="1F4E79"/>
                    </a:solidFill>
                  </a:tcPr>
                </a:tc>
                <a:tc>
                  <a:txBody>
                    <a:bodyPr wrap="square"/>
                    <a:lstStyle/>
                    <a:p>
                      <a:r>
                        <a:rPr sz="1000" b="1">
                          <a:solidFill>
                            <a:srgbClr val="FFFFFF"/>
                          </a:solidFill>
                          <a:latin typeface="Arial"/>
                        </a:rPr>
                        <a:t>worst</a:t>
                      </a:r>
                    </a:p>
                  </a:txBody>
                  <a:tcPr marL="54864" marR="54864" marT="18288" marB="18288">
                    <a:solidFill>
                      <a:srgbClr val="1F4E79"/>
                    </a:solidFill>
                  </a:tcPr>
                </a:tc>
                <a:tc>
                  <a:txBody>
                    <a:bodyPr wrap="square"/>
                    <a:lstStyle/>
                    <a:p>
                      <a:r>
                        <a:rPr sz="1000" b="1">
                          <a:solidFill>
                            <a:srgbClr val="FFFFFF"/>
                          </a:solidFill>
                          <a:latin typeface="Arial"/>
                        </a:rPr>
                        <a:t>30 nm surface, error</a:t>
                      </a:r>
                    </a:p>
                  </a:txBody>
                  <a:tcPr marL="54864" marR="54864" marT="18288" marB="18288">
                    <a:solidFill>
                      <a:srgbClr val="1F4E79"/>
                    </a:solidFill>
                  </a:tcPr>
                </a:tc>
              </a:tr>
              <a:tr h="262890">
                <a:tc>
                  <a:txBody>
                    <a:bodyPr wrap="square"/>
                    <a:lstStyle/>
                    <a:p>
                      <a:r>
                        <a:rPr sz="1000" b="0">
                          <a:solidFill>
                            <a:srgbClr val="282828"/>
                          </a:solidFill>
                          <a:latin typeface="Arial"/>
                        </a:rPr>
                        <a:t>lens rig, camera as built</a:t>
                      </a:r>
                    </a:p>
                  </a:txBody>
                  <a:tcPr marL="54864" marR="54864" marT="18288" marB="18288">
                    <a:solidFill>
                      <a:srgbClr val="FFFFFF"/>
                    </a:solidFill>
                  </a:tcPr>
                </a:tc>
                <a:tc>
                  <a:txBody>
                    <a:bodyPr wrap="square"/>
                    <a:lstStyle/>
                    <a:p>
                      <a:r>
                        <a:rPr sz="1000" b="0">
                          <a:solidFill>
                            <a:srgbClr val="282828"/>
                          </a:solidFill>
                          <a:latin typeface="Arial"/>
                        </a:rPr>
                        <a:t>0.990</a:t>
                      </a:r>
                    </a:p>
                  </a:txBody>
                  <a:tcPr marL="54864" marR="54864" marT="18288" marB="18288">
                    <a:solidFill>
                      <a:srgbClr val="FFFFFF"/>
                    </a:solidFill>
                  </a:tcPr>
                </a:tc>
                <a:tc>
                  <a:txBody>
                    <a:bodyPr wrap="square"/>
                    <a:lstStyle/>
                    <a:p>
                      <a:r>
                        <a:rPr sz="1000" b="0">
                          <a:solidFill>
                            <a:srgbClr val="282828"/>
                          </a:solidFill>
                          <a:latin typeface="Arial"/>
                        </a:rPr>
                        <a:t>0.973</a:t>
                      </a:r>
                    </a:p>
                  </a:txBody>
                  <a:tcPr marL="54864" marR="54864" marT="18288" marB="18288">
                    <a:solidFill>
                      <a:srgbClr val="FFFFFF"/>
                    </a:solidFill>
                  </a:tcPr>
                </a:tc>
                <a:tc>
                  <a:txBody>
                    <a:bodyPr wrap="square"/>
                    <a:lstStyle/>
                    <a:p>
                      <a:r>
                        <a:rPr sz="1000" b="0">
                          <a:solidFill>
                            <a:srgbClr val="282828"/>
                          </a:solidFill>
                          <a:latin typeface="Arial"/>
                        </a:rPr>
                        <a:t>0.954</a:t>
                      </a:r>
                    </a:p>
                  </a:txBody>
                  <a:tcPr marL="54864" marR="54864" marT="18288" marB="18288">
                    <a:solidFill>
                      <a:srgbClr val="FFFFFF"/>
                    </a:solidFill>
                  </a:tcPr>
                </a:tc>
                <a:tc>
                  <a:txBody>
                    <a:bodyPr wrap="square"/>
                    <a:lstStyle/>
                    <a:p>
                      <a:r>
                        <a:rPr sz="1000" b="0">
                          <a:solidFill>
                            <a:srgbClr val="282828"/>
                          </a:solidFill>
                          <a:latin typeface="Arial"/>
                        </a:rPr>
                        <a:t>1.2 nm</a:t>
                      </a:r>
                    </a:p>
                  </a:txBody>
                  <a:tcPr marL="54864" marR="54864" marT="18288" marB="18288">
                    <a:solidFill>
                      <a:srgbClr val="FFFFFF"/>
                    </a:solidFill>
                  </a:tcPr>
                </a:tc>
              </a:tr>
              <a:tr h="262890">
                <a:tc>
                  <a:txBody>
                    <a:bodyPr wrap="square"/>
                    <a:lstStyle/>
                    <a:p>
                      <a:r>
                        <a:rPr sz="1000" b="0">
                          <a:solidFill>
                            <a:srgbClr val="282828"/>
                          </a:solidFill>
                          <a:latin typeface="Arial"/>
                        </a:rPr>
                        <a:t>lens rig, camera +4.3 mm</a:t>
                      </a:r>
                    </a:p>
                  </a:txBody>
                  <a:tcPr marL="54864" marR="54864" marT="18288" marB="18288">
                    <a:solidFill>
                      <a:srgbClr val="ECF1F6"/>
                    </a:solidFill>
                  </a:tcPr>
                </a:tc>
                <a:tc>
                  <a:txBody>
                    <a:bodyPr wrap="square"/>
                    <a:lstStyle/>
                    <a:p>
                      <a:r>
                        <a:rPr sz="1000" b="0">
                          <a:solidFill>
                            <a:srgbClr val="282828"/>
                          </a:solidFill>
                          <a:latin typeface="Arial"/>
                        </a:rPr>
                        <a:t>0.997</a:t>
                      </a:r>
                    </a:p>
                  </a:txBody>
                  <a:tcPr marL="54864" marR="54864" marT="18288" marB="18288">
                    <a:solidFill>
                      <a:srgbClr val="ECF1F6"/>
                    </a:solidFill>
                  </a:tcPr>
                </a:tc>
                <a:tc>
                  <a:txBody>
                    <a:bodyPr wrap="square"/>
                    <a:lstStyle/>
                    <a:p>
                      <a:r>
                        <a:rPr sz="1000" b="0">
                          <a:solidFill>
                            <a:srgbClr val="282828"/>
                          </a:solidFill>
                          <a:latin typeface="Arial"/>
                        </a:rPr>
                        <a:t>0.998</a:t>
                      </a:r>
                    </a:p>
                  </a:txBody>
                  <a:tcPr marL="54864" marR="54864" marT="18288" marB="18288">
                    <a:solidFill>
                      <a:srgbClr val="ECF1F6"/>
                    </a:solidFill>
                  </a:tcPr>
                </a:tc>
                <a:tc>
                  <a:txBody>
                    <a:bodyPr wrap="square"/>
                    <a:lstStyle/>
                    <a:p>
                      <a:r>
                        <a:rPr sz="1000" b="0">
                          <a:solidFill>
                            <a:srgbClr val="282828"/>
                          </a:solidFill>
                          <a:latin typeface="Arial"/>
                        </a:rPr>
                        <a:t>0.993</a:t>
                      </a:r>
                    </a:p>
                  </a:txBody>
                  <a:tcPr marL="54864" marR="54864" marT="18288" marB="18288">
                    <a:solidFill>
                      <a:srgbClr val="ECF1F6"/>
                    </a:solidFill>
                  </a:tcPr>
                </a:tc>
                <a:tc>
                  <a:txBody>
                    <a:bodyPr wrap="square"/>
                    <a:lstStyle/>
                    <a:p>
                      <a:r>
                        <a:rPr sz="1000" b="0">
                          <a:solidFill>
                            <a:srgbClr val="282828"/>
                          </a:solidFill>
                          <a:latin typeface="Arial"/>
                        </a:rPr>
                        <a:t>0.4 nm</a:t>
                      </a:r>
                    </a:p>
                  </a:txBody>
                  <a:tcPr marL="54864" marR="54864" marT="18288" marB="18288">
                    <a:solidFill>
                      <a:srgbClr val="ECF1F6"/>
                    </a:solidFill>
                  </a:tcPr>
                </a:tc>
              </a:tr>
              <a:tr h="262890">
                <a:tc>
                  <a:txBody>
                    <a:bodyPr wrap="square"/>
                    <a:lstStyle/>
                    <a:p>
                      <a:r>
                        <a:rPr sz="1000" b="0">
                          <a:solidFill>
                            <a:srgbClr val="282828"/>
                          </a:solidFill>
                          <a:latin typeface="Arial"/>
                        </a:rPr>
                        <a:t>mirror rig, as built</a:t>
                      </a:r>
                    </a:p>
                  </a:txBody>
                  <a:tcPr marL="54864" marR="54864" marT="18288" marB="18288">
                    <a:solidFill>
                      <a:srgbClr val="FFFFFF"/>
                    </a:solidFill>
                  </a:tcPr>
                </a:tc>
                <a:tc>
                  <a:txBody>
                    <a:bodyPr wrap="square"/>
                    <a:lstStyle/>
                    <a:p>
                      <a:r>
                        <a:rPr sz="1000" b="0">
                          <a:solidFill>
                            <a:srgbClr val="282828"/>
                          </a:solidFill>
                          <a:latin typeface="Arial"/>
                        </a:rPr>
                        <a:t>1.000</a:t>
                      </a:r>
                    </a:p>
                  </a:txBody>
                  <a:tcPr marL="54864" marR="54864" marT="18288" marB="18288">
                    <a:solidFill>
                      <a:srgbClr val="FFFFFF"/>
                    </a:solidFill>
                  </a:tcPr>
                </a:tc>
                <a:tc>
                  <a:txBody>
                    <a:bodyPr wrap="square"/>
                    <a:lstStyle/>
                    <a:p>
                      <a:r>
                        <a:rPr sz="1000" b="0">
                          <a:solidFill>
                            <a:srgbClr val="282828"/>
                          </a:solidFill>
                          <a:latin typeface="Arial"/>
                        </a:rPr>
                        <a:t>0.999</a:t>
                      </a:r>
                    </a:p>
                  </a:txBody>
                  <a:tcPr marL="54864" marR="54864" marT="18288" marB="18288">
                    <a:solidFill>
                      <a:srgbClr val="FFFFFF"/>
                    </a:solidFill>
                  </a:tcPr>
                </a:tc>
                <a:tc>
                  <a:txBody>
                    <a:bodyPr wrap="square"/>
                    <a:lstStyle/>
                    <a:p>
                      <a:r>
                        <a:rPr sz="1000" b="0">
                          <a:solidFill>
                            <a:srgbClr val="282828"/>
                          </a:solidFill>
                          <a:latin typeface="Arial"/>
                        </a:rPr>
                        <a:t>0.997</a:t>
                      </a:r>
                    </a:p>
                  </a:txBody>
                  <a:tcPr marL="54864" marR="54864" marT="18288" marB="18288">
                    <a:solidFill>
                      <a:srgbClr val="FFFFFF"/>
                    </a:solidFill>
                  </a:tcPr>
                </a:tc>
                <a:tc>
                  <a:txBody>
                    <a:bodyPr wrap="square"/>
                    <a:lstStyle/>
                    <a:p>
                      <a:r>
                        <a:rPr sz="1000" b="0">
                          <a:solidFill>
                            <a:srgbClr val="282828"/>
                          </a:solidFill>
                          <a:latin typeface="Arial"/>
                        </a:rPr>
                        <a:t>0.2 nm</a:t>
                      </a:r>
                    </a:p>
                  </a:txBody>
                  <a:tcPr marL="54864" marR="54864" marT="18288" marB="18288">
                    <a:solidFill>
                      <a:srgbClr val="FFFFFF"/>
                    </a:solidFill>
                  </a:tcPr>
                </a:tc>
              </a:tr>
            </a:tbl>
          </a:graphicData>
        </a:graphic>
      </p:graphicFrame>
      <p:sp>
        <p:nvSpPr>
          <p:cNvPr id="7" name="TextBox 6"/>
          <p:cNvSpPr txBox="1"/>
          <p:nvPr/>
        </p:nvSpPr>
        <p:spPr>
          <a:xfrm>
            <a:off x="7086600" y="2496312"/>
            <a:ext cx="4709160" cy="274320"/>
          </a:xfrm>
          <a:prstGeom prst="rect">
            <a:avLst/>
          </a:prstGeom>
          <a:noFill/>
        </p:spPr>
        <p:txBody>
          <a:bodyPr wrap="square">
            <a:spAutoFit/>
          </a:bodyPr>
          <a:lstStyle/>
          <a:p>
            <a:pPr>
              <a:spcAft>
                <a:spcPts val="600"/>
              </a:spcAft>
            </a:pPr>
            <a:r>
              <a:rPr sz="1150" b="0">
                <a:solidFill>
                  <a:srgbClr val="282828"/>
                </a:solidFill>
                <a:latin typeface="Arial"/>
              </a:rPr>
              <a:t>•  How: the DM the stop; 41 tilts over the actuator band; each zone's image walk integrates to its wavefront (defocus and astigmatism to 0.3 nm), whose transform is the zone's complex PSF; the DM field filtered zone by zone, the reference arm through the same leg, angle of the product read as the surface.</a:t>
            </a:r>
          </a:p>
          <a:p>
            <a:pPr>
              <a:spcAft>
                <a:spcPts val="600"/>
              </a:spcAft>
            </a:pPr>
            <a:r>
              <a:rPr sz="1150" b="0">
                <a:solidFill>
                  <a:srgbClr val="282828"/>
                </a:solidFill>
                <a:latin typeface="Arial"/>
              </a:rPr>
              <a:t>•  The image is a bowl the camera sits ahead of on the lens rig: 2.6 mm on axis, 6 mm at the edge (the tail was tuned on the flat-mirror null, which cannot see pupil defocus).  The mirror rig's thin-lens seat is within 1.3 mm of its image.</a:t>
            </a:r>
          </a:p>
          <a:p>
            <a:pPr>
              <a:spcAft>
                <a:spcPts val="600"/>
              </a:spcAft>
            </a:pPr>
            <a:r>
              <a:rPr sz="1150" b="0">
                <a:solidFill>
                  <a:srgbClr val="282828"/>
                </a:solidFill>
                <a:latin typeface="Arial"/>
              </a:rPr>
              <a:t>•  The beam of record under-filled the DM (77 / 82 mm of 96): the baffle is now opened and the aperture sits on the DM; runs from 2026-09-17 carry the full 96 mm.</a:t>
            </a:r>
          </a:p>
        </p:txBody>
      </p:sp>
      <p:sp>
        <p:nvSpPr>
          <p:cNvPr id="8" name="TextBox 7"/>
          <p:cNvSpPr txBox="1"/>
          <p:nvPr/>
        </p:nvSpPr>
        <p:spPr>
          <a:xfrm>
            <a:off x="7086600" y="5330952"/>
            <a:ext cx="4709160" cy="274320"/>
          </a:xfrm>
          <a:prstGeom prst="rect">
            <a:avLst/>
          </a:prstGeom>
          <a:noFill/>
        </p:spPr>
        <p:txBody>
          <a:bodyPr wrap="square">
            <a:spAutoFit/>
          </a:bodyPr>
          <a:lstStyle/>
          <a:p>
            <a:pPr>
              <a:spcAft>
                <a:spcPts val="600"/>
              </a:spcAft>
            </a:pPr>
            <a:r>
              <a:rPr sz="1050" b="0">
                <a:solidFill>
                  <a:srgbClr val="6E6E6E"/>
                </a:solidFill>
                <a:latin typeface="Arial"/>
              </a:rPr>
              <a:t>Run tags pupilsim_lens, pupilsim_oap (tg96_pupilsim; run it yourself: tg96_pupil_batch.sh both); REPORT_bench_realism.md section 7.  The engine's own plane-to-plane check through reference surfaces is built and needs the station-to-station form (in progress).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Improving the pupil image: the options, assessed</a:t>
            </a:r>
          </a:p>
          <a:p>
            <a:pPr>
              <a:spcAft>
                <a:spcPts val="0"/>
              </a:spcAft>
            </a:pPr>
            <a:r>
              <a:rPr sz="1250" b="0">
                <a:solidFill>
                  <a:srgbClr val="6E6E6E"/>
                </a:solidFill>
                <a:latin typeface="Arial"/>
              </a:rPr>
              <a:t>The tail geometry is the whole story: the seed field-lens station images the DM flat; the detector move is second-order once the tail is right; no flattener can fix the tuned bowl; true collimation is worth doing for itself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903220"/>
        </p:xfrm>
        <a:graphic>
          <a:graphicData uri="http://schemas.openxmlformats.org/drawingml/2006/table">
            <a:tbl>
              <a:tblPr firstRow="1" bandRow="1">
                <a:tableStyleId>{5C22544A-7EE6-4342-B048-85BDC9FD1C3A}</a:tableStyleId>
              </a:tblPr>
              <a:tblGrid>
                <a:gridCol w="2271675"/>
                <a:gridCol w="2079160"/>
                <a:gridCol w="945388"/>
                <a:gridCol w="2325624"/>
                <a:gridCol w="1347603"/>
                <a:gridCol w="1526540"/>
                <a:gridCol w="872744"/>
              </a:tblGrid>
              <a:tr h="468630">
                <a:tc>
                  <a:txBody>
                    <a:bodyPr wrap="square"/>
                    <a:lstStyle/>
                    <a:p>
                      <a:r>
                        <a:rPr sz="1100" b="1">
                          <a:solidFill>
                            <a:srgbClr val="FFFFFF"/>
                          </a:solidFill>
                          <a:latin typeface="Arial"/>
                        </a:rPr>
                        <a:t>lens rig variant</a:t>
                      </a:r>
                    </a:p>
                  </a:txBody>
                  <a:tcPr marL="54864" marR="54864" marT="18288" marB="18288">
                    <a:solidFill>
                      <a:srgbClr val="1F4E79"/>
                    </a:solidFill>
                  </a:tcPr>
                </a:tc>
                <a:tc>
                  <a:txBody>
                    <a:bodyPr wrap="square"/>
                    <a:lstStyle/>
                    <a:p>
                      <a:r>
                        <a:rPr sz="1100" b="1">
                          <a:solidFill>
                            <a:srgbClr val="FFFFFF"/>
                          </a:solidFill>
                          <a:latin typeface="Arial"/>
                        </a:rPr>
                        <a:t>zone image vs the detector, mm (on axis / mean / edge)</a:t>
                      </a:r>
                    </a:p>
                  </a:txBody>
                  <a:tcPr marL="54864" marR="54864" marT="18288" marB="18288">
                    <a:solidFill>
                      <a:srgbClr val="1F4E79"/>
                    </a:solidFill>
                  </a:tcPr>
                </a:tc>
                <a:tc>
                  <a:txBody>
                    <a:bodyPr wrap="square"/>
                    <a:lstStyle/>
                    <a:p>
                      <a:r>
                        <a:rPr sz="1100" b="1">
                          <a:solidFill>
                            <a:srgbClr val="FFFFFF"/>
                          </a:solidFill>
                          <a:latin typeface="Arial"/>
                        </a:rPr>
                        <a:t>astigmatism</a:t>
                      </a:r>
                    </a:p>
                  </a:txBody>
                  <a:tcPr marL="54864" marR="54864" marT="18288" marB="18288">
                    <a:solidFill>
                      <a:srgbClr val="1F4E79"/>
                    </a:solidFill>
                  </a:tcPr>
                </a:tc>
                <a:tc>
                  <a:txBody>
                    <a:bodyPr wrap="square"/>
                    <a:lstStyle/>
                    <a:p>
                      <a:r>
                        <a:rPr sz="1100" b="1">
                          <a:solidFill>
                            <a:srgbClr val="FFFFFF"/>
                          </a:solidFill>
                          <a:latin typeface="Arial"/>
                        </a:rPr>
                        <a:t>Nyquist gain, as built / worst</a:t>
                      </a:r>
                    </a:p>
                  </a:txBody>
                  <a:tcPr marL="54864" marR="54864" marT="18288" marB="18288">
                    <a:solidFill>
                      <a:srgbClr val="1F4E79"/>
                    </a:solidFill>
                  </a:tcPr>
                </a:tc>
                <a:tc>
                  <a:txBody>
                    <a:bodyPr wrap="square"/>
                    <a:lstStyle/>
                    <a:p>
                      <a:r>
                        <a:rPr sz="1100" b="1">
                          <a:solidFill>
                            <a:srgbClr val="FFFFFF"/>
                          </a:solidFill>
                          <a:latin typeface="Arial"/>
                        </a:rPr>
                        <a:t>with the detector at the image mean</a:t>
                      </a:r>
                    </a:p>
                  </a:txBody>
                  <a:tcPr marL="54864" marR="54864" marT="18288" marB="18288">
                    <a:solidFill>
                      <a:srgbClr val="1F4E79"/>
                    </a:solidFill>
                  </a:tcPr>
                </a:tc>
                <a:tc>
                  <a:txBody>
                    <a:bodyPr wrap="square"/>
                    <a:lstStyle/>
                    <a:p>
                      <a:r>
                        <a:rPr sz="1100" b="1">
                          <a:solidFill>
                            <a:srgbClr val="FFFFFF"/>
                          </a:solidFill>
                          <a:latin typeface="Arial"/>
                        </a:rPr>
                        <a:t>30 nm surface error</a:t>
                      </a:r>
                    </a:p>
                  </a:txBody>
                  <a:tcPr marL="54864" marR="54864" marT="18288" marB="18288">
                    <a:solidFill>
                      <a:srgbClr val="1F4E79"/>
                    </a:solidFill>
                  </a:tcPr>
                </a:tc>
                <a:tc>
                  <a:txBody>
                    <a:bodyPr wrap="square"/>
                    <a:lstStyle/>
                    <a:p>
                      <a:r>
                        <a:rPr sz="1100" b="1">
                          <a:solidFill>
                            <a:srgbClr val="FFFFFF"/>
                          </a:solidFill>
                          <a:latin typeface="Arial"/>
                        </a:rPr>
                        <a:t>distortion</a:t>
                      </a:r>
                    </a:p>
                  </a:txBody>
                  <a:tcPr marL="54864" marR="54864" marT="18288" marB="18288">
                    <a:solidFill>
                      <a:srgbClr val="1F4E79"/>
                    </a:solidFill>
                  </a:tcPr>
                </a:tc>
              </a:tr>
              <a:tr h="468630">
                <a:tc>
                  <a:txBody>
                    <a:bodyPr wrap="square"/>
                    <a:lstStyle/>
                    <a:p>
                      <a:r>
                        <a:rPr sz="1100" b="0">
                          <a:solidFill>
                            <a:srgbClr val="282828"/>
                          </a:solidFill>
                          <a:latin typeface="Arial"/>
                        </a:rPr>
                        <a:t>tuned tail (field lens 39.8 mm past the focus, conic −2.59)</a:t>
                      </a:r>
                    </a:p>
                  </a:txBody>
                  <a:tcPr marL="54864" marR="54864" marT="18288" marB="18288">
                    <a:solidFill>
                      <a:srgbClr val="FFFFFF"/>
                    </a:solidFill>
                  </a:tcPr>
                </a:tc>
                <a:tc>
                  <a:txBody>
                    <a:bodyPr wrap="square"/>
                    <a:lstStyle/>
                    <a:p>
                      <a:r>
                        <a:rPr sz="1100" b="0">
                          <a:solidFill>
                            <a:srgbClr val="282828"/>
                          </a:solidFill>
                          <a:latin typeface="Arial"/>
                        </a:rPr>
                        <a:t>+2.6 / +4.3 / +6.0</a:t>
                      </a:r>
                    </a:p>
                  </a:txBody>
                  <a:tcPr marL="54864" marR="54864" marT="18288" marB="18288">
                    <a:solidFill>
                      <a:srgbClr val="FFFFFF"/>
                    </a:solidFill>
                  </a:tcPr>
                </a:tc>
                <a:tc>
                  <a:txBody>
                    <a:bodyPr wrap="square"/>
                    <a:lstStyle/>
                    <a:p>
                      <a:r>
                        <a:rPr sz="1100" b="0">
                          <a:solidFill>
                            <a:srgbClr val="282828"/>
                          </a:solidFill>
                          <a:latin typeface="Arial"/>
                        </a:rPr>
                        <a:t>1.05 mm</a:t>
                      </a:r>
                    </a:p>
                  </a:txBody>
                  <a:tcPr marL="54864" marR="54864" marT="18288" marB="18288">
                    <a:solidFill>
                      <a:srgbClr val="FFFFFF"/>
                    </a:solidFill>
                  </a:tcPr>
                </a:tc>
                <a:tc>
                  <a:txBody>
                    <a:bodyPr wrap="square"/>
                    <a:lstStyle/>
                    <a:p>
                      <a:r>
                        <a:rPr sz="1100" b="0">
                          <a:solidFill>
                            <a:srgbClr val="282828"/>
                          </a:solidFill>
                          <a:latin typeface="Arial"/>
                        </a:rPr>
                        <a:t>0.979 / 0.954</a:t>
                      </a:r>
                    </a:p>
                  </a:txBody>
                  <a:tcPr marL="54864" marR="54864" marT="18288" marB="18288">
                    <a:solidFill>
                      <a:srgbClr val="FFFFFF"/>
                    </a:solidFill>
                  </a:tcPr>
                </a:tc>
                <a:tc>
                  <a:txBody>
                    <a:bodyPr wrap="square"/>
                    <a:lstStyle/>
                    <a:p>
                      <a:r>
                        <a:rPr sz="1100" b="0">
                          <a:solidFill>
                            <a:srgbClr val="282828"/>
                          </a:solidFill>
                          <a:latin typeface="Arial"/>
                        </a:rPr>
                        <a:t>+4.3 mm: 0.993 worst</a:t>
                      </a:r>
                    </a:p>
                  </a:txBody>
                  <a:tcPr marL="54864" marR="54864" marT="18288" marB="18288">
                    <a:solidFill>
                      <a:srgbClr val="FFFFFF"/>
                    </a:solidFill>
                  </a:tcPr>
                </a:tc>
                <a:tc>
                  <a:txBody>
                    <a:bodyPr wrap="square"/>
                    <a:lstStyle/>
                    <a:p>
                      <a:r>
                        <a:rPr sz="1100" b="0">
                          <a:solidFill>
                            <a:srgbClr val="282828"/>
                          </a:solidFill>
                          <a:latin typeface="Arial"/>
                        </a:rPr>
                        <a:t>1.2 → 0.4 nm</a:t>
                      </a:r>
                    </a:p>
                  </a:txBody>
                  <a:tcPr marL="54864" marR="54864" marT="18288" marB="18288">
                    <a:solidFill>
                      <a:srgbClr val="FFFFFF"/>
                    </a:solidFill>
                  </a:tcPr>
                </a:tc>
                <a:tc>
                  <a:txBody>
                    <a:bodyPr wrap="square"/>
                    <a:lstStyle/>
                    <a:p>
                      <a:r>
                        <a:rPr sz="1100" b="0">
                          <a:solidFill>
                            <a:srgbClr val="282828"/>
                          </a:solidFill>
                          <a:latin typeface="Arial"/>
                        </a:rPr>
                        <a:t>0.27 mm</a:t>
                      </a:r>
                    </a:p>
                  </a:txBody>
                  <a:tcPr marL="54864" marR="54864" marT="18288" marB="18288">
                    <a:solidFill>
                      <a:srgbClr val="FFFFFF"/>
                    </a:solidFill>
                  </a:tcPr>
                </a:tc>
              </a:tr>
              <a:tr h="468630">
                <a:tc>
                  <a:txBody>
                    <a:bodyPr wrap="square"/>
                    <a:lstStyle/>
                    <a:p>
                      <a:r>
                        <a:rPr sz="1100" b="0">
                          <a:solidFill>
                            <a:srgbClr val="282828"/>
                          </a:solidFill>
                          <a:latin typeface="Arial"/>
                        </a:rPr>
                        <a:t>seed tail (field lens 10.8 mm past the focus, conic −2.11)</a:t>
                      </a:r>
                    </a:p>
                  </a:txBody>
                  <a:tcPr marL="54864" marR="54864" marT="18288" marB="18288">
                    <a:solidFill>
                      <a:srgbClr val="ECF1F6"/>
                    </a:solidFill>
                  </a:tcPr>
                </a:tc>
                <a:tc>
                  <a:txBody>
                    <a:bodyPr wrap="square"/>
                    <a:lstStyle/>
                    <a:p>
                      <a:r>
                        <a:rPr sz="1100" b="0">
                          <a:solidFill>
                            <a:srgbClr val="282828"/>
                          </a:solidFill>
                          <a:latin typeface="Arial"/>
                        </a:rPr>
                        <a:t>−0.5 / −0.7 / −1.0</a:t>
                      </a:r>
                    </a:p>
                  </a:txBody>
                  <a:tcPr marL="54864" marR="54864" marT="18288" marB="18288">
                    <a:solidFill>
                      <a:srgbClr val="ECF1F6"/>
                    </a:solidFill>
                  </a:tcPr>
                </a:tc>
                <a:tc>
                  <a:txBody>
                    <a:bodyPr wrap="square"/>
                    <a:lstStyle/>
                    <a:p>
                      <a:r>
                        <a:rPr sz="1100" b="0">
                          <a:solidFill>
                            <a:srgbClr val="282828"/>
                          </a:solidFill>
                          <a:latin typeface="Arial"/>
                        </a:rPr>
                        <a:t>0.08 mm</a:t>
                      </a:r>
                    </a:p>
                  </a:txBody>
                  <a:tcPr marL="54864" marR="54864" marT="18288" marB="18288">
                    <a:solidFill>
                      <a:srgbClr val="ECF1F6"/>
                    </a:solidFill>
                  </a:tcPr>
                </a:tc>
                <a:tc>
                  <a:txBody>
                    <a:bodyPr wrap="square"/>
                    <a:lstStyle/>
                    <a:p>
                      <a:r>
                        <a:rPr sz="1100" b="0">
                          <a:solidFill>
                            <a:srgbClr val="282828"/>
                          </a:solidFill>
                          <a:latin typeface="Arial"/>
                        </a:rPr>
                        <a:t>0.9992 / 0.9986</a:t>
                      </a:r>
                    </a:p>
                  </a:txBody>
                  <a:tcPr marL="54864" marR="54864" marT="18288" marB="18288">
                    <a:solidFill>
                      <a:srgbClr val="ECF1F6"/>
                    </a:solidFill>
                  </a:tcPr>
                </a:tc>
                <a:tc>
                  <a:txBody>
                    <a:bodyPr wrap="square"/>
                    <a:lstStyle/>
                    <a:p>
                      <a:r>
                        <a:rPr sz="1100" b="0">
                          <a:solidFill>
                            <a:srgbClr val="282828"/>
                          </a:solidFill>
                          <a:latin typeface="Arial"/>
                        </a:rPr>
                        <a:t>−0.7 mm: 0.9999</a:t>
                      </a:r>
                    </a:p>
                  </a:txBody>
                  <a:tcPr marL="54864" marR="54864" marT="18288" marB="18288">
                    <a:solidFill>
                      <a:srgbClr val="ECF1F6"/>
                    </a:solidFill>
                  </a:tcPr>
                </a:tc>
                <a:tc>
                  <a:txBody>
                    <a:bodyPr wrap="square"/>
                    <a:lstStyle/>
                    <a:p>
                      <a:r>
                        <a:rPr sz="1100" b="0">
                          <a:solidFill>
                            <a:srgbClr val="282828"/>
                          </a:solidFill>
                          <a:latin typeface="Arial"/>
                        </a:rPr>
                        <a:t>0.24 → 0.06 nm</a:t>
                      </a:r>
                    </a:p>
                  </a:txBody>
                  <a:tcPr marL="54864" marR="54864" marT="18288" marB="18288">
                    <a:solidFill>
                      <a:srgbClr val="ECF1F6"/>
                    </a:solidFill>
                  </a:tcPr>
                </a:tc>
                <a:tc>
                  <a:txBody>
                    <a:bodyPr wrap="square"/>
                    <a:lstStyle/>
                    <a:p>
                      <a:r>
                        <a:rPr sz="1100" b="0">
                          <a:solidFill>
                            <a:srgbClr val="282828"/>
                          </a:solidFill>
                          <a:latin typeface="Arial"/>
                        </a:rPr>
                        <a:t>0.003 mm</a:t>
                      </a:r>
                    </a:p>
                  </a:txBody>
                  <a:tcPr marL="54864" marR="54864" marT="18288" marB="18288">
                    <a:solidFill>
                      <a:srgbClr val="ECF1F6"/>
                    </a:solidFill>
                  </a:tcPr>
                </a:tc>
              </a:tr>
              <a:tr h="468630">
                <a:tc>
                  <a:txBody>
                    <a:bodyPr wrap="square"/>
                    <a:lstStyle/>
                    <a:p>
                      <a:r>
                        <a:rPr sz="1100" b="0">
                          <a:solidFill>
                            <a:srgbClr val="282828"/>
                          </a:solidFill>
                          <a:latin typeface="Arial"/>
                        </a:rPr>
                        <a:t>tuned tail, spherical field lens</a:t>
                      </a:r>
                    </a:p>
                  </a:txBody>
                  <a:tcPr marL="54864" marR="54864" marT="18288" marB="18288">
                    <a:solidFill>
                      <a:srgbClr val="FFFFFF"/>
                    </a:solidFill>
                  </a:tcPr>
                </a:tc>
                <a:tc>
                  <a:txBody>
                    <a:bodyPr wrap="square"/>
                    <a:lstStyle/>
                    <a:p>
                      <a:r>
                        <a:rPr sz="1100" b="0">
                          <a:solidFill>
                            <a:srgbClr val="282828"/>
                          </a:solidFill>
                          <a:latin typeface="Arial"/>
                        </a:rPr>
                        <a:t>+2.6 / +1.5 / +0.3</a:t>
                      </a:r>
                    </a:p>
                  </a:txBody>
                  <a:tcPr marL="54864" marR="54864" marT="18288" marB="18288">
                    <a:solidFill>
                      <a:srgbClr val="FFFFFF"/>
                    </a:solidFill>
                  </a:tcPr>
                </a:tc>
                <a:tc>
                  <a:txBody>
                    <a:bodyPr wrap="square"/>
                    <a:lstStyle/>
                    <a:p>
                      <a:r>
                        <a:rPr sz="1100" b="0">
                          <a:solidFill>
                            <a:srgbClr val="282828"/>
                          </a:solidFill>
                          <a:latin typeface="Arial"/>
                        </a:rPr>
                        <a:t>0.59 mm</a:t>
                      </a:r>
                    </a:p>
                  </a:txBody>
                  <a:tcPr marL="54864" marR="54864" marT="18288" marB="18288">
                    <a:solidFill>
                      <a:srgbClr val="FFFFFF"/>
                    </a:solidFill>
                  </a:tcPr>
                </a:tc>
                <a:tc>
                  <a:txBody>
                    <a:bodyPr wrap="square"/>
                    <a:lstStyle/>
                    <a:p>
                      <a:r>
                        <a:rPr sz="1100" b="0">
                          <a:solidFill>
                            <a:srgbClr val="282828"/>
                          </a:solidFill>
                          <a:latin typeface="Arial"/>
                        </a:rPr>
                        <a:t>0.996 / 0.992</a:t>
                      </a:r>
                    </a:p>
                  </a:txBody>
                  <a:tcPr marL="54864" marR="54864" marT="18288" marB="18288">
                    <a:solidFill>
                      <a:srgbClr val="FFFFFF"/>
                    </a:solidFill>
                  </a:tcPr>
                </a:tc>
                <a:tc>
                  <a:txBody>
                    <a:bodyPr wrap="square"/>
                    <a:lstStyle/>
                    <a:p>
                      <a:r>
                        <a:rPr sz="1100" b="0">
                          <a:solidFill>
                            <a:srgbClr val="282828"/>
                          </a:solidFill>
                          <a:latin typeface="Arial"/>
                        </a:rPr>
                        <a:t>+1.5 mm: 0.994</a:t>
                      </a:r>
                    </a:p>
                  </a:txBody>
                  <a:tcPr marL="54864" marR="54864" marT="18288" marB="18288">
                    <a:solidFill>
                      <a:srgbClr val="FFFFFF"/>
                    </a:solidFill>
                  </a:tcPr>
                </a:tc>
                <a:tc>
                  <a:txBody>
                    <a:bodyPr wrap="square"/>
                    <a:lstStyle/>
                    <a:p>
                      <a:r>
                        <a:rPr sz="1100" b="0">
                          <a:solidFill>
                            <a:srgbClr val="282828"/>
                          </a:solidFill>
                          <a:latin typeface="Arial"/>
                        </a:rPr>
                        <a:t>0.54 → 0.34 nm</a:t>
                      </a:r>
                    </a:p>
                  </a:txBody>
                  <a:tcPr marL="54864" marR="54864" marT="18288" marB="18288">
                    <a:solidFill>
                      <a:srgbClr val="FFFFFF"/>
                    </a:solidFill>
                  </a:tcPr>
                </a:tc>
                <a:tc>
                  <a:txBody>
                    <a:bodyPr wrap="square"/>
                    <a:lstStyle/>
                    <a:p>
                      <a:r>
                        <a:rPr sz="1100" b="0">
                          <a:solidFill>
                            <a:srgbClr val="282828"/>
                          </a:solidFill>
                          <a:latin typeface="Arial"/>
                        </a:rPr>
                        <a:t>0.30 mm</a:t>
                      </a:r>
                    </a:p>
                  </a:txBody>
                  <a:tcPr marL="54864" marR="54864" marT="18288" marB="18288">
                    <a:solidFill>
                      <a:srgbClr val="FFFFFF"/>
                    </a:solidFill>
                  </a:tcPr>
                </a:tc>
              </a:tr>
              <a:tr h="280035">
                <a:tc>
                  <a:txBody>
                    <a:bodyPr wrap="square"/>
                    <a:lstStyle/>
                    <a:p>
                      <a:r>
                        <a:rPr sz="1100" b="0">
                          <a:solidFill>
                            <a:srgbClr val="282828"/>
                          </a:solidFill>
                          <a:latin typeface="Arial"/>
                        </a:rPr>
                        <a:t>true collimation, tuned tail</a:t>
                      </a:r>
                    </a:p>
                  </a:txBody>
                  <a:tcPr marL="54864" marR="54864" marT="18288" marB="18288">
                    <a:solidFill>
                      <a:srgbClr val="ECF1F6"/>
                    </a:solidFill>
                  </a:tcPr>
                </a:tc>
                <a:tc>
                  <a:txBody>
                    <a:bodyPr wrap="square"/>
                    <a:lstStyle/>
                    <a:p>
                      <a:r>
                        <a:rPr sz="1100" b="0">
                          <a:solidFill>
                            <a:srgbClr val="282828"/>
                          </a:solidFill>
                          <a:latin typeface="Arial"/>
                        </a:rPr>
                        <a:t>+2.7 / +3.9 / +5.1</a:t>
                      </a:r>
                    </a:p>
                  </a:txBody>
                  <a:tcPr marL="54864" marR="54864" marT="18288" marB="18288">
                    <a:solidFill>
                      <a:srgbClr val="ECF1F6"/>
                    </a:solidFill>
                  </a:tcPr>
                </a:tc>
                <a:tc>
                  <a:txBody>
                    <a:bodyPr wrap="square"/>
                    <a:lstStyle/>
                    <a:p>
                      <a:r>
                        <a:rPr sz="1100" b="0">
                          <a:solidFill>
                            <a:srgbClr val="282828"/>
                          </a:solidFill>
                          <a:latin typeface="Arial"/>
                        </a:rPr>
                        <a:t>0.80 mm</a:t>
                      </a:r>
                    </a:p>
                  </a:txBody>
                  <a:tcPr marL="54864" marR="54864" marT="18288" marB="18288">
                    <a:solidFill>
                      <a:srgbClr val="ECF1F6"/>
                    </a:solidFill>
                  </a:tcPr>
                </a:tc>
                <a:tc>
                  <a:txBody>
                    <a:bodyPr wrap="square"/>
                    <a:lstStyle/>
                    <a:p>
                      <a:r>
                        <a:rPr sz="1100" b="0">
                          <a:solidFill>
                            <a:srgbClr val="282828"/>
                          </a:solidFill>
                          <a:latin typeface="Arial"/>
                        </a:rPr>
                        <a:t>0.982 / 0.965</a:t>
                      </a:r>
                    </a:p>
                  </a:txBody>
                  <a:tcPr marL="54864" marR="54864" marT="18288" marB="18288">
                    <a:solidFill>
                      <a:srgbClr val="ECF1F6"/>
                    </a:solidFill>
                  </a:tcPr>
                </a:tc>
                <a:tc>
                  <a:txBody>
                    <a:bodyPr wrap="square"/>
                    <a:lstStyle/>
                    <a:p>
                      <a:r>
                        <a:rPr sz="1100" b="0">
                          <a:solidFill>
                            <a:srgbClr val="282828"/>
                          </a:solidFill>
                          <a:latin typeface="Arial"/>
                        </a:rPr>
                        <a:t>+3.9 mm: 0.996</a:t>
                      </a:r>
                    </a:p>
                  </a:txBody>
                  <a:tcPr marL="54864" marR="54864" marT="18288" marB="18288">
                    <a:solidFill>
                      <a:srgbClr val="ECF1F6"/>
                    </a:solidFill>
                  </a:tcPr>
                </a:tc>
                <a:tc>
                  <a:txBody>
                    <a:bodyPr wrap="square"/>
                    <a:lstStyle/>
                    <a:p>
                      <a:r>
                        <a:rPr sz="1100" b="0">
                          <a:solidFill>
                            <a:srgbClr val="282828"/>
                          </a:solidFill>
                          <a:latin typeface="Arial"/>
                        </a:rPr>
                        <a:t>1.1 → 0.3 nm</a:t>
                      </a:r>
                    </a:p>
                  </a:txBody>
                  <a:tcPr marL="54864" marR="54864" marT="18288" marB="18288">
                    <a:solidFill>
                      <a:srgbClr val="ECF1F6"/>
                    </a:solidFill>
                  </a:tcPr>
                </a:tc>
                <a:tc>
                  <a:txBody>
                    <a:bodyPr wrap="square"/>
                    <a:lstStyle/>
                    <a:p>
                      <a:r>
                        <a:rPr sz="1100" b="0">
                          <a:solidFill>
                            <a:srgbClr val="282828"/>
                          </a:solidFill>
                          <a:latin typeface="Arial"/>
                        </a:rPr>
                        <a:t>0.13 mm</a:t>
                      </a:r>
                    </a:p>
                  </a:txBody>
                  <a:tcPr marL="54864" marR="54864" marT="18288" marB="18288">
                    <a:solidFill>
                      <a:srgbClr val="ECF1F6"/>
                    </a:solidFill>
                  </a:tcPr>
                </a:tc>
              </a:tr>
              <a:tr h="280035">
                <a:tc>
                  <a:txBody>
                    <a:bodyPr wrap="square"/>
                    <a:lstStyle/>
                    <a:p>
                      <a:r>
                        <a:rPr sz="1100" b="0">
                          <a:solidFill>
                            <a:srgbClr val="282828"/>
                          </a:solidFill>
                          <a:latin typeface="Arial"/>
                        </a:rPr>
                        <a:t>true collimation, seed tail</a:t>
                      </a:r>
                    </a:p>
                  </a:txBody>
                  <a:tcPr marL="54864" marR="54864" marT="18288" marB="18288">
                    <a:solidFill>
                      <a:srgbClr val="FFFFFF"/>
                    </a:solidFill>
                  </a:tcPr>
                </a:tc>
                <a:tc>
                  <a:txBody>
                    <a:bodyPr wrap="square"/>
                    <a:lstStyle/>
                    <a:p>
                      <a:r>
                        <a:rPr sz="1100" b="0">
                          <a:solidFill>
                            <a:srgbClr val="282828"/>
                          </a:solidFill>
                          <a:latin typeface="Arial"/>
                        </a:rPr>
                        <a:t>−0.5 / −0.8 / −1.1</a:t>
                      </a:r>
                    </a:p>
                  </a:txBody>
                  <a:tcPr marL="54864" marR="54864" marT="18288" marB="18288">
                    <a:solidFill>
                      <a:srgbClr val="FFFFFF"/>
                    </a:solidFill>
                  </a:tcPr>
                </a:tc>
                <a:tc>
                  <a:txBody>
                    <a:bodyPr wrap="square"/>
                    <a:lstStyle/>
                    <a:p>
                      <a:r>
                        <a:rPr sz="1100" b="0">
                          <a:solidFill>
                            <a:srgbClr val="282828"/>
                          </a:solidFill>
                          <a:latin typeface="Arial"/>
                        </a:rPr>
                        <a:t>0.11 mm</a:t>
                      </a:r>
                    </a:p>
                  </a:txBody>
                  <a:tcPr marL="54864" marR="54864" marT="18288" marB="18288">
                    <a:solidFill>
                      <a:srgbClr val="FFFFFF"/>
                    </a:solidFill>
                  </a:tcPr>
                </a:tc>
                <a:tc>
                  <a:txBody>
                    <a:bodyPr wrap="square"/>
                    <a:lstStyle/>
                    <a:p>
                      <a:r>
                        <a:rPr sz="1100" b="0">
                          <a:solidFill>
                            <a:srgbClr val="282828"/>
                          </a:solidFill>
                          <a:latin typeface="Arial"/>
                        </a:rPr>
                        <a:t>0.9991 / 0.9980</a:t>
                      </a:r>
                    </a:p>
                  </a:txBody>
                  <a:tcPr marL="54864" marR="54864" marT="18288" marB="18288">
                    <a:solidFill>
                      <a:srgbClr val="FFFFFF"/>
                    </a:solidFill>
                  </a:tcPr>
                </a:tc>
                <a:tc>
                  <a:txBody>
                    <a:bodyPr wrap="square"/>
                    <a:lstStyle/>
                    <a:p>
                      <a:r>
                        <a:rPr sz="1100" b="0">
                          <a:solidFill>
                            <a:srgbClr val="282828"/>
                          </a:solidFill>
                          <a:latin typeface="Arial"/>
                        </a:rPr>
                        <a:t>−0.8 mm: 0.9999</a:t>
                      </a:r>
                    </a:p>
                  </a:txBody>
                  <a:tcPr marL="54864" marR="54864" marT="18288" marB="18288">
                    <a:solidFill>
                      <a:srgbClr val="FFFFFF"/>
                    </a:solidFill>
                  </a:tcPr>
                </a:tc>
                <a:tc>
                  <a:txBody>
                    <a:bodyPr wrap="square"/>
                    <a:lstStyle/>
                    <a:p>
                      <a:r>
                        <a:rPr sz="1100" b="0">
                          <a:solidFill>
                            <a:srgbClr val="282828"/>
                          </a:solidFill>
                          <a:latin typeface="Arial"/>
                        </a:rPr>
                        <a:t>0.26 → 0.08 nm</a:t>
                      </a:r>
                    </a:p>
                  </a:txBody>
                  <a:tcPr marL="54864" marR="54864" marT="18288" marB="18288">
                    <a:solidFill>
                      <a:srgbClr val="FFFFFF"/>
                    </a:solidFill>
                  </a:tcPr>
                </a:tc>
                <a:tc>
                  <a:txBody>
                    <a:bodyPr wrap="square"/>
                    <a:lstStyle/>
                    <a:p>
                      <a:r>
                        <a:rPr sz="1100" b="0">
                          <a:solidFill>
                            <a:srgbClr val="282828"/>
                          </a:solidFill>
                          <a:latin typeface="Arial"/>
                        </a:rPr>
                        <a:t>0.035 mm</a:t>
                      </a:r>
                    </a:p>
                  </a:txBody>
                  <a:tcPr marL="54864" marR="54864" marT="18288" marB="18288">
                    <a:solidFill>
                      <a:srgbClr val="FFFFFF"/>
                    </a:solidFill>
                  </a:tcPr>
                </a:tc>
              </a:tr>
              <a:tr h="468630">
                <a:tc>
                  <a:txBody>
                    <a:bodyPr wrap="square"/>
                    <a:lstStyle/>
                    <a:p>
                      <a:r>
                        <a:rPr sz="1100" b="0">
                          <a:solidFill>
                            <a:srgbClr val="282828"/>
                          </a:solidFill>
                          <a:latin typeface="Arial"/>
                        </a:rPr>
                        <a:t>mirror rig, as built (seed tail)</a:t>
                      </a:r>
                    </a:p>
                  </a:txBody>
                  <a:tcPr marL="54864" marR="54864" marT="18288" marB="18288">
                    <a:solidFill>
                      <a:srgbClr val="ECF1F6"/>
                    </a:solidFill>
                  </a:tcPr>
                </a:tc>
                <a:tc>
                  <a:txBody>
                    <a:bodyPr wrap="square"/>
                    <a:lstStyle/>
                    <a:p>
                      <a:r>
                        <a:rPr sz="1100" b="0">
                          <a:solidFill>
                            <a:srgbClr val="282828"/>
                          </a:solidFill>
                          <a:latin typeface="Arial"/>
                        </a:rPr>
                        <a:t>−0.4 / −0.6 / −1.3</a:t>
                      </a:r>
                    </a:p>
                  </a:txBody>
                  <a:tcPr marL="54864" marR="54864" marT="18288" marB="18288">
                    <a:solidFill>
                      <a:srgbClr val="ECF1F6"/>
                    </a:solidFill>
                  </a:tcPr>
                </a:tc>
                <a:tc>
                  <a:txBody>
                    <a:bodyPr wrap="square"/>
                    <a:lstStyle/>
                    <a:p>
                      <a:r>
                        <a:rPr sz="1100" b="0">
                          <a:solidFill>
                            <a:srgbClr val="282828"/>
                          </a:solidFill>
                          <a:latin typeface="Arial"/>
                        </a:rPr>
                        <a:t>0.09 mm</a:t>
                      </a:r>
                    </a:p>
                  </a:txBody>
                  <a:tcPr marL="54864" marR="54864" marT="18288" marB="18288">
                    <a:solidFill>
                      <a:srgbClr val="ECF1F6"/>
                    </a:solidFill>
                  </a:tcPr>
                </a:tc>
                <a:tc>
                  <a:txBody>
                    <a:bodyPr wrap="square"/>
                    <a:lstStyle/>
                    <a:p>
                      <a:r>
                        <a:rPr sz="1100" b="0">
                          <a:solidFill>
                            <a:srgbClr val="282828"/>
                          </a:solidFill>
                          <a:latin typeface="Arial"/>
                        </a:rPr>
                        <a:t>0.9993 / 0.9974</a:t>
                      </a:r>
                    </a:p>
                  </a:txBody>
                  <a:tcPr marL="54864" marR="54864" marT="18288" marB="18288">
                    <a:solidFill>
                      <a:srgbClr val="ECF1F6"/>
                    </a:solidFill>
                  </a:tcPr>
                </a:tc>
                <a:tc>
                  <a:txBody>
                    <a:bodyPr wrap="square"/>
                    <a:lstStyle/>
                    <a:p>
                      <a:r>
                        <a:rPr sz="1100" b="0">
                          <a:solidFill>
                            <a:srgbClr val="282828"/>
                          </a:solidFill>
                          <a:latin typeface="Arial"/>
                        </a:rPr>
                        <a:t>−0.6 mm: 0.9994</a:t>
                      </a:r>
                    </a:p>
                  </a:txBody>
                  <a:tcPr marL="54864" marR="54864" marT="18288" marB="18288">
                    <a:solidFill>
                      <a:srgbClr val="ECF1F6"/>
                    </a:solidFill>
                  </a:tcPr>
                </a:tc>
                <a:tc>
                  <a:txBody>
                    <a:bodyPr wrap="square"/>
                    <a:lstStyle/>
                    <a:p>
                      <a:r>
                        <a:rPr sz="1100" b="0">
                          <a:solidFill>
                            <a:srgbClr val="282828"/>
                          </a:solidFill>
                          <a:latin typeface="Arial"/>
                        </a:rPr>
                        <a:t>0.23 → 0.09 nm</a:t>
                      </a:r>
                    </a:p>
                  </a:txBody>
                  <a:tcPr marL="54864" marR="54864" marT="18288" marB="18288">
                    <a:solidFill>
                      <a:srgbClr val="ECF1F6"/>
                    </a:solidFill>
                  </a:tcPr>
                </a:tc>
                <a:tc>
                  <a:txBody>
                    <a:bodyPr wrap="square"/>
                    <a:lstStyle/>
                    <a:p>
                      <a:r>
                        <a:rPr sz="1100" b="0">
                          <a:solidFill>
                            <a:srgbClr val="282828"/>
                          </a:solidFill>
                          <a:latin typeface="Arial"/>
                        </a:rPr>
                        <a:t>0.72 mm</a:t>
                      </a:r>
                    </a:p>
                  </a:txBody>
                  <a:tcPr marL="54864" marR="54864" marT="18288" marB="18288">
                    <a:solidFill>
                      <a:srgbClr val="ECF1F6"/>
                    </a:solidFill>
                  </a:tcPr>
                </a:tc>
              </a:tr>
            </a:tbl>
          </a:graphicData>
        </a:graphic>
      </p:graphicFrame>
      <p:sp>
        <p:nvSpPr>
          <p:cNvPr id="5" name="TextBox 4"/>
          <p:cNvSpPr txBox="1"/>
          <p:nvPr/>
        </p:nvSpPr>
        <p:spPr>
          <a:xfrm>
            <a:off x="411480" y="4347972"/>
            <a:ext cx="11368735" cy="274320"/>
          </a:xfrm>
          <a:prstGeom prst="rect">
            <a:avLst/>
          </a:prstGeom>
          <a:noFill/>
        </p:spPr>
        <p:txBody>
          <a:bodyPr wrap="square">
            <a:spAutoFit/>
          </a:bodyPr>
          <a:lstStyle/>
          <a:p>
            <a:pPr>
              <a:spcAft>
                <a:spcPts val="600"/>
              </a:spcAft>
            </a:pPr>
            <a:r>
              <a:rPr sz="1500" b="0">
                <a:solidFill>
                  <a:srgbClr val="282828"/>
                </a:solidFill>
                <a:latin typeface="Arial"/>
              </a:rPr>
              <a:t>•  The null tuner bought its 0.13 nm flat-mirror null with the pupil image: it moved the field lens to its own focal length behind the focus, where the pupil rides 4.6 mm high on a 12 mm asphere.  At the seed station the pupil rides 1.2 mm high and the DM images flat.  The null it gives up (9 nm) is a fixed pattern the reference frame removes.</a:t>
            </a:r>
          </a:p>
          <a:p>
            <a:pPr>
              <a:spcAft>
                <a:spcPts val="600"/>
              </a:spcAft>
            </a:pPr>
            <a:r>
              <a:rPr sz="1500" b="0">
                <a:solidFill>
                  <a:srgbClr val="282828"/>
                </a:solidFill>
                <a:latin typeface="Arial"/>
              </a:rPr>
              <a:t>•  A flattener behind the tuned tail is not an optic: its bowl is a 5 mm-radius surface in image space.  True collimation (the record's source sits 14 mm inside the hyperbolic collimator's focus) halves the distortion and is needed for any re-tune and for the physical-optics chain.</a:t>
            </a:r>
          </a:p>
        </p:txBody>
      </p:sp>
      <p:sp>
        <p:nvSpPr>
          <p:cNvPr id="6" name="TextBox 5"/>
          <p:cNvSpPr txBox="1"/>
          <p:nvPr/>
        </p:nvSpPr>
        <p:spPr>
          <a:xfrm>
            <a:off x="411480" y="6150864"/>
            <a:ext cx="11368735" cy="274320"/>
          </a:xfrm>
          <a:prstGeom prst="rect">
            <a:avLst/>
          </a:prstGeom>
          <a:noFill/>
        </p:spPr>
        <p:txBody>
          <a:bodyPr wrap="square">
            <a:spAutoFit/>
          </a:bodyPr>
          <a:lstStyle/>
          <a:p>
            <a:pPr>
              <a:spcAft>
                <a:spcPts val="600"/>
              </a:spcAft>
            </a:pPr>
            <a:r>
              <a:rPr sz="1050" b="0">
                <a:solidFill>
                  <a:srgbClr val="6E6E6E"/>
                </a:solidFill>
                <a:latin typeface="Arial"/>
              </a:rPr>
              <a:t>Recommendation: lens rig, field lens held at the seed station, conic and trim re-tuned with the image surface in the objective, detector at the image mean; mirror rig, the 0.6 mm move; collimator fixed first; rows re-run on the corrected tail and the 96 mm beam together.  Run tag pupil_options (tg96_pupil_options); REPORT_bench_realism 7.1.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a 5.3 µm etched dimple (2.0 λF/D) delays the center of the focal spot a quarter wave; that light spreads back over the pupil and acts as the reference.  Three etch depths plus a clear frame make the four-frame stepped reading, which has no branch fold.</a:t>
            </a:r>
          </a:p>
          <a:p>
            <a:pPr>
              <a:spcAft>
                <a:spcPts val="600"/>
              </a:spcAft>
            </a:pPr>
            <a:r>
              <a:rPr sz="1500" b="0">
                <a:solidFill>
                  <a:srgbClr val="282828"/>
                </a:solidFill>
                <a:latin typeface="Arial"/>
              </a:rPr>
              <a:t>•  On the 30 nm surface, matrix measured on it: 10 nm on one actuator 0.989 / 5 pm / SNR 2160; 1 nm on 47 sites 0.999 / 4 pm; dense 10 nm 0.984, 0.68 nm.</a:t>
            </a:r>
          </a:p>
          <a:p>
            <a:pPr>
              <a:spcAft>
                <a:spcPts val="600"/>
              </a:spcAft>
            </a:pPr>
            <a:r>
              <a:rPr sz="1500" b="0">
                <a:solidFill>
                  <a:srgbClr val="282828"/>
                </a:solidFill>
                <a:latin typeface="Arial"/>
              </a:rPr>
              <a:t>•  Servo: 3 pm from 2.6e12 photons per cycle noise only, 7.5e12 under the 2 pm walk; no fixed error (a noiseless step goes to 0.000 pm).</a:t>
            </a:r>
          </a:p>
        </p:txBody>
      </p:sp>
      <p:pic>
        <p:nvPicPr>
          <p:cNvPr id="5" name="Picture 4" descr="zwfs_mask385_mask.png"/>
          <p:cNvPicPr>
            <a:picLocks noChangeAspect="1"/>
          </p:cNvPicPr>
          <p:nvPr/>
        </p:nvPicPr>
        <p:blipFill>
          <a:blip r:embed="rId2"/>
          <a:stretch>
            <a:fillRect/>
          </a:stretch>
        </p:blipFill>
        <p:spPr>
          <a:xfrm>
            <a:off x="6490331" y="1298448"/>
            <a:ext cx="5215897"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The flat mirror's focal spot (log scale) with the dimple's footprint on its core, and the mask's phase, at the record's sampling: 3.96 pixels per λF/D, the dimple 7.9 pixels across.  It encloses 70.7% of the focused light.</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Added to the front end: one fused-silica plate, 2-3 mm thick, with a 3×3 array of etched spots (one in the beam at a time; the 346 nm etch is a quarter wave at 632.8 nm), on a translation stage.  Nothing else.  The plate's thickness in the F/4.2 beam is 0.03 wave of spherical aberration and a 0.7 mm focus shift the tail absorbs (to be modeled).  Run tags matbase, matbase385, loop193.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station by station</a:t>
            </a:r>
          </a:p>
          <a:p>
            <a:pPr>
              <a:spcAft>
                <a:spcPts val="0"/>
              </a:spcAft>
            </a:pPr>
            <a:r>
              <a:rPr sz="1250" b="0">
                <a:solidFill>
                  <a:srgbClr val="6E6E6E"/>
                </a:solidFill>
                <a:latin typeface="Arial"/>
              </a:rPr>
              <a:t>The key signals along the train for the flat mirror and for the 30 nm working surface: the raw pixel map on the working surface is off by 4.8 nm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S.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4.8 nm rms on the working surface).  The runner's own figure, run stations193 at 193 pixels per pupil.</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reference wave (fourth column) is the core of the focal spot spread back over the pupil: on the working surface it has changed, so the raw four-frame map carries a 4.8 nm bias.  The matrix measured on the surface absorbs it, which is how the stepped reading reaches 5 pm on its rows.</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performance rows and the servo use the calibrated estimate.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the two images are the sensor with its dimple sign flipped; per pixel they give the cosine and sine of the phase together, so the inversion is exact with no branch choice and no stepping.  Two simultaneous frames per measurement.</a:t>
            </a:r>
          </a:p>
          <a:p>
            <a:pPr>
              <a:spcAft>
                <a:spcPts val="600"/>
              </a:spcAft>
            </a:pPr>
            <a:r>
              <a:rPr sz="1500" b="0">
                <a:solidFill>
                  <a:srgbClr val="282828"/>
                </a:solidFill>
                <a:latin typeface="Arial"/>
              </a:rPr>
              <a:t>•  On the 30 nm surface, matrix measured on it: 10 nm on one actuator 0.9935 / 4 pm / SNR 2830; 1 nm on 47 sites 0.9992 / 3 pm; dense 10 nm 0.9999, 0.33 nm — the best line in the comparison.</a:t>
            </a:r>
          </a:p>
          <a:p>
            <a:pPr>
              <a:spcAft>
                <a:spcPts val="600"/>
              </a:spcAft>
            </a:pPr>
            <a:r>
              <a:rPr sz="1500" b="0">
                <a:solidFill>
                  <a:srgbClr val="282828"/>
                </a:solidFill>
                <a:latin typeface="Arial"/>
              </a:rPr>
              <a:t>•  Servo: 3 pm from 1.5e12 photons per cycle noise only, 5.3e12 under the 2 pm walk; no fixed error.</a:t>
            </a:r>
          </a:p>
        </p:txBody>
      </p:sp>
      <p:graphicFrame>
        <p:nvGraphicFramePr>
          <p:cNvPr id="5" name="Table 4"/>
          <p:cNvGraphicFramePr>
            <a:graphicFrameLocks noGrp="1"/>
          </p:cNvGraphicFramePr>
          <p:nvPr/>
        </p:nvGraphicFramePr>
        <p:xfrm>
          <a:off x="6400800" y="1298448"/>
          <a:ext cx="5394960" cy="3120390"/>
        </p:xfrm>
        <a:graphic>
          <a:graphicData uri="http://schemas.openxmlformats.org/drawingml/2006/table">
            <a:tbl>
              <a:tblPr firstRow="1" bandRow="1">
                <a:tableStyleId>{5C22544A-7EE6-4342-B048-85BDC9FD1C3A}</a:tableStyleId>
              </a:tblPr>
              <a:tblGrid>
                <a:gridCol w="670560"/>
                <a:gridCol w="4724400"/>
              </a:tblGrid>
              <a:tr h="6057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metasurface</a:t>
                      </a:r>
                    </a:p>
                  </a:txBody>
                  <a:tcPr marL="54864" marR="54864" marT="18288" marB="18288">
                    <a:solidFill>
                      <a:srgbClr val="FFFFFF"/>
                    </a:solidFill>
                  </a:tcPr>
                </a:tc>
                <a:tc>
                  <a:txBody>
                    <a:bodyPr wrap="square"/>
                    <a:lstStyle/>
                    <a:p>
                      <a:r>
                        <a:rPr sz="1000" b="0">
                          <a:solidFill>
                            <a:srgbClr val="282828"/>
                          </a:solidFill>
                          <a:latin typeface="Arial"/>
                        </a:rPr>
                        <a:t>geometric-phase (half-wave) dimple in the etched plate's seat: +90° on one circular state, −90° on the other</a:t>
                      </a:r>
                    </a:p>
                  </a:txBody>
                  <a:tcPr marL="54864" marR="54864" marT="18288" marB="18288">
                    <a:solidFill>
                      <a:srgbClr val="FFFFFF"/>
                    </a:solidFill>
                  </a:tcPr>
                </a:tc>
              </a:tr>
              <a:tr h="605790">
                <a:tc>
                  <a:txBody>
                    <a:bodyPr wrap="square"/>
                    <a:lstStyle/>
                    <a:p>
                      <a:r>
                        <a:rPr sz="1000" b="0">
                          <a:solidFill>
                            <a:srgbClr val="282828"/>
                          </a:solidFill>
                          <a:latin typeface="Arial"/>
                        </a:rPr>
                        <a:t>quarter-wave plate</a:t>
                      </a:r>
                    </a:p>
                  </a:txBody>
                  <a:tcPr marL="54864" marR="54864" marT="18288" marB="18288">
                    <a:solidFill>
                      <a:srgbClr val="ECF1F6"/>
                    </a:solidFill>
                  </a:tcPr>
                </a:tc>
                <a:tc>
                  <a:txBody>
                    <a:bodyPr wrap="square"/>
                    <a:lstStyle/>
                    <a:p>
                      <a:r>
                        <a:rPr sz="1000" b="0">
                          <a:solidFill>
                            <a:srgbClr val="282828"/>
                          </a:solidFill>
                          <a:latin typeface="Arial"/>
                        </a:rPr>
                        <a:t>zero order on a 2 mm substrate (0.05 wave of spherical aberration in the F/3.6 leg, to be modeled), fast axis at 45° between the cube's s and p; spec λ/300</a:t>
                      </a:r>
                    </a:p>
                  </a:txBody>
                  <a:tcPr marL="54864" marR="54864" marT="18288" marB="18288">
                    <a:solidFill>
                      <a:srgbClr val="ECF1F6"/>
                    </a:solidFill>
                  </a:tcPr>
                </a:tc>
              </a:tr>
              <a:tr h="434340">
                <a:tc>
                  <a:txBody>
                    <a:bodyPr wrap="square"/>
                    <a:lstStyle/>
                    <a:p>
                      <a:r>
                        <a:rPr sz="1000" b="0">
                          <a:solidFill>
                            <a:srgbClr val="282828"/>
                          </a:solidFill>
                          <a:latin typeface="Arial"/>
                        </a:rPr>
                        <a:t>polarizing cube</a:t>
                      </a:r>
                    </a:p>
                  </a:txBody>
                  <a:tcPr marL="54864" marR="54864" marT="18288" marB="18288">
                    <a:solidFill>
                      <a:srgbClr val="FFFFFF"/>
                    </a:solidFill>
                  </a:tcPr>
                </a:tc>
                <a:tc>
                  <a:txBody>
                    <a:bodyPr wrap="square"/>
                    <a:lstStyle/>
                    <a:p>
                      <a:r>
                        <a:rPr sz="1000" b="0">
                          <a:solidFill>
                            <a:srgbClr val="282828"/>
                          </a:solidFill>
                          <a:latin typeface="Arial"/>
                        </a:rPr>
                        <a:t>12.7 mm cemented MacNeille, behind the field lens</a:t>
                      </a:r>
                    </a:p>
                  </a:txBody>
                  <a:tcPr marL="54864" marR="54864" marT="18288" marB="18288">
                    <a:solidFill>
                      <a:srgbClr val="FFFFFF"/>
                    </a:solidFill>
                  </a:tcPr>
                </a:tc>
              </a:tr>
              <a:tr h="434340">
                <a:tc>
                  <a:txBody>
                    <a:bodyPr wrap="square"/>
                    <a:lstStyle/>
                    <a:p>
                      <a:r>
                        <a:rPr sz="1000" b="0">
                          <a:solidFill>
                            <a:srgbClr val="282828"/>
                          </a:solidFill>
                          <a:latin typeface="Arial"/>
                        </a:rPr>
                        <a:t>cameras</a:t>
                      </a:r>
                    </a:p>
                  </a:txBody>
                  <a:tcPr marL="54864" marR="54864" marT="18288" marB="18288">
                    <a:solidFill>
                      <a:srgbClr val="ECF1F6"/>
                    </a:solidFill>
                  </a:tcPr>
                </a:tc>
                <a:tc>
                  <a:txBody>
                    <a:bodyPr wrap="square"/>
                    <a:lstStyle/>
                    <a:p>
                      <a:r>
                        <a:rPr sz="1000" b="0">
                          <a:solidFill>
                            <a:srgbClr val="282828"/>
                          </a:solidFill>
                          <a:latin typeface="Arial"/>
                        </a:rPr>
                        <a:t>two, both 20.7 mm behind the cube at the 7.5 mm pupil image; a 6.5 µm sCMOS (13 mm sensor) binned 3 to 385</a:t>
                      </a:r>
                    </a:p>
                  </a:txBody>
                  <a:tcPr marL="54864" marR="54864" marT="18288" marB="18288">
                    <a:solidFill>
                      <a:srgbClr val="ECF1F6"/>
                    </a:solidFill>
                  </a:tcPr>
                </a:tc>
              </a:tr>
              <a:tr h="605790">
                <a:tc>
                  <a:txBody>
                    <a:bodyPr wrap="square"/>
                    <a:lstStyle/>
                    <a:p>
                      <a:r>
                        <a:rPr sz="1000" b="0">
                          <a:solidFill>
                            <a:srgbClr val="282828"/>
                          </a:solidFill>
                          <a:latin typeface="Arial"/>
                        </a:rPr>
                        <a:t>frames per measurement</a:t>
                      </a:r>
                    </a:p>
                  </a:txBody>
                  <a:tcPr marL="54864" marR="54864" marT="18288" marB="18288">
                    <a:solidFill>
                      <a:srgbClr val="FFFFFF"/>
                    </a:solidFill>
                  </a:tcPr>
                </a:tc>
                <a:tc>
                  <a:txBody>
                    <a:bodyPr wrap="square"/>
                    <a:lstStyle/>
                    <a:p>
                      <a:r>
                        <a:rPr sz="1000" b="0">
                          <a:solidFill>
                            <a:srgbClr val="282828"/>
                          </a:solidFill>
                          <a:latin typeface="Arial"/>
                        </a:rPr>
                        <a:t>2, simultaneous</a:t>
                      </a:r>
                    </a:p>
                  </a:txBody>
                  <a:tcPr marL="54864" marR="54864" marT="18288" marB="18288">
                    <a:solidFill>
                      <a:srgbClr val="FFFFFF"/>
                    </a:solidFill>
                  </a:tcPr>
                </a:tc>
              </a:tr>
            </a:tbl>
          </a:graphicData>
        </a:graphic>
      </p:graphicFrame>
      <p:sp>
        <p:nvSpPr>
          <p:cNvPr id="6" name="TextBox 5"/>
          <p:cNvSpPr txBox="1"/>
          <p:nvPr/>
        </p:nvSpPr>
        <p:spPr>
          <a:xfrm>
            <a:off x="6400800" y="4565142"/>
            <a:ext cx="5394960" cy="274320"/>
          </a:xfrm>
          <a:prstGeom prst="rect">
            <a:avLst/>
          </a:prstGeom>
          <a:noFill/>
        </p:spPr>
        <p:txBody>
          <a:bodyPr wrap="square">
            <a:spAutoFit/>
          </a:bodyPr>
          <a:lstStyle/>
          <a:p>
            <a:pPr>
              <a:spcAft>
                <a:spcPts val="600"/>
              </a:spcAft>
            </a:pPr>
            <a:r>
              <a:rPr sz="1050" b="0">
                <a:solidFill>
                  <a:srgbClr val="6E6E6E"/>
                </a:solidFill>
                <a:latin typeface="Arial"/>
              </a:rPr>
              <a:t>Two cameras rather than one: the 7.5 mm pupil image 32 mm behind the field lens would need a 17° split for side-by-side images, past a calcite prism's limit.  Run tags v193base, vloop193.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leg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3312126" y="1298448"/>
            <a:ext cx="5567442" cy="3446272"/>
          </a:xfrm>
          <a:prstGeom prst="rect">
            <a:avLst/>
          </a:prstGeom>
        </p:spPr>
      </p:pic>
      <p:sp>
        <p:nvSpPr>
          <p:cNvPr id="5" name="TextBox 4"/>
          <p:cNvSpPr txBox="1"/>
          <p:nvPr/>
        </p:nvSpPr>
        <p:spPr>
          <a:xfrm>
            <a:off x="411480" y="47630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500" b="0">
                <a:solidFill>
                  <a:srgbClr val="282828"/>
                </a:solidFill>
                <a:latin typeface="Arial"/>
              </a:rPr>
              <a:t>•  The same polarization camera as the interferometer's snapshot form would replace the cube and one camera: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p>
        </p:txBody>
      </p:sp>
      <p:sp>
        <p:nvSpPr>
          <p:cNvPr id="7" name="TextBox 6"/>
          <p:cNvSpPr txBox="1"/>
          <p:nvPr/>
        </p:nvSpPr>
        <p:spPr>
          <a:xfrm>
            <a:off x="411480" y="6361175"/>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within 25 pm of the engine's field on the 30 nm working surface: the pixel-by-pixel solve needs no calibration to read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V.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On the flat the two images are complementary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25 pm is the raw absolute map's error on a 30 nm surface with the flat's calibration; on the same surface the calibrated reading is 0.9935 / 4 pm.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substrate, plus one pinhole-only frame per state that keeps the calibration honest far from null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p>
          <a:p>
            <a:pPr>
              <a:spcAft>
                <a:spcPts val="600"/>
              </a:spcAft>
            </a:pPr>
            <a:r>
              <a:rPr sz="1500" b="0">
                <a:solidFill>
                  <a:srgbClr val="282828"/>
                </a:solidFill>
                <a:latin typeface="Arial"/>
              </a:rPr>
              <a:t>•  On the 30 nm surface, matrix measured on it: 10 nm on one actuator 0.9935 / 4 pm / SNR 2790; 1 nm on 47 sites 0.9992 / 3 pm; dense 10 nm 0.9985, 338 pm.</a:t>
            </a:r>
          </a:p>
          <a:p>
            <a:pPr>
              <a:spcAft>
                <a:spcPts val="600"/>
              </a:spcAft>
            </a:pPr>
            <a:r>
              <a:rPr sz="1500" b="0">
                <a:solidFill>
                  <a:srgbClr val="282828"/>
                </a:solidFill>
                <a:latin typeface="Arial"/>
              </a:rPr>
              <a:t>•  Servo: 3 pm from 2.3e12 photons per cycle noise only, 7.0e12 under the walk; no fixed error.  The shutter frame is what lets it read to 480 nm of surface (next slides).</a:t>
            </a:r>
          </a:p>
          <a:p>
            <a:pPr>
              <a:spcAft>
                <a:spcPts val="600"/>
              </a:spcAft>
            </a:pPr>
            <a:r>
              <a:rPr sz="1500" b="0">
                <a:solidFill>
                  <a:srgbClr val="282828"/>
                </a:solidFill>
                <a:latin typeface="Arial"/>
              </a:rPr>
              <a:t>•  Not yet modeled: how the phase is stepped.  These results step the surround's phase by an ideal increment ("magic"), with a step-error knob only.  The photonic phase shifter of the two-arm form, and the stage or etched steps of this one, have no device physics yet: coupling, loss, drift.</a:t>
            </a:r>
          </a:p>
        </p:txBody>
      </p:sp>
      <p:graphicFrame>
        <p:nvGraphicFramePr>
          <p:cNvPr id="5" name="Table 4"/>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141241"/>
                <a:gridCol w="4253718"/>
              </a:tblGrid>
              <a:tr h="43434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pinhole substrate</a:t>
                      </a:r>
                    </a:p>
                  </a:txBody>
                  <a:tcPr marL="54864" marR="54864" marT="18288" marB="18288">
                    <a:solidFill>
                      <a:srgbClr val="FFFFFF"/>
                    </a:solidFill>
                  </a:tcPr>
                </a:tc>
                <a:tc>
                  <a:txBody>
                    <a:bodyPr wrap="square"/>
                    <a:lstStyle/>
                    <a:p>
                      <a:r>
                        <a:rPr sz="1000" b="0">
                          <a:solidFill>
                            <a:srgbClr val="282828"/>
                          </a:solidFill>
                          <a:latin typeface="Arial"/>
                        </a:rPr>
                        <a:t>fused silica, 2-3 mm, in the mask seat; pinhole 5.27 µm (2.0 λF/D at F/4.2), clear</a:t>
                      </a:r>
                    </a:p>
                  </a:txBody>
                  <a:tcPr marL="54864" marR="54864" marT="18288" marB="18288">
                    <a:solidFill>
                      <a:srgbClr val="FFFFFF"/>
                    </a:solidFill>
                  </a:tcPr>
                </a:tc>
              </a:tr>
              <a:tr h="434340">
                <a:tc>
                  <a:txBody>
                    <a:bodyPr wrap="square"/>
                    <a:lstStyle/>
                    <a:p>
                      <a:r>
                        <a:rPr sz="1000" b="0">
                          <a:solidFill>
                            <a:srgbClr val="282828"/>
                          </a:solidFill>
                          <a:latin typeface="Arial"/>
                        </a:rPr>
                        <a:t>surround</a:t>
                      </a:r>
                    </a:p>
                  </a:txBody>
                  <a:tcPr marL="54864" marR="54864" marT="18288" marB="18288">
                    <a:solidFill>
                      <a:srgbClr val="ECF1F6"/>
                    </a:solidFill>
                  </a:tcPr>
                </a:tc>
                <a:tc>
                  <a:txBody>
                    <a:bodyPr wrap="square"/>
                    <a:lstStyle/>
                    <a:p>
                      <a:r>
                        <a:rPr sz="1000" b="0">
                          <a:solidFill>
                            <a:srgbClr val="282828"/>
                          </a:solidFill>
                          <a:latin typeface="Arial"/>
                        </a:rPr>
                        <a:t>attenuated to 0.72 in amplitude (0.52 in power), phase-stepped on a stage</a:t>
                      </a:r>
                    </a:p>
                  </a:txBody>
                  <a:tcPr marL="54864" marR="54864" marT="18288" marB="18288">
                    <a:solidFill>
                      <a:srgbClr val="ECF1F6"/>
                    </a:solidFill>
                  </a:tcPr>
                </a:tc>
              </a:tr>
              <a:tr h="262890">
                <a:tc>
                  <a:txBody>
                    <a:bodyPr wrap="square"/>
                    <a:lstStyle/>
                    <a:p>
                      <a:r>
                        <a:rPr sz="1000" b="0">
                          <a:solidFill>
                            <a:srgbClr val="282828"/>
                          </a:solidFill>
                          <a:latin typeface="Arial"/>
                        </a:rPr>
                        <a:t>shutter</a:t>
                      </a:r>
                    </a:p>
                  </a:txBody>
                  <a:tcPr marL="54864" marR="54864" marT="18288" marB="18288">
                    <a:solidFill>
                      <a:srgbClr val="FFFFFF"/>
                    </a:solidFill>
                  </a:tcPr>
                </a:tc>
                <a:tc>
                  <a:txBody>
                    <a:bodyPr wrap="square"/>
                    <a:lstStyle/>
                    <a:p>
                      <a:r>
                        <a:rPr sz="1000" b="0">
                          <a:solidFill>
                            <a:srgbClr val="282828"/>
                          </a:solidFill>
                          <a:latin typeface="Arial"/>
                        </a:rPr>
                        <a:t>over the surround: one pinhole-only frame per state</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6: the five-step scan plus the shutter frame</a:t>
                      </a:r>
                    </a:p>
                  </a:txBody>
                  <a:tcPr marL="54864" marR="54864" marT="18288" marB="18288">
                    <a:solidFill>
                      <a:srgbClr val="ECF1F6"/>
                    </a:solidFill>
                  </a:tcPr>
                </a:tc>
              </a:tr>
            </a:tbl>
          </a:graphicData>
        </a:graphic>
      </p:graphicFrame>
      <p:sp>
        <p:nvSpPr>
          <p:cNvPr id="6" name="TextBox 5"/>
          <p:cNvSpPr txBox="1"/>
          <p:nvPr/>
        </p:nvSpPr>
        <p:spPr>
          <a:xfrm>
            <a:off x="6400800" y="3445002"/>
            <a:ext cx="5394960" cy="274320"/>
          </a:xfrm>
          <a:prstGeom prst="rect">
            <a:avLst/>
          </a:prstGeom>
          <a:noFill/>
        </p:spPr>
        <p:txBody>
          <a:bodyPr wrap="square">
            <a:spAutoFit/>
          </a:bodyPr>
          <a:lstStyle/>
          <a:p>
            <a:pPr>
              <a:spcAft>
                <a:spcPts val="600"/>
              </a:spcAft>
            </a:pPr>
            <a:r>
              <a:rPr sz="1050" b="0">
                <a:solidFill>
                  <a:srgbClr val="6E6E6E"/>
                </a:solidFill>
                <a:latin typeface="Arial"/>
              </a:rPr>
              <a:t>The two-arm form of this sensor (the P/SRI: a pickoff, a reference lens, a 3.7 µm pinhole feeding a single-mode waveguide with a photonic phase shifter, a recombiner) is a capture instrument here; its trade is in backup.  Run tags pdi193fbase, ploop193, pdi193state.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leg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3447982" y="1298448"/>
            <a:ext cx="5295730"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within 0.18 nm of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P.png"/>
          <p:cNvPicPr>
            <a:picLocks noChangeAspect="1"/>
          </p:cNvPicPr>
          <p:nvPr/>
        </p:nvPicPr>
        <p:blipFill>
          <a:blip r:embed="rId2"/>
          <a:stretch>
            <a:fillRect/>
          </a:stretch>
        </p:blipFill>
        <p:spPr>
          <a:xfrm>
            <a:off x="2162193" y="1298448"/>
            <a:ext cx="7867309"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shutter frame measures the reference by itself,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0.18 nm is the raw map's error with the flat's calibration; through the matrix on the surface the pinhole reads 0.9935 / 4 pm, the same as the vector dimple.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94811"/>
                <a:gridCol w="3452726"/>
                <a:gridCol w="2526385"/>
                <a:gridCol w="2694811"/>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47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0.991 / 2 pm / 6076</a:t>
                      </a:r>
                    </a:p>
                  </a:txBody>
                  <a:tcPr marL="54864" marR="54864" marT="18288" marB="18288">
                    <a:solidFill>
                      <a:srgbClr val="FFFFFF"/>
                    </a:solidFill>
                  </a:tcPr>
                </a:tc>
                <a:tc>
                  <a:txBody>
                    <a:bodyPr wrap="square"/>
                    <a:lstStyle/>
                    <a:p>
                      <a:r>
                        <a:rPr sz="1100" b="0">
                          <a:solidFill>
                            <a:srgbClr val="282828"/>
                          </a:solidFill>
                          <a:latin typeface="Arial"/>
                        </a:rPr>
                        <a:t>0.990 / 1 pm (52 sites)</a:t>
                      </a:r>
                    </a:p>
                  </a:txBody>
                  <a:tcPr marL="54864" marR="54864" marT="18288" marB="18288">
                    <a:solidFill>
                      <a:srgbClr val="FFFFFF"/>
                    </a:solidFill>
                  </a:tcPr>
                </a:tc>
                <a:tc>
                  <a:txBody>
                    <a:bodyPr wrap="square"/>
                    <a:lstStyle/>
                    <a:p>
                      <a:r>
                        <a:rPr sz="1100" b="0">
                          <a:solidFill>
                            <a:srgbClr val="282828"/>
                          </a:solidFill>
                          <a:latin typeface="Arial"/>
                        </a:rPr>
                        <a:t>0.990 / 168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0.996 / 2 pm / 5301</a:t>
                      </a:r>
                    </a:p>
                  </a:txBody>
                  <a:tcPr marL="54864" marR="54864" marT="18288" marB="18288">
                    <a:solidFill>
                      <a:srgbClr val="ECF1F6"/>
                    </a:solidFill>
                  </a:tcPr>
                </a:tc>
                <a:tc>
                  <a:txBody>
                    <a:bodyPr wrap="square"/>
                    <a:lstStyle/>
                    <a:p>
                      <a:r>
                        <a:rPr sz="1100" b="0">
                          <a:solidFill>
                            <a:srgbClr val="282828"/>
                          </a:solidFill>
                          <a:latin typeface="Arial"/>
                        </a:rPr>
                        <a:t>0.958 / 1 pm (52 sites)</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0.989 / 5 pm / 2160</a:t>
                      </a:r>
                    </a:p>
                  </a:txBody>
                  <a:tcPr marL="54864" marR="54864" marT="18288" marB="18288">
                    <a:solidFill>
                      <a:srgbClr val="FFFFFF"/>
                    </a:solidFill>
                  </a:tcPr>
                </a:tc>
                <a:tc>
                  <a:txBody>
                    <a:bodyPr wrap="square"/>
                    <a:lstStyle/>
                    <a:p>
                      <a:r>
                        <a:rPr sz="1100" b="0">
                          <a:solidFill>
                            <a:srgbClr val="282828"/>
                          </a:solidFill>
                          <a:latin typeface="Arial"/>
                        </a:rPr>
                        <a:t>0.999 / 4 pm</a:t>
                      </a:r>
                    </a:p>
                  </a:txBody>
                  <a:tcPr marL="54864" marR="54864" marT="18288" marB="18288">
                    <a:solidFill>
                      <a:srgbClr val="FFFFFF"/>
                    </a:solidFill>
                  </a:tcPr>
                </a:tc>
                <a:tc>
                  <a:txBody>
                    <a:bodyPr wrap="square"/>
                    <a:lstStyle/>
                    <a:p>
                      <a:r>
                        <a:rPr sz="1100" b="0">
                          <a:solidFill>
                            <a:srgbClr val="282828"/>
                          </a:solidFill>
                          <a:latin typeface="Arial"/>
                        </a:rPr>
                        <a:t>0.984 / 0.68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0.9935 / 4 pm / 2830</a:t>
                      </a:r>
                    </a:p>
                  </a:txBody>
                  <a:tcPr marL="54864" marR="54864" marT="18288" marB="18288">
                    <a:solidFill>
                      <a:srgbClr val="ECF1F6"/>
                    </a:solidFill>
                  </a:tcPr>
                </a:tc>
                <a:tc>
                  <a:txBody>
                    <a:bodyPr wrap="square"/>
                    <a:lstStyle/>
                    <a:p>
                      <a:r>
                        <a:rPr sz="1100" b="0">
                          <a:solidFill>
                            <a:srgbClr val="282828"/>
                          </a:solidFill>
                          <a:latin typeface="Arial"/>
                        </a:rPr>
                        <a:t>0.9992 / 3 pm</a:t>
                      </a:r>
                    </a:p>
                  </a:txBody>
                  <a:tcPr marL="54864" marR="54864" marT="18288" marB="18288">
                    <a:solidFill>
                      <a:srgbClr val="ECF1F6"/>
                    </a:solidFill>
                  </a:tcPr>
                </a:tc>
                <a:tc>
                  <a:txBody>
                    <a:bodyPr wrap="square"/>
                    <a:lstStyle/>
                    <a:p>
                      <a:r>
                        <a:rPr sz="1100" b="0">
                          <a:solidFill>
                            <a:srgbClr val="282828"/>
                          </a:solidFill>
                          <a:latin typeface="Arial"/>
                        </a:rPr>
                        <a:t>0.9999 / 0.33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0.9935 / 4 pm / 2790</a:t>
                      </a:r>
                    </a:p>
                  </a:txBody>
                  <a:tcPr marL="54864" marR="54864" marT="18288" marB="18288">
                    <a:solidFill>
                      <a:srgbClr val="FFFFFF"/>
                    </a:solidFill>
                  </a:tcPr>
                </a:tc>
                <a:tc>
                  <a:txBody>
                    <a:bodyPr wrap="square"/>
                    <a:lstStyle/>
                    <a:p>
                      <a:r>
                        <a:rPr sz="1100" b="0">
                          <a:solidFill>
                            <a:srgbClr val="282828"/>
                          </a:solidFill>
                          <a:latin typeface="Arial"/>
                        </a:rPr>
                        <a:t>0.9992 / 3 pm</a:t>
                      </a:r>
                    </a:p>
                  </a:txBody>
                  <a:tcPr marL="54864" marR="54864" marT="18288" marB="18288">
                    <a:solidFill>
                      <a:srgbClr val="FFFFFF"/>
                    </a:solidFill>
                  </a:tcPr>
                </a:tc>
                <a:tc>
                  <a:txBody>
                    <a:bodyPr wrap="square"/>
                    <a:lstStyle/>
                    <a:p>
                      <a:r>
                        <a:rPr sz="1100" b="0">
                          <a:solidFill>
                            <a:srgbClr val="282828"/>
                          </a:solidFill>
                          <a:latin typeface="Arial"/>
                        </a:rPr>
                        <a:t>0.9985 / 338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The one-frame Zernike readings lose: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The interferometer's 52-site rows count the sites its pupil lights; the others use 47.  The interferometer's dense-pattern error, 168 pm against 0.33-0.68 nm, is its reference arm: it does not make its reference from the beam.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 oap_deck, matbase, matbase385, v193base, pdi193fbase, pfdeck.  The interferometer rows are at 385 pixels per pupil, the rest at 193; the 385 checks read the same.  The sensor rows re-run on the 22.5° bench of record (gate22_193) hold to the digit: stepped 0.989 / 5 pm, vector 0.994 / 3, pinhole 0.994 / 3 on one actuator; 0.998 / 4, 0.998 / 3, 0.998 / 3 on 47 sites.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743325"/>
        </p:xfrm>
        <a:graphic>
          <a:graphicData uri="http://schemas.openxmlformats.org/drawingml/2006/table">
            <a:tbl>
              <a:tblPr firstRow="1" bandRow="1">
                <a:tableStyleId>{5C22544A-7EE6-4342-B048-85BDC9FD1C3A}</a:tableStyleId>
              </a:tblPr>
              <a:tblGrid>
                <a:gridCol w="3279973"/>
                <a:gridCol w="2526466"/>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322 nm single site; 480 and beyond on the grid</a:t>
                      </a:r>
                    </a:p>
                  </a:txBody>
                  <a:tcPr marL="54864" marR="54864" marT="18288" marB="18288">
                    <a:solidFill>
                      <a:srgbClr val="ECF1F6"/>
                    </a:solidFill>
                  </a:tcPr>
                </a:tc>
              </a:tr>
              <a:tr h="468630">
                <a:tc>
                  <a:txBody>
                    <a:bodyPr wrap="square"/>
                    <a:lstStyle/>
                    <a:p>
                      <a:r>
                        <a:rPr sz="1100" b="0">
                          <a:solidFill>
                            <a:srgbClr val="282828"/>
                          </a:solidFill>
                          <a:latin typeface="Arial"/>
                        </a:rPr>
                        <a:t>the sensors on the mirror rig, 385 px (Zernike stepped / vector / pinhole)</a:t>
                      </a:r>
                    </a:p>
                  </a:txBody>
                  <a:tcPr marL="54864" marR="54864" marT="18288" marB="18288">
                    <a:solidFill>
                      <a:srgbClr val="FFFFFF"/>
                    </a:solidFill>
                  </a:tcPr>
                </a:tc>
                <a:tc>
                  <a:txBody>
                    <a:bodyPr wrap="square"/>
                    <a:lstStyle/>
                    <a:p>
                      <a:r>
                        <a:rPr sz="1100" b="0">
                          <a:solidFill>
                            <a:srgbClr val="282828"/>
                          </a:solidFill>
                          <a:latin typeface="Arial"/>
                        </a:rPr>
                        <a:t>36 / 59 / 52 nm: the lens rig's numbers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Why the sensors age: their reference is made from the beam's own core, and the core changes with the surface.  Past 100 nm rms (2 rad of phase) the core collapses and the reading goes blind.</a:t>
            </a:r>
          </a:p>
          <a:p>
            <a:pPr>
              <a:spcAft>
                <a:spcPts val="600"/>
              </a:spcAft>
            </a:pPr>
            <a:r>
              <a:rPr sz="1500" b="0">
                <a:solidFill>
                  <a:srgbClr val="282828"/>
                </a:solidFill>
                <a:latin typeface="Arial"/>
              </a:rPr>
              <a:t>•  The shutter frame fixes the pinhole's version of this: measuring the reference by itself each state removes the surface dependence, for one more frame.</a:t>
            </a:r>
          </a:p>
          <a:p>
            <a:pPr>
              <a:spcAft>
                <a:spcPts val="600"/>
              </a:spcAft>
            </a:pPr>
            <a:r>
              <a:rPr sz="1500" b="0">
                <a:solidFill>
                  <a:srgbClr val="282828"/>
                </a:solidFill>
                <a:latin typeface="Arial"/>
              </a:rPr>
              <a:t>•  Re-measuring the matrix on the surface restores every reading's gain to within 5% at 60-160 nm — at a photon price (next slide).</a:t>
            </a:r>
          </a:p>
        </p:txBody>
      </p:sp>
      <p:sp>
        <p:nvSpPr>
          <p:cNvPr id="6" name="TextBox 5"/>
          <p:cNvSpPr txBox="1"/>
          <p:nvPr/>
        </p:nvSpPr>
        <p:spPr>
          <a:xfrm>
            <a:off x="6355080" y="4343400"/>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oapsens385 (the mirror rig at 385 px, the Mac); 385 pixels per pupil, 47 sites (52 for the interferometer).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the light for 1 pm then rises 5-40× for the self-referenced sensors and not at all for the P/SRI</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463290"/>
        </p:xfrm>
        <a:graphic>
          <a:graphicData uri="http://schemas.openxmlformats.org/drawingml/2006/table">
            <a:tbl>
              <a:tblPr firstRow="1" bandRow="1">
                <a:tableStyleId>{5C22544A-7EE6-4342-B048-85BDC9FD1C3A}</a:tableStyleId>
              </a:tblPr>
              <a:tblGrid>
                <a:gridCol w="1435255"/>
                <a:gridCol w="7742826"/>
                <a:gridCol w="2190653"/>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47 sites, matrix re-measured at 60 / 90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0.96 / 25, 0.95 / 21, 0.96 / 17, 0.97 / 13 pm</a:t>
                      </a:r>
                    </a:p>
                  </a:txBody>
                  <a:tcPr marL="54864" marR="54864" marT="18288" marB="18288">
                    <a:solidFill>
                      <a:srgbClr val="FFFFFF"/>
                    </a:solidFill>
                  </a:tcPr>
                </a:tc>
                <a:tc>
                  <a:txBody>
                    <a:bodyPr wrap="square"/>
                    <a:lstStyle/>
                    <a:p>
                      <a:r>
                        <a:rPr sz="1100" b="0">
                          <a:solidFill>
                            <a:srgbClr val="282828"/>
                          </a:solidFill>
                          <a:latin typeface="Arial"/>
                        </a:rPr>
                        <a:t>9.2e13, 1.8e14, 6.2e14, 4.6e14</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0.93 / 59, 0.96 / 29, 0.97 / 22, 0.97 / 20 pm</a:t>
                      </a:r>
                    </a:p>
                  </a:txBody>
                  <a:tcPr marL="54864" marR="54864" marT="18288" marB="18288">
                    <a:solidFill>
                      <a:srgbClr val="ECF1F6"/>
                    </a:solidFill>
                  </a:tcPr>
                </a:tc>
                <a:tc>
                  <a:txBody>
                    <a:bodyPr wrap="square"/>
                    <a:lstStyle/>
                    <a:p>
                      <a:r>
                        <a:rPr sz="1100" b="0">
                          <a:solidFill>
                            <a:srgbClr val="282828"/>
                          </a:solidFill>
                          <a:latin typeface="Arial"/>
                        </a:rPr>
                        <a:t>8.8e13, then 1e15 class</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1.00 / 3, 0.96 / 47, 0.97 / 23, 0.97 / 21 pm</a:t>
                      </a:r>
                    </a:p>
                  </a:txBody>
                  <a:tcPr marL="54864" marR="54864" marT="18288" marB="18288">
                    <a:solidFill>
                      <a:srgbClr val="FFFFFF"/>
                    </a:solidFill>
                  </a:tcPr>
                </a:tc>
                <a:tc>
                  <a:txBody>
                    <a:bodyPr wrap="square"/>
                    <a:lstStyle/>
                    <a:p>
                      <a:r>
                        <a:rPr sz="1100" b="0">
                          <a:solidFill>
                            <a:srgbClr val="282828"/>
                          </a:solidFill>
                          <a:latin typeface="Arial"/>
                        </a:rPr>
                        <a:t>6.1e13, 1.1e14, 2.2e15, 2.4e15</a:t>
                      </a:r>
                    </a:p>
                  </a:txBody>
                  <a:tcPr marL="54864" marR="54864" marT="18288" marB="18288">
                    <a:solidFill>
                      <a:srgbClr val="FFFFFF"/>
                    </a:solidFill>
                  </a:tcPr>
                </a:tc>
              </a:tr>
              <a:tr h="46863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1.00 / 3, 0.96 / 41, 0.97 / 19, 0.97 / 17 pm</a:t>
                      </a:r>
                    </a:p>
                  </a:txBody>
                  <a:tcPr marL="54864" marR="54864" marT="18288" marB="18288">
                    <a:solidFill>
                      <a:srgbClr val="ECF1F6"/>
                    </a:solidFill>
                  </a:tcPr>
                </a:tc>
                <a:tc>
                  <a:txBody>
                    <a:bodyPr wrap="square"/>
                    <a:lstStyle/>
                    <a:p>
                      <a:r>
                        <a:rPr sz="1100" b="0">
                          <a:solidFill>
                            <a:srgbClr val="282828"/>
                          </a:solidFill>
                          <a:latin typeface="Arial"/>
                        </a:rPr>
                        <a:t>9.8e13, 1.7e14, tens of times more at 120-160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1.000 / 3, 1.001 / 2, 1.001 / 2, 1.002 / 2 pm</a:t>
                      </a:r>
                    </a:p>
                  </a:txBody>
                  <a:tcPr marL="54864" marR="54864" marT="18288" marB="18288">
                    <a:solidFill>
                      <a:srgbClr val="FFFFFF"/>
                    </a:solidFill>
                  </a:tcPr>
                </a:tc>
                <a:tc>
                  <a:txBody>
                    <a:bodyPr wrap="square"/>
                    <a:lstStyle/>
                    <a:p>
                      <a:r>
                        <a:rPr sz="1100" b="0">
                          <a:solidFill>
                            <a:srgbClr val="282828"/>
                          </a:solidFill>
                          <a:latin typeface="Arial"/>
                        </a:rPr>
                        <a:t>3.7e14, 4.1e14, 6.6e14, 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0.99 / 1 pm, correlation 0.9999, flat to 160 nm</a:t>
                      </a:r>
                    </a:p>
                  </a:txBody>
                  <a:tcPr marL="54864" marR="54864" marT="18288" marB="18288">
                    <a:solidFill>
                      <a:srgbClr val="ECF1F6"/>
                    </a:solidFill>
                  </a:tcPr>
                </a:tc>
                <a:tc>
                  <a:txBody>
                    <a:bodyPr wrap="square"/>
                    <a:lstStyle/>
                    <a:p>
                      <a:r>
                        <a:rPr sz="1100" b="0">
                          <a:solidFill>
                            <a:srgbClr val="282828"/>
                          </a:solidFill>
                          <a:latin typeface="Arial"/>
                        </a:rPr>
                        <a:t>2.5e14, stable to 160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0.958, correlation 0.980 to 160 nm</a:t>
                      </a:r>
                    </a:p>
                  </a:txBody>
                  <a:tcPr marL="54864" marR="54864" marT="18288" marB="18288">
                    <a:solidFill>
                      <a:srgbClr val="FFFFFF"/>
                    </a:solidFill>
                  </a:tcPr>
                </a:tc>
                <a:tc>
                  <a:txBody>
                    <a:bodyPr wrap="square"/>
                    <a:lstStyle/>
                    <a:p>
                      <a:r>
                        <a:rPr sz="1100" b="0">
                          <a:solidFill>
                            <a:srgbClr val="282828"/>
                          </a:solidFill>
                          <a:latin typeface="Arial"/>
                        </a:rPr>
                        <a:t>6.2e14, stable</a:t>
                      </a:r>
                    </a:p>
                  </a:txBody>
                  <a:tcPr marL="54864" marR="54864" marT="18288" marB="18288">
                    <a:solidFill>
                      <a:srgbClr val="FFFFFF"/>
                    </a:solidFill>
                  </a:tcPr>
                </a:tc>
              </a:tr>
              <a:tr h="468630">
                <a:tc>
                  <a:txBody>
                    <a:bodyPr wrap="square"/>
                    <a:lstStyle/>
                    <a:p>
                      <a:r>
                        <a:rPr sz="1100" b="0">
                          <a:solidFill>
                            <a:srgbClr val="282828"/>
                          </a:solidFill>
                          <a:latin typeface="Arial"/>
                        </a:rPr>
                        <a:t>interferometer, either rig</a:t>
                      </a:r>
                    </a:p>
                  </a:txBody>
                  <a:tcPr marL="54864" marR="54864" marT="18288" marB="18288">
                    <a:solidFill>
                      <a:srgbClr val="ECF1F6"/>
                    </a:solidFill>
                  </a:tcPr>
                </a:tc>
                <a:tc>
                  <a:txBody>
                    <a:bodyPr wrap="square"/>
                    <a:lstStyle/>
                    <a:p>
                      <a:r>
                        <a:rPr sz="1100" b="0">
                          <a:solidFill>
                            <a:srgbClr val="282828"/>
                          </a:solidFill>
                          <a:latin typeface="Arial"/>
                        </a:rPr>
                        <a:t>0.99 / 2 pm to 60 nm; between 60 and 120 nm the raw four-step reading wraps (the base past λ/2 of surface reads 91 nm rms whatever it is) on lens and mirror rigs alike; unwrapping restores it (next slides)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4908042"/>
            <a:ext cx="11368735" cy="274320"/>
          </a:xfrm>
          <a:prstGeom prst="rect">
            <a:avLst/>
          </a:prstGeom>
          <a:noFill/>
        </p:spPr>
        <p:txBody>
          <a:bodyPr wrap="square">
            <a:spAutoFit/>
          </a:bodyPr>
          <a:lstStyle/>
          <a:p>
            <a:pPr>
              <a:spcAft>
                <a:spcPts val="600"/>
              </a:spcAft>
            </a:pPr>
            <a:r>
              <a:rPr sz="1500" b="0">
                <a:solidFill>
                  <a:srgbClr val="282828"/>
                </a:solidFill>
                <a:latin typeface="Arial"/>
              </a:rPr>
              <a:t>•  What this says: off null, a self-referenced sensor keeps its accuracy through recalibration but pays in light (2e15 photons is 0.8 mJ, 3 s of a 1 mW laser); the two-arm instruments pay nothing because their reference does not move with the surface.</a:t>
            </a:r>
          </a:p>
        </p:txBody>
      </p:sp>
      <p:sp>
        <p:nvSpPr>
          <p:cNvPr id="6" name="TextBox 5"/>
          <p:cNvSpPr txBox="1"/>
          <p:nvPr/>
        </p:nvSpPr>
        <p:spPr>
          <a:xfrm>
            <a:off x="411480" y="5827776"/>
            <a:ext cx="11368735" cy="274320"/>
          </a:xfrm>
          <a:prstGeom prst="rect">
            <a:avLst/>
          </a:prstGeom>
          <a:noFill/>
        </p:spPr>
        <p:txBody>
          <a:bodyPr wrap="square">
            <a:spAutoFit/>
          </a:bodyPr>
          <a:lstStyle/>
          <a:p>
            <a:pPr>
              <a:spcAft>
                <a:spcPts val="600"/>
              </a:spcAft>
            </a:pPr>
            <a:r>
              <a:rPr sz="1050" b="0">
                <a:solidFill>
                  <a:srgbClr val="6E6E6E"/>
                </a:solidFill>
                <a:latin typeface="Arial"/>
              </a:rPr>
              <a:t>Run tags cap385_b60-b160, cap385p_b60-b160, noise193_b30-b160, noise193p_b30-b160, lens_deck, oap_deck.  Photons are per measurement, all frames summed, 6 noise realizations per point.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flat calibration the sensors need 3-6e13 photons per measurement and the interferometer 1.4-2.5e14; on the working surface the sensors' cost roughly doubles, on either front end, and the two-arm instruments' does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086100"/>
        </p:xfrm>
        <a:graphic>
          <a:graphicData uri="http://schemas.openxmlformats.org/drawingml/2006/table">
            <a:tbl>
              <a:tblPr firstRow="1" bandRow="1">
                <a:tableStyleId>{5C22544A-7EE6-4342-B048-85BDC9FD1C3A}</a:tableStyleId>
              </a:tblPr>
              <a:tblGrid>
                <a:gridCol w="3116692"/>
                <a:gridCol w="1238137"/>
                <a:gridCol w="1451610"/>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flat matrix</a:t>
                      </a:r>
                    </a:p>
                  </a:txBody>
                  <a:tcPr marL="54864" marR="54864" marT="18288" marB="18288">
                    <a:solidFill>
                      <a:srgbClr val="1F4E79"/>
                    </a:solidFill>
                  </a:tcPr>
                </a:tc>
                <a:tc>
                  <a:txBody>
                    <a:bodyPr wrap="square"/>
                    <a:lstStyle/>
                    <a:p>
                      <a:r>
                        <a:rPr sz="1100" b="1">
                          <a:solidFill>
                            <a:srgbClr val="FFFFFF"/>
                          </a:solidFill>
                          <a:latin typeface="Arial"/>
                        </a:rPr>
                        <a:t>on the 30 nm surface, matrix on it</a:t>
                      </a:r>
                    </a:p>
                  </a:txBody>
                  <a:tcPr marL="54864" marR="54864" marT="18288" marB="18288">
                    <a:solidFill>
                      <a:srgbClr val="1F4E79"/>
                    </a:solidFill>
                  </a:tcPr>
                </a:tc>
              </a:tr>
              <a:tr h="28003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3.3e13</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4.7e13</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5.4e13</a:t>
                      </a:r>
                    </a:p>
                  </a:txBody>
                  <a:tcPr marL="54864" marR="54864" marT="18288" marB="18288">
                    <a:solidFill>
                      <a:srgbClr val="FFFFFF"/>
                    </a:solidFill>
                  </a:tcPr>
                </a:tc>
                <a:tc>
                  <a:txBody>
                    <a:bodyPr wrap="square"/>
                    <a:lstStyle/>
                    <a:p>
                      <a:r>
                        <a:rPr sz="1100" b="0">
                          <a:solidFill>
                            <a:srgbClr val="282828"/>
                          </a:solidFill>
                          <a:latin typeface="Arial"/>
                        </a:rPr>
                        <a:t>8.8e13</a:t>
                      </a:r>
                    </a:p>
                  </a:txBody>
                  <a:tcPr marL="54864" marR="54864" marT="18288" marB="18288">
                    <a:solidFill>
                      <a:srgbClr val="FFFFFF"/>
                    </a:solidFill>
                  </a:tcPr>
                </a:tc>
              </a:tr>
              <a:tr h="280035">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5.4e13</a:t>
                      </a:r>
                    </a:p>
                  </a:txBody>
                  <a:tcPr marL="54864" marR="54864" marT="18288" marB="18288">
                    <a:solidFill>
                      <a:srgbClr val="ECF1F6"/>
                    </a:solidFill>
                  </a:tcPr>
                </a:tc>
                <a:tc>
                  <a:txBody>
                    <a:bodyPr wrap="square"/>
                    <a:lstStyle/>
                    <a:p>
                      <a:r>
                        <a:rPr sz="1100" b="0">
                          <a:solidFill>
                            <a:srgbClr val="282828"/>
                          </a:solidFill>
                          <a:latin typeface="Arial"/>
                        </a:rPr>
                        <a:t>9.2e13</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2.0e14</a:t>
                      </a:r>
                    </a:p>
                  </a:txBody>
                  <a:tcPr marL="54864" marR="54864" marT="18288" marB="18288">
                    <a:solidFill>
                      <a:srgbClr val="FFFFFF"/>
                    </a:solidFill>
                  </a:tcPr>
                </a:tc>
                <a:tc>
                  <a:txBody>
                    <a:bodyPr wrap="square"/>
                    <a:lstStyle/>
                    <a:p>
                      <a:r>
                        <a:rPr sz="1100" b="0">
                          <a:solidFill>
                            <a:srgbClr val="282828"/>
                          </a:solidFill>
                          <a:latin typeface="Arial"/>
                        </a:rPr>
                        <a:t>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1.4e14 (servo form)</a:t>
                      </a:r>
                    </a:p>
                  </a:txBody>
                  <a:tcPr marL="54864" marR="54864" marT="18288" marB="18288">
                    <a:solidFill>
                      <a:srgbClr val="ECF1F6"/>
                    </a:solidFill>
                  </a:tcPr>
                </a:tc>
                <a:tc>
                  <a:txBody>
                    <a:bodyPr wrap="square"/>
                    <a:lstStyle/>
                    <a:p>
                      <a:r>
                        <a:rPr sz="1100" b="0">
                          <a:solidFill>
                            <a:srgbClr val="282828"/>
                          </a:solidFill>
                          <a:latin typeface="Arial"/>
                        </a:rPr>
                        <a:t>2.5e14</a:t>
                      </a:r>
                    </a:p>
                  </a:txBody>
                  <a:tcPr marL="54864" marR="54864" marT="18288" marB="18288">
                    <a:solidFill>
                      <a:srgbClr val="ECF1F6"/>
                    </a:solidFill>
                  </a:tcPr>
                </a:tc>
              </a:tr>
              <a:tr h="280035">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4.9e14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468630">
                <a:tc>
                  <a:txBody>
                    <a:bodyPr wrap="square"/>
                    <a:lstStyle/>
                    <a:p>
                      <a:r>
                        <a:rPr sz="1100" b="0">
                          <a:solidFill>
                            <a:srgbClr val="282828"/>
                          </a:solidFill>
                          <a:latin typeface="Arial"/>
                        </a:rPr>
                        <a:t>stepped pinhole / vector Zernike / Zernike stepped, redesigned mirror rig</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8.5e13 / 7.3e13 / 5.8e13</a:t>
                      </a:r>
                    </a:p>
                  </a:txBody>
                  <a:tcPr marL="54864" marR="54864" marT="18288" marB="18288">
                    <a:solidFill>
                      <a:srgbClr val="ECF1F6"/>
                    </a:solidFill>
                  </a:tcPr>
                </a:tc>
              </a:tr>
            </a:tbl>
          </a:graphicData>
        </a:graphic>
      </p:graphicFrame>
      <p:pic>
        <p:nvPicPr>
          <p:cNvPr id="5" name="Picture 4" descr="zwfs_rec193full_noise.png"/>
          <p:cNvPicPr>
            <a:picLocks noChangeAspect="1"/>
          </p:cNvPicPr>
          <p:nvPr/>
        </p:nvPicPr>
        <p:blipFill>
          <a:blip r:embed="rId2"/>
          <a:stretch>
            <a:fillRect/>
          </a:stretch>
        </p:blipFill>
        <p:spPr>
          <a:xfrm>
            <a:off x="6501384" y="1298448"/>
            <a:ext cx="4928616" cy="3895344"/>
          </a:xfrm>
          <a:prstGeom prst="rect">
            <a:avLst/>
          </a:prstGeom>
        </p:spPr>
      </p:pic>
      <p:sp>
        <p:nvSpPr>
          <p:cNvPr id="6" name="TextBox 5"/>
          <p:cNvSpPr txBox="1"/>
          <p:nvPr/>
        </p:nvSpPr>
        <p:spPr>
          <a:xfrm>
            <a:off x="6428232" y="5212080"/>
            <a:ext cx="4928616"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Zernike reading, with the 1 pm line: the runner's own figure.</a:t>
            </a:r>
          </a:p>
        </p:txBody>
      </p:sp>
      <p:sp>
        <p:nvSpPr>
          <p:cNvPr id="7" name="TextBox 6"/>
          <p:cNvSpPr txBox="1"/>
          <p:nvPr/>
        </p:nvSpPr>
        <p:spPr>
          <a:xfrm>
            <a:off x="6428232" y="5641848"/>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Run tags pdi193f, v193noise, rec193full, noise193_b30, noise193p_b30, pfdeck, loop_lens, lens_deck, oap_deck, oapnoise22 (the sensors on the mirror rig).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1.5-1.7e12 photons per cycle, the pinhole and stepped Zernike from 2.3-2.7e12, the interferometer from 5.4-5.5e12, on either front end — and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4869180"/>
        </p:xfrm>
        <a:graphic>
          <a:graphicData uri="http://schemas.openxmlformats.org/drawingml/2006/table">
            <a:tbl>
              <a:tblPr firstRow="1" bandRow="1">
                <a:tableStyleId>{5C22544A-7EE6-4342-B048-85BDC9FD1C3A}</a:tableStyleId>
              </a:tblPr>
              <a:tblGrid>
                <a:gridCol w="1460975"/>
                <a:gridCol w="599374"/>
                <a:gridCol w="1198748"/>
                <a:gridCol w="1236209"/>
                <a:gridCol w="1311131"/>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1.5e12</a:t>
                      </a:r>
                    </a:p>
                  </a:txBody>
                  <a:tcPr marL="54864" marR="54864" marT="18288" marB="18288">
                    <a:solidFill>
                      <a:srgbClr val="FFFFFF"/>
                    </a:solidFill>
                  </a:tcPr>
                </a:tc>
                <a:tc>
                  <a:txBody>
                    <a:bodyPr wrap="square"/>
                    <a:lstStyle/>
                    <a:p>
                      <a:r>
                        <a:rPr sz="1100" b="0">
                          <a:solidFill>
                            <a:srgbClr val="282828"/>
                          </a:solidFill>
                          <a:latin typeface="Arial"/>
                        </a:rPr>
                        <a:t>5.3e12</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280035">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2.3e12</a:t>
                      </a:r>
                    </a:p>
                  </a:txBody>
                  <a:tcPr marL="54864" marR="54864" marT="18288" marB="18288">
                    <a:solidFill>
                      <a:srgbClr val="ECF1F6"/>
                    </a:solidFill>
                  </a:tcPr>
                </a:tc>
                <a:tc>
                  <a:txBody>
                    <a:bodyPr wrap="square"/>
                    <a:lstStyle/>
                    <a:p>
                      <a:r>
                        <a:rPr sz="1100" b="0">
                          <a:solidFill>
                            <a:srgbClr val="282828"/>
                          </a:solidFill>
                          <a:latin typeface="Arial"/>
                        </a:rPr>
                        <a:t>7.0e12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2.6e12</a:t>
                      </a:r>
                    </a:p>
                  </a:txBody>
                  <a:tcPr marL="54864" marR="54864" marT="18288" marB="18288">
                    <a:solidFill>
                      <a:srgbClr val="FFFFFF"/>
                    </a:solidFill>
                  </a:tcPr>
                </a:tc>
                <a:tc>
                  <a:txBody>
                    <a:bodyPr wrap="square"/>
                    <a:lstStyle/>
                    <a:p>
                      <a:r>
                        <a:rPr sz="1100" b="0">
                          <a:solidFill>
                            <a:srgbClr val="282828"/>
                          </a:solidFill>
                          <a:latin typeface="Arial"/>
                        </a:rPr>
                        <a:t>7.5e12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2.1e12</a:t>
                      </a:r>
                    </a:p>
                  </a:txBody>
                  <a:tcPr marL="54864" marR="54864" marT="18288" marB="18288">
                    <a:solidFill>
                      <a:srgbClr val="ECF1F6"/>
                    </a:solidFill>
                  </a:tcPr>
                </a:tc>
                <a:tc>
                  <a:txBody>
                    <a:bodyPr wrap="square"/>
                    <a:lstStyle/>
                    <a:p>
                      <a:r>
                        <a:rPr sz="1100" b="0">
                          <a:solidFill>
                            <a:srgbClr val="282828"/>
                          </a:solidFill>
                          <a:latin typeface="Arial"/>
                        </a:rPr>
                        <a:t>7.3e12</a:t>
                      </a:r>
                    </a:p>
                  </a:txBody>
                  <a:tcPr marL="54864" marR="54864" marT="18288" marB="18288">
                    <a:solidFill>
                      <a:srgbClr val="ECF1F6"/>
                    </a:solidFill>
                  </a:tcPr>
                </a:tc>
                <a:tc>
                  <a:txBody>
                    <a:bodyPr wrap="square"/>
                    <a:lstStyle/>
                    <a:p>
                      <a:r>
                        <a:rPr sz="1100" b="0">
                          <a:solidFill>
                            <a:srgbClr val="282828"/>
                          </a:solidFill>
                          <a:latin typeface="Arial"/>
                        </a:rPr>
                        <a:t>27.6 pm</a:t>
                      </a:r>
                    </a:p>
                  </a:txBody>
                  <a:tcPr marL="54864" marR="54864" marT="18288" marB="18288">
                    <a:solidFill>
                      <a:srgbClr val="ECF1F6"/>
                    </a:solidFill>
                  </a:tcPr>
                </a:tc>
                <a:tc>
                  <a:txBody>
                    <a:bodyPr wrap="square"/>
                    <a:lstStyle/>
                    <a:p>
                      <a:r>
                        <a:rPr sz="1100" b="0">
                          <a:solidFill>
                            <a:srgbClr val="282828"/>
                          </a:solidFill>
                          <a:latin typeface="Arial"/>
                        </a:rPr>
                        <a:t>1.2 pm, still falling</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5.1e12</a:t>
                      </a:r>
                    </a:p>
                  </a:txBody>
                  <a:tcPr marL="54864" marR="54864" marT="18288" marB="18288">
                    <a:solidFill>
                      <a:srgbClr val="FFFFFF"/>
                    </a:solidFill>
                  </a:tcPr>
                </a:tc>
                <a:tc>
                  <a:txBody>
                    <a:bodyPr wrap="square"/>
                    <a:lstStyle/>
                    <a:p>
                      <a:r>
                        <a:rPr sz="1100" b="0">
                          <a:solidFill>
                            <a:srgbClr val="282828"/>
                          </a:solidFill>
                          <a:latin typeface="Arial"/>
                        </a:rPr>
                        <a:t>1.5e13</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13.1 pm</a:t>
                      </a:r>
                    </a:p>
                  </a:txBody>
                  <a:tcPr marL="54864" marR="54864" marT="18288" marB="18288">
                    <a:solidFill>
                      <a:srgbClr val="ECF1F6"/>
                    </a:solidFill>
                  </a:tcPr>
                </a:tc>
                <a:tc>
                  <a:txBody>
                    <a:bodyPr wrap="square"/>
                    <a:lstStyle/>
                    <a:p>
                      <a:r>
                        <a:rPr sz="1100" b="0">
                          <a:solidFill>
                            <a:srgbClr val="282828"/>
                          </a:solidFill>
                          <a:latin typeface="Arial"/>
                        </a:rPr>
                        <a:t>87 pm (8.6%), rising</a:t>
                      </a:r>
                    </a:p>
                  </a:txBody>
                  <a:tcPr marL="54864" marR="54864" marT="18288" marB="18288">
                    <a:solidFill>
                      <a:srgbClr val="ECF1F6"/>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1.7e12</a:t>
                      </a:r>
                    </a:p>
                  </a:txBody>
                  <a:tcPr marL="54864" marR="54864" marT="18288" marB="18288">
                    <a:solidFill>
                      <a:srgbClr val="FFFFFF"/>
                    </a:solidFill>
                  </a:tcPr>
                </a:tc>
                <a:tc>
                  <a:txBody>
                    <a:bodyPr wrap="square"/>
                    <a:lstStyle/>
                    <a:p>
                      <a:r>
                        <a:rPr sz="1100" b="0">
                          <a:solidFill>
                            <a:srgbClr val="282828"/>
                          </a:solidFill>
                          <a:latin typeface="Arial"/>
                        </a:rPr>
                        <a:t>5.7e12</a:t>
                      </a:r>
                    </a:p>
                  </a:txBody>
                  <a:tcPr marL="54864" marR="54864" marT="18288" marB="18288">
                    <a:solidFill>
                      <a:srgbClr val="FFFFFF"/>
                    </a:solidFill>
                  </a:tcPr>
                </a:tc>
                <a:tc>
                  <a:txBody>
                    <a:bodyPr wrap="square"/>
                    <a:lstStyle/>
                    <a:p>
                      <a:r>
                        <a:rPr sz="1100" b="0">
                          <a:solidFill>
                            <a:srgbClr val="282828"/>
                          </a:solidFill>
                          <a:latin typeface="Arial"/>
                        </a:rPr>
                        <a:t>9.8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ECF1F6"/>
                    </a:solidFill>
                  </a:tcPr>
                </a:tc>
                <a:tc>
                  <a:txBody>
                    <a:bodyPr wrap="square"/>
                    <a:lstStyle/>
                    <a:p>
                      <a:r>
                        <a:rPr sz="1100" b="0">
                          <a:solidFill>
                            <a:srgbClr val="282828"/>
                          </a:solidFill>
                          <a:latin typeface="Arial"/>
                        </a:rPr>
                        <a:t>2.5e12</a:t>
                      </a:r>
                    </a:p>
                  </a:txBody>
                  <a:tcPr marL="54864" marR="54864" marT="18288" marB="18288">
                    <a:solidFill>
                      <a:srgbClr val="ECF1F6"/>
                    </a:solidFill>
                  </a:tcPr>
                </a:tc>
                <a:tc>
                  <a:txBody>
                    <a:bodyPr wrap="square"/>
                    <a:lstStyle/>
                    <a:p>
                      <a:r>
                        <a:rPr sz="1100" b="0">
                          <a:solidFill>
                            <a:srgbClr val="282828"/>
                          </a:solidFill>
                          <a:latin typeface="Arial"/>
                        </a:rPr>
                        <a:t>7.4e12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Zernike stepped, mirror rig</a:t>
                      </a:r>
                    </a:p>
                  </a:txBody>
                  <a:tcPr marL="54864" marR="54864" marT="18288" marB="18288">
                    <a:solidFill>
                      <a:srgbClr val="FFFFFF"/>
                    </a:solidFill>
                  </a:tcPr>
                </a:tc>
                <a:tc>
                  <a:txBody>
                    <a:bodyPr wrap="square"/>
                    <a:lstStyle/>
                    <a:p>
                      <a:r>
                        <a:rPr sz="1100" b="0">
                          <a:solidFill>
                            <a:srgbClr val="282828"/>
                          </a:solidFill>
                          <a:latin typeface="Arial"/>
                        </a:rPr>
                        <a:t>2.7e12</a:t>
                      </a:r>
                    </a:p>
                  </a:txBody>
                  <a:tcPr marL="54864" marR="54864" marT="18288" marB="18288">
                    <a:solidFill>
                      <a:srgbClr val="FFFFFF"/>
                    </a:solidFill>
                  </a:tcPr>
                </a:tc>
                <a:tc>
                  <a:txBody>
                    <a:bodyPr wrap="square"/>
                    <a:lstStyle/>
                    <a:p>
                      <a:r>
                        <a:rPr sz="1100" b="0">
                          <a:solidFill>
                            <a:srgbClr val="282828"/>
                          </a:solidFill>
                          <a:latin typeface="Arial"/>
                        </a:rPr>
                        <a:t>7.9e12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ECF1F6"/>
                    </a:solidFill>
                  </a:tcPr>
                </a:tc>
                <a:tc>
                  <a:txBody>
                    <a:bodyPr wrap="square"/>
                    <a:lstStyle/>
                    <a:p>
                      <a:r>
                        <a:rPr sz="1100" b="0">
                          <a:solidFill>
                            <a:srgbClr val="282828"/>
                          </a:solidFill>
                          <a:latin typeface="Arial"/>
                        </a:rPr>
                        <a:t>5.4e12</a:t>
                      </a:r>
                    </a:p>
                  </a:txBody>
                  <a:tcPr marL="54864" marR="54864" marT="18288" marB="18288">
                    <a:solidFill>
                      <a:srgbClr val="ECF1F6"/>
                    </a:solidFill>
                  </a:tcPr>
                </a:tc>
                <a:tc>
                  <a:txBody>
                    <a:bodyPr wrap="square"/>
                    <a:lstStyle/>
                    <a:p>
                      <a:r>
                        <a:rPr sz="1100" b="0">
                          <a:solidFill>
                            <a:srgbClr val="282828"/>
                          </a:solidFill>
                          <a:latin typeface="Arial"/>
                        </a:rPr>
                        <a:t>1.7e13</a:t>
                      </a:r>
                    </a:p>
                  </a:txBody>
                  <a:tcPr marL="54864" marR="54864" marT="18288" marB="18288">
                    <a:solidFill>
                      <a:srgbClr val="ECF1F6"/>
                    </a:solidFill>
                  </a:tcPr>
                </a:tc>
                <a:tc>
                  <a:txBody>
                    <a:bodyPr wrap="square"/>
                    <a:lstStyle/>
                    <a:p>
                      <a:r>
                        <a:rPr sz="1100" b="0">
                          <a:solidFill>
                            <a:srgbClr val="282828"/>
                          </a:solidFill>
                          <a:latin typeface="Arial"/>
                        </a:rPr>
                        <a:t>10.0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3.4e13</a:t>
                      </a:r>
                    </a:p>
                  </a:txBody>
                  <a:tcPr marL="54864" marR="54864" marT="18288" marB="18288">
                    <a:solidFill>
                      <a:srgbClr val="FFFFFF"/>
                    </a:solidFill>
                  </a:tcPr>
                </a:tc>
                <a:tc>
                  <a:txBody>
                    <a:bodyPr wrap="square"/>
                    <a:lstStyle/>
                    <a:p>
                      <a:r>
                        <a:rPr sz="1100" b="0">
                          <a:solidFill>
                            <a:srgbClr val="282828"/>
                          </a:solidFill>
                          <a:latin typeface="Arial"/>
                        </a:rPr>
                        <a:t>never (4.1 pm floor)</a:t>
                      </a:r>
                    </a:p>
                  </a:txBody>
                  <a:tcPr marL="54864" marR="54864" marT="18288" marB="18288">
                    <a:solidFill>
                      <a:srgbClr val="FFFFFF"/>
                    </a:solidFill>
                  </a:tcPr>
                </a:tc>
                <a:tc>
                  <a:txBody>
                    <a:bodyPr wrap="square"/>
                    <a:lstStyle/>
                    <a:p>
                      <a:r>
                        <a:rPr sz="1100" b="0">
                          <a:solidFill>
                            <a:srgbClr val="282828"/>
                          </a:solidFill>
                          <a:latin typeface="Arial"/>
                        </a:rPr>
                        <a:t>39 pm</a:t>
                      </a:r>
                    </a:p>
                  </a:txBody>
                  <a:tcPr marL="54864" marR="54864" marT="18288" marB="18288">
                    <a:solidFill>
                      <a:srgbClr val="FFFFFF"/>
                    </a:solidFill>
                  </a:tcPr>
                </a:tc>
                <a:tc>
                  <a:txBody>
                    <a:bodyPr wrap="square"/>
                    <a:lstStyle/>
                    <a:p>
                      <a:r>
                        <a:rPr sz="1100" b="0">
                          <a:solidFill>
                            <a:srgbClr val="282828"/>
                          </a:solidFill>
                          <a:latin typeface="Arial"/>
                        </a:rPr>
                        <a:t>276 pm (27.6%)</a:t>
                      </a:r>
                    </a:p>
                  </a:txBody>
                  <a:tcPr marL="54864" marR="54864" marT="18288" marB="18288">
                    <a:solidFill>
                      <a:srgbClr val="FFFFFF"/>
                    </a:solidFill>
                  </a:tcPr>
                </a:tc>
              </a:tr>
            </a:tbl>
          </a:graphicData>
        </a:graphic>
      </p:graphicFrame>
      <p:pic>
        <p:nvPicPr>
          <p:cNvPr id="5" name="Picture 4" descr="crop_zwfs_vloop193_right.png"/>
          <p:cNvPicPr>
            <a:picLocks noChangeAspect="1"/>
          </p:cNvPicPr>
          <p:nvPr/>
        </p:nvPicPr>
        <p:blipFill>
          <a:blip r:embed="rId2"/>
          <a:stretch>
            <a:fillRect/>
          </a:stretch>
        </p:blipFill>
        <p:spPr>
          <a:xfrm>
            <a:off x="7086600" y="1271016"/>
            <a:ext cx="4005072" cy="3374136"/>
          </a:xfrm>
          <a:prstGeom prst="rect">
            <a:avLst/>
          </a:prstGeom>
        </p:spPr>
      </p:pic>
      <p:sp>
        <p:nvSpPr>
          <p:cNvPr id="6" name="TextBox 5"/>
          <p:cNvSpPr txBox="1"/>
          <p:nvPr/>
        </p:nvSpPr>
        <p:spPr>
          <a:xfrm>
            <a:off x="6400800" y="4700016"/>
            <a:ext cx="4005072" cy="559307"/>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(green) and vector (purple) Zernike readings, with no drift, a 2 pm walk, and a 5 pm ramp: the runner's own figure.</a:t>
            </a:r>
          </a:p>
        </p:txBody>
      </p:sp>
      <p:sp>
        <p:nvSpPr>
          <p:cNvPr id="7" name="TextBox 6"/>
          <p:cNvSpPr txBox="1"/>
          <p:nvPr/>
        </p:nvSpPr>
        <p:spPr>
          <a:xfrm>
            <a:off x="6400800" y="5193792"/>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10 pm is the loop's lag (rate ÷ gain), the same for every reading with no fixed error, and it is low-order: 9.2 of its 10 pm sits below 4 cycles per aperture, so a faster or higher-gain low-order loop removes it while light buys nothing.  Both drift floors are the textbook formulas, reproduced by the engine to 1%.  The exact one-frame Zernike reading diverges in the loop.  Run tags vloop193, ploop193, loop193, pfdeck_loop, loop_lens, loop_oap, oapifol2, oaploop22 (the sensors on the mirror rig).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4029075"/>
        </p:xfrm>
        <a:graphic>
          <a:graphicData uri="http://schemas.openxmlformats.org/drawingml/2006/table">
            <a:tbl>
              <a:tblPr firstRow="1" bandRow="1">
                <a:tableStyleId>{5C22544A-7EE6-4342-B048-85BDC9FD1C3A}</a:tableStyleId>
              </a:tblPr>
              <a:tblGrid>
                <a:gridCol w="1470462"/>
                <a:gridCol w="1093420"/>
                <a:gridCol w="3242557"/>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468630">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300 nm (600 nm WFE)</a:t>
                      </a:r>
                    </a:p>
                  </a:txBody>
                  <a:tcPr marL="54864" marR="54864" marT="18288" marB="18288">
                    <a:solidFill>
                      <a:srgbClr val="ECF1F6"/>
                    </a:solidFill>
                  </a:tcPr>
                </a:tc>
                <a:tc>
                  <a:txBody>
                    <a:bodyPr wrap="square"/>
                    <a:lstStyle/>
                    <a:p>
                      <a:r>
                        <a:rPr sz="1100" b="0">
                          <a:solidFill>
                            <a:srgbClr val="282828"/>
                          </a:solidFill>
                          <a:latin typeface="Arial"/>
                        </a:rPr>
                        <a:t>unwrap alone: 3 pm in 16 / 18 / 21 / 25 / 43 cycles from 60 / 100 / 150 / 200 / 300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FFFFFF"/>
                    </a:solidFill>
                  </a:tcPr>
                </a:tc>
                <a:tc>
                  <a:txBody>
                    <a:bodyPr wrap="square"/>
                    <a:lstStyle/>
                    <a:p>
                      <a:r>
                        <a:rPr sz="1100" b="0">
                          <a:solidFill>
                            <a:srgbClr val="282828"/>
                          </a:solidFill>
                          <a:latin typeface="Arial"/>
                        </a:rPr>
                        <a:t>200 nm (400 nm WFE)</a:t>
                      </a:r>
                    </a:p>
                  </a:txBody>
                  <a:tcPr marL="54864" marR="54864" marT="18288" marB="18288">
                    <a:solidFill>
                      <a:srgbClr val="FFFFFF"/>
                    </a:solidFill>
                  </a:tcPr>
                </a:tc>
                <a:tc>
                  <a:txBody>
                    <a:bodyPr wrap="square"/>
                    <a:lstStyle/>
                    <a:p>
                      <a:r>
                        <a:rPr sz="1100" b="0">
                          <a:solidFill>
                            <a:srgbClr val="282828"/>
                          </a:solidFill>
                          <a:latin typeface="Arial"/>
                        </a:rPr>
                        <a:t>unwrap alone: 3 pm in 17 / 19 cycles from 100 / 200 nm, contraction 0.50</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ECF1F6"/>
                    </a:solidFill>
                  </a:tcPr>
                </a:tc>
                <a:tc>
                  <a:txBody>
                    <a:bodyPr wrap="square"/>
                    <a:lstStyle/>
                    <a:p>
                      <a:r>
                        <a:rPr sz="1100" b="0">
                          <a:solidFill>
                            <a:srgbClr val="282828"/>
                          </a:solidFill>
                          <a:latin typeface="Arial"/>
                        </a:rPr>
                        <a:t>none</a:t>
                      </a:r>
                    </a:p>
                  </a:txBody>
                  <a:tcPr marL="54864" marR="54864" marT="18288" marB="18288">
                    <a:solidFill>
                      <a:srgbClr val="ECF1F6"/>
                    </a:solidFill>
                  </a:tcPr>
                </a:tc>
                <a:tc>
                  <a:txBody>
                    <a:bodyPr wrap="square"/>
                    <a:lstStyle/>
                    <a:p>
                      <a:r>
                        <a:rPr sz="1100" b="0">
                          <a:solidFill>
                            <a:srgbClr val="282828"/>
                          </a:solidFill>
                          <a:latin typeface="Arial"/>
                        </a:rPr>
                        <a:t>stalls at 5.9 / 24 / 53 nm from 60 / 150 / 300</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The wrap is not the limit for the self-referenced sensors: past 60 nm their differential comes back at 24-28 nm whatever the truth, with zero residues — the focal reference has collapsed, the reading is blind, not folded.</a:t>
            </a:r>
          </a:p>
          <a:p>
            <a:pPr>
              <a:spcAft>
                <a:spcPts val="600"/>
              </a:spcAft>
            </a:pPr>
            <a:r>
              <a:rPr sz="1500" b="0">
                <a:solidFill>
                  <a:srgbClr val="282828"/>
                </a:solidFill>
                <a:latin typeface="Arial"/>
              </a:rPr>
              <a:t>•  Unwrapping alone is not enough for the pinhole or the P/SRI: the calibration measured at the start is wrong by the time the surface has moved; re-measuring it every 10 cycles (3 times in the descent) closes the loop.  Cadence is not the constraint; the cycle count is.</a:t>
            </a:r>
          </a:p>
          <a:p>
            <a:pPr>
              <a:spcAft>
                <a:spcPts val="600"/>
              </a:spcAft>
            </a:pPr>
            <a:r>
              <a:rPr sz="1500" b="0">
                <a:solidFill>
                  <a:srgbClr val="282828"/>
                </a:solidFill>
                <a:latin typeface="Arial"/>
              </a:rPr>
              <a:t>•  The interferometer needs no recalibration because its reference is the flat, not the beam.</a:t>
            </a:r>
          </a:p>
        </p:txBody>
      </p:sp>
      <p:sp>
        <p:nvSpPr>
          <p:cNvPr id="6" name="TextBox 5"/>
          <p:cNvSpPr txBox="1"/>
          <p:nvPr/>
        </p:nvSpPr>
        <p:spPr>
          <a:xfrm>
            <a:off x="6419088" y="4553712"/>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cap_nouw, cap_uw, cap_state_uw_recal, descent193, descent_lens, descent_oap, oapdesc2.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the record</a:t>
            </a:r>
          </a:p>
          <a:p>
            <a:pPr>
              <a:spcAft>
                <a:spcPts val="0"/>
              </a:spcAft>
            </a:pPr>
            <a:r>
              <a:rPr sz="1250" b="0">
                <a:solidFill>
                  <a:srgbClr val="6E6E6E"/>
                </a:solidFill>
                <a:latin typeface="Arial"/>
              </a:rPr>
              <a:t>On the record's 7° mirror rig the interferometer lost its servo and its capture and the focus-critical sensors broke; the cause was read as fold coma.  It was not (next slide): the collimator was fed 25 mm inside its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646170"/>
        </p:xfrm>
        <a:graphic>
          <a:graphicData uri="http://schemas.openxmlformats.org/drawingml/2006/table">
            <a:tbl>
              <a:tblPr firstRow="1" bandRow="1">
                <a:tableStyleId>{5C22544A-7EE6-4342-B048-85BDC9FD1C3A}</a:tableStyleId>
              </a:tblPr>
              <a:tblGrid>
                <a:gridCol w="2416966"/>
                <a:gridCol w="1163320"/>
                <a:gridCol w="2226153"/>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(bare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 nm on 52 sites</a:t>
                      </a:r>
                    </a:p>
                  </a:txBody>
                  <a:tcPr marL="54864" marR="54864" marT="18288" marB="18288">
                    <a:solidFill>
                      <a:srgbClr val="FFFFFF"/>
                    </a:solidFill>
                  </a:tcPr>
                </a:tc>
                <a:tc>
                  <a:txBody>
                    <a:bodyPr wrap="square"/>
                    <a:lstStyle/>
                    <a:p>
                      <a:r>
                        <a:rPr sz="1100" b="0">
                          <a:solidFill>
                            <a:srgbClr val="282828"/>
                          </a:solidFill>
                          <a:latin typeface="Arial"/>
                        </a:rPr>
                        <a:t>0.990 / 1 pm</a:t>
                      </a:r>
                    </a:p>
                  </a:txBody>
                  <a:tcPr marL="54864" marR="54864" marT="18288" marB="18288">
                    <a:solidFill>
                      <a:srgbClr val="FFFFFF"/>
                    </a:solidFill>
                  </a:tcPr>
                </a:tc>
                <a:tc>
                  <a:txBody>
                    <a:bodyPr wrap="square"/>
                    <a:lstStyle/>
                    <a:p>
                      <a:r>
                        <a:rPr sz="1100" b="0">
                          <a:solidFill>
                            <a:srgbClr val="282828"/>
                          </a:solidFill>
                          <a:latin typeface="Arial"/>
                        </a:rPr>
                        <a:t>0.958 / 1 pm</a:t>
                      </a:r>
                    </a:p>
                  </a:txBody>
                  <a:tcPr marL="54864" marR="54864" marT="18288" marB="18288">
                    <a:solidFill>
                      <a:srgbClr val="FFFFFF"/>
                    </a:solidFill>
                  </a:tcPr>
                </a:tc>
              </a:tr>
              <a:tr h="280035">
                <a:tc>
                  <a:txBody>
                    <a:bodyPr wrap="square"/>
                    <a:lstStyle/>
                    <a:p>
                      <a:r>
                        <a:rPr sz="1100" b="0">
                          <a:solidFill>
                            <a:srgbClr val="282828"/>
                          </a:solidFill>
                          <a:latin typeface="Arial"/>
                        </a:rPr>
                        <a:t>interferometer, dense 10 nm</a:t>
                      </a:r>
                    </a:p>
                  </a:txBody>
                  <a:tcPr marL="54864" marR="54864" marT="18288" marB="18288">
                    <a:solidFill>
                      <a:srgbClr val="ECF1F6"/>
                    </a:solidFill>
                  </a:tcPr>
                </a:tc>
                <a:tc>
                  <a:txBody>
                    <a:bodyPr wrap="square"/>
                    <a:lstStyle/>
                    <a:p>
                      <a:r>
                        <a:rPr sz="1100" b="0">
                          <a:solidFill>
                            <a:srgbClr val="282828"/>
                          </a:solidFill>
                          <a:latin typeface="Arial"/>
                        </a:rPr>
                        <a:t>0.990 / 168 pm</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below 0.06</a:t>
                      </a:r>
                    </a:p>
                  </a:txBody>
                  <a:tcPr marL="54864" marR="54864" marT="18288" marB="18288">
                    <a:solidFill>
                      <a:srgbClr val="FFFFFF"/>
                    </a:solidFill>
                  </a:tcPr>
                </a:tc>
                <a:tc>
                  <a:txBody>
                    <a:bodyPr wrap="square"/>
                    <a:lstStyle/>
                    <a:p>
                      <a:r>
                        <a:rPr sz="1100" b="0">
                          <a:solidFill>
                            <a:srgbClr val="282828"/>
                          </a:solidFill>
                          <a:latin typeface="Arial"/>
                        </a:rPr>
                        <a:t>about 0.18</a:t>
                      </a:r>
                    </a:p>
                  </a:txBody>
                  <a:tcPr marL="54864" marR="54864" marT="18288" marB="18288">
                    <a:solidFill>
                      <a:srgbClr val="FFFFFF"/>
                    </a:solidFill>
                  </a:tcPr>
                </a:tc>
              </a:tr>
              <a:tr h="280035">
                <a:tc>
                  <a:txBody>
                    <a:bodyPr wrap="square"/>
                    <a:lstStyle/>
                    <a:p>
                      <a:r>
                        <a:rPr sz="1100" b="0">
                          <a:solidFill>
                            <a:srgbClr val="282828"/>
                          </a:solidFill>
                          <a:latin typeface="Arial"/>
                        </a:rPr>
                        <a:t>servo, 3 pm under the walk</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never</a:t>
                      </a:r>
                    </a:p>
                  </a:txBody>
                  <a:tcPr marL="54864" marR="54864" marT="18288" marB="18288">
                    <a:solidFill>
                      <a:srgbClr val="ECF1F6"/>
                    </a:solidFill>
                  </a:tcPr>
                </a:tc>
              </a:tr>
              <a:tr h="280035">
                <a:tc>
                  <a:txBody>
                    <a:bodyPr wrap="square"/>
                    <a:lstStyle/>
                    <a:p>
                      <a:r>
                        <a:rPr sz="1100" b="0">
                          <a:solidFill>
                            <a:srgbClr val="282828"/>
                          </a:solidFill>
                          <a:latin typeface="Arial"/>
                        </a:rPr>
                        <a:t>noiseless step, fixed error</a:t>
                      </a:r>
                    </a:p>
                  </a:txBody>
                  <a:tcPr marL="54864" marR="54864" marT="18288" marB="18288">
                    <a:solidFill>
                      <a:srgbClr val="FFFFFF"/>
                    </a:solidFill>
                  </a:tcPr>
                </a:tc>
                <a:tc>
                  <a:txBody>
                    <a:bodyPr wrap="square"/>
                    <a:lstStyle/>
                    <a:p>
                      <a:r>
                        <a:rPr sz="1100" b="0">
                          <a:solidFill>
                            <a:srgbClr val="282828"/>
                          </a:solidFill>
                          <a:latin typeface="Arial"/>
                        </a:rPr>
                        <a:t>8.6%</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r>
              <a:tr h="280035">
                <a:tc>
                  <a:txBody>
                    <a:bodyPr wrap="square"/>
                    <a:lstStyle/>
                    <a:p>
                      <a:r>
                        <a:rPr sz="1100" b="0">
                          <a:solidFill>
                            <a:srgbClr val="282828"/>
                          </a:solidFill>
                          <a:latin typeface="Arial"/>
                        </a:rPr>
                        <a:t>capture from 60-300 nm</a:t>
                      </a:r>
                    </a:p>
                  </a:txBody>
                  <a:tcPr marL="54864" marR="54864" marT="18288" marB="18288">
                    <a:solidFill>
                      <a:srgbClr val="ECF1F6"/>
                    </a:solidFill>
                  </a:tcPr>
                </a:tc>
                <a:tc>
                  <a:txBody>
                    <a:bodyPr wrap="square"/>
                    <a:lstStyle/>
                    <a:p>
                      <a:r>
                        <a:rPr sz="1100" b="0">
                          <a:solidFill>
                            <a:srgbClr val="282828"/>
                          </a:solidFill>
                          <a:latin typeface="Arial"/>
                        </a:rPr>
                        <a:t>converges</a:t>
                      </a:r>
                    </a:p>
                  </a:txBody>
                  <a:tcPr marL="54864" marR="54864" marT="18288" marB="18288">
                    <a:solidFill>
                      <a:srgbClr val="ECF1F6"/>
                    </a:solidFill>
                  </a:tcPr>
                </a:tc>
                <a:tc>
                  <a:txBody>
                    <a:bodyPr wrap="square"/>
                    <a:lstStyle/>
                    <a:p>
                      <a:r>
                        <a:rPr sz="1100" b="0">
                          <a:solidFill>
                            <a:srgbClr val="282828"/>
                          </a:solidFill>
                          <a:latin typeface="Arial"/>
                        </a:rPr>
                        <a:t>stalls</a:t>
                      </a:r>
                    </a:p>
                  </a:txBody>
                  <a:tcPr marL="54864" marR="54864" marT="18288" marB="18288">
                    <a:solidFill>
                      <a:srgbClr val="ECF1F6"/>
                    </a:solidFill>
                  </a:tcPr>
                </a:tc>
              </a:tr>
              <a:tr h="468630">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95-103 nm of null shift</a:t>
                      </a:r>
                    </a:p>
                  </a:txBody>
                  <a:tcPr marL="54864" marR="54864" marT="18288" marB="18288">
                    <a:solidFill>
                      <a:srgbClr val="FFFFFF"/>
                    </a:solidFill>
                  </a:tcPr>
                </a:tc>
              </a:tr>
              <a:tr h="468630">
                <a:tc>
                  <a:txBody>
                    <a:bodyPr wrap="square"/>
                    <a:lstStyle/>
                    <a:p>
                      <a:r>
                        <a:rPr sz="1100" b="0">
                          <a:solidFill>
                            <a:srgbClr val="282828"/>
                          </a:solidFill>
                          <a:latin typeface="Arial"/>
                        </a:rPr>
                        <a:t>Zernike stepped, 10 nm on one actuator</a:t>
                      </a:r>
                    </a:p>
                  </a:txBody>
                  <a:tcPr marL="54864" marR="54864" marT="18288" marB="18288">
                    <a:solidFill>
                      <a:srgbClr val="ECF1F6"/>
                    </a:solidFill>
                  </a:tcPr>
                </a:tc>
                <a:tc>
                  <a:txBody>
                    <a:bodyPr wrap="square"/>
                    <a:lstStyle/>
                    <a:p>
                      <a:r>
                        <a:rPr sz="1100" b="0">
                          <a:solidFill>
                            <a:srgbClr val="282828"/>
                          </a:solidFill>
                          <a:latin typeface="Arial"/>
                        </a:rPr>
                        <a:t>0.989 / 5 pm</a:t>
                      </a:r>
                    </a:p>
                  </a:txBody>
                  <a:tcPr marL="54864" marR="54864" marT="18288" marB="18288">
                    <a:solidFill>
                      <a:srgbClr val="ECF1F6"/>
                    </a:solidFill>
                  </a:tcPr>
                </a:tc>
                <a:tc>
                  <a:txBody>
                    <a:bodyPr wrap="square"/>
                    <a:lstStyle/>
                    <a:p>
                      <a:r>
                        <a:rPr sz="1100" b="0">
                          <a:solidFill>
                            <a:srgbClr val="282828"/>
                          </a:solidFill>
                          <a:latin typeface="Arial"/>
                        </a:rPr>
                        <a:t>1.000 / 4 pm; 47 sites 0.967</a:t>
                      </a:r>
                    </a:p>
                  </a:txBody>
                  <a:tcPr marL="54864" marR="54864" marT="18288" marB="18288">
                    <a:solidFill>
                      <a:srgbClr val="ECF1F6"/>
                    </a:solidFill>
                  </a:tcPr>
                </a:tc>
              </a:tr>
              <a:tr h="280035">
                <a:tc>
                  <a:txBody>
                    <a:bodyPr wrap="square"/>
                    <a:lstStyle/>
                    <a:p>
                      <a:r>
                        <a:rPr sz="1100" b="0">
                          <a:solidFill>
                            <a:srgbClr val="282828"/>
                          </a:solidFill>
                          <a:latin typeface="Arial"/>
                        </a:rPr>
                        <a:t>vector Zernike, 100 nm pokes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c>
                  <a:txBody>
                    <a:bodyPr wrap="square"/>
                    <a:lstStyle/>
                    <a:p>
                      <a:r>
                        <a:rPr sz="1100" b="0">
                          <a:solidFill>
                            <a:srgbClr val="282828"/>
                          </a:solidFill>
                          <a:latin typeface="Arial"/>
                        </a:rPr>
                        <a:t>19.6 pm: fails its gate</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c>
                  <a:txBody>
                    <a:bodyPr wrap="square"/>
                    <a:lstStyle/>
                    <a:p>
                      <a:r>
                        <a:rPr sz="1100" b="0">
                          <a:solidFill>
                            <a:srgbClr val="282828"/>
                          </a:solidFill>
                          <a:latin typeface="Arial"/>
                        </a:rPr>
                        <a:t>94 pm: fails its gate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What the record saw: residual astigmatism and coma leaking between the mirror's modes; open-loop rows tolerated it, a servo did not.  At the mask seat the blur was 1.1 λF/D once the seat was refocused by a 6.1 mm trim, and the more focus-critical the mask feature, the worse: the 2 λF/D dimple survived, the polarized dimple degraded, the pinhole broke.</a:t>
            </a:r>
          </a:p>
          <a:p>
            <a:pPr>
              <a:spcAft>
                <a:spcPts val="600"/>
              </a:spcAft>
            </a:pPr>
            <a:r>
              <a:rPr sz="1500" b="0">
                <a:solidFill>
                  <a:srgbClr val="282828"/>
                </a:solidFill>
                <a:latin typeface="Arial"/>
              </a:rPr>
              <a:t>•  What it was: the collimator fed 25 mm inside its focus, a 926 µrad residual the fold turns into coma, linear in the angle; the 6.1 mm trim is that error refocused.  Fed at its focus the blur is zero at every fold angle.</a:t>
            </a:r>
          </a:p>
          <a:p>
            <a:pPr>
              <a:spcAft>
                <a:spcPts val="600"/>
              </a:spcAft>
            </a:pPr>
            <a:r>
              <a:rPr sz="1500" b="0">
                <a:solidFill>
                  <a:srgbClr val="282828"/>
                </a:solidFill>
                <a:latin typeface="Arial"/>
              </a:rPr>
              <a:t>•  Coatings do not rescue it: bare and protected aluminum give the same rows; the retardance variation they add is 0.5 mrad, a floor.</a:t>
            </a:r>
          </a:p>
        </p:txBody>
      </p:sp>
      <p:sp>
        <p:nvSpPr>
          <p:cNvPr id="6" name="TextBox 5"/>
          <p:cNvSpPr txBox="1"/>
          <p:nvPr/>
        </p:nvSpPr>
        <p:spPr>
          <a:xfrm>
            <a:off x="6400800" y="4754880"/>
            <a:ext cx="5394960" cy="274320"/>
          </a:xfrm>
          <a:prstGeom prst="rect">
            <a:avLst/>
          </a:prstGeom>
          <a:noFill/>
        </p:spPr>
        <p:txBody>
          <a:bodyPr wrap="square">
            <a:spAutoFit/>
          </a:bodyPr>
          <a:lstStyle/>
          <a:p>
            <a:pPr>
              <a:spcAft>
                <a:spcPts val="600"/>
              </a:spcAft>
            </a:pPr>
            <a:r>
              <a:rPr sz="1050" b="0">
                <a:solidFill>
                  <a:srgbClr val="6E6E6E"/>
                </a:solidFill>
                <a:latin typeface="Arial"/>
              </a:rPr>
              <a:t>Run tags oap_deck, loop_oap, descent_oap, zoap (all on the 7° rig with the 25 mm conjugate error; the seat-trim solve is in tg_psi_dm96_oap/REPORT_gauge_ifo.md section 4).  These rows stand as the record of what a misfed collimator costs; the redesigned rig's measurements are on the next slide.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redesigned</a:t>
            </a:r>
          </a:p>
          <a:p>
            <a:pPr>
              <a:spcAft>
                <a:spcPts val="0"/>
              </a:spcAft>
            </a:pPr>
            <a:r>
              <a:rPr sz="1250" b="0">
                <a:solidFill>
                  <a:srgbClr val="6E6E6E"/>
                </a:solidFill>
                <a:latin typeface="Arial"/>
              </a:rPr>
              <a:t>Fed at its focus and re-solved at the 22.5° splitter, the mirror rig is buildable (every part clears by 33 mm), its focus lands on the mask seat without adjustment, and its residual with a flat mirror is 4.6× smaller than the lens rig's; its measured performance is on the next slide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lay96_oap_train.png"/>
          <p:cNvPicPr>
            <a:picLocks noChangeAspect="1"/>
          </p:cNvPicPr>
          <p:nvPr/>
        </p:nvPicPr>
        <p:blipFill>
          <a:blip r:embed="rId2"/>
          <a:stretch>
            <a:fillRect/>
          </a:stretch>
        </p:blipFill>
        <p:spPr>
          <a:xfrm>
            <a:off x="1986938" y="1298448"/>
            <a:ext cx="2655523" cy="2384552"/>
          </a:xfrm>
          <a:prstGeom prst="rect">
            <a:avLst/>
          </a:prstGeom>
        </p:spPr>
      </p:pic>
      <p:sp>
        <p:nvSpPr>
          <p:cNvPr id="5" name="TextBox 4"/>
          <p:cNvSpPr txBox="1"/>
          <p:nvPr/>
        </p:nvSpPr>
        <p:spPr>
          <a:xfrm>
            <a:off x="411480" y="3701287"/>
            <a:ext cx="5806440" cy="724408"/>
          </a:xfrm>
          <a:prstGeom prst="rect">
            <a:avLst/>
          </a:prstGeom>
          <a:noFill/>
        </p:spPr>
        <p:txBody>
          <a:bodyPr wrap="square">
            <a:spAutoFit/>
          </a:bodyPr>
          <a:lstStyle/>
          <a:p>
            <a:pPr algn="ctr">
              <a:spcAft>
                <a:spcPts val="0"/>
              </a:spcAft>
            </a:pPr>
            <a:r>
              <a:rPr sz="1000" b="0">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p>
        </p:txBody>
      </p:sp>
      <p:graphicFrame>
        <p:nvGraphicFramePr>
          <p:cNvPr id="6" name="Table 5"/>
          <p:cNvGraphicFramePr>
            <a:graphicFrameLocks noGrp="1"/>
          </p:cNvGraphicFramePr>
          <p:nvPr/>
        </p:nvGraphicFramePr>
        <p:xfrm>
          <a:off x="6400800" y="1298448"/>
          <a:ext cx="5394958" cy="2263140"/>
        </p:xfrm>
        <a:graphic>
          <a:graphicData uri="http://schemas.openxmlformats.org/drawingml/2006/table">
            <a:tbl>
              <a:tblPr firstRow="1" bandRow="1">
                <a:tableStyleId>{5C22544A-7EE6-4342-B048-85BDC9FD1C3A}</a:tableStyleId>
              </a:tblPr>
              <a:tblGrid>
                <a:gridCol w="1496081"/>
                <a:gridCol w="1586752"/>
                <a:gridCol w="2312125"/>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record's mirror rig (7°)</a:t>
                      </a:r>
                    </a:p>
                  </a:txBody>
                  <a:tcPr marL="54864" marR="54864" marT="18288" marB="18288">
                    <a:solidFill>
                      <a:srgbClr val="1F4E79"/>
                    </a:solidFill>
                  </a:tcPr>
                </a:tc>
                <a:tc>
                  <a:txBody>
                    <a:bodyPr wrap="square"/>
                    <a:lstStyle/>
                    <a:p>
                      <a:r>
                        <a:rPr sz="1000" b="1">
                          <a:solidFill>
                            <a:srgbClr val="FFFFFF"/>
                          </a:solidFill>
                          <a:latin typeface="Arial"/>
                        </a:rPr>
                        <a:t>redesigned (22.5°)</a:t>
                      </a:r>
                    </a:p>
                  </a:txBody>
                  <a:tcPr marL="54864" marR="54864" marT="18288" marB="18288">
                    <a:solidFill>
                      <a:srgbClr val="1F4E79"/>
                    </a:solidFill>
                  </a:tcPr>
                </a:tc>
              </a:tr>
              <a:tr h="434340">
                <a:tc>
                  <a:txBody>
                    <a:bodyPr wrap="square"/>
                    <a:lstStyle/>
                    <a:p>
                      <a:r>
                        <a:rPr sz="1000" b="0">
                          <a:solidFill>
                            <a:srgbClr val="282828"/>
                          </a:solidFill>
                          <a:latin typeface="Arial"/>
                        </a:rPr>
                        <a:t>collimation after the collimator</a:t>
                      </a:r>
                    </a:p>
                  </a:txBody>
                  <a:tcPr marL="54864" marR="54864" marT="18288" marB="18288">
                    <a:solidFill>
                      <a:srgbClr val="FFFFFF"/>
                    </a:solidFill>
                  </a:tcPr>
                </a:tc>
                <a:tc>
                  <a:txBody>
                    <a:bodyPr wrap="square"/>
                    <a:lstStyle/>
                    <a:p>
                      <a:r>
                        <a:rPr sz="1000" b="0">
                          <a:solidFill>
                            <a:srgbClr val="282828"/>
                          </a:solidFill>
                          <a:latin typeface="Arial"/>
                        </a:rPr>
                        <a:t>926 µrad rms (a 28.8 m focus)</a:t>
                      </a:r>
                    </a:p>
                  </a:txBody>
                  <a:tcPr marL="54864" marR="54864" marT="18288" marB="18288">
                    <a:solidFill>
                      <a:srgbClr val="FFFFFF"/>
                    </a:solidFill>
                  </a:tcPr>
                </a:tc>
                <a:tc>
                  <a:txBody>
                    <a:bodyPr wrap="square"/>
                    <a:lstStyle/>
                    <a:p>
                      <a:r>
                        <a:rPr sz="1000" b="0">
                          <a:solidFill>
                            <a:srgbClr val="282828"/>
                          </a:solidFill>
                          <a:latin typeface="Arial"/>
                        </a:rPr>
                        <a:t>0.00</a:t>
                      </a:r>
                    </a:p>
                  </a:txBody>
                  <a:tcPr marL="54864" marR="54864" marT="18288" marB="18288">
                    <a:solidFill>
                      <a:srgbClr val="FFFFFF"/>
                    </a:solidFill>
                  </a:tcPr>
                </a:tc>
              </a:tr>
              <a:tr h="434340">
                <a:tc>
                  <a:txBody>
                    <a:bodyPr wrap="square"/>
                    <a:lstStyle/>
                    <a:p>
                      <a:r>
                        <a:rPr sz="1000" b="0">
                          <a:solidFill>
                            <a:srgbClr val="282828"/>
                          </a:solidFill>
                          <a:latin typeface="Arial"/>
                        </a:rPr>
                        <a:t>blur at the mask seat, best focus</a:t>
                      </a:r>
                    </a:p>
                  </a:txBody>
                  <a:tcPr marL="54864" marR="54864" marT="18288" marB="18288">
                    <a:solidFill>
                      <a:srgbClr val="ECF1F6"/>
                    </a:solidFill>
                  </a:tcPr>
                </a:tc>
                <a:tc>
                  <a:txBody>
                    <a:bodyPr wrap="square"/>
                    <a:lstStyle/>
                    <a:p>
                      <a:r>
                        <a:rPr sz="1000" b="0">
                          <a:solidFill>
                            <a:srgbClr val="282828"/>
                          </a:solidFill>
                          <a:latin typeface="Arial"/>
                        </a:rPr>
                        <a:t>1.1 λF/D at a 6.1 mm trim</a:t>
                      </a:r>
                    </a:p>
                  </a:txBody>
                  <a:tcPr marL="54864" marR="54864" marT="18288" marB="18288">
                    <a:solidFill>
                      <a:srgbClr val="ECF1F6"/>
                    </a:solidFill>
                  </a:tcPr>
                </a:tc>
                <a:tc>
                  <a:txBody>
                    <a:bodyPr wrap="square"/>
                    <a:lstStyle/>
                    <a:p>
                      <a:r>
                        <a:rPr sz="1000" b="0">
                          <a:solidFill>
                            <a:srgbClr val="282828"/>
                          </a:solidFill>
                          <a:latin typeface="Arial"/>
                        </a:rPr>
                        <a:t>0.000 λF/D at zero trim</a:t>
                      </a:r>
                    </a:p>
                  </a:txBody>
                  <a:tcPr marL="54864" marR="54864" marT="18288" marB="18288">
                    <a:solidFill>
                      <a:srgbClr val="ECF1F6"/>
                    </a:solidFill>
                  </a:tcPr>
                </a:tc>
              </a:tr>
              <a:tr h="434340">
                <a:tc>
                  <a:txBody>
                    <a:bodyPr wrap="square"/>
                    <a:lstStyle/>
                    <a:p>
                      <a:r>
                        <a:rPr sz="1000" b="0">
                          <a:solidFill>
                            <a:srgbClr val="282828"/>
                          </a:solidFill>
                          <a:latin typeface="Arial"/>
                        </a:rPr>
                        <a:t>residual with a flat mirror</a:t>
                      </a:r>
                    </a:p>
                  </a:txBody>
                  <a:tcPr marL="54864" marR="54864" marT="18288" marB="18288">
                    <a:solidFill>
                      <a:srgbClr val="FFFFFF"/>
                    </a:solidFill>
                  </a:tcPr>
                </a:tc>
                <a:tc>
                  <a:txBody>
                    <a:bodyPr wrap="square"/>
                    <a:lstStyle/>
                    <a:p>
                      <a:r>
                        <a:rPr sz="1000" b="0">
                          <a:solidFill>
                            <a:srgbClr val="282828"/>
                          </a:solidFill>
                          <a:latin typeface="Arial"/>
                        </a:rPr>
                        <a:t>12.9 nm after focus adjustment</a:t>
                      </a:r>
                    </a:p>
                  </a:txBody>
                  <a:tcPr marL="54864" marR="54864" marT="18288" marB="18288">
                    <a:solidFill>
                      <a:srgbClr val="FFFFFF"/>
                    </a:solidFill>
                  </a:tcPr>
                </a:tc>
                <a:tc>
                  <a:txBody>
                    <a:bodyPr wrap="square"/>
                    <a:lstStyle/>
                    <a:p>
                      <a:r>
                        <a:rPr sz="1000" b="0">
                          <a:solidFill>
                            <a:srgbClr val="282828"/>
                          </a:solidFill>
                          <a:latin typeface="Arial"/>
                        </a:rPr>
                        <a:t>0.029 nm with none (lens rig 0.13 after adjustment)</a:t>
                      </a:r>
                    </a:p>
                  </a:txBody>
                  <a:tcPr marL="54864" marR="54864" marT="18288" marB="18288">
                    <a:solidFill>
                      <a:srgbClr val="FFFFFF"/>
                    </a:solidFill>
                  </a:tcPr>
                </a:tc>
              </a:tr>
              <a:tr h="434340">
                <a:tc>
                  <a:txBody>
                    <a:bodyPr wrap="square"/>
                    <a:lstStyle/>
                    <a:p>
                      <a:r>
                        <a:rPr sz="1000" b="0">
                          <a:solidFill>
                            <a:srgbClr val="282828"/>
                          </a:solidFill>
                          <a:latin typeface="Arial"/>
                        </a:rPr>
                        <a:t>clearance, worst part</a:t>
                      </a:r>
                    </a:p>
                  </a:txBody>
                  <a:tcPr marL="54864" marR="54864" marT="18288" marB="18288">
                    <a:solidFill>
                      <a:srgbClr val="ECF1F6"/>
                    </a:solidFill>
                  </a:tcPr>
                </a:tc>
                <a:tc>
                  <a:txBody>
                    <a:bodyPr wrap="square"/>
                    <a:lstStyle/>
                    <a:p>
                      <a:r>
                        <a:rPr sz="1000" b="0">
                          <a:solidFill>
                            <a:srgbClr val="282828"/>
                          </a:solidFill>
                          <a:latin typeface="Arial"/>
                        </a:rPr>
                        <a:t>fails (a plate 10 mm past the pole)</a:t>
                      </a:r>
                    </a:p>
                  </a:txBody>
                  <a:tcPr marL="54864" marR="54864" marT="18288" marB="18288">
                    <a:solidFill>
                      <a:srgbClr val="ECF1F6"/>
                    </a:solidFill>
                  </a:tcPr>
                </a:tc>
                <a:tc>
                  <a:txBody>
                    <a:bodyPr wrap="square"/>
                    <a:lstStyle/>
                    <a:p>
                      <a:r>
                        <a:rPr sz="1000" b="0">
                          <a:solidFill>
                            <a:srgbClr val="282828"/>
                          </a:solidFill>
                          <a:latin typeface="Arial"/>
                        </a:rPr>
                        <a:t>+33.4 mm over 8 parts</a:t>
                      </a:r>
                    </a:p>
                  </a:txBody>
                  <a:tcPr marL="54864" marR="54864" marT="18288" marB="18288">
                    <a:solidFill>
                      <a:srgbClr val="ECF1F6"/>
                    </a:solidFill>
                  </a:tcPr>
                </a:tc>
              </a:tr>
              <a:tr h="262890">
                <a:tc>
                  <a:txBody>
                    <a:bodyPr wrap="square"/>
                    <a:lstStyle/>
                    <a:p>
                      <a:r>
                        <a:rPr sz="1000" b="0">
                          <a:solidFill>
                            <a:srgbClr val="282828"/>
                          </a:solidFill>
                          <a:latin typeface="Arial"/>
                        </a:rPr>
                        <a:t>rays lost</a:t>
                      </a:r>
                    </a:p>
                  </a:txBody>
                  <a:tcPr marL="54864" marR="54864" marT="18288" marB="18288">
                    <a:solidFill>
                      <a:srgbClr val="FFFFFF"/>
                    </a:solidFill>
                  </a:tcPr>
                </a:tc>
                <a:tc>
                  <a:txBody>
                    <a:bodyPr wrap="square"/>
                    <a:lstStyle/>
                    <a:p>
                      <a:r>
                        <a:rPr sz="1000" b="0">
                          <a:solidFill>
                            <a:srgbClr val="282828"/>
                          </a:solidFill>
                          <a:latin typeface="Arial"/>
                        </a:rPr>
                        <a:t>2-33% by fold angle</a:t>
                      </a:r>
                    </a:p>
                  </a:txBody>
                  <a:tcPr marL="54864" marR="54864" marT="18288" marB="18288">
                    <a:solidFill>
                      <a:srgbClr val="FFFFFF"/>
                    </a:solidFill>
                  </a:tcPr>
                </a:tc>
                <a:tc>
                  <a:txBody>
                    <a:bodyPr wrap="square"/>
                    <a:lstStyle/>
                    <a:p>
                      <a:r>
                        <a:rPr sz="1000" b="0">
                          <a:solidFill>
                            <a:srgbClr val="282828"/>
                          </a:solidFill>
                          <a:latin typeface="Arial"/>
                        </a:rPr>
                        <a:t>0</a:t>
                      </a:r>
                    </a:p>
                  </a:txBody>
                  <a:tcPr marL="54864" marR="54864" marT="18288" marB="18288">
                    <a:solidFill>
                      <a:srgbClr val="FFFFFF"/>
                    </a:solidFill>
                  </a:tcPr>
                </a:tc>
              </a:tr>
            </a:tbl>
          </a:graphicData>
        </a:graphic>
      </p:graphicFrame>
      <p:sp>
        <p:nvSpPr>
          <p:cNvPr id="7" name="TextBox 6"/>
          <p:cNvSpPr txBox="1"/>
          <p:nvPr/>
        </p:nvSpPr>
        <p:spPr>
          <a:xfrm>
            <a:off x="6400800" y="3707891"/>
            <a:ext cx="5394960" cy="274320"/>
          </a:xfrm>
          <a:prstGeom prst="rect">
            <a:avLst/>
          </a:prstGeom>
          <a:noFill/>
        </p:spPr>
        <p:txBody>
          <a:bodyPr wrap="square">
            <a:spAutoFit/>
          </a:bodyPr>
          <a:lstStyle/>
          <a:p>
            <a:pPr>
              <a:spcAft>
                <a:spcPts val="600"/>
              </a:spcAft>
            </a:pPr>
            <a:r>
              <a:rPr sz="1200" b="0">
                <a:solidFill>
                  <a:srgbClr val="282828"/>
                </a:solidFill>
                <a:latin typeface="Arial"/>
              </a:rPr>
              <a:t>•  Two defects, both removed: the builder placed the point source 25 mm inside the collimator's focus (a lens hides that in its tuned figures; a parabola cannot), and the input polarizer sat 10 mm past the collimator's pole, inside the incoming cone and the mirror's own sag.  The polarizer moves into the source leg.</a:t>
            </a:r>
          </a:p>
          <a:p>
            <a:pPr>
              <a:spcAft>
                <a:spcPts val="600"/>
              </a:spcAft>
            </a:pPr>
            <a:r>
              <a:rPr sz="1200" b="0">
                <a:solidFill>
                  <a:srgbClr val="282828"/>
                </a:solidFill>
                <a:latin typeface="Arial"/>
              </a:rPr>
              <a:t>•  The "fold coma" was the conjugate error turned into coma by the fold, linear in the angle, not quadratic; at the design point there is nothing left for a smaller fold to recover.</a:t>
            </a:r>
          </a:p>
        </p:txBody>
      </p:sp>
      <p:sp>
        <p:nvSpPr>
          <p:cNvPr id="8" name="TextBox 7"/>
          <p:cNvSpPr txBox="1"/>
          <p:nvPr/>
        </p:nvSpPr>
        <p:spPr>
          <a:xfrm>
            <a:off x="6400800" y="5609844"/>
            <a:ext cx="5394960" cy="274320"/>
          </a:xfrm>
          <a:prstGeom prst="rect">
            <a:avLst/>
          </a:prstGeom>
          <a:noFill/>
        </p:spPr>
        <p:txBody>
          <a:bodyPr wrap="square">
            <a:spAutoFit/>
          </a:bodyPr>
          <a:lstStyle/>
          <a:p>
            <a:pPr>
              <a:spcAft>
                <a:spcPts val="600"/>
              </a:spcAft>
            </a:pPr>
            <a:r>
              <a:rPr sz="1050" b="0">
                <a:solidFill>
                  <a:srgbClr val="6E6E6E"/>
                </a:solidFill>
                <a:latin typeface="Arial"/>
              </a:rPr>
              <a:t>Off-axis parabolas: OAP1 parent f 757 mm, off-axis 551 mm, 20°; OAP2 parent f 352 mm, off-axis 328 mm, 25°; each on a tip/tilt mount.  Run tags fold1-4, conj, zseat, oap22d, oapdraw3, oapifo2, oapifol2, oapdesc2, oapsens22, vqw22, vmap22; tg_psi_dm96_oap/REPORT_reflective.md (TO).</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measured</a:t>
            </a:r>
          </a:p>
          <a:p>
            <a:pPr>
              <a:spcAft>
                <a:spcPts val="0"/>
              </a:spcAft>
            </a:pPr>
            <a:r>
              <a:rPr sz="1250" b="0">
                <a:solidFill>
                  <a:srgbClr val="6E6E6E"/>
                </a:solidFill>
                <a:latin typeface="Arial"/>
              </a:rPr>
              <a:t>On the redesigned mirror rig the interferometer reads, holds and captures at the lens rig's numbers, and both focus-critical sensors pass; the record's reflective losses were the misfed collimator, not the mirrors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931920"/>
        </p:xfrm>
        <a:graphic>
          <a:graphicData uri="http://schemas.openxmlformats.org/drawingml/2006/table">
            <a:tbl>
              <a:tblPr firstRow="1" bandRow="1">
                <a:tableStyleId>{5C22544A-7EE6-4342-B048-85BDC9FD1C3A}</a:tableStyleId>
              </a:tblPr>
              <a:tblGrid>
                <a:gridCol w="2369815"/>
                <a:gridCol w="1889760"/>
                <a:gridCol w="4856179"/>
                <a:gridCol w="2252980"/>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record's mirror rig (7°)</a:t>
                      </a:r>
                    </a:p>
                  </a:txBody>
                  <a:tcPr marL="54864" marR="54864" marT="18288" marB="18288">
                    <a:solidFill>
                      <a:srgbClr val="1F4E79"/>
                    </a:solidFill>
                  </a:tcPr>
                </a:tc>
                <a:tc>
                  <a:txBody>
                    <a:bodyPr wrap="square"/>
                    <a:lstStyle/>
                    <a:p>
                      <a:r>
                        <a:rPr sz="1100" b="1">
                          <a:solidFill>
                            <a:srgbClr val="FFFFFF"/>
                          </a:solidFill>
                          <a:latin typeface="Arial"/>
                        </a:rPr>
                        <a:t>redesigned (22.5°, seed detector leg)</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r>
              <a:tr h="468630">
                <a:tc>
                  <a:txBody>
                    <a:bodyPr wrap="square"/>
                    <a:lstStyle/>
                    <a:p>
                      <a:r>
                        <a:rPr sz="1100" b="0">
                          <a:solidFill>
                            <a:srgbClr val="282828"/>
                          </a:solidFill>
                          <a:latin typeface="Arial"/>
                        </a:rPr>
                        <a:t>interferometer, 10 nm on one actuator</a:t>
                      </a:r>
                    </a:p>
                  </a:txBody>
                  <a:tcPr marL="54864" marR="54864" marT="18288" marB="18288">
                    <a:solidFill>
                      <a:srgbClr val="FFFFFF"/>
                    </a:solidFill>
                  </a:tcPr>
                </a:tc>
                <a:tc>
                  <a:txBody>
                    <a:bodyPr wrap="square"/>
                    <a:lstStyle/>
                    <a:p>
                      <a:r>
                        <a:rPr sz="1100" b="0">
                          <a:solidFill>
                            <a:srgbClr val="282828"/>
                          </a:solidFill>
                          <a:latin typeface="Arial"/>
                        </a:rPr>
                        <a:t>0.995 / 2 pm</a:t>
                      </a:r>
                    </a:p>
                  </a:txBody>
                  <a:tcPr marL="54864" marR="54864" marT="18288" marB="18288">
                    <a:solidFill>
                      <a:srgbClr val="FFFFFF"/>
                    </a:solidFill>
                  </a:tcPr>
                </a:tc>
                <a:tc>
                  <a:txBody>
                    <a:bodyPr wrap="square"/>
                    <a:lstStyle/>
                    <a:p>
                      <a:r>
                        <a:rPr sz="1100" b="0">
                          <a:solidFill>
                            <a:srgbClr val="282828"/>
                          </a:solidFill>
                          <a:latin typeface="Arial"/>
                        </a:rPr>
                        <a:t>0.992 / 2.4 pm</a:t>
                      </a:r>
                    </a:p>
                  </a:txBody>
                  <a:tcPr marL="54864" marR="54864" marT="18288" marB="18288">
                    <a:solidFill>
                      <a:srgbClr val="FFFFFF"/>
                    </a:solidFill>
                  </a:tcPr>
                </a:tc>
                <a:tc>
                  <a:txBody>
                    <a:bodyPr wrap="square"/>
                    <a:lstStyle/>
                    <a:p>
                      <a:r>
                        <a:rPr sz="1100" b="0">
                          <a:solidFill>
                            <a:srgbClr val="282828"/>
                          </a:solidFill>
                          <a:latin typeface="Arial"/>
                        </a:rPr>
                        <a:t>0.992 / 2.2 pm</a:t>
                      </a:r>
                    </a:p>
                  </a:txBody>
                  <a:tcPr marL="54864" marR="54864" marT="18288" marB="18288">
                    <a:solidFill>
                      <a:srgbClr val="FFFFFF"/>
                    </a:solidFill>
                  </a:tcPr>
                </a:tc>
              </a:tr>
              <a:tr h="468630">
                <a:tc>
                  <a:txBody>
                    <a:bodyPr wrap="square"/>
                    <a:lstStyle/>
                    <a:p>
                      <a:r>
                        <a:rPr sz="1100" b="0">
                          <a:solidFill>
                            <a:srgbClr val="282828"/>
                          </a:solidFill>
                          <a:latin typeface="Arial"/>
                        </a:rPr>
                        <a:t>interferometer, dense random 10 nm</a:t>
                      </a:r>
                    </a:p>
                  </a:txBody>
                  <a:tcPr marL="54864" marR="54864" marT="18288" marB="18288">
                    <a:solidFill>
                      <a:srgbClr val="ECF1F6"/>
                    </a:solidFill>
                  </a:tcPr>
                </a:tc>
                <a:tc>
                  <a:txBody>
                    <a:bodyPr wrap="square"/>
                    <a:lstStyle/>
                    <a:p>
                      <a:r>
                        <a:rPr sz="1100" b="0">
                          <a:solidFill>
                            <a:srgbClr val="282828"/>
                          </a:solidFill>
                          <a:latin typeface="Arial"/>
                        </a:rPr>
                        <a:t>0.749 / 4.8 nm</a:t>
                      </a:r>
                    </a:p>
                  </a:txBody>
                  <a:tcPr marL="54864" marR="54864" marT="18288" marB="18288">
                    <a:solidFill>
                      <a:srgbClr val="ECF1F6"/>
                    </a:solidFill>
                  </a:tcPr>
                </a:tc>
                <a:tc>
                  <a:txBody>
                    <a:bodyPr wrap="square"/>
                    <a:lstStyle/>
                    <a:p>
                      <a:r>
                        <a:rPr sz="1100" b="0">
                          <a:solidFill>
                            <a:srgbClr val="282828"/>
                          </a:solidFill>
                          <a:latin typeface="Arial"/>
                        </a:rPr>
                        <a:t>0.991 / 161 pm</a:t>
                      </a:r>
                    </a:p>
                  </a:txBody>
                  <a:tcPr marL="54864" marR="54864" marT="18288" marB="18288">
                    <a:solidFill>
                      <a:srgbClr val="ECF1F6"/>
                    </a:solidFill>
                  </a:tcPr>
                </a:tc>
                <a:tc>
                  <a:txBody>
                    <a:bodyPr wrap="square"/>
                    <a:lstStyle/>
                    <a:p>
                      <a:r>
                        <a:rPr sz="1100" b="0">
                          <a:solidFill>
                            <a:srgbClr val="282828"/>
                          </a:solidFill>
                          <a:latin typeface="Arial"/>
                        </a:rPr>
                        <a:t>0.989 / 168 pm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0.22-0.48</a:t>
                      </a:r>
                    </a:p>
                  </a:txBody>
                  <a:tcPr marL="54864" marR="54864" marT="18288" marB="18288">
                    <a:solidFill>
                      <a:srgbClr val="FFFFFF"/>
                    </a:solidFill>
                  </a:tcPr>
                </a:tc>
                <a:tc>
                  <a:txBody>
                    <a:bodyPr wrap="square"/>
                    <a:lstStyle/>
                    <a:p>
                      <a:r>
                        <a:rPr sz="1100" b="0">
                          <a:solidFill>
                            <a:srgbClr val="282828"/>
                          </a:solidFill>
                          <a:latin typeface="Arial"/>
                        </a:rPr>
                        <a:t>0.006-0.02</a:t>
                      </a:r>
                    </a:p>
                  </a:txBody>
                  <a:tcPr marL="54864" marR="54864" marT="18288" marB="18288">
                    <a:solidFill>
                      <a:srgbClr val="FFFFFF"/>
                    </a:solidFill>
                  </a:tcPr>
                </a:tc>
                <a:tc>
                  <a:txBody>
                    <a:bodyPr wrap="square"/>
                    <a:lstStyle/>
                    <a:p>
                      <a:r>
                        <a:rPr sz="1100" b="0">
                          <a:solidFill>
                            <a:srgbClr val="282828"/>
                          </a:solidFill>
                          <a:latin typeface="Arial"/>
                        </a:rPr>
                        <a:t>0.005-0.03</a:t>
                      </a:r>
                    </a:p>
                  </a:txBody>
                  <a:tcPr marL="54864" marR="54864" marT="18288" marB="18288">
                    <a:solidFill>
                      <a:srgbClr val="FFFFFF"/>
                    </a:solidFill>
                  </a:tcPr>
                </a:tc>
              </a:tr>
              <a:tr h="468630">
                <a:tc>
                  <a:txBody>
                    <a:bodyPr wrap="square"/>
                    <a:lstStyle/>
                    <a:p>
                      <a:r>
                        <a:rPr sz="1100" b="0">
                          <a:solidFill>
                            <a:srgbClr val="282828"/>
                          </a:solidFill>
                          <a:latin typeface="Arial"/>
                        </a:rPr>
                        <a:t>interferometer servo: 3 pm noise only / under the 2 pm walk</a:t>
                      </a:r>
                    </a:p>
                  </a:txBody>
                  <a:tcPr marL="54864" marR="54864" marT="18288" marB="18288">
                    <a:solidFill>
                      <a:srgbClr val="ECF1F6"/>
                    </a:solidFill>
                  </a:tcPr>
                </a:tc>
                <a:tc>
                  <a:txBody>
                    <a:bodyPr wrap="square"/>
                    <a:lstStyle/>
                    <a:p>
                      <a:r>
                        <a:rPr sz="1100" b="0">
                          <a:solidFill>
                            <a:srgbClr val="282828"/>
                          </a:solidFill>
                          <a:latin typeface="Arial"/>
                        </a:rPr>
                        <a:t>3.4e13 / never</a:t>
                      </a:r>
                    </a:p>
                  </a:txBody>
                  <a:tcPr marL="54864" marR="54864" marT="18288" marB="18288">
                    <a:solidFill>
                      <a:srgbClr val="ECF1F6"/>
                    </a:solidFill>
                  </a:tcPr>
                </a:tc>
                <a:tc>
                  <a:txBody>
                    <a:bodyPr wrap="square"/>
                    <a:lstStyle/>
                    <a:p>
                      <a:r>
                        <a:rPr sz="1100" b="0">
                          <a:solidFill>
                            <a:srgbClr val="282828"/>
                          </a:solidFill>
                          <a:latin typeface="Arial"/>
                        </a:rPr>
                        <a:t>5.4e12 / 1.7e13</a:t>
                      </a:r>
                    </a:p>
                  </a:txBody>
                  <a:tcPr marL="54864" marR="54864" marT="18288" marB="18288">
                    <a:solidFill>
                      <a:srgbClr val="ECF1F6"/>
                    </a:solidFill>
                  </a:tcPr>
                </a:tc>
                <a:tc>
                  <a:txBody>
                    <a:bodyPr wrap="square"/>
                    <a:lstStyle/>
                    <a:p>
                      <a:r>
                        <a:rPr sz="1100" b="0">
                          <a:solidFill>
                            <a:srgbClr val="282828"/>
                          </a:solidFill>
                          <a:latin typeface="Arial"/>
                        </a:rPr>
                        <a:t>5.5e12 / 2.0e13</a:t>
                      </a:r>
                    </a:p>
                  </a:txBody>
                  <a:tcPr marL="54864" marR="54864" marT="18288" marB="18288">
                    <a:solidFill>
                      <a:srgbClr val="ECF1F6"/>
                    </a:solidFill>
                  </a:tcPr>
                </a:tc>
              </a:tr>
              <a:tr h="468630">
                <a:tc>
                  <a:txBody>
                    <a:bodyPr wrap="square"/>
                    <a:lstStyle/>
                    <a:p>
                      <a:r>
                        <a:rPr sz="1100" b="0">
                          <a:solidFill>
                            <a:srgbClr val="282828"/>
                          </a:solidFill>
                          <a:latin typeface="Arial"/>
                        </a:rPr>
                        <a:t>sensors' servo under the walk: vector / pinhole / stepped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5.7e12 / 7.4e12 / 7.9e12</a:t>
                      </a:r>
                    </a:p>
                  </a:txBody>
                  <a:tcPr marL="54864" marR="54864" marT="18288" marB="18288">
                    <a:solidFill>
                      <a:srgbClr val="FFFFFF"/>
                    </a:solidFill>
                  </a:tcPr>
                </a:tc>
                <a:tc>
                  <a:txBody>
                    <a:bodyPr wrap="square"/>
                    <a:lstStyle/>
                    <a:p>
                      <a:r>
                        <a:rPr sz="1100" b="0">
                          <a:solidFill>
                            <a:srgbClr val="282828"/>
                          </a:solidFill>
                          <a:latin typeface="Arial"/>
                        </a:rPr>
                        <a:t>5.3e12 / 7.0e12 / 7.5e12</a:t>
                      </a:r>
                    </a:p>
                  </a:txBody>
                  <a:tcPr marL="54864" marR="54864" marT="18288" marB="18288">
                    <a:solidFill>
                      <a:srgbClr val="FFFFFF"/>
                    </a:solidFill>
                  </a:tcPr>
                </a:tc>
              </a:tr>
              <a:tr h="280035">
                <a:tc>
                  <a:txBody>
                    <a:bodyPr wrap="square"/>
                    <a:lstStyle/>
                    <a:p>
                      <a:r>
                        <a:rPr sz="1100" b="0">
                          <a:solidFill>
                            <a:srgbClr val="282828"/>
                          </a:solidFill>
                          <a:latin typeface="Arial"/>
                        </a:rPr>
                        <a:t>capture with unwrapping</a:t>
                      </a:r>
                    </a:p>
                  </a:txBody>
                  <a:tcPr marL="54864" marR="54864" marT="18288" marB="18288">
                    <a:solidFill>
                      <a:srgbClr val="ECF1F6"/>
                    </a:solidFill>
                  </a:tcPr>
                </a:tc>
                <a:tc>
                  <a:txBody>
                    <a:bodyPr wrap="square"/>
                    <a:lstStyle/>
                    <a:p>
                      <a:r>
                        <a:rPr sz="1100" b="0">
                          <a:solidFill>
                            <a:srgbClr val="282828"/>
                          </a:solidFill>
                          <a:latin typeface="Arial"/>
                        </a:rPr>
                        <a:t>stalls from 60 nm</a:t>
                      </a:r>
                    </a:p>
                  </a:txBody>
                  <a:tcPr marL="54864" marR="54864" marT="18288" marB="18288">
                    <a:solidFill>
                      <a:srgbClr val="ECF1F6"/>
                    </a:solidFill>
                  </a:tcPr>
                </a:tc>
                <a:tc>
                  <a:txBody>
                    <a:bodyPr wrap="square"/>
                    <a:lstStyle/>
                    <a:p>
                      <a:r>
                        <a:rPr sz="1100" b="0">
                          <a:solidFill>
                            <a:srgbClr val="282828"/>
                          </a:solidFill>
                          <a:latin typeface="Arial"/>
                        </a:rPr>
                        <a:t>3 pm from 200 nm in 19 cycles</a:t>
                      </a:r>
                    </a:p>
                  </a:txBody>
                  <a:tcPr marL="54864" marR="54864" marT="18288" marB="18288">
                    <a:solidFill>
                      <a:srgbClr val="ECF1F6"/>
                    </a:solidFill>
                  </a:tcPr>
                </a:tc>
                <a:tc>
                  <a:txBody>
                    <a:bodyPr wrap="square"/>
                    <a:lstStyle/>
                    <a:p>
                      <a:r>
                        <a:rPr sz="1100" b="0">
                          <a:solidFill>
                            <a:srgbClr val="282828"/>
                          </a:solidFill>
                          <a:latin typeface="Arial"/>
                        </a:rPr>
                        <a:t>3 pm from 300 nm in 43 cycles</a:t>
                      </a:r>
                    </a:p>
                  </a:txBody>
                  <a:tcPr marL="54864" marR="54864" marT="18288" marB="18288">
                    <a:solidFill>
                      <a:srgbClr val="ECF1F6"/>
                    </a:solidFill>
                  </a:tcPr>
                </a:tc>
              </a:tr>
              <a:tr h="468630">
                <a:tc>
                  <a:txBody>
                    <a:bodyPr wrap="square"/>
                    <a:lstStyle/>
                    <a:p>
                      <a:r>
                        <a:rPr sz="1100" b="0">
                          <a:solidFill>
                            <a:srgbClr val="282828"/>
                          </a:solidFill>
                          <a:latin typeface="Arial"/>
                        </a:rPr>
                        <a:t>vector Zernike, 100 nm pokes (fold gate)</a:t>
                      </a:r>
                    </a:p>
                  </a:txBody>
                  <a:tcPr marL="54864" marR="54864" marT="18288" marB="18288">
                    <a:solidFill>
                      <a:srgbClr val="FFFFFF"/>
                    </a:solidFill>
                  </a:tcPr>
                </a:tc>
                <a:tc>
                  <a:txBody>
                    <a:bodyPr wrap="square"/>
                    <a:lstStyle/>
                    <a:p>
                      <a:r>
                        <a:rPr sz="1100" b="0">
                          <a:solidFill>
                            <a:srgbClr val="282828"/>
                          </a:solidFill>
                          <a:latin typeface="Arial"/>
                        </a:rPr>
                        <a:t>19.6 pm, fails</a:t>
                      </a:r>
                    </a:p>
                  </a:txBody>
                  <a:tcPr marL="54864" marR="54864" marT="18288" marB="18288">
                    <a:solidFill>
                      <a:srgbClr val="FFFFFF"/>
                    </a:solidFill>
                  </a:tcPr>
                </a:tc>
                <a:tc>
                  <a:txBody>
                    <a:bodyPr wrap="square"/>
                    <a:lstStyle/>
                    <a:p>
                      <a:r>
                        <a:rPr sz="1100" b="0">
                          <a:solidFill>
                            <a:srgbClr val="282828"/>
                          </a:solidFill>
                          <a:latin typeface="Arial"/>
                        </a:rPr>
                        <a:t>634 pm raw; 0.054 pm calibrated: passes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94 pm, fails</a:t>
                      </a:r>
                    </a:p>
                  </a:txBody>
                  <a:tcPr marL="54864" marR="54864" marT="18288" marB="18288">
                    <a:solidFill>
                      <a:srgbClr val="ECF1F6"/>
                    </a:solidFill>
                  </a:tcPr>
                </a:tc>
                <a:tc>
                  <a:txBody>
                    <a:bodyPr wrap="square"/>
                    <a:lstStyle/>
                    <a:p>
                      <a:r>
                        <a:rPr sz="1100" b="0">
                          <a:solidFill>
                            <a:srgbClr val="282828"/>
                          </a:solidFill>
                          <a:latin typeface="Arial"/>
                        </a:rPr>
                        <a:t>0.27 pm: passes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r>
              <a:tr h="468630">
                <a:tc>
                  <a:txBody>
                    <a:bodyPr wrap="square"/>
                    <a:lstStyle/>
                    <a:p>
                      <a:r>
                        <a:rPr sz="1100" b="0">
                          <a:solidFill>
                            <a:srgbClr val="282828"/>
                          </a:solidFill>
                          <a:latin typeface="Arial"/>
                        </a:rPr>
                        <a:t>sensors' capture with unwrapping (vector / pinhole / stepped)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 pm from 60 nm in 21 / 19 cycles; from 100 nm both diverge; the stepped reading never (its one-frame estimate past the fold)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bl>
          </a:graphicData>
        </a:graphic>
      </p:graphicFrame>
      <p:sp>
        <p:nvSpPr>
          <p:cNvPr id="5" name="TextBox 4"/>
          <p:cNvSpPr txBox="1"/>
          <p:nvPr/>
        </p:nvSpPr>
        <p:spPr>
          <a:xfrm>
            <a:off x="374904" y="5212080"/>
            <a:ext cx="11368735" cy="274320"/>
          </a:xfrm>
          <a:prstGeom prst="rect">
            <a:avLst/>
          </a:prstGeom>
          <a:noFill/>
        </p:spPr>
        <p:txBody>
          <a:bodyPr wrap="square">
            <a:spAutoFit/>
          </a:bodyPr>
          <a:lstStyle/>
          <a:p>
            <a:pPr>
              <a:spcAft>
                <a:spcPts val="600"/>
              </a:spcAft>
            </a:pPr>
            <a:r>
              <a:rPr sz="1200" b="0">
                <a:solidFill>
                  <a:srgbClr val="282828"/>
                </a:solidFill>
                <a:latin typeface="Arial"/>
              </a:rPr>
              <a:t>•  The vector pair's raw error on the mirror rig is channel amplitude imbalance from the metal folds (1.08 between its two circular channels on bare aluminum; a quarter-wave overcoat halves the error), not channel phase; calibrating the two channels removes it.  The rows hold uncalibrated on every coating.</a:t>
            </a:r>
          </a:p>
          <a:p>
            <a:pPr>
              <a:spcAft>
                <a:spcPts val="600"/>
              </a:spcAft>
            </a:pPr>
            <a:r>
              <a:rPr sz="1200" b="0">
                <a:solidFill>
                  <a:srgbClr val="282828"/>
                </a:solidFill>
                <a:latin typeface="Arial"/>
              </a:rPr>
              <a:t>•  Closed: the raw interferometer reading wraps between 60 and 120 nm of surface on both rigs, lens and mirror alike (a base the four-step cannot follow reads λ/2 ÷ √12 = 91 nm rms, measured 89-92 on both); the capture range is set by the reading, not the optics, and unwrapping restores it.  The detector leg here is the geometric seed; the tuner's winner is now gated against the seed through the same estimator, so a leg that does not read cannot be handed to a bench.</a:t>
            </a:r>
          </a:p>
        </p:txBody>
      </p:sp>
      <p:sp>
        <p:nvSpPr>
          <p:cNvPr id="6" name="TextBox 5"/>
          <p:cNvSpPr txBox="1"/>
          <p:nvPr/>
        </p:nvSpPr>
        <p:spPr>
          <a:xfrm>
            <a:off x="411480" y="6327648"/>
            <a:ext cx="11368735" cy="274320"/>
          </a:xfrm>
          <a:prstGeom prst="rect">
            <a:avLst/>
          </a:prstGeom>
          <a:noFill/>
        </p:spPr>
        <p:txBody>
          <a:bodyPr wrap="square">
            <a:spAutoFit/>
          </a:bodyPr>
          <a:lstStyle/>
          <a:p>
            <a:pPr>
              <a:spcAft>
                <a:spcPts val="600"/>
              </a:spcAft>
            </a:pPr>
            <a:r>
              <a:rPr sz="1050" b="0">
                <a:solidFill>
                  <a:srgbClr val="6E6E6E"/>
                </a:solidFill>
                <a:latin typeface="Arial"/>
              </a:rPr>
              <a:t>Run tags oapifo2, oapifol2, oapdesc2, oapsens22, vqw22, vmap22, oapuw2, lensuw2, oaploop22, oapcap22 and oapsens385 (the Mac, 2026-09-16); tg_psi_dm96_oap/REPORT_reflective.md (TO, 2026-09-16).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777740"/>
        </p:xfrm>
        <a:graphic>
          <a:graphicData uri="http://schemas.openxmlformats.org/drawingml/2006/table">
            <a:tbl>
              <a:tblPr firstRow="1" bandRow="1">
                <a:tableStyleId>{5C22544A-7EE6-4342-B048-85BDC9FD1C3A}</a:tableStyleId>
              </a:tblPr>
              <a:tblGrid>
                <a:gridCol w="1889760"/>
                <a:gridCol w="2093273"/>
                <a:gridCol w="4107555"/>
                <a:gridCol w="3278145"/>
              </a:tblGrid>
              <a:tr h="280035">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280035">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at the built 22.5°: arm rotation 1.56°, gain +0.9% (11.7% at the record's 45°); 2.1% (cube, naive stack)</a:t>
                      </a:r>
                    </a:p>
                  </a:txBody>
                  <a:tcPr marL="54864" marR="54864" marT="18288" marB="18288">
                    <a:solidFill>
                      <a:srgbClr val="FFFFFF"/>
                    </a:solidFill>
                  </a:tcPr>
                </a:tc>
                <a:tc>
                  <a:txBody>
                    <a:bodyPr wrap="square"/>
                    <a:lstStyle/>
                    <a:p>
                      <a:r>
                        <a:rPr sz="1100" b="0">
                          <a:solidFill>
                            <a:srgbClr val="282828"/>
                          </a:solidFill>
                          <a:latin typeface="Arial"/>
                        </a:rPr>
                        <a:t>residual after a measured matrix 1.4e-3 (lens), 5.5e-4 (mirrors);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468630">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222492"/>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Hold: the polarized dimple is the best reading on every line — 3 pm from 1.5e12 photons per cycle, two frames taken at once, no stepping, no fold, no fixed error, and every systematic we modeled calibrated by the matrix measured through it.  The stepped scalar dimple is the fallback with no polarization optics, at 1.7× the light.</a:t>
            </a:r>
          </a:p>
          <a:p>
            <a:pPr>
              <a:spcAft>
                <a:spcPts val="600"/>
              </a:spcAft>
            </a:pPr>
            <a:r>
              <a:rPr sz="1500" b="0">
                <a:solidFill>
                  <a:srgbClr val="282828"/>
                </a:solidFill>
                <a:latin typeface="Arial"/>
              </a:rPr>
              <a:t>•  Capture: the interferometer takes 100-600 nm of wavefront to 2 pm in tens of cycles with unwrapping alone.  In the common path, the stepped pinhole with a shutter frame captures 200 nm of wavefront with unwrapping and three recalibrations.  A second color is the sensors' own route (future work).</a:t>
            </a:r>
          </a:p>
          <a:p>
            <a:pPr>
              <a:spcAft>
                <a:spcPts val="600"/>
              </a:spcAft>
            </a:pPr>
            <a:r>
              <a:rPr sz="1500" b="0">
                <a:solidFill>
                  <a:srgbClr val="282828"/>
                </a:solidFill>
                <a:latin typeface="Arial"/>
              </a:rPr>
              <a:t>•  Front end: either builds.  The redesigned mirror rig matches the lens rig on the rows, the servo (interferometer 1.7e13 vs 2.0e13 photons per cycle; the sensors within 10%) and capture (200 nm), and its sensors pass once calibrated; it buys any color and no glass in the beam, and costs alignment tolerance (10 µrad = 100 nm of null) and a polarization calibration of the vector reading.  The record's stance was lenses; the measured trade is now on the table for a ruling.</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The bench: one layout with the reference arm shuttered, the mask seat translated, the quarter-wave plate in or out, and the P/SRI arm behind a flip-in plate (the one-bench slide).  Capture with the interferometer, hand off inside the sensor's 60 nm reach, hold with the sensor at a third of the light.</a:t>
            </a:r>
          </a:p>
          <a:p>
            <a:pPr>
              <a:spcAft>
                <a:spcPts val="600"/>
              </a:spcAft>
            </a:pPr>
            <a:r>
              <a:rPr sz="1500" b="0">
                <a:solidFill>
                  <a:srgbClr val="282828"/>
                </a:solidFill>
                <a:latin typeface="Arial"/>
              </a:rPr>
              <a:t>•  What the numbers do not decide: the pinhole and the vector dimple tie on the working surface (0.9935 / 4 pm both); the dimple wins the servo by 1.5×, the pinhole wins capture range for one extra frame.  A bench that carries both costs one substrate.</a:t>
            </a:r>
          </a:p>
        </p:txBody>
      </p:sp>
      <p:sp>
        <p:nvSpPr>
          <p:cNvPr id="6" name="TextBox 5"/>
          <p:cNvSpPr txBox="1"/>
          <p:nvPr/>
        </p:nvSpPr>
        <p:spPr>
          <a:xfrm>
            <a:off x="6400800" y="4572000"/>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The vector pair alone cannot: its two images fix the field only up to a mirror image about the reference wave, and at gauge-level phases (a 100 nm poke is 1.9 rad) the true field crosses that line.  Solving both from the pair diverges.</a:t>
            </a:r>
          </a:p>
          <a:p>
            <a:pPr>
              <a:spcAft>
                <a:spcPts val="600"/>
              </a:spcAft>
            </a:pPr>
            <a:r>
              <a:rPr sz="1500" b="0">
                <a:solidFill>
                  <a:srgbClr val="282828"/>
                </a:solidFill>
                <a:latin typeface="Arial"/>
              </a:rPr>
              <a:t>•  The pair plus the state's clear frame reads both exactly: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92240" y="48006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On orbit with starlight, the field's amplitude is what the second mirror's control needs.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Where unwrapping stops: at 4 pixels per actuator a 100-200 nm rms actuator pattern is 0.7-1.4 rad per pixel and unwraps; quilting, print-through or a stuck actuator at more than a wave does not.</a:t>
            </a:r>
          </a:p>
          <a:p>
            <a:pPr>
              <a:spcAft>
                <a:spcPts val="600"/>
              </a:spcAft>
            </a:pPr>
            <a:r>
              <a:rPr sz="1500" b="0">
                <a:solidFill>
                  <a:srgbClr val="282828"/>
                </a:solidFill>
                <a:latin typeface="Arial"/>
              </a:rPr>
              <a:t>•  A second color makes a synthetic wavelength: 632.8 + 700 nm gives 6.6 µm, an unambiguous surface range of 1.6 µm (double pass); 632.8 + 780 nm gives 3.35 µm and 0.84 µm.  The coarse pair captures, the single color holds; the coarse solve is 5-10× noisier.</a:t>
            </a:r>
          </a:p>
          <a:p>
            <a:pPr>
              <a:spcAft>
                <a:spcPts val="600"/>
              </a:spcAft>
            </a:pPr>
            <a:r>
              <a:rPr sz="1500" b="0">
                <a:solidFill>
                  <a:srgbClr val="282828"/>
                </a:solidFill>
                <a:latin typeface="Arial"/>
              </a:rPr>
              <a:t>•  The machinery exists: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Eight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 model-based large-figure solve: the mirror's influence functions as the basis of a nonlinear fit to the sensor's frames; the estimator already carries the basis.</a:t>
            </a:r>
          </a:p>
          <a:p>
            <a:pPr>
              <a:spcAft>
                <a:spcPts val="600"/>
              </a:spcAft>
            </a:pPr>
            <a:r>
              <a:rPr sz="1500" b="0">
                <a:solidFill>
                  <a:srgbClr val="282828"/>
                </a:solidFill>
                <a:latin typeface="Arial"/>
              </a:rPr>
              <a:t>•  Shack-Hartmann or modulated pyramid as the capture stage: many waves of range, no wrap, far from picometers; hands off to the gauge inside its range.</a:t>
            </a:r>
          </a:p>
          <a:p>
            <a:pPr>
              <a:spcAft>
                <a:spcPts val="600"/>
              </a:spcAft>
            </a:pPr>
            <a:r>
              <a:rPr sz="1500" b="0">
                <a:solidFill>
                  <a:srgbClr val="282828"/>
                </a:solidFill>
                <a:latin typeface="Arial"/>
              </a:rPr>
              <a:t>•  Redesign the lenses as multi-element assemblies.</a:t>
            </a:r>
          </a:p>
          <a:p>
            <a:pPr>
              <a:spcAft>
                <a:spcPts val="600"/>
              </a:spcAft>
            </a:pPr>
            <a:r>
              <a:rPr sz="1500" b="0">
                <a:solidFill>
                  <a:srgbClr val="282828"/>
                </a:solidFill>
                <a:latin typeface="Arial"/>
              </a:rPr>
              <a:t>•  Phase diversity (two defocused pupil images): wide range, common path, iterative; a capture candidate with the existing camera and one translation stage.</a:t>
            </a:r>
          </a:p>
          <a:p>
            <a:pPr>
              <a:spcAft>
                <a:spcPts val="600"/>
              </a:spcAft>
            </a:pPr>
            <a:r>
              <a:rPr sz="1500" b="0">
                <a:solidFill>
                  <a:srgbClr val="282828"/>
                </a:solidFill>
                <a:latin typeface="Arial"/>
              </a:rPr>
              <a:t>•  White-light scanning in the interferometer: an absolute surface with no wrap, slow; a one-time capture tool.</a:t>
            </a:r>
          </a:p>
          <a:p>
            <a:pPr>
              <a:spcAft>
                <a:spcPts val="600"/>
              </a:spcAft>
            </a:pPr>
            <a:r>
              <a:rPr sz="1500" b="0">
                <a:solidFill>
                  <a:srgbClr val="282828"/>
                </a:solidFill>
                <a:latin typeface="Arial"/>
              </a:rPr>
              <a:t>•  Vector Zernike with a polarization camera: one camera instead of the cube and two, at a quarter of the pixels per image.</a:t>
            </a:r>
          </a:p>
          <a:p>
            <a:pPr>
              <a:spcAft>
                <a:spcPts val="600"/>
              </a:spcAft>
            </a:pPr>
            <a:r>
              <a:rPr sz="1500" b="0">
                <a:solidFill>
                  <a:srgbClr val="282828"/>
                </a:solidFill>
                <a:latin typeface="Arial"/>
              </a:rPr>
              <a:t>•  Heterodyne or lock-in detection: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Direct actuator metrology (capacitive, optical): a coarse reference the optical gauge is calibrated against.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camera sets the measurement time, not the laser: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Optical surface errors: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Alignment and stability: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More drift in the loop: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The error budget in the JPL form: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the interferometer redone on the improved bench</a:t>
            </a:r>
          </a:p>
          <a:p>
            <a:pPr>
              <a:spcAft>
                <a:spcPts val="0"/>
              </a:spcAft>
            </a:pPr>
            <a:r>
              <a:rPr sz="1250" b="0">
                <a:solidFill>
                  <a:srgbClr val="6E6E6E"/>
                </a:solidFill>
                <a:latin typeface="Arial"/>
              </a:rPr>
              <a:t>Three defects of the modeled bench were found and fixed on 2026-09-17: the record's numbers describe a bench we will not build, so they are being redone on the one we will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beam is the DM now: the record's beam was the source cone, 77 mm on lenses and 82 on mirrors on a 96 mm mirror, the outer actuator rings unlit; the baffle is opened and the aperture sits on the DM.</a:t>
            </a:r>
          </a:p>
          <a:p>
            <a:pPr>
              <a:spcAft>
                <a:spcPts val="600"/>
              </a:spcAft>
            </a:pPr>
            <a:r>
              <a:rPr sz="1200" b="0">
                <a:solidFill>
                  <a:srgbClr val="282828"/>
                </a:solidFill>
                <a:latin typeface="Arial"/>
              </a:rPr>
              <a:t>•  The lens rig is collimated for real: the record's source sits 14 mm inside its collimator's focus (41 waves of curvature across the beam); the source moves to the focus and both lens figures are re-solved.</a:t>
            </a:r>
          </a:p>
          <a:p>
            <a:pPr>
              <a:spcAft>
                <a:spcPts val="600"/>
              </a:spcAft>
            </a:pPr>
            <a:r>
              <a:rPr sz="1200" b="0">
                <a:solidFill>
                  <a:srgbClr val="282828"/>
                </a:solidFill>
                <a:latin typeface="Arial"/>
              </a:rPr>
              <a:t>•  The detector leg keeps its pupil image: the field lens stays at the seed station, its figure and the camera trim tuned on the interferometer's own reading (the recovered surface), not on the flat-mirror null; the camera at the image surface's mean.</a:t>
            </a:r>
          </a:p>
          <a:p>
            <a:pPr>
              <a:spcAft>
                <a:spcPts val="600"/>
              </a:spcAft>
            </a:pPr>
            <a:r>
              <a:rPr sz="1200" b="0">
                <a:solidFill>
                  <a:srgbClr val="282828"/>
                </a:solidFill>
                <a:latin typeface="Arial"/>
              </a:rPr>
              <a:t>•  Substrates in every deck (previous slides), a larger-pixel camera priced.</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Redone on both rigs, the Mac carrying the mirror rig: rows on the 30 nm surface, station figures, pupil image, capture ladders and their photon price, photons for 1 pm, servo, descent, window placement, alignment sensitivities, the plates and the polarization at the built angle, the vector pair; each gated against the record.</a:t>
            </a:r>
          </a:p>
          <a:p>
            <a:pPr>
              <a:spcAft>
                <a:spcPts val="600"/>
              </a:spcAft>
            </a:pPr>
            <a:r>
              <a:rPr sz="1200" b="0">
                <a:solidFill>
                  <a:srgbClr val="282828"/>
                </a:solidFill>
                <a:latin typeface="Arial"/>
              </a:rPr>
              <a:t>•  The engine's own plane-to-plane propagation of the detector leg (the coronagraph model's reference surfaces, every leg propagated) validated leg by leg on the collimated bench, then set beside the zone-PSF model on the pupil slides; once it holds it is the full physical model for the sensors' legs too.</a:t>
            </a:r>
          </a:p>
          <a:p>
            <a:pPr>
              <a:spcAft>
                <a:spcPts val="600"/>
              </a:spcAft>
            </a:pPr>
            <a:r>
              <a:rPr sz="1200" b="0">
                <a:solidFill>
                  <a:srgbClr val="282828"/>
                </a:solidFill>
                <a:latin typeface="Arial"/>
              </a:rPr>
              <a:t>•  The coronagraph field servo resumes after this (its prescription step corrected twice; the next steps unchanged).</a:t>
            </a:r>
          </a:p>
          <a:p>
            <a:pPr>
              <a:spcAft>
                <a:spcPts val="600"/>
              </a:spcAft>
            </a:pPr>
            <a:r>
              <a:rPr sz="1200" b="0">
                <a:solidFill>
                  <a:srgbClr val="282828"/>
                </a:solidFill>
                <a:latin typeface="Arial"/>
              </a:rPr>
              <a:t>•  Package A passed on both rigs (TO, 2026-09-17 13:30): collimated, re-tuned on the reading, re-emitted.  Nyquist gain 1.0000 (lens) / 0.9994 (mirrors) worst; the 30 nm surface recovered to 42 pm (lens, 29× the record's tuned tail) and 92 pm (mirrors); single pokes 0.9998 peak; the lens rig's amplitude cross-talk 0.005 (was a third); certified at twice the sampling the tunes ran at.  Distortion is a mapping, not a gate.</a:t>
            </a:r>
          </a:p>
        </p:txBody>
      </p:sp>
      <p:sp>
        <p:nvSpPr>
          <p:cNvPr id="6" name="TextBox 5"/>
          <p:cNvSpPr txBox="1"/>
          <p:nvPr/>
        </p:nvSpPr>
        <p:spPr>
          <a:xfrm>
            <a:off x="6400800" y="5462015"/>
            <a:ext cx="5394960" cy="274320"/>
          </a:xfrm>
          <a:prstGeom prst="rect">
            <a:avLst/>
          </a:prstGeom>
          <a:noFill/>
        </p:spPr>
        <p:txBody>
          <a:bodyPr wrap="square">
            <a:spAutoFit/>
          </a:bodyPr>
          <a:lstStyle/>
          <a:p>
            <a:pPr>
              <a:spcAft>
                <a:spcPts val="600"/>
              </a:spcAft>
            </a:pPr>
            <a:r>
              <a:rPr sz="1050" b="0">
                <a:solidFill>
                  <a:srgbClr val="6E6E6E"/>
                </a:solidFill>
                <a:latin typeface="Arial"/>
              </a:rPr>
              <a:t>The interim report of 2026-09-18 carries the current record, labeled; the redo lands in its next revision.  Package B (the engine's plane-to-plane chain) and C (the runs) follow; the Mac carries C's mirror side.  Plan: BRIEF_to_tg_redo.md (packages A0, A, B, C); tools tg96_pupilsim, tg96_pupil_options, tg96_pupil_s2s.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188970"/>
        </p:xfrm>
        <a:graphic>
          <a:graphicData uri="http://schemas.openxmlformats.org/drawingml/2006/table">
            <a:tbl>
              <a:tblPr firstRow="1" bandRow="1">
                <a:tableStyleId>{5C22544A-7EE6-4342-B048-85BDC9FD1C3A}</a:tableStyleId>
              </a:tblPr>
              <a:tblGrid>
                <a:gridCol w="436880"/>
                <a:gridCol w="2963389"/>
                <a:gridCol w="24061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detector-leg focus;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runner per approach, shared code underneath; every number here is reproduced by the commands below</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Interferometer (tg_psi_dm96_oap): tg96_run for the lens rig; tg96_run('bench.optics','oap','tag','oap') for the mirror rig; ./tg96_batch.sh lens_deck "'stages',{'bench','deck'},'battery.noise',true"; ./tg96_batch.sh loop_lens "'stages',{'bench','loop','figs'}".</a:t>
            </a:r>
          </a:p>
          <a:p>
            <a:pPr>
              <a:spcAft>
                <a:spcPts val="600"/>
              </a:spcAft>
            </a:pPr>
            <a:r>
              <a:rPr sz="1200" b="0">
                <a:solidFill>
                  <a:srgbClr val="282828"/>
                </a:solidFill>
                <a:latin typeface="Arial"/>
              </a:rPr>
              <a:t>•  Pupil image (tg_psi_dm96_oap): tg96_pupilq('rig','lens'), tg96_pupilsim('rig','oap'); both tools, both rigs: ./tg96_pupil_batch.sh both (knobs: P.pupil in tg96_params).</a:t>
            </a:r>
          </a:p>
          <a:p>
            <a:pPr>
              <a:spcAft>
                <a:spcPts val="600"/>
              </a:spcAft>
            </a:pPr>
            <a:r>
              <a:rPr sz="1200" b="0">
                <a:solidFill>
                  <a:srgbClr val="282828"/>
                </a:solidFill>
                <a:latin typeface="Arial"/>
              </a:rPr>
              <a:t>•  Zernike sensors (zwfs_dm96): out = zwfs_run; (bench + battery + figures); zwfs_run('tag','ng385','NGRID',385); zwfs_run('MODEL',2048,'NGRID',385,'param_file','macos_param_2048.txt'); ./zwfs_batch.sh loop193 "'stages',{'bench','loop','figs'}".</a:t>
            </a:r>
          </a:p>
          <a:p>
            <a:pPr>
              <a:spcAft>
                <a:spcPts val="600"/>
              </a:spcAft>
            </a:pPr>
            <a:r>
              <a:rPr sz="1200" b="0">
                <a:solidFill>
                  <a:srgbClr val="282828"/>
                </a:solidFill>
                <a:latin typeface="Arial"/>
              </a:rPr>
              <a:t>•  Point-diffraction (pdi_dm96): P = pdi_params; out = pdi_run(P);; pdi_run('pdi.DIA_LAMD',1.0,'stages',{'bench','battery','figs'}); ./pdi_batch.sh TAG "pdi_params, 'stages',{'bench','loop','figs'}".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other gauges on the mirror rig: zwfs_run('bench.optics','oap','bench.coat_oap','bareAl','readings',{'L','S','V','P','PF'},'stages',{'bench','battery','noise','loop'},'mask.v_arm','engine').</a:t>
            </a:r>
          </a:p>
          <a:p>
            <a:pPr>
              <a:spcAft>
                <a:spcPts val="600"/>
              </a:spcAft>
            </a:pPr>
            <a:r>
              <a:rPr sz="1200" b="0">
                <a:solidFill>
                  <a:srgbClr val="282828"/>
                </a:solidFill>
                <a:latin typeface="Arial"/>
              </a:rPr>
              <a:t>•  Where: MACOS_resources/mmacos/templates/40_benches/{tg_psi_dm96_oap, zwfs_dm96, pdi_dm96}, the shared scoring library dm_gauge_lib, branch dev-candidate.  A model-1024 run needs about 11 GB; the batch wrappers run one at a time.</a:t>
            </a:r>
          </a:p>
          <a:p>
            <a:pPr>
              <a:spcAft>
                <a:spcPts val="600"/>
              </a:spcAft>
            </a:pPr>
            <a:r>
              <a:rPr sz="1200" b="0">
                <a:solidFill>
                  <a:srgbClr val="282828"/>
                </a:solidFill>
                <a:latin typeface="Arial"/>
              </a:rPr>
              <a:t>•  Gates: every stage asserts its own gates (the mask round trip, the reference-wave surrogate, the fold, the pinhole, the analyzer); tDmgLoop 15/15; the mmacos fast suite 481/0.</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Each directory's README carries the full command list and the run-tag index.</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17495"/>
        </p:xfrm>
        <a:graphic>
          <a:graphicData uri="http://schemas.openxmlformats.org/drawingml/2006/table">
            <a:tbl>
              <a:tblPr firstRow="1" bandRow="1">
                <a:tableStyleId>{5C22544A-7EE6-4342-B048-85BDC9FD1C3A}</a:tableStyleId>
              </a:tblPr>
              <a:tblGrid>
                <a:gridCol w="1671828"/>
                <a:gridCol w="1257454"/>
                <a:gridCol w="1523454"/>
                <a:gridCol w="6915998"/>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845820">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at the record's 45°: the splitter's diattenuation rotates the test arm 7.5°, gain +11.7% (at the built 22.5°: 1.56°, +0.9%), nulled to 1.00000 by an analyzer sweep and a 3.8° plate clock; cube rig: R_p 2.1% for a naive stack, 0 for the symmetric one, 2.27× the delivered power</a:t>
                      </a:r>
                    </a:p>
                  </a:txBody>
                  <a:tcPr marL="54864" marR="54864" marT="18288" marB="18288">
                    <a:solidFill>
                      <a:srgbClr val="ECF1F6"/>
                    </a:solidFill>
                  </a:tcPr>
                </a:tc>
              </a:tr>
              <a:tr h="845820">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426224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substrates in, the full beam, the seed tail (Mac cycle 3a-3b, 2026-09-17): the interferometer's rows</a:t>
            </a:r>
          </a:p>
          <a:p>
            <a:pPr>
              <a:spcAft>
                <a:spcPts val="0"/>
              </a:spcAft>
            </a:pPr>
            <a:r>
              <a:rPr sz="1250" b="0">
                <a:solidFill>
                  <a:srgbClr val="6E6E6E"/>
                </a:solidFill>
                <a:latin typeface="Arial"/>
              </a:rPr>
              <a:t>On the bench as it will be built but before the collimator fix, the mirror rig reads; the lens rig's flat null grows to 92 nm on the record's misfed collimator and the multi-site row breaks, which is the redo's package A in one number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31745"/>
        </p:xfrm>
        <a:graphic>
          <a:graphicData uri="http://schemas.openxmlformats.org/drawingml/2006/table">
            <a:tbl>
              <a:tblPr firstRow="1" bandRow="1">
                <a:tableStyleId>{5C22544A-7EE6-4342-B048-85BDC9FD1C3A}</a:tableStyleId>
              </a:tblPr>
              <a:tblGrid>
                <a:gridCol w="1822924"/>
                <a:gridCol w="1608462"/>
                <a:gridCol w="2398268"/>
                <a:gridCol w="1465488"/>
                <a:gridCol w="2107692"/>
                <a:gridCol w="1965899"/>
              </a:tblGrid>
              <a:tr h="657225">
                <a:tc>
                  <a:txBody>
                    <a:bodyPr wrap="square"/>
                    <a:lstStyle/>
                    <a:p>
                      <a:r>
                        <a:rPr sz="1100" b="1">
                          <a:solidFill>
                            <a:srgbClr val="FFFFFF"/>
                          </a:solidFill>
                          <a:latin typeface="Arial"/>
                        </a:rPr>
                        <a:t>rows on the 30 nm surface, matrix on it (four-step)</a:t>
                      </a:r>
                    </a:p>
                  </a:txBody>
                  <a:tcPr marL="54864" marR="54864" marT="18288" marB="18288">
                    <a:solidFill>
                      <a:srgbClr val="1F4E79"/>
                    </a:solidFill>
                  </a:tcPr>
                </a:tc>
                <a:tc>
                  <a:txBody>
                    <a:bodyPr wrap="square"/>
                    <a:lstStyle/>
                    <a:p>
                      <a:r>
                        <a:rPr sz="1100" b="1">
                          <a:solidFill>
                            <a:srgbClr val="FFFFFF"/>
                          </a:solidFill>
                          <a:latin typeface="Arial"/>
                        </a:rPr>
                        <a:t>lens rig, seed tail, substrates in (cycle 3a)</a:t>
                      </a:r>
                    </a:p>
                  </a:txBody>
                  <a:tcPr marL="54864" marR="54864" marT="18288" marB="18288">
                    <a:solidFill>
                      <a:srgbClr val="1F4E79"/>
                    </a:solidFill>
                  </a:tcPr>
                </a:tc>
                <a:tc>
                  <a:txBody>
                    <a:bodyPr wrap="square"/>
                    <a:lstStyle/>
                    <a:p>
                      <a:r>
                        <a:rPr sz="1100" b="1">
                          <a:solidFill>
                            <a:srgbClr val="FFFFFF"/>
                          </a:solidFill>
                          <a:latin typeface="Arial"/>
                        </a:rPr>
                        <a:t>lens rig, redo bench (cycle 3b)</a:t>
                      </a:r>
                    </a:p>
                  </a:txBody>
                  <a:tcPr marL="54864" marR="54864" marT="18288" marB="18288">
                    <a:solidFill>
                      <a:srgbClr val="1F4E79"/>
                    </a:solidFill>
                  </a:tcPr>
                </a:tc>
                <a:tc>
                  <a:txBody>
                    <a:bodyPr wrap="square"/>
                    <a:lstStyle/>
                    <a:p>
                      <a:r>
                        <a:rPr sz="1100" b="1">
                          <a:solidFill>
                            <a:srgbClr val="FFFFFF"/>
                          </a:solidFill>
                          <a:latin typeface="Arial"/>
                        </a:rPr>
                        <a:t>mirror rig, seed tail, substrates in (3a)</a:t>
                      </a:r>
                    </a:p>
                  </a:txBody>
                  <a:tcPr marL="54864" marR="54864" marT="18288" marB="18288">
                    <a:solidFill>
                      <a:srgbClr val="1F4E79"/>
                    </a:solidFill>
                  </a:tcPr>
                </a:tc>
                <a:tc>
                  <a:txBody>
                    <a:bodyPr wrap="square"/>
                    <a:lstStyle/>
                    <a:p>
                      <a:r>
                        <a:rPr sz="1100" b="1">
                          <a:solidFill>
                            <a:srgbClr val="FFFFFF"/>
                          </a:solidFill>
                          <a:latin typeface="Arial"/>
                        </a:rPr>
                        <a:t>mirror rig, redo bench (3b)</a:t>
                      </a:r>
                    </a:p>
                  </a:txBody>
                  <a:tcPr marL="54864" marR="54864" marT="18288" marB="18288">
                    <a:solidFill>
                      <a:srgbClr val="1F4E79"/>
                    </a:solidFill>
                  </a:tcPr>
                </a:tc>
                <a:tc>
                  <a:txBody>
                    <a:bodyPr wrap="square"/>
                    <a:lstStyle/>
                    <a:p>
                      <a:r>
                        <a:rPr sz="1100" b="1">
                          <a:solidFill>
                            <a:srgbClr val="FFFFFF"/>
                          </a:solidFill>
                          <a:latin typeface="Arial"/>
                        </a:rPr>
                        <a:t>the record (tuned tail, no substrates, 77 / 82 mm beam)</a:t>
                      </a:r>
                    </a:p>
                  </a:txBody>
                  <a:tcPr marL="54864" marR="54864" marT="18288" marB="18288">
                    <a:solidFill>
                      <a:srgbClr val="1F4E79"/>
                    </a:solidFill>
                  </a:tcPr>
                </a:tc>
              </a:tr>
              <a:tr h="280035">
                <a:tc>
                  <a:txBody>
                    <a:bodyPr wrap="square"/>
                    <a:lstStyle/>
                    <a:p>
                      <a:r>
                        <a:rPr sz="1100" b="0">
                          <a:solidFill>
                            <a:srgbClr val="282828"/>
                          </a:solidFill>
                          <a:latin typeface="Arial"/>
                        </a:rPr>
                        <a:t>flat-mirror null</a:t>
                      </a:r>
                    </a:p>
                  </a:txBody>
                  <a:tcPr marL="54864" marR="54864" marT="18288" marB="18288">
                    <a:solidFill>
                      <a:srgbClr val="FFFFFF"/>
                    </a:solidFill>
                  </a:tcPr>
                </a:tc>
                <a:tc>
                  <a:txBody>
                    <a:bodyPr wrap="square"/>
                    <a:lstStyle/>
                    <a:p>
                      <a:r>
                        <a:rPr sz="1100" b="0">
                          <a:solidFill>
                            <a:srgbClr val="282828"/>
                          </a:solidFill>
                          <a:latin typeface="Arial"/>
                        </a:rPr>
                        <a:t>92.4 nm rms</a:t>
                      </a:r>
                    </a:p>
                  </a:txBody>
                  <a:tcPr marL="54864" marR="54864" marT="18288" marB="18288">
                    <a:solidFill>
                      <a:srgbClr val="FFFFFF"/>
                    </a:solidFill>
                  </a:tcPr>
                </a:tc>
                <a:tc>
                  <a:txBody>
                    <a:bodyPr wrap="square"/>
                    <a:lstStyle/>
                    <a:p>
                      <a:r>
                        <a:rPr sz="1100" b="0">
                          <a:solidFill>
                            <a:srgbClr val="282828"/>
                          </a:solidFill>
                          <a:latin typeface="Arial"/>
                        </a:rPr>
                        <a:t>59.3 nm</a:t>
                      </a:r>
                    </a:p>
                  </a:txBody>
                  <a:tcPr marL="54864" marR="54864" marT="18288" marB="18288">
                    <a:solidFill>
                      <a:srgbClr val="FFFFFF"/>
                    </a:solidFill>
                  </a:tcPr>
                </a:tc>
                <a:tc>
                  <a:txBody>
                    <a:bodyPr wrap="square"/>
                    <a:lstStyle/>
                    <a:p>
                      <a:r>
                        <a:rPr sz="1100" b="0">
                          <a:solidFill>
                            <a:srgbClr val="282828"/>
                          </a:solidFill>
                          <a:latin typeface="Arial"/>
                        </a:rPr>
                        <a:t>26.3 nm</a:t>
                      </a:r>
                    </a:p>
                  </a:txBody>
                  <a:tcPr marL="54864" marR="54864" marT="18288" marB="18288">
                    <a:solidFill>
                      <a:srgbClr val="FFFFFF"/>
                    </a:solidFill>
                  </a:tcPr>
                </a:tc>
                <a:tc>
                  <a:txBody>
                    <a:bodyPr wrap="square"/>
                    <a:lstStyle/>
                    <a:p>
                      <a:r>
                        <a:rPr sz="1100" b="0">
                          <a:solidFill>
                            <a:srgbClr val="282828"/>
                          </a:solidFill>
                          <a:latin typeface="Arial"/>
                        </a:rPr>
                        <a:t>26.5 nm</a:t>
                      </a:r>
                    </a:p>
                  </a:txBody>
                  <a:tcPr marL="54864" marR="54864" marT="18288" marB="18288">
                    <a:solidFill>
                      <a:srgbClr val="FFFFFF"/>
                    </a:solidFill>
                  </a:tcPr>
                </a:tc>
                <a:tc>
                  <a:txBody>
                    <a:bodyPr wrap="square"/>
                    <a:lstStyle/>
                    <a:p>
                      <a:r>
                        <a:rPr sz="1100" b="0">
                          <a:solidFill>
                            <a:srgbClr val="282828"/>
                          </a:solidFill>
                          <a:latin typeface="Arial"/>
                        </a:rPr>
                        <a:t>0.13 nm lens / 0.03 mirrors</a:t>
                      </a:r>
                    </a:p>
                  </a:txBody>
                  <a:tcPr marL="54864" marR="54864" marT="18288" marB="18288">
                    <a:solidFill>
                      <a:srgbClr val="FFFFFF"/>
                    </a:solidFill>
                  </a:tcPr>
                </a:tc>
              </a:tr>
              <a:tr h="468630">
                <a:tc>
                  <a:txBody>
                    <a:bodyPr wrap="square"/>
                    <a:lstStyle/>
                    <a:p>
                      <a:r>
                        <a:rPr sz="1100" b="0">
                          <a:solidFill>
                            <a:srgbClr val="282828"/>
                          </a:solidFill>
                          <a:latin typeface="Arial"/>
                        </a:rPr>
                        <a:t>10 nm on one actuator: gain / error / SNR</a:t>
                      </a:r>
                    </a:p>
                  </a:txBody>
                  <a:tcPr marL="54864" marR="54864" marT="18288" marB="18288">
                    <a:solidFill>
                      <a:srgbClr val="ECF1F6"/>
                    </a:solidFill>
                  </a:tcPr>
                </a:tc>
                <a:tc>
                  <a:txBody>
                    <a:bodyPr wrap="square"/>
                    <a:lstStyle/>
                    <a:p>
                      <a:r>
                        <a:rPr sz="1100" b="0">
                          <a:solidFill>
                            <a:srgbClr val="282828"/>
                          </a:solidFill>
                          <a:latin typeface="Arial"/>
                        </a:rPr>
                        <a:t>1.003 / 1 pm / 10645</a:t>
                      </a:r>
                    </a:p>
                  </a:txBody>
                  <a:tcPr marL="54864" marR="54864" marT="18288" marB="18288">
                    <a:solidFill>
                      <a:srgbClr val="ECF1F6"/>
                    </a:solidFill>
                  </a:tcPr>
                </a:tc>
                <a:tc>
                  <a:txBody>
                    <a:bodyPr wrap="square"/>
                    <a:lstStyle/>
                    <a:p>
                      <a:r>
                        <a:rPr sz="1100" b="0">
                          <a:solidFill>
                            <a:srgbClr val="282828"/>
                          </a:solidFill>
                          <a:latin typeface="Arial"/>
                        </a:rPr>
                        <a:t>1.004 / 1.4 pm / 7741</a:t>
                      </a:r>
                    </a:p>
                  </a:txBody>
                  <a:tcPr marL="54864" marR="54864" marT="18288" marB="18288">
                    <a:solidFill>
                      <a:srgbClr val="ECF1F6"/>
                    </a:solidFill>
                  </a:tcPr>
                </a:tc>
                <a:tc>
                  <a:txBody>
                    <a:bodyPr wrap="square"/>
                    <a:lstStyle/>
                    <a:p>
                      <a:r>
                        <a:rPr sz="1100" b="0">
                          <a:solidFill>
                            <a:srgbClr val="282828"/>
                          </a:solidFill>
                          <a:latin typeface="Arial"/>
                        </a:rPr>
                        <a:t>0.986 / 2.2 pm / 6472</a:t>
                      </a:r>
                    </a:p>
                  </a:txBody>
                  <a:tcPr marL="54864" marR="54864" marT="18288" marB="18288">
                    <a:solidFill>
                      <a:srgbClr val="ECF1F6"/>
                    </a:solidFill>
                  </a:tcPr>
                </a:tc>
                <a:tc>
                  <a:txBody>
                    <a:bodyPr wrap="square"/>
                    <a:lstStyle/>
                    <a:p>
                      <a:r>
                        <a:rPr sz="1100" b="0">
                          <a:solidFill>
                            <a:srgbClr val="282828"/>
                          </a:solidFill>
                          <a:latin typeface="Arial"/>
                        </a:rPr>
                        <a:t>0.986 / 2.3 pm / 6044</a:t>
                      </a:r>
                    </a:p>
                  </a:txBody>
                  <a:tcPr marL="54864" marR="54864" marT="18288" marB="18288">
                    <a:solidFill>
                      <a:srgbClr val="ECF1F6"/>
                    </a:solidFill>
                  </a:tcPr>
                </a:tc>
                <a:tc>
                  <a:txBody>
                    <a:bodyPr wrap="square"/>
                    <a:lstStyle/>
                    <a:p>
                      <a:r>
                        <a:rPr sz="1100" b="0">
                          <a:solidFill>
                            <a:srgbClr val="282828"/>
                          </a:solidFill>
                          <a:latin typeface="Arial"/>
                        </a:rPr>
                        <a:t>0.992 / 2.2 pm (lens), 0.992 / 2.4 (mirrors)</a:t>
                      </a:r>
                    </a:p>
                  </a:txBody>
                  <a:tcPr marL="54864" marR="54864" marT="18288" marB="18288">
                    <a:solidFill>
                      <a:srgbClr val="ECF1F6"/>
                    </a:solidFill>
                  </a:tcPr>
                </a:tc>
              </a:tr>
              <a:tr h="468630">
                <a:tc>
                  <a:txBody>
                    <a:bodyPr wrap="square"/>
                    <a:lstStyle/>
                    <a:p>
                      <a:r>
                        <a:rPr sz="1100" b="0">
                          <a:solidFill>
                            <a:srgbClr val="282828"/>
                          </a:solidFill>
                          <a:latin typeface="Arial"/>
                        </a:rPr>
                        <a:t>1 nm on the grid (112-120 sites)</a:t>
                      </a:r>
                    </a:p>
                  </a:txBody>
                  <a:tcPr marL="54864" marR="54864" marT="18288" marB="18288">
                    <a:solidFill>
                      <a:srgbClr val="FFFFFF"/>
                    </a:solidFill>
                  </a:tcPr>
                </a:tc>
                <a:tc>
                  <a:txBody>
                    <a:bodyPr wrap="square"/>
                    <a:lstStyle/>
                    <a:p>
                      <a:r>
                        <a:rPr sz="1100" b="0">
                          <a:solidFill>
                            <a:srgbClr val="282828"/>
                          </a:solidFill>
                          <a:latin typeface="Arial"/>
                        </a:rPr>
                        <a:t>0.754 / 61.5 pm / 135</a:t>
                      </a:r>
                    </a:p>
                  </a:txBody>
                  <a:tcPr marL="54864" marR="54864" marT="18288" marB="18288">
                    <a:solidFill>
                      <a:srgbClr val="FFFFFF"/>
                    </a:solidFill>
                  </a:tcPr>
                </a:tc>
                <a:tc>
                  <a:txBody>
                    <a:bodyPr wrap="square"/>
                    <a:lstStyle/>
                    <a:p>
                      <a:r>
                        <a:rPr sz="1100" b="0">
                          <a:solidFill>
                            <a:srgbClr val="282828"/>
                          </a:solidFill>
                          <a:latin typeface="Arial"/>
                        </a:rPr>
                        <a:t>0.993 / 10 pm / 246</a:t>
                      </a:r>
                    </a:p>
                  </a:txBody>
                  <a:tcPr marL="54864" marR="54864" marT="18288" marB="18288">
                    <a:solidFill>
                      <a:srgbClr val="FFFFFF"/>
                    </a:solidFill>
                  </a:tcPr>
                </a:tc>
                <a:tc>
                  <a:txBody>
                    <a:bodyPr wrap="square"/>
                    <a:lstStyle/>
                    <a:p>
                      <a:r>
                        <a:rPr sz="1100" b="0">
                          <a:solidFill>
                            <a:srgbClr val="282828"/>
                          </a:solidFill>
                          <a:latin typeface="Arial"/>
                        </a:rPr>
                        <a:t>0.981 / 4.5 pm / 309</a:t>
                      </a:r>
                    </a:p>
                  </a:txBody>
                  <a:tcPr marL="54864" marR="54864" marT="18288" marB="18288">
                    <a:solidFill>
                      <a:srgbClr val="FFFFFF"/>
                    </a:solidFill>
                  </a:tcPr>
                </a:tc>
                <a:tc>
                  <a:txBody>
                    <a:bodyPr wrap="square"/>
                    <a:lstStyle/>
                    <a:p>
                      <a:r>
                        <a:rPr sz="1100" b="0">
                          <a:solidFill>
                            <a:srgbClr val="282828"/>
                          </a:solidFill>
                          <a:latin typeface="Arial"/>
                        </a:rPr>
                        <a:t>0.981 / 4.4 pm / 310</a:t>
                      </a:r>
                    </a:p>
                  </a:txBody>
                  <a:tcPr marL="54864" marR="54864" marT="18288" marB="18288">
                    <a:solidFill>
                      <a:srgbClr val="FFFFFF"/>
                    </a:solidFill>
                  </a:tcPr>
                </a:tc>
                <a:tc>
                  <a:txBody>
                    <a:bodyPr wrap="square"/>
                    <a:lstStyle/>
                    <a:p>
                      <a:r>
                        <a:rPr sz="1100" b="0">
                          <a:solidFill>
                            <a:srgbClr val="282828"/>
                          </a:solidFill>
                          <a:latin typeface="Arial"/>
                        </a:rPr>
                        <a:t>0.999 / 4 pm</a:t>
                      </a:r>
                    </a:p>
                  </a:txBody>
                  <a:tcPr marL="54864" marR="54864" marT="18288" marB="18288">
                    <a:solidFill>
                      <a:srgbClr val="FFFFFF"/>
                    </a:solidFill>
                  </a:tcPr>
                </a:tc>
              </a:tr>
              <a:tr h="657225">
                <a:tc>
                  <a:txBody>
                    <a:bodyPr wrap="square"/>
                    <a:lstStyle/>
                    <a:p>
                      <a:r>
                        <a:rPr sz="1100" b="0">
                          <a:solidFill>
                            <a:srgbClr val="282828"/>
                          </a:solidFill>
                          <a:latin typeface="Arial"/>
                        </a:rPr>
                        <a:t>capture to 10%, single site / grid</a:t>
                      </a:r>
                    </a:p>
                  </a:txBody>
                  <a:tcPr marL="54864" marR="54864" marT="18288" marB="18288">
                    <a:solidFill>
                      <a:srgbClr val="ECF1F6"/>
                    </a:solidFill>
                  </a:tcPr>
                </a:tc>
                <a:tc>
                  <a:txBody>
                    <a:bodyPr wrap="square"/>
                    <a:lstStyle/>
                    <a:p>
                      <a:r>
                        <a:rPr sz="1100" b="0">
                          <a:solidFill>
                            <a:srgbClr val="282828"/>
                          </a:solidFill>
                          <a:latin typeface="Arial"/>
                        </a:rPr>
                        <a:t>480 nm and beyond / outside at the first rung</a:t>
                      </a:r>
                    </a:p>
                  </a:txBody>
                  <a:tcPr marL="54864" marR="54864" marT="18288" marB="18288">
                    <a:solidFill>
                      <a:srgbClr val="ECF1F6"/>
                    </a:solidFill>
                  </a:tcPr>
                </a:tc>
                <a:tc>
                  <a:txBody>
                    <a:bodyPr wrap="square"/>
                    <a:lstStyle/>
                    <a:p>
                      <a:r>
                        <a:rPr sz="1100" b="0">
                          <a:solidFill>
                            <a:srgbClr val="282828"/>
                          </a:solidFill>
                          <a:latin typeface="Arial"/>
                        </a:rPr>
                        <a:t>480+ / 480+</a:t>
                      </a:r>
                    </a:p>
                  </a:txBody>
                  <a:tcPr marL="54864" marR="54864" marT="18288" marB="18288">
                    <a:solidFill>
                      <a:srgbClr val="ECF1F6"/>
                    </a:solidFill>
                  </a:tcPr>
                </a:tc>
                <a:tc>
                  <a:txBody>
                    <a:bodyPr wrap="square"/>
                    <a:lstStyle/>
                    <a:p>
                      <a:r>
                        <a:rPr sz="1100" b="0">
                          <a:solidFill>
                            <a:srgbClr val="282828"/>
                          </a:solidFill>
                          <a:latin typeface="Arial"/>
                        </a:rPr>
                        <a:t>480+ / 480+</a:t>
                      </a:r>
                    </a:p>
                  </a:txBody>
                  <a:tcPr marL="54864" marR="54864" marT="18288" marB="18288">
                    <a:solidFill>
                      <a:srgbClr val="ECF1F6"/>
                    </a:solidFill>
                  </a:tcPr>
                </a:tc>
                <a:tc>
                  <a:txBody>
                    <a:bodyPr wrap="square"/>
                    <a:lstStyle/>
                    <a:p>
                      <a:r>
                        <a:rPr sz="1100" b="0">
                          <a:solidFill>
                            <a:srgbClr val="282828"/>
                          </a:solidFill>
                          <a:latin typeface="Arial"/>
                        </a:rPr>
                        <a:t>480+ / 480+</a:t>
                      </a:r>
                    </a:p>
                  </a:txBody>
                  <a:tcPr marL="54864" marR="54864" marT="18288" marB="18288">
                    <a:solidFill>
                      <a:srgbClr val="ECF1F6"/>
                    </a:solidFill>
                  </a:tcPr>
                </a:tc>
                <a:tc>
                  <a:txBody>
                    <a:bodyPr wrap="square"/>
                    <a:lstStyle/>
                    <a:p>
                      <a:r>
                        <a:rPr sz="1100" b="0">
                          <a:solidFill>
                            <a:srgbClr val="282828"/>
                          </a:solidFill>
                          <a:latin typeface="Arial"/>
                        </a:rPr>
                        <a:t>322 / 480 and beyond</a:t>
                      </a:r>
                    </a:p>
                  </a:txBody>
                  <a:tcPr marL="54864" marR="54864" marT="18288" marB="18288">
                    <a:solidFill>
                      <a:srgbClr val="ECF1F6"/>
                    </a:solidFill>
                  </a:tcPr>
                </a:tc>
              </a:tr>
            </a:tbl>
          </a:graphicData>
        </a:graphic>
      </p:graphicFrame>
      <p:sp>
        <p:nvSpPr>
          <p:cNvPr id="5" name="TextBox 4"/>
          <p:cNvSpPr txBox="1"/>
          <p:nvPr/>
        </p:nvSpPr>
        <p:spPr>
          <a:xfrm>
            <a:off x="411480" y="3976497"/>
            <a:ext cx="11368735" cy="274320"/>
          </a:xfrm>
          <a:prstGeom prst="rect">
            <a:avLst/>
          </a:prstGeom>
          <a:noFill/>
        </p:spPr>
        <p:txBody>
          <a:bodyPr wrap="square">
            <a:spAutoFit/>
          </a:bodyPr>
          <a:lstStyle/>
          <a:p>
            <a:pPr>
              <a:spcAft>
                <a:spcPts val="600"/>
              </a:spcAft>
            </a:pPr>
            <a:r>
              <a:rPr sz="1500" b="0">
                <a:solidFill>
                  <a:srgbClr val="282828"/>
                </a:solidFill>
                <a:latin typeface="Arial"/>
              </a:rPr>
              <a:t>•  Read it as the redo's justification: with the 10 mm plates and the 2 mm windows in, the seed tail's null on the lens rig's misfed collimator reaches 92 nm, a third of a wave of wavefront, and the 112-site row at 1 nm falls to 0.75 through the fold, while one actuator still reads to 1 pm.  Package A (the collimator at its focus, the tail tuned on the reading) is what restores it; the mirror rig, already fed at its focus, holds its rows at 0.98 to 0.99 with a 26 nm fixed-pattern null the reference frame removes.</a:t>
            </a:r>
          </a:p>
          <a:p>
            <a:pPr>
              <a:spcAft>
                <a:spcPts val="600"/>
              </a:spcAft>
            </a:pPr>
            <a:r>
              <a:rPr sz="1500" b="0">
                <a:solidFill>
                  <a:srgbClr val="282828"/>
                </a:solidFill>
                <a:latin typeface="Arial"/>
              </a:rPr>
              <a:t>•  The redo bench restores the lens rig's grid row (0.754 to 0.993) and leaves a 59 nm null; the mirror rig is unchanged by design.  The null that remains on both rigs is the mask plate's spherical aberration in the F/4.2 beam (a 2 mm plate: about 0.1 wave rms), a fixed pattern the reference frame removes and the reading-tuned tail does not chase; TO's null decomposition prices it.</a:t>
            </a:r>
          </a:p>
        </p:txBody>
      </p:sp>
      <p:sp>
        <p:nvSpPr>
          <p:cNvPr id="6" name="TextBox 5"/>
          <p:cNvSpPr txBox="1"/>
          <p:nvPr/>
        </p:nvSpPr>
        <p:spPr>
          <a:xfrm>
            <a:off x="411480" y="6522339"/>
            <a:ext cx="11368735" cy="274320"/>
          </a:xfrm>
          <a:prstGeom prst="rect">
            <a:avLst/>
          </a:prstGeom>
          <a:noFill/>
        </p:spPr>
        <p:txBody>
          <a:bodyPr wrap="square">
            <a:spAutoFit/>
          </a:bodyPr>
          <a:lstStyle/>
          <a:p>
            <a:pPr>
              <a:spcAft>
                <a:spcPts val="600"/>
              </a:spcAft>
            </a:pPr>
            <a:r>
              <a:rPr sz="1050" b="0">
                <a:solidFill>
                  <a:srgbClr val="6E6E6E"/>
                </a:solidFill>
                <a:latin typeface="Arial"/>
              </a:rPr>
              <a:t>Run tags sub96_lens, sub96_oap (cycle 3a); redo96_lens, redo96_oap (cycle 3b); the Mac, 2026-09-17.  The pupil image and the sensors on these same decks are on the next slide.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same decks — the pupil image and the sensors</a:t>
            </a:r>
          </a:p>
          <a:p>
            <a:pPr>
              <a:spcAft>
                <a:spcPts val="0"/>
              </a:spcAft>
            </a:pPr>
            <a:r>
              <a:rPr sz="1250" b="0">
                <a:solidFill>
                  <a:srgbClr val="6E6E6E"/>
                </a:solidFill>
                <a:latin typeface="Arial"/>
              </a:rPr>
              <a:t>The imaging is not what limits either rig on the seed tail with the substrates in, and the mask plate costs the sensors a little capture and no gain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2720340"/>
        </p:xfrm>
        <a:graphic>
          <a:graphicData uri="http://schemas.openxmlformats.org/drawingml/2006/table">
            <a:tbl>
              <a:tblPr firstRow="1" bandRow="1">
                <a:tableStyleId>{5C22544A-7EE6-4342-B048-85BDC9FD1C3A}</a:tableStyleId>
              </a:tblPr>
              <a:tblGrid>
                <a:gridCol w="3345345"/>
                <a:gridCol w="1223906"/>
                <a:gridCol w="1740667"/>
                <a:gridCol w="2203032"/>
                <a:gridCol w="1359896"/>
                <a:gridCol w="1495886"/>
              </a:tblGrid>
              <a:tr h="657225">
                <a:tc>
                  <a:txBody>
                    <a:bodyPr wrap="square"/>
                    <a:lstStyle/>
                    <a:p>
                      <a:r>
                        <a:rPr sz="1100" b="1">
                          <a:solidFill>
                            <a:srgbClr val="FFFFFF"/>
                          </a:solidFill>
                          <a:latin typeface="Arial"/>
                        </a:rPr>
                        <a:t>rows on the 30 nm surface, matrix on it (four-step)</a:t>
                      </a:r>
                    </a:p>
                  </a:txBody>
                  <a:tcPr marL="54864" marR="54864" marT="18288" marB="18288">
                    <a:solidFill>
                      <a:srgbClr val="1F4E79"/>
                    </a:solidFill>
                  </a:tcPr>
                </a:tc>
                <a:tc>
                  <a:txBody>
                    <a:bodyPr wrap="square"/>
                    <a:lstStyle/>
                    <a:p>
                      <a:r>
                        <a:rPr sz="1100" b="1">
                          <a:solidFill>
                            <a:srgbClr val="FFFFFF"/>
                          </a:solidFill>
                          <a:latin typeface="Arial"/>
                        </a:rPr>
                        <a:t>lens rig, seed tail, substrates in (cycle 3a)</a:t>
                      </a:r>
                    </a:p>
                  </a:txBody>
                  <a:tcPr marL="54864" marR="54864" marT="18288" marB="18288">
                    <a:solidFill>
                      <a:srgbClr val="1F4E79"/>
                    </a:solidFill>
                  </a:tcPr>
                </a:tc>
                <a:tc>
                  <a:txBody>
                    <a:bodyPr wrap="square"/>
                    <a:lstStyle/>
                    <a:p>
                      <a:r>
                        <a:rPr sz="1100" b="1">
                          <a:solidFill>
                            <a:srgbClr val="FFFFFF"/>
                          </a:solidFill>
                          <a:latin typeface="Arial"/>
                        </a:rPr>
                        <a:t>lens rig, redo bench (cycle 3b)</a:t>
                      </a:r>
                    </a:p>
                  </a:txBody>
                  <a:tcPr marL="54864" marR="54864" marT="18288" marB="18288">
                    <a:solidFill>
                      <a:srgbClr val="1F4E79"/>
                    </a:solidFill>
                  </a:tcPr>
                </a:tc>
                <a:tc>
                  <a:txBody>
                    <a:bodyPr wrap="square"/>
                    <a:lstStyle/>
                    <a:p>
                      <a:r>
                        <a:rPr sz="1100" b="1">
                          <a:solidFill>
                            <a:srgbClr val="FFFFFF"/>
                          </a:solidFill>
                          <a:latin typeface="Arial"/>
                        </a:rPr>
                        <a:t>mirror rig, seed tail, substrates in (3a)</a:t>
                      </a:r>
                    </a:p>
                  </a:txBody>
                  <a:tcPr marL="54864" marR="54864" marT="18288" marB="18288">
                    <a:solidFill>
                      <a:srgbClr val="1F4E79"/>
                    </a:solidFill>
                  </a:tcPr>
                </a:tc>
                <a:tc>
                  <a:txBody>
                    <a:bodyPr wrap="square"/>
                    <a:lstStyle/>
                    <a:p>
                      <a:r>
                        <a:rPr sz="1100" b="1">
                          <a:solidFill>
                            <a:srgbClr val="FFFFFF"/>
                          </a:solidFill>
                          <a:latin typeface="Arial"/>
                        </a:rPr>
                        <a:t>mirror rig, redo bench (3b)</a:t>
                      </a:r>
                    </a:p>
                  </a:txBody>
                  <a:tcPr marL="54864" marR="54864" marT="18288" marB="18288">
                    <a:solidFill>
                      <a:srgbClr val="1F4E79"/>
                    </a:solidFill>
                  </a:tcPr>
                </a:tc>
                <a:tc>
                  <a:txBody>
                    <a:bodyPr wrap="square"/>
                    <a:lstStyle/>
                    <a:p>
                      <a:r>
                        <a:rPr sz="1100" b="1">
                          <a:solidFill>
                            <a:srgbClr val="FFFFFF"/>
                          </a:solidFill>
                          <a:latin typeface="Arial"/>
                        </a:rPr>
                        <a:t>the record (tuned tail, no substrates, 77 / 82 mm beam)</a:t>
                      </a:r>
                    </a:p>
                  </a:txBody>
                  <a:tcPr marL="54864" marR="54864" marT="18288" marB="18288">
                    <a:solidFill>
                      <a:srgbClr val="1F4E79"/>
                    </a:solidFill>
                  </a:tcPr>
                </a:tc>
              </a:tr>
              <a:tr h="280035">
                <a:tc>
                  <a:txBody>
                    <a:bodyPr wrap="square"/>
                    <a:lstStyle/>
                    <a:p>
                      <a:r>
                        <a:rPr sz="1100" b="0">
                          <a:solidFill>
                            <a:srgbClr val="282828"/>
                          </a:solidFill>
                          <a:latin typeface="Arial"/>
                        </a:rPr>
                        <a:t>pupil image on the 96 mm beam</a:t>
                      </a:r>
                    </a:p>
                  </a:txBody>
                  <a:tcPr marL="54864" marR="54864" marT="18288" marB="18288">
                    <a:solidFill>
                      <a:srgbClr val="FFFFFF"/>
                    </a:solidFill>
                  </a:tcPr>
                </a:tc>
                <a:tc>
                  <a:txBody>
                    <a:bodyPr wrap="square"/>
                    <a:lstStyle/>
                    <a:p>
                      <a:r>
                        <a:rPr sz="1100" b="0">
                          <a:solidFill>
                            <a:srgbClr val="282828"/>
                          </a:solidFill>
                          <a:latin typeface="Arial"/>
                        </a:rPr>
                        <a:t>9.5 mm (341 px)</a:t>
                      </a:r>
                    </a:p>
                  </a:txBody>
                  <a:tcPr marL="54864" marR="54864" marT="18288" marB="18288">
                    <a:solidFill>
                      <a:srgbClr val="FFFFFF"/>
                    </a:solidFill>
                  </a:tcPr>
                </a:tc>
                <a:tc>
                  <a:txBody>
                    <a:bodyPr wrap="square"/>
                    <a:lstStyle/>
                    <a:p>
                      <a:r>
                        <a:rPr sz="1100" b="0">
                          <a:solidFill>
                            <a:srgbClr val="282828"/>
                          </a:solidFill>
                          <a:latin typeface="Arial"/>
                        </a:rPr>
                        <a:t>11.3 mm (384 px)</a:t>
                      </a:r>
                    </a:p>
                  </a:txBody>
                  <a:tcPr marL="54864" marR="54864" marT="18288" marB="18288">
                    <a:solidFill>
                      <a:srgbClr val="FFFFFF"/>
                    </a:solidFill>
                  </a:tcPr>
                </a:tc>
                <a:tc>
                  <a:txBody>
                    <a:bodyPr wrap="square"/>
                    <a:lstStyle/>
                    <a:p>
                      <a:r>
                        <a:rPr sz="1100" b="0">
                          <a:solidFill>
                            <a:srgbClr val="282828"/>
                          </a:solidFill>
                          <a:latin typeface="Arial"/>
                        </a:rPr>
                        <a:t>11.1 mm (384 px)</a:t>
                      </a:r>
                    </a:p>
                  </a:txBody>
                  <a:tcPr marL="54864" marR="54864" marT="18288" marB="18288">
                    <a:solidFill>
                      <a:srgbClr val="FFFFFF"/>
                    </a:solidFill>
                  </a:tcPr>
                </a:tc>
                <a:tc>
                  <a:txBody>
                    <a:bodyPr wrap="square"/>
                    <a:lstStyle/>
                    <a:p>
                      <a:r>
                        <a:rPr sz="1100" b="0">
                          <a:solidFill>
                            <a:srgbClr val="282828"/>
                          </a:solidFill>
                          <a:latin typeface="Arial"/>
                        </a:rPr>
                        <a:t>11.1 mm</a:t>
                      </a:r>
                    </a:p>
                  </a:txBody>
                  <a:tcPr marL="54864" marR="54864" marT="18288" marB="18288">
                    <a:solidFill>
                      <a:srgbClr val="FFFFFF"/>
                    </a:solidFill>
                  </a:tcPr>
                </a:tc>
                <a:tc>
                  <a:txBody>
                    <a:bodyPr wrap="square"/>
                    <a:lstStyle/>
                    <a:p>
                      <a:r>
                        <a:rPr sz="1100" b="0">
                          <a:solidFill>
                            <a:srgbClr val="282828"/>
                          </a:solidFill>
                          <a:latin typeface="Arial"/>
                        </a:rPr>
                        <a:t>7.8 / 8.0 mm</a:t>
                      </a:r>
                    </a:p>
                  </a:txBody>
                  <a:tcPr marL="54864" marR="54864" marT="18288" marB="18288">
                    <a:solidFill>
                      <a:srgbClr val="FFFFFF"/>
                    </a:solidFill>
                  </a:tcPr>
                </a:tc>
              </a:tr>
              <a:tr h="657225">
                <a:tc>
                  <a:txBody>
                    <a:bodyPr wrap="square"/>
                    <a:lstStyle/>
                    <a:p>
                      <a:r>
                        <a:rPr sz="1100" b="0">
                          <a:solidFill>
                            <a:srgbClr val="282828"/>
                          </a:solidFill>
                          <a:latin typeface="Arial"/>
                        </a:rPr>
                        <a:t>pupil imaging on these decks (tg96_pupilsim): image surface vs the camera / Nyquist gain / distortion / 30 nm surface error</a:t>
                      </a:r>
                    </a:p>
                  </a:txBody>
                  <a:tcPr marL="54864" marR="54864" marT="18288" marB="18288">
                    <a:solidFill>
                      <a:srgbClr val="ECF1F6"/>
                    </a:solidFill>
                  </a:tcPr>
                </a:tc>
                <a:tc>
                  <a:txBody>
                    <a:bodyPr wrap="square"/>
                    <a:lstStyle/>
                    <a:p>
                      <a:r>
                        <a:rPr sz="1100" b="0">
                          <a:solidFill>
                            <a:srgbClr val="282828"/>
                          </a:solidFill>
                          <a:latin typeface="Arial"/>
                        </a:rPr>
                        <a:t>within ±0.3 mm / 0.9999 / 0.008 mm / 0.08 nm</a:t>
                      </a:r>
                    </a:p>
                  </a:txBody>
                  <a:tcPr marL="54864" marR="54864" marT="18288" marB="18288">
                    <a:solidFill>
                      <a:srgbClr val="ECF1F6"/>
                    </a:solidFill>
                  </a:tcPr>
                </a:tc>
                <a:tc>
                  <a:txBody>
                    <a:bodyPr wrap="square"/>
                    <a:lstStyle/>
                    <a:p>
                      <a:r>
                        <a:rPr sz="1100" b="0">
                          <a:solidFill>
                            <a:srgbClr val="282828"/>
                          </a:solidFill>
                          <a:latin typeface="Arial"/>
                        </a:rPr>
                        <a:t>flat to 0.001 mm / 1.0000 / 0.04 mm / 0.04 nm (TO's gate record)</a:t>
                      </a:r>
                    </a:p>
                  </a:txBody>
                  <a:tcPr marL="54864" marR="54864" marT="18288" marB="18288">
                    <a:solidFill>
                      <a:srgbClr val="ECF1F6"/>
                    </a:solidFill>
                  </a:tcPr>
                </a:tc>
                <a:tc>
                  <a:txBody>
                    <a:bodyPr wrap="square"/>
                    <a:lstStyle/>
                    <a:p>
                      <a:r>
                        <a:rPr sz="1100" b="0">
                          <a:solidFill>
                            <a:srgbClr val="282828"/>
                          </a:solidFill>
                          <a:latin typeface="Arial"/>
                        </a:rPr>
                        <a:t>within −0.6 to +0.4 mm / 0.9996 / 0.72 mm (the parabola pair's mapping) / 0.10 nm</a:t>
                      </a:r>
                    </a:p>
                  </a:txBody>
                  <a:tcPr marL="54864" marR="54864" marT="18288" marB="18288">
                    <a:solidFill>
                      <a:srgbClr val="ECF1F6"/>
                    </a:solidFill>
                  </a:tcPr>
                </a:tc>
                <a:tc>
                  <a:txBody>
                    <a:bodyPr wrap="square"/>
                    <a:lstStyle/>
                    <a:p>
                      <a:r>
                        <a:rPr sz="1100" b="0">
                          <a:solidFill>
                            <a:srgbClr val="282828"/>
                          </a:solidFill>
                          <a:latin typeface="Arial"/>
                        </a:rPr>
                        <a:t>tilt 0.43, defocus −0.45 / 0.9994 / 0.72 / 0.09 nm</a:t>
                      </a:r>
                    </a:p>
                  </a:txBody>
                  <a:tcPr marL="54864" marR="54864" marT="18288" marB="18288">
                    <a:solidFill>
                      <a:srgbClr val="ECF1F6"/>
                    </a:solidFill>
                  </a:tcPr>
                </a:tc>
                <a:tc>
                  <a:txBody>
                    <a:bodyPr wrap="square"/>
                    <a:lstStyle/>
                    <a:p>
                      <a:r>
                        <a:rPr sz="1100" b="0">
                          <a:solidFill>
                            <a:srgbClr val="282828"/>
                          </a:solidFill>
                          <a:latin typeface="Arial"/>
                        </a:rPr>
                        <a:t>tuned tail: 2.6 to 6 mm / 0.954 / 0.27 mm / 1.2 nm</a:t>
                      </a:r>
                    </a:p>
                  </a:txBody>
                  <a:tcPr marL="54864" marR="54864" marT="18288" marB="18288">
                    <a:solidFill>
                      <a:srgbClr val="ECF1F6"/>
                    </a:solidFill>
                  </a:tcPr>
                </a:tc>
              </a:tr>
              <a:tr h="657225">
                <a:tc>
                  <a:txBody>
                    <a:bodyPr wrap="square"/>
                    <a:lstStyle/>
                    <a:p>
                      <a:r>
                        <a:rPr sz="1100" b="0">
                          <a:solidFill>
                            <a:srgbClr val="282828"/>
                          </a:solidFill>
                          <a:latin typeface="Arial"/>
                        </a:rPr>
                        <a:t>the sensors on the mirror rig at 385 px, substrates in: stepped-Zernike rows, single / grid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0.993 / 5 pm; 0.995 / 4 pm</a:t>
                      </a:r>
                    </a:p>
                  </a:txBody>
                  <a:tcPr marL="54864" marR="54864" marT="18288" marB="18288">
                    <a:solidFill>
                      <a:srgbClr val="FFFFFF"/>
                    </a:solidFill>
                  </a:tcPr>
                </a:tc>
                <a:tc>
                  <a:txBody>
                    <a:bodyPr wrap="square"/>
                    <a:lstStyle/>
                    <a:p>
                      <a:r>
                        <a:rPr sz="1100" b="0">
                          <a:solidFill>
                            <a:srgbClr val="282828"/>
                          </a:solidFill>
                          <a:latin typeface="Arial"/>
                        </a:rPr>
                        <a:t>identical (the sensor bench is the same)</a:t>
                      </a:r>
                    </a:p>
                  </a:txBody>
                  <a:tcPr marL="54864" marR="54864" marT="18288" marB="18288">
                    <a:solidFill>
                      <a:srgbClr val="FFFFFF"/>
                    </a:solidFill>
                  </a:tcPr>
                </a:tc>
                <a:tc>
                  <a:txBody>
                    <a:bodyPr wrap="square"/>
                    <a:lstStyle/>
                    <a:p>
                      <a:r>
                        <a:rPr sz="1100" b="0">
                          <a:solidFill>
                            <a:srgbClr val="282828"/>
                          </a:solidFill>
                          <a:latin typeface="Arial"/>
                        </a:rPr>
                        <a:t>0.991 / 4; 0.999 / 4 (no substrates)</a:t>
                      </a:r>
                    </a:p>
                  </a:txBody>
                  <a:tcPr marL="54864" marR="54864" marT="18288" marB="18288">
                    <a:solidFill>
                      <a:srgbClr val="FFFFFF"/>
                    </a:solidFill>
                  </a:tcPr>
                </a:tc>
              </a:tr>
              <a:tr h="468630">
                <a:tc>
                  <a:txBody>
                    <a:bodyPr wrap="square"/>
                    <a:lstStyle/>
                    <a:p>
                      <a:r>
                        <a:rPr sz="1100" b="0">
                          <a:solidFill>
                            <a:srgbClr val="282828"/>
                          </a:solidFill>
                          <a:latin typeface="Arial"/>
                        </a:rPr>
                        <a:t>the sensors' capture to 10%: stepped / vector / pinhole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35 / 51 / 42 nm</a:t>
                      </a:r>
                    </a:p>
                  </a:txBody>
                  <a:tcPr marL="54864" marR="54864" marT="18288" marB="18288">
                    <a:solidFill>
                      <a:srgbClr val="ECF1F6"/>
                    </a:solidFill>
                  </a:tcPr>
                </a:tc>
                <a:tc>
                  <a:txBody>
                    <a:bodyPr wrap="square"/>
                    <a:lstStyle/>
                    <a:p>
                      <a:r>
                        <a:rPr sz="1100" b="0">
                          <a:solidFill>
                            <a:srgbClr val="282828"/>
                          </a:solidFill>
                          <a:latin typeface="Arial"/>
                        </a:rPr>
                        <a:t>identical</a:t>
                      </a:r>
                    </a:p>
                  </a:txBody>
                  <a:tcPr marL="54864" marR="54864" marT="18288" marB="18288">
                    <a:solidFill>
                      <a:srgbClr val="ECF1F6"/>
                    </a:solidFill>
                  </a:tcPr>
                </a:tc>
                <a:tc>
                  <a:txBody>
                    <a:bodyPr wrap="square"/>
                    <a:lstStyle/>
                    <a:p>
                      <a:r>
                        <a:rPr sz="1100" b="0">
                          <a:solidFill>
                            <a:srgbClr val="282828"/>
                          </a:solidFill>
                          <a:latin typeface="Arial"/>
                        </a:rPr>
                        <a:t>36 / 59 / 52 nm (no substrates)</a:t>
                      </a:r>
                    </a:p>
                  </a:txBody>
                  <a:tcPr marL="54864" marR="54864" marT="18288" marB="18288">
                    <a:solidFill>
                      <a:srgbClr val="ECF1F6"/>
                    </a:solidFill>
                  </a:tcPr>
                </a:tc>
              </a:tr>
            </a:tbl>
          </a:graphicData>
        </a:graphic>
      </p:graphicFrame>
      <p:sp>
        <p:nvSpPr>
          <p:cNvPr id="5" name="TextBox 4"/>
          <p:cNvSpPr txBox="1"/>
          <p:nvPr/>
        </p:nvSpPr>
        <p:spPr>
          <a:xfrm>
            <a:off x="411480" y="4165091"/>
            <a:ext cx="11368735" cy="274320"/>
          </a:xfrm>
          <a:prstGeom prst="rect">
            <a:avLst/>
          </a:prstGeom>
          <a:noFill/>
        </p:spPr>
        <p:txBody>
          <a:bodyPr wrap="square">
            <a:spAutoFit/>
          </a:bodyPr>
          <a:lstStyle/>
          <a:p>
            <a:pPr>
              <a:spcAft>
                <a:spcPts val="600"/>
              </a:spcAft>
            </a:pPr>
            <a:r>
              <a:rPr sz="1500" b="0">
                <a:solidFill>
                  <a:srgbClr val="282828"/>
                </a:solidFill>
                <a:latin typeface="Arial"/>
              </a:rPr>
              <a:t>•  The pupil image is not what limits either rig: on the seed tail with the substrates in, the DM images within a third of a millimeter of the camera on lenses (0.9999 at the actuator Nyquist, 0.08 nm on the working surface) and within 0.6 mm on mirrors; the lens rig's 92 nm null is the plate's spherical aberration and the misfed collimator, not the imaging.  The mask plate costs the sensors a little capture (vector 59 to 51 nm, pinhole 52 to 42) and no gain.</a:t>
            </a:r>
          </a:p>
          <a:p>
            <a:pPr>
              <a:spcAft>
                <a:spcPts val="600"/>
              </a:spcAft>
            </a:pPr>
            <a:r>
              <a:rPr sz="1500" b="0">
                <a:solidFill>
                  <a:srgbClr val="282828"/>
                </a:solidFill>
                <a:latin typeface="Arial"/>
              </a:rPr>
              <a:t>•  One clearance line moved: with the thicker plates and the larger beam the compensator sits 16 mm from the source beam against the 25 mm rule; it moves down the DM leg in the redo.</a:t>
            </a:r>
          </a:p>
        </p:txBody>
      </p:sp>
      <p:sp>
        <p:nvSpPr>
          <p:cNvPr id="6" name="TextBox 5"/>
          <p:cNvSpPr txBox="1"/>
          <p:nvPr/>
        </p:nvSpPr>
        <p:spPr>
          <a:xfrm>
            <a:off x="411480" y="5967984"/>
            <a:ext cx="11368735" cy="274320"/>
          </a:xfrm>
          <a:prstGeom prst="rect">
            <a:avLst/>
          </a:prstGeom>
          <a:noFill/>
        </p:spPr>
        <p:txBody>
          <a:bodyPr wrap="square">
            <a:spAutoFit/>
          </a:bodyPr>
          <a:lstStyle/>
          <a:p>
            <a:pPr>
              <a:spcAft>
                <a:spcPts val="600"/>
              </a:spcAft>
            </a:pPr>
            <a:r>
              <a:rPr sz="1050" b="0">
                <a:solidFill>
                  <a:srgbClr val="6E6E6E"/>
                </a:solidFill>
                <a:latin typeface="Arial"/>
              </a:rPr>
              <a:t>Run tags pupilsim_sub96_lens, pupilsim_sub96_oap, sub96_oapsens (cycle 3a); redo96_oapsens (3b); the Mac, 2026-09-17.  The interferometer's rows on these decks are on the previous slide.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 on the mirror rig</a:t>
            </a:r>
          </a:p>
          <a:p>
            <a:pPr>
              <a:spcAft>
                <a:spcPts val="0"/>
              </a:spcAft>
            </a:pPr>
            <a:r>
              <a:rPr sz="1250" b="0">
                <a:solidFill>
                  <a:srgbClr val="6E6E6E"/>
                </a:solidFill>
                <a:latin typeface="Arial"/>
              </a:rPr>
              <a:t>Open loop it reads; in a servo it does not hold, and from a large start it does not capture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520315"/>
        </p:xfrm>
        <a:graphic>
          <a:graphicData uri="http://schemas.openxmlformats.org/drawingml/2006/table">
            <a:tbl>
              <a:tblPr firstRow="1" bandRow="1">
                <a:tableStyleId>{5C22544A-7EE6-4342-B048-85BDC9FD1C3A}</a:tableStyleId>
              </a:tblPr>
              <a:tblGrid>
                <a:gridCol w="1812430"/>
                <a:gridCol w="1235964"/>
                <a:gridCol w="2758045"/>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a:t>
                      </a:r>
                    </a:p>
                  </a:txBody>
                  <a:tcPr marL="54864" marR="54864" marT="18288" marB="18288">
                    <a:solidFill>
                      <a:srgbClr val="1F4E79"/>
                    </a:solidFill>
                  </a:tcPr>
                </a:tc>
                <a:tc>
                  <a:txBody>
                    <a:bodyPr wrap="square"/>
                    <a:lstStyle/>
                    <a:p>
                      <a:r>
                        <a:rPr sz="1100" b="1">
                          <a:solidFill>
                            <a:srgbClr val="FFFFFF"/>
                          </a:solidFill>
                          <a:latin typeface="Arial"/>
                        </a:rPr>
                        <a:t>mirror rig, bare Al</a:t>
                      </a:r>
                    </a:p>
                  </a:txBody>
                  <a:tcPr marL="54864" marR="54864" marT="18288" marB="18288">
                    <a:solidFill>
                      <a:srgbClr val="1F4E79"/>
                    </a:solidFill>
                  </a:tcPr>
                </a:tc>
              </a:tr>
              <a:tr h="280035">
                <a:tc>
                  <a:txBody>
                    <a:bodyPr wrap="square"/>
                    <a:lstStyle/>
                    <a:p>
                      <a:r>
                        <a:rPr sz="1100" b="0">
                          <a:solidFill>
                            <a:srgbClr val="282828"/>
                          </a:solidFill>
                          <a:latin typeface="Arial"/>
                        </a:rPr>
                        <a:t>single 10 nm, flat</a:t>
                      </a:r>
                    </a:p>
                  </a:txBody>
                  <a:tcPr marL="54864" marR="54864" marT="18288" marB="18288">
                    <a:solidFill>
                      <a:srgbClr val="FFFFFF"/>
                    </a:solidFill>
                  </a:tcPr>
                </a:tc>
                <a:tc>
                  <a:txBody>
                    <a:bodyPr wrap="square"/>
                    <a:lstStyle/>
                    <a:p>
                      <a:r>
                        <a:rPr sz="1100" b="0">
                          <a:solidFill>
                            <a:srgbClr val="282828"/>
                          </a:solidFill>
                          <a:latin typeface="Arial"/>
                        </a:rPr>
                        <a:t>0.9916 / 2.2 pm</a:t>
                      </a:r>
                    </a:p>
                  </a:txBody>
                  <a:tcPr marL="54864" marR="54864" marT="18288" marB="18288">
                    <a:solidFill>
                      <a:srgbClr val="FFFFFF"/>
                    </a:solidFill>
                  </a:tcPr>
                </a:tc>
                <a:tc>
                  <a:txBody>
                    <a:bodyPr wrap="square"/>
                    <a:lstStyle/>
                    <a:p>
                      <a:r>
                        <a:rPr sz="1100" b="0">
                          <a:solidFill>
                            <a:srgbClr val="282828"/>
                          </a:solidFill>
                          <a:latin typeface="Arial"/>
                        </a:rPr>
                        <a:t>0.9950 / 2.1 pm</a:t>
                      </a:r>
                    </a:p>
                  </a:txBody>
                  <a:tcPr marL="54864" marR="54864" marT="18288" marB="18288">
                    <a:solidFill>
                      <a:srgbClr val="FFFFFF"/>
                    </a:solidFill>
                  </a:tcPr>
                </a:tc>
              </a:tr>
              <a:tr h="280035">
                <a:tc>
                  <a:txBody>
                    <a:bodyPr wrap="square"/>
                    <a:lstStyle/>
                    <a:p>
                      <a:r>
                        <a:rPr sz="1100" b="0">
                          <a:solidFill>
                            <a:srgbClr val="282828"/>
                          </a:solidFill>
                          <a:latin typeface="Arial"/>
                        </a:rPr>
                        <a:t>flat-mirror null</a:t>
                      </a:r>
                    </a:p>
                  </a:txBody>
                  <a:tcPr marL="54864" marR="54864" marT="18288" marB="18288">
                    <a:solidFill>
                      <a:srgbClr val="ECF1F6"/>
                    </a:solidFill>
                  </a:tcPr>
                </a:tc>
                <a:tc>
                  <a:txBody>
                    <a:bodyPr wrap="square"/>
                    <a:lstStyle/>
                    <a:p>
                      <a:r>
                        <a:rPr sz="1100" b="0">
                          <a:solidFill>
                            <a:srgbClr val="282828"/>
                          </a:solidFill>
                          <a:latin typeface="Arial"/>
                        </a:rPr>
                        <a:t>0.13 nm</a:t>
                      </a:r>
                    </a:p>
                  </a:txBody>
                  <a:tcPr marL="54864" marR="54864" marT="18288" marB="18288">
                    <a:solidFill>
                      <a:srgbClr val="ECF1F6"/>
                    </a:solidFill>
                  </a:tcPr>
                </a:tc>
                <a:tc>
                  <a:txBody>
                    <a:bodyPr wrap="square"/>
                    <a:lstStyle/>
                    <a:p>
                      <a:r>
                        <a:rPr sz="1100" b="0">
                          <a:solidFill>
                            <a:srgbClr val="282828"/>
                          </a:solidFill>
                          <a:latin typeface="Arial"/>
                        </a:rPr>
                        <a:t>13.1 nm (cancels differentially)</a:t>
                      </a:r>
                    </a:p>
                  </a:txBody>
                  <a:tcPr marL="54864" marR="54864" marT="18288" marB="18288">
                    <a:solidFill>
                      <a:srgbClr val="ECF1F6"/>
                    </a:solidFill>
                  </a:tcPr>
                </a:tc>
              </a:tr>
              <a:tr h="280035">
                <a:tc>
                  <a:txBody>
                    <a:bodyPr wrap="square"/>
                    <a:lstStyle/>
                    <a:p>
                      <a:r>
                        <a:rPr sz="1100" b="0">
                          <a:solidFill>
                            <a:srgbClr val="282828"/>
                          </a:solidFill>
                          <a:latin typeface="Arial"/>
                        </a:rPr>
                        <a:t>modal transfer gain</a:t>
                      </a:r>
                    </a:p>
                  </a:txBody>
                  <a:tcPr marL="54864" marR="54864" marT="18288" marB="18288">
                    <a:solidFill>
                      <a:srgbClr val="FFFFFF"/>
                    </a:solidFill>
                  </a:tcPr>
                </a:tc>
                <a:tc>
                  <a:txBody>
                    <a:bodyPr wrap="square"/>
                    <a:lstStyle/>
                    <a:p>
                      <a:r>
                        <a:rPr sz="1100" b="0">
                          <a:solidFill>
                            <a:srgbClr val="282828"/>
                          </a:solidFill>
                          <a:latin typeface="Arial"/>
                        </a:rPr>
                        <a:t>0.96-0.99</a:t>
                      </a:r>
                    </a:p>
                  </a:txBody>
                  <a:tcPr marL="54864" marR="54864" marT="18288" marB="18288">
                    <a:solidFill>
                      <a:srgbClr val="FFFFFF"/>
                    </a:solidFill>
                  </a:tcPr>
                </a:tc>
                <a:tc>
                  <a:txBody>
                    <a:bodyPr wrap="square"/>
                    <a:lstStyle/>
                    <a:p>
                      <a:r>
                        <a:rPr sz="1100" b="0">
                          <a:solidFill>
                            <a:srgbClr val="282828"/>
                          </a:solidFill>
                          <a:latin typeface="Arial"/>
                        </a:rPr>
                        <a:t>0.63-0.95</a:t>
                      </a:r>
                    </a:p>
                  </a:txBody>
                  <a:tcPr marL="54864" marR="54864" marT="18288" marB="18288">
                    <a:solidFill>
                      <a:srgbClr val="FFFFFF"/>
                    </a:solidFill>
                  </a:tcPr>
                </a:tc>
              </a:tr>
              <a:tr h="280035">
                <a:tc>
                  <a:txBody>
                    <a:bodyPr wrap="square"/>
                    <a:lstStyle/>
                    <a:p>
                      <a:r>
                        <a:rPr sz="1100" b="0">
                          <a:solidFill>
                            <a:srgbClr val="282828"/>
                          </a:solidFill>
                          <a:latin typeface="Arial"/>
                        </a:rPr>
                        <a:t>cross-talk</a:t>
                      </a:r>
                    </a:p>
                  </a:txBody>
                  <a:tcPr marL="54864" marR="54864" marT="18288" marB="18288">
                    <a:solidFill>
                      <a:srgbClr val="ECF1F6"/>
                    </a:solidFill>
                  </a:tcPr>
                </a:tc>
                <a:tc>
                  <a:txBody>
                    <a:bodyPr wrap="square"/>
                    <a:lstStyle/>
                    <a:p>
                      <a:r>
                        <a:rPr sz="1100" b="0">
                          <a:solidFill>
                            <a:srgbClr val="282828"/>
                          </a:solidFill>
                          <a:latin typeface="Arial"/>
                        </a:rPr>
                        <a:t>below 0.06</a:t>
                      </a:r>
                    </a:p>
                  </a:txBody>
                  <a:tcPr marL="54864" marR="54864" marT="18288" marB="18288">
                    <a:solidFill>
                      <a:srgbClr val="ECF1F6"/>
                    </a:solidFill>
                  </a:tcPr>
                </a:tc>
                <a:tc>
                  <a:txBody>
                    <a:bodyPr wrap="square"/>
                    <a:lstStyle/>
                    <a:p>
                      <a:r>
                        <a:rPr sz="1100" b="0">
                          <a:solidFill>
                            <a:srgbClr val="282828"/>
                          </a:solidFill>
                          <a:latin typeface="Arial"/>
                        </a:rPr>
                        <a:t>0.18 (0.42 with an ideal reflector)</a:t>
                      </a:r>
                    </a:p>
                  </a:txBody>
                  <a:tcPr marL="54864" marR="54864" marT="18288" marB="18288">
                    <a:solidFill>
                      <a:srgbClr val="ECF1F6"/>
                    </a:solidFill>
                  </a:tcPr>
                </a:tc>
              </a:tr>
              <a:tr h="280035">
                <a:tc>
                  <a:txBody>
                    <a:bodyPr wrap="square"/>
                    <a:lstStyle/>
                    <a:p>
                      <a:r>
                        <a:rPr sz="1100" b="0">
                          <a:solidFill>
                            <a:srgbClr val="282828"/>
                          </a:solidFill>
                          <a:latin typeface="Arial"/>
                        </a:rPr>
                        <a:t>photons for 1 pm</a:t>
                      </a:r>
                    </a:p>
                  </a:txBody>
                  <a:tcPr marL="54864" marR="54864" marT="18288" marB="18288">
                    <a:solidFill>
                      <a:srgbClr val="FFFFFF"/>
                    </a:solidFill>
                  </a:tcPr>
                </a:tc>
                <a:tc>
                  <a:txBody>
                    <a:bodyPr wrap="square"/>
                    <a:lstStyle/>
                    <a:p>
                      <a:r>
                        <a:rPr sz="1100" b="0">
                          <a:solidFill>
                            <a:srgbClr val="282828"/>
                          </a:solidFill>
                          <a:latin typeface="Arial"/>
                        </a:rPr>
                        <a:t>2.5e14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280035">
                <a:tc>
                  <a:txBody>
                    <a:bodyPr wrap="square"/>
                    <a:lstStyle/>
                    <a:p>
                      <a:r>
                        <a:rPr sz="1100" b="0">
                          <a:solidFill>
                            <a:srgbClr val="282828"/>
                          </a:solidFill>
                          <a:latin typeface="Arial"/>
                        </a:rPr>
                        <a:t>servo, noise only</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3.4e13</a:t>
                      </a:r>
                    </a:p>
                  </a:txBody>
                  <a:tcPr marL="54864" marR="54864" marT="18288" marB="18288">
                    <a:solidFill>
                      <a:srgbClr val="ECF1F6"/>
                    </a:solidFill>
                  </a:tcPr>
                </a:tc>
              </a:tr>
              <a:tr h="280035">
                <a:tc>
                  <a:txBody>
                    <a:bodyPr wrap="square"/>
                    <a:lstStyle/>
                    <a:p>
                      <a:r>
                        <a:rPr sz="1100" b="0">
                          <a:solidFill>
                            <a:srgbClr val="282828"/>
                          </a:solidFill>
                          <a:latin typeface="Arial"/>
                        </a:rPr>
                        <a:t>collimator tilt 10 µrad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 nm null shift, 9.5 nm per µrad</a:t>
                      </a:r>
                    </a:p>
                  </a:txBody>
                  <a:tcPr marL="54864" marR="54864" marT="18288" marB="18288">
                    <a:solidFill>
                      <a:srgbClr val="FFFFFF"/>
                    </a:solidFill>
                  </a:tcPr>
                </a:tc>
              </a:tr>
              <a:tr h="280035">
                <a:tc>
                  <a:txBody>
                    <a:bodyPr wrap="square"/>
                    <a:lstStyle/>
                    <a:p>
                      <a:r>
                        <a:rPr sz="1100" b="0">
                          <a:solidFill>
                            <a:srgbClr val="282828"/>
                          </a:solidFill>
                          <a:latin typeface="Arial"/>
                        </a:rPr>
                        <a:t>focuser tilt 10 µrad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103 nm, 10.3 nm per µrad</a:t>
                      </a:r>
                    </a:p>
                  </a:txBody>
                  <a:tcPr marL="54864" marR="54864" marT="18288" marB="18288">
                    <a:solidFill>
                      <a:srgbClr val="ECF1F6"/>
                    </a:solidFill>
                  </a:tcPr>
                </a:tc>
              </a:tr>
            </a:tbl>
          </a:graphicData>
        </a:graphic>
      </p:graphicFrame>
      <p:pic>
        <p:nvPicPr>
          <p:cNvPr id="5" name="Picture 4" descr="loop_oap_loop.png"/>
          <p:cNvPicPr>
            <a:picLocks noChangeAspect="1"/>
          </p:cNvPicPr>
          <p:nvPr/>
        </p:nvPicPr>
        <p:blipFill>
          <a:blip r:embed="rId2"/>
          <a:stretch>
            <a:fillRect/>
          </a:stretch>
        </p:blipFill>
        <p:spPr>
          <a:xfrm>
            <a:off x="7135590" y="1298448"/>
            <a:ext cx="3925379" cy="1635251"/>
          </a:xfrm>
          <a:prstGeom prst="rect">
            <a:avLst/>
          </a:prstGeom>
        </p:spPr>
      </p:pic>
      <p:sp>
        <p:nvSpPr>
          <p:cNvPr id="6" name="TextBox 5"/>
          <p:cNvSpPr txBox="1"/>
          <p:nvPr/>
        </p:nvSpPr>
        <p:spPr>
          <a:xfrm>
            <a:off x="6400800" y="2951987"/>
            <a:ext cx="5394960" cy="559307"/>
          </a:xfrm>
          <a:prstGeom prst="rect">
            <a:avLst/>
          </a:prstGeom>
          <a:noFill/>
        </p:spPr>
        <p:txBody>
          <a:bodyPr wrap="square">
            <a:spAutoFit/>
          </a:bodyPr>
          <a:lstStyle/>
          <a:p>
            <a:pPr algn="ctr">
              <a:spcAft>
                <a:spcPts val="0"/>
              </a:spcAft>
            </a:pPr>
            <a:r>
              <a:rPr sz="1000" b="0">
                <a:solidFill>
                  <a:srgbClr val="6E6E6E"/>
                </a:solidFill>
                <a:latin typeface="Arial"/>
              </a:rPr>
              <a:t>The mirror rig's servo: residual per cycle at four light levels with the noiseless step, and the hold error against photons for no drift, the walk, and the ramp.  The walk never reaches 3 pm: its cross-talk bias of 3.3 pm adds to the 2.4 pm walk floor.</a:t>
            </a:r>
          </a:p>
        </p:txBody>
      </p:sp>
      <p:sp>
        <p:nvSpPr>
          <p:cNvPr id="7" name="TextBox 6"/>
          <p:cNvSpPr txBox="1"/>
          <p:nvPr/>
        </p:nvSpPr>
        <p:spPr>
          <a:xfrm>
            <a:off x="6400800" y="3547872"/>
            <a:ext cx="5394960" cy="274320"/>
          </a:xfrm>
          <a:prstGeom prst="rect">
            <a:avLst/>
          </a:prstGeom>
          <a:noFill/>
        </p:spPr>
        <p:txBody>
          <a:bodyPr wrap="square">
            <a:spAutoFit/>
          </a:bodyPr>
          <a:lstStyle/>
          <a:p>
            <a:pPr>
              <a:spcAft>
                <a:spcPts val="600"/>
              </a:spcAft>
            </a:pPr>
            <a:r>
              <a:rPr sz="1050" b="0">
                <a:solidFill>
                  <a:srgbClr val="6E6E6E"/>
                </a:solidFill>
                <a:latin typeface="Arial"/>
              </a:rPr>
              <a:t>The mirror rig's own layout (oap_vlayout.png in tg_psi_dm96_oap) folds in the splitter's plane; the engine's seat-trim solve put the mask seat 6.14 mm from the lens default.  Run tags oap_deck, loop_oap, descent_oap; REPORT_oap.md items D3-D7 and B.</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Linear, one frame: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Exact, one frame with a sign prior: a 1 nm step grows to 99 nm in 60 cycles, 10 nm to 178 nm; the actuators whose footprint lies past the fold read with the wrong sign.</a:t>
            </a:r>
          </a:p>
          <a:p>
            <a:pPr>
              <a:spcAft>
                <a:spcPts val="600"/>
              </a:spcAft>
            </a:pPr>
            <a:r>
              <a:rPr sz="1200" b="0">
                <a:solidFill>
                  <a:srgbClr val="282828"/>
                </a:solidFill>
                <a:latin typeface="Arial"/>
              </a:rPr>
              <a:t>•  The fold: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range the small pinhole buys, the shutter frame gives free at the large one's throughput: 1.02 / 1.06 / 1.13 at 120 / 240 / 480 nm.</a:t>
            </a:r>
          </a:p>
          <a:p>
            <a:pPr>
              <a:spcAft>
                <a:spcPts val="600"/>
              </a:spcAft>
            </a:pPr>
            <a:r>
              <a:rPr sz="1200" b="0">
                <a:solidFill>
                  <a:srgbClr val="282828"/>
                </a:solidFill>
                <a:latin typeface="Arial"/>
              </a:rPr>
              <a:t>•  The P/SRI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Five frames beat four: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mirror's drift helps: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The P/SRI's reference arm walking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The paper's camera number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arm: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The analyzer: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 three-number fit on the flat's two images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correction: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Sampling: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Color: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1235964"/>
                <a:gridCol w="862353"/>
                <a:gridCol w="3708122"/>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 (the record)</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What moves: the output plate and analyzer from 17 and 27 mm behind the splitter to 160 and 170 mm, just ahead of the focuser at 207 mm; nothing else, so the focused detector leg is untouched.</a:t>
            </a:r>
          </a:p>
          <a:p>
            <a:pPr>
              <a:spcAft>
                <a:spcPts val="600"/>
              </a:spcAft>
            </a:pPr>
            <a:r>
              <a:rPr sz="1200" b="0">
                <a:solidFill>
                  <a:srgbClr val="282828"/>
                </a:solidFill>
                <a:latin typeface="Arial"/>
              </a:rPr>
              <a:t>•  What it costs the sensors: nothing.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379616" y="1298448"/>
            <a:ext cx="3437327"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382356" y="3547872"/>
            <a:ext cx="3431846"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3250766"/>
                <a:gridCol w="3223677"/>
                <a:gridCol w="3440395"/>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detector leg's focus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detector leg</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Interferometer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tailA, tailB, oapifo2, oapifol2, oapdesc2, oapuw2, lensuw2, thk22, sub22, aoi_lens22, aoi_oap22, gate3_win, gate3_lens, wrapoap, wraplens, stnoap, stnlens, pupilq_lens, pupilq_oap (the 22.5° bench and the redesigned reflective rig); pdi_dm96/runs/psriclear2 (the P/SRI bench through the clearance tool).  Reports REPORT_gauge_ifo.md (CCMac) with REPORT_oap.md, REPORT_bench_realism.md and REPORT_reflective.md (TO), and README.md.</a:t>
            </a:r>
          </a:p>
          <a:p>
            <a:pPr>
              <a:spcAft>
                <a:spcPts val="600"/>
              </a:spcAft>
            </a:pPr>
            <a:r>
              <a:rPr sz="1500" b="0">
                <a:solidFill>
                  <a:srgbClr val="282828"/>
                </a:solidFill>
                <a:latin typeface="Arial"/>
              </a:rPr>
              <a:t>•  Zernike sensors (zwfs_dm96/runs): matbase, matbase385, m2048, m2048_lat, cap385, cap385_b60-b160, noise193_b30-b160, rec193full, loop193, loop385, v193base, v193noise, vloop193, fold_diag, v2g, v2loop, v3arm, v3s, v3loop, an193_ref/cube/q300/q100/az1/bound/clear, stations193, gate22_193, sub22, thk22 (the 22.5° bench with substrates and thicknesses), oapsens22, oapsens22n, vqw22, vmap22, oaploop22, oapnoise22 (the sensors on the redesigned mirror rig).  README.md (CCL) and deck_zwfs.md.</a:t>
            </a:r>
          </a:p>
          <a:p>
            <a:pPr>
              <a:spcAft>
                <a:spcPts val="600"/>
              </a:spcAft>
            </a:pPr>
            <a:r>
              <a:rPr sz="1500" b="0">
                <a:solidFill>
                  <a:srgbClr val="282828"/>
                </a:solidFill>
                <a:latin typeface="Arial"/>
              </a:rPr>
              <a:t>•  Point-diffraction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Plan and rulings: macos/BRIEF_gauge_deck.md sections 5-11.  Raw material with every figure's pixel size: demo_session/deck_gauges_material.md.</a:t>
            </a:r>
          </a:p>
          <a:p>
            <a:pPr>
              <a:spcAft>
                <a:spcPts val="600"/>
              </a:spcAft>
            </a:pPr>
            <a:r>
              <a:rPr sz="1500" b="0">
                <a:solidFill>
                  <a:srgbClr val="282828"/>
                </a:solidFill>
                <a:latin typeface="Arial"/>
              </a:rPr>
              <a:t>•  Engine: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7236714"/>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