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two jobs: hold the surface in a servo, and capture its shape after launch.</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in the model (2026-09-16: the sensors do not move; the interferometer's 10 mm plates cost its flat null, its differential rows being re-measured).  The reflective front end has been redesigned and re-measured (rows, servo, descent, sensors, 2026-09-16); the lenses-versus-mirrors comparison is now measured on both rigs.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3-8 The jobs; the bench and its parts</a:t>
            </a:r>
          </a:p>
          <a:p>
            <a:pPr>
              <a:spcAft>
                <a:spcPts val="600"/>
              </a:spcAft>
            </a:pPr>
            <a:r>
              <a:rPr sz="1200" b="0">
                <a:solidFill>
                  <a:srgbClr val="282828"/>
                </a:solidFill>
                <a:latin typeface="Arial"/>
              </a:rPr>
              <a:t>•  9-19 The four approaches: interferometer, Zernike, vector Zernike, pinhole</a:t>
            </a:r>
          </a:p>
          <a:p>
            <a:pPr>
              <a:spcAft>
                <a:spcPts val="600"/>
              </a:spcAft>
            </a:pPr>
            <a:r>
              <a:rPr sz="1200" b="0">
                <a:solidFill>
                  <a:srgbClr val="282828"/>
                </a:solidFill>
                <a:latin typeface="Arial"/>
              </a:rPr>
              <a:t>•  20-25 Performance on the working surface: rows, capture, photons, servo</a:t>
            </a:r>
          </a:p>
          <a:p>
            <a:pPr>
              <a:spcAft>
                <a:spcPts val="600"/>
              </a:spcAft>
            </a:pPr>
            <a:r>
              <a:rPr sz="1200" b="0">
                <a:solidFill>
                  <a:srgbClr val="282828"/>
                </a:solidFill>
                <a:latin typeface="Arial"/>
              </a:rPr>
              <a:t>•  26-28 Lenses or off-axis mirrors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29-30 Systematics; recommendation</a:t>
            </a:r>
          </a:p>
          <a:p>
            <a:pPr>
              <a:spcAft>
                <a:spcPts val="600"/>
              </a:spcAft>
            </a:pPr>
            <a:r>
              <a:rPr sz="1200" b="0">
                <a:solidFill>
                  <a:srgbClr val="282828"/>
                </a:solidFill>
                <a:latin typeface="Arial"/>
              </a:rPr>
              <a:t>•  31-33 Operating the gauge</a:t>
            </a:r>
          </a:p>
          <a:p>
            <a:pPr>
              <a:spcAft>
                <a:spcPts val="600"/>
              </a:spcAft>
            </a:pPr>
            <a:r>
              <a:rPr sz="1200" b="0">
                <a:solidFill>
                  <a:srgbClr val="282828"/>
                </a:solidFill>
                <a:latin typeface="Arial"/>
              </a:rPr>
              <a:t>•  34-36 Future work</a:t>
            </a:r>
          </a:p>
          <a:p>
            <a:pPr>
              <a:spcAft>
                <a:spcPts val="600"/>
              </a:spcAft>
            </a:pPr>
            <a:r>
              <a:rPr sz="1200" b="0">
                <a:solidFill>
                  <a:srgbClr val="282828"/>
                </a:solidFill>
                <a:latin typeface="Arial"/>
              </a:rPr>
              <a:t>•  37-38 Method; run it yourself</a:t>
            </a:r>
          </a:p>
          <a:p>
            <a:pPr>
              <a:spcAft>
                <a:spcPts val="600"/>
              </a:spcAft>
            </a:pPr>
            <a:r>
              <a:rPr sz="1200" b="0">
                <a:solidFill>
                  <a:srgbClr val="282828"/>
                </a:solidFill>
                <a:latin typeface="Arial"/>
              </a:rPr>
              <a:t>•  39-48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DM: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2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2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200" b="0">
                <a:solidFill>
                  <a:srgbClr val="282828"/>
                </a:solidFill>
                <a:latin typeface="Arial"/>
              </a:rPr>
              <a:t>•  Job 3, hold: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883208" y="1298448"/>
            <a:ext cx="2862983"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oapdraw3_train.png"/>
          <p:cNvPicPr>
            <a:picLocks noChangeAspect="1"/>
          </p:cNvPicPr>
          <p:nvPr/>
        </p:nvPicPr>
        <p:blipFill>
          <a:blip r:embed="rId3"/>
          <a:stretch>
            <a:fillRect/>
          </a:stretch>
        </p:blipFill>
        <p:spPr>
          <a:xfrm>
            <a:off x="8185355" y="1298448"/>
            <a:ext cx="1825848"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 every record reading was measured on it</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the record</a:t>
                      </a:r>
                    </a:p>
                  </a:txBody>
                  <a:tcPr marL="54864" marR="54864" marT="18288" marB="18288">
                    <a:solidFill>
                      <a:srgbClr val="FFFFFF"/>
                    </a:solidFill>
                  </a:tcPr>
                </a:tc>
                <a:tc>
                  <a:txBody>
                    <a:bodyPr wrap="square"/>
                    <a:lstStyle/>
                    <a:p>
                      <a:r>
                        <a:rPr sz="1100" b="0">
                          <a:solidFill>
                            <a:srgbClr val="282828"/>
                          </a:solidFill>
                          <a:latin typeface="Arial"/>
                        </a:rPr>
                        <a:t>measured 2026-09-16: reads 0.99 / 2.4 pm and 0.99 / 161 pm with the lens rig's cross-talk; holds 3 pm from 1.7e13 photons per cycle (lens 2.0e13); captures from 200 nm;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505956"/>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242989" y="1298448"/>
            <a:ext cx="7705716"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511671"/>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a:t>
            </a:r>
          </a:p>
          <a:p>
            <a:pPr>
              <a:spcAft>
                <a:spcPts val="0"/>
              </a:spcAft>
            </a:pPr>
            <a:r>
              <a:rPr sz="1250" b="0">
                <a:solidFill>
                  <a:srgbClr val="6E6E6E"/>
                </a:solidFill>
                <a:latin typeface="Arial"/>
              </a:rPr>
              <a:t>The front end and the detector leg, from the parameter sheet; thicknesses are the scaled model's and are being made real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8549640"/>
        </p:xfrm>
        <a:graphic>
          <a:graphicData uri="http://schemas.openxmlformats.org/drawingml/2006/table">
            <a:tbl>
              <a:tblPr firstRow="1" bandRow="1">
                <a:tableStyleId>{5C22544A-7EE6-4342-B048-85BDC9FD1C3A}</a:tableStyleId>
              </a:tblPr>
              <a:tblGrid>
                <a:gridCol w="1962404"/>
                <a:gridCol w="5700809"/>
                <a:gridCol w="2180336"/>
                <a:gridCol w="509524"/>
                <a:gridCol w="1015661"/>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84582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beam 51 mm radius after L1</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468630">
                <a:tc>
                  <a:txBody>
                    <a:bodyPr wrap="square"/>
                    <a:lstStyle/>
                    <a:p>
                      <a:r>
                        <a:rPr sz="1100" b="0">
                          <a:solidFill>
                            <a:srgbClr val="282828"/>
                          </a:solidFill>
                          <a:latin typeface="Arial"/>
                        </a:rPr>
                        <a:t>collimator L1</a:t>
                      </a:r>
                    </a:p>
                  </a:txBody>
                  <a:tcPr marL="54864" marR="54864" marT="18288" marB="18288">
                    <a:solidFill>
                      <a:srgbClr val="ECF1F6"/>
                    </a:solidFill>
                  </a:tcPr>
                </a:tc>
                <a:tc>
                  <a:txBody>
                    <a:bodyPr wrap="square"/>
                    <a:lstStyle/>
                    <a:p>
                      <a:r>
                        <a:rPr sz="1100" b="0">
                          <a:solidFill>
                            <a:srgbClr val="282828"/>
                          </a:solidFill>
                          <a:latin typeface="Arial"/>
                        </a:rPr>
                        <a:t>f 857 mm, 103 mm, plano-convex conic; modeled 5 mm center, to be a real singlet</a:t>
                      </a:r>
                    </a:p>
                  </a:txBody>
                  <a:tcPr marL="54864" marR="54864" marT="18288" marB="18288">
                    <a:solidFill>
                      <a:srgbClr val="ECF1F6"/>
                    </a:solidFill>
                  </a:tcPr>
                </a:tc>
                <a:tc>
                  <a:txBody>
                    <a:bodyPr wrap="square"/>
                    <a:lstStyle/>
                    <a:p>
                      <a:r>
                        <a:rPr sz="1100" b="0">
                          <a:solidFill>
                            <a:srgbClr val="282828"/>
                          </a:solidFill>
                          <a:latin typeface="Arial"/>
                        </a:rPr>
                        <a:t>anti-reflection</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1034415">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incidence, 50/50; 10 mm thick (modeled): shifts the transmitted beam 1.39 mm, which the compensator cannot undo; the interferometer's flat null rises from 0.13 to 20 nm and its reading is attenuated 13%, a cost in floor and SNR, not gain (differential rows 1.00-1.01, single actuator 0.989; capture unchanged); the sensors do not move</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84582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84582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845820">
                <a:tc>
                  <a:txBody>
                    <a:bodyPr wrap="square"/>
                    <a:lstStyle/>
                    <a:p>
                      <a:r>
                        <a:rPr sz="1100" b="0">
                          <a:solidFill>
                            <a:srgbClr val="282828"/>
                          </a:solidFill>
                          <a:latin typeface="Arial"/>
                        </a:rPr>
                        <a:t>focuser L2</a:t>
                      </a:r>
                    </a:p>
                  </a:txBody>
                  <a:tcPr marL="54864" marR="54864" marT="18288" marB="18288">
                    <a:solidFill>
                      <a:srgbClr val="ECF1F6"/>
                    </a:solidFill>
                  </a:tcPr>
                </a:tc>
                <a:tc>
                  <a:txBody>
                    <a:bodyPr wrap="square"/>
                    <a:lstStyle/>
                    <a:p>
                      <a:r>
                        <a:rPr sz="1100" b="0">
                          <a:solidFill>
                            <a:srgbClr val="282828"/>
                          </a:solidFill>
                          <a:latin typeface="Arial"/>
                        </a:rPr>
                        <a:t>f 429 mm, 103 mm, plano-convex conic; modeled 8 mm center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ECF1F6"/>
                    </a:solidFill>
                  </a:tcPr>
                </a:tc>
              </a:tr>
              <a:tr h="1034415">
                <a:tc>
                  <a:txBody>
                    <a:bodyPr wrap="square"/>
                    <a:lstStyle/>
                    <a:p>
                      <a:r>
                        <a:rPr sz="1100" b="0">
                          <a:solidFill>
                            <a:srgbClr val="282828"/>
                          </a:solidFill>
                          <a:latin typeface="Arial"/>
                        </a:rPr>
                        <a:t>mask seat</a:t>
                      </a:r>
                    </a:p>
                  </a:txBody>
                  <a:tcPr marL="54864" marR="54864" marT="18288" marB="18288">
                    <a:solidFill>
                      <a:srgbClr val="FFFFFF"/>
                    </a:solidFill>
                  </a:tcPr>
                </a:tc>
                <a:tc>
                  <a:txBody>
                    <a:bodyPr wrap="square"/>
                    <a:lstStyle/>
                    <a:p>
                      <a:r>
                        <a:rPr sz="1100" b="0">
                          <a:solidFill>
                            <a:srgbClr val="282828"/>
                          </a:solidFill>
                          <a:latin typeface="Arial"/>
                        </a:rPr>
                        <a:t>translation stage at the internal focus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FFFFFF"/>
                    </a:solidFill>
                  </a:tcPr>
                </a:tc>
              </a:tr>
              <a:tr h="1034415">
                <a:tc>
                  <a:txBody>
                    <a:bodyPr wrap="square"/>
                    <a:lstStyle/>
                    <a:p>
                      <a:r>
                        <a:rPr sz="1100" b="0">
                          <a:solidFill>
                            <a:srgbClr val="282828"/>
                          </a:solidFill>
                          <a:latin typeface="Arial"/>
                        </a:rPr>
                        <a:t>field lens</a:t>
                      </a:r>
                    </a:p>
                  </a:txBody>
                  <a:tcPr marL="54864" marR="54864" marT="18288" marB="18288">
                    <a:solidFill>
                      <a:srgbClr val="ECF1F6"/>
                    </a:solidFill>
                  </a:tcPr>
                </a:tc>
                <a:tc>
                  <a:txBody>
                    <a:bodyPr wrap="square"/>
                    <a:lstStyle/>
                    <a:p>
                      <a:r>
                        <a:rPr sz="1100" b="0">
                          <a:solidFill>
                            <a:srgbClr val="282828"/>
                          </a:solidFill>
                          <a:latin typeface="Arial"/>
                        </a:rPr>
                        <a:t>f 43 mm, 21 mm</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reimages the pupil (7.5-7.8 mm as traced) 32 mm behind it</a:t>
                      </a:r>
                    </a:p>
                  </a:txBody>
                  <a:tcPr marL="54864" marR="54864" marT="18288" marB="18288">
                    <a:solidFill>
                      <a:srgbClr val="ECF1F6"/>
                    </a:solidFill>
                  </a:tcPr>
                </a:tc>
              </a:tr>
              <a:tr h="657225">
                <a:tc>
                  <a:txBody>
                    <a:bodyPr wrap="square"/>
                    <a:lstStyle/>
                    <a:p>
                      <a:r>
                        <a:rPr sz="1100" b="0">
                          <a:solidFill>
                            <a:srgbClr val="282828"/>
                          </a:solidFill>
                          <a:latin typeface="Arial"/>
                        </a:rPr>
                        <a:t>camera A</a:t>
                      </a:r>
                    </a:p>
                  </a:txBody>
                  <a:tcPr marL="54864" marR="54864" marT="18288" marB="18288">
                    <a:solidFill>
                      <a:srgbClr val="FFFFFF"/>
                    </a:solidFill>
                  </a:tcPr>
                </a:tc>
                <a:tc>
                  <a:txBody>
                    <a:bodyPr wrap="square"/>
                    <a:lstStyle/>
                    <a:p>
                      <a:r>
                        <a:rPr sz="1100" b="0">
                          <a:solidFill>
                            <a:srgbClr val="282828"/>
                          </a:solidFill>
                          <a:latin typeface="Arial"/>
                        </a:rPr>
                        <a:t>sCMOS 2048×2048, 6.5 µm (13.3 mm): 1155 raw pixels across the 7.5 mm pupil image, binned 3 to 385 or 6 to the modeled 193</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every configuration's pupil image</a:t>
                      </a:r>
                    </a:p>
                  </a:txBody>
                  <a:tcPr marL="54864" marR="54864" marT="18288" marB="18288">
                    <a:solidFill>
                      <a:srgbClr val="FFFFFF"/>
                    </a:solidFill>
                  </a:tcPr>
                </a:tc>
              </a:tr>
              <a:tr h="657225">
                <a:tc>
                  <a:txBody>
                    <a:bodyPr wrap="square"/>
                    <a:lstStyle/>
                    <a:p>
                      <a:r>
                        <a:rPr sz="1100" b="0">
                          <a:solidFill>
                            <a:srgbClr val="282828"/>
                          </a:solidFill>
                          <a:latin typeface="Arial"/>
                        </a:rPr>
                        <a:t>mounts, bench</a:t>
                      </a:r>
                    </a:p>
                  </a:txBody>
                  <a:tcPr marL="54864" marR="54864" marT="18288" marB="18288">
                    <a:solidFill>
                      <a:srgbClr val="ECF1F6"/>
                    </a:solidFill>
                  </a:tcPr>
                </a:tc>
                <a:tc>
                  <a:txBody>
                    <a:bodyPr wrap="square"/>
                    <a:lstStyle/>
                    <a:p>
                      <a:r>
                        <a:rPr sz="1100" b="0">
                          <a:solidFill>
                            <a:srgbClr val="282828"/>
                          </a:solidFill>
                          <a:latin typeface="Arial"/>
                        </a:rPr>
                        <a:t>2 m × 1 m table; 103 mm mounts on the node parts, 25 mm clearance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the 22.5° layout clears every part</a:t>
                      </a:r>
                    </a:p>
                  </a:txBody>
                  <a:tcPr marL="54864" marR="54864" marT="18288" marB="18288">
                    <a:solidFill>
                      <a:srgbClr val="ECF1F6"/>
                    </a:solidFill>
                  </a:tcPr>
                </a:tc>
              </a:tr>
            </a:tbl>
          </a:graphicData>
        </a:graphic>
      </p:graphicFrame>
      <p:sp>
        <p:nvSpPr>
          <p:cNvPr id="5" name="TextBox 4"/>
          <p:cNvSpPr txBox="1"/>
          <p:nvPr/>
        </p:nvSpPr>
        <p:spPr>
          <a:xfrm>
            <a:off x="411480" y="9994392"/>
            <a:ext cx="11368735" cy="274320"/>
          </a:xfrm>
          <a:prstGeom prst="rect">
            <a:avLst/>
          </a:prstGeom>
          <a:noFill/>
        </p:spPr>
        <p:txBody>
          <a:bodyPr wrap="square">
            <a:spAutoFit/>
          </a:bodyPr>
          <a:lstStyle/>
          <a:p>
            <a:pPr>
              <a:spcAft>
                <a:spcPts val="600"/>
              </a:spcAft>
            </a:pPr>
            <a:r>
              <a:rPr sz="1050" b="0">
                <a:solidFill>
                  <a:srgbClr val="6E6E6E"/>
                </a:solidFill>
                <a:latin typeface="Arial"/>
              </a:rPr>
              <a:t>The detector leg (focuser, mask seat, field lens, camera) is focused once and shared; only the mask seat's contents and what follows the field lens change between configurations.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720340"/>
        </p:xfrm>
        <a:graphic>
          <a:graphicData uri="http://schemas.openxmlformats.org/drawingml/2006/table">
            <a:tbl>
              <a:tblPr firstRow="1" bandRow="1">
                <a:tableStyleId>{5C22544A-7EE6-4342-B048-85BDC9FD1C3A}</a:tableStyleId>
              </a:tblPr>
              <a:tblGrid>
                <a:gridCol w="1090676"/>
                <a:gridCol w="2305237"/>
                <a:gridCol w="3052004"/>
                <a:gridCol w="2398268"/>
                <a:gridCol w="509524"/>
                <a:gridCol w="201302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 on a piezo stage</a:t>
                      </a:r>
                    </a:p>
                  </a:txBody>
                  <a:tcPr marL="54864" marR="54864" marT="18288" marB="18288">
                    <a:solidFill>
                      <a:srgbClr val="FFFFFF"/>
                    </a:solidFill>
                  </a:tcPr>
                </a:tc>
                <a:tc>
                  <a:txBody>
                    <a:bodyPr wrap="square"/>
                    <a:lstStyle/>
                    <a:p>
                      <a:r>
                        <a:rPr sz="1100" b="0">
                          <a:solidFill>
                            <a:srgbClr val="282828"/>
                          </a:solidFill>
                          <a:latin typeface="Arial"/>
                        </a:rPr>
                        <a:t>103 mm, λ/20; 564 mm leg; stroke over one wave</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four phase steps in the piezo form</a:t>
                      </a:r>
                    </a:p>
                  </a:txBody>
                  <a:tcPr marL="54864" marR="54864" marT="18288" marB="18288">
                    <a:solidFill>
                      <a:srgbClr val="FFFFFF"/>
                    </a:solidFill>
                  </a:tcPr>
                </a:tc>
              </a:tr>
              <a:tr h="657225">
                <a:tc>
                  <a:txBody>
                    <a:bodyPr wrap="square"/>
                    <a:lstStyle/>
                    <a:p>
                      <a:r>
                        <a:rPr sz="1100" b="0">
                          <a:solidFill>
                            <a:srgbClr val="282828"/>
                          </a:solidFill>
                          <a:latin typeface="Arial"/>
                        </a:rPr>
                        <a:t>snapshot</a:t>
                      </a:r>
                    </a:p>
                  </a:txBody>
                  <a:tcPr marL="54864" marR="54864" marT="18288" marB="18288">
                    <a:solidFill>
                      <a:srgbClr val="ECF1F6"/>
                    </a:solidFill>
                  </a:tcPr>
                </a:tc>
                <a:tc>
                  <a:txBody>
                    <a:bodyPr wrap="square"/>
                    <a:lstStyle/>
                    <a:p>
                      <a:r>
                        <a:rPr sz="1100" b="0">
                          <a:solidFill>
                            <a:srgbClr val="282828"/>
                          </a:solidFill>
                          <a:latin typeface="Arial"/>
                        </a:rPr>
                        <a:t>input polarizer; two arm quarter-wave plates; output quarter-wave plate</a:t>
                      </a:r>
                    </a:p>
                  </a:txBody>
                  <a:tcPr marL="54864" marR="54864" marT="18288" marB="18288">
                    <a:solidFill>
                      <a:srgbClr val="ECF1F6"/>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codes the four channels in polarization</a:t>
                      </a:r>
                    </a:p>
                  </a:txBody>
                  <a:tcPr marL="54864" marR="54864" marT="18288" marB="18288">
                    <a:solidFill>
                      <a:srgbClr val="ECF1F6"/>
                    </a:solidFill>
                  </a:tcPr>
                </a:tc>
              </a:tr>
              <a:tr h="657225">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in place of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3.45 µm 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at once; no rotating stage</a:t>
                      </a:r>
                    </a:p>
                  </a:txBody>
                  <a:tcPr marL="54864" marR="54864" marT="18288" marB="18288">
                    <a:solidFill>
                      <a:srgbClr val="FFFFFF"/>
                    </a:solidFill>
                  </a:tcPr>
                </a:tc>
              </a:tr>
              <a:tr h="468630">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131945"/>
        </p:xfrm>
        <a:graphic>
          <a:graphicData uri="http://schemas.openxmlformats.org/drawingml/2006/table">
            <a:tbl>
              <a:tblPr firstRow="1" bandRow="1">
                <a:tableStyleId>{5C22544A-7EE6-4342-B048-85BDC9FD1C3A}</a:tableStyleId>
              </a:tblPr>
              <a:tblGrid>
                <a:gridCol w="1235964"/>
                <a:gridCol w="3561544"/>
                <a:gridCol w="2995471"/>
                <a:gridCol w="896282"/>
                <a:gridCol w="509524"/>
                <a:gridCol w="2169947"/>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ECF1F6"/>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ECF1F6"/>
                    </a:solidFill>
                  </a:tcPr>
                </a:tc>
                <a:tc>
                  <a:txBody>
                    <a:bodyPr wrap="square"/>
                    <a:lstStyle/>
                    <a:p>
                      <a:r>
                        <a:rPr sz="1100" b="0">
                          <a:solidFill>
                            <a:srgbClr val="282828"/>
                          </a:solidFill>
                          <a:latin typeface="Arial"/>
                        </a:rPr>
                        <a:t>metal-film attenuator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ECF1F6"/>
                    </a:solidFill>
                  </a:tcPr>
                </a:tc>
              </a:tr>
              <a:tr h="845820">
                <a:tc>
                  <a:txBody>
                    <a:bodyPr wrap="square"/>
                    <a:lstStyle/>
                    <a:p>
                      <a:r>
                        <a:rPr sz="1100" b="0">
                          <a:solidFill>
                            <a:srgbClr val="282828"/>
                          </a:solidFill>
                          <a:latin typeface="Arial"/>
                        </a:rPr>
                        <a:t>P/SRI (backup)</a:t>
                      </a:r>
                    </a:p>
                  </a:txBody>
                  <a:tcPr marL="54864" marR="54864" marT="18288" marB="18288">
                    <a:solidFill>
                      <a:srgbClr val="FFFFFF"/>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FFFFFF"/>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FFFFFF"/>
                    </a:solidFill>
                  </a:tcPr>
                </a:tc>
                <a:tc>
                  <a:txBody>
                    <a:bodyPr wrap="square"/>
                    <a:lstStyle/>
                    <a:p>
                      <a:r>
                        <a:rPr sz="1100" b="0">
                          <a:solidFill>
                            <a:srgbClr val="282828"/>
                          </a:solidFill>
                          <a:latin typeface="Arial"/>
                        </a:rPr>
                        <a:t>AR; protected-metal folds</a:t>
                      </a:r>
                    </a:p>
                  </a:txBody>
                  <a:tcPr marL="54864" marR="54864" marT="18288" marB="18288">
                    <a:solidFill>
                      <a:srgbClr val="FFFFFF"/>
                    </a:solidFill>
                  </a:tcPr>
                </a:tc>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FFFFFF"/>
                    </a:solidFill>
                  </a:tcPr>
                </a:tc>
              </a:tr>
            </a:tbl>
          </a:graphicData>
        </a:graphic>
      </p:graphicFrame>
      <p:sp>
        <p:nvSpPr>
          <p:cNvPr id="5" name="TextBox 4"/>
          <p:cNvSpPr txBox="1"/>
          <p:nvPr/>
        </p:nvSpPr>
        <p:spPr>
          <a:xfrm>
            <a:off x="411480" y="5576697"/>
            <a:ext cx="11368735" cy="274320"/>
          </a:xfrm>
          <a:prstGeom prst="rect">
            <a:avLst/>
          </a:prstGeom>
          <a:noFill/>
        </p:spPr>
        <p:txBody>
          <a:bodyPr wrap="square">
            <a:spAutoFit/>
          </a:bodyPr>
          <a:lstStyle/>
          <a:p>
            <a:pPr>
              <a:spcAft>
                <a:spcPts val="600"/>
              </a:spcAft>
            </a:pPr>
            <a:r>
              <a:rPr sz="1050" b="0">
                <a:solidFill>
                  <a:srgbClr val="6E6E6E"/>
                </a:solidFill>
                <a:latin typeface="Arial"/>
              </a:rPr>
              <a:t>The Zernike, vector and pinhole plates share one substrate on the seat.  Full parts tables with vendors' classes are in each lane's README.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200" b="0">
                <a:solidFill>
                  <a:srgbClr val="282828"/>
                </a:solidFill>
                <a:latin typeface="Arial"/>
              </a:rPr>
              <a:t>•  On the 30 nm surface, matrix measured on it: 10 nm on one actuator 0.991 / 2 pm / SNR 6076; 1 nm on 52 sites 0.990 / 1 pm; dense 10 nm 0.990, 168 pm.</a:t>
            </a:r>
          </a:p>
          <a:p>
            <a:pPr>
              <a:spcAft>
                <a:spcPts val="600"/>
              </a:spcAft>
            </a:pPr>
            <a:r>
              <a:rPr sz="12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176191" y="1298448"/>
            <a:ext cx="5839311"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2% of the engine's field, the differential rows within 2.4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noap_stations.png"/>
          <p:cNvPicPr>
            <a:picLocks noChangeAspect="1"/>
          </p:cNvPicPr>
          <p:nvPr/>
        </p:nvPicPr>
        <p:blipFill>
          <a:blip r:embed="rId2"/>
          <a:stretch>
            <a:fillRect/>
          </a:stretch>
        </p:blipFill>
        <p:spPr>
          <a:xfrm>
            <a:off x="2026767" y="1298448"/>
            <a:ext cx="8138160"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The residual column is the absolute read against the engine: 0.00 pm on the flat, 626 pm on the 30 nm surface (2% of the figure); the differential rows the servo uses read the same surface's changes to 2.4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stnoap (the redesigned mirror rig, seed detector leg; bit-identical to the servo run's figure).  The lens rig's figure exists but its residual panel reads 62 nm against the engine, a misregistration under investigation, so it is not shown.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200" b="0">
                <a:solidFill>
                  <a:srgbClr val="282828"/>
                </a:solidFill>
                <a:latin typeface="Arial"/>
              </a:rPr>
              <a:t>•  On the 30 nm surface, matrix measured on it: 10 nm on one actuator 0.989 / 5 pm / SNR 2160; 1 nm on 47 sites 0.999 / 4 pm; dense 10 nm 0.984, 0.68 nm.</a:t>
            </a:r>
          </a:p>
          <a:p>
            <a:pPr>
              <a:spcAft>
                <a:spcPts val="600"/>
              </a:spcAft>
            </a:pPr>
            <a:r>
              <a:rPr sz="12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2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2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041504" y="1298448"/>
            <a:ext cx="6108686"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2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200" b="0">
                <a:solidFill>
                  <a:srgbClr val="282828"/>
                </a:solidFill>
                <a:latin typeface="Arial"/>
              </a:rPr>
              <a:t>•  Servo: 3 pm from 2.3e12 photons per cycle noise only, 7.0e12 under the walk; no fixed error.  The shutter frame is what lets it read to 480 nm of surface (next slides).</a:t>
            </a:r>
          </a:p>
          <a:p>
            <a:pPr>
              <a:spcAft>
                <a:spcPts val="600"/>
              </a:spcAft>
            </a:pPr>
            <a:r>
              <a:rPr sz="1200" b="0">
                <a:solidFill>
                  <a:srgbClr val="282828"/>
                </a:solidFill>
                <a:latin typeface="Arial"/>
              </a:rPr>
              <a:t>•  Not yet modeled: how the phase is stepped.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1821277" y="1298448"/>
            <a:ext cx="8549140"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708910"/>
        </p:xfrm>
        <a:graphic>
          <a:graphicData uri="http://schemas.openxmlformats.org/drawingml/2006/table">
            <a:tbl>
              <a:tblPr firstRow="1" bandRow="1">
                <a:tableStyleId>{5C22544A-7EE6-4342-B048-85BDC9FD1C3A}</a:tableStyleId>
              </a:tblPr>
              <a:tblGrid>
                <a:gridCol w="1912709"/>
                <a:gridCol w="3893730"/>
              </a:tblGrid>
              <a:tr h="28003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2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2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385 pixels per pupil, 47 sites (52 for the interferometer).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463290"/>
        </p:xfrm>
        <a:graphic>
          <a:graphicData uri="http://schemas.openxmlformats.org/drawingml/2006/table">
            <a:tbl>
              <a:tblPr firstRow="1" bandRow="1">
                <a:tableStyleId>{5C22544A-7EE6-4342-B048-85BDC9FD1C3A}</a:tableStyleId>
              </a:tblPr>
              <a:tblGrid>
                <a:gridCol w="1435255"/>
                <a:gridCol w="7742826"/>
                <a:gridCol w="2190653"/>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r h="468630">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4908042"/>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5827776"/>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2617470"/>
        </p:xfrm>
        <a:graphic>
          <a:graphicData uri="http://schemas.openxmlformats.org/drawingml/2006/table">
            <a:tbl>
              <a:tblPr firstRow="1" bandRow="1">
                <a:tableStyleId>{5C22544A-7EE6-4342-B048-85BDC9FD1C3A}</a:tableStyleId>
              </a:tblPr>
              <a:tblGrid>
                <a:gridCol w="2148382"/>
                <a:gridCol w="1683867"/>
                <a:gridCol w="1974189"/>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7845800" y="1298448"/>
            <a:ext cx="2504959"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1.5e12 photons per cycle, the pinhole and stepped Zernike from 2.3-2.6e12, the interferometer from 5.4-5.5e12 on either front end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3463290"/>
        </p:xfrm>
        <a:graphic>
          <a:graphicData uri="http://schemas.openxmlformats.org/drawingml/2006/table">
            <a:tbl>
              <a:tblPr firstRow="1" bandRow="1">
                <a:tableStyleId>{5C22544A-7EE6-4342-B048-85BDC9FD1C3A}</a:tableStyleId>
              </a:tblPr>
              <a:tblGrid>
                <a:gridCol w="1460975"/>
                <a:gridCol w="599374"/>
                <a:gridCol w="1198748"/>
                <a:gridCol w="1236209"/>
                <a:gridCol w="13111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FFFFFF"/>
                    </a:solidFill>
                  </a:tcPr>
                </a:tc>
                <a:tc>
                  <a:txBody>
                    <a:bodyPr wrap="square"/>
                    <a:lstStyle/>
                    <a:p>
                      <a:r>
                        <a:rPr sz="1100" b="0">
                          <a:solidFill>
                            <a:srgbClr val="282828"/>
                          </a:solidFill>
                          <a:latin typeface="Arial"/>
                        </a:rPr>
                        <a:t>5.4e12</a:t>
                      </a:r>
                    </a:p>
                  </a:txBody>
                  <a:tcPr marL="54864" marR="54864" marT="18288" marB="18288">
                    <a:solidFill>
                      <a:srgbClr val="FFFFFF"/>
                    </a:solidFill>
                  </a:tcPr>
                </a:tc>
                <a:tc>
                  <a:txBody>
                    <a:bodyPr wrap="square"/>
                    <a:lstStyle/>
                    <a:p>
                      <a:r>
                        <a:rPr sz="1100" b="0">
                          <a:solidFill>
                            <a:srgbClr val="282828"/>
                          </a:solidFill>
                          <a:latin typeface="Arial"/>
                        </a:rPr>
                        <a:t>1.7e13</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c>
                  <a:txBody>
                    <a:bodyPr wrap="square"/>
                    <a:lstStyle/>
                    <a:p>
                      <a:r>
                        <a:rPr sz="1100" b="0">
                          <a:solidFill>
                            <a:srgbClr val="282828"/>
                          </a:solidFill>
                          <a:latin typeface="Arial"/>
                        </a:rPr>
                        <a:t>never (4.1 pm floor)</a:t>
                      </a:r>
                    </a:p>
                  </a:txBody>
                  <a:tcPr marL="54864" marR="54864" marT="18288" marB="18288">
                    <a:solidFill>
                      <a:srgbClr val="ECF1F6"/>
                    </a:solidFill>
                  </a:tcPr>
                </a:tc>
                <a:tc>
                  <a:txBody>
                    <a:bodyPr wrap="square"/>
                    <a:lstStyle/>
                    <a:p>
                      <a:r>
                        <a:rPr sz="1100" b="0">
                          <a:solidFill>
                            <a:srgbClr val="282828"/>
                          </a:solidFill>
                          <a:latin typeface="Arial"/>
                        </a:rPr>
                        <a:t>39 pm</a:t>
                      </a:r>
                    </a:p>
                  </a:txBody>
                  <a:tcPr marL="54864" marR="54864" marT="18288" marB="18288">
                    <a:solidFill>
                      <a:srgbClr val="ECF1F6"/>
                    </a:solidFill>
                  </a:tcPr>
                </a:tc>
                <a:tc>
                  <a:txBody>
                    <a:bodyPr wrap="square"/>
                    <a:lstStyle/>
                    <a:p>
                      <a:r>
                        <a:rPr sz="1100" b="0">
                          <a:solidFill>
                            <a:srgbClr val="282828"/>
                          </a:solidFill>
                          <a:latin typeface="Arial"/>
                        </a:rPr>
                        <a:t>276 pm (27.6%)</a:t>
                      </a:r>
                    </a:p>
                  </a:txBody>
                  <a:tcPr marL="54864" marR="54864" marT="18288" marB="18288">
                    <a:solidFill>
                      <a:srgbClr val="ECF1F6"/>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8073928" y="1298448"/>
            <a:ext cx="2048703" cy="1726691"/>
          </a:xfrm>
          <a:prstGeom prst="rect">
            <a:avLst/>
          </a:prstGeom>
        </p:spPr>
      </p:pic>
      <p:sp>
        <p:nvSpPr>
          <p:cNvPr id="6" name="TextBox 5"/>
          <p:cNvSpPr txBox="1"/>
          <p:nvPr/>
        </p:nvSpPr>
        <p:spPr>
          <a:xfrm>
            <a:off x="6400800" y="3043428"/>
            <a:ext cx="5394960"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3639311"/>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9.2 of its 10 pm sits below 4 cycles per aperture, so a faster or higher-gain low-order loop removes it while light buys nothing.  Both drift floors are the textbook formulas, reproduced by the engine to 1%.  The exact one-frame Zernike reading diverges in the loop.  Run tags vloop193, ploop193, loop193, pfdeck_loop, loop_lens, loop_oap, oapifol2.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4029075"/>
        </p:xfrm>
        <a:graphic>
          <a:graphicData uri="http://schemas.openxmlformats.org/drawingml/2006/table">
            <a:tbl>
              <a:tblPr firstRow="1" bandRow="1">
                <a:tableStyleId>{5C22544A-7EE6-4342-B048-85BDC9FD1C3A}</a:tableStyleId>
              </a:tblPr>
              <a:tblGrid>
                <a:gridCol w="1470462"/>
                <a:gridCol w="1093420"/>
                <a:gridCol w="3242557"/>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 pm in 17 / 19 cycles from 100 / 200 nm, contraction 0.50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2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200" b="0">
                <a:solidFill>
                  <a:srgbClr val="282828"/>
                </a:solidFill>
                <a:latin typeface="Arial"/>
              </a:rPr>
              <a:t>•  The interferometer needs no recalibration because its reference is the flat, not the beam.</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 oapdesc2.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2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2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133087"/>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measurements are on the next slide.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focus lands on the mask seat without adjustment, and its residual with a flat mirror is 4.6× smaller than the lens rig's; its measured performance is on the next slide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oapdraw3_train.png"/>
          <p:cNvPicPr>
            <a:picLocks noChangeAspect="1"/>
          </p:cNvPicPr>
          <p:nvPr/>
        </p:nvPicPr>
        <p:blipFill>
          <a:blip r:embed="rId2"/>
          <a:stretch>
            <a:fillRect/>
          </a:stretch>
        </p:blipFill>
        <p:spPr>
          <a:xfrm>
            <a:off x="1997776" y="1298448"/>
            <a:ext cx="2633846"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8" cy="2263140"/>
        </p:xfrm>
        <a:graphic>
          <a:graphicData uri="http://schemas.openxmlformats.org/drawingml/2006/table">
            <a:tbl>
              <a:tblPr firstRow="1" bandRow="1">
                <a:tableStyleId>{5C22544A-7EE6-4342-B048-85BDC9FD1C3A}</a:tableStyleId>
              </a:tblPr>
              <a:tblGrid>
                <a:gridCol w="1496081"/>
                <a:gridCol w="1586752"/>
                <a:gridCol w="231212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12.9 nm after focus adjustment</a:t>
                      </a:r>
                    </a:p>
                  </a:txBody>
                  <a:tcPr marL="54864" marR="54864" marT="18288" marB="18288">
                    <a:solidFill>
                      <a:srgbClr val="FFFFFF"/>
                    </a:solidFill>
                  </a:tcPr>
                </a:tc>
                <a:tc>
                  <a:txBody>
                    <a:bodyPr wrap="square"/>
                    <a:lstStyle/>
                    <a:p>
                      <a:r>
                        <a:rPr sz="1000" b="0">
                          <a:solidFill>
                            <a:srgbClr val="282828"/>
                          </a:solidFill>
                          <a:latin typeface="Arial"/>
                        </a:rPr>
                        <a:t>0.029 nm with none (lens rig 0.13 after adjustment)</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p:txBody>
      </p:sp>
      <p:sp>
        <p:nvSpPr>
          <p:cNvPr id="8" name="TextBox 7"/>
          <p:cNvSpPr txBox="1"/>
          <p:nvPr/>
        </p:nvSpPr>
        <p:spPr>
          <a:xfrm>
            <a:off x="6400800" y="560984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conj, zseat, oap22d, oapdraw3, oapifo2, oapifol2, oapdesc2, oapsens22, vqw22, vmap22; tg_psi_dm96_oap/REPORT_reflective.md (TO).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measured</a:t>
            </a:r>
          </a:p>
          <a:p>
            <a:pPr>
              <a:spcAft>
                <a:spcPts val="0"/>
              </a:spcAft>
            </a:pPr>
            <a:r>
              <a:rPr sz="1250" b="0">
                <a:solidFill>
                  <a:srgbClr val="6E6E6E"/>
                </a:solidFill>
                <a:latin typeface="Arial"/>
              </a:rPr>
              <a:t>On the redesigned mirror rig the interferometer reads, holds and captures at the lens rig's numbers, and both focus-critical sensors pass; the record's reflective losses were the misfed collimator, not the mirrors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240280"/>
        </p:xfrm>
        <a:graphic>
          <a:graphicData uri="http://schemas.openxmlformats.org/drawingml/2006/table">
            <a:tbl>
              <a:tblPr firstRow="1" bandRow="1">
                <a:tableStyleId>{5C22544A-7EE6-4342-B048-85BDC9FD1C3A}</a:tableStyleId>
              </a:tblPr>
              <a:tblGrid>
                <a:gridCol w="3830648"/>
                <a:gridCol w="1889760"/>
                <a:gridCol w="3395347"/>
                <a:gridCol w="225298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record's mirror rig (7°)</a:t>
                      </a:r>
                    </a:p>
                  </a:txBody>
                  <a:tcPr marL="54864" marR="54864" marT="18288" marB="18288">
                    <a:solidFill>
                      <a:srgbClr val="1F4E79"/>
                    </a:solidFill>
                  </a:tcPr>
                </a:tc>
                <a:tc>
                  <a:txBody>
                    <a:bodyPr wrap="square"/>
                    <a:lstStyle/>
                    <a:p>
                      <a:r>
                        <a:rPr sz="1100" b="1">
                          <a:solidFill>
                            <a:srgbClr val="FFFFFF"/>
                          </a:solidFill>
                          <a:latin typeface="Arial"/>
                        </a:rPr>
                        <a:t>redesigned (22.5°, seed detector leg)</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0.995 / 2 pm</a:t>
                      </a:r>
                    </a:p>
                  </a:txBody>
                  <a:tcPr marL="54864" marR="54864" marT="18288" marB="18288">
                    <a:solidFill>
                      <a:srgbClr val="FFFFFF"/>
                    </a:solidFill>
                  </a:tcPr>
                </a:tc>
                <a:tc>
                  <a:txBody>
                    <a:bodyPr wrap="square"/>
                    <a:lstStyle/>
                    <a:p>
                      <a:r>
                        <a:rPr sz="1100" b="0">
                          <a:solidFill>
                            <a:srgbClr val="282828"/>
                          </a:solidFill>
                          <a:latin typeface="Arial"/>
                        </a:rPr>
                        <a:t>0.992 / 2.4 pm</a:t>
                      </a:r>
                    </a:p>
                  </a:txBody>
                  <a:tcPr marL="54864" marR="54864" marT="18288" marB="18288">
                    <a:solidFill>
                      <a:srgbClr val="FFFFFF"/>
                    </a:solidFill>
                  </a:tcPr>
                </a:tc>
                <a:tc>
                  <a:txBody>
                    <a:bodyPr wrap="square"/>
                    <a:lstStyle/>
                    <a:p>
                      <a:r>
                        <a:rPr sz="1100" b="0">
                          <a:solidFill>
                            <a:srgbClr val="282828"/>
                          </a:solidFill>
                          <a:latin typeface="Arial"/>
                        </a:rPr>
                        <a:t>0.992 / 2.2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ECF1F6"/>
                    </a:solidFill>
                  </a:tcPr>
                </a:tc>
                <a:tc>
                  <a:txBody>
                    <a:bodyPr wrap="square"/>
                    <a:lstStyle/>
                    <a:p>
                      <a:r>
                        <a:rPr sz="1100" b="0">
                          <a:solidFill>
                            <a:srgbClr val="282828"/>
                          </a:solidFill>
                          <a:latin typeface="Arial"/>
                        </a:rPr>
                        <a:t>0.749 / 4.8 nm</a:t>
                      </a:r>
                    </a:p>
                  </a:txBody>
                  <a:tcPr marL="54864" marR="54864" marT="18288" marB="18288">
                    <a:solidFill>
                      <a:srgbClr val="ECF1F6"/>
                    </a:solidFill>
                  </a:tcPr>
                </a:tc>
                <a:tc>
                  <a:txBody>
                    <a:bodyPr wrap="square"/>
                    <a:lstStyle/>
                    <a:p>
                      <a:r>
                        <a:rPr sz="1100" b="0">
                          <a:solidFill>
                            <a:srgbClr val="282828"/>
                          </a:solidFill>
                          <a:latin typeface="Arial"/>
                        </a:rPr>
                        <a:t>0.991 / 161 pm</a:t>
                      </a:r>
                    </a:p>
                  </a:txBody>
                  <a:tcPr marL="54864" marR="54864" marT="18288" marB="18288">
                    <a:solidFill>
                      <a:srgbClr val="ECF1F6"/>
                    </a:solidFill>
                  </a:tcPr>
                </a:tc>
                <a:tc>
                  <a:txBody>
                    <a:bodyPr wrap="square"/>
                    <a:lstStyle/>
                    <a:p>
                      <a:r>
                        <a:rPr sz="1100" b="0">
                          <a:solidFill>
                            <a:srgbClr val="282828"/>
                          </a:solidFill>
                          <a:latin typeface="Arial"/>
                        </a:rPr>
                        <a:t>0.989 / 168 pm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0.22-0.48</a:t>
                      </a:r>
                    </a:p>
                  </a:txBody>
                  <a:tcPr marL="54864" marR="54864" marT="18288" marB="18288">
                    <a:solidFill>
                      <a:srgbClr val="FFFFFF"/>
                    </a:solidFill>
                  </a:tcPr>
                </a:tc>
                <a:tc>
                  <a:txBody>
                    <a:bodyPr wrap="square"/>
                    <a:lstStyle/>
                    <a:p>
                      <a:r>
                        <a:rPr sz="1100" b="0">
                          <a:solidFill>
                            <a:srgbClr val="282828"/>
                          </a:solidFill>
                          <a:latin typeface="Arial"/>
                        </a:rPr>
                        <a:t>0.006-0.02</a:t>
                      </a:r>
                    </a:p>
                  </a:txBody>
                  <a:tcPr marL="54864" marR="54864" marT="18288" marB="18288">
                    <a:solidFill>
                      <a:srgbClr val="FFFFFF"/>
                    </a:solidFill>
                  </a:tcPr>
                </a:tc>
                <a:tc>
                  <a:txBody>
                    <a:bodyPr wrap="square"/>
                    <a:lstStyle/>
                    <a:p>
                      <a:r>
                        <a:rPr sz="1100" b="0">
                          <a:solidFill>
                            <a:srgbClr val="282828"/>
                          </a:solidFill>
                          <a:latin typeface="Arial"/>
                        </a:rPr>
                        <a:t>0.005-0.03</a:t>
                      </a:r>
                    </a:p>
                  </a:txBody>
                  <a:tcPr marL="54864" marR="54864" marT="18288" marB="18288">
                    <a:solidFill>
                      <a:srgbClr val="FFFFFF"/>
                    </a:solidFill>
                  </a:tcPr>
                </a:tc>
              </a:tr>
              <a:tr h="280035">
                <a:tc>
                  <a:txBody>
                    <a:bodyPr wrap="square"/>
                    <a:lstStyle/>
                    <a:p>
                      <a:r>
                        <a:rPr sz="1100" b="0">
                          <a:solidFill>
                            <a:srgbClr val="282828"/>
                          </a:solidFill>
                          <a:latin typeface="Arial"/>
                        </a:rPr>
                        <a:t>servo: 3 pm noise only / under the 2 pm walk</a:t>
                      </a:r>
                    </a:p>
                  </a:txBody>
                  <a:tcPr marL="54864" marR="54864" marT="18288" marB="18288">
                    <a:solidFill>
                      <a:srgbClr val="ECF1F6"/>
                    </a:solidFill>
                  </a:tcPr>
                </a:tc>
                <a:tc>
                  <a:txBody>
                    <a:bodyPr wrap="square"/>
                    <a:lstStyle/>
                    <a:p>
                      <a:r>
                        <a:rPr sz="1100" b="0">
                          <a:solidFill>
                            <a:srgbClr val="282828"/>
                          </a:solidFill>
                          <a:latin typeface="Arial"/>
                        </a:rPr>
                        <a:t>3.4e13 / never</a:t>
                      </a:r>
                    </a:p>
                  </a:txBody>
                  <a:tcPr marL="54864" marR="54864" marT="18288" marB="18288">
                    <a:solidFill>
                      <a:srgbClr val="ECF1F6"/>
                    </a:solidFill>
                  </a:tcPr>
                </a:tc>
                <a:tc>
                  <a:txBody>
                    <a:bodyPr wrap="square"/>
                    <a:lstStyle/>
                    <a:p>
                      <a:r>
                        <a:rPr sz="1100" b="0">
                          <a:solidFill>
                            <a:srgbClr val="282828"/>
                          </a:solidFill>
                          <a:latin typeface="Arial"/>
                        </a:rPr>
                        <a:t>5.4e12 / 1.7e13</a:t>
                      </a:r>
                    </a:p>
                  </a:txBody>
                  <a:tcPr marL="54864" marR="54864" marT="18288" marB="18288">
                    <a:solidFill>
                      <a:srgbClr val="ECF1F6"/>
                    </a:solidFill>
                  </a:tcPr>
                </a:tc>
                <a:tc>
                  <a:txBody>
                    <a:bodyPr wrap="square"/>
                    <a:lstStyle/>
                    <a:p>
                      <a:r>
                        <a:rPr sz="1100" b="0">
                          <a:solidFill>
                            <a:srgbClr val="282828"/>
                          </a:solidFill>
                          <a:latin typeface="Arial"/>
                        </a:rPr>
                        <a:t>5.5e12 / 2.0e13</a:t>
                      </a:r>
                    </a:p>
                  </a:txBody>
                  <a:tcPr marL="54864" marR="54864" marT="18288" marB="18288">
                    <a:solidFill>
                      <a:srgbClr val="ECF1F6"/>
                    </a:solidFill>
                  </a:tcPr>
                </a:tc>
              </a:tr>
              <a:tr h="280035">
                <a:tc>
                  <a:txBody>
                    <a:bodyPr wrap="square"/>
                    <a:lstStyle/>
                    <a:p>
                      <a:r>
                        <a:rPr sz="1100" b="0">
                          <a:solidFill>
                            <a:srgbClr val="282828"/>
                          </a:solidFill>
                          <a:latin typeface="Arial"/>
                        </a:rPr>
                        <a:t>capture with unwrapping</a:t>
                      </a:r>
                    </a:p>
                  </a:txBody>
                  <a:tcPr marL="54864" marR="54864" marT="18288" marB="18288">
                    <a:solidFill>
                      <a:srgbClr val="FFFFFF"/>
                    </a:solidFill>
                  </a:tcPr>
                </a:tc>
                <a:tc>
                  <a:txBody>
                    <a:bodyPr wrap="square"/>
                    <a:lstStyle/>
                    <a:p>
                      <a:r>
                        <a:rPr sz="1100" b="0">
                          <a:solidFill>
                            <a:srgbClr val="282828"/>
                          </a:solidFill>
                          <a:latin typeface="Arial"/>
                        </a:rPr>
                        <a:t>stalls from 60 nm</a:t>
                      </a:r>
                    </a:p>
                  </a:txBody>
                  <a:tcPr marL="54864" marR="54864" marT="18288" marB="18288">
                    <a:solidFill>
                      <a:srgbClr val="FFFFFF"/>
                    </a:solidFill>
                  </a:tcPr>
                </a:tc>
                <a:tc>
                  <a:txBody>
                    <a:bodyPr wrap="square"/>
                    <a:lstStyle/>
                    <a:p>
                      <a:r>
                        <a:rPr sz="1100" b="0">
                          <a:solidFill>
                            <a:srgbClr val="282828"/>
                          </a:solidFill>
                          <a:latin typeface="Arial"/>
                        </a:rPr>
                        <a:t>3 pm from 200 nm in 19 cycles</a:t>
                      </a:r>
                    </a:p>
                  </a:txBody>
                  <a:tcPr marL="54864" marR="54864" marT="18288" marB="18288">
                    <a:solidFill>
                      <a:srgbClr val="FFFFFF"/>
                    </a:solidFill>
                  </a:tcPr>
                </a:tc>
                <a:tc>
                  <a:txBody>
                    <a:bodyPr wrap="square"/>
                    <a:lstStyle/>
                    <a:p>
                      <a:r>
                        <a:rPr sz="1100" b="0">
                          <a:solidFill>
                            <a:srgbClr val="282828"/>
                          </a:solidFill>
                          <a:latin typeface="Arial"/>
                        </a:rPr>
                        <a:t>3 pm from 300 nm in 43 cycles</a:t>
                      </a:r>
                    </a:p>
                  </a:txBody>
                  <a:tcPr marL="54864" marR="54864" marT="18288" marB="18288">
                    <a:solidFill>
                      <a:srgbClr val="FFFFFF"/>
                    </a:solidFill>
                  </a:tcPr>
                </a:tc>
              </a:tr>
              <a:tr h="280035">
                <a:tc>
                  <a:txBody>
                    <a:bodyPr wrap="square"/>
                    <a:lstStyle/>
                    <a:p>
                      <a:r>
                        <a:rPr sz="1100" b="0">
                          <a:solidFill>
                            <a:srgbClr val="282828"/>
                          </a:solidFill>
                          <a:latin typeface="Arial"/>
                        </a:rPr>
                        <a:t>vector Zernike, 100 nm pokes (fold gate)</a:t>
                      </a:r>
                    </a:p>
                  </a:txBody>
                  <a:tcPr marL="54864" marR="54864" marT="18288" marB="18288">
                    <a:solidFill>
                      <a:srgbClr val="ECF1F6"/>
                    </a:solidFill>
                  </a:tcPr>
                </a:tc>
                <a:tc>
                  <a:txBody>
                    <a:bodyPr wrap="square"/>
                    <a:lstStyle/>
                    <a:p>
                      <a:r>
                        <a:rPr sz="1100" b="0">
                          <a:solidFill>
                            <a:srgbClr val="282828"/>
                          </a:solidFill>
                          <a:latin typeface="Arial"/>
                        </a:rPr>
                        <a:t>19.6 pm, fails</a:t>
                      </a:r>
                    </a:p>
                  </a:txBody>
                  <a:tcPr marL="54864" marR="54864" marT="18288" marB="18288">
                    <a:solidFill>
                      <a:srgbClr val="ECF1F6"/>
                    </a:solidFill>
                  </a:tcPr>
                </a:tc>
                <a:tc>
                  <a:txBody>
                    <a:bodyPr wrap="square"/>
                    <a:lstStyle/>
                    <a:p>
                      <a:r>
                        <a:rPr sz="1100" b="0">
                          <a:solidFill>
                            <a:srgbClr val="282828"/>
                          </a:solidFill>
                          <a:latin typeface="Arial"/>
                        </a:rPr>
                        <a:t>634 pm raw; 0.054 pm calibrated: passes</a:t>
                      </a:r>
                    </a:p>
                  </a:txBody>
                  <a:tcPr marL="54864" marR="54864" marT="18288" marB="18288">
                    <a:solidFill>
                      <a:srgbClr val="ECF1F6"/>
                    </a:solidFill>
                  </a:tcPr>
                </a:tc>
                <a:tc>
                  <a:txBody>
                    <a:bodyPr wrap="square"/>
                    <a:lstStyle/>
                    <a:p>
                      <a:r>
                        <a:rPr sz="1100" b="0">
                          <a:solidFill>
                            <a:srgbClr val="282828"/>
                          </a:solidFill>
                          <a:latin typeface="Arial"/>
                        </a:rPr>
                        <a:t>0.05 pm</a:t>
                      </a:r>
                    </a:p>
                  </a:txBody>
                  <a:tcPr marL="54864" marR="54864" marT="18288" marB="18288">
                    <a:solidFill>
                      <a:srgbClr val="ECF1F6"/>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FFFFFF"/>
                    </a:solidFill>
                  </a:tcPr>
                </a:tc>
                <a:tc>
                  <a:txBody>
                    <a:bodyPr wrap="square"/>
                    <a:lstStyle/>
                    <a:p>
                      <a:r>
                        <a:rPr sz="1100" b="0">
                          <a:solidFill>
                            <a:srgbClr val="282828"/>
                          </a:solidFill>
                          <a:latin typeface="Arial"/>
                        </a:rPr>
                        <a:t>94 pm, fails</a:t>
                      </a:r>
                    </a:p>
                  </a:txBody>
                  <a:tcPr marL="54864" marR="54864" marT="18288" marB="18288">
                    <a:solidFill>
                      <a:srgbClr val="FFFFFF"/>
                    </a:solidFill>
                  </a:tcPr>
                </a:tc>
                <a:tc>
                  <a:txBody>
                    <a:bodyPr wrap="square"/>
                    <a:lstStyle/>
                    <a:p>
                      <a:r>
                        <a:rPr sz="1100" b="0">
                          <a:solidFill>
                            <a:srgbClr val="282828"/>
                          </a:solidFill>
                          <a:latin typeface="Arial"/>
                        </a:rPr>
                        <a:t>0.27 pm: passes</a:t>
                      </a:r>
                    </a:p>
                  </a:txBody>
                  <a:tcPr marL="54864" marR="54864" marT="18288" marB="18288">
                    <a:solidFill>
                      <a:srgbClr val="FFFFFF"/>
                    </a:solidFill>
                  </a:tcPr>
                </a:tc>
                <a:tc>
                  <a:txBody>
                    <a:bodyPr wrap="square"/>
                    <a:lstStyle/>
                    <a:p>
                      <a:r>
                        <a:rPr sz="1100" b="0">
                          <a:solidFill>
                            <a:srgbClr val="282828"/>
                          </a:solidFill>
                          <a:latin typeface="Arial"/>
                        </a:rPr>
                        <a:t>1.9 pm</a:t>
                      </a:r>
                    </a:p>
                  </a:txBody>
                  <a:tcPr marL="54864" marR="54864" marT="18288" marB="18288">
                    <a:solidFill>
                      <a:srgbClr val="FFFFFF"/>
                    </a:solidFill>
                  </a:tcPr>
                </a:tc>
              </a:tr>
            </a:tbl>
          </a:graphicData>
        </a:graphic>
      </p:graphicFrame>
      <p:sp>
        <p:nvSpPr>
          <p:cNvPr id="5" name="TextBox 4"/>
          <p:cNvSpPr txBox="1"/>
          <p:nvPr/>
        </p:nvSpPr>
        <p:spPr>
          <a:xfrm>
            <a:off x="411480" y="3685032"/>
            <a:ext cx="11368735" cy="274320"/>
          </a:xfrm>
          <a:prstGeom prst="rect">
            <a:avLst/>
          </a:prstGeom>
          <a:noFill/>
        </p:spPr>
        <p:txBody>
          <a:bodyPr wrap="square">
            <a:spAutoFit/>
          </a:bodyPr>
          <a:lstStyle/>
          <a:p>
            <a:pPr>
              <a:spcAft>
                <a:spcPts val="600"/>
              </a:spcAft>
            </a:pPr>
            <a:r>
              <a:rPr sz="1500" b="0">
                <a:solidFill>
                  <a:srgbClr val="282828"/>
                </a:solidFill>
                <a:latin typeface="Arial"/>
              </a:rPr>
              <a:t>•  The vector pair's raw error on the mirror rig is channel amplitude imbalance from the metal folds (1.08 between its two circular channels on bare aluminum; a quarter-wave overcoat halves the error), not channel phase; calibrating the two channels removes it.  The rows hold uncalibrated on every coating.</a:t>
            </a:r>
          </a:p>
          <a:p>
            <a:pPr>
              <a:spcAft>
                <a:spcPts val="600"/>
              </a:spcAft>
            </a:pPr>
            <a:r>
              <a:rPr sz="1500" b="0">
                <a:solidFill>
                  <a:srgbClr val="282828"/>
                </a:solidFill>
                <a:latin typeface="Arial"/>
              </a:rPr>
              <a:t>•  Closed: the raw interferometer reading wraps between 60 and 120 nm of surface on both rigs, lens and mirror alike (a base the four-step cannot follow reads λ/2 ÷ √12 = 91 nm rms, measured 89-92 on both); the capture range is set by the reading, not the optics, and unwrapping restores it.  The detector leg here is the geometric seed (the tuner's objective prefers a leg that does not read: a known defect, being fixed).</a:t>
            </a:r>
          </a:p>
        </p:txBody>
      </p:sp>
      <p:sp>
        <p:nvSpPr>
          <p:cNvPr id="6" name="TextBox 5"/>
          <p:cNvSpPr txBox="1"/>
          <p:nvPr/>
        </p:nvSpPr>
        <p:spPr>
          <a:xfrm>
            <a:off x="411480" y="5735574"/>
            <a:ext cx="11368735" cy="274320"/>
          </a:xfrm>
          <a:prstGeom prst="rect">
            <a:avLst/>
          </a:prstGeom>
          <a:noFill/>
        </p:spPr>
        <p:txBody>
          <a:bodyPr wrap="square">
            <a:spAutoFit/>
          </a:bodyPr>
          <a:lstStyle/>
          <a:p>
            <a:pPr>
              <a:spcAft>
                <a:spcPts val="600"/>
              </a:spcAft>
            </a:pPr>
            <a:r>
              <a:rPr sz="1050" b="0">
                <a:solidFill>
                  <a:srgbClr val="6E6E6E"/>
                </a:solidFill>
                <a:latin typeface="Arial"/>
              </a:rPr>
              <a:t>Run tags oapifo2, oapifol2, oapdesc2, oapsens22, vqw22, vmap22, oapuw2, lensuw2; tg_psi_dm96_oap/REPORT_reflective.md (TO, 2026-09-16).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093273"/>
                <a:gridCol w="4107555"/>
                <a:gridCol w="3278145"/>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the record's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2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200" b="0">
                <a:solidFill>
                  <a:srgbClr val="282828"/>
                </a:solidFill>
                <a:latin typeface="Arial"/>
              </a:rPr>
              <a:t>•  Front end: either builds.  The redesigned mirror rig matches the lens rig on the rows, the servo (1.7e13 vs 2.0e13 photons per cycle) and capture (200 nm), and its sensors pass once calibrated; it buys any color and no glass in the beam, and costs alignment tolerance (10 µrad = 100 nm of null) and a polarization calibration of the vector reading.  The record's stance was lenses; the measured trade is now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2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32004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2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2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Seven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364768" y="1298448"/>
            <a:ext cx="3467022"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355974" y="3547872"/>
            <a:ext cx="3484610"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(the sensors on the redesigned mirror rig).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698906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