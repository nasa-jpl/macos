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34.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30.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31.xml.rels" ContentType="application/vnd.openxmlformats-package.relationships+xml"/>
  <Override PartName="/ppt/slides/_rels/slide35.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33.xml" ContentType="application/vnd.openxmlformats-officedocument.presentationml.slide+xml"/>
  <Override PartName="/ppt/slides/slide45.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12.png" ContentType="image/png"/>
  <Override PartName="/ppt/media/image3.png" ContentType="image/png"/>
  <Override PartName="/ppt/media/image19.png" ContentType="image/png"/>
  <Override PartName="/ppt/media/image14.png" ContentType="image/png"/>
  <Override PartName="/ppt/media/image5.png" ContentType="image/pn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media/image2.png" ContentType="image/png"/>
  <Override PartName="/ppt/media/image11.png" ContentType="image/png"/>
  <Override PartName="/ppt/media/image17.png" ContentType="image/png"/>
  <Override PartName="/ppt/media/image8.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4D97F5AF-05D0-4620-9FE3-451F365F58B1}"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28ADC240-B874-4270-8D99-FBB1991FB31B}"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A112A850-7C62-4D91-845B-F3B9D6D649B9}"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B5E501BC-EAF1-413F-8D5A-DCB2BDE1BC52}"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4BFD291E-268E-469E-93C7-368896C77181}"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019B4895-9D1B-445D-85C0-510CB67652E9}"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A418972D-2157-43B9-8524-7008C7D7586A}"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FC7B7DC6-1701-4DA3-B841-2D7E0E9FA95E}"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C026DFAE-E0E4-4BDD-AB40-04FFB14BB3BE}"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1DF4F17B-CD9A-49BD-83A8-86CB5CDBA51B}"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C558D0D8-B134-4FFB-B68F-4900961F2E8F}"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CF9F2D14-14EA-4A14-9E16-9CFADBB1E3A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D18ABCA8-3A57-421F-B755-DAA549EE572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898D2FFE-2DEB-400D-A356-7253273E3FE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609480" y="1604520"/>
            <a:ext cx="109717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D3E18226-8996-4D25-8CDE-47BD50F70F2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2C270631-6AA9-4D67-A836-7B0DD15EADE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a:t>
            </a:r>
            <a:r>
              <a:rPr b="0" lang="en-US" sz="1800" spc="-1" strike="noStrike">
                <a:solidFill>
                  <a:srgbClr val="000000"/>
                </a:solidFill>
                <a:latin typeface="Arial"/>
              </a:rPr>
              <a:t>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BB68E6AC-0292-4526-8CE0-775730AC4F5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55621B43-6D35-4887-B41C-0C8E3ACCCE8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a:t>
            </a:r>
            <a:r>
              <a:rPr b="0" lang="en-US" sz="1800" spc="-1" strike="noStrike">
                <a:solidFill>
                  <a:srgbClr val="000000"/>
                </a:solidFill>
                <a:latin typeface="Arial"/>
              </a:rPr>
              <a:t>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32622EFB-F103-4237-B30C-2B0C82982A7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78DDFE61-A453-4E6B-BCD1-468EA3B33EC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a:t>
            </a:r>
            <a:r>
              <a:rPr b="0" lang="en-US" sz="4400" spc="-1" strike="noStrike">
                <a:solidFill>
                  <a:srgbClr val="000000"/>
                </a:solidFill>
                <a:latin typeface="Arial"/>
              </a:rPr>
              <a:t>edit the </a:t>
            </a:r>
            <a:r>
              <a:rPr b="0" lang="en-US" sz="4400" spc="-1" strike="noStrike">
                <a:solidFill>
                  <a:srgbClr val="000000"/>
                </a:solidFill>
                <a:latin typeface="Arial"/>
              </a:rPr>
              <a:t>title </a:t>
            </a:r>
            <a:r>
              <a:rPr b="0" lang="en-US" sz="4400" spc="-1" strike="noStrike">
                <a:solidFill>
                  <a:srgbClr val="000000"/>
                </a:solidFill>
                <a:latin typeface="Arial"/>
              </a:rPr>
              <a:t>text </a:t>
            </a:r>
            <a:r>
              <a:rPr b="0" lang="en-US" sz="4400" spc="-1" strike="noStrike">
                <a:solidFill>
                  <a:srgbClr val="000000"/>
                </a:solidFill>
                <a:latin typeface="Arial"/>
              </a:rPr>
              <a:t>format</a:t>
            </a:r>
            <a:endParaRPr b="0" lang="en-US" sz="4400" spc="-1" strike="noStrike">
              <a:solidFill>
                <a:srgbClr val="000000"/>
              </a:solidFill>
              <a:latin typeface="Arial"/>
            </a:endParaRP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1AEE3FEF-4905-468D-ABBF-95F8A5E6C95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2B904D4C-8698-490A-B890-919BBF7F745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
</Relationships>
</file>

<file path=ppt/slides/_rels/slide3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2.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
</Relationships>
</file>

<file path=ppt/slides/_rels/slide4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slideLayout" Target="../slideLayouts/slideLayout9.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TextBox 1"/>
          <p:cNvSpPr/>
          <p:nvPr/>
        </p:nvSpPr>
        <p:spPr>
          <a:xfrm>
            <a:off x="822960" y="1737360"/>
            <a:ext cx="10545120" cy="4406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4000" spc="-1" strike="noStrike">
                <a:solidFill>
                  <a:srgbClr val="1f4e79"/>
                </a:solidFill>
                <a:latin typeface="Arial"/>
              </a:rPr>
              <a:t>DM Surface Gauge Comparison</a:t>
            </a:r>
            <a:endParaRPr b="0" lang="en-US" sz="4000" spc="-1" strike="noStrike">
              <a:solidFill>
                <a:srgbClr val="000000"/>
              </a:solidFill>
              <a:latin typeface="Arial"/>
            </a:endParaRPr>
          </a:p>
          <a:p>
            <a:pPr defTabSz="457200">
              <a:lnSpc>
                <a:spcPct val="100000"/>
              </a:lnSpc>
              <a:spcAft>
                <a:spcPts val="1400"/>
              </a:spcAft>
            </a:pPr>
            <a:r>
              <a:rPr b="0" lang="en-US" sz="2200" spc="-1" strike="noStrike">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endParaRPr b="0" lang="en-US" sz="22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 C. Redding, with Claude Code.</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September 2026.  For the JPL HWO WFS&amp;C discussion group.</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  The reflective front end has been redesigned on it (2026-09-15) and its rows are being re-measured; the lenses-versus-mirrors comparison is provisional.</a:t>
            </a:r>
            <a:endParaRPr b="0" lang="en-US" sz="1500" spc="-1" strike="noStrike">
              <a:solidFill>
                <a:srgbClr val="000000"/>
              </a:solidFill>
              <a:latin typeface="Arial"/>
            </a:endParaRPr>
          </a:p>
        </p:txBody>
      </p:sp>
      <p:sp>
        <p:nvSpPr>
          <p:cNvPr id="51" name="TextBox 2"/>
          <p:cNvSpPr/>
          <p:nvPr/>
        </p:nvSpPr>
        <p:spPr>
          <a:xfrm>
            <a:off x="822960" y="5486400"/>
            <a:ext cx="10545120" cy="913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three jobs, and how each is scored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Measure the mirror's surface to picometers; capture its post-launch shape, 100-200 nm of wavefront, into the servo's reach; hold it there in a servo</a:t>
            </a:r>
            <a:endParaRPr b="0" lang="en-US" sz="1250" spc="-1" strike="noStrike">
              <a:solidFill>
                <a:srgbClr val="000000"/>
              </a:solidFill>
              <a:latin typeface="Arial"/>
            </a:endParaRPr>
          </a:p>
        </p:txBody>
      </p:sp>
      <p:sp>
        <p:nvSpPr>
          <p:cNvPr id="53"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54" name="TextBox 3"/>
          <p:cNvSpPr/>
          <p:nvPr/>
        </p:nvSpPr>
        <p:spPr>
          <a:xfrm>
            <a:off x="411480" y="1298520"/>
            <a:ext cx="5805720" cy="3728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0" lang="en-US" sz="1400" spc="-1" strike="noStrike">
                <a:solidFill>
                  <a:srgbClr val="282828"/>
                </a:solidFill>
                <a:latin typeface="Arial"/>
              </a:rPr>
              <a:t>The DM: 96×96 actuators on a 1 mm pitch, 96 mm across.  On orbit its surface must stay constant to well under 10 pm, measured often and held by a closed loop.  Every test runs on a random 30 nm rms working surface, not a flat: the gauge never operates at null.</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1, measure:</a:t>
            </a:r>
            <a:r>
              <a:rPr b="0" lang="en-US" sz="1400" spc="-1" strike="noStrike">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2, capture:</a:t>
            </a:r>
            <a:r>
              <a:rPr b="0" lang="en-US" sz="1400" spc="-1" strike="noStrike">
                <a:solidFill>
                  <a:srgbClr val="282828"/>
                </a:solidFill>
                <a:latin typeface="Arial"/>
              </a:rPr>
              <a:t> bring the largest possible starting surface, 100-200 nm of wavefront, down to the servo's floor; every phase reading wraps at ±158 nm of surface (±π at 632.8 nm, double pass), so this is a wrapping problem before it is a noise problem.</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3, hold:</a:t>
            </a:r>
            <a:r>
              <a:rPr b="0" lang="en-US" sz="1400" spc="-1" strike="noStrike">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endParaRPr b="0" lang="en-US" sz="1400" spc="-1" strike="noStrike">
              <a:solidFill>
                <a:srgbClr val="000000"/>
              </a:solidFill>
              <a:latin typeface="Arial"/>
            </a:endParaRPr>
          </a:p>
        </p:txBody>
      </p:sp>
      <p:graphicFrame>
        <p:nvGraphicFramePr>
          <p:cNvPr id="55" name="Table 4"/>
          <p:cNvGraphicFramePr/>
          <p:nvPr/>
        </p:nvGraphicFramePr>
        <p:xfrm>
          <a:off x="6400800" y="1298520"/>
          <a:ext cx="5394240" cy="3018960"/>
        </p:xfrm>
        <a:graphic>
          <a:graphicData uri="http://schemas.openxmlformats.org/drawingml/2006/table">
            <a:tbl>
              <a:tblPr/>
              <a:tblGrid>
                <a:gridCol w="843840"/>
                <a:gridCol w="4550760"/>
              </a:tblGrid>
              <a:tr h="262800">
                <a:tc>
                  <a:txBody>
                    <a:bodyPr lIns="54720" rIns="54720" anchor="t">
                      <a:noAutofit/>
                    </a:bodyPr>
                    <a:p>
                      <a:pPr defTabSz="457200">
                        <a:lnSpc>
                          <a:spcPct val="100000"/>
                        </a:lnSpc>
                      </a:pPr>
                      <a:r>
                        <a:rPr b="1" lang="en-US" sz="1000" spc="-1" strike="noStrike">
                          <a:solidFill>
                            <a:srgbClr val="ffffff"/>
                          </a:solidFill>
                          <a:latin typeface="Arial"/>
                        </a:rPr>
                        <a:t>score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meaning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gain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recovered change ÷ true change; 1.0 is perfect; quoted after calibration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floor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rms of the actuators that were not changed, in picometers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SNR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recovered change ÷ floor; above 5 counts as detected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photons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all frames of one measurement summed; 1e14 photons at 633 nm = 31 µJ = 0.13 s of a 1 mW laser at 25% throughput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capture range to 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the largest working surface at which a 10 nm change on the 47 sites reads within 10%, the matrix left as calibrated at 30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capture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the largest starting surface the servo brings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hold, one number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photons per cycle that hold 30 nm to 3 pm rms in a 60-cycle loop at gain 0.5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56" name="TextBox 5"/>
          <p:cNvSpPr/>
          <p:nvPr/>
        </p:nvSpPr>
        <p:spPr>
          <a:xfrm>
            <a:off x="6400800" y="4233600"/>
            <a:ext cx="53942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Measuring a change costs two measurements.  The 96×96 at 385 detector pixels per pupil is the flight-like sampling; most rows here are at 193 pixels, which the sampling study showed reads the same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four ways of sensing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endParaRPr b="0" lang="en-US" sz="1250" spc="-1" strike="noStrike">
              <a:solidFill>
                <a:srgbClr val="000000"/>
              </a:solidFill>
              <a:latin typeface="Arial"/>
            </a:endParaRPr>
          </a:p>
        </p:txBody>
      </p:sp>
      <p:sp>
        <p:nvSpPr>
          <p:cNvPr id="58"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59" name="Picture 3" descr="crop_bench_bs22_train.png"/>
          <p:cNvPicPr/>
          <p:nvPr/>
        </p:nvPicPr>
        <p:blipFill>
          <a:blip r:embed="rId1"/>
          <a:stretch/>
        </p:blipFill>
        <p:spPr>
          <a:xfrm>
            <a:off x="1883160" y="1298520"/>
            <a:ext cx="2862360" cy="1652400"/>
          </a:xfrm>
          <a:prstGeom prst="rect">
            <a:avLst/>
          </a:prstGeom>
          <a:ln w="0">
            <a:noFill/>
          </a:ln>
        </p:spPr>
      </p:pic>
      <p:sp>
        <p:nvSpPr>
          <p:cNvPr id="60" name="TextBox 4"/>
          <p:cNvSpPr/>
          <p:nvPr/>
        </p:nvSpPr>
        <p:spPr>
          <a:xfrm>
            <a:off x="411480" y="2969640"/>
            <a:ext cx="580572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endParaRPr b="0" lang="en-US" sz="1000" spc="-1" strike="noStrike">
              <a:solidFill>
                <a:srgbClr val="000000"/>
              </a:solidFill>
              <a:latin typeface="Arial"/>
            </a:endParaRPr>
          </a:p>
        </p:txBody>
      </p:sp>
      <p:pic>
        <p:nvPicPr>
          <p:cNvPr id="61" name="Picture 5" descr="crop_oapdraw3_train.png"/>
          <p:cNvPicPr/>
          <p:nvPr/>
        </p:nvPicPr>
        <p:blipFill>
          <a:blip r:embed="rId2"/>
          <a:stretch/>
        </p:blipFill>
        <p:spPr>
          <a:xfrm>
            <a:off x="8185320" y="1298520"/>
            <a:ext cx="1825200" cy="1652400"/>
          </a:xfrm>
          <a:prstGeom prst="rect">
            <a:avLst/>
          </a:prstGeom>
          <a:ln w="0">
            <a:noFill/>
          </a:ln>
        </p:spPr>
      </p:pic>
      <p:sp>
        <p:nvSpPr>
          <p:cNvPr id="62" name="TextBox 6"/>
          <p:cNvSpPr/>
          <p:nvPr/>
        </p:nvSpPr>
        <p:spPr>
          <a:xfrm>
            <a:off x="6400800" y="2969640"/>
            <a:ext cx="539424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endParaRPr b="0" lang="en-US" sz="1000" spc="-1" strike="noStrike">
              <a:solidFill>
                <a:srgbClr val="000000"/>
              </a:solidFill>
              <a:latin typeface="Arial"/>
            </a:endParaRPr>
          </a:p>
        </p:txBody>
      </p:sp>
      <p:graphicFrame>
        <p:nvGraphicFramePr>
          <p:cNvPr id="63" name="Table 7"/>
          <p:cNvGraphicFramePr/>
          <p:nvPr/>
        </p:nvGraphicFramePr>
        <p:xfrm>
          <a:off x="411480" y="3730680"/>
          <a:ext cx="11367720" cy="2525760"/>
        </p:xfrm>
        <a:graphic>
          <a:graphicData uri="http://schemas.openxmlformats.org/drawingml/2006/table">
            <a:tbl>
              <a:tblPr/>
              <a:tblGrid>
                <a:gridCol w="1235880"/>
                <a:gridCol w="3790080"/>
                <a:gridCol w="6342120"/>
              </a:tblGrid>
              <a:tr h="279720">
                <a:tc>
                  <a:txBody>
                    <a:bodyPr lIns="54720" rIns="5472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lenses (L1, L2: 103 mm singlets)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off-axis parabolas (OAP1 20°, OAP2 25°)</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on axis, no polarization from folds; inexpensive parts; every record reading was measured on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anchor="t">
                      <a:noAutofit/>
                    </a:bodyPr>
                    <a:p>
                      <a:pPr defTabSz="457200">
                        <a:lnSpc>
                          <a:spcPct val="100000"/>
                        </a:lnSpc>
                      </a:pPr>
                      <a:r>
                        <a:rPr b="0" lang="en-US" sz="1100" spc="-1" strike="noStrike">
                          <a:solidFill>
                            <a:srgbClr val="282828"/>
                          </a:solidFill>
                          <a:latin typeface="Arial"/>
                        </a:rPr>
                        <a:t>against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one color at a time; each plate in the converging beam adds aberration (0.03 wave per 2 mm); the detector leg reaches its best focus only after a numerical adjustment; faces need anti-reflection coating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folds polarize: bare aluminum at these angles gives the vector reading a 0.1 rad channel error, at the edge of what its calibration removes (a quarter-wave overcoat should fix it); 10 µrad of mirror tilt moves the null 95-103 nm; on a 120 nm surface the reading folds over, which the lens rig's does not (being re-run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where it stands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record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reads 0.99 / 2.4 pm and 0.99 / 161 pm with the lens rig's own cross-talk (0.006-0.02); the pinhole recovers; the vector pair and the interferometer servo are being re-measured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64" name="TextBox 8"/>
          <p:cNvSpPr/>
          <p:nvPr/>
        </p:nvSpPr>
        <p:spPr>
          <a:xfrm>
            <a:off x="411480" y="631728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splitter angle: three options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7° cannot be built; 22.5° clears every part and is the choice; 30° adds margin at the price of a wider bench and more plate polarization</a:t>
            </a:r>
            <a:endParaRPr b="0" lang="en-US" sz="1250" spc="-1" strike="noStrike">
              <a:solidFill>
                <a:srgbClr val="000000"/>
              </a:solidFill>
              <a:latin typeface="Arial"/>
            </a:endParaRPr>
          </a:p>
        </p:txBody>
      </p:sp>
      <p:sp>
        <p:nvSpPr>
          <p:cNvPr id="66"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67" name="Picture 3" descr="bench_three_nodes.png"/>
          <p:cNvPicPr/>
          <p:nvPr/>
        </p:nvPicPr>
        <p:blipFill>
          <a:blip r:embed="rId1"/>
          <a:stretch/>
        </p:blipFill>
        <p:spPr>
          <a:xfrm>
            <a:off x="2243160" y="1298520"/>
            <a:ext cx="7705080" cy="1433880"/>
          </a:xfrm>
          <a:prstGeom prst="rect">
            <a:avLst/>
          </a:prstGeom>
          <a:ln w="0">
            <a:noFill/>
          </a:ln>
        </p:spPr>
      </p:pic>
      <p:sp>
        <p:nvSpPr>
          <p:cNvPr id="68" name="TextBox 4"/>
          <p:cNvSpPr/>
          <p:nvPr/>
        </p:nvSpPr>
        <p:spPr>
          <a:xfrm>
            <a:off x="411480" y="2751480"/>
            <a:ext cx="1136808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endParaRPr b="0" lang="en-US" sz="1000" spc="-1" strike="noStrike">
              <a:solidFill>
                <a:srgbClr val="000000"/>
              </a:solidFill>
              <a:latin typeface="Arial"/>
            </a:endParaRPr>
          </a:p>
        </p:txBody>
      </p:sp>
      <p:graphicFrame>
        <p:nvGraphicFramePr>
          <p:cNvPr id="69" name="Table 5"/>
          <p:cNvGraphicFramePr/>
          <p:nvPr/>
        </p:nvGraphicFramePr>
        <p:xfrm>
          <a:off x="411480" y="3182040"/>
          <a:ext cx="11367360" cy="3180960"/>
        </p:xfrm>
        <a:graphic>
          <a:graphicData uri="http://schemas.openxmlformats.org/drawingml/2006/table">
            <a:tbl>
              <a:tblPr/>
              <a:tblGrid>
                <a:gridCol w="3410280"/>
                <a:gridCol w="2273400"/>
                <a:gridCol w="3284280"/>
                <a:gridCol w="2399760"/>
              </a:tblGrid>
              <a:tr h="279720">
                <a:tc>
                  <a:txBody>
                    <a:bodyPr lIns="54720" rIns="54720" anchor="t">
                      <a:noAutofit/>
                    </a:bodyPr>
                    <a:p>
                      <a:pPr defTabSz="457200">
                        <a:lnSpc>
                          <a:spcPct val="100000"/>
                        </a:lnSpc>
                      </a:pPr>
                      <a:r>
                        <a:rPr b="1" lang="en-US" sz="1100" spc="-1" strike="noStrike">
                          <a:solidFill>
                            <a:srgbClr val="ffffff"/>
                          </a:solidFill>
                          <a:latin typeface="Arial"/>
                        </a:rPr>
                        <a:t>impact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7° (record)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22.5° (choice)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30°</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node clearance, worst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109 mm: not buildable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compensator +16 mm; output optics +55 / +65; L2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compensator +57; the rest +178 or more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bench shape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all four legs within 14° of one line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mirror leg at 45° to the source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mirror leg at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plate's polarization (mean diattenuation, uniform)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pupil-varying part (the lenses; what the sensors feel)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vector sensor, channel phase difference /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1.63 mrad / 9.0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1.66 mrad / 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1.69 mrad / 9.1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transmitted beam shift in the 2.6 mm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0.36 mm (1.4 at 10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0.50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small-angle case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its plate systematics re-run at this angle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larger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0" name="TextBox 6"/>
          <p:cNvSpPr/>
          <p:nvPr/>
        </p:nvSpPr>
        <p:spPr>
          <a:xfrm>
            <a:off x="411480" y="651168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common to every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front end and the detector leg, from the parameter sheet; thicknesses are the scaled model's and are being made real</a:t>
            </a:r>
            <a:endParaRPr b="0" lang="en-US" sz="1250" spc="-1" strike="noStrike">
              <a:solidFill>
                <a:srgbClr val="000000"/>
              </a:solidFill>
              <a:latin typeface="Arial"/>
            </a:endParaRPr>
          </a:p>
        </p:txBody>
      </p:sp>
      <p:sp>
        <p:nvSpPr>
          <p:cNvPr id="72"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73" name="Table 3"/>
          <p:cNvGraphicFramePr/>
          <p:nvPr/>
        </p:nvGraphicFramePr>
        <p:xfrm>
          <a:off x="411480" y="1298520"/>
          <a:ext cx="11367720" cy="4963320"/>
        </p:xfrm>
        <a:graphic>
          <a:graphicData uri="http://schemas.openxmlformats.org/drawingml/2006/table">
            <a:tbl>
              <a:tblPr/>
              <a:tblGrid>
                <a:gridCol w="1962360"/>
                <a:gridCol w="3763080"/>
                <a:gridCol w="2180160"/>
                <a:gridCol w="509400"/>
                <a:gridCol w="2953080"/>
              </a:tblGrid>
              <a:tr h="279720">
                <a:tc>
                  <a:txBody>
                    <a:bodyPr lIns="54720" rIns="5472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coating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laser, spatially filtered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HeNe 632.8 nm, 1 mW class; beam 51 mm radius after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source; 1e14 photons per measurement is 0.13 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collimator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f 857 mm, 103 mm, plano-convex conic; modeled 5 mm center, to be a real singlet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anti-reflection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collimates onto the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plate splitter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103 mm, 22.5° incidence, 50/50; modeled 2.6 mm, to be 10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50/50 front coating, AR back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splits to the mirror and the reference arm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compensator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103 mm, matched to the splitter, in the mirror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balances the glass path through the splitter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deformable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96×96, 1 mm pitch, 96 mm, 700 mm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test object; its surface is the measurand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focuser L2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f 429 mm, 103 mm, plano-convex conic; modeled 8 mm center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internal focus at F/4.2 where the masks sit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mask seat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translation stage at the internal focus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selects the sensor: clear window, dimple, metasurface,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f 43 mm, 21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reimages the pupil (9.4 mm) 32 mm behind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sCMOS 2048×2048, 6.5 µm (13.3 mm), binned 4 to 385 pixels across the pupil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every configuration's pupil image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mounts, bench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 m × 1 m table; 103 mm mounts on the node parts, 25 mm clearance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22.5° layout clears every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74" name="TextBox 4"/>
          <p:cNvSpPr/>
          <p:nvPr/>
        </p:nvSpPr>
        <p:spPr>
          <a:xfrm>
            <a:off x="411480" y="641124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detector leg (focuser, mask seat, field lens, camera) is focused once and shared; only the mask seat's contents and what follows the field lens change between configurations.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interferometer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the reference arm and the two phase-shift forms add to the common bench</a:t>
            </a:r>
            <a:endParaRPr b="0" lang="en-US" sz="1250" spc="-1" strike="noStrike">
              <a:solidFill>
                <a:srgbClr val="000000"/>
              </a:solidFill>
              <a:latin typeface="Arial"/>
            </a:endParaRPr>
          </a:p>
        </p:txBody>
      </p:sp>
      <p:sp>
        <p:nvSpPr>
          <p:cNvPr id="76"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77" name="Table 3"/>
          <p:cNvGraphicFramePr/>
          <p:nvPr/>
        </p:nvGraphicFramePr>
        <p:xfrm>
          <a:off x="411480" y="1298520"/>
          <a:ext cx="11367000" cy="2719080"/>
        </p:xfrm>
        <a:graphic>
          <a:graphicData uri="http://schemas.openxmlformats.org/drawingml/2006/table">
            <a:tbl>
              <a:tblPr/>
              <a:tblGrid>
                <a:gridCol w="1090440"/>
                <a:gridCol w="2305080"/>
                <a:gridCol w="3051720"/>
                <a:gridCol w="2397960"/>
                <a:gridCol w="509400"/>
                <a:gridCol w="2012760"/>
              </a:tblGrid>
              <a:tr h="279720">
                <a:tc>
                  <a:txBody>
                    <a:bodyPr lIns="54720" rIns="5472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coating / 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all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reference flat on a piezo stage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103 mm, λ/20; 564 mm leg; stroke over one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external reference; the four phase steps in the piezo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input polarizer; two arm quarter-wave plates; output quarter-wave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103 mm zero-order plates on 2-3 mm substrates; azimuths 45 / 0 / 45 /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codes the four channels in polarization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polarization camera, in place of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micro-polarizer array 0 / 45 / 90 / 135°, 3.45 µm pixels, 680 per orientation across the pupil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four analyzer channels at once; no rotating stage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cube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cemented polarizing cube in place of the plate and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103 mm class MacNeille, symmetric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ZnS / cryolite on n 1.655 glass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split as polarization physics; no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78" name="TextBox 4"/>
          <p:cNvSpPr/>
          <p:nvPr/>
        </p:nvSpPr>
        <p:spPr>
          <a:xfrm>
            <a:off x="411480" y="416520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hybrid form uses the snapshot parts for every change measurement and the piezo for the absolute calibration; both live on the same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sensors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each focal-plane sensor adds to the common bench: one substrate on the mask seat, and the vector sensor's split behind the field lens</a:t>
            </a:r>
            <a:endParaRPr b="0" lang="en-US" sz="1250" spc="-1" strike="noStrike">
              <a:solidFill>
                <a:srgbClr val="000000"/>
              </a:solidFill>
              <a:latin typeface="Arial"/>
            </a:endParaRPr>
          </a:p>
        </p:txBody>
      </p:sp>
      <p:sp>
        <p:nvSpPr>
          <p:cNvPr id="80"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81" name="Table 3"/>
          <p:cNvGraphicFramePr/>
          <p:nvPr/>
        </p:nvGraphicFramePr>
        <p:xfrm>
          <a:off x="411480" y="1298520"/>
          <a:ext cx="11367360" cy="4130640"/>
        </p:xfrm>
        <a:graphic>
          <a:graphicData uri="http://schemas.openxmlformats.org/drawingml/2006/table">
            <a:tbl>
              <a:tblPr/>
              <a:tblGrid>
                <a:gridCol w="1235880"/>
                <a:gridCol w="3561480"/>
                <a:gridCol w="2995200"/>
                <a:gridCol w="896040"/>
                <a:gridCol w="509400"/>
                <a:gridCol w="2169720"/>
              </a:tblGrid>
              <a:tr h="279720">
                <a:tc>
                  <a:txBody>
                    <a:bodyPr lIns="54720" rIns="54720" anchor="t">
                      <a:noAutofit/>
                    </a:bodyPr>
                    <a:p>
                      <a:pPr defTabSz="457200">
                        <a:lnSpc>
                          <a:spcPct val="100000"/>
                        </a:lnSpc>
                      </a:pPr>
                      <a:r>
                        <a:rPr b="1" lang="en-US" sz="1100" spc="-1" strike="noStrike">
                          <a:solidFill>
                            <a:srgbClr val="ffffff"/>
                          </a:solidFill>
                          <a:latin typeface="Arial"/>
                        </a:rPr>
                        <a:t>configuration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etched mask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fused silica, 2-3 mm; a 3×3 array of dimples 346 nm deep (a quarter wave), the record's 5.3 µm (2.0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bare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reference from the beam's own core; stepped by translating between depths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geometric-phase metasurface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in the mask seat: a half-wave dimple pattern, +90° on one circular state and −90° on the other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dielectric metasurface on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two images with opposite dimple sign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quarter-wave plate; polarizing cube; camera B</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zero-order plate at λ/300 on a 2 mm substrate; 12.7 mm cemented MacNeille cube; a second sCMOS like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AR; ZnS / cryolite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separates the two circular states onto two cameras, both frames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pinhole plate on a phase-stepping stage;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fused silica, 2-3 mm; 5.27 µm pinhole, surround attenuated to 0.72 in amplitude; steps of an eighth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metal-film attenuator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reference from the core through the pinhole; the shutter frame reads the reference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anchor="t">
                      <a:noAutofit/>
                    </a:bodyPr>
                    <a:p>
                      <a:pPr defTabSz="457200">
                        <a:lnSpc>
                          <a:spcPct val="100000"/>
                        </a:lnSpc>
                      </a:pPr>
                      <a:r>
                        <a:rPr b="0" lang="en-US" sz="1100" spc="-1" strike="noStrike">
                          <a:solidFill>
                            <a:srgbClr val="282828"/>
                          </a:solidFill>
                          <a:latin typeface="Arial"/>
                        </a:rPr>
                        <a:t>P/SRI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pickoff plate; lens Lr1; pinhole into a single-mode waveguide with a thermo-optic phase shifter; lens Lr2; two folds; compensator; recombiner; camera C</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60/40 plate at 45°; f 300 mm F/2.9; 3.7 µm; f 300 mm mirrored; 150 mm flats at 45°; 21.9 mm of glass; 50/50 plate at 45°; sCMOS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AR; protected-metal folds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two-arm form with a reference that does not move with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82" name="TextBox 4"/>
          <p:cNvSpPr/>
          <p:nvPr/>
        </p:nvSpPr>
        <p:spPr>
          <a:xfrm>
            <a:off x="411480" y="557676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Zernike, vector and pinhole plates share one substrate on the seat.  Full parts tables with vendors' classes are in each lane's README.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Twyman-Green, four phase steps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endParaRPr b="0" lang="en-US" sz="1250" spc="-1" strike="noStrike">
              <a:solidFill>
                <a:srgbClr val="000000"/>
              </a:solidFill>
              <a:latin typeface="Arial"/>
            </a:endParaRPr>
          </a:p>
        </p:txBody>
      </p:sp>
      <p:sp>
        <p:nvSpPr>
          <p:cNvPr id="84"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85" name="TextBox 3"/>
          <p:cNvSpPr/>
          <p:nvPr/>
        </p:nvSpPr>
        <p:spPr>
          <a:xfrm>
            <a:off x="411480" y="1298520"/>
            <a:ext cx="5805720" cy="298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On the 30 nm surface, matrix measured on it: 10 nm on one actuator 0.991 / 2 pm / SNR 6076; 1 nm on 52 sites 0.990 / 1 pm; dense 10 nm 0.990, 168 pm.</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Servo: 3 pm from 5.5e12 photons per cycle with noise only, 2.0e13 under a 2 pm per-cycle actuator walk; a fixed error of about 9% on a noiseless step, from the four-step's roll-off.</a:t>
            </a:r>
            <a:endParaRPr b="0" lang="en-US" sz="1500" spc="-1" strike="noStrike">
              <a:solidFill>
                <a:srgbClr val="000000"/>
              </a:solidFill>
              <a:latin typeface="Arial"/>
            </a:endParaRPr>
          </a:p>
        </p:txBody>
      </p:sp>
      <p:graphicFrame>
        <p:nvGraphicFramePr>
          <p:cNvPr id="86" name="Table 4"/>
          <p:cNvGraphicFramePr/>
          <p:nvPr/>
        </p:nvGraphicFramePr>
        <p:xfrm>
          <a:off x="6400800" y="1298520"/>
          <a:ext cx="5394240" cy="1828080"/>
        </p:xfrm>
        <a:graphic>
          <a:graphicData uri="http://schemas.openxmlformats.org/drawingml/2006/table">
            <a:tbl>
              <a:tblPr/>
              <a:tblGrid>
                <a:gridCol w="2861280"/>
                <a:gridCol w="2533320"/>
              </a:tblGrid>
              <a:tr h="262800">
                <a:tc>
                  <a:txBody>
                    <a:bodyPr lIns="54720" rIns="5472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reference flat on a piezo stage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103 mm, protected aluminum, 564 mm leg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compensator plate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matched to the splitter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anchor="t">
                      <a:noAutofit/>
                    </a:bodyPr>
                    <a:p>
                      <a:pPr defTabSz="457200">
                        <a:lnSpc>
                          <a:spcPct val="100000"/>
                        </a:lnSpc>
                      </a:pPr>
                      <a:r>
                        <a:rPr b="0" lang="en-US" sz="1000" spc="-1" strike="noStrike">
                          <a:solidFill>
                            <a:srgbClr val="282828"/>
                          </a:solidFill>
                          <a:latin typeface="Arial"/>
                        </a:rPr>
                        <a:t>snapshot form: input polarizer, two arm quarter-wave plates, output quarter-wave plate, analyzer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zero-order plates on 2-3 mm substrates (to be modeled); azimuths 45 / 0 / 45 / 0 / 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4 (snapshot: at once; piezo: in sequence)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87" name="TextBox 5"/>
          <p:cNvSpPr/>
          <p:nvPr/>
        </p:nvSpPr>
        <p:spPr>
          <a:xfrm>
            <a:off x="6400800" y="327348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 loop_lens, lens_deck_se2; the three phase-shift forms are priced in backup.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the node at 22.5°</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endParaRPr b="0" lang="en-US" sz="1250" spc="-1" strike="noStrike">
              <a:solidFill>
                <a:srgbClr val="000000"/>
              </a:solidFill>
              <a:latin typeface="Arial"/>
            </a:endParaRPr>
          </a:p>
        </p:txBody>
      </p:sp>
      <p:sp>
        <p:nvSpPr>
          <p:cNvPr id="8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90" name="Picture 3" descr="crop_bench_bs22_node.png"/>
          <p:cNvPicPr/>
          <p:nvPr/>
        </p:nvPicPr>
        <p:blipFill>
          <a:blip r:embed="rId1"/>
          <a:stretch/>
        </p:blipFill>
        <p:spPr>
          <a:xfrm>
            <a:off x="3176280" y="1298520"/>
            <a:ext cx="5838480" cy="3280320"/>
          </a:xfrm>
          <a:prstGeom prst="rect">
            <a:avLst/>
          </a:prstGeom>
          <a:ln w="0">
            <a:noFill/>
          </a:ln>
        </p:spPr>
      </p:pic>
      <p:sp>
        <p:nvSpPr>
          <p:cNvPr id="91" name="TextBox 4"/>
          <p:cNvSpPr/>
          <p:nvPr/>
        </p:nvSpPr>
        <p:spPr>
          <a:xfrm>
            <a:off x="411480" y="4597920"/>
            <a:ext cx="1136808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endParaRPr b="0" lang="en-US" sz="1000" spc="-1" strike="noStrike">
              <a:solidFill>
                <a:srgbClr val="000000"/>
              </a:solidFill>
              <a:latin typeface="Arial"/>
            </a:endParaRPr>
          </a:p>
        </p:txBody>
      </p:sp>
      <p:sp>
        <p:nvSpPr>
          <p:cNvPr id="92" name="TextBox 5"/>
          <p:cNvSpPr/>
          <p:nvPr/>
        </p:nvSpPr>
        <p:spPr>
          <a:xfrm>
            <a:off x="411480" y="5193720"/>
            <a:ext cx="1136808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a quarter-wave dimple at the focus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beam interferes with its own core: no reference arm; the best reading steps the dimple's depth through four frames and inverts pixel by pixel</a:t>
            </a:r>
            <a:endParaRPr b="0" lang="en-US" sz="1250" spc="-1" strike="noStrike">
              <a:solidFill>
                <a:srgbClr val="000000"/>
              </a:solidFill>
              <a:latin typeface="Arial"/>
            </a:endParaRPr>
          </a:p>
        </p:txBody>
      </p:sp>
      <p:sp>
        <p:nvSpPr>
          <p:cNvPr id="94"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95" name="TextBox 3"/>
          <p:cNvSpPr/>
          <p:nvPr/>
        </p:nvSpPr>
        <p:spPr>
          <a:xfrm>
            <a:off x="411480" y="1298520"/>
            <a:ext cx="5805720" cy="170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a 5.3 µm etched dimple (2.0 λF/D) delays the center of the focal spot a quarter wave; that light spreads back over the pupil and acts as the reference.  Three etch depths plus a clear frame make the four-frame stepped reading, which has no branch fold.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0.989 / 5 pm / SNR 2160; 1 nm on 47 sites 0.999 / 4 pm; dense 10 nm 0.984, 0.68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2.6e12 photons per cycle noise only, 7.5e12 under the 2 pm walk; no fixed error (a noiseless step goes to 0.000 pm).</a:t>
            </a:r>
            <a:endParaRPr b="0" lang="en-US" sz="1200" spc="-1" strike="noStrike">
              <a:solidFill>
                <a:srgbClr val="000000"/>
              </a:solidFill>
              <a:latin typeface="Arial"/>
            </a:endParaRPr>
          </a:p>
        </p:txBody>
      </p:sp>
      <p:pic>
        <p:nvPicPr>
          <p:cNvPr id="96" name="Picture 4" descr="zwfs_mask385_mask.png"/>
          <p:cNvPicPr/>
          <p:nvPr/>
        </p:nvPicPr>
        <p:blipFill>
          <a:blip r:embed="rId1"/>
          <a:stretch/>
        </p:blipFill>
        <p:spPr>
          <a:xfrm>
            <a:off x="6490440" y="1298520"/>
            <a:ext cx="5215320" cy="2183040"/>
          </a:xfrm>
          <a:prstGeom prst="rect">
            <a:avLst/>
          </a:prstGeom>
          <a:ln w="0">
            <a:noFill/>
          </a:ln>
        </p:spPr>
      </p:pic>
      <p:sp>
        <p:nvSpPr>
          <p:cNvPr id="97" name="TextBox 5"/>
          <p:cNvSpPr/>
          <p:nvPr/>
        </p:nvSpPr>
        <p:spPr>
          <a:xfrm>
            <a:off x="6400800" y="3500640"/>
            <a:ext cx="53942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endParaRPr b="0" lang="en-US" sz="1000" spc="-1" strike="noStrike">
              <a:solidFill>
                <a:srgbClr val="000000"/>
              </a:solidFill>
              <a:latin typeface="Arial"/>
            </a:endParaRPr>
          </a:p>
        </p:txBody>
      </p:sp>
      <p:sp>
        <p:nvSpPr>
          <p:cNvPr id="98" name="TextBox 6"/>
          <p:cNvSpPr/>
          <p:nvPr/>
        </p:nvSpPr>
        <p:spPr>
          <a:xfrm>
            <a:off x="6400800" y="4096440"/>
            <a:ext cx="539424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endParaRPr b="0" lang="en-US" sz="1250" spc="-1" strike="noStrike">
              <a:solidFill>
                <a:srgbClr val="000000"/>
              </a:solidFill>
              <a:latin typeface="Arial"/>
            </a:endParaRPr>
          </a:p>
        </p:txBody>
      </p:sp>
      <p:sp>
        <p:nvSpPr>
          <p:cNvPr id="100"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01" name="Picture 3" descr="stations193_stations_S.png"/>
          <p:cNvPicPr/>
          <p:nvPr/>
        </p:nvPicPr>
        <p:blipFill>
          <a:blip r:embed="rId1"/>
          <a:stretch/>
        </p:blipFill>
        <p:spPr>
          <a:xfrm>
            <a:off x="2167560" y="1298520"/>
            <a:ext cx="7855920" cy="2183040"/>
          </a:xfrm>
          <a:prstGeom prst="rect">
            <a:avLst/>
          </a:prstGeom>
          <a:ln w="0">
            <a:noFill/>
          </a:ln>
        </p:spPr>
      </p:pic>
      <p:sp>
        <p:nvSpPr>
          <p:cNvPr id="102" name="TextBox 4"/>
          <p:cNvSpPr/>
          <p:nvPr/>
        </p:nvSpPr>
        <p:spPr>
          <a:xfrm>
            <a:off x="411480" y="3500640"/>
            <a:ext cx="1136808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endParaRPr b="0" lang="en-US" sz="1000" spc="-1" strike="noStrike">
              <a:solidFill>
                <a:srgbClr val="000000"/>
              </a:solidFill>
              <a:latin typeface="Arial"/>
            </a:endParaRPr>
          </a:p>
        </p:txBody>
      </p:sp>
      <p:sp>
        <p:nvSpPr>
          <p:cNvPr id="103" name="TextBox 5"/>
          <p:cNvSpPr/>
          <p:nvPr/>
        </p:nvSpPr>
        <p:spPr>
          <a:xfrm>
            <a:off x="411480" y="4096440"/>
            <a:ext cx="113680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endParaRPr b="0" lang="en-US" sz="1500" spc="-1" strike="noStrike">
              <a:solidFill>
                <a:srgbClr val="000000"/>
              </a:solidFill>
              <a:latin typeface="Arial"/>
            </a:endParaRPr>
          </a:p>
        </p:txBody>
      </p:sp>
      <p:sp>
        <p:nvSpPr>
          <p:cNvPr id="104" name="TextBox 6"/>
          <p:cNvSpPr/>
          <p:nvPr/>
        </p:nvSpPr>
        <p:spPr>
          <a:xfrm>
            <a:off x="411480" y="501624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residual column is the raw pixel map against the engine's field, before any calibration; the performance rows and the servo use the calibrated estimate.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polarized dimple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geometric-phase metasurface in the same seat delays the two circular polarizations by +90° and −90°; a quarter-wave plate and a polarizing cube send the two images to two cameras, both frames at once</a:t>
            </a:r>
            <a:endParaRPr b="0" lang="en-US" sz="1250" spc="-1" strike="noStrike">
              <a:solidFill>
                <a:srgbClr val="000000"/>
              </a:solidFill>
              <a:latin typeface="Arial"/>
            </a:endParaRPr>
          </a:p>
        </p:txBody>
      </p:sp>
      <p:sp>
        <p:nvSpPr>
          <p:cNvPr id="106"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07" name="TextBox 3"/>
          <p:cNvSpPr/>
          <p:nvPr/>
        </p:nvSpPr>
        <p:spPr>
          <a:xfrm>
            <a:off x="411480" y="1298520"/>
            <a:ext cx="5805720" cy="170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the two images are the sensor with its dimple sign flipped; per pixel they give the cosine and sine of the phase together, so the inversion is exact with no branch choice and no stepping.  Two simultaneous frames per measurement.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0.9935 / 4 pm / SNR 2830; 1 nm on 47 sites 0.9992 / 3 pm; dense 10 nm 0.9999, 0.33 nm — the best line in the comparison.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1.5e12 photons per cycle noise only, 5.3e12 under the 2 pm walk; no fixed error.</a:t>
            </a:r>
            <a:endParaRPr b="0" lang="en-US" sz="1200" spc="-1" strike="noStrike">
              <a:solidFill>
                <a:srgbClr val="000000"/>
              </a:solidFill>
              <a:latin typeface="Arial"/>
            </a:endParaRPr>
          </a:p>
        </p:txBody>
      </p:sp>
      <p:graphicFrame>
        <p:nvGraphicFramePr>
          <p:cNvPr id="108" name="Table 4"/>
          <p:cNvGraphicFramePr/>
          <p:nvPr/>
        </p:nvGraphicFramePr>
        <p:xfrm>
          <a:off x="6400800" y="1298520"/>
          <a:ext cx="5394240" cy="3215880"/>
        </p:xfrm>
        <a:graphic>
          <a:graphicData uri="http://schemas.openxmlformats.org/drawingml/2006/table">
            <a:tbl>
              <a:tblPr/>
              <a:tblGrid>
                <a:gridCol w="670320"/>
                <a:gridCol w="4724280"/>
              </a:tblGrid>
              <a:tr h="605520">
                <a:tc>
                  <a:txBody>
                    <a:bodyPr lIns="54720" rIns="5472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metasurface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geometric-phase (half-wave) dimple in the etched plate's seat: +90° on one circular state, −90° on the other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05520">
                <a:tc>
                  <a:txBody>
                    <a:bodyPr lIns="54720" rIns="54720" anchor="t">
                      <a:noAutofit/>
                    </a:bodyPr>
                    <a:p>
                      <a:pPr defTabSz="457200">
                        <a:lnSpc>
                          <a:spcPct val="100000"/>
                        </a:lnSpc>
                      </a:pPr>
                      <a:r>
                        <a:rPr b="0" lang="en-US" sz="1000" spc="-1" strike="noStrike">
                          <a:solidFill>
                            <a:srgbClr val="282828"/>
                          </a:solidFill>
                          <a:latin typeface="Arial"/>
                        </a:rPr>
                        <a:t>quarter-wave plate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zero order on a 2 mm substrate (0.05 wave of spherical aberration in the F/3.6 leg, to be modeled), fast axis at 45° between the cube's s and p; spec λ/300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polarizing cube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12.7 mm cemented MacNeille, behind the field lens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cameras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two, both 20.7 mm behind the cube at the 9.4 mm pupil image; a 6.5 µm sCMOS (13 mm sensor) binned 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2, simultaneous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09" name="TextBox 5"/>
          <p:cNvSpPr/>
          <p:nvPr/>
        </p:nvSpPr>
        <p:spPr>
          <a:xfrm>
            <a:off x="6400800" y="4565160"/>
            <a:ext cx="53942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Two cameras rather than one: the 9.4 mm pupil image 32 mm behind the field lens would need a 17° split for side-by-side images, past a calcite prism's limit.  Run tags v193base, vloop193.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 to the two cameras, both channel decks traced by the engine</a:t>
            </a:r>
            <a:endParaRPr b="0" lang="en-US" sz="1250" spc="-1" strike="noStrike">
              <a:solidFill>
                <a:srgbClr val="000000"/>
              </a:solidFill>
              <a:latin typeface="Arial"/>
            </a:endParaRPr>
          </a:p>
        </p:txBody>
      </p:sp>
      <p:sp>
        <p:nvSpPr>
          <p:cNvPr id="111"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12" name="Picture 3" descr="crop_zwfs_vlayout_tail.png"/>
          <p:cNvPicPr/>
          <p:nvPr/>
        </p:nvPicPr>
        <p:blipFill>
          <a:blip r:embed="rId1"/>
          <a:stretch/>
        </p:blipFill>
        <p:spPr>
          <a:xfrm>
            <a:off x="3041640" y="1298520"/>
            <a:ext cx="6108120" cy="3445560"/>
          </a:xfrm>
          <a:prstGeom prst="rect">
            <a:avLst/>
          </a:prstGeom>
          <a:ln w="0">
            <a:noFill/>
          </a:ln>
        </p:spPr>
      </p:pic>
      <p:sp>
        <p:nvSpPr>
          <p:cNvPr id="113" name="TextBox 4"/>
          <p:cNvSpPr/>
          <p:nvPr/>
        </p:nvSpPr>
        <p:spPr>
          <a:xfrm>
            <a:off x="411480" y="4763160"/>
            <a:ext cx="1136808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endParaRPr b="0" lang="en-US" sz="1000" spc="-1" strike="noStrike">
              <a:solidFill>
                <a:srgbClr val="000000"/>
              </a:solidFill>
              <a:latin typeface="Arial"/>
            </a:endParaRPr>
          </a:p>
        </p:txBody>
      </p:sp>
      <p:sp>
        <p:nvSpPr>
          <p:cNvPr id="114" name="TextBox 5"/>
          <p:cNvSpPr/>
          <p:nvPr/>
        </p:nvSpPr>
        <p:spPr>
          <a:xfrm>
            <a:off x="411480" y="5193720"/>
            <a:ext cx="1136808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endParaRPr b="0" lang="en-US" sz="1500" spc="-1" strike="noStrike">
              <a:solidFill>
                <a:srgbClr val="000000"/>
              </a:solidFill>
              <a:latin typeface="Arial"/>
            </a:endParaRPr>
          </a:p>
        </p:txBody>
      </p:sp>
      <p:sp>
        <p:nvSpPr>
          <p:cNvPr id="115" name="TextBox 6"/>
          <p:cNvSpPr/>
          <p:nvPr/>
        </p:nvSpPr>
        <p:spPr>
          <a:xfrm>
            <a:off x="411480" y="636120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two images taken at once, and a raw map within 25 pm of the engine's field on the 30 nm working surface: the pixel-by-pixel solve needs no calibration to read the surface</a:t>
            </a:r>
            <a:endParaRPr b="0" lang="en-US" sz="1250" spc="-1" strike="noStrike">
              <a:solidFill>
                <a:srgbClr val="000000"/>
              </a:solidFill>
              <a:latin typeface="Arial"/>
            </a:endParaRPr>
          </a:p>
        </p:txBody>
      </p:sp>
      <p:sp>
        <p:nvSpPr>
          <p:cNvPr id="117"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18" name="Picture 3" descr="stations193_stations_V.png"/>
          <p:cNvPicPr/>
          <p:nvPr/>
        </p:nvPicPr>
        <p:blipFill>
          <a:blip r:embed="rId1"/>
          <a:stretch/>
        </p:blipFill>
        <p:spPr>
          <a:xfrm>
            <a:off x="2167560" y="1298520"/>
            <a:ext cx="7855920" cy="2183040"/>
          </a:xfrm>
          <a:prstGeom prst="rect">
            <a:avLst/>
          </a:prstGeom>
          <a:ln w="0">
            <a:noFill/>
          </a:ln>
        </p:spPr>
      </p:pic>
      <p:sp>
        <p:nvSpPr>
          <p:cNvPr id="119" name="TextBox 4"/>
          <p:cNvSpPr/>
          <p:nvPr/>
        </p:nvSpPr>
        <p:spPr>
          <a:xfrm>
            <a:off x="411480" y="3500640"/>
            <a:ext cx="1136808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endParaRPr b="0" lang="en-US" sz="1000" spc="-1" strike="noStrike">
              <a:solidFill>
                <a:srgbClr val="000000"/>
              </a:solidFill>
              <a:latin typeface="Arial"/>
            </a:endParaRPr>
          </a:p>
        </p:txBody>
      </p:sp>
      <p:sp>
        <p:nvSpPr>
          <p:cNvPr id="120" name="TextBox 5"/>
          <p:cNvSpPr/>
          <p:nvPr/>
        </p:nvSpPr>
        <p:spPr>
          <a:xfrm>
            <a:off x="411480" y="409644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On the flat the two images are complementary (dark center on A, bright on B: the dimple's sign); on the working surface each carries the surface's structure, and their per-pixel combination gives the phase with no branch choice and no stepping.</a:t>
            </a:r>
            <a:endParaRPr b="0" lang="en-US" sz="1500" spc="-1" strike="noStrike">
              <a:solidFill>
                <a:srgbClr val="000000"/>
              </a:solidFill>
              <a:latin typeface="Arial"/>
            </a:endParaRPr>
          </a:p>
        </p:txBody>
      </p:sp>
      <p:sp>
        <p:nvSpPr>
          <p:cNvPr id="121" name="TextBox 6"/>
          <p:cNvSpPr/>
          <p:nvPr/>
        </p:nvSpPr>
        <p:spPr>
          <a:xfrm>
            <a:off x="411480" y="501624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25 pm is the raw absolute map's error on a 30 nm surface with the flat's calibration; on the same surface the calibrated reading is 0.9935 / 4 pm.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a stepped pinhole with a shutter frame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best common-path form: a 5.3 µm pinhole with an attenuated surround at the focus, five phase steps of the substrate, plus one pinhole-only frame per state that keeps the calibration honest far from null</a:t>
            </a:r>
            <a:endParaRPr b="0" lang="en-US" sz="1250" spc="-1" strike="noStrike">
              <a:solidFill>
                <a:srgbClr val="000000"/>
              </a:solidFill>
              <a:latin typeface="Arial"/>
            </a:endParaRPr>
          </a:p>
        </p:txBody>
      </p:sp>
      <p:sp>
        <p:nvSpPr>
          <p:cNvPr id="123"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24" name="TextBox 3"/>
          <p:cNvSpPr/>
          <p:nvPr/>
        </p:nvSpPr>
        <p:spPr>
          <a:xfrm>
            <a:off x="411480" y="1298520"/>
            <a:ext cx="5805720" cy="2696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0.9935 / 4 pm / SNR 2790; 1 nm on 47 sites 0.9992 / 3 pm; dense 10 nm 0.9985, 338 pm.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2.3e12 photons per cycle noise only, 7.0e12 under the walk; no fixed error.  The shutter frame is what lets it read to 480 nm of surface (next slides).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Not yet modeled: how the phase is stepped.  These results step the surround's phase by an ideal increment ("magic"), with a step-error knob only.  The photonic phase shifter of the two-arm form, and the stage or etched steps of this one, have no device physics yet: coupling, loss, drift.</a:t>
            </a:r>
            <a:endParaRPr b="0" lang="en-US" sz="1200" spc="-1" strike="noStrike">
              <a:solidFill>
                <a:srgbClr val="000000"/>
              </a:solidFill>
              <a:latin typeface="Arial"/>
            </a:endParaRPr>
          </a:p>
        </p:txBody>
      </p:sp>
      <p:graphicFrame>
        <p:nvGraphicFramePr>
          <p:cNvPr id="125" name="Table 4"/>
          <p:cNvGraphicFramePr/>
          <p:nvPr/>
        </p:nvGraphicFramePr>
        <p:xfrm>
          <a:off x="6400800" y="1298520"/>
          <a:ext cx="5394240" cy="1999440"/>
        </p:xfrm>
        <a:graphic>
          <a:graphicData uri="http://schemas.openxmlformats.org/drawingml/2006/table">
            <a:tbl>
              <a:tblPr/>
              <a:tblGrid>
                <a:gridCol w="1141200"/>
                <a:gridCol w="4253400"/>
              </a:tblGrid>
              <a:tr h="434160">
                <a:tc>
                  <a:txBody>
                    <a:bodyPr lIns="54720" rIns="5472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pinhole substrate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fused silica, 2-3 mm, in the mask seat; pinhole 5.27 µm (2.0 λF/D at F/4.2), clear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surround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attenuated to 0.72 in amplitude (0.52 in power), phase-stepped on a stage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shutter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over the surround: one pinhole-only frame per state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6: the five-step scan plus the shutter frame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26" name="TextBox 5"/>
          <p:cNvSpPr/>
          <p:nvPr/>
        </p:nvSpPr>
        <p:spPr>
          <a:xfrm>
            <a:off x="6400800" y="3444840"/>
            <a:ext cx="539424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focuser to the camera, with the pinhole substrate at the internal focus</a:t>
            </a:r>
            <a:endParaRPr b="0" lang="en-US" sz="1250" spc="-1" strike="noStrike">
              <a:solidFill>
                <a:srgbClr val="000000"/>
              </a:solidFill>
              <a:latin typeface="Arial"/>
            </a:endParaRPr>
          </a:p>
        </p:txBody>
      </p:sp>
      <p:sp>
        <p:nvSpPr>
          <p:cNvPr id="128"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29" name="Picture 3" descr="crop_pdi_layout_tail.png"/>
          <p:cNvPicPr/>
          <p:nvPr/>
        </p:nvPicPr>
        <p:blipFill>
          <a:blip r:embed="rId1"/>
          <a:stretch/>
        </p:blipFill>
        <p:spPr>
          <a:xfrm>
            <a:off x="1821240" y="1298520"/>
            <a:ext cx="8548560" cy="3811320"/>
          </a:xfrm>
          <a:prstGeom prst="rect">
            <a:avLst/>
          </a:prstGeom>
          <a:ln w="0">
            <a:noFill/>
          </a:ln>
        </p:spPr>
      </p:pic>
      <p:sp>
        <p:nvSpPr>
          <p:cNvPr id="130" name="TextBox 4"/>
          <p:cNvSpPr/>
          <p:nvPr/>
        </p:nvSpPr>
        <p:spPr>
          <a:xfrm>
            <a:off x="411480" y="5128920"/>
            <a:ext cx="1136808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endParaRPr b="0" lang="en-US" sz="1000" spc="-1" strike="noStrike">
              <a:solidFill>
                <a:srgbClr val="000000"/>
              </a:solidFill>
              <a:latin typeface="Arial"/>
            </a:endParaRPr>
          </a:p>
        </p:txBody>
      </p:sp>
      <p:sp>
        <p:nvSpPr>
          <p:cNvPr id="131" name="TextBox 5"/>
          <p:cNvSpPr/>
          <p:nvPr/>
        </p:nvSpPr>
        <p:spPr>
          <a:xfrm>
            <a:off x="411480" y="555948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Stepped pinhole,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passes the core as the reference, the attenuated surround passes the rest; the first step frame and the shutter frame; a raw map within 0.18 nm of the engine's field on the working surface</a:t>
            </a:r>
            <a:endParaRPr b="0" lang="en-US" sz="1250" spc="-1" strike="noStrike">
              <a:solidFill>
                <a:srgbClr val="000000"/>
              </a:solidFill>
              <a:latin typeface="Arial"/>
            </a:endParaRPr>
          </a:p>
        </p:txBody>
      </p:sp>
      <p:sp>
        <p:nvSpPr>
          <p:cNvPr id="133"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34" name="Picture 3" descr="stations193_stations_P.png"/>
          <p:cNvPicPr/>
          <p:nvPr/>
        </p:nvPicPr>
        <p:blipFill>
          <a:blip r:embed="rId1"/>
          <a:stretch/>
        </p:blipFill>
        <p:spPr>
          <a:xfrm>
            <a:off x="2162160" y="1298520"/>
            <a:ext cx="7866720" cy="2183040"/>
          </a:xfrm>
          <a:prstGeom prst="rect">
            <a:avLst/>
          </a:prstGeom>
          <a:ln w="0">
            <a:noFill/>
          </a:ln>
        </p:spPr>
      </p:pic>
      <p:sp>
        <p:nvSpPr>
          <p:cNvPr id="135" name="TextBox 4"/>
          <p:cNvSpPr/>
          <p:nvPr/>
        </p:nvSpPr>
        <p:spPr>
          <a:xfrm>
            <a:off x="411480" y="3500640"/>
            <a:ext cx="1136808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endParaRPr b="0" lang="en-US" sz="1000" spc="-1" strike="noStrike">
              <a:solidFill>
                <a:srgbClr val="000000"/>
              </a:solidFill>
              <a:latin typeface="Arial"/>
            </a:endParaRPr>
          </a:p>
        </p:txBody>
      </p:sp>
      <p:sp>
        <p:nvSpPr>
          <p:cNvPr id="136" name="TextBox 5"/>
          <p:cNvSpPr/>
          <p:nvPr/>
        </p:nvSpPr>
        <p:spPr>
          <a:xfrm>
            <a:off x="411480" y="409644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shutter frame measures the reference by itself, state by state; that is what lets this reading keep its calibration to 480 nm of surface where the dimple's self-reference collapses at 60.</a:t>
            </a:r>
            <a:endParaRPr b="0" lang="en-US" sz="1500" spc="-1" strike="noStrike">
              <a:solidFill>
                <a:srgbClr val="000000"/>
              </a:solidFill>
              <a:latin typeface="Arial"/>
            </a:endParaRPr>
          </a:p>
        </p:txBody>
      </p:sp>
      <p:sp>
        <p:nvSpPr>
          <p:cNvPr id="137" name="TextBox 6"/>
          <p:cNvSpPr/>
          <p:nvPr/>
        </p:nvSpPr>
        <p:spPr>
          <a:xfrm>
            <a:off x="411480" y="476856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0.18 nm is the raw map's error with the flat's calibration; through the matrix on the surface the pinhole reads 0.9935 / 4 pm, the same as the vector dimple.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Performance side by side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reading on the same 30 nm working surface, the response matrix measured on it: the four best readings are within 1% of each other and within 2 pm on the floor</a:t>
            </a:r>
            <a:endParaRPr b="0" lang="en-US" sz="1250" spc="-1" strike="noStrike">
              <a:solidFill>
                <a:srgbClr val="000000"/>
              </a:solidFill>
              <a:latin typeface="Arial"/>
            </a:endParaRPr>
          </a:p>
        </p:txBody>
      </p:sp>
      <p:sp>
        <p:nvSpPr>
          <p:cNvPr id="13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0" name="Table 3"/>
          <p:cNvGraphicFramePr/>
          <p:nvPr/>
        </p:nvGraphicFramePr>
        <p:xfrm>
          <a:off x="411480" y="1298520"/>
          <a:ext cx="11367360" cy="2517480"/>
        </p:xfrm>
        <a:graphic>
          <a:graphicData uri="http://schemas.openxmlformats.org/drawingml/2006/table">
            <a:tbl>
              <a:tblPr/>
              <a:tblGrid>
                <a:gridCol w="2694600"/>
                <a:gridCol w="3452400"/>
                <a:gridCol w="2526120"/>
                <a:gridCol w="2694600"/>
              </a:tblGrid>
              <a:tr h="279720">
                <a:tc>
                  <a:txBody>
                    <a:bodyPr lIns="54720" rIns="54720" anchor="t">
                      <a:noAutofit/>
                    </a:bodyPr>
                    <a:p>
                      <a:pPr defTabSz="457200">
                        <a:lnSpc>
                          <a:spcPct val="100000"/>
                        </a:lnSpc>
                      </a:pPr>
                      <a:r>
                        <a:rPr b="1" lang="en-US" sz="1100" spc="-1" strike="noStrike">
                          <a:solidFill>
                            <a:srgbClr val="ffffff"/>
                          </a:solidFill>
                          <a:latin typeface="Arial"/>
                        </a:rPr>
                        <a:t>reading (frames per measurement)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10 nm on one actuator: gain / floor / SNR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1 nm on 47 sites: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dense random 10 nm: gain /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lens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0.991 / 2 pm / 6076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0.990 / 1 pm (52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0.990 / 168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mirror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0.996 / 2 pm / 5301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0.958 / 1 pm (52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0.950 / 2.1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linear one frame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1.04 / 21 pm / 492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1.05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1.04 / 4.7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exact one frame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0.78 / 74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0.90 / 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0.86 / 5.2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stepped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0.989 / 5 pm / 2160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0.999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0.984 / 0.68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 (2)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0.9935 / 4 pm / 2830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0.9992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0.9999 / 0.33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stepped pinhole (6)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0.9935 / 4 pm / 2790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0.9992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0.9985 / 338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P/SRI, reference arm traced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0.9935 / 2 pm / 4895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0.9924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0.9926 / 144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41" name="TextBox 4"/>
          <p:cNvSpPr/>
          <p:nvPr/>
        </p:nvSpPr>
        <p:spPr>
          <a:xfrm>
            <a:off x="411480" y="3965040"/>
            <a:ext cx="11368080" cy="1080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one-frame Zernike readings lose: the linear one is biased 4-5% and floors at 21 pm; the exact one-frame reading misreads the sign past the quarter-wave fold (7.8% of pixels on this surface) and diverges in a servo.</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interferometer's 52-site rows count the sites its pupil lights; the others use 47.  The interferometer's dense-pattern error, 168 pm against 0.33-0.68 nm, is its reference arm: it does not make its reference from the beam.</a:t>
            </a:r>
            <a:endParaRPr b="0" lang="en-US" sz="1500" spc="-1" strike="noStrike">
              <a:solidFill>
                <a:srgbClr val="000000"/>
              </a:solidFill>
              <a:latin typeface="Arial"/>
            </a:endParaRPr>
          </a:p>
        </p:txBody>
      </p:sp>
      <p:sp>
        <p:nvSpPr>
          <p:cNvPr id="142" name="TextBox 5"/>
          <p:cNvSpPr/>
          <p:nvPr/>
        </p:nvSpPr>
        <p:spPr>
          <a:xfrm>
            <a:off x="411480" y="5272560"/>
            <a:ext cx="1136808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how far from null each reading works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endParaRPr b="0" lang="en-US" sz="1250" spc="-1" strike="noStrike">
              <a:solidFill>
                <a:srgbClr val="000000"/>
              </a:solidFill>
              <a:latin typeface="Arial"/>
            </a:endParaRPr>
          </a:p>
        </p:txBody>
      </p:sp>
      <p:sp>
        <p:nvSpPr>
          <p:cNvPr id="144"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5" name="Table 3"/>
          <p:cNvGraphicFramePr/>
          <p:nvPr/>
        </p:nvGraphicFramePr>
        <p:xfrm>
          <a:off x="411480" y="1298520"/>
          <a:ext cx="5805720" cy="2706120"/>
        </p:xfrm>
        <a:graphic>
          <a:graphicData uri="http://schemas.openxmlformats.org/drawingml/2006/table">
            <a:tbl>
              <a:tblPr/>
              <a:tblGrid>
                <a:gridCol w="1912680"/>
                <a:gridCol w="3893400"/>
              </a:tblGrid>
              <a:tr h="279720">
                <a:tc>
                  <a:txBody>
                    <a:bodyPr lIns="54720" rIns="5472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range to 10%, calibration aging from 30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exact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44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pinhole, no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70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pinhole with a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480 nm and beyond (1.02 / 1.06 / 1.13 at 120 / 240 / 480)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480 nm and beyond (within 1% at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322 nm single site; 480 and beyond on the grid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46" name="TextBox 4"/>
          <p:cNvSpPr/>
          <p:nvPr/>
        </p:nvSpPr>
        <p:spPr>
          <a:xfrm>
            <a:off x="6400800" y="1298520"/>
            <a:ext cx="5394240" cy="170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Why the sensors age: their reference is made from the beam's own core, and the core changes with the surface.  Past 100 nm rms (2 rad of phase) the core collapses and the reading goes blind.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shutter frame fixes the pinhole's version of this: measuring the reference by itself each state removes the surface dependence, for one more frame.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Re-measuring the matrix on the surface restores every reading's gain to within 5% at 60-160 nm — at a photon price (next slide).</a:t>
            </a:r>
            <a:endParaRPr b="0" lang="en-US" sz="1200" spc="-1" strike="noStrike">
              <a:solidFill>
                <a:srgbClr val="000000"/>
              </a:solidFill>
              <a:latin typeface="Arial"/>
            </a:endParaRPr>
          </a:p>
        </p:txBody>
      </p:sp>
      <p:sp>
        <p:nvSpPr>
          <p:cNvPr id="147" name="TextBox 5"/>
          <p:cNvSpPr/>
          <p:nvPr/>
        </p:nvSpPr>
        <p:spPr>
          <a:xfrm>
            <a:off x="6400800" y="334044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 cap385p, pdi193state, lens_deck, oap_deck; 385 pixels per pupil, 47 sites (52 for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second half: the photon price of working off null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matrix re-measured on the surface holds the gain; the light for 1 pm then rises 5-40× for the self-referenced sensors and not at all for the P/SRI</a:t>
            </a:r>
            <a:endParaRPr b="0" lang="en-US" sz="1250" spc="-1" strike="noStrike">
              <a:solidFill>
                <a:srgbClr val="000000"/>
              </a:solidFill>
              <a:latin typeface="Arial"/>
            </a:endParaRPr>
          </a:p>
        </p:txBody>
      </p:sp>
      <p:sp>
        <p:nvSpPr>
          <p:cNvPr id="14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0" name="Table 3"/>
          <p:cNvGraphicFramePr/>
          <p:nvPr/>
        </p:nvGraphicFramePr>
        <p:xfrm>
          <a:off x="411480" y="1298520"/>
          <a:ext cx="11367720" cy="2426400"/>
        </p:xfrm>
        <a:graphic>
          <a:graphicData uri="http://schemas.openxmlformats.org/drawingml/2006/table">
            <a:tbl>
              <a:tblPr/>
              <a:tblGrid>
                <a:gridCol w="2034720"/>
                <a:gridCol w="5293440"/>
                <a:gridCol w="4039920"/>
              </a:tblGrid>
              <a:tr h="468360">
                <a:tc>
                  <a:txBody>
                    <a:bodyPr lIns="54720" rIns="5472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1 nm on 47 sites, matrix re-measured at 60 / 90 / 120 / 160 nm: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photons per measurement for 1 pm at 30 / 60 / 120 / 160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0.96 / 25, 0.95 / 21, 0.96 / 17, 0.97 / 13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9.2e13, 1.8e14, 6.2e14, 4.6e14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0.93 / 59, 0.96 / 29, 0.97 / 22, 0.97 / 20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8.8e13, then 1e15 class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1.00 / 3, 0.96 / 47, 0.97 / 23, 0.97 / 21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6.1e13, 1.1e14, 2.2e15, 2.4e15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1.00 / 3, 0.96 / 41, 0.97 / 19, 0.97 / 17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9.8e13, 1.7e14, tens of times more at 120-160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1.000 / 3, 1.001 / 2, 1.001 / 2, 1.002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3.7e14, 4.1e14, 6.6e14, 3.7e14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 / 1 pm, correlation 0.9999, flat to 160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2.5e14, stable to 160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0.958, correlation 0.980 to 160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6.2e14, stable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1" name="TextBox 4"/>
          <p:cNvSpPr/>
          <p:nvPr/>
        </p:nvSpPr>
        <p:spPr>
          <a:xfrm>
            <a:off x="411480" y="3873600"/>
            <a:ext cx="113680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What this says: off null, a self-referenced sensor keeps its accuracy through recalibration but pays in light (2e15 photons is 0.8 mJ, 3 s of a 1 mW laser); the two-arm instruments pay nothing because their reference does not move with the surface.</a:t>
            </a:r>
            <a:endParaRPr b="0" lang="en-US" sz="1500" spc="-1" strike="noStrike">
              <a:solidFill>
                <a:srgbClr val="000000"/>
              </a:solidFill>
              <a:latin typeface="Arial"/>
            </a:endParaRPr>
          </a:p>
        </p:txBody>
      </p:sp>
      <p:sp>
        <p:nvSpPr>
          <p:cNvPr id="152" name="TextBox 5"/>
          <p:cNvSpPr/>
          <p:nvPr/>
        </p:nvSpPr>
        <p:spPr>
          <a:xfrm>
            <a:off x="411480" y="479340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cap385_b60-b160, cap385p_b60-b160, noise193_b30-b160, noise193p_b30-b160, lens_deck, oap_deck.  Photons are per measurement, all frames summed,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Photons for 1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flat calibration the sensors need 3-6e13 photons per measurement and the interferometer 1.4-2.5e14; on the working surface the sensors' cost roughly doubles and the two-arm instruments' does not</a:t>
            </a:r>
            <a:endParaRPr b="0" lang="en-US" sz="1250" spc="-1" strike="noStrike">
              <a:solidFill>
                <a:srgbClr val="000000"/>
              </a:solidFill>
              <a:latin typeface="Arial"/>
            </a:endParaRPr>
          </a:p>
        </p:txBody>
      </p:sp>
      <p:sp>
        <p:nvSpPr>
          <p:cNvPr id="154"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5" name="Table 3"/>
          <p:cNvGraphicFramePr/>
          <p:nvPr/>
        </p:nvGraphicFramePr>
        <p:xfrm>
          <a:off x="411480" y="1298520"/>
          <a:ext cx="5805360" cy="2803680"/>
        </p:xfrm>
        <a:graphic>
          <a:graphicData uri="http://schemas.openxmlformats.org/drawingml/2006/table">
            <a:tbl>
              <a:tblPr/>
              <a:tblGrid>
                <a:gridCol w="1695960"/>
                <a:gridCol w="1891800"/>
                <a:gridCol w="2217960"/>
              </a:tblGrid>
              <a:tr h="468360">
                <a:tc>
                  <a:txBody>
                    <a:bodyPr lIns="54720" rIns="5472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photons for 1 pm, flat matrix</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on the 30 nm surface, matrix on it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4.7e13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6.1e13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8.8e13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5.4e13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9.2e13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3.7e14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1.4e14 (servo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4.9e14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6.2e14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56" name="Picture 4" descr="zwfs_rec193full_noise.png"/>
          <p:cNvPicPr/>
          <p:nvPr/>
        </p:nvPicPr>
        <p:blipFill>
          <a:blip r:embed="rId1"/>
          <a:stretch/>
        </p:blipFill>
        <p:spPr>
          <a:xfrm>
            <a:off x="7845840" y="1298520"/>
            <a:ext cx="2504160" cy="1982520"/>
          </a:xfrm>
          <a:prstGeom prst="rect">
            <a:avLst/>
          </a:prstGeom>
          <a:ln w="0">
            <a:noFill/>
          </a:ln>
        </p:spPr>
      </p:pic>
      <p:sp>
        <p:nvSpPr>
          <p:cNvPr id="157" name="TextBox 5"/>
          <p:cNvSpPr/>
          <p:nvPr/>
        </p:nvSpPr>
        <p:spPr>
          <a:xfrm>
            <a:off x="6400800" y="3300120"/>
            <a:ext cx="53942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Noise on a single-actuator estimate against photons per measurement, per Zernike reading, with the 1 pm line: the runner's own figure.</a:t>
            </a:r>
            <a:endParaRPr b="0" lang="en-US" sz="1000" spc="-1" strike="noStrike">
              <a:solidFill>
                <a:srgbClr val="000000"/>
              </a:solidFill>
              <a:latin typeface="Arial"/>
            </a:endParaRPr>
          </a:p>
        </p:txBody>
      </p:sp>
      <p:sp>
        <p:nvSpPr>
          <p:cNvPr id="158" name="TextBox 6"/>
          <p:cNvSpPr/>
          <p:nvPr/>
        </p:nvSpPr>
        <p:spPr>
          <a:xfrm>
            <a:off x="6400800" y="3730680"/>
            <a:ext cx="539424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servo: holding 3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In closed loop at gain 0.5 the vector Zernike holds 3 pm from 1.5e12 photons per cycle, the pinhole and stepped Zernike from 2.3-2.6e12, the interferometer from 5.5e12 — and the sensors carry no fixed error</a:t>
            </a:r>
            <a:endParaRPr b="0" lang="en-US" sz="1250" spc="-1" strike="noStrike">
              <a:solidFill>
                <a:srgbClr val="000000"/>
              </a:solidFill>
              <a:latin typeface="Arial"/>
            </a:endParaRPr>
          </a:p>
        </p:txBody>
      </p:sp>
      <p:sp>
        <p:nvSpPr>
          <p:cNvPr id="160"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1" name="Table 3"/>
          <p:cNvGraphicFramePr/>
          <p:nvPr/>
        </p:nvGraphicFramePr>
        <p:xfrm>
          <a:off x="411480" y="1298520"/>
          <a:ext cx="5805360" cy="3496320"/>
        </p:xfrm>
        <a:graphic>
          <a:graphicData uri="http://schemas.openxmlformats.org/drawingml/2006/table">
            <a:tbl>
              <a:tblPr/>
              <a:tblGrid>
                <a:gridCol w="1063080"/>
                <a:gridCol w="654120"/>
                <a:gridCol w="1308240"/>
                <a:gridCol w="1349280"/>
                <a:gridCol w="1431000"/>
              </a:tblGrid>
              <a:tr h="468360">
                <a:tc>
                  <a:txBody>
                    <a:bodyPr lIns="54720" rIns="5472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3 pm, noise only</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3 pm under a 2 pm per-cycle walk</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floor under a 5 pm per-cycle ramp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noiseless 1 nm step after 60 cycles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5.3e12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2.3e12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7.0e12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2.6e12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7.5e12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7.3e12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27.6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1.2 pm, still falling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1.5e13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13.1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87 pm (8.6%), rising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never (4.1 pm floor)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276 pm (27.6%)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62" name="Picture 4" descr="crop_zwfs_vloop193_right.png"/>
          <p:cNvPicPr/>
          <p:nvPr/>
        </p:nvPicPr>
        <p:blipFill>
          <a:blip r:embed="rId1"/>
          <a:stretch/>
        </p:blipFill>
        <p:spPr>
          <a:xfrm>
            <a:off x="8074080" y="1298520"/>
            <a:ext cx="2048040" cy="1725840"/>
          </a:xfrm>
          <a:prstGeom prst="rect">
            <a:avLst/>
          </a:prstGeom>
          <a:ln w="0">
            <a:noFill/>
          </a:ln>
        </p:spPr>
      </p:pic>
      <p:sp>
        <p:nvSpPr>
          <p:cNvPr id="163" name="TextBox 5"/>
          <p:cNvSpPr/>
          <p:nvPr/>
        </p:nvSpPr>
        <p:spPr>
          <a:xfrm>
            <a:off x="6400800" y="3043440"/>
            <a:ext cx="53942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Steady-state hold error against photons per cycle for the stepped (green) and vector (purple) Zernike readings, with no drift, a 2 pm walk, and a 5 pm ramp: the runner's own figure.</a:t>
            </a:r>
            <a:endParaRPr b="0" lang="en-US" sz="1000" spc="-1" strike="noStrike">
              <a:solidFill>
                <a:srgbClr val="000000"/>
              </a:solidFill>
              <a:latin typeface="Arial"/>
            </a:endParaRPr>
          </a:p>
        </p:txBody>
      </p:sp>
      <p:sp>
        <p:nvSpPr>
          <p:cNvPr id="164" name="TextBox 6"/>
          <p:cNvSpPr/>
          <p:nvPr/>
        </p:nvSpPr>
        <p:spPr>
          <a:xfrm>
            <a:off x="6400800" y="3639240"/>
            <a:ext cx="539424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Capturing the initial figure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endParaRPr b="0" lang="en-US" sz="1250" spc="-1" strike="noStrike">
              <a:solidFill>
                <a:srgbClr val="000000"/>
              </a:solidFill>
              <a:latin typeface="Arial"/>
            </a:endParaRPr>
          </a:p>
        </p:txBody>
      </p:sp>
      <p:sp>
        <p:nvSpPr>
          <p:cNvPr id="166"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7" name="Table 3"/>
          <p:cNvGraphicFramePr/>
          <p:nvPr/>
        </p:nvGraphicFramePr>
        <p:xfrm>
          <a:off x="411480" y="1298520"/>
          <a:ext cx="5805720" cy="3684960"/>
        </p:xfrm>
        <a:graphic>
          <a:graphicData uri="http://schemas.openxmlformats.org/drawingml/2006/table">
            <a:tbl>
              <a:tblPr/>
              <a:tblGrid>
                <a:gridCol w="1324800"/>
                <a:gridCol w="1130040"/>
                <a:gridCol w="3351240"/>
              </a:tblGrid>
              <a:tr h="468360">
                <a:tc>
                  <a:txBody>
                    <a:bodyPr lIns="54720" rIns="5472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largest start brought to 3 pm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what it takes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 stepped,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reading alone; unwrapping changes nothing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stepped pinhole,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stepped pinhole with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100 nm (200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unwrap + re-measure every 10: 0.21 pm at 1e15, 2.1 pm at 1e13, 3 pm by cycle 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unwrap + re-measure: 0.25 pm; ceiling between 100 and 150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300 nm (600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unwrap alone: 3 pm in 16 / 18 / 21 / 25 / 43 cycles from 60 / 100 / 150 / 200 / 300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none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stalls at 5.9 / 24 / 53 nm from 60 / 150 / 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68" name="TextBox 4"/>
          <p:cNvSpPr/>
          <p:nvPr/>
        </p:nvSpPr>
        <p:spPr>
          <a:xfrm>
            <a:off x="6400800" y="1298520"/>
            <a:ext cx="5394240" cy="1888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wrap is not the limit for the self-referenced sensors: past 60 nm their differential comes back at 24-28 nm whatever the truth, with zero residues — the focal reference has collapsed, the reading is blind, not folded.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Unwrapping alone is not enough for the pinhole or the P/SRI: the calibration measured at the start is wrong by the time the surface has moved; re-measuring it every 10 cycles (3 times in the descent) closes the loop.  Cadence is not the constraint; the cycle count 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interferometer needs no recalibration because its reference is the flat, not the beam.</a:t>
            </a:r>
            <a:endParaRPr b="0" lang="en-US" sz="1200" spc="-1" strike="noStrike">
              <a:solidFill>
                <a:srgbClr val="000000"/>
              </a:solidFill>
              <a:latin typeface="Arial"/>
            </a:endParaRPr>
          </a:p>
        </p:txBody>
      </p:sp>
      <p:sp>
        <p:nvSpPr>
          <p:cNvPr id="169" name="TextBox 5"/>
          <p:cNvSpPr/>
          <p:nvPr/>
        </p:nvSpPr>
        <p:spPr>
          <a:xfrm>
            <a:off x="6400800" y="3736800"/>
            <a:ext cx="53942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1e13 and 1e15 photons per cycle give the same convergence: capture is reference-limited, not light-limited.  Run tags cap_nouw, cap_uw, cap_state_uw_recal, descent193, descent_lens, descent_oap.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Lenses or off-axis mirrors: the record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endParaRPr b="0" lang="en-US" sz="1250" spc="-1" strike="noStrike">
              <a:solidFill>
                <a:srgbClr val="000000"/>
              </a:solidFill>
              <a:latin typeface="Arial"/>
            </a:endParaRPr>
          </a:p>
        </p:txBody>
      </p:sp>
      <p:sp>
        <p:nvSpPr>
          <p:cNvPr id="171"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72" name="Table 3"/>
          <p:cNvGraphicFramePr/>
          <p:nvPr/>
        </p:nvGraphicFramePr>
        <p:xfrm>
          <a:off x="411480" y="1298520"/>
          <a:ext cx="5805360" cy="3642840"/>
        </p:xfrm>
        <a:graphic>
          <a:graphicData uri="http://schemas.openxmlformats.org/drawingml/2006/table">
            <a:tbl>
              <a:tblPr/>
              <a:tblGrid>
                <a:gridCol w="2416680"/>
                <a:gridCol w="1163160"/>
                <a:gridCol w="2225880"/>
              </a:tblGrid>
              <a:tr h="468360">
                <a:tc>
                  <a:txBody>
                    <a:bodyPr lIns="54720" rIns="5472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off-axis mirror rig (bare aluminum)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1 nm on 52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0.990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0.958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interferometer,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0.990 / 168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0.950 / 2.1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mode-to-mode cross-talk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below 0.06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about 0.18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servo, 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never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noiseless step, fixed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capture from 60-300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converges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stalls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alignment: 10 µrad tilt of a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95-103 nm of null shift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 stepped, 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0.989 / 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1.000 / 4 pm; 47 sites 0.967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vector Zernike,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19.6 pm: fails its gate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stepped pinhole,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94 pm: fails its gate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73" name="TextBox 4"/>
          <p:cNvSpPr/>
          <p:nvPr/>
        </p:nvSpPr>
        <p:spPr>
          <a:xfrm>
            <a:off x="6400800" y="1298520"/>
            <a:ext cx="539424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it was: the collimator fed 25 mm inside its focus, a 926 µrad residual the fold turns into coma, linear in the angle; the 6.1 mm trim is that error refocused.  Fed at its focus the blur is zero at every fold angle.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Coatings do not rescue it: bare and protected aluminum give the same rows; the retardance variation they add is 0.5 mrad, a floor.</a:t>
            </a:r>
            <a:endParaRPr b="0" lang="en-US" sz="1200" spc="-1" strike="noStrike">
              <a:solidFill>
                <a:srgbClr val="000000"/>
              </a:solidFill>
              <a:latin typeface="Arial"/>
            </a:endParaRPr>
          </a:p>
        </p:txBody>
      </p:sp>
      <p:sp>
        <p:nvSpPr>
          <p:cNvPr id="174" name="TextBox 5"/>
          <p:cNvSpPr/>
          <p:nvPr/>
        </p:nvSpPr>
        <p:spPr>
          <a:xfrm>
            <a:off x="6400800" y="4133160"/>
            <a:ext cx="539424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rows are being re-measured.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reflective front end, redesigned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performance is being measured</a:t>
            </a:r>
            <a:endParaRPr b="0" lang="en-US" sz="1250" spc="-1" strike="noStrike">
              <a:solidFill>
                <a:srgbClr val="000000"/>
              </a:solidFill>
              <a:latin typeface="Arial"/>
            </a:endParaRPr>
          </a:p>
        </p:txBody>
      </p:sp>
      <p:sp>
        <p:nvSpPr>
          <p:cNvPr id="176"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77" name="Picture 3" descr="crop_oapdraw3_train.png"/>
          <p:cNvPicPr/>
          <p:nvPr/>
        </p:nvPicPr>
        <p:blipFill>
          <a:blip r:embed="rId1"/>
          <a:stretch/>
        </p:blipFill>
        <p:spPr>
          <a:xfrm>
            <a:off x="1997640" y="1298520"/>
            <a:ext cx="2633040" cy="2383920"/>
          </a:xfrm>
          <a:prstGeom prst="rect">
            <a:avLst/>
          </a:prstGeom>
          <a:ln w="0">
            <a:noFill/>
          </a:ln>
        </p:spPr>
      </p:pic>
      <p:sp>
        <p:nvSpPr>
          <p:cNvPr id="178" name="TextBox 4"/>
          <p:cNvSpPr/>
          <p:nvPr/>
        </p:nvSpPr>
        <p:spPr>
          <a:xfrm>
            <a:off x="411480" y="3701160"/>
            <a:ext cx="580572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endParaRPr b="0" lang="en-US" sz="1000" spc="-1" strike="noStrike">
              <a:solidFill>
                <a:srgbClr val="000000"/>
              </a:solidFill>
              <a:latin typeface="Arial"/>
            </a:endParaRPr>
          </a:p>
        </p:txBody>
      </p:sp>
      <p:graphicFrame>
        <p:nvGraphicFramePr>
          <p:cNvPr id="179" name="Table 5"/>
          <p:cNvGraphicFramePr/>
          <p:nvPr/>
        </p:nvGraphicFramePr>
        <p:xfrm>
          <a:off x="6400800" y="1298520"/>
          <a:ext cx="5393880" cy="2365560"/>
        </p:xfrm>
        <a:graphic>
          <a:graphicData uri="http://schemas.openxmlformats.org/drawingml/2006/table">
            <a:tbl>
              <a:tblPr/>
              <a:tblGrid>
                <a:gridCol w="1495800"/>
                <a:gridCol w="1586520"/>
                <a:gridCol w="2311920"/>
              </a:tblGrid>
              <a:tr h="262800">
                <a:tc>
                  <a:txBody>
                    <a:bodyPr lIns="54720" rIns="5472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record's mirror rig (7°)</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redesigned (22.5°)</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collimation after the collimator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926 µrad rms (a 28.8 m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blur at the mask seat, best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1.1 λF/D at a 6.1 mm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0.000 λF/D at zero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residual with a flat mirror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12.9 nm after focus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0.029 nm with none (lens rig 0.13 after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clearance, worst part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fails (a plate 10 mm past the pole)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+33.4 mm over 8 parts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rays lost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2-33% by fold angle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80" name="TextBox 6"/>
          <p:cNvSpPr/>
          <p:nvPr/>
        </p:nvSpPr>
        <p:spPr>
          <a:xfrm>
            <a:off x="6400800" y="3708000"/>
            <a:ext cx="539424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"fold coma" was the conjugate error turned into coma by the fold, linear in the angle, not quadratic; at the design point there is nothing left for a smaller fold to recover.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Open: the interferometer's rows, servo and descent, and the three sensors on this rig, are running (TO).  Their numbers replace the record's on the previous slide when they land.</a:t>
            </a:r>
            <a:endParaRPr b="0" lang="en-US" sz="1200" spc="-1" strike="noStrike">
              <a:solidFill>
                <a:srgbClr val="000000"/>
              </a:solidFill>
              <a:latin typeface="Arial"/>
            </a:endParaRPr>
          </a:p>
        </p:txBody>
      </p:sp>
      <p:sp>
        <p:nvSpPr>
          <p:cNvPr id="181" name="TextBox 7"/>
          <p:cNvSpPr/>
          <p:nvPr/>
        </p:nvSpPr>
        <p:spPr>
          <a:xfrm>
            <a:off x="6400800" y="6344280"/>
            <a:ext cx="539424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Off-axis parabolas: OAP1 parent f 757 mm, off-axis 551 mm, 20°; OAP2 parent f 352 mm, off-axis 328 mm, 25°; each on a tip/tilt mount.  Run tags fold1-4, loss, loss_src, conj, zseat, oap22d, oapdraw3, oap22d_tail; tg_psi_dm96_oap/REPORT_reflective.md (TO, 2026-09-15).</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can spoil each reading, priced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systematic we could model is either calibrated by the response matrix measured through the sensor, or shown small; one line per approach</a:t>
            </a:r>
            <a:endParaRPr b="0" lang="en-US" sz="1250" spc="-1" strike="noStrike">
              <a:solidFill>
                <a:srgbClr val="000000"/>
              </a:solidFill>
              <a:latin typeface="Arial"/>
            </a:endParaRPr>
          </a:p>
        </p:txBody>
      </p:sp>
      <p:sp>
        <p:nvSpPr>
          <p:cNvPr id="183"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84" name="Table 3"/>
          <p:cNvGraphicFramePr/>
          <p:nvPr/>
        </p:nvGraphicFramePr>
        <p:xfrm>
          <a:off x="411480" y="1298520"/>
          <a:ext cx="11368080" cy="4963320"/>
        </p:xfrm>
        <a:graphic>
          <a:graphicData uri="http://schemas.openxmlformats.org/drawingml/2006/table">
            <a:tbl>
              <a:tblPr/>
              <a:tblGrid>
                <a:gridCol w="1889640"/>
                <a:gridCol w="2537280"/>
                <a:gridCol w="4404240"/>
                <a:gridCol w="2537280"/>
              </a:tblGrid>
              <a:tr h="468360">
                <a:tc>
                  <a:txBody>
                    <a:bodyPr lIns="54720" rIns="54720" anchor="t">
                      <a:noAutofit/>
                    </a:bodyPr>
                    <a:p>
                      <a:pPr defTabSz="457200">
                        <a:lnSpc>
                          <a:spcPct val="100000"/>
                        </a:lnSpc>
                      </a:pPr>
                      <a:r>
                        <a:rPr b="1" lang="en-US" sz="1100" spc="-1" strike="noStrike">
                          <a:solidFill>
                            <a:srgbClr val="ffffff"/>
                          </a:solidFill>
                          <a:latin typeface="Arial"/>
                        </a:rPr>
                        <a:t>approach</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uncalibrated size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after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piezo step error 2% / 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gain 0.974 / 0.954; floor 2 → 5 / 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common mode in the servo: 5.4e12 vs 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camera 1/f walk, 1e-3 of signal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+13% light for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splitter diattenuation (plate); cube R_p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gain +11.7% (plate); 2.1% (cube, naive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analyzer sweep nulls to 1.00000; symmetric stack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model out of focus (the early model); sampling; color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floor 744 → 67 pm on correction; dimple needs 6 pixels; one etch reads five colors within 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metasurface retardance error 0.1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750 pm on a 12 nm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rows 0.9934 / 4 pm, the ideal numbers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arm's polarization (six tilted glass faces)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 pm on 12 nm;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nothing to 0.1 rad;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analyzer: cube extinction; plate error λ/300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3.5 pm; 165 pm (1.4% of the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gain within 0.7%, floors within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 step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4.9 pm with the five-frame scan (421 pm with four-step least squares)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differential rows error-free to the digit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camera bias drifting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5.3 / 10.7 pm at 1e15 (the linear Zernike: 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its own reference arm walking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 more light over a hundredfold range of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 path change is piston, the mode the estimator nulls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85" name="TextBox 4"/>
          <p:cNvSpPr/>
          <p:nvPr/>
        </p:nvSpPr>
        <p:spPr>
          <a:xfrm>
            <a:off x="411480" y="641124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Nothing is left open on the vector sensor's line.  Run tags lens_deck_se2/se5, loop_lens_cam, tg_psi_dm, tg_psi_dm_v2, v2g, v3arm, an193, pdi193se_sh5, pcam193ri, rw193.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Recommendation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Hold with the vector Zernike sensor; capture with the interferometer, or with the stepped pinhole's shutter frame if a second arm is not wanted; build on lenses; build one bench that switches</a:t>
            </a:r>
            <a:endParaRPr b="0" lang="en-US" sz="1250" spc="-1" strike="noStrike">
              <a:solidFill>
                <a:srgbClr val="000000"/>
              </a:solidFill>
              <a:latin typeface="Arial"/>
            </a:endParaRPr>
          </a:p>
        </p:txBody>
      </p:sp>
      <p:sp>
        <p:nvSpPr>
          <p:cNvPr id="187"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88" name="TextBox 3"/>
          <p:cNvSpPr/>
          <p:nvPr/>
        </p:nvSpPr>
        <p:spPr>
          <a:xfrm>
            <a:off x="411480" y="1298520"/>
            <a:ext cx="580572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Front end: lenses on the record; the redesigned mirror rig (fed at its focus, 22.5°) removes what walled the servo and broke the pinhole, and its rows are running.  If they match the lens rig's, the mirrors are the budget choice with no penalty.</a:t>
            </a:r>
            <a:endParaRPr b="0" lang="en-US" sz="1200" spc="-1" strike="noStrike">
              <a:solidFill>
                <a:srgbClr val="000000"/>
              </a:solidFill>
              <a:latin typeface="Arial"/>
            </a:endParaRPr>
          </a:p>
        </p:txBody>
      </p:sp>
      <p:sp>
        <p:nvSpPr>
          <p:cNvPr id="189" name="TextBox 4"/>
          <p:cNvSpPr/>
          <p:nvPr/>
        </p:nvSpPr>
        <p:spPr>
          <a:xfrm>
            <a:off x="6400800" y="1298520"/>
            <a:ext cx="539424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the numbers do not decide: the pinhole and the vector dimple tie on the working surface (0.9935 / 4 pm both); the dimple wins the servo by 1.5×, the pinhole wins capture range for one extra frame.  A bench that carries both costs one substrate.</a:t>
            </a:r>
            <a:endParaRPr b="0" lang="en-US" sz="1200" spc="-1" strike="noStrike">
              <a:solidFill>
                <a:srgbClr val="000000"/>
              </a:solidFill>
              <a:latin typeface="Arial"/>
            </a:endParaRPr>
          </a:p>
        </p:txBody>
      </p:sp>
      <p:sp>
        <p:nvSpPr>
          <p:cNvPr id="190" name="TextBox 5"/>
          <p:cNvSpPr/>
          <p:nvPr/>
        </p:nvSpPr>
        <p:spPr>
          <a:xfrm>
            <a:off x="6400800" y="3398400"/>
            <a:ext cx="53942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Draft stance approved 2026-09-13; the wording is for review.</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modes, from launch to hold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Four operating modes and what carries the surface between them: the ground flat, the loop's own phase retrieval, capture, and the servo hold, with recalibration events</a:t>
            </a:r>
            <a:endParaRPr b="0" lang="en-US" sz="1250" spc="-1" strike="noStrike">
              <a:solidFill>
                <a:srgbClr val="000000"/>
              </a:solidFill>
              <a:latin typeface="Arial"/>
            </a:endParaRPr>
          </a:p>
        </p:txBody>
      </p:sp>
      <p:sp>
        <p:nvSpPr>
          <p:cNvPr id="192"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93" name="Picture 3" descr="gauge_modes_flow.png"/>
          <p:cNvPicPr/>
          <p:nvPr/>
        </p:nvPicPr>
        <p:blipFill>
          <a:blip r:embed="rId1"/>
          <a:stretch/>
        </p:blipFill>
        <p:spPr>
          <a:xfrm>
            <a:off x="2516400" y="1298520"/>
            <a:ext cx="7158240" cy="3976560"/>
          </a:xfrm>
          <a:prstGeom prst="rect">
            <a:avLst/>
          </a:prstGeom>
          <a:ln w="0">
            <a:noFill/>
          </a:ln>
        </p:spPr>
      </p:pic>
      <p:sp>
        <p:nvSpPr>
          <p:cNvPr id="194" name="TextBox 4"/>
          <p:cNvSpPr/>
          <p:nvPr/>
        </p:nvSpPr>
        <p:spPr>
          <a:xfrm>
            <a:off x="411480" y="5293800"/>
            <a:ext cx="1136808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operating modes as a flow: ground flat, image-based phase retrieval, capture, closed-loop hold; the readings' capture limits under the capture box; recalibration events above.</a:t>
            </a:r>
            <a:endParaRPr b="0" lang="en-US" sz="1000" spc="-1" strike="noStrike">
              <a:solidFill>
                <a:srgbClr val="000000"/>
              </a:solidFill>
              <a:latin typeface="Arial"/>
            </a:endParaRPr>
          </a:p>
        </p:txBody>
      </p:sp>
      <p:sp>
        <p:nvSpPr>
          <p:cNvPr id="195" name="TextBox 5"/>
          <p:cNvSpPr/>
          <p:nvPr/>
        </p:nvSpPr>
        <p:spPr>
          <a:xfrm>
            <a:off x="411480" y="555948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loop's own focal-plane phase retrieval wraps at half a wave of high-spatial-frequency wavefront, one wave before the gauges do; its reach sets what capture must cover.  Drawn by gauge_modes_flow.m.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complex amplitude, for two-mirror control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approach but the one-frame Zernike readings returns the pupil field's amplitude as well as its phase from frames it already takes; no separate camera is needed</a:t>
            </a:r>
            <a:endParaRPr b="0" lang="en-US" sz="1250" spc="-1" strike="noStrike">
              <a:solidFill>
                <a:srgbClr val="000000"/>
              </a:solidFill>
              <a:latin typeface="Arial"/>
            </a:endParaRPr>
          </a:p>
        </p:txBody>
      </p:sp>
      <p:sp>
        <p:nvSpPr>
          <p:cNvPr id="197"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8" name="Table 3"/>
          <p:cNvGraphicFramePr/>
          <p:nvPr/>
        </p:nvGraphicFramePr>
        <p:xfrm>
          <a:off x="411480" y="1298520"/>
          <a:ext cx="5805360" cy="2810160"/>
        </p:xfrm>
        <a:graphic>
          <a:graphicData uri="http://schemas.openxmlformats.org/drawingml/2006/table">
            <a:tbl>
              <a:tblPr/>
              <a:tblGrid>
                <a:gridCol w="908640"/>
                <a:gridCol w="1514520"/>
                <a:gridCol w="3382560"/>
              </a:tblGrid>
              <a:tr h="468360">
                <a:tc>
                  <a:txBody>
                    <a:bodyPr lIns="54720" rIns="5472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99" name="TextBox 4"/>
          <p:cNvSpPr/>
          <p:nvPr/>
        </p:nvSpPr>
        <p:spPr>
          <a:xfrm>
            <a:off x="6400800" y="1298520"/>
            <a:ext cx="539424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vector pair alone cannot: its two images fix the field only up to a mirror image about the reference wave, and at gauge-level phases (a 100 nm poke is 1.9 rad) the true field crosses that line.  Solving both from the pair diverges.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pair plus the state's clear frame reads both exactly: through a 5% and a 20% dip in pupil amplitude the phase comes back at 0.02 and 0.13 pm, where the phase-only solve misreads by 237 and 952 pm; the hold rows are unchanged to the digit.  Three frames.</a:t>
            </a:r>
            <a:endParaRPr b="0" lang="en-US" sz="1200" spc="-1" strike="noStrike">
              <a:solidFill>
                <a:srgbClr val="000000"/>
              </a:solidFill>
              <a:latin typeface="Arial"/>
            </a:endParaRPr>
          </a:p>
        </p:txBody>
      </p:sp>
      <p:sp>
        <p:nvSpPr>
          <p:cNvPr id="200" name="TextBox 5"/>
          <p:cNvSpPr/>
          <p:nvPr/>
        </p:nvSpPr>
        <p:spPr>
          <a:xfrm>
            <a:off x="6400800" y="320040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On orbit with starlight, the field's amplitude is what the second mirror's control needs.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every mode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Nothing is realigned: the mask seat translates, the reference arm is shuttered, the quarter-wave plate goes in or out, and the P/SRI arm sits behind a flip-in plate</a:t>
            </a:r>
            <a:endParaRPr b="0" lang="en-US" sz="1250" spc="-1" strike="noStrike">
              <a:solidFill>
                <a:srgbClr val="000000"/>
              </a:solidFill>
              <a:latin typeface="Arial"/>
            </a:endParaRPr>
          </a:p>
        </p:txBody>
      </p:sp>
      <p:sp>
        <p:nvSpPr>
          <p:cNvPr id="202"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03" name="Picture 3" descr="gauge_one_bench.png"/>
          <p:cNvPicPr/>
          <p:nvPr/>
        </p:nvPicPr>
        <p:blipFill>
          <a:blip r:embed="rId1"/>
          <a:stretch/>
        </p:blipFill>
        <p:spPr>
          <a:xfrm>
            <a:off x="2829600" y="1298520"/>
            <a:ext cx="6531840" cy="3628440"/>
          </a:xfrm>
          <a:prstGeom prst="rect">
            <a:avLst/>
          </a:prstGeom>
          <a:ln w="0">
            <a:noFill/>
          </a:ln>
        </p:spPr>
      </p:pic>
      <p:sp>
        <p:nvSpPr>
          <p:cNvPr id="204" name="TextBox 4"/>
          <p:cNvSpPr/>
          <p:nvPr/>
        </p:nvSpPr>
        <p:spPr>
          <a:xfrm>
            <a:off x="411480" y="4946040"/>
            <a:ext cx="1136808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endParaRPr b="0" lang="en-US" sz="1000" spc="-1" strike="noStrike">
              <a:solidFill>
                <a:srgbClr val="000000"/>
              </a:solidFill>
              <a:latin typeface="Arial"/>
            </a:endParaRPr>
          </a:p>
        </p:txBody>
      </p:sp>
      <p:sp>
        <p:nvSpPr>
          <p:cNvPr id="205" name="TextBox 5"/>
          <p:cNvSpPr/>
          <p:nvPr/>
        </p:nvSpPr>
        <p:spPr>
          <a:xfrm>
            <a:off x="411480" y="537660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capture beyond one wave with a second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Unwrapping works while neighboring pixels differ by less than half a wave; a figure of more than a wave with actuator-scale structure needs a coarse ruler</a:t>
            </a:r>
            <a:endParaRPr b="0" lang="en-US" sz="1250" spc="-1" strike="noStrike">
              <a:solidFill>
                <a:srgbClr val="000000"/>
              </a:solidFill>
              <a:latin typeface="Arial"/>
            </a:endParaRPr>
          </a:p>
        </p:txBody>
      </p:sp>
      <p:sp>
        <p:nvSpPr>
          <p:cNvPr id="207"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08" name="TextBox 3"/>
          <p:cNvSpPr/>
          <p:nvPr/>
        </p:nvSpPr>
        <p:spPr>
          <a:xfrm>
            <a:off x="411480" y="1298520"/>
            <a:ext cx="580572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Where unwrapping stops: at 4 pixels per actuator a 100-200 nm rms actuator pattern is 0.7-1.4 rad per pixel and unwraps; quilting, print-through or a stuck actuator at more than a wave does not.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A second color makes a synthetic wavelength: 632.8 + 700 nm gives 6.6 µm, an unambiguous surface range of 1.6 µm (double pass); 632.8 + 780 nm gives 3.35 µm and 0.84 µm.  The coarse pair captures, the single color holds; the coarse solve is 5-10× noisier.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machinery exists: the runner already traces one physical mask at five colors (the dimple is 1.57 rad at 632.8 nm, 1.42 at 700); the measurement to add is the start ladder with a two-color coarse solve feeding the single-color loop, per reading.</a:t>
            </a:r>
            <a:endParaRPr b="0" lang="en-US" sz="1200" spc="-1" strike="noStrike">
              <a:solidFill>
                <a:srgbClr val="000000"/>
              </a:solidFill>
              <a:latin typeface="Arial"/>
            </a:endParaRPr>
          </a:p>
        </p:txBody>
      </p:sp>
      <p:graphicFrame>
        <p:nvGraphicFramePr>
          <p:cNvPr id="209" name="Table 4"/>
          <p:cNvGraphicFramePr/>
          <p:nvPr/>
        </p:nvGraphicFramePr>
        <p:xfrm>
          <a:off x="6400800" y="1298520"/>
          <a:ext cx="5393880" cy="788400"/>
        </p:xfrm>
        <a:graphic>
          <a:graphicData uri="http://schemas.openxmlformats.org/drawingml/2006/table">
            <a:tbl>
              <a:tblPr/>
              <a:tblGrid>
                <a:gridCol w="1070640"/>
                <a:gridCol w="1803600"/>
                <a:gridCol w="1713600"/>
                <a:gridCol w="806400"/>
              </a:tblGrid>
              <a:tr h="262800">
                <a:tc>
                  <a:txBody>
                    <a:bodyPr lIns="54720" rIns="54720" anchor="t">
                      <a:noAutofit/>
                    </a:bodyPr>
                    <a:p>
                      <a:pPr defTabSz="457200">
                        <a:lnSpc>
                          <a:spcPct val="100000"/>
                        </a:lnSpc>
                      </a:pPr>
                      <a:r>
                        <a:rPr b="1" lang="en-US" sz="1000" spc="-1" strike="noStrike">
                          <a:solidFill>
                            <a:srgbClr val="ffffff"/>
                          </a:solidFill>
                          <a:latin typeface="Arial"/>
                        </a:rPr>
                        <a:t>color pair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synthetic wavelength</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unambiguous surface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noise cost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632.8 + 700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6.6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1.6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anchor="t">
                      <a:noAutofit/>
                    </a:bodyPr>
                    <a:p>
                      <a:pPr defTabSz="457200">
                        <a:lnSpc>
                          <a:spcPct val="100000"/>
                        </a:lnSpc>
                      </a:pPr>
                      <a:r>
                        <a:rPr b="0" lang="en-US" sz="1000" spc="-1" strike="noStrike">
                          <a:solidFill>
                            <a:srgbClr val="282828"/>
                          </a:solidFill>
                          <a:latin typeface="Arial"/>
                        </a:rPr>
                        <a:t>632.8 + 780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3.35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0.84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10" name="TextBox 5"/>
          <p:cNvSpPr/>
          <p:nvPr/>
        </p:nvSpPr>
        <p:spPr>
          <a:xfrm>
            <a:off x="6400800" y="223344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two-color interferometer is the classic form; the same trick applies to the dimple and the pinhole through their color stage.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other approaches worth a look</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Seven candidates, none modeled here, each with one sentence on what it would buy</a:t>
            </a:r>
            <a:endParaRPr b="0" lang="en-US" sz="1250" spc="-1" strike="noStrike">
              <a:solidFill>
                <a:srgbClr val="000000"/>
              </a:solidFill>
              <a:latin typeface="Arial"/>
            </a:endParaRPr>
          </a:p>
        </p:txBody>
      </p:sp>
      <p:sp>
        <p:nvSpPr>
          <p:cNvPr id="212"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13" name="TextBox 3"/>
          <p:cNvSpPr/>
          <p:nvPr/>
        </p:nvSpPr>
        <p:spPr>
          <a:xfrm>
            <a:off x="411480" y="1298520"/>
            <a:ext cx="11368080" cy="3062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Shack-Hartmann or modulated pyramid as the capture stage: many waves of range, no wrap, far from picometers; hands off to the gauge inside its range.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Phase diversity (two defocused pupil images): wide range, common path, iterative; a capture candidate with the existing camera and one translation stage.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White-light scanning in the interferometer: an absolute surface with no wrap, slow; a one-time capture tool.</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A model-based large-figure solve: the mirror's influence functions as the basis of a nonlinear fit to the sensor's frames; the estimator already carries the basis.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Vector Zernike with a polarization camera: one camera instead of the cube and two, at a quarter of the pixels per image.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Heterodyne or lock-in detection: immunity to slow drift and 1/f electronics, for a frequency-shifted reference; the two-arm instruments can carry it, the common-path sensors cannot.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Direct actuator metrology (capacitive, optical): a coarse reference the optical gauge is calibrated against.</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from this model to as-built performance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model today has ideal optics, a perfect camera, photon noise, and mirror and camera drift; five additions, in the order they are likely to matter</a:t>
            </a:r>
            <a:endParaRPr b="0" lang="en-US" sz="1250" spc="-1" strike="noStrike">
              <a:solidFill>
                <a:srgbClr val="000000"/>
              </a:solidFill>
              <a:latin typeface="Arial"/>
            </a:endParaRPr>
          </a:p>
        </p:txBody>
      </p:sp>
      <p:sp>
        <p:nvSpPr>
          <p:cNvPr id="215"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16" name="TextBox 3"/>
          <p:cNvSpPr/>
          <p:nvPr/>
        </p:nvSpPr>
        <p:spPr>
          <a:xfrm>
            <a:off x="411480" y="1298520"/>
            <a:ext cx="11368080" cy="359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Alignment and stability: the sensitivities exist (10 µm, 10 µrad); add the mask's centering drift on the focal spot, the bench's thermal expansion, source pointing and wavelength drift, laser polarization angle, and the two-arm instruments' non-common-path air and mounts.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More drift in the loop: actuator hysteresis and creep, command quantization (14-16 bits: 0.1-0.5 nm steps as a floor), influence-function error, vibration within a stepped scan.</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error budget in the JPL form: per reading, fixed terms after calibration, drift terms weighted by the servo bandwidth, noise terms in quadrature, to a held error at a stated light and time.  This deck's comparison table is its first column.</a:t>
            </a:r>
            <a:endParaRPr b="0" lang="en-US" sz="1500" spc="-1" strike="noStrike">
              <a:solidFill>
                <a:srgbClr val="000000"/>
              </a:solidFill>
              <a:latin typeface="Arial"/>
            </a:endParaRPr>
          </a:p>
        </p:txBody>
      </p:sp>
      <p:sp>
        <p:nvSpPr>
          <p:cNvPr id="217" name="TextBox 4"/>
          <p:cNvSpPr/>
          <p:nvPr/>
        </p:nvSpPr>
        <p:spPr>
          <a:xfrm>
            <a:off x="411480" y="575064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telescope-level version of this (an allocation table rolled through the sensitivity model, then the closed-loop predictor) is being planned separately; it is a later add to this 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How every configuration was analyzed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repeatable path, ten steps, the same for all four approaches: a new sensor is a new reading class in the shared runner plus its gate, then steps 4 to 10 unchanged</a:t>
            </a:r>
            <a:endParaRPr b="0" lang="en-US" sz="1250" spc="-1" strike="noStrike">
              <a:solidFill>
                <a:srgbClr val="000000"/>
              </a:solidFill>
              <a:latin typeface="Arial"/>
            </a:endParaRPr>
          </a:p>
        </p:txBody>
      </p:sp>
      <p:sp>
        <p:nvSpPr>
          <p:cNvPr id="21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20" name="Table 3"/>
          <p:cNvGraphicFramePr/>
          <p:nvPr/>
        </p:nvGraphicFramePr>
        <p:xfrm>
          <a:off x="411480" y="1298520"/>
          <a:ext cx="5805360" cy="3187440"/>
        </p:xfrm>
        <a:graphic>
          <a:graphicData uri="http://schemas.openxmlformats.org/drawingml/2006/table">
            <a:tbl>
              <a:tblPr/>
              <a:tblGrid>
                <a:gridCol w="436680"/>
                <a:gridCol w="2963160"/>
                <a:gridCol w="2405880"/>
              </a:tblGrid>
              <a:tr h="279720">
                <a:tc>
                  <a:txBody>
                    <a:bodyPr lIns="54720" rIns="5472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what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gate or output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one parameter sheet and one runner per approach; batch wrappers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every number has a run tag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build the bench from the sheet, trace it; clearance of end bodies and node parts; detector-leg focus; sampling budget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every part clears by 25 mm; 6 pixels across the mask feature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model gates before any number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mask round trip, reference-wave surrogate, working-state amplitude, the reading on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calibration: the response matrix measured through the sensor, on the 30 nm working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piston null carried; stencil-site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rows on the working surface: 10 nm on one actuator; 1 nm on 47 sites;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gain, floor, SNR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graphicFrame>
        <p:nvGraphicFramePr>
          <p:cNvPr id="221" name="Table 4"/>
          <p:cNvGraphicFramePr/>
          <p:nvPr/>
        </p:nvGraphicFramePr>
        <p:xfrm>
          <a:off x="6400800" y="1298520"/>
          <a:ext cx="5394240" cy="2776320"/>
        </p:xfrm>
        <a:graphic>
          <a:graphicData uri="http://schemas.openxmlformats.org/drawingml/2006/table">
            <a:tbl>
              <a:tblPr/>
              <a:tblGrid>
                <a:gridCol w="410400"/>
                <a:gridCol w="3846600"/>
                <a:gridCol w="1137600"/>
              </a:tblGrid>
              <a:tr h="262800">
                <a:tc>
                  <a:txBody>
                    <a:bodyPr lIns="54720" rIns="54720" anchor="t">
                      <a:noAutofit/>
                    </a:bodyPr>
                    <a:p>
                      <a:pPr defTabSz="457200">
                        <a:lnSpc>
                          <a:spcPct val="100000"/>
                        </a:lnSpc>
                      </a:pPr>
                      <a:r>
                        <a:rPr b="1" lang="en-US" sz="1000" spc="-1" strike="noStrike">
                          <a:solidFill>
                            <a:srgbClr val="ffffff"/>
                          </a:solidFill>
                          <a:latin typeface="Arial"/>
                        </a:rPr>
                        <a:t>step</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what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000" spc="-1" strike="noStrike">
                          <a:solidFill>
                            <a:srgbClr val="ffffff"/>
                          </a:solidFill>
                          <a:latin typeface="Arial"/>
                        </a:rPr>
                        <a:t>gate or output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6</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capture range: the aging ladder to 10%; the matrix re-measured at 60 to 160 nm with its photon cost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range in nm; photons per rung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photons: noise fit over 1e8 to 1e14 per measurement, flat and on-surface matrix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photons for 1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anchor="t">
                      <a:noAutofit/>
                    </a:bodyPr>
                    <a:p>
                      <a:pPr defTabSz="457200">
                        <a:lnSpc>
                          <a:spcPct val="100000"/>
                        </a:lnSpc>
                      </a:pPr>
                      <a:r>
                        <a:rPr b="0" lang="en-US" sz="1000" spc="-1" strike="noStrike">
                          <a:solidFill>
                            <a:srgbClr val="282828"/>
                          </a:solidFill>
                          <a:latin typeface="Arial"/>
                        </a:rPr>
                        <a:t>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closed loop in the shared loop code: noise, walk, ramp; noiseless step; within-scan drift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photons per cycle for 3 pm; fixed error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anchor="t">
                      <a:noAutofit/>
                    </a:bodyPr>
                    <a:p>
                      <a:pPr defTabSz="457200">
                        <a:lnSpc>
                          <a:spcPct val="100000"/>
                        </a:lnSpc>
                      </a:pPr>
                      <a:r>
                        <a:rPr b="0" lang="en-US" sz="1000" spc="-1" strike="noStrike">
                          <a:solidFill>
                            <a:srgbClr val="282828"/>
                          </a:solidFill>
                          <a:latin typeface="Arial"/>
                        </a:rPr>
                        <a:t>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descent: the start ladder with unwrapping and recalibration on and off</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000" spc="-1" strike="noStrike">
                          <a:solidFill>
                            <a:srgbClr val="282828"/>
                          </a:solidFill>
                          <a:latin typeface="Arial"/>
                        </a:rPr>
                        <a:t>largest start brought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systematics one at a time, uncalibrated and through the matrix; layout drawn from the emitted deck; parts from the sheet; report numbers first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000" spc="-1" strike="noStrike">
                          <a:solidFill>
                            <a:srgbClr val="282828"/>
                          </a:solidFill>
                          <a:latin typeface="Arial"/>
                        </a:rPr>
                        <a:t>one line per term on the systematics slide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22" name="TextBox 5"/>
          <p:cNvSpPr/>
          <p:nvPr/>
        </p:nvSpPr>
        <p:spPr>
          <a:xfrm>
            <a:off x="6400800" y="4222080"/>
            <a:ext cx="53942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Run it yourself</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parameter sheet and one runner per approach, shared code underneath; every number here is reproduced by the commands below</a:t>
            </a:r>
            <a:endParaRPr b="0" lang="en-US" sz="1250" spc="-1" strike="noStrike">
              <a:solidFill>
                <a:srgbClr val="000000"/>
              </a:solidFill>
              <a:latin typeface="Arial"/>
            </a:endParaRPr>
          </a:p>
        </p:txBody>
      </p:sp>
      <p:sp>
        <p:nvSpPr>
          <p:cNvPr id="224"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25" name="TextBox 3"/>
          <p:cNvSpPr/>
          <p:nvPr/>
        </p:nvSpPr>
        <p:spPr>
          <a:xfrm>
            <a:off x="411480" y="1298520"/>
            <a:ext cx="580572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Interferometer (tg_psi_dm96_oap): tg96_run for the lens rig; tg96_run('bench.optics','oap','tag','oap') for the mirror rig; ./tg96_batch.sh lens_deck "'stages',{'bench','deck'},'battery.noise',true"; ./tg96_batch.sh loop_lens "'stages',{'bench','loop','figs'}".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Zernike sensors (zwfs_dm96): out = zwfs_run; (bench + battery + figures); zwfs_run('tag','ng385','NGRID',385); zwfs_run('MODEL',2048,'NGRID',385,'param_file','macos_param_2048.txt'); ./zwfs_batch.sh loop193 "'stages',{'bench','loop','figs'}".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Point-diffraction (pdi_dm96): P = pdi_params; out = pdi_run(P);; pdi_run('pdi.DIA_LAMD',1.0,'stages',{'bench','battery','figs'}); ./pdi_batch.sh TAG "pdi_params, 'stages',{'bench','loop','figs'}".</a:t>
            </a:r>
            <a:endParaRPr b="0" lang="en-US" sz="1200" spc="-1" strike="noStrike">
              <a:solidFill>
                <a:srgbClr val="000000"/>
              </a:solidFill>
              <a:latin typeface="Arial"/>
            </a:endParaRPr>
          </a:p>
        </p:txBody>
      </p:sp>
      <p:sp>
        <p:nvSpPr>
          <p:cNvPr id="226" name="TextBox 4"/>
          <p:cNvSpPr/>
          <p:nvPr/>
        </p:nvSpPr>
        <p:spPr>
          <a:xfrm>
            <a:off x="6400800" y="1298520"/>
            <a:ext cx="539424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other gauges on the mirror rig: zwfs_run('bench.optics','oap','bench.coat_oap','bareAl','readings',{'L','S','V','P','PF'},'stages',{'bench','battery','noise','loop'},'mask.v_arm','engine').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Where: MACOS_resources/mmacos/templates/40_benches/{tg_psi_dm96_oap, zwfs_dm96, pdi_dm96}, the shared scoring library dm_gauge_lib, branch dev-candidate.  A model-1024 run needs about 11 GB; the batch wrappers run one at a time.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Gates: every stage asserts its own gates (the mask round trip, the reference-wave surrogate, the fold, the pinhole, the analyzer); tDmgLoop 15/15; the mmacos fast suite 481/0.</a:t>
            </a:r>
            <a:endParaRPr b="0" lang="en-US" sz="1200" spc="-1" strike="noStrike">
              <a:solidFill>
                <a:srgbClr val="000000"/>
              </a:solidFill>
              <a:latin typeface="Arial"/>
            </a:endParaRPr>
          </a:p>
        </p:txBody>
      </p:sp>
      <p:sp>
        <p:nvSpPr>
          <p:cNvPr id="227" name="TextBox 5"/>
          <p:cNvSpPr/>
          <p:nvPr/>
        </p:nvSpPr>
        <p:spPr>
          <a:xfrm>
            <a:off x="6400800" y="3736800"/>
            <a:ext cx="53942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Each directory's README carries the full command list and the run-tag index.</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interferometer's three phase-shift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four frames are the same in the model; the forms differ in what they get wrong</a:t>
            </a:r>
            <a:endParaRPr b="0" lang="en-US" sz="1250" spc="-1" strike="noStrike">
              <a:solidFill>
                <a:srgbClr val="000000"/>
              </a:solidFill>
              <a:latin typeface="Arial"/>
            </a:endParaRPr>
          </a:p>
        </p:txBody>
      </p:sp>
      <p:sp>
        <p:nvSpPr>
          <p:cNvPr id="22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30" name="Table 3"/>
          <p:cNvGraphicFramePr/>
          <p:nvPr/>
        </p:nvGraphicFramePr>
        <p:xfrm>
          <a:off x="411480" y="1298520"/>
          <a:ext cx="11367720" cy="2439360"/>
        </p:xfrm>
        <a:graphic>
          <a:graphicData uri="http://schemas.openxmlformats.org/drawingml/2006/table">
            <a:tbl>
              <a:tblPr/>
              <a:tblGrid>
                <a:gridCol w="1671480"/>
                <a:gridCol w="1457280"/>
                <a:gridCol w="1765440"/>
                <a:gridCol w="6473880"/>
              </a:tblGrid>
              <a:tr h="468360">
                <a:tc>
                  <a:txBody>
                    <a:bodyPr lIns="54720" rIns="5472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how the four steps are made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what it gets wrong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priced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reference flat stepped in time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step miscalibration; camera and mirror drift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step error 2% / 5%: gain 0.974 / 0.954, floors 5 / 9 pm; in the servo common mode (5.4e12 vs 5.5e12); camera walk 1e-3 within a scan: +13% light; mirror walk within a scan: 1.6e13 vs 1.7-2.0e13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polarization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four analyzer channels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polarization systematics, fixed by design; no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hybrid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snapshot for the change, piezo for the absolute 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each half removes the other's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recommended form; its value is the absolute calibration more than drift immunity: the four-step already tolerates all three sequential terms in 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31" name="TextBox 4"/>
          <p:cNvSpPr/>
          <p:nvPr/>
        </p:nvSpPr>
        <p:spPr>
          <a:xfrm>
            <a:off x="411480" y="388512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lens_deck_se2, lens_deck_se5, loop_lens_se2, loop_lens_cam, loop_lens_intra, tg_psi_dm, tg_psi_dm_v2.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interferometer on the mirror rig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Open loop it reads; in a servo it does not hold, and from a large start it does not capture</a:t>
            </a:r>
            <a:endParaRPr b="0" lang="en-US" sz="1250" spc="-1" strike="noStrike">
              <a:solidFill>
                <a:srgbClr val="000000"/>
              </a:solidFill>
              <a:latin typeface="Arial"/>
            </a:endParaRPr>
          </a:p>
        </p:txBody>
      </p:sp>
      <p:sp>
        <p:nvSpPr>
          <p:cNvPr id="233"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34" name="Table 3"/>
          <p:cNvGraphicFramePr/>
          <p:nvPr/>
        </p:nvGraphicFramePr>
        <p:xfrm>
          <a:off x="411480" y="1298520"/>
          <a:ext cx="5805720" cy="2603880"/>
        </p:xfrm>
        <a:graphic>
          <a:graphicData uri="http://schemas.openxmlformats.org/drawingml/2006/table">
            <a:tbl>
              <a:tblPr/>
              <a:tblGrid>
                <a:gridCol w="1812240"/>
                <a:gridCol w="1235880"/>
                <a:gridCol w="2757960"/>
              </a:tblGrid>
              <a:tr h="279720">
                <a:tc>
                  <a:txBody>
                    <a:bodyPr lIns="54720" rIns="5472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lens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mirror rig, bare 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single 10 nm,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0.9916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0.9950 / 2.1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flat-mirror null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0.13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13.1 nm (cancels differentially)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modal transfer gain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0.96-0.99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0.63-0.95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cross-talk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below 0.06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0.18 (0.42 with an ideal reflector)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photons for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6.2e14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servo, noise only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3.4e13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collimator tilt 10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95 nm null shift, 9.5 nm per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focuser tilt 10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103 nm, 10.3 nm per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pic>
        <p:nvPicPr>
          <p:cNvPr id="235" name="Picture 4" descr="loop_oap_loop.png"/>
          <p:cNvPicPr/>
          <p:nvPr/>
        </p:nvPicPr>
        <p:blipFill>
          <a:blip r:embed="rId1"/>
          <a:stretch/>
        </p:blipFill>
        <p:spPr>
          <a:xfrm>
            <a:off x="7135560" y="1298520"/>
            <a:ext cx="3924720" cy="1634400"/>
          </a:xfrm>
          <a:prstGeom prst="rect">
            <a:avLst/>
          </a:prstGeom>
          <a:ln w="0">
            <a:noFill/>
          </a:ln>
        </p:spPr>
      </p:pic>
      <p:sp>
        <p:nvSpPr>
          <p:cNvPr id="236" name="TextBox 5"/>
          <p:cNvSpPr/>
          <p:nvPr/>
        </p:nvSpPr>
        <p:spPr>
          <a:xfrm>
            <a:off x="6400800" y="2952000"/>
            <a:ext cx="53942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endParaRPr b="0" lang="en-US" sz="1000" spc="-1" strike="noStrike">
              <a:solidFill>
                <a:srgbClr val="000000"/>
              </a:solidFill>
              <a:latin typeface="Arial"/>
            </a:endParaRPr>
          </a:p>
        </p:txBody>
      </p:sp>
      <p:sp>
        <p:nvSpPr>
          <p:cNvPr id="237" name="TextBox 6"/>
          <p:cNvSpPr/>
          <p:nvPr/>
        </p:nvSpPr>
        <p:spPr>
          <a:xfrm>
            <a:off x="6400800" y="3547800"/>
            <a:ext cx="53942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Zernike readings that lost, and the fold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frame is not enough: the linear reading imprints error under a slow drift, and the exact one-frame reading diverges once actuators sit past the quarter-wave fold</a:t>
            </a:r>
            <a:endParaRPr b="0" lang="en-US" sz="1250" spc="-1" strike="noStrike">
              <a:solidFill>
                <a:srgbClr val="000000"/>
              </a:solidFill>
              <a:latin typeface="Arial"/>
            </a:endParaRPr>
          </a:p>
        </p:txBody>
      </p:sp>
      <p:sp>
        <p:nvSpPr>
          <p:cNvPr id="23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40" name="TextBox 3"/>
          <p:cNvSpPr/>
          <p:nvPr/>
        </p:nvSpPr>
        <p:spPr>
          <a:xfrm>
            <a:off x="411480" y="1298520"/>
            <a:ext cx="580572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Linear, one frame: holds noise and walk like the stepped reading (2.1e12 / 7.3e12) but floors at 27.6 pm under the 5 pm ramp and is still creeping at cycle 60: a persistent low-order residual makes it imprint fine-scale error (26 pm above 12 cycles per aperture).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Exact, one frame with a sign prior: a 1 nm step grows to 99 nm in 60 cycles, 10 nm to 178 nm; the actuators whose footprint lies past the fold read with the wrong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fold: on the 30 nm surface 7.8% of pupil pixels sit past the quarter-wave fold (7.7 / 12.6 / 16.9 / 20.6% at 30 / 40 / 50 / 60 nm rms); a dense 10 nm change moves 3.3% of them across it.  The stepped reading and the vector pair have no fold.</a:t>
            </a:r>
            <a:endParaRPr b="0" lang="en-US" sz="1200" spc="-1" strike="noStrike">
              <a:solidFill>
                <a:srgbClr val="000000"/>
              </a:solidFill>
              <a:latin typeface="Arial"/>
            </a:endParaRPr>
          </a:p>
        </p:txBody>
      </p:sp>
      <p:pic>
        <p:nvPicPr>
          <p:cNvPr id="241" name="Picture 4" descr="crop_zwfs_loop193_left.png"/>
          <p:cNvPicPr/>
          <p:nvPr/>
        </p:nvPicPr>
        <p:blipFill>
          <a:blip r:embed="rId1"/>
          <a:stretch/>
        </p:blipFill>
        <p:spPr>
          <a:xfrm>
            <a:off x="7932240" y="1298520"/>
            <a:ext cx="2331000" cy="1982520"/>
          </a:xfrm>
          <a:prstGeom prst="rect">
            <a:avLst/>
          </a:prstGeom>
          <a:ln w="0">
            <a:noFill/>
          </a:ln>
        </p:spPr>
      </p:pic>
      <p:sp>
        <p:nvSpPr>
          <p:cNvPr id="242" name="TextBox 5"/>
          <p:cNvSpPr/>
          <p:nvPr/>
        </p:nvSpPr>
        <p:spPr>
          <a:xfrm>
            <a:off x="6400800" y="3300120"/>
            <a:ext cx="53942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stepped Zernike servo: residual per cycle at four light levels, with the noiseless 1 nm step decaying to zero.</a:t>
            </a:r>
            <a:endParaRPr b="0" lang="en-US" sz="1000" spc="-1" strike="noStrike">
              <a:solidFill>
                <a:srgbClr val="000000"/>
              </a:solidFill>
              <a:latin typeface="Arial"/>
            </a:endParaRPr>
          </a:p>
        </p:txBody>
      </p:sp>
      <p:sp>
        <p:nvSpPr>
          <p:cNvPr id="243" name="TextBox 6"/>
          <p:cNvSpPr/>
          <p:nvPr/>
        </p:nvSpPr>
        <p:spPr>
          <a:xfrm>
            <a:off x="6400800" y="3730680"/>
            <a:ext cx="53942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loop193, fold_diag, matbase385.</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point-diffraction trades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diameter of record is 2.0 λF/D; the P/SRI's traced reference arm moves with the state by 0.05% of the figure and costs twice the light</a:t>
            </a:r>
            <a:endParaRPr b="0" lang="en-US" sz="1250" spc="-1" strike="noStrike">
              <a:solidFill>
                <a:srgbClr val="000000"/>
              </a:solidFill>
              <a:latin typeface="Arial"/>
            </a:endParaRPr>
          </a:p>
        </p:txBody>
      </p:sp>
      <p:sp>
        <p:nvSpPr>
          <p:cNvPr id="245"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46" name="Table 3"/>
          <p:cNvGraphicFramePr/>
          <p:nvPr/>
        </p:nvGraphicFramePr>
        <p:xfrm>
          <a:off x="411480" y="1298520"/>
          <a:ext cx="5805360" cy="3272040"/>
        </p:xfrm>
        <a:graphic>
          <a:graphicData uri="http://schemas.openxmlformats.org/drawingml/2006/table">
            <a:tbl>
              <a:tblPr/>
              <a:tblGrid>
                <a:gridCol w="2152800"/>
                <a:gridCol w="1043640"/>
                <a:gridCol w="2609280"/>
              </a:tblGrid>
              <a:tr h="468360">
                <a:tc>
                  <a:txBody>
                    <a:bodyPr lIns="54720" rIns="5472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2.0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1.0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5.27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2.64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surround transmission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0.72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0.28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throughput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0.82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0.29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pixels across at the mask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7.9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4.0 (below the 6 the sampling rule asks)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0.9935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0.9937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capture range,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120 nm and beyond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photons for 1 pm on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2.1e14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below 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3.6e13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47" name="TextBox 4"/>
          <p:cNvSpPr/>
          <p:nvPr/>
        </p:nvSpPr>
        <p:spPr>
          <a:xfrm>
            <a:off x="6400800" y="1298520"/>
            <a:ext cx="539424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range the small pinhole buys, the shutter frame gives free at the large one's throughput: 1.02 / 1.06 / 1.13 at 120 / 240 / 480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Five frames beat four: a 2% step error reads 4.9 pm (pinhole) and 2.2 pm (P/SRI) with the Schwider-Hariharan scan against 421 and 251 pm with four-step least squares.</a:t>
            </a:r>
            <a:endParaRPr b="0" lang="en-US" sz="1200" spc="-1" strike="noStrike">
              <a:solidFill>
                <a:srgbClr val="000000"/>
              </a:solidFill>
              <a:latin typeface="Arial"/>
            </a:endParaRPr>
          </a:p>
        </p:txBody>
      </p:sp>
      <p:sp>
        <p:nvSpPr>
          <p:cNvPr id="248" name="TextBox 5"/>
          <p:cNvSpPr/>
          <p:nvPr/>
        </p:nvSpPr>
        <p:spPr>
          <a:xfrm>
            <a:off x="6400800" y="393480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pin20_1024, pin10_2048, pin20_loop, pin10_loop, pfdeck, pfdeck_frz, pdi193se_sh5, pdi193se_ls; layouts psri_layout.png and psri_render.png in pdi_dm96.</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drift within a measurement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mirror that drifts during a stepped scan helps the stepped readings; a camera that drifts during the scan hurts them; the simultaneous readings see neither</a:t>
            </a:r>
            <a:endParaRPr b="0" lang="en-US" sz="1250" spc="-1" strike="noStrike">
              <a:solidFill>
                <a:srgbClr val="000000"/>
              </a:solidFill>
              <a:latin typeface="Arial"/>
            </a:endParaRPr>
          </a:p>
        </p:txBody>
      </p:sp>
      <p:sp>
        <p:nvSpPr>
          <p:cNvPr id="250"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51" name="Table 3"/>
          <p:cNvGraphicFramePr/>
          <p:nvPr/>
        </p:nvGraphicFramePr>
        <p:xfrm>
          <a:off x="411480" y="1298520"/>
          <a:ext cx="5805000" cy="2563920"/>
        </p:xfrm>
        <a:graphic>
          <a:graphicData uri="http://schemas.openxmlformats.org/drawingml/2006/table">
            <a:tbl>
              <a:tblPr/>
              <a:tblGrid>
                <a:gridCol w="3208680"/>
                <a:gridCol w="534600"/>
                <a:gridCol w="534600"/>
                <a:gridCol w="458280"/>
                <a:gridCol w="534600"/>
                <a:gridCol w="534600"/>
              </a:tblGrid>
              <a:tr h="279720">
                <a:tc>
                  <a:txBody>
                    <a:bodyPr lIns="54720" rIns="54720" anchor="t">
                      <a:noAutofit/>
                    </a:bodyPr>
                    <a:p>
                      <a:pPr defTabSz="457200">
                        <a:lnSpc>
                          <a:spcPct val="100000"/>
                        </a:lnSpc>
                      </a:pPr>
                      <a:r>
                        <a:rPr b="1" lang="en-US" sz="1100" spc="-1" strike="noStrike">
                          <a:solidFill>
                            <a:srgbClr val="ffffff"/>
                          </a:solidFill>
                          <a:latin typeface="Arial"/>
                        </a:rPr>
                        <a:t>hold error at 1e15 photons per cycle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linear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stepped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vector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P/SRI</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2 pm walk, mirror still during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2.33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2 pm walk, mirror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1.57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1.58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1.71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5 pm ramp, mirror still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9.88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5 pm ramp,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7.16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6.70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7.30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camera scale drifting 1e-3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89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52" name="TextBox 4"/>
          <p:cNvSpPr/>
          <p:nvPr/>
        </p:nvSpPr>
        <p:spPr>
          <a:xfrm>
            <a:off x="6400800" y="1298520"/>
            <a:ext cx="539424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Why the mirror's drift helps: a scan reads the surface at its midpoint, a free half-step of prediction; 26-32% less hold error for the stepped readings.  The camera's drift is an additive bias, the opposite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P/SRI's reference arm walking (a random path walk of 1e-3 to 1e-1 rad per cycle) costs 4% in light over that hundredfold range: a path change is piston, the one mode the actuator estimator nulls.  Not benign for absolute field work; a tilting reference is outside the model.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paper's camera number (0.13 electrons per pixel per cycle) is invisible to every reading: an electron is 1e-4 of a lit pixel's shot noise at 1e13 photons.</a:t>
            </a:r>
            <a:endParaRPr b="0" lang="en-US" sz="1200" spc="-1" strike="noStrike">
              <a:solidFill>
                <a:srgbClr val="000000"/>
              </a:solidFill>
              <a:latin typeface="Arial"/>
            </a:endParaRPr>
          </a:p>
        </p:txBody>
      </p:sp>
      <p:sp>
        <p:nvSpPr>
          <p:cNvPr id="253" name="TextBox 5"/>
          <p:cNvSpPr/>
          <p:nvPr/>
        </p:nvSpPr>
        <p:spPr>
          <a:xfrm>
            <a:off x="6400800" y="393480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intra193_0, intra193, pcam193, pcam193r, pcam193ri, rw193_1e3/1e2/1e1, loop_lens_intra, loop_lens_cam.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vector sensor's polarization terms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metasurface's retardance error, the arm's polarization aberration, and the analyzer, each from the engine's polarized traces of this bench</a:t>
            </a:r>
            <a:endParaRPr b="0" lang="en-US" sz="1250" spc="-1" strike="noStrike">
              <a:solidFill>
                <a:srgbClr val="000000"/>
              </a:solidFill>
              <a:latin typeface="Arial"/>
            </a:endParaRPr>
          </a:p>
        </p:txBody>
      </p:sp>
      <p:sp>
        <p:nvSpPr>
          <p:cNvPr id="255"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56" name="Table 3"/>
          <p:cNvGraphicFramePr/>
          <p:nvPr/>
        </p:nvGraphicFramePr>
        <p:xfrm>
          <a:off x="411480" y="1298520"/>
          <a:ext cx="5805720" cy="3376080"/>
        </p:xfrm>
        <a:graphic>
          <a:graphicData uri="http://schemas.openxmlformats.org/drawingml/2006/table">
            <a:tbl>
              <a:tblPr/>
              <a:tblGrid>
                <a:gridCol w="1924200"/>
                <a:gridCol w="1824840"/>
                <a:gridCol w="2057040"/>
              </a:tblGrid>
              <a:tr h="468360">
                <a:tc>
                  <a:txBody>
                    <a:bodyPr lIns="54720" rIns="5472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uncalibrated, on 100 nm pokes (12 nm rms)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through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metasurface retardance error 0.02 / 0.05 / 0.10 / 0.20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153 / 380 / 750 / 1461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0.9934 / 4 pm at 0.10 and 0.20: the ideal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the arm, laser at 45° / 0° / 90° to the fold plane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9.0 / 17.2 / 11.2 pm (ideal 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nothing through 0.1 rad of channel phase;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the arm, design scan: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59 / 178 / 597 / 1877 pm at 0.01 / 0.03 / 0.1 / 0.3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analyzer: cube extinction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0.9934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analyzer: plate λ/300; 1° azimuth; λ/100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165; 263; 496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0.9932 / 4; 0.9932 / 4; 0.9928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57" name="TextBox 4"/>
          <p:cNvSpPr/>
          <p:nvPr/>
        </p:nvSpPr>
        <p:spPr>
          <a:xfrm>
            <a:off x="6400800" y="1298520"/>
            <a:ext cx="539424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analyzer: a plate retardance error δ couples the two images with amplitude δ/2, an azimuth error θ with amplitude θ, engine-exact, opposite signs in the two ports; the cube's finite extinction adds 4-6e-4 incoherently.  Spec a zero-order plate at λ/300, azimuth to 1°.</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A three-number fit on the flat's two images recovers the metasurface's constants to five digits (0.048 pm).</a:t>
            </a:r>
            <a:endParaRPr b="0" lang="en-US" sz="1200" spc="-1" strike="noStrike">
              <a:solidFill>
                <a:srgbClr val="000000"/>
              </a:solidFill>
              <a:latin typeface="Arial"/>
            </a:endParaRPr>
          </a:p>
        </p:txBody>
      </p:sp>
      <p:sp>
        <p:nvSpPr>
          <p:cNvPr id="258" name="TextBox 5"/>
          <p:cNvSpPr/>
          <p:nvPr/>
        </p:nvSpPr>
        <p:spPr>
          <a:xfrm>
            <a:off x="6400800" y="3934800"/>
            <a:ext cx="53942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v2g, v2loop, v3arm, v3s, v3loop, an193_cube/q300/q100/az1; zwfs_dm96 README V2-V4.</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sensor model, sampling and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early Zernike model was out of focus by 4.9 m at the pupil image; corrected, every gate closes; the sampling rule and the color result follow from the corrected model</a:t>
            </a:r>
            <a:endParaRPr b="0" lang="en-US" sz="1250" spc="-1" strike="noStrike">
              <a:solidFill>
                <a:srgbClr val="000000"/>
              </a:solidFill>
              <a:latin typeface="Arial"/>
            </a:endParaRPr>
          </a:p>
        </p:txBody>
      </p:sp>
      <p:sp>
        <p:nvSpPr>
          <p:cNvPr id="260"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61" name="TextBox 3"/>
          <p:cNvSpPr/>
          <p:nvPr/>
        </p:nvSpPr>
        <p:spPr>
          <a:xfrm>
            <a:off x="411480" y="1298520"/>
            <a:ext cx="580572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Sampling: mask pixels per λF/D = 0.74 × model ÷ rays; the dimple needs 6 pixels; 385 rays on a 2048 grid is the compliant run (7.9 pixels, 5 pixels per actuator), and a stencil-site fix in the actuator fit took the test actuator from 0.935 to 0.996.</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Color: five colors through one 346 nm etch, dimple phase 2.10 to 1.27 rad; the combination's minimum transfer is 0.991 against 0.962 for the best single color — 3%, not 3×; the linear reading gets worse (480 nm reads negative).</a:t>
            </a:r>
            <a:endParaRPr b="0" lang="en-US" sz="1200" spc="-1" strike="noStrike">
              <a:solidFill>
                <a:srgbClr val="000000"/>
              </a:solidFill>
              <a:latin typeface="Arial"/>
            </a:endParaRPr>
          </a:p>
        </p:txBody>
      </p:sp>
      <p:pic>
        <p:nvPicPr>
          <p:cNvPr id="262" name="Picture 4" descr="zwfs_s7iter.png"/>
          <p:cNvPicPr/>
          <p:nvPr/>
        </p:nvPicPr>
        <p:blipFill>
          <a:blip r:embed="rId1"/>
          <a:stretch/>
        </p:blipFill>
        <p:spPr>
          <a:xfrm>
            <a:off x="6838560" y="1298520"/>
            <a:ext cx="4519080" cy="1982520"/>
          </a:xfrm>
          <a:prstGeom prst="rect">
            <a:avLst/>
          </a:prstGeom>
          <a:ln w="0">
            <a:noFill/>
          </a:ln>
        </p:spPr>
      </p:pic>
      <p:sp>
        <p:nvSpPr>
          <p:cNvPr id="263" name="TextBox 5"/>
          <p:cNvSpPr/>
          <p:nvPr/>
        </p:nvSpPr>
        <p:spPr>
          <a:xfrm>
            <a:off x="6400800" y="3300120"/>
            <a:ext cx="53942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model correction: the runner's figure of the iterated reference-wave solve on the corrected model.</a:t>
            </a:r>
            <a:endParaRPr b="0" lang="en-US" sz="1000" spc="-1" strike="noStrike">
              <a:solidFill>
                <a:srgbClr val="000000"/>
              </a:solidFill>
              <a:latin typeface="Arial"/>
            </a:endParaRPr>
          </a:p>
        </p:txBody>
      </p:sp>
      <p:sp>
        <p:nvSpPr>
          <p:cNvPr id="264" name="TextBox 6"/>
          <p:cNvSpPr/>
          <p:nvPr/>
        </p:nvSpPr>
        <p:spPr>
          <a:xfrm>
            <a:off x="6400800" y="3730680"/>
            <a:ext cx="53942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rec193full, m2048, m2048_lat, ng385_lat; zwfs_dm96 README S7-S9.</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TextBox 1"/>
          <p:cNvSpPr/>
          <p:nvPr/>
        </p:nvSpPr>
        <p:spPr>
          <a:xfrm>
            <a:off x="411480" y="201240"/>
            <a:ext cx="1136808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clearance scan behind the 22.5° choice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endParaRPr b="0" lang="en-US" sz="1250" spc="-1" strike="noStrike">
              <a:solidFill>
                <a:srgbClr val="000000"/>
              </a:solidFill>
              <a:latin typeface="Arial"/>
            </a:endParaRPr>
          </a:p>
        </p:txBody>
      </p:sp>
      <p:sp>
        <p:nvSpPr>
          <p:cNvPr id="266"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67" name="Table 3"/>
          <p:cNvGraphicFramePr/>
          <p:nvPr/>
        </p:nvGraphicFramePr>
        <p:xfrm>
          <a:off x="411480" y="1298520"/>
          <a:ext cx="5805720" cy="2153160"/>
        </p:xfrm>
        <a:graphic>
          <a:graphicData uri="http://schemas.openxmlformats.org/drawingml/2006/table">
            <a:tbl>
              <a:tblPr/>
              <a:tblGrid>
                <a:gridCol w="1235880"/>
                <a:gridCol w="862200"/>
                <a:gridCol w="3708000"/>
              </a:tblGrid>
              <a:tr h="279720">
                <a:tc>
                  <a:txBody>
                    <a:bodyPr lIns="54720" rIns="54720" anchor="t">
                      <a:noAutofit/>
                    </a:bodyPr>
                    <a:p>
                      <a:pPr defTabSz="457200">
                        <a:lnSpc>
                          <a:spcPct val="100000"/>
                        </a:lnSpc>
                      </a:pPr>
                      <a:r>
                        <a:rPr b="1" lang="en-US" sz="1100" spc="-1" strike="noStrike">
                          <a:solidFill>
                            <a:srgbClr val="ffffff"/>
                          </a:solidFill>
                          <a:latin typeface="Arial"/>
                        </a:rPr>
                        <a:t>splitter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worst 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others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7° (the record)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output plate −109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eight parts in another beam: reference plate, analyzer, compensator, L2, polarizer,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compensator −27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output plate −17, analyzer −11, L2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22.5°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compensator +16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output plate +55, analyzer +65, L2 +100, L1 +153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compensator +57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output plate +178, analyzer +196, L2 +257, L1 +350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68" name="TextBox 4"/>
          <p:cNvSpPr/>
          <p:nvPr/>
        </p:nvSpPr>
        <p:spPr>
          <a:xfrm>
            <a:off x="411480" y="3599280"/>
            <a:ext cx="580572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moves: the output plate and analyzer from 17 and 27 mm behind the splitter to 160 and 170 mm, just ahead of the focuser at 207 mm; nothing else, so the focused detector leg is untouched.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it costs the sensors: nothing.  At 30° the Zernike rows reproduce (0.9943 / 5 pm against 0.9942 / 5), the mask gates pass, and the arm's channel phase difference is 1.69 mrad against 1.63; the plate's diattenuation rises to 10% but uniformly, a non-term with the laser on its eigenaxis.</a:t>
            </a:r>
            <a:endParaRPr b="0" lang="en-US" sz="1200" spc="-1" strike="noStrike">
              <a:solidFill>
                <a:srgbClr val="000000"/>
              </a:solidFill>
              <a:latin typeface="Arial"/>
            </a:endParaRPr>
          </a:p>
        </p:txBody>
      </p:sp>
      <p:pic>
        <p:nvPicPr>
          <p:cNvPr id="269" name="Picture 5" descr="crop_bench_bs30_node.png"/>
          <p:cNvPicPr/>
          <p:nvPr/>
        </p:nvPicPr>
        <p:blipFill>
          <a:blip r:embed="rId1"/>
          <a:stretch/>
        </p:blipFill>
        <p:spPr>
          <a:xfrm>
            <a:off x="7364880" y="1298520"/>
            <a:ext cx="3466440" cy="1964880"/>
          </a:xfrm>
          <a:prstGeom prst="rect">
            <a:avLst/>
          </a:prstGeom>
          <a:ln w="0">
            <a:noFill/>
          </a:ln>
        </p:spPr>
      </p:pic>
      <p:sp>
        <p:nvSpPr>
          <p:cNvPr id="270" name="TextBox 6"/>
          <p:cNvSpPr/>
          <p:nvPr/>
        </p:nvSpPr>
        <p:spPr>
          <a:xfrm>
            <a:off x="6400800" y="3282120"/>
            <a:ext cx="539424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30°: the compensator clears by 57 mm, the rest by 178 mm or more.</a:t>
            </a:r>
            <a:endParaRPr b="0" lang="en-US" sz="1000" spc="-1" strike="noStrike">
              <a:solidFill>
                <a:srgbClr val="000000"/>
              </a:solidFill>
              <a:latin typeface="Arial"/>
            </a:endParaRPr>
          </a:p>
        </p:txBody>
      </p:sp>
      <p:pic>
        <p:nvPicPr>
          <p:cNvPr id="271" name="Picture 7" descr="crop_bench_bs7_node.png"/>
          <p:cNvPicPr/>
          <p:nvPr/>
        </p:nvPicPr>
        <p:blipFill>
          <a:blip r:embed="rId2"/>
          <a:stretch/>
        </p:blipFill>
        <p:spPr>
          <a:xfrm>
            <a:off x="7355880" y="3547800"/>
            <a:ext cx="3483720" cy="1964880"/>
          </a:xfrm>
          <a:prstGeom prst="rect">
            <a:avLst/>
          </a:prstGeom>
          <a:ln w="0">
            <a:noFill/>
          </a:ln>
        </p:spPr>
      </p:pic>
      <p:sp>
        <p:nvSpPr>
          <p:cNvPr id="272" name="TextBox 8"/>
          <p:cNvSpPr/>
          <p:nvPr/>
        </p:nvSpPr>
        <p:spPr>
          <a:xfrm>
            <a:off x="6400800" y="5531760"/>
            <a:ext cx="539424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record's node at 7°: eight parts sit in another beam.</a:t>
            </a:r>
            <a:endParaRPr b="0" lang="en-US" sz="1000" spc="-1" strike="noStrike">
              <a:solidFill>
                <a:srgbClr val="000000"/>
              </a:solidFill>
              <a:latin typeface="Arial"/>
            </a:endParaRPr>
          </a:p>
        </p:txBody>
      </p:sp>
      <p:sp>
        <p:nvSpPr>
          <p:cNvPr id="273" name="TextBox 9"/>
          <p:cNvSpPr/>
          <p:nvPr/>
        </p:nvSpPr>
        <p:spPr>
          <a:xfrm>
            <a:off x="6400800" y="5797440"/>
            <a:ext cx="539424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path per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runner stages and knobs each approach went through, in the order they ran</a:t>
            </a:r>
            <a:endParaRPr b="0" lang="en-US" sz="1250" spc="-1" strike="noStrike">
              <a:solidFill>
                <a:srgbClr val="000000"/>
              </a:solidFill>
              <a:latin typeface="Arial"/>
            </a:endParaRPr>
          </a:p>
        </p:txBody>
      </p:sp>
      <p:sp>
        <p:nvSpPr>
          <p:cNvPr id="275"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76" name="Table 3"/>
          <p:cNvGraphicFramePr/>
          <p:nvPr/>
        </p:nvGraphicFramePr>
        <p:xfrm>
          <a:off x="411480" y="1298520"/>
          <a:ext cx="11367360" cy="4215240"/>
        </p:xfrm>
        <a:graphic>
          <a:graphicData uri="http://schemas.openxmlformats.org/drawingml/2006/table">
            <a:tbl>
              <a:tblPr/>
              <a:tblGrid>
                <a:gridCol w="1453680"/>
                <a:gridCol w="3250440"/>
                <a:gridCol w="3223440"/>
                <a:gridCol w="3440160"/>
              </a:tblGrid>
              <a:tr h="279720">
                <a:tc>
                  <a:txBody>
                    <a:bodyPr lIns="54720" rIns="5472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interferometer (tg96_run)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Zernike, scalar and vector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anchor="t">
                      <a:noAutofit/>
                    </a:bodyPr>
                    <a:p>
                      <a:pPr defTabSz="457200">
                        <a:lnSpc>
                          <a:spcPct val="100000"/>
                        </a:lnSpc>
                      </a:pPr>
                      <a:r>
                        <a:rPr b="1" lang="en-US" sz="1100" spc="-1" strike="noStrike">
                          <a:solidFill>
                            <a:srgbClr val="ffffff"/>
                          </a:solidFill>
                          <a:latin typeface="Arial"/>
                        </a:rPr>
                        <a:t>point-diffraction (pdi_run over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build + gates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stage A clearance, A2 sampling, B build both arms; the detector leg's focus from tg96_tail; the wrapped phase difference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bench: the symmetric mask sandwich (the S7 correction), the mask gauge factory, gates G1 to G4, G8, G9, the mask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pinhole gauge in the same seat; G5 (pinhole at full transmission equals the stepped Zernike); the P/SRI's two decks, G6, G7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anchor="t">
                      <a:noAutofit/>
                    </a:bodyPr>
                    <a:p>
                      <a:pPr defTabSz="457200">
                        <a:lnSpc>
                          <a:spcPct val="100000"/>
                        </a:lnSpc>
                      </a:pPr>
                      <a:r>
                        <a:rPr b="0" lang="en-US" sz="1100" spc="-1" strike="noStrike">
                          <a:solidFill>
                            <a:srgbClr val="282828"/>
                          </a:solidFill>
                          <a:latin typeface="Arial"/>
                        </a:rPr>
                        <a:t>calibration +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stage deck: matrix on the 30 nm surface; single, 52-site grid, dense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battery: matrix on the surface (record mode, stencil fix); the same three rows; readings L, I, I+, S, V</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battery through the shared runner; readings P (five-frame scan, shutter frame), PF (traced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capture range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aging 30 to 480 nm; re-measured to 160;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ladder with the capture-range print; base_rms rungs; noise stage per rung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same knobs; the shutter frame's 480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anchor="t">
                      <a:noAutofit/>
                    </a:bodyPr>
                    <a:p>
                      <a:pPr defTabSz="457200">
                        <a:lnSpc>
                          <a:spcPct val="100000"/>
                        </a:lnSpc>
                      </a:pPr>
                      <a:r>
                        <a:rPr b="0" lang="en-US" sz="1100" spc="-1" strike="noStrike">
                          <a:solidFill>
                            <a:srgbClr val="282828"/>
                          </a:solidFill>
                          <a:latin typeface="Arial"/>
                        </a:rPr>
                        <a:t>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S5 form and the loop's noise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noise stage: N(1 pm) flat and on-surface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noise stage; 2.0 vs 1.0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loop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shared loop; PZT step error; camera and DM within-scan walks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shared loop: noise, walk, ramp, step; camera drift forms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shared loop; within-scan drift; reference-arm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descent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unwrap alone: 60 to 300 nm starts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start ladder: self-referenced readings blind past 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unwrap + recalibration: 100 nm with the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systematics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the three phase-shift forms; coatings; alignment (D4); OAP seat trim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V2 metasurface, V3 arm maps, V4 analyzer, V5 clear frame; color; sampling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anchor="t">
                      <a:noAutofit/>
                    </a:bodyPr>
                    <a:p>
                      <a:pPr defTabSz="457200">
                        <a:lnSpc>
                          <a:spcPct val="100000"/>
                        </a:lnSpc>
                      </a:pPr>
                      <a:r>
                        <a:rPr b="0" lang="en-US" sz="1100" spc="-1" strike="noStrike">
                          <a:solidFill>
                            <a:srgbClr val="282828"/>
                          </a:solidFill>
                          <a:latin typeface="Arial"/>
                        </a:rPr>
                        <a:t>step schemes; camera drift; reference motion and walk; pinhole 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anchor="t">
                      <a:noAutofit/>
                    </a:bodyPr>
                    <a:p>
                      <a:pPr defTabSz="457200">
                        <a:lnSpc>
                          <a:spcPct val="100000"/>
                        </a:lnSpc>
                      </a:pPr>
                      <a:r>
                        <a:rPr b="0" lang="en-US" sz="1100" spc="-1" strike="noStrike">
                          <a:solidFill>
                            <a:srgbClr val="282828"/>
                          </a:solidFill>
                          <a:latin typeface="Arial"/>
                        </a:rPr>
                        <a:t>layout +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the view_rx recipe: train, node, detector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zwfs_vlayout: both channel decks; the bench clearance tool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anchor="t">
                      <a:noAutofit/>
                    </a:bodyPr>
                    <a:p>
                      <a:pPr defTabSz="457200">
                        <a:lnSpc>
                          <a:spcPct val="100000"/>
                        </a:lnSpc>
                      </a:pPr>
                      <a:r>
                        <a:rPr b="0" lang="en-US" sz="1100" spc="-1" strike="noStrike">
                          <a:solidFill>
                            <a:srgbClr val="282828"/>
                          </a:solidFill>
                          <a:latin typeface="Arial"/>
                        </a:rPr>
                        <a:t>pdi_vfig_util: pinhole and P/SRI layouts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77" name="TextBox 4"/>
          <p:cNvSpPr/>
          <p:nvPr/>
        </p:nvSpPr>
        <p:spPr>
          <a:xfrm>
            <a:off x="411480" y="5662440"/>
            <a:ext cx="1136808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Directories tg_psi_dm96_oap, zwfs_dm96, pdi_dm96 and the shared dm_gauge_lib under MACOS_resources/mmacos/templates/40_benches; each README's "run it yourself" reproduces its column.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TextBox 1"/>
          <p:cNvSpPr/>
          <p:nvPr/>
        </p:nvSpPr>
        <p:spPr>
          <a:xfrm>
            <a:off x="411480" y="201240"/>
            <a:ext cx="1136808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provenance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number in this deck has a run tag in a committed run directory of the shared model; the three lane reports carry the full tables</a:t>
            </a:r>
            <a:endParaRPr b="0" lang="en-US" sz="1250" spc="-1" strike="noStrike">
              <a:solidFill>
                <a:srgbClr val="000000"/>
              </a:solidFill>
              <a:latin typeface="Arial"/>
            </a:endParaRPr>
          </a:p>
        </p:txBody>
      </p:sp>
      <p:sp>
        <p:nvSpPr>
          <p:cNvPr id="279" name="Rectangle 2"/>
          <p:cNvSpPr/>
          <p:nvPr/>
        </p:nvSpPr>
        <p:spPr>
          <a:xfrm>
            <a:off x="411480" y="1134000"/>
            <a:ext cx="11368080" cy="1944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0" name="TextBox 3"/>
          <p:cNvSpPr/>
          <p:nvPr/>
        </p:nvSpPr>
        <p:spPr>
          <a:xfrm>
            <a:off x="411480" y="1298520"/>
            <a:ext cx="11368080" cy="4509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(the 22.5° bench and the redesigned reflective rig); pdi_dm96/runs/psriclear2 (the P/SRI bench through the clearance tool).  Reports REPORT_gauge_ifo.md (CCMac) with REPORT_oap.md, REPORT_bench_realism.md and REPORT_reflective.md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Plan and rulings: macos/BRIEF_gauge_deck.md sections 5-11.  Raw material with every figure's pixel size: demo_session/deck_gauges_material.md.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Engine: MACOS on dev-candidate; mmacos fast suite 481 pass, 0 fail (2026-09-14); the polarization physics (Jones pupils, coatings, retarders, the metasurface's leak) from the engine's own polarized traces.</a:t>
            </a:r>
            <a:endParaRPr b="0" lang="en-US" sz="1500" spc="-1" strike="noStrike">
              <a:solidFill>
                <a:srgbClr val="000000"/>
              </a:solidFill>
              <a:latin typeface="Arial"/>
            </a:endParaRPr>
          </a:p>
        </p:txBody>
      </p:sp>
      <p:sp>
        <p:nvSpPr>
          <p:cNvPr id="281" name="TextBox 4"/>
          <p:cNvSpPr/>
          <p:nvPr/>
        </p:nvSpPr>
        <p:spPr>
          <a:xfrm>
            <a:off x="411480" y="6493680"/>
            <a:ext cx="1136808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Model sizes: 1024 grid with 193 rays for most rows, 2048 with 385 for the compliant sampling; one engine MATLAB at a time on the box, 11-20 GB.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21</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2026-09-15T19:47:25Z</dcterms:modified>
  <cp:revision>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