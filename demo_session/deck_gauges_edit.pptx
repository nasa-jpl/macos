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3-8 The jobs; the bench and its parts</a:t>
            </a:r>
          </a:p>
          <a:p>
            <a:pPr>
              <a:spcAft>
                <a:spcPts val="600"/>
              </a:spcAft>
            </a:pPr>
            <a:r>
              <a:rPr sz="1200" b="0">
                <a:solidFill>
                  <a:srgbClr val="282828"/>
                </a:solidFill>
                <a:latin typeface="Arial"/>
              </a:rPr>
              <a:t>•  9-19 The four approaches: interferometer, Zernike, vector Zernike, pinhole</a:t>
            </a:r>
          </a:p>
          <a:p>
            <a:pPr>
              <a:spcAft>
                <a:spcPts val="600"/>
              </a:spcAft>
            </a:pPr>
            <a:r>
              <a:rPr sz="1200" b="0">
                <a:solidFill>
                  <a:srgbClr val="282828"/>
                </a:solidFill>
                <a:latin typeface="Arial"/>
              </a:rPr>
              <a:t>•  20-25 Performance on the working surface: rows, capture, photons, servo</a:t>
            </a:r>
          </a:p>
          <a:p>
            <a:pPr>
              <a:spcAft>
                <a:spcPts val="600"/>
              </a:spcAft>
            </a:pPr>
            <a:r>
              <a:rPr sz="1200" b="0">
                <a:solidFill>
                  <a:srgbClr val="282828"/>
                </a:solidFill>
                <a:latin typeface="Arial"/>
              </a:rPr>
              <a:t>•  26-28 Lenses or off-axis mirrors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29-30 Systematics; recommendation</a:t>
            </a:r>
          </a:p>
          <a:p>
            <a:pPr>
              <a:spcAft>
                <a:spcPts val="600"/>
              </a:spcAft>
            </a:pPr>
            <a:r>
              <a:rPr sz="1200" b="0">
                <a:solidFill>
                  <a:srgbClr val="282828"/>
                </a:solidFill>
                <a:latin typeface="Arial"/>
              </a:rPr>
              <a:t>•  31-33 Operating the gauge</a:t>
            </a:r>
          </a:p>
          <a:p>
            <a:pPr>
              <a:spcAft>
                <a:spcPts val="600"/>
              </a:spcAft>
            </a:pPr>
            <a:r>
              <a:rPr sz="1200" b="0">
                <a:solidFill>
                  <a:srgbClr val="282828"/>
                </a:solidFill>
                <a:latin typeface="Arial"/>
              </a:rPr>
              <a:t>•  34-36 Future work</a:t>
            </a:r>
          </a:p>
          <a:p>
            <a:pPr>
              <a:spcAft>
                <a:spcPts val="600"/>
              </a:spcAft>
            </a:pPr>
            <a:r>
              <a:rPr sz="1200" b="0">
                <a:solidFill>
                  <a:srgbClr val="282828"/>
                </a:solidFill>
                <a:latin typeface="Arial"/>
              </a:rPr>
              <a:t>•  37-38 Method; run it yourself</a:t>
            </a:r>
          </a:p>
          <a:p>
            <a:pPr>
              <a:spcAft>
                <a:spcPts val="600"/>
              </a:spcAft>
            </a:pPr>
            <a:r>
              <a:rPr sz="1200" b="0">
                <a:solidFill>
                  <a:srgbClr val="282828"/>
                </a:solidFill>
                <a:latin typeface="Arial"/>
              </a:rPr>
              <a:t>•  39-48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617470"/>
        </p:xfrm>
        <a:graphic>
          <a:graphicData uri="http://schemas.openxmlformats.org/drawingml/2006/table">
            <a:tbl>
              <a:tblPr firstRow="1" bandRow="1">
                <a:tableStyleId>{5C22544A-7EE6-4342-B048-85BDC9FD1C3A}</a:tableStyleId>
              </a:tblPr>
              <a:tblGrid>
                <a:gridCol w="2148382"/>
                <a:gridCol w="1683867"/>
                <a:gridCol w="1974189"/>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