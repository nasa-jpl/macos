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43 Run it yourself</a:t>
            </a:r>
          </a:p>
          <a:p>
            <a:pPr>
              <a:spcAft>
                <a:spcPts val="600"/>
              </a:spcAft>
            </a:pPr>
            <a:r>
              <a:rPr sz="1200" b="0">
                <a:solidFill>
                  <a:srgbClr val="282828"/>
                </a:solidFill>
                <a:latin typeface="Arial"/>
              </a:rPr>
              <a:t>•  44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5532120"/>
        </p:xfrm>
        <a:graphic>
          <a:graphicData uri="http://schemas.openxmlformats.org/drawingml/2006/table">
            <a:tbl>
              <a:tblPr firstRow="1" bandRow="1">
                <a:tableStyleId>{5C22544A-7EE6-4342-B048-85BDC9FD1C3A}</a:tableStyleId>
              </a:tblPr>
              <a:tblGrid>
                <a:gridCol w="1962404"/>
                <a:gridCol w="4818338"/>
                <a:gridCol w="2180336"/>
                <a:gridCol w="509524"/>
                <a:gridCol w="1898133"/>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shifts the transmitted beam 1.39 mm, the flat null 0.13 → 20 nm, the reading attenuated 13% (floor, not gain; rows hold)</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65722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65722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 at the seed station 10.8 mm past the focus (slide 15)</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binned 4 to 377 px across the 9.8 mm image; or a 24 µm-pixel camera unbinned (408)</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97687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4272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Expected movement: the lens rig's rows and station figure improve; the pupil image grows to 9.8 mm; all 96×96 actuators in the lit set; the mirror rig's rows move only with the beam.</a:t>
            </a:r>
          </a:p>
        </p:txBody>
      </p:sp>
      <p:sp>
        <p:nvSpPr>
          <p:cNvPr id="6" name="TextBox 5"/>
          <p:cNvSpPr txBox="1"/>
          <p:nvPr/>
        </p:nvSpPr>
        <p:spPr>
          <a:xfrm>
            <a:off x="6400800" y="4867656"/>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Plan: BRIEF_to_tg_redo.md (packages A0, A, B, C); tools tg96_pupilsim, tg96_pupil_options, tg96_pupil_s2s.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 2026-09-17)</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057400"/>
        </p:xfrm>
        <a:graphic>
          <a:graphicData uri="http://schemas.openxmlformats.org/drawingml/2006/table">
            <a:tbl>
              <a:tblPr firstRow="1" bandRow="1">
                <a:tableStyleId>{5C22544A-7EE6-4342-B048-85BDC9FD1C3A}</a:tableStyleId>
              </a:tblPr>
              <a:tblGrid>
                <a:gridCol w="3100564"/>
                <a:gridCol w="2735791"/>
                <a:gridCol w="2188633"/>
                <a:gridCol w="3343745"/>
              </a:tblGrid>
              <a:tr h="468630">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a:t>
                      </a:r>
                    </a:p>
                  </a:txBody>
                  <a:tcPr marL="54864" marR="54864" marT="18288" marB="18288">
                    <a:solidFill>
                      <a:srgbClr val="1F4E79"/>
                    </a:solidFill>
                  </a:tcPr>
                </a:tc>
                <a:tc>
                  <a:txBody>
                    <a:bodyPr wrap="square"/>
                    <a:lstStyle/>
                    <a:p>
                      <a:r>
                        <a:rPr sz="1100" b="1">
                          <a:solidFill>
                            <a:srgbClr val="FFFFFF"/>
                          </a:solidFill>
                          <a:latin typeface="Arial"/>
                        </a:rPr>
                        <a:t>mirror rig, seed tail, substrates in</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280035">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280035">
                <a:tc>
                  <a:txBody>
                    <a:bodyPr wrap="square"/>
                    <a:lstStyle/>
                    <a:p>
                      <a:r>
                        <a:rPr sz="1100" b="0">
                          <a:solidFill>
                            <a:srgbClr val="282828"/>
                          </a:solidFill>
                          <a:latin typeface="Arial"/>
                        </a:rPr>
                        <a:t>1 nm on a 112-site grid</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468630">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and beyond / 480 and beyond</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bl>
          </a:graphicData>
        </a:graphic>
      </p:graphicFrame>
      <p:sp>
        <p:nvSpPr>
          <p:cNvPr id="5" name="TextBox 4"/>
          <p:cNvSpPr txBox="1"/>
          <p:nvPr/>
        </p:nvSpPr>
        <p:spPr>
          <a:xfrm>
            <a:off x="411480" y="3502152"/>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552694"/>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(the Mac, RUNBOOK_mac_cycle3a); the pupil stage and the sensors at 385 on these decks follow.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