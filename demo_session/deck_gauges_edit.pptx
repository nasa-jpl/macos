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What the bench delivers</a:t>
            </a:r>
          </a:p>
          <a:p>
            <a:pPr>
              <a:spcAft>
                <a:spcPts val="600"/>
              </a:spcAft>
            </a:pPr>
            <a:r>
              <a:rPr sz="1200" b="0">
                <a:solidFill>
                  <a:srgbClr val="282828"/>
                </a:solidFill>
                <a:latin typeface="Arial"/>
              </a:rPr>
              <a:t>•  4 Introduction: the three jobs and how they are scored</a:t>
            </a:r>
          </a:p>
          <a:p>
            <a:pPr>
              <a:spcAft>
                <a:spcPts val="600"/>
              </a:spcAft>
            </a:pPr>
            <a:r>
              <a:rPr sz="1200" b="0">
                <a:solidFill>
                  <a:srgbClr val="282828"/>
                </a:solidFill>
                <a:latin typeface="Arial"/>
              </a:rPr>
              <a:t>•  5 The bench layout</a:t>
            </a:r>
          </a:p>
          <a:p>
            <a:pPr>
              <a:spcAft>
                <a:spcPts val="600"/>
              </a:spcAft>
            </a:pPr>
            <a:r>
              <a:rPr sz="1200" b="0">
                <a:solidFill>
                  <a:srgbClr val="282828"/>
                </a:solidFill>
                <a:latin typeface="Arial"/>
              </a:rPr>
              <a:t>•  7 Parts: the front end and the detector leg</a:t>
            </a:r>
          </a:p>
          <a:p>
            <a:pPr>
              <a:spcAft>
                <a:spcPts val="600"/>
              </a:spcAft>
            </a:pPr>
            <a:r>
              <a:rPr sz="1200" b="0">
                <a:solidFill>
                  <a:srgbClr val="282828"/>
                </a:solidFill>
                <a:latin typeface="Arial"/>
              </a:rPr>
              <a:t>•  9 Parts: the interferometer and the sensors</a:t>
            </a:r>
          </a:p>
          <a:p>
            <a:pPr>
              <a:spcAft>
                <a:spcPts val="600"/>
              </a:spcAft>
            </a:pPr>
            <a:r>
              <a:rPr sz="1200" b="0">
                <a:solidFill>
                  <a:srgbClr val="282828"/>
                </a:solidFill>
                <a:latin typeface="Arial"/>
              </a:rPr>
              <a:t>•  11 Twyman-Green interferometer</a:t>
            </a:r>
          </a:p>
          <a:p>
            <a:pPr>
              <a:spcAft>
                <a:spcPts val="600"/>
              </a:spcAft>
            </a:pPr>
            <a:r>
              <a:rPr sz="1200" b="0">
                <a:solidFill>
                  <a:srgbClr val="282828"/>
                </a:solidFill>
                <a:latin typeface="Arial"/>
              </a:rPr>
              <a:t>•  18 Zernike sensor</a:t>
            </a:r>
          </a:p>
          <a:p>
            <a:pPr>
              <a:spcAft>
                <a:spcPts val="600"/>
              </a:spcAft>
            </a:pPr>
            <a:r>
              <a:rPr sz="1200" b="0">
                <a:solidFill>
                  <a:srgbClr val="282828"/>
                </a:solidFill>
                <a:latin typeface="Arial"/>
              </a:rPr>
              <a:t>•  20 Vector Zernike sensor</a:t>
            </a:r>
          </a:p>
          <a:p>
            <a:pPr>
              <a:spcAft>
                <a:spcPts val="600"/>
              </a:spcAft>
            </a:pPr>
            <a:r>
              <a:rPr sz="1200" b="0">
                <a:solidFill>
                  <a:srgbClr val="282828"/>
                </a:solidFill>
                <a:latin typeface="Arial"/>
              </a:rPr>
              <a:t>•  23 Point-diffraction sensor</a:t>
            </a:r>
          </a:p>
          <a:p>
            <a:pPr>
              <a:spcAft>
                <a:spcPts val="600"/>
              </a:spcAft>
            </a:pPr>
            <a:r>
              <a:rPr sz="1200" b="0">
                <a:solidFill>
                  <a:srgbClr val="282828"/>
                </a:solidFill>
                <a:latin typeface="Arial"/>
              </a:rPr>
              <a:t>•  26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32 Lenses versus off-axis parabolas</a:t>
            </a:r>
          </a:p>
          <a:p>
            <a:pPr>
              <a:spcAft>
                <a:spcPts val="600"/>
              </a:spcAft>
            </a:pPr>
            <a:r>
              <a:rPr sz="1200" b="0">
                <a:solidFill>
                  <a:srgbClr val="282828"/>
                </a:solidFill>
                <a:latin typeface="Arial"/>
              </a:rPr>
              <a:t>•  33 The reflective front end and its performance</a:t>
            </a:r>
          </a:p>
          <a:p>
            <a:pPr>
              <a:spcAft>
                <a:spcPts val="600"/>
              </a:spcAft>
            </a:pPr>
            <a:r>
              <a:rPr sz="1200" b="0">
                <a:solidFill>
                  <a:srgbClr val="282828"/>
                </a:solidFill>
                <a:latin typeface="Arial"/>
              </a:rPr>
              <a:t>•  35 Comparison and recommendation</a:t>
            </a:r>
          </a:p>
          <a:p>
            <a:pPr>
              <a:spcAft>
                <a:spcPts val="600"/>
              </a:spcAft>
            </a:pPr>
            <a:r>
              <a:rPr sz="1200" b="0">
                <a:solidFill>
                  <a:srgbClr val="282828"/>
                </a:solidFill>
                <a:latin typeface="Arial"/>
              </a:rPr>
              <a:t>•  38 Measuring the complex amplitude</a:t>
            </a:r>
          </a:p>
          <a:p>
            <a:pPr>
              <a:spcAft>
                <a:spcPts val="600"/>
              </a:spcAft>
            </a:pPr>
            <a:r>
              <a:rPr sz="1200" b="0">
                <a:solidFill>
                  <a:srgbClr val="282828"/>
                </a:solidFill>
                <a:latin typeface="Arial"/>
              </a:rPr>
              <a:t>•  39 Summary and future work</a:t>
            </a:r>
          </a:p>
          <a:p>
            <a:pPr>
              <a:spcAft>
                <a:spcPts val="600"/>
              </a:spcAft>
            </a:pPr>
            <a:r>
              <a:rPr sz="1200" b="0">
                <a:solidFill>
                  <a:srgbClr val="282828"/>
                </a:solidFill>
                <a:latin typeface="Arial"/>
              </a:rPr>
              <a:t>•  45 Run it yourself</a:t>
            </a:r>
          </a:p>
          <a:p>
            <a:pPr>
              <a:spcAft>
                <a:spcPts val="600"/>
              </a:spcAft>
            </a:pPr>
            <a:r>
              <a:rPr sz="1200" b="0">
                <a:solidFill>
                  <a:srgbClr val="282828"/>
                </a:solidFill>
                <a:latin typeface="Arial"/>
              </a:rPr>
              <a:t>•  46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bench delivers</a:t>
            </a:r>
          </a:p>
          <a:p>
            <a:pPr>
              <a:spcAft>
                <a:spcPts val="0"/>
              </a:spcAft>
            </a:pPr>
            <a:r>
              <a:rPr sz="1250" b="0">
                <a:solidFill>
                  <a:srgbClr val="6E6E6E"/>
                </a:solidFill>
                <a:latin typeface="Arial"/>
              </a:rPr>
              <a:t>Accuracy, precision, repeatability and hold — measured on both front ends, on the bench as it will be built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960245"/>
        </p:xfrm>
        <a:graphic>
          <a:graphicData uri="http://schemas.openxmlformats.org/drawingml/2006/table">
            <a:tbl>
              <a:tblPr firstRow="1" bandRow="1">
                <a:tableStyleId>{5C22544A-7EE6-4342-B048-85BDC9FD1C3A}</a:tableStyleId>
              </a:tblPr>
              <a:tblGrid>
                <a:gridCol w="1090676"/>
                <a:gridCol w="7951419"/>
                <a:gridCol w="1163320"/>
                <a:gridCol w="1163320"/>
              </a:tblGrid>
              <a:tr h="280035">
                <a:tc>
                  <a:txBody>
                    <a:bodyPr wrap="square"/>
                    <a:lstStyle/>
                    <a:p>
                      <a:r>
                        <a:rPr sz="1100" b="1">
                          <a:solidFill>
                            <a:srgbClr val="FFFFFF"/>
                          </a:solidFill>
                          <a:latin typeface="Arial"/>
                        </a:rPr>
                        <a:t>the claim</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Picometer measurement is photon-limited, not bench-limited.  One measurement at 1e15 photons — 0.31 mJ, about 1.3 s of a 1 mW laser — repeats to 0.7 pm, and a servo fed at that rate holds under half a picometer.  Both front ends agree to within 10 %.  For scale, Steeves et al. (2020, Optica 7, 1267) demonstrate 1.6 pm in 4.3 s on a real interferometer: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500" b="0">
                <a:solidFill>
                  <a:srgbClr val="282828"/>
                </a:solidFill>
                <a:latin typeface="Arial"/>
              </a:rPr>
              <a:t>•  Accuracy is systematic and proportional — a fraction of the figure read, so 30 nm costs tens of picometers and a 200 nm capture figure costs hundreds.  It holds because the response matrix is measured on the surface, not assumed geometric.</a:t>
            </a:r>
          </a:p>
          <a:p>
            <a:pPr>
              <a:spcAft>
                <a:spcPts val="600"/>
              </a:spcAft>
            </a:pPr>
            <a:r>
              <a:rPr sz="1500" b="0">
                <a:solidFill>
                  <a:srgbClr val="282828"/>
                </a:solidFill>
                <a:latin typeface="Arial"/>
              </a:rPr>
              <a:t>•  One disturbance is not photon-limited: under a 5 pm per cycle thermal ramp the loop lags at about 10 pm however many photons it is given — a cadence and thermal-control requirement, not a sensing one.</a:t>
            </a:r>
          </a:p>
        </p:txBody>
      </p:sp>
      <p:sp>
        <p:nvSpPr>
          <p:cNvPr id="6" name="TextBox 5"/>
          <p:cNvSpPr txBox="1"/>
          <p:nvPr/>
        </p:nvSpPr>
        <p:spPr>
          <a:xfrm>
            <a:off x="411480" y="6586347"/>
            <a:ext cx="11368735" cy="274320"/>
          </a:xfrm>
          <a:prstGeom prst="rect">
            <a:avLst/>
          </a:prstGeom>
          <a:noFill/>
        </p:spPr>
        <p:txBody>
          <a:bodyPr wrap="square">
            <a:spAutoFit/>
          </a:bodyPr>
          <a:lstStyle/>
          <a:p>
            <a:pPr>
              <a:spcAft>
                <a:spcPts val="600"/>
              </a:spcAft>
            </a:pPr>
            <a:r>
              <a:rPr sz="1050" b="0">
                <a:solidFill>
                  <a:srgbClr val="6E6E6E"/>
                </a:solidFill>
                <a:latin typeface="Arial"/>
              </a:rPr>
              <a:t>A 10 nm single-actuator change — what the servo actually corrects — reads against truth to 1.5 pm at gain 1.001 on lenses and 1.8 pm at 0.993 on mirrors.  Every number here is a committed run of the shared model; the run tags are on the provenance slide and each is repeated on the slide that derives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927811" y="1298448"/>
            <a:ext cx="2773776"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MgF2,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77765"/>
        </p:xfrm>
        <a:graphic>
          <a:graphicData uri="http://schemas.openxmlformats.org/drawingml/2006/table">
            <a:tbl>
              <a:tblPr firstRow="1" bandRow="1">
                <a:tableStyleId>{5C22544A-7EE6-4342-B048-85BDC9FD1C3A}</a:tableStyleId>
              </a:tblPr>
              <a:tblGrid>
                <a:gridCol w="2252980"/>
                <a:gridCol w="3029232"/>
                <a:gridCol w="2547765"/>
                <a:gridCol w="762323"/>
                <a:gridCol w="509524"/>
                <a:gridCol w="2266909"/>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845820">
                <a:tc>
                  <a:txBody>
                    <a:bodyPr wrap="square"/>
                    <a:lstStyle/>
                    <a:p>
                      <a:r>
                        <a:rPr sz="1100" b="0">
                          <a:solidFill>
                            <a:srgbClr val="282828"/>
                          </a:solidFill>
                          <a:latin typeface="Arial"/>
                        </a:rPr>
                        <a:t>vector Zernike,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vector Zernike,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r h="845820">
                <a:tc>
                  <a:txBody>
                    <a:bodyPr wrap="square"/>
                    <a:lstStyle/>
                    <a:p>
                      <a:r>
                        <a:rPr sz="1100" b="0">
                          <a:solidFill>
                            <a:srgbClr val="282828"/>
                          </a:solidFill>
                          <a:latin typeface="Arial"/>
                        </a:rPr>
                        <a:t>P/SRI (backup)</a:t>
                      </a:r>
                    </a:p>
                  </a:txBody>
                  <a:tcPr marL="54864" marR="54864" marT="18288" marB="18288">
                    <a:solidFill>
                      <a:srgbClr val="ECF1F6"/>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ECF1F6"/>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ECF1F6"/>
                    </a:solidFill>
                  </a:tcPr>
                </a:tc>
                <a:tc>
                  <a:txBody>
                    <a:bodyPr wrap="square"/>
                    <a:lstStyle/>
                    <a:p>
                      <a:r>
                        <a:rPr sz="1100" b="0">
                          <a:solidFill>
                            <a:srgbClr val="282828"/>
                          </a:solidFill>
                          <a:latin typeface="Arial"/>
                        </a:rPr>
                        <a:t>AR; protected-metal folds</a:t>
                      </a:r>
                    </a:p>
                  </a:txBody>
                  <a:tcPr marL="54864" marR="54864" marT="18288" marB="18288">
                    <a:solidFill>
                      <a:srgbClr val="ECF1F6"/>
                    </a:solidFill>
                  </a:tcPr>
                </a:tc>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ECF1F6"/>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own camera.  The Zernike, vector and pinhole plates share one substrate on the seat.  Full parts tables with vendors' classes are in each lane's README.  What the photonic reference is, and is not, in these numbers: the P/SRI arm's reference is modeled as the recollimated LP01 mode of a single-mode fiber, with the pickoff fraction, the coupling into the mode, and a miscalibration of the phase steps all priced.  The waveguide itself is not a traced element and the thermo-optic shifter is an ideal phase per frame, so the photonic option is costed as an ideal device on a real mode: its own loss, dispersion and thermal drift are the next thing to model, not something already in these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On the 30 nm surface, matrix measured on it: 10 nm on one actuator 0.991 / 2 pm / SNR 6076; 1 nm on 52 sites 0.990 / 1 pm; dense 10 nm 0.990, 168 pm.</a:t>
            </a:r>
          </a:p>
          <a:p>
            <a:pPr>
              <a:spcAft>
                <a:spcPts val="600"/>
              </a:spcAft>
            </a:pPr>
            <a:r>
              <a:rPr sz="15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on the redo bench, Mac cycle 3c, 2026-09-18).  The lens rig's figure exists but its residual panel reads 51 nm against the engine — a fold, not the pupil-image bowl the earlier hypothesis blamed: the bowl is gone and the residual barely moved (62 → 51 nm).  Under investigation, so it is not shown.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Pupil image quality supports picometer measurement on both rigs.  Carried through to a reading it costs 0.13 % of the figure on lenses and 0.29 % on mirrors — 42 and 92 pm on a 30 nm working surface — and 0.5 % / 0.9 %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Method: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The lens rig images the DM flat (0.5 µm of defocus across the pupil) and holds its mapping to a seventh of an actuator pitch.  The mirror rig trades mapping for the front end: the OAP pair distorts the image by more than a pitch at the edge, which the measured matrix absorbs and the numbers above already include.</a:t>
            </a:r>
          </a:p>
          <a:p>
            <a:pPr>
              <a:spcAft>
                <a:spcPts val="600"/>
              </a:spcAft>
            </a:pPr>
            <a:r>
              <a:rPr sz="1200" b="0">
                <a:solidFill>
                  <a:srgbClr val="282828"/>
                </a:solidFill>
                <a:latin typeface="Arial"/>
              </a:rPr>
              <a:t>•  The mirror rig's focus is perfect on axis and coma-limited off it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8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The camera is at the pupil image, and the best detector move from here is −0.00 mm: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On the 30 nm surface, matrix measured on it: 10 nm on one actuator 0.989 / 5 pm / SNR 2160; 1 nm on 47 sites 0.999 / 4 pm; dense 10 nm 0.984, 0.68 nm.</a:t>
            </a:r>
          </a:p>
          <a:p>
            <a:pPr>
              <a:spcAft>
                <a:spcPts val="600"/>
              </a:spcAft>
            </a:pPr>
            <a:r>
              <a:rPr sz="15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5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5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5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The interferometer needs no recalibration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5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5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754880"/>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1143000" y="1554480"/>
            <a:ext cx="4343400" cy="3931920"/>
          </a:xfrm>
          <a:prstGeom prst="rect">
            <a:avLst/>
          </a:prstGeom>
        </p:spPr>
      </p:pic>
      <p:sp>
        <p:nvSpPr>
          <p:cNvPr id="5" name="TextBox 4"/>
          <p:cNvSpPr txBox="1"/>
          <p:nvPr/>
        </p:nvSpPr>
        <p:spPr>
          <a:xfrm>
            <a:off x="411480" y="5696712"/>
            <a:ext cx="4343400" cy="10546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374904" y="5212080"/>
            <a:ext cx="11368735" cy="274320"/>
          </a:xfrm>
          <a:prstGeom prst="rect">
            <a:avLst/>
          </a:prstGeom>
          <a:noFill/>
        </p:spPr>
        <p:txBody>
          <a:bodyPr wrap="square">
            <a:spAutoFit/>
          </a:bodyPr>
          <a:lstStyle/>
          <a:p>
            <a:pPr>
              <a:spcAft>
                <a:spcPts val="600"/>
              </a:spcAft>
            </a:pPr>
            <a:r>
              <a:rPr sz="12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2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32764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5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5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Redesign the lenses as multi-element assemblies.</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Package A passed on both rigs (TO, 2026-09-17 13:30): collimated, re-tuned on the reading, re-emitted.  Nyquist gain 1.0000 (lens) / 0.9994 (mirrors) worst; the 30 nm surface recovered to 42 pm (lens, 29× the record's tuned tail) and 92 pm (mirrors); single pokes 0.9998 peak; the lens rig's amplitude cross-talk 0.005 (was a third); certified at twice the sampling the tunes ran at.  Distortion is a mapping, not a gate.</a:t>
            </a:r>
          </a:p>
        </p:txBody>
      </p:sp>
      <p:sp>
        <p:nvSpPr>
          <p:cNvPr id="6" name="TextBox 5"/>
          <p:cNvSpPr txBox="1"/>
          <p:nvPr/>
        </p:nvSpPr>
        <p:spPr>
          <a:xfrm>
            <a:off x="6400800" y="5462015"/>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Package B (the engine's plane-to-plane chain) and C (the runs) follow; the Mac carries C's mirror side.  Plan: BRIEF_to_tg_redo.md (packages A0, A, B, C); tools tg96_pupilsim, tg96_pupil_options, tg96_pupil_s2s.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3a-3b, 2026-09-17): the interferometer's rows</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31745"/>
        </p:xfrm>
        <a:graphic>
          <a:graphicData uri="http://schemas.openxmlformats.org/drawingml/2006/table">
            <a:tbl>
              <a:tblPr firstRow="1" bandRow="1">
                <a:tableStyleId>{5C22544A-7EE6-4342-B048-85BDC9FD1C3A}</a:tableStyleId>
              </a:tblPr>
              <a:tblGrid>
                <a:gridCol w="1822924"/>
                <a:gridCol w="1608462"/>
                <a:gridCol w="2398268"/>
                <a:gridCol w="1465488"/>
                <a:gridCol w="2107692"/>
                <a:gridCol w="1965899"/>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59.3 nm</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26.5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468630">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1.004 / 1.4 pm / 7741</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468630">
                <a:tc>
                  <a:txBody>
                    <a:bodyPr wrap="square"/>
                    <a:lstStyle/>
                    <a:p>
                      <a:r>
                        <a:rPr sz="1100" b="0">
                          <a:solidFill>
                            <a:srgbClr val="282828"/>
                          </a:solidFill>
                          <a:latin typeface="Arial"/>
                        </a:rPr>
                        <a:t>1 nm on the grid (112-120 sites)</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0.993 / 10 pm / 246</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0.981 / 4.4 pm / 310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657225">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bl>
          </a:graphicData>
        </a:graphic>
      </p:graphicFrame>
      <p:sp>
        <p:nvSpPr>
          <p:cNvPr id="5" name="TextBox 4"/>
          <p:cNvSpPr txBox="1"/>
          <p:nvPr/>
        </p:nvSpPr>
        <p:spPr>
          <a:xfrm>
            <a:off x="411480" y="3976497"/>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The redo bench restores the lens rig's grid row (0.754 to 0.993) and leaves a 59 nm null; the mirror rig is unchanged by design.  The null that remains on both rigs is the mask plate's spherical aberration in the F/4.2 beam (a 2 mm plate: about 0.1 wave rms), a fixed pattern the reference frame removes and the reading-tuned tail does not chase; TO's null decomposition prices it.</a:t>
            </a:r>
          </a:p>
        </p:txBody>
      </p:sp>
      <p:sp>
        <p:nvSpPr>
          <p:cNvPr id="6" name="TextBox 5"/>
          <p:cNvSpPr txBox="1"/>
          <p:nvPr/>
        </p:nvSpPr>
        <p:spPr>
          <a:xfrm>
            <a:off x="411480" y="6522339"/>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(cycle 3a); redo96_lens, redo96_oap (cycle 3b); the Mac, 2026-09-17.  The pupil image and the sensors on these same decks are on the next slide.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same decks — the pupil image and the sensors</a:t>
            </a:r>
          </a:p>
          <a:p>
            <a:pPr>
              <a:spcAft>
                <a:spcPts val="0"/>
              </a:spcAft>
            </a:pPr>
            <a:r>
              <a:rPr sz="1250" b="0">
                <a:solidFill>
                  <a:srgbClr val="6E6E6E"/>
                </a:solidFill>
                <a:latin typeface="Arial"/>
              </a:rPr>
              <a:t>The imaging is not what limits either rig on the seed tail with the substrates in, and the mask plate costs the sensors a little capture and no gain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720340"/>
        </p:xfrm>
        <a:graphic>
          <a:graphicData uri="http://schemas.openxmlformats.org/drawingml/2006/table">
            <a:tbl>
              <a:tblPr firstRow="1" bandRow="1">
                <a:tableStyleId>{5C22544A-7EE6-4342-B048-85BDC9FD1C3A}</a:tableStyleId>
              </a:tblPr>
              <a:tblGrid>
                <a:gridCol w="3345345"/>
                <a:gridCol w="1223906"/>
                <a:gridCol w="1740667"/>
                <a:gridCol w="2203032"/>
                <a:gridCol w="1359896"/>
                <a:gridCol w="1495886"/>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11.3 mm (384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11.1 mm</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r h="657225">
                <a:tc>
                  <a:txBody>
                    <a:bodyPr wrap="square"/>
                    <a:lstStyle/>
                    <a:p>
                      <a:r>
                        <a:rPr sz="1100" b="0">
                          <a:solidFill>
                            <a:srgbClr val="282828"/>
                          </a:solidFill>
                          <a:latin typeface="Arial"/>
                        </a:rPr>
                        <a:t>pupil imaging on these decks (tg96_pupilsim): image surface vs the camera / Nyquist gain / distortion / 30 nm surface error</a:t>
                      </a:r>
                    </a:p>
                  </a:txBody>
                  <a:tcPr marL="54864" marR="54864" marT="18288" marB="18288">
                    <a:solidFill>
                      <a:srgbClr val="ECF1F6"/>
                    </a:solidFill>
                  </a:tcPr>
                </a:tc>
                <a:tc>
                  <a:txBody>
                    <a:bodyPr wrap="square"/>
                    <a:lstStyle/>
                    <a:p>
                      <a:r>
                        <a:rPr sz="1100" b="0">
                          <a:solidFill>
                            <a:srgbClr val="282828"/>
                          </a:solidFill>
                          <a:latin typeface="Arial"/>
                        </a:rPr>
                        <a:t>within ±0.3 mm / 0.9999 / 0.008 mm / 0.08 nm</a:t>
                      </a:r>
                    </a:p>
                  </a:txBody>
                  <a:tcPr marL="54864" marR="54864" marT="18288" marB="18288">
                    <a:solidFill>
                      <a:srgbClr val="ECF1F6"/>
                    </a:solidFill>
                  </a:tcPr>
                </a:tc>
                <a:tc>
                  <a:txBody>
                    <a:bodyPr wrap="square"/>
                    <a:lstStyle/>
                    <a:p>
                      <a:r>
                        <a:rPr sz="1100" b="0">
                          <a:solidFill>
                            <a:srgbClr val="282828"/>
                          </a:solidFill>
                          <a:latin typeface="Arial"/>
                        </a:rPr>
                        <a:t>flat to 0.001 mm / 1.0000 / 0.04 mm / 0.04 nm (TO's gate record)</a:t>
                      </a:r>
                    </a:p>
                  </a:txBody>
                  <a:tcPr marL="54864" marR="54864" marT="18288" marB="18288">
                    <a:solidFill>
                      <a:srgbClr val="ECF1F6"/>
                    </a:solidFill>
                  </a:tcPr>
                </a:tc>
                <a:tc>
                  <a:txBody>
                    <a:bodyPr wrap="square"/>
                    <a:lstStyle/>
                    <a:p>
                      <a:r>
                        <a:rPr sz="1100" b="0">
                          <a:solidFill>
                            <a:srgbClr val="282828"/>
                          </a:solidFill>
                          <a:latin typeface="Arial"/>
                        </a:rPr>
                        <a:t>within −0.6 to +0.4 mm / 0.9996 / 0.72 mm (the parabola pair's mapping) / 0.10 nm</a:t>
                      </a:r>
                    </a:p>
                  </a:txBody>
                  <a:tcPr marL="54864" marR="54864" marT="18288" marB="18288">
                    <a:solidFill>
                      <a:srgbClr val="ECF1F6"/>
                    </a:solidFill>
                  </a:tcPr>
                </a:tc>
                <a:tc>
                  <a:txBody>
                    <a:bodyPr wrap="square"/>
                    <a:lstStyle/>
                    <a:p>
                      <a:r>
                        <a:rPr sz="1100" b="0">
                          <a:solidFill>
                            <a:srgbClr val="282828"/>
                          </a:solidFill>
                          <a:latin typeface="Arial"/>
                        </a:rPr>
                        <a:t>tilt 0.43, defocus −0.45 / 0.9994 / 0.72 / 0.09 nm</a:t>
                      </a:r>
                    </a:p>
                  </a:txBody>
                  <a:tcPr marL="54864" marR="54864" marT="18288" marB="18288">
                    <a:solidFill>
                      <a:srgbClr val="ECF1F6"/>
                    </a:solidFill>
                  </a:tcPr>
                </a:tc>
                <a:tc>
                  <a:txBody>
                    <a:bodyPr wrap="square"/>
                    <a:lstStyle/>
                    <a:p>
                      <a:r>
                        <a:rPr sz="1100" b="0">
                          <a:solidFill>
                            <a:srgbClr val="282828"/>
                          </a:solidFill>
                          <a:latin typeface="Arial"/>
                        </a:rPr>
                        <a:t>tuned tail: 2.6 to 6 mm / 0.954 / 0.27 mm / 1.2 nm</a:t>
                      </a:r>
                    </a:p>
                  </a:txBody>
                  <a:tcPr marL="54864" marR="54864" marT="18288" marB="18288">
                    <a:solidFill>
                      <a:srgbClr val="ECF1F6"/>
                    </a:solidFill>
                  </a:tcPr>
                </a:tc>
              </a:tr>
              <a:tr h="657225">
                <a:tc>
                  <a:txBody>
                    <a:bodyPr wrap="square"/>
                    <a:lstStyle/>
                    <a:p>
                      <a:r>
                        <a:rPr sz="1100" b="0">
                          <a:solidFill>
                            <a:srgbClr val="282828"/>
                          </a:solidFill>
                          <a:latin typeface="Arial"/>
                        </a:rPr>
                        <a:t>the sensors on the mirror rig at 385 px, substrates in: stepped-Zernike rows, single / grid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0.993 / 5 pm; 0.995 / 4 pm</a:t>
                      </a:r>
                    </a:p>
                  </a:txBody>
                  <a:tcPr marL="54864" marR="54864" marT="18288" marB="18288">
                    <a:solidFill>
                      <a:srgbClr val="FFFFFF"/>
                    </a:solidFill>
                  </a:tcPr>
                </a:tc>
                <a:tc>
                  <a:txBody>
                    <a:bodyPr wrap="square"/>
                    <a:lstStyle/>
                    <a:p>
                      <a:r>
                        <a:rPr sz="1100" b="0">
                          <a:solidFill>
                            <a:srgbClr val="282828"/>
                          </a:solidFill>
                          <a:latin typeface="Arial"/>
                        </a:rPr>
                        <a:t>identical (the sensor bench is the same)</a:t>
                      </a:r>
                    </a:p>
                  </a:txBody>
                  <a:tcPr marL="54864" marR="54864" marT="18288" marB="18288">
                    <a:solidFill>
                      <a:srgbClr val="FFFFFF"/>
                    </a:solidFill>
                  </a:tcPr>
                </a:tc>
                <a:tc>
                  <a:txBody>
                    <a:bodyPr wrap="square"/>
                    <a:lstStyle/>
                    <a:p>
                      <a:r>
                        <a:rPr sz="1100" b="0">
                          <a:solidFill>
                            <a:srgbClr val="282828"/>
                          </a:solidFill>
                          <a:latin typeface="Arial"/>
                        </a:rPr>
                        <a:t>0.991 / 4; 0.999 / 4 (no substrates)</a:t>
                      </a:r>
                    </a:p>
                  </a:txBody>
                  <a:tcPr marL="54864" marR="54864" marT="18288" marB="18288">
                    <a:solidFill>
                      <a:srgbClr val="FFFFFF"/>
                    </a:solidFill>
                  </a:tcPr>
                </a:tc>
              </a:tr>
              <a:tr h="468630">
                <a:tc>
                  <a:txBody>
                    <a:bodyPr wrap="square"/>
                    <a:lstStyle/>
                    <a:p>
                      <a:r>
                        <a:rPr sz="1100" b="0">
                          <a:solidFill>
                            <a:srgbClr val="282828"/>
                          </a:solidFill>
                          <a:latin typeface="Arial"/>
                        </a:rPr>
                        <a:t>the sensors' capture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c>
                  <a:txBody>
                    <a:bodyPr wrap="square"/>
                    <a:lstStyle/>
                    <a:p>
                      <a:r>
                        <a:rPr sz="1100" b="0">
                          <a:solidFill>
                            <a:srgbClr val="282828"/>
                          </a:solidFill>
                          <a:latin typeface="Arial"/>
                        </a:rPr>
                        <a:t>identical</a:t>
                      </a:r>
                    </a:p>
                  </a:txBody>
                  <a:tcPr marL="54864" marR="54864" marT="18288" marB="18288">
                    <a:solidFill>
                      <a:srgbClr val="ECF1F6"/>
                    </a:solidFill>
                  </a:tcPr>
                </a:tc>
                <a:tc>
                  <a:txBody>
                    <a:bodyPr wrap="square"/>
                    <a:lstStyle/>
                    <a:p>
                      <a:r>
                        <a:rPr sz="1100" b="0">
                          <a:solidFill>
                            <a:srgbClr val="282828"/>
                          </a:solidFill>
                          <a:latin typeface="Arial"/>
                        </a:rPr>
                        <a:t>36 / 59 / 52 nm (no substrates)</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500" b="0">
                <a:solidFill>
                  <a:srgbClr val="282828"/>
                </a:solidFill>
                <a:latin typeface="Arial"/>
              </a:rPr>
              <a:t>•  The pupil image is not what limits either rig: on the seed tail with the substrates in, the DM images within a third of a millimeter of the camera on lenses (0.9999 at the actuator Nyquist, 0.08 nm on the working surface) and within 0.6 mm on mirrors; the lens rig's 92 nm null is the plate's spherical aberration and the misfed collimator, not the imaging.  The mask plate costs the sensors a little capture (vector 59 to 51 nm, pinhole 52 to 42) and no gain.</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5967984"/>
            <a:ext cx="11368735" cy="274320"/>
          </a:xfrm>
          <a:prstGeom prst="rect">
            <a:avLst/>
          </a:prstGeom>
          <a:noFill/>
        </p:spPr>
        <p:txBody>
          <a:bodyPr wrap="square">
            <a:spAutoFit/>
          </a:bodyPr>
          <a:lstStyle/>
          <a:p>
            <a:pPr>
              <a:spcAft>
                <a:spcPts val="600"/>
              </a:spcAft>
            </a:pPr>
            <a:r>
              <a:rPr sz="1050" b="0">
                <a:solidFill>
                  <a:srgbClr val="6E6E6E"/>
                </a:solidFill>
                <a:latin typeface="Arial"/>
              </a:rPr>
              <a:t>Run tags pupilsim_sub96_lens, pupilsim_sub96_oap, sub96_oapsens (cycle 3a); redo96_oapsens (3b); the Mac, 2026-09-17.  The interferometer's rows on these decks are on the previous slide.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1133856"/>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