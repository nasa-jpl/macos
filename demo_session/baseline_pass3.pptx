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2 September 2026.</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
        <p:nvSpPr>
          <p:cNvPr id="5" name="TextBox 4"/>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0.991–1.003×</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0.8–1.25×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6510528" y="1261872"/>
            <a:ext cx="5148072" cy="3959352"/>
          </a:xfrm>
          <a:prstGeom prst="rect">
            <a:avLst/>
          </a:prstGeom>
        </p:spPr>
      </p:pic>
      <p:sp>
        <p:nvSpPr>
          <p:cNvPr id="7" name="TextBox 6"/>
          <p:cNvSpPr txBox="1"/>
          <p:nvPr/>
        </p:nvSpPr>
        <p:spPr>
          <a:xfrm>
            <a:off x="6400800" y="51297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8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8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
        <p:nvSpPr>
          <p:cNvPr id="8" name="TextBox 7"/>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series starts at the new solution — frame one reproduces the dug floor (1.134 vs 1.133×10⁻⁹, a built-in gate) — and runs a random disturbance: a 10 nm/hr correlated drift ramp plus a 0.5 nm-per-step walk, 24 hours at 30-minute frames.</a:t>
            </a:r>
          </a:p>
          <a:p>
            <a:pPr>
              <a:spcAft>
                <a:spcPts val="600"/>
              </a:spcAft>
            </a:pPr>
            <a:r>
              <a:rPr sz="16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6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6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6629400" y="1078992"/>
            <a:ext cx="4572000" cy="4434840"/>
          </a:xfrm>
          <a:prstGeom prst="rect">
            <a:avLst/>
          </a:prstGeom>
        </p:spPr>
      </p:pic>
      <p:sp>
        <p:nvSpPr>
          <p:cNvPr id="6" name="TextBox 5"/>
          <p:cNvSpPr txBox="1"/>
          <p:nvPr/>
        </p:nvSpPr>
        <p:spPr>
          <a:xfrm>
            <a:off x="6400800" y="5513832"/>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random drift, both passes starting from the dug dark hole: segment rigid-body state, exit-pupil wavefront, and science-plane contrast — open loop against closed.</a:t>
            </a:r>
          </a:p>
        </p:txBody>
      </p:sp>
      <p:sp>
        <p:nvSpPr>
          <p:cNvPr id="7" name="TextBox 6"/>
          <p:cNvSpPr txBox="1"/>
          <p:nvPr/>
        </p:nvSpPr>
        <p:spPr>
          <a:xfrm>
            <a:off x="6400800" y="6108192"/>
            <a:ext cx="5394960" cy="274320"/>
          </a:xfrm>
          <a:prstGeom prst="rect">
            <a:avLst/>
          </a:prstGeom>
          <a:noFill/>
        </p:spPr>
        <p:txBody>
          <a:bodyPr wrap="square">
            <a:spAutoFit/>
          </a:bodyPr>
          <a:lstStyle/>
          <a:p>
            <a:pPr>
              <a:spcAft>
                <a:spcPts val="600"/>
              </a:spcAft>
            </a:pPr>
            <a:r>
              <a:rPr sz="1200" b="0">
                <a:solidFill>
                  <a:srgbClr val="6E6E6E"/>
                </a:solidFill>
                <a:latin typeface="Arial"/>
              </a:rPr>
              <a:t>Record: templates/80_end_to_end/e2e6m_r2, CF5b stage — d=1.10 deck, G = the ladder's dug-state Jacobian.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ask: a field-box width, anywhere in 5–15°.  The prediction, stated before the solve: interpolated from the committed frontier rows.</a:t>
            </a:r>
          </a:p>
          <a:p>
            <a:pPr>
              <a:spcAft>
                <a:spcPts val="600"/>
              </a:spcAft>
            </a:pPr>
            <a:r>
              <a:rPr sz="1600" b="0">
                <a:solidFill>
                  <a:srgbClr val="282828"/>
                </a:solidFill>
                <a:latin typeface="Arial"/>
              </a:rPr>
              <a:t>•  The pre-run rehearsal of the default ask (12°): predicted 33.7 nm; solved 33.6 nm — 1.00× — at a 24.9 mm clearance floor, both checks pass, in 15 minutes.</a:t>
            </a:r>
          </a:p>
          <a:p>
            <a:pPr>
              <a:spcAft>
                <a:spcPts val="600"/>
              </a:spcAft>
            </a:pPr>
            <a:r>
              <a:rPr sz="1600" b="0">
                <a:solidFill>
                  <a:srgbClr val="282828"/>
                </a:solidFill>
                <a:latin typeface="Arial"/>
              </a:rPr>
              <a:t>•  The run is deterministic to every printed digit, and every ask is a genuine continuation step — never a re-score of a stored design.</a:t>
            </a:r>
          </a:p>
        </p:txBody>
      </p:sp>
      <p:pic>
        <p:nvPicPr>
          <p:cNvPr id="5" name="Picture 4" descr="crop_oi_demo_12deg_layout.png"/>
          <p:cNvPicPr>
            <a:picLocks noChangeAspect="1"/>
          </p:cNvPicPr>
          <p:nvPr/>
        </p:nvPicPr>
        <p:blipFill>
          <a:blip r:embed="rId2"/>
          <a:stretch>
            <a:fillRect/>
          </a:stretch>
        </p:blipFill>
        <p:spPr>
          <a:xfrm>
            <a:off x="7168896" y="1298448"/>
            <a:ext cx="3520440" cy="5102352"/>
          </a:xfrm>
          <a:prstGeom prst="rect">
            <a:avLst/>
          </a:prstGeom>
        </p:spPr>
      </p:pic>
      <p:sp>
        <p:nvSpPr>
          <p:cNvPr id="6" name="TextBox 5"/>
          <p:cNvSpPr txBox="1"/>
          <p:nvPr/>
        </p:nvSpPr>
        <p:spPr>
          <a:xfrm>
            <a:off x="6400800" y="6016752"/>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3635124" y="3995928"/>
            <a:ext cx="2294375" cy="2011680"/>
          </a:xfrm>
          <a:prstGeom prst="rect">
            <a:avLst/>
          </a:prstGeom>
        </p:spPr>
      </p:pic>
      <p:sp>
        <p:nvSpPr>
          <p:cNvPr id="8" name="TextBox 7"/>
          <p:cNvSpPr txBox="1"/>
          <p:nvPr/>
        </p:nvSpPr>
        <p:spPr>
          <a:xfrm>
            <a:off x="530352" y="6007608"/>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agent's own questions for this room</a:t>
            </a:r>
          </a:p>
          <a:p>
            <a:pPr>
              <a:spcAft>
                <a:spcPts val="0"/>
              </a:spcAft>
            </a:pPr>
            <a:r>
              <a:rPr sz="1250" b="0">
                <a:solidFill>
                  <a:srgbClr val="6E6E6E"/>
                </a:solidFill>
                <a:latin typeface="Arial"/>
              </a:rPr>
              <a:t>Asked by the AI that ran these studies — each is a place a campaign hit something your experience can answer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 the afocal family: the interface-pupil condition consumes the last two mirror powers — we priced it at 2.7× of wavefront — and field curvature owns 60–99.7% of every design's wavefront variance.  Is that pupil requirement held this hard in shipped practice, and is a strongly curved opposite-sign corrector in the compressed beam near the exit a move you have seen work?</a:t>
            </a:r>
          </a:p>
          <a:p>
            <a:pPr>
              <a:spcAft>
                <a:spcPts val="600"/>
              </a:spcAft>
            </a:pPr>
            <a:r>
              <a:rPr sz="1500" b="0">
                <a:solidFill>
                  <a:srgbClr val="282828"/>
                </a:solidFill>
                <a:latin typeface="Arial"/>
              </a:rPr>
              <a:t>•  On basins: our solvers never left the basin they were seeded in — a cold start lost to a warm one by 8500×, and rigid bodies offered ±15° of freedom used 0.9° (the off-axis family had to be seeded, not perturbed into).  When does your practice reach for a genuinely new starting geometry rather than a better step — and do designers trust automated global search to make that call?</a:t>
            </a:r>
          </a:p>
          <a:p>
            <a:pPr>
              <a:spcAft>
                <a:spcPts val="600"/>
              </a:spcAft>
            </a:pPr>
            <a:r>
              <a:rPr sz="1500" b="0">
                <a:solidFill>
                  <a:srgbClr val="282828"/>
                </a:solidFill>
                <a:latin typeface="Arial"/>
              </a:rPr>
              <a:t>•  On merit functions: a requirement sitting 120× from feasible owns the sum of squares and the other terms cast no vote — we ended in log-domain residuals, and constraint walls applied to iterates, never to reports.  What is your practice for scaling one merit across requirement classes that live decades apart?</a:t>
            </a:r>
          </a:p>
          <a:p>
            <a:pPr>
              <a:spcAft>
                <a:spcPts val="600"/>
              </a:spcAft>
            </a:pPr>
            <a:r>
              <a:rPr sz="1500" b="0">
                <a:solidFill>
                  <a:srgbClr val="282828"/>
                </a:solidFill>
                <a:latin typeface="Arial"/>
              </a:rPr>
              <a:t>•  On conventions: the largest error class I produced in months of this work was conventions — the sign of a radius, which reference sphere a number is quoted against.  Today those answers live in manuals.  Could the macro/API layer serve them as data — let a program, or an AI, ask the design which convention a number is in, instead of inferring it?</a:t>
            </a:r>
          </a:p>
          <a:p>
            <a:pPr>
              <a:spcAft>
                <a:spcPts val="600"/>
              </a:spcAft>
            </a:pPr>
            <a:r>
              <a:rPr sz="1500" b="0">
                <a:solidFill>
                  <a:srgbClr val="282828"/>
                </a:solidFill>
                <a:latin typeface="Arial"/>
              </a:rPr>
              <a:t>•  For anyone who has run a testbed: our EFC restart ladder walled at 1.1×10⁻⁹ against a measured 3.5×10⁻¹¹ substrate — the step rule was the binder, not the optics — and the apodizer's real purchase measured as stroke economy: the same substrate costs 33 nm of DM stroke apodized and microns bare, at 8× the throughput.  What buys the last decade in your experience, and do micron-stroke amplitude solutions survive real hardware?</a:t>
            </a:r>
          </a:p>
        </p:txBody>
      </p:sp>
      <p:sp>
        <p:nvSpPr>
          <p:cNvPr id="5" name="TextBox 4"/>
          <p:cNvSpPr txBox="1"/>
          <p:nvPr/>
        </p:nvSpPr>
        <p:spPr>
          <a:xfrm>
            <a:off x="411480" y="6493763"/>
            <a:ext cx="11368735" cy="274320"/>
          </a:xfrm>
          <a:prstGeom prst="rect">
            <a:avLst/>
          </a:prstGeom>
          <a:noFill/>
        </p:spPr>
        <p:txBody>
          <a:bodyPr wrap="square">
            <a:spAutoFit/>
          </a:bodyPr>
          <a:lstStyle/>
          <a:p>
            <a:pPr>
              <a:spcAft>
                <a:spcPts val="600"/>
              </a:spcAft>
            </a:pPr>
            <a:r>
              <a:rPr sz="1050" b="0">
                <a:solidFill>
                  <a:srgbClr val="6E6E6E"/>
                </a:solidFill>
                <a:latin typeface="Arial"/>
              </a:rPr>
              <a:t>These are genuine, not rhetorical.  The agent is live during this talk: Dave can relay your answers — or your questions — and it will respond, or follow up, in real time.</a:t>
            </a:r>
          </a:p>
        </p:txBody>
      </p:sp>
      <p:sp>
        <p:nvSpPr>
          <p:cNvPr id="6" name="TextBox 5"/>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117336"/>
            <a:ext cx="11365992"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8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8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8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a:t>
            </a:r>
          </a:p>
          <a:p>
            <a:pPr>
              <a:spcAft>
                <a:spcPts val="600"/>
              </a:spcAft>
            </a:pPr>
            <a:r>
              <a:rPr sz="18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3640"/>
            <a:ext cx="11365992" cy="274320"/>
          </a:xfrm>
          <a:prstGeom prst="rect">
            <a:avLst/>
          </a:prstGeom>
          <a:noFill/>
        </p:spPr>
        <p:txBody>
          <a:bodyPr wrap="square">
            <a:spAutoFit/>
          </a:bodyPr>
          <a:lstStyle/>
          <a:p>
            <a:pPr>
              <a:spcAft>
                <a:spcPts val="600"/>
              </a:spcAft>
            </a:pPr>
            <a:r>
              <a:rPr sz="1050" b="0">
                <a:solidFill>
                  <a:srgbClr val="6E6E6E"/>
                </a:solidFill>
                <a:latin typeface="Arial"/>
              </a:rPr>
              <a:t>The agent proposes; the trusted engine disposes.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
        <p:nvSpPr>
          <p:cNvPr id="7" name="TextBox 6"/>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
        <p:nvSpPr>
          <p:cNvPr id="10" name="TextBox 9"/>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