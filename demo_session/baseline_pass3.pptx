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1 September 2026.  Prepared for the Keysight CODE V team.  DRAFT — pending source sign-off.</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other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operational data across those programs.</a:t>
            </a:r>
          </a:p>
          <a:p>
            <a:pPr>
              <a:spcAft>
                <a:spcPts val="600"/>
              </a:spcAft>
            </a:pPr>
            <a:r>
              <a:rPr sz="1500" b="0">
                <a:solidFill>
                  <a:srgbClr val="282828"/>
                </a:solidFill>
                <a:latin typeface="Arial"/>
              </a:rPr>
              <a:t>•  We are now modernizing and extending the capabilities of our modeling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411480" y="5596128"/>
            <a:ext cx="11368735"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  Rebuild the figure: make_mmacos_fig.py.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solves match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680210"/>
        </p:xfrm>
        <a:graphic>
          <a:graphicData uri="http://schemas.openxmlformats.org/drawingml/2006/table">
            <a:tbl>
              <a:tblPr firstRow="1" bandRow="1">
                <a:tableStyleId>{5C22544A-7EE6-4342-B048-85BDC9FD1C3A}</a:tableStyleId>
              </a:tblPr>
              <a:tblGrid>
                <a:gridCol w="2734252"/>
                <a:gridCol w="4029425"/>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MACOS, piston + tilt removed</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Piston + per-field tip/tilt removed = a centroid-referenced sphere (a chief-referenced sphere leaves the tilt in).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rcRect t="21300"/>
          <a:stretch>
            <a:fillRect/>
          </a:stretch>
        </p:blipFill>
        <p:spPr>
          <a:xfrm>
            <a:off x="996696" y="3008376"/>
            <a:ext cx="5175504" cy="2898648"/>
          </a:xfrm>
          <a:prstGeom prst="rect">
            <a:avLst/>
          </a:prstGeom>
        </p:spPr>
      </p:pic>
      <p:sp>
        <p:nvSpPr>
          <p:cNvPr id="6" name="TextBox 5"/>
          <p:cNvSpPr txBox="1"/>
          <p:nvPr/>
        </p:nvSpPr>
        <p:spPr>
          <a:xfrm>
            <a:off x="411480" y="5815584"/>
            <a:ext cx="5806440" cy="410718"/>
          </a:xfrm>
          <a:prstGeom prst="rect">
            <a:avLst/>
          </a:prstGeom>
          <a:noFill/>
        </p:spPr>
        <p:txBody>
          <a:bodyPr wrap="square">
            <a:spAutoFit/>
          </a:bodyPr>
          <a:lstStyle/>
          <a:p>
            <a:pPr algn="ctr">
              <a:spcAft>
                <a:spcPts val="0"/>
              </a:spcAft>
            </a:pPr>
            <a:r>
              <a:rPr sz="105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245352"/>
            <a:ext cx="5806440" cy="274320"/>
          </a:xfrm>
          <a:prstGeom prst="rect">
            <a:avLst/>
          </a:prstGeom>
          <a:noFill/>
        </p:spPr>
        <p:txBody>
          <a:bodyPr wrap="square">
            <a:spAutoFit/>
          </a:bodyPr>
          <a:lstStyle/>
          <a:p>
            <a:pPr>
              <a:spcAft>
                <a:spcPts val="600"/>
              </a:spcAft>
            </a:pPr>
            <a:r>
              <a:rPr sz="110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06640" y="2971800"/>
            <a:ext cx="3895344" cy="2816352"/>
          </a:xfrm>
          <a:prstGeom prst="rect">
            <a:avLst/>
          </a:prstGeom>
        </p:spPr>
      </p:pic>
      <p:sp>
        <p:nvSpPr>
          <p:cNvPr id="9" name="TextBox 8"/>
          <p:cNvSpPr txBox="1"/>
          <p:nvPr/>
        </p:nvSpPr>
        <p:spPr>
          <a:xfrm>
            <a:off x="7406640" y="5806440"/>
            <a:ext cx="3895344"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6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6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rcRect l="29400" r="29400" t="4200" b="5900"/>
          <a:stretch>
            <a:fillRect/>
          </a:stretch>
        </p:blipFill>
        <p:spPr>
          <a:xfrm>
            <a:off x="7315200" y="1298448"/>
            <a:ext cx="4114800" cy="5477256"/>
          </a:xfrm>
          <a:prstGeom prst="rect">
            <a:avLst/>
          </a:prstGeom>
        </p:spPr>
      </p:pic>
      <p:sp>
        <p:nvSpPr>
          <p:cNvPr id="6" name="TextBox 5"/>
          <p:cNvSpPr txBox="1"/>
          <p:nvPr/>
        </p:nvSpPr>
        <p:spPr>
          <a:xfrm>
            <a:off x="4535424" y="4169663"/>
            <a:ext cx="2514600" cy="1054608"/>
          </a:xfrm>
          <a:prstGeom prst="rect">
            <a:avLst/>
          </a:prstGeom>
          <a:noFill/>
        </p:spPr>
        <p:txBody>
          <a:bodyPr wrap="square">
            <a:spAutoFit/>
          </a:bodyPr>
          <a:lstStyle/>
          <a:p>
            <a:pPr algn="ctr">
              <a:spcAft>
                <a:spcPts val="0"/>
              </a:spcAft>
            </a:pPr>
            <a:r>
              <a:rPr sz="1500" b="0">
                <a:solidFill>
                  <a:srgbClr val="6E6E6E"/>
                </a:solidFill>
                <a:latin typeface="Arial"/>
              </a:rPr>
              <a:t>The metrology on the observatory: 24 elements, 114 MET beams to the aft launcher station.</a:t>
            </a:r>
          </a:p>
        </p:txBody>
      </p:sp>
      <p:sp>
        <p:nvSpPr>
          <p:cNvPr id="7" name="TextBox 6"/>
          <p:cNvSpPr txBox="1"/>
          <p:nvPr/>
        </p:nvSpPr>
        <p:spPr>
          <a:xfrm>
            <a:off x="3063240" y="63825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948630" y="1298448"/>
            <a:ext cx="10294434" cy="2732532"/>
          </a:xfrm>
          <a:prstGeom prst="rect">
            <a:avLst/>
          </a:prstGeom>
        </p:spPr>
      </p:pic>
      <p:sp>
        <p:nvSpPr>
          <p:cNvPr id="5" name="TextBox 4"/>
          <p:cNvSpPr txBox="1"/>
          <p:nvPr/>
        </p:nvSpPr>
        <p:spPr>
          <a:xfrm>
            <a:off x="411480" y="4049267"/>
            <a:ext cx="11368735" cy="608838"/>
          </a:xfrm>
          <a:prstGeom prst="rect">
            <a:avLst/>
          </a:prstGeom>
          <a:noFill/>
        </p:spPr>
        <p:txBody>
          <a:bodyPr wrap="square">
            <a:spAutoFit/>
          </a:bodyPr>
          <a:lstStyle/>
          <a:p>
            <a:pPr algn="ctr">
              <a:spcAft>
                <a:spcPts val="0"/>
              </a:spcAft>
            </a:pPr>
            <a:r>
              <a:rPr sz="1100" b="0">
                <a:solidFill>
                  <a:srgbClr val="6E6E6E"/>
                </a:solidFill>
                <a:latin typeface="Arial"/>
              </a:rPr>
              <a:t>Two rigid-body channels: the centre segment (E1) and an outer-ring segment (E8), x-rotation — the centre-field OPD at full size, then the same channel at all five fields, every pupil full.  Drawn from the round-1-train harvest, whose stops pass the whole box; the r2-train harvest matches at the centre field, but its DM-bearing coronagraph clips the corners — that instrument works the centre field.  Piston removed; 1–99% color scale.</a:t>
            </a:r>
          </a:p>
        </p:txBody>
      </p:sp>
      <p:sp>
        <p:nvSpPr>
          <p:cNvPr id="6" name="TextBox 5"/>
          <p:cNvSpPr txBox="1"/>
          <p:nvPr/>
        </p:nvSpPr>
        <p:spPr>
          <a:xfrm>
            <a:off x="411480" y="4694682"/>
            <a:ext cx="11368735" cy="274320"/>
          </a:xfrm>
          <a:prstGeom prst="rect">
            <a:avLst/>
          </a:prstGeom>
          <a:noFill/>
        </p:spPr>
        <p:txBody>
          <a:bodyPr wrap="square">
            <a:spAutoFit/>
          </a:bodyPr>
          <a:lstStyle/>
          <a:p>
            <a:pPr>
              <a:spcAft>
                <a:spcPts val="600"/>
              </a:spcAft>
            </a:pPr>
            <a:r>
              <a:rPr sz="1500" b="0">
                <a:solidFill>
                  <a:srgbClr val="282828"/>
                </a:solidFill>
                <a:latin typeface="Arial"/>
              </a:rPr>
              <a:t>•  Six rigid-body DOFs for every optic — the 19 segments, M2-M4, both DMs, the 8 OAPs — plus the whole primary as one rigid group, five fields each, stacked into the control Jacobian.  The response lives on the moved segment's footprint and walks with field.  The coronagraph works the center field only — its stops vignette the corners; the imaging leg sees the full box.</a:t>
            </a:r>
          </a:p>
        </p:txBody>
      </p:sp>
      <p:sp>
        <p:nvSpPr>
          <p:cNvPr id="7" name="TextBox 6"/>
          <p:cNvSpPr txBox="1"/>
          <p:nvPr/>
        </p:nvSpPr>
        <p:spPr>
          <a:xfrm>
            <a:off x="411480" y="5862065"/>
            <a:ext cx="11368735" cy="274320"/>
          </a:xfrm>
          <a:prstGeom prst="rect">
            <a:avLst/>
          </a:prstGeom>
          <a:noFill/>
        </p:spPr>
        <p:txBody>
          <a:bodyPr wrap="square">
            <a:spAutoFit/>
          </a:bodyPr>
          <a:lstStyle/>
          <a:p>
            <a:pPr>
              <a:spcAft>
                <a:spcPts val="600"/>
              </a:spcAft>
            </a:pPr>
            <a:r>
              <a:rPr sz="1200" b="0">
                <a:solidFill>
                  <a:srgbClr val="6E6E6E"/>
                </a:solidFill>
                <a:latin typeface="Arial"/>
              </a:rPr>
              <a:t>Harvest on r1_seg_prop.in, the deck the simulator propagates; per-field FEX reset; closure gated by jacobian_check.  Every panel is one line from the saved Jacobian: OPD = v2m(dwdx(:,k), indx).  Record: templates/80_end_to_end/e2e6m_r2.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93268"/>
          </a:xfrm>
          <a:prstGeom prst="rect">
            <a:avLst/>
          </a:prstGeom>
          <a:noFill/>
        </p:spPr>
        <p:txBody>
          <a:bodyPr wrap="square">
            <a:spAutoFit/>
          </a:bodyPr>
          <a:lstStyle/>
          <a:p>
            <a:pPr algn="ctr">
              <a:spcAft>
                <a:spcPts val="0"/>
              </a:spcAft>
            </a:pPr>
            <a:r>
              <a:rPr sz="1300" b="0">
                <a:solidFill>
                  <a:srgbClr val="6E6E6E"/>
                </a:solidFill>
                <a:latin typeface="Arial"/>
              </a:rPr>
              <a:t>Two of the 152 channels: segments E1 and E8, MonZernike mode 4 — the centre field at full size, then all five fields (round-1-train harvest, full pupils).  Piston removed; 1–99% color scale.</a:t>
            </a:r>
          </a:p>
        </p:txBody>
      </p:sp>
      <p:sp>
        <p:nvSpPr>
          <p:cNvPr id="6" name="TextBox 5"/>
          <p:cNvSpPr txBox="1"/>
          <p:nvPr/>
        </p:nvSpPr>
        <p:spPr>
          <a:xfrm>
            <a:off x="411480" y="4744211"/>
            <a:ext cx="11368735" cy="274320"/>
          </a:xfrm>
          <a:prstGeom prst="rect">
            <a:avLst/>
          </a:prstGeom>
          <a:noFill/>
        </p:spPr>
        <p:txBody>
          <a:bodyPr wrap="square">
            <a:spAutoFit/>
          </a:bodyPr>
          <a:lstStyle/>
          <a:p>
            <a:pPr>
              <a:spcAft>
                <a:spcPts val="600"/>
              </a:spcAft>
            </a:pPr>
            <a:r>
              <a:rPr sz="1500" b="0">
                <a:solidFill>
                  <a:srgbClr val="282828"/>
                </a:solidFill>
                <a:latin typeface="Arial"/>
              </a:rPr>
              <a:t>•  Zernike figure modes 4–11 on each of the 19 segments, M2-M4, the 8 OAPs — five fields each.  Each channel is confined to its own segment; the mode shape is visible at a glance.</a:t>
            </a:r>
          </a:p>
          <a:p>
            <a:pPr>
              <a:spcAft>
                <a:spcPts val="600"/>
              </a:spcAft>
            </a:pPr>
            <a:r>
              <a:rPr sz="1500" b="0">
                <a:solidFill>
                  <a:srgbClr val="282828"/>
                </a:solidFill>
                <a:latin typeface="Arial"/>
              </a:rPr>
              <a:t>•  Any element can have deformations described by up to 65 Zernike modes.</a:t>
            </a:r>
          </a:p>
          <a:p>
            <a:pPr>
              <a:spcAft>
                <a:spcPts val="600"/>
              </a:spcAft>
            </a:pPr>
            <a:r>
              <a:rPr sz="1500" b="0">
                <a:solidFill>
                  <a:srgbClr val="282828"/>
                </a:solidFill>
                <a:latin typeface="Arial"/>
              </a:rPr>
              <a:t>•  MACOS supports 4 types of Zernikes, in normalized or raw forms.</a:t>
            </a:r>
          </a:p>
        </p:txBody>
      </p:sp>
      <p:sp>
        <p:nvSpPr>
          <p:cNvPr id="7" name="TextBox 6"/>
          <p:cNvSpPr txBox="1"/>
          <p:nvPr/>
        </p:nvSpPr>
        <p:spPr>
          <a:xfrm>
            <a:off x="411480" y="6192011"/>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III: shape-normalized modes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60248"/>
          </a:xfrm>
          <a:prstGeom prst="rect">
            <a:avLst/>
          </a:prstGeom>
          <a:noFill/>
        </p:spPr>
        <p:txBody>
          <a:bodyPr wrap="square">
            <a:spAutoFit/>
          </a:bodyPr>
          <a:lstStyle/>
          <a:p>
            <a:pPr algn="ctr">
              <a:spcAft>
                <a:spcPts val="0"/>
              </a:spcAft>
            </a:pPr>
            <a:r>
              <a:rPr sz="1200" b="0">
                <a:solidFill>
                  <a:srgbClr val="6E6E6E"/>
                </a:solidFill>
                <a:latin typeface="Arial"/>
              </a:rPr>
              <a:t>Two of the 114 channels: segments E1 and E8, grid mode 4 — the centre field at full size, then all five fields (round-1-train harvest, full pupils).  Piston removed; 1–99% color scale.</a:t>
            </a:r>
          </a:p>
        </p:txBody>
      </p:sp>
      <p:sp>
        <p:nvSpPr>
          <p:cNvPr id="6" name="TextBox 5"/>
          <p:cNvSpPr txBox="1"/>
          <p:nvPr/>
        </p:nvSpPr>
        <p:spPr>
          <a:xfrm>
            <a:off x="411480" y="4711192"/>
            <a:ext cx="11368735" cy="274320"/>
          </a:xfrm>
          <a:prstGeom prst="rect">
            <a:avLst/>
          </a:prstGeom>
          <a:noFill/>
        </p:spPr>
        <p:txBody>
          <a:bodyPr wrap="square">
            <a:spAutoFit/>
          </a:bodyPr>
          <a:lstStyle/>
          <a:p>
            <a:pPr>
              <a:spcAft>
                <a:spcPts val="600"/>
              </a:spcAft>
            </a:pPr>
            <a:r>
              <a:rPr sz="1500" b="0">
                <a:solidFill>
                  <a:srgbClr val="282828"/>
                </a:solidFill>
                <a:latin typeface="Arial"/>
              </a:rPr>
              <a:t>•  GridData surfaces can be used to add nearly any surface departure form: as-measured aberrations, Gram-Schmidt orthogonalized Zernike modes, and DM actuations are all used in coronagraphic telescope models.</a:t>
            </a:r>
          </a:p>
          <a:p>
            <a:pPr>
              <a:spcAft>
                <a:spcPts val="600"/>
              </a:spcAft>
            </a:pPr>
            <a:r>
              <a:rPr sz="1500" b="0">
                <a:solidFill>
                  <a:srgbClr val="282828"/>
                </a:solidFill>
                <a:latin typeface="Arial"/>
              </a:rPr>
              <a:t>•  These plots illustrate grid-basis influence shapes on 2 of the 19 segments, using the interface for measured influence functions and actuator maps — the same machinery the DM Jacobians use.</a:t>
            </a:r>
          </a:p>
        </p:txBody>
      </p:sp>
      <p:sp>
        <p:nvSpPr>
          <p:cNvPr id="7" name="TextBox 6"/>
          <p:cNvSpPr txBox="1"/>
          <p:nvPr/>
        </p:nvSpPr>
        <p:spPr>
          <a:xfrm>
            <a:off x="411480" y="6018784"/>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The closed loop holds dark-zone contrast at 2.5×10⁻⁷ where the uncontrolled series drifts to 1.7×10⁻⁶</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Random segment drift is injected; the rigid-body loop senses through the designed metrology, estimates and corrects, while EFC re-solves the dark zone per scored frame — all on one model.</a:t>
            </a:r>
          </a:p>
          <a:p>
            <a:pPr>
              <a:spcAft>
                <a:spcPts val="600"/>
              </a:spcAft>
            </a:pPr>
            <a:r>
              <a:rPr sz="1200" b="0">
                <a:solidFill>
                  <a:srgbClr val="282828"/>
                </a:solidFill>
                <a:latin typeface="Arial"/>
              </a:rPr>
              <a:t>•  The disturbance interface is the point: the same channels are built to ingest dynamical- and thermal-model time histories — simulating performance in the space environment.  Work in progress.</a:t>
            </a:r>
          </a:p>
          <a:p>
            <a:pPr>
              <a:spcAft>
                <a:spcPts val="600"/>
              </a:spcAft>
            </a:pPr>
            <a:r>
              <a:rPr sz="1200" b="0">
                <a:solidFill>
                  <a:srgbClr val="282828"/>
                </a:solidFill>
                <a:latin typeface="Arial"/>
              </a:rPr>
              <a:t>•  Honest gap, attributed: the segmented-pupil contrast floor sits above the clear-pupil testbed's — the gaps and edges carry it, not the control.</a:t>
            </a:r>
          </a:p>
        </p:txBody>
      </p:sp>
      <p:pic>
        <p:nvPicPr>
          <p:cNvPr id="5" name="Picture 4" descr="r4_series_3nm.png"/>
          <p:cNvPicPr>
            <a:picLocks noChangeAspect="1"/>
          </p:cNvPicPr>
          <p:nvPr/>
        </p:nvPicPr>
        <p:blipFill>
          <a:blip r:embed="rId2"/>
          <a:stretch>
            <a:fillRect/>
          </a:stretch>
        </p:blipFill>
        <p:spPr>
          <a:xfrm>
            <a:off x="6923477" y="1298448"/>
            <a:ext cx="4349605" cy="4177792"/>
          </a:xfrm>
          <a:prstGeom prst="rect">
            <a:avLst/>
          </a:prstGeom>
        </p:spPr>
      </p:pic>
      <p:sp>
        <p:nvSpPr>
          <p:cNvPr id="6" name="TextBox 5"/>
          <p:cNvSpPr txBox="1"/>
          <p:nvPr/>
        </p:nvSpPr>
        <p:spPr>
          <a:xfrm>
            <a:off x="6400800" y="5494528"/>
            <a:ext cx="5394960" cy="394208"/>
          </a:xfrm>
          <a:prstGeom prst="rect">
            <a:avLst/>
          </a:prstGeom>
          <a:noFill/>
        </p:spPr>
        <p:txBody>
          <a:bodyPr wrap="square">
            <a:spAutoFit/>
          </a:bodyPr>
          <a:lstStyle/>
          <a:p>
            <a:pPr algn="ctr">
              <a:spcAft>
                <a:spcPts val="0"/>
              </a:spcAft>
            </a:pPr>
            <a:r>
              <a:rPr sz="1000" b="0">
                <a:solidFill>
                  <a:srgbClr val="6E6E6E"/>
                </a:solidFill>
                <a:latin typeface="Arial"/>
              </a:rPr>
              <a:t>Four hundred seconds under drift: segment rigid-body state, wavefront at the coronagraph exit pupil,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time-series stage.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result verified when the designer is a machine?  Here: regression checks with negative controls, layout figures read against every claim, and corrected signed measures — the checks caught the errors shown today.</a:t>
            </a:r>
          </a:p>
          <a:p>
            <a:pPr>
              <a:spcAft>
                <a:spcPts val="600"/>
              </a:spcAft>
            </a:pPr>
            <a:r>
              <a:rPr sz="1500" b="0">
                <a:solidFill>
                  <a:srgbClr val="282828"/>
                </a:solidFill>
                <a:latin typeface="Arial"/>
              </a:rPr>
              <a:t>•  Where does the human rule?  Constraint choices, metric definitions, and every outward claim carry a human sign-off;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These are offered as discussion questions, not settled doctrine.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Summary</a:t>
            </a:r>
          </a:p>
          <a:p>
            <a:pPr>
              <a:spcAft>
                <a:spcPts val="0"/>
              </a:spcAft>
            </a:pPr>
            <a:r>
              <a:rPr sz="1250" b="0">
                <a:solidFill>
                  <a:srgbClr val="6E6E6E"/>
                </a:solidFill>
                <a:latin typeface="Arial"/>
              </a:rPr>
              <a:t>One engine, validated; a toolbox that designs; an AI that drives it — all public</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One validated engine behind four language surfaces; a MATLAB design layer that took three CODE V benchmark studies from reproduction to extension.</a:t>
            </a:r>
          </a:p>
          <a:p>
            <a:pPr>
              <a:spcAft>
                <a:spcPts val="600"/>
              </a:spcAft>
            </a:pPr>
            <a:r>
              <a:rPr sz="1500" b="0">
                <a:solidFill>
                  <a:srgbClr val="282828"/>
                </a:solidFill>
                <a:latin typeface="Arial"/>
              </a:rPr>
              <a:t>•  Two things happened live: a telescope designed to the audience's field specification in one warm-started step, and a polarization interferometer measuring a deformable mirror to 0.18 nm.</a:t>
            </a:r>
          </a:p>
          <a:p>
            <a:pPr>
              <a:spcAft>
                <a:spcPts val="600"/>
              </a:spcAft>
            </a:pPr>
            <a:r>
              <a:rPr sz="1500" b="0">
                <a:solidFill>
                  <a:srgbClr val="282828"/>
                </a:solidFill>
                <a:latin typeface="Arial"/>
              </a:rPr>
              <a:t>•  The code is public: github.com/nasa-jpl/macos.</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Contact and records: all studies cited are committed with packets and regression checks.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MACOS does today</a:t>
            </a:r>
          </a:p>
          <a:p>
            <a:pPr>
              <a:spcAft>
                <a:spcPts val="0"/>
              </a:spcAft>
            </a:pPr>
            <a:r>
              <a:rPr sz="1250" b="0">
                <a:solidFill>
                  <a:srgbClr val="6E6E6E"/>
                </a:solidFill>
                <a:latin typeface="Arial"/>
              </a:rPr>
              <a:t>System-level modeling from design through control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Applications: error budgeting, integrated observatory simulation, wavefront sensing and control for segmented telescopes, coronagraph testbeds and instruments.</a:t>
            </a:r>
          </a:p>
          <a:p>
            <a:pPr>
              <a:spcAft>
                <a:spcPts val="600"/>
              </a:spcAft>
            </a:pPr>
            <a:r>
              <a:rPr sz="1500" b="0">
                <a:solidFill>
                  <a:srgbClr val="282828"/>
                </a:solidFill>
                <a:latin typeface="Arial"/>
              </a:rPr>
              <a:t>•  The linear-model workflow: w = J·x + w₀ — wavefront sensitivity channels per element, per segment, per surface mode; stacked over fields and configurations; element groups move as one.</a:t>
            </a:r>
          </a:p>
          <a:p>
            <a:pPr>
              <a:spcAft>
                <a:spcPts val="600"/>
              </a:spcAft>
            </a:pPr>
            <a:r>
              <a:rPr sz="1500" b="0">
                <a:solidFill>
                  <a:srgbClr val="282828"/>
                </a:solidFill>
                <a:latin typeface="Arial"/>
              </a:rPr>
              <a:t>•  From model to control: the same sensitivity matrices drive metrology design, estimator synthesis, and closed-loop simulation — one model, one bookkeeping, design to control.</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Every capability shown today is in the committed test suites; validation anchors: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MATLAB toolbox and the design layer</a:t>
            </a:r>
          </a:p>
          <a:p>
            <a:pPr>
              <a:spcAft>
                <a:spcPts val="0"/>
              </a:spcAft>
            </a:pPr>
            <a:r>
              <a:rPr sz="1250" b="0">
                <a:solidFill>
                  <a:srgbClr val="6E6E6E"/>
                </a:solidFill>
                <a:latin typeface="Arial"/>
              </a:rPr>
              <a:t>Design → segmentation → sensitivities → metrology → simulation, each one call — fully public-domain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Drivers: telescope/bench design builders, sensitivity supervisors (rigid-body, alignment, surface-grid), metrology placement, model-vs-model comparison, closed-loop simulators, study orchestrators.</a:t>
            </a:r>
          </a:p>
          <a:p>
            <a:pPr>
              <a:spcAft>
                <a:spcPts val="600"/>
              </a:spcAft>
            </a:pPr>
            <a:r>
              <a:rPr sz="1200" b="0">
                <a:solidFill>
                  <a:srgbClr val="282828"/>
                </a:solidFill>
                <a:latin typeface="Arial"/>
              </a:rPr>
              <a:t>•  One-call reconstructible studies: every figure in this deck rebuilds from a committed script and committed records.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Utilities: trace, wavefront, perturb, pupil find; layout and ray-bundle viewers; Jones pupils, polarization elements; segment grid bases and grid file IO; multi-wavelength composition; spot, intensity, complex field.</a:t>
            </a:r>
          </a:p>
          <a:p>
            <a:pPr>
              <a:spcAft>
                <a:spcPts val="600"/>
              </a:spcAft>
            </a:pPr>
            <a:r>
              <a:rPr sz="1200" b="0">
                <a:solidFill>
                  <a:srgbClr val="282828"/>
                </a:solidFill>
                <a:latin typeface="Arial"/>
              </a:rPr>
              <a:t>•  Why a design layer: the whole stack is public-domain — a design study needs no proprietary prescription to start from.</a:t>
            </a:r>
          </a:p>
        </p:txBody>
      </p:sp>
      <p:sp>
        <p:nvSpPr>
          <p:cNvPr id="6" name="TextBox 5"/>
          <p:cNvSpPr txBox="1"/>
          <p:nvPr/>
        </p:nvSpPr>
        <p:spPr>
          <a:xfrm>
            <a:off x="6400800" y="2804160"/>
            <a:ext cx="5394960" cy="274320"/>
          </a:xfrm>
          <a:prstGeom prst="rect">
            <a:avLst/>
          </a:prstGeom>
          <a:noFill/>
        </p:spPr>
        <p:txBody>
          <a:bodyPr wrap="square">
            <a:spAutoFit/>
          </a:bodyPr>
          <a:lstStyle/>
          <a:p>
            <a:pPr>
              <a:spcAft>
                <a:spcPts val="600"/>
              </a:spcAft>
            </a:pPr>
            <a:r>
              <a:rPr sz="1050" b="0">
                <a:solidFill>
                  <a:srgbClr val="6E6E6E"/>
                </a:solidFill>
                <a:latin typeface="Arial"/>
              </a:rPr>
              <a:t>The two live demonstrations exercised exactly these layers: the bench builder and a design-family driver.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