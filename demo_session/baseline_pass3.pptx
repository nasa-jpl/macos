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2 September 2026.  Prepared for the Keysight CODE V team.  DRAFT — pending source sign-off.</a:t>
            </a:r>
          </a:p>
          <a:p>
            <a:pPr>
              <a:spcAft>
                <a:spcPts val="800"/>
              </a:spcAft>
            </a:pPr>
            <a:r>
              <a:rPr sz="1500" b="0">
                <a:solidFill>
                  <a:srgbClr val="6E6E6E"/>
                </a:solidFill>
                <a:latin typeface="Arial"/>
              </a:rPr>
              <a:t>The code is public: github.com/nasa-jpl/macos and github.com/nasa-jpl/MACOS_resources</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our modeling tools and practices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914400" y="5596128"/>
            <a:ext cx="10863072"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linear model: state to wavefront to control</a:t>
            </a:r>
          </a:p>
          <a:p>
            <a:pPr>
              <a:spcAft>
                <a:spcPts val="0"/>
              </a:spcAft>
            </a:pPr>
            <a:r>
              <a:rPr sz="1250" b="0">
                <a:solidFill>
                  <a:srgbClr val="6E6E6E"/>
                </a:solidFill>
                <a:latin typeface="Arial"/>
              </a:rPr>
              <a:t>Every matrix is measured from the engine, then closure-checked against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wavefront model:   w  =  w₀ + J·x,    J = [ ∂w/∂x   ∂w/∂z   ∂w/∂grid ]</a:t>
            </a:r>
          </a:p>
          <a:p>
            <a:pPr marL="594360" indent="-137160">
              <a:spcAft>
                <a:spcPts val="500"/>
              </a:spcAft>
            </a:pPr>
            <a:r>
              <a:rPr sz="1300" b="0">
                <a:solidFill>
                  <a:srgbClr val="6E6E6E"/>
                </a:solidFill>
                <a:latin typeface="Arial"/>
              </a:rPr>
              <a:t>–  x stacks rigid-body states (6 DOF per optic and per group), segment Zernike figure modes, and grid/actuator influences; J's columns are engine-measured pokes through the full train, per field — the three families on the following slides.</a:t>
            </a:r>
          </a:p>
          <a:p>
            <a:pPr>
              <a:spcAft>
                <a:spcPts val="600"/>
              </a:spcAft>
            </a:pPr>
            <a:r>
              <a:rPr sz="1500" b="0">
                <a:solidFill>
                  <a:srgbClr val="282828"/>
                </a:solidFill>
                <a:latin typeface="Arial"/>
              </a:rPr>
              <a:t>•  The metrology forward model:   m  =  [ ∂l/∂x ; ∂e/∂x ]·x + n</a:t>
            </a:r>
          </a:p>
          <a:p>
            <a:pPr marL="594360" indent="-137160">
              <a:spcAft>
                <a:spcPts val="500"/>
              </a:spcAft>
            </a:pPr>
            <a:r>
              <a:rPr sz="1300" b="0">
                <a:solidFill>
                  <a:srgbClr val="6E6E6E"/>
                </a:solidFill>
                <a:latin typeface="Arial"/>
              </a:rPr>
              <a:t>–  laser-gauge lengths l and edge-sensor gaps e; a sensor layout is scored by the control information it carries — minimize trace( J Px̂ Jᵀ ), the wavefront error the estimator leaves behind.</a:t>
            </a:r>
          </a:p>
          <a:p>
            <a:pPr>
              <a:spcAft>
                <a:spcPts val="600"/>
              </a:spcAft>
            </a:pPr>
            <a:r>
              <a:rPr sz="1500" b="0">
                <a:solidFill>
                  <a:srgbClr val="282828"/>
                </a:solidFill>
                <a:latin typeface="Arial"/>
              </a:rPr>
              <a:t>•  Actuators to states:   x  =  (∂x/∂u)·u ,   so   ∂w/∂u  =  J·(∂x/∂u)</a:t>
            </a:r>
          </a:p>
          <a:p>
            <a:pPr marL="594360" indent="-137160">
              <a:spcAft>
                <a:spcPts val="500"/>
              </a:spcAft>
            </a:pPr>
            <a:r>
              <a:rPr sz="1300" b="0">
                <a:solidFill>
                  <a:srgbClr val="6E6E6E"/>
                </a:solidFill>
                <a:latin typeface="Arial"/>
              </a:rPr>
              <a:t>–  Stewart-platform kinematics carry the actuator strokes u of each segment and of M2 into rigid-body states x; ∂w/∂u is the control Jacobian.</a:t>
            </a:r>
          </a:p>
          <a:p>
            <a:pPr>
              <a:spcAft>
                <a:spcPts val="600"/>
              </a:spcAft>
            </a:pPr>
            <a:r>
              <a:rPr sz="1500" b="0">
                <a:solidFill>
                  <a:srgbClr val="282828"/>
                </a:solidFill>
                <a:latin typeface="Arial"/>
              </a:rPr>
              <a:t>•  Control using wavefront measurements:   u  =  −(∂w/∂u)⁺·w</a:t>
            </a:r>
          </a:p>
          <a:p>
            <a:pPr marL="594360" indent="-137160">
              <a:spcAft>
                <a:spcPts val="500"/>
              </a:spcAft>
            </a:pPr>
            <a:r>
              <a:rPr sz="1300" b="0">
                <a:solidFill>
                  <a:srgbClr val="6E6E6E"/>
                </a:solidFill>
                <a:latin typeface="Arial"/>
              </a:rPr>
              <a:t>–  Wavefront sensing and control in one step, enveloping telescope initialization controls.</a:t>
            </a:r>
          </a:p>
          <a:p>
            <a:pPr>
              <a:spcAft>
                <a:spcPts val="600"/>
              </a:spcAft>
            </a:pPr>
            <a:r>
              <a:rPr sz="1500" b="0">
                <a:solidFill>
                  <a:srgbClr val="282828"/>
                </a:solidFill>
                <a:latin typeface="Arial"/>
              </a:rPr>
              <a:t>•  Estimation and control using metrology measurements:   x̂  =  ( HᵀWH + ρI )⁻¹ HᵀW·m ;    u  ←  u − g·(∂x/∂u)⁺·x̂</a:t>
            </a:r>
          </a:p>
          <a:p>
            <a:pPr marL="594360" indent="-137160">
              <a:spcAft>
                <a:spcPts val="500"/>
              </a:spcAft>
            </a:pPr>
            <a:r>
              <a:rPr sz="1300" b="0">
                <a:solidFill>
                  <a:srgbClr val="6E6E6E"/>
                </a:solidFill>
                <a:latin typeface="Arial"/>
              </a:rPr>
              <a:t>–  BLUE: weighted least squares with a ridge on the segment state; an integrator closes the rigid-body loop each frame.</a:t>
            </a:r>
          </a:p>
        </p:txBody>
      </p:sp>
      <p:sp>
        <p:nvSpPr>
          <p:cNvPr id="5" name="TextBox 4"/>
          <p:cNvSpPr txBox="1"/>
          <p:nvPr/>
        </p:nvSpPr>
        <p:spPr>
          <a:xfrm>
            <a:off x="411480" y="5628894"/>
            <a:ext cx="11368735" cy="274320"/>
          </a:xfrm>
          <a:prstGeom prst="rect">
            <a:avLst/>
          </a:prstGeom>
          <a:noFill/>
        </p:spPr>
        <p:txBody>
          <a:bodyPr wrap="square">
            <a:spAutoFit/>
          </a:bodyPr>
          <a:lstStyle/>
          <a:p>
            <a:pPr>
              <a:spcAft>
                <a:spcPts val="600"/>
              </a:spcAft>
            </a:pPr>
            <a:r>
              <a:rPr sz="1050" b="0">
                <a:solidFill>
                  <a:srgbClr val="6E6E6E"/>
                </a:solidFill>
                <a:latin typeface="Arial"/>
              </a:rPr>
              <a:t>Notation as in the code: run_sensitivities builds the J families; the MET stage scores layouts on the trace merit; the simulator runs the BLUE estimator and integrator — and jacobian_check re-pokes the engine against every J before it is trusted.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physical-optics model: wavefront to field to contrast</a:t>
            </a:r>
          </a:p>
          <a:p>
            <a:pPr>
              <a:spcAft>
                <a:spcPts val="0"/>
              </a:spcAft>
            </a:pPr>
            <a:r>
              <a:rPr sz="1250" b="0">
                <a:solidFill>
                  <a:srgbClr val="6E6E6E"/>
                </a:solidFill>
                <a:latin typeface="Arial"/>
              </a:rPr>
              <a:t>The same engine — every plane PROPER-checked, every coating checked against the Fresnel closed forms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From rays to fields:   E  =  A·e^(−i·2πw/λ)   at each pupil;   plane to plane   E′ = F⁻¹[ e^(−iπλΔz·f²) F[E] ] ;   to a focal plane   E_focal ∝ F[E]</a:t>
            </a:r>
          </a:p>
          <a:p>
            <a:pPr marL="594360" indent="-137160">
              <a:spcAft>
                <a:spcPts val="500"/>
              </a:spcAft>
            </a:pPr>
            <a:r>
              <a:rPr sz="1300" b="0">
                <a:solidFill>
                  <a:srgbClr val="6E6E6E"/>
                </a:solidFill>
                <a:latin typeface="Arial"/>
              </a:rPr>
              <a:t>–  the ray-traced OPD w and aperture A seed the grid; Fresnel / angular-spectrum kernels carry it through apodizer, focal-plane mask, Lyot stop and field stop — the masks act on the field, plane by plane.</a:t>
            </a:r>
          </a:p>
          <a:p>
            <a:pPr>
              <a:spcAft>
                <a:spcPts val="600"/>
              </a:spcAft>
            </a:pPr>
            <a:r>
              <a:rPr sz="1500" b="0">
                <a:solidFill>
                  <a:srgbClr val="282828"/>
                </a:solidFill>
                <a:latin typeface="Arial"/>
              </a:rPr>
              <a:t>•  The image and the score:   I = |E|² ;   contrast C = ⟨ I / I₀,peak ⟩ over the 3–15 λ/D dark zone</a:t>
            </a:r>
          </a:p>
          <a:p>
            <a:pPr marL="594360" indent="-137160">
              <a:spcAft>
                <a:spcPts val="500"/>
              </a:spcAft>
            </a:pPr>
            <a:r>
              <a:rPr sz="1300" b="0">
                <a:solidFill>
                  <a:srgbClr val="6E6E6E"/>
                </a:solidFill>
                <a:latin typeface="Arial"/>
              </a:rPr>
              <a:t>–  Strehl-normalized to the bare unmasked peak; one grid and one normalization for Jacobian, control and scoring.</a:t>
            </a:r>
          </a:p>
          <a:p>
            <a:pPr>
              <a:spcAft>
                <a:spcPts val="600"/>
              </a:spcAft>
            </a:pPr>
            <a:r>
              <a:rPr sz="1500" b="0">
                <a:solidFill>
                  <a:srgbClr val="282828"/>
                </a:solidFill>
                <a:latin typeface="Arial"/>
              </a:rPr>
              <a:t>•  The field Jacobian, from repeated propagations:   G(:,k) = [ E(a+δeₖ) − E(a) ] / δ   →   Δa = −( Re(GᴴG) + λI )⁻¹ Re(GᴴE)</a:t>
            </a:r>
          </a:p>
          <a:p>
            <a:pPr marL="594360" indent="-137160">
              <a:spcAft>
                <a:spcPts val="500"/>
              </a:spcAft>
            </a:pPr>
            <a:r>
              <a:rPr sz="1300" b="0">
                <a:solidFill>
                  <a:srgbClr val="6E6E6E"/>
                </a:solidFill>
                <a:latin typeface="Arial"/>
              </a:rPr>
              <a:t>–  every column is one full-chain propagation with actuator k poked; the EFC step is Tikhonov, line-searched against measured contrast — and re-linearized about the dug state as the hole deepens.</a:t>
            </a:r>
          </a:p>
          <a:p>
            <a:pPr>
              <a:spcAft>
                <a:spcPts val="600"/>
              </a:spcAft>
            </a:pPr>
            <a:r>
              <a:rPr sz="1500" b="0">
                <a:solidFill>
                  <a:srgbClr val="282828"/>
                </a:solidFill>
                <a:latin typeface="Arial"/>
              </a:rPr>
              <a:t>•  Polarization:   at each surface  E → ( r_s ŝŝᵀ + r_p p̂p̂ᵀ )·E  (multilayer coatings by the Airy recursion);  vector diffraction propagates Ex, Ey, Ez as three planes;  the Jones pupil J(u,v) yields diattenuation and retardance maps</a:t>
            </a:r>
          </a:p>
          <a:p>
            <a:pPr marL="594360" indent="-137160">
              <a:spcAft>
                <a:spcPts val="500"/>
              </a:spcAft>
            </a:pPr>
            <a:r>
              <a:rPr sz="1300" b="0">
                <a:solidFill>
                  <a:srgbClr val="6E6E6E"/>
                </a:solidFill>
                <a:latin typeface="Arial"/>
              </a:rPr>
              <a:t>–  the machinery behind the interferometer demo and the coated-train contrast floors.</a:t>
            </a:r>
          </a:p>
        </p:txBody>
      </p:sp>
      <p:sp>
        <p:nvSpPr>
          <p:cNvPr id="5" name="TextBox 4"/>
          <p:cNvSpPr txBox="1"/>
          <p:nvPr/>
        </p:nvSpPr>
        <p:spPr>
          <a:xfrm>
            <a:off x="411480" y="5427218"/>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exp(+iωt) time dependence, so phase = −2πw/λ.  Anchors: PROPER station by station at 10⁻¹¹–10⁻¹³; coatings against Born &amp; Wolf / Abelès at 10⁻¹²–10⁻¹⁴; published protected-Al Mueller data at ~10⁻¹⁴.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5148072" y="4517136"/>
            <a:ext cx="2514600" cy="1054608"/>
          </a:xfrm>
          <a:prstGeom prst="rect">
            <a:avLst/>
          </a:prstGeom>
          <a:noFill/>
        </p:spPr>
        <p:txBody>
          <a:bodyPr wrap="square">
            <a:spAutoFit/>
          </a:bodyPr>
          <a:lstStyle/>
          <a:p>
            <a:pPr algn="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M2-M3,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M2-M3,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a:t>
            </a:r>
          </a:p>
          <a:p>
            <a:pPr>
              <a:spcAft>
                <a:spcPts val="600"/>
              </a:spcAft>
            </a:pPr>
            <a:r>
              <a:rPr sz="1500" b="0">
                <a:solidFill>
                  <a:srgbClr val="282828"/>
                </a:solidFill>
                <a:latin typeface="Arial"/>
              </a:rPr>
              <a:t>•  DM Jacobians use the same form: dw/dDM.</a:t>
            </a:r>
          </a:p>
        </p:txBody>
      </p:sp>
      <p:sp>
        <p:nvSpPr>
          <p:cNvPr id="7" name="TextBox 6"/>
          <p:cNvSpPr txBox="1"/>
          <p:nvPr/>
        </p:nvSpPr>
        <p:spPr>
          <a:xfrm>
            <a:off x="411480" y="6163056"/>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hold level is the loop mechanization's floor (sensor noise through the gain, damped EFC), not the model's limit — the next slide digs the static dark hole three decades deeper, overnight.</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Digging the dark hole: the overnight restart ladder</a:t>
            </a:r>
          </a:p>
          <a:p>
            <a:pPr>
              <a:spcAft>
                <a:spcPts val="0"/>
              </a:spcAft>
            </a:pPr>
            <a:r>
              <a:rPr sz="1250" b="0">
                <a:solidFill>
                  <a:srgbClr val="6E6E6E"/>
                </a:solidFill>
                <a:latin typeface="Arial"/>
              </a:rPr>
              <a:t>1.2×10⁻⁶ → 1.1×10⁻⁹ — three decades from restart scheduling alone; no new hardware, no new physics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recipe: EFC to a floor, relinearize about the dug state, restart at that floor — rinse and repeat.  Ten digging rounds, ~4 h unattended, on the d = 1.10 m two-DM variant — the spacing study's best linear substrate; three stall rounds then prove the plateau.</a:t>
            </a:r>
          </a:p>
          <a:p>
            <a:pPr>
              <a:spcAft>
                <a:spcPts val="600"/>
              </a:spcAft>
            </a:pPr>
            <a:r>
              <a:rPr sz="1200" b="0">
                <a:solidFill>
                  <a:srgbClr val="282828"/>
                </a:solidFill>
                <a:latin typeface="Arial"/>
              </a:rPr>
              <a:t>•  The controller was the bottleneck, measured: a single linearization stalls at 9.0×10⁻⁷; every restart bought another step down.  DM strokes end at 33 nm rms, well inside the 50 nm budget.</a:t>
            </a:r>
          </a:p>
          <a:p>
            <a:pPr>
              <a:spcAft>
                <a:spcPts val="600"/>
              </a:spcAft>
            </a:pPr>
            <a:r>
              <a:rPr sz="1200" b="0">
                <a:solidFill>
                  <a:srgbClr val="282828"/>
                </a:solidFill>
                <a:latin typeface="Arial"/>
              </a:rPr>
              <a:t>•  The remaining 1.5 decades are priced: re-measured at every dug state, the linear-achievable floor holds at 2–4×10⁻¹¹ — HWO-class 5×10⁻¹¹ is within this substrate's reach.  The plateau at 1.1×10⁻⁹ is the monotone Tikhonov step rule: the measured case for FALCO-grade step control on this same model.</a:t>
            </a:r>
          </a:p>
        </p:txBody>
      </p:sp>
      <p:pic>
        <p:nvPicPr>
          <p:cNvPr id="5" name="Picture 4" descr="fig_cf3d_ladder.png"/>
          <p:cNvPicPr>
            <a:picLocks noChangeAspect="1"/>
          </p:cNvPicPr>
          <p:nvPr/>
        </p:nvPicPr>
        <p:blipFill>
          <a:blip r:embed="rId2"/>
          <a:stretch>
            <a:fillRect/>
          </a:stretch>
        </p:blipFill>
        <p:spPr>
          <a:xfrm>
            <a:off x="6400800" y="1298448"/>
            <a:ext cx="5394960" cy="3637305"/>
          </a:xfrm>
          <a:prstGeom prst="rect">
            <a:avLst/>
          </a:prstGeom>
        </p:spPr>
      </p:pic>
      <p:sp>
        <p:nvSpPr>
          <p:cNvPr id="6" name="TextBox 5"/>
          <p:cNvSpPr txBox="1"/>
          <p:nvPr/>
        </p:nvSpPr>
        <p:spPr>
          <a:xfrm>
            <a:off x="6400800" y="49540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ladder: measured dark-zone floor by restart round, with the linear-achievable substrate re-measured at every dug state.</a:t>
            </a:r>
          </a:p>
        </p:txBody>
      </p:sp>
      <p:sp>
        <p:nvSpPr>
          <p:cNvPr id="7" name="TextBox 6"/>
          <p:cNvSpPr txBox="1"/>
          <p:nvPr/>
        </p:nvSpPr>
        <p:spPr>
          <a:xfrm>
            <a:off x="6400800" y="538482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CF3d stage — checkpointed and resumable; every round is a finished floor.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machine's result verified?  Regression checks with negative controls; layout renders read against every claim — the checks caught the errors shown today.</a:t>
            </a:r>
          </a:p>
          <a:p>
            <a:pPr>
              <a:spcAft>
                <a:spcPts val="600"/>
              </a:spcAft>
            </a:pPr>
            <a:r>
              <a:rPr sz="1500" b="0">
                <a:solidFill>
                  <a:srgbClr val="282828"/>
                </a:solidFill>
                <a:latin typeface="Arial"/>
              </a:rPr>
              <a:t>•  Where does the human rule?  Constraints, metrics, and every outward claim —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Offered as discussion questions, not settled doctrine — the next slide takes one of them to architecture.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Discussion: where should the agent sit?</a:t>
            </a:r>
          </a:p>
          <a:p>
            <a:pPr>
              <a:spcAft>
                <a:spcPts val="0"/>
              </a:spcAft>
            </a:pPr>
            <a:r>
              <a:rPr sz="1250" b="0">
                <a:solidFill>
                  <a:srgbClr val="6E6E6E"/>
                </a:solidFill>
                <a:latin typeface="Arial"/>
              </a:rPr>
              <a:t>Three modes — two exercised by these studies, one open — and the boundary between them is the question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2000" b="0">
                <a:solidFill>
                  <a:srgbClr val="282828"/>
                </a:solidFill>
                <a:latin typeface="Arial"/>
              </a:rPr>
              <a:t>•  A · The compiled tool, no agent — what ships: versioned, regression-tested, inspectable, and it runs unattended.  But measured on a cold user, the docs alone did not carry them.</a:t>
            </a:r>
          </a:p>
          <a:p>
            <a:pPr>
              <a:spcAft>
                <a:spcPts val="600"/>
              </a:spcAft>
            </a:pPr>
            <a:r>
              <a:rPr sz="2000" b="0">
                <a:solidFill>
                  <a:srgbClr val="282828"/>
                </a:solidFill>
                <a:latin typeface="Arial"/>
              </a:rPr>
              <a:t>•  B · An agent alongside the tool — what these studies did: it found and fixed the conceptual defects in hours and chose what was worth compiling.  Its knowledge is current — but not versioned with the tool.</a:t>
            </a:r>
          </a:p>
          <a:p>
            <a:pPr>
              <a:spcAft>
                <a:spcPts val="600"/>
              </a:spcAft>
            </a:pPr>
            <a:r>
              <a:rPr sz="2000" b="0">
                <a:solidFill>
                  <a:srgbClr val="282828"/>
                </a:solidFill>
                <a:latin typeface="Arial"/>
              </a:rPr>
              <a:t>•  C · A helper embedded in the tool — the open question: advice at the moment of use, catching the failure class that was documented and still fatal.</a:t>
            </a:r>
          </a:p>
          <a:p>
            <a:pPr>
              <a:spcAft>
                <a:spcPts val="600"/>
              </a:spcAft>
            </a:pPr>
            <a:r>
              <a:rPr sz="2000" b="0">
                <a:solidFill>
                  <a:srgbClr val="282828"/>
                </a:solidFill>
                <a:latin typeface="Arial"/>
              </a:rPr>
              <a:t>•  Shapes for C, in increasing authority:  agent-readable state (the user's own assistant drives the tool); a failure-triage assistant (fires on a failed check, returns a diagnosis and a next command); a policy assistant inside hard limits (chooses schedules and targets; the code enforces limits and logs every choice).</a:t>
            </a:r>
          </a:p>
          <a:p>
            <a:pPr>
              <a:spcAft>
                <a:spcPts val="600"/>
              </a:spcAft>
            </a:pPr>
            <a:r>
              <a:rPr sz="2000" b="0">
                <a:solidFill>
                  <a:srgbClr val="282828"/>
                </a:solidFill>
                <a:latin typeface="Arial"/>
              </a:rPr>
              <a:t>•  At any level, tier the agents: an orchestrator plans and delegates bounded tasks; the committed records — not any agent's memory — are the shared memory.</a:t>
            </a:r>
          </a:p>
        </p:txBody>
      </p:sp>
      <p:sp>
        <p:nvSpPr>
          <p:cNvPr id="5" name="TextBox 4"/>
          <p:cNvSpPr txBox="1"/>
          <p:nvPr/>
        </p:nvSpPr>
        <p:spPr>
          <a:xfrm>
            <a:off x="411480" y="6658864"/>
            <a:ext cx="11368735"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Measured: the tool alone did not carry a new user; an agent alongside it closed every gap — and most of what it learned is now in the tool, as checks and defaults.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If you asked us: AI around CODE V and LightTools</a:t>
            </a:r>
          </a:p>
          <a:p>
            <a:pPr>
              <a:spcAft>
                <a:spcPts val="0"/>
              </a:spcAft>
            </a:pPr>
            <a:r>
              <a:rPr sz="1250" b="0">
                <a:solidFill>
                  <a:srgbClr val="6E6E6E"/>
                </a:solidFill>
                <a:latin typeface="Arial"/>
              </a:rPr>
              <a:t>Add it around the optics, not in them — every claim below is measured, not speculative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600" b="0">
                <a:solidFill>
                  <a:srgbClr val="282828"/>
                </a:solidFill>
                <a:latin typeface="Arial"/>
              </a:rPr>
              <a:t>•  Make the tools agent-readable first — state, results, warnings and docs as structured data through the existing macro/API surface.  Every user's assistant then attaches today, and the vendor ships no intelligence at all.  This whole talk ran in that mode.</a:t>
            </a:r>
          </a:p>
          <a:p>
            <a:pPr>
              <a:spcAft>
                <a:spcPts val="600"/>
              </a:spcAft>
            </a:pPr>
            <a:r>
              <a:rPr sz="1600" b="0">
                <a:solidFill>
                  <a:srgbClr val="282828"/>
                </a:solidFill>
                <a:latin typeface="Arial"/>
              </a:rPr>
              <a:t>•  Ship the conventions as data.  The largest defect class our agent found was conventions — the sign of a radius, DAR versus a coordinate break, which reference sphere a number is quoted against.  Make them queryable and the dominant error source disappears for humans and agents alike.</a:t>
            </a:r>
          </a:p>
          <a:p>
            <a:pPr>
              <a:spcAft>
                <a:spcPts val="600"/>
              </a:spcAft>
            </a:pPr>
            <a:r>
              <a:rPr sz="1600" b="0">
                <a:solidFill>
                  <a:srgbClr val="282828"/>
                </a:solidFill>
                <a:latin typeface="Arial"/>
              </a:rPr>
              <a:t>•  Embed a failure-triage assistant first — it wakes on a failed trace or a stalled solve, reads the saved state, and returns one line of diagnosis plus a next command the person runs.  Our stalled solve was a finite-difference step reading the gradient 17% low: a one-line answer sitting in state the tool already had.</a:t>
            </a:r>
          </a:p>
          <a:p>
            <a:pPr>
              <a:spcAft>
                <a:spcPts val="600"/>
              </a:spcAft>
            </a:pPr>
            <a:r>
              <a:rPr sz="1600" b="0">
                <a:solidFill>
                  <a:srgbClr val="282828"/>
                </a:solidFill>
                <a:latin typeface="Arial"/>
              </a:rPr>
              <a:t>•  Put the agent in the search, never in the numerics — starting points and basins (a warm-started walk beat the cold start 8500×); variable-set audits (35% of a metric unclaimed because one freedom was never offered); optimization schedules (a restart ladder dug the dark hole 1.2×10⁻⁶ → 1.1×10⁻⁹ overnight); tolerancing and glass searches.  The agent proposes; the trusted engine disposes.</a:t>
            </a:r>
          </a:p>
          <a:p>
            <a:pPr>
              <a:spcAft>
                <a:spcPts val="600"/>
              </a:spcAft>
            </a:pPr>
            <a:r>
              <a:rPr sz="1600" b="0">
                <a:solidFill>
                  <a:srgbClr val="282828"/>
                </a:solidFill>
                <a:latin typeface="Arial"/>
              </a:rPr>
              <a:t>•  Ship the trust machinery with it: every AI action a readable, replayable script — never an opaque state mutation; every proposal a before/after check with negative controls; the assistant's knowledge versioned with the release.</a:t>
            </a:r>
          </a:p>
        </p:txBody>
      </p:sp>
      <p:sp>
        <p:nvSpPr>
          <p:cNvPr id="5" name="TextBox 4"/>
          <p:cNvSpPr txBox="1"/>
          <p:nvPr/>
        </p:nvSpPr>
        <p:spPr>
          <a:xfrm>
            <a:off x="411480" y="6262624"/>
            <a:ext cx="11368735"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 and the best advice ends up compiled into the tool, as checks and defaults.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