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MACOS — Optical Modeling, Analysis and Design, with an AI in the Loop</a:t>
            </a:r>
          </a:p>
          <a:p>
            <a:pPr>
              <a:spcAft>
                <a:spcPts val="1400"/>
              </a:spcAft>
            </a:pPr>
            <a:r>
              <a:rPr sz="2200" b="0">
                <a:solidFill>
                  <a:srgbClr val="282828"/>
                </a:solidFill>
                <a:latin typeface="Arial"/>
              </a:rPr>
              <a:t>One ray-trace and physical-optics engine, four language surfaces, an AI-driven design layer — with two elements run live</a:t>
            </a:r>
          </a:p>
          <a:p>
            <a:pPr>
              <a:spcAft>
                <a:spcPts val="800"/>
              </a:spcAft>
            </a:pPr>
            <a:r>
              <a:rPr sz="1500" b="0">
                <a:solidFill>
                  <a:srgbClr val="6E6E6E"/>
                </a:solidFill>
                <a:latin typeface="Arial"/>
              </a:rPr>
              <a:t>D. C. Redding, with Claude Code — 2 September 2026.  Prepared for the Keysight CODE V team.  DRAFT — pending source sign-off.</a:t>
            </a:r>
          </a:p>
          <a:p>
            <a:pPr>
              <a:spcAft>
                <a:spcPts val="800"/>
              </a:spcAft>
            </a:pPr>
            <a:r>
              <a:rPr sz="1500" b="0">
                <a:solidFill>
                  <a:srgbClr val="6E6E6E"/>
                </a:solidFill>
                <a:latin typeface="Arial"/>
              </a:rPr>
              <a:t>The code is public: github.com/nasa-jpl/macos and github.com/nasa-jpl/MACOS_resources</a:t>
            </a:r>
          </a:p>
        </p:txBody>
      </p:sp>
      <p:sp>
        <p:nvSpPr>
          <p:cNvPr id="3" name="TextBox 2"/>
          <p:cNvSpPr txBox="1"/>
          <p:nvPr/>
        </p:nvSpPr>
        <p:spPr>
          <a:xfrm>
            <a:off x="822960" y="5486400"/>
            <a:ext cx="10545775" cy="914400"/>
          </a:xfrm>
          <a:prstGeom prst="rect">
            <a:avLst/>
          </a:prstGeom>
          <a:noFill/>
        </p:spPr>
        <p:txBody>
          <a:bodyPr wrap="square">
            <a:spAutoFit/>
          </a:bodyPr>
          <a:lstStyle/>
          <a:p>
            <a:pPr>
              <a:spcAft>
                <a:spcPts val="400"/>
              </a:spcAft>
            </a:pPr>
            <a:r>
              <a:rPr sz="1300" b="0">
                <a:solidFill>
                  <a:srgbClr val="6E6E6E"/>
                </a:solidFill>
                <a:latin typeface="Arial"/>
              </a:rPr>
              <a:t>Live elements: a telescope designed during the talk to an audience-chosen field specification (asked and launched once challenge 3 is on the table, revealed before the closing discussion), and a polarization phase-shifting interferometer measuring a deformable mirror.  All wavefront numbers are RMS wavefront error; each study states its reference convention where it reports.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Four decades of NASA optical modeling</a:t>
            </a:r>
          </a:p>
          <a:p>
            <a:pPr>
              <a:spcAft>
                <a:spcPts val="0"/>
              </a:spcAft>
            </a:pPr>
            <a:r>
              <a:rPr sz="1250" b="0">
                <a:solidFill>
                  <a:srgbClr val="6E6E6E"/>
                </a:solidFill>
                <a:latin typeface="Arial"/>
              </a:rPr>
              <a:t>Technology development to flight: Hubble, JWST, TMT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Late 1980s: the engine originates in NASA telescope technology development</a:t>
            </a:r>
          </a:p>
          <a:p>
            <a:pPr marL="594360" indent="-137160">
              <a:spcAft>
                <a:spcPts val="500"/>
              </a:spcAft>
            </a:pPr>
            <a:r>
              <a:rPr sz="1300" b="0">
                <a:solidFill>
                  <a:srgbClr val="6E6E6E"/>
                </a:solidFill>
                <a:latin typeface="Arial"/>
              </a:rPr>
              <a:t>–  Used for Star Wars control-system development and NASA SubMM telescope analysis.</a:t>
            </a:r>
          </a:p>
          <a:p>
            <a:pPr>
              <a:spcAft>
                <a:spcPts val="600"/>
              </a:spcAft>
            </a:pPr>
            <a:r>
              <a:rPr sz="1500" b="0">
                <a:solidFill>
                  <a:srgbClr val="282828"/>
                </a:solidFill>
                <a:latin typeface="Arial"/>
              </a:rPr>
              <a:t>•  1991: Hubble — prescription recovery correctly diagnosed the aberration from flight imagery</a:t>
            </a:r>
          </a:p>
          <a:p>
            <a:pPr marL="594360" indent="-137160">
              <a:spcAft>
                <a:spcPts val="500"/>
              </a:spcAft>
            </a:pPr>
            <a:r>
              <a:rPr sz="1300" b="0">
                <a:solidFill>
                  <a:srgbClr val="6E6E6E"/>
                </a:solidFill>
                <a:latin typeface="Arial"/>
              </a:rPr>
              <a:t>–  Prescription retrieval from image data has served other missions as well.</a:t>
            </a:r>
          </a:p>
          <a:p>
            <a:pPr>
              <a:spcAft>
                <a:spcPts val="600"/>
              </a:spcAft>
            </a:pPr>
            <a:r>
              <a:rPr sz="1500" b="0">
                <a:solidFill>
                  <a:srgbClr val="282828"/>
                </a:solidFill>
                <a:latin typeface="Arial"/>
              </a:rPr>
              <a:t>•  JWST: integrated observatory modeling and wavefront sensing and control development</a:t>
            </a:r>
          </a:p>
          <a:p>
            <a:pPr marL="594360" indent="-137160">
              <a:spcAft>
                <a:spcPts val="500"/>
              </a:spcAft>
            </a:pPr>
            <a:r>
              <a:rPr sz="1300" b="0">
                <a:solidFill>
                  <a:srgbClr val="6E6E6E"/>
                </a:solidFill>
                <a:latin typeface="Arial"/>
              </a:rPr>
              <a:t>–  Testbeds validated the models, and the validated models proved the space system.</a:t>
            </a:r>
          </a:p>
          <a:p>
            <a:pPr>
              <a:spcAft>
                <a:spcPts val="600"/>
              </a:spcAft>
            </a:pPr>
            <a:r>
              <a:rPr sz="1500" b="0">
                <a:solidFill>
                  <a:srgbClr val="282828"/>
                </a:solidFill>
                <a:latin typeface="Arial"/>
              </a:rPr>
              <a:t>•  TMT, Keck and other space missions: Observatory modeling, including segmented-aperture systems, testbeds, instrument studies.</a:t>
            </a:r>
          </a:p>
          <a:p>
            <a:pPr marL="594360" indent="-137160">
              <a:spcAft>
                <a:spcPts val="500"/>
              </a:spcAft>
            </a:pPr>
            <a:r>
              <a:rPr sz="1300" b="0">
                <a:solidFill>
                  <a:srgbClr val="6E6E6E"/>
                </a:solidFill>
                <a:latin typeface="Arial"/>
              </a:rPr>
              <a:t>–  Validated against testbed and operational data across those programs.</a:t>
            </a:r>
          </a:p>
          <a:p>
            <a:pPr>
              <a:spcAft>
                <a:spcPts val="600"/>
              </a:spcAft>
            </a:pPr>
            <a:r>
              <a:rPr sz="1500" b="0">
                <a:solidFill>
                  <a:srgbClr val="282828"/>
                </a:solidFill>
                <a:latin typeface="Arial"/>
              </a:rPr>
              <a:t>•  We are now modernizing and extending our modeling tools and practices to meet new challenges.</a:t>
            </a:r>
          </a:p>
          <a:p>
            <a:pPr marL="594360" indent="-137160">
              <a:spcAft>
                <a:spcPts val="500"/>
              </a:spcAft>
            </a:pPr>
            <a:r>
              <a:rPr sz="1300" b="0">
                <a:solidFill>
                  <a:srgbClr val="6E6E6E"/>
                </a:solidFill>
                <a:latin typeface="Arial"/>
              </a:rPr>
              <a:t>–  New elements: Freeforms with aberrations, polarizers, complex masks and apodizers, completely general surfaces added through the API</a:t>
            </a:r>
          </a:p>
          <a:p>
            <a:pPr marL="594360" indent="-137160">
              <a:spcAft>
                <a:spcPts val="500"/>
              </a:spcAft>
            </a:pPr>
            <a:r>
              <a:rPr sz="1300" b="0">
                <a:solidFill>
                  <a:srgbClr val="6E6E6E"/>
                </a:solidFill>
                <a:latin typeface="Arial"/>
              </a:rPr>
              <a:t>–  The same functionality, streamlined: linear model generation, simulation, multi-path, metrology and edge sensors</a:t>
            </a:r>
          </a:p>
          <a:p>
            <a:pPr marL="594360" indent="-137160">
              <a:spcAft>
                <a:spcPts val="500"/>
              </a:spcAft>
            </a:pPr>
            <a:r>
              <a:rPr sz="1300" b="0">
                <a:solidFill>
                  <a:srgbClr val="6E6E6E"/>
                </a:solidFill>
                <a:latin typeface="Arial"/>
              </a:rPr>
              <a:t>–  New capabilities: design layer</a:t>
            </a:r>
          </a:p>
          <a:p>
            <a:pPr marL="594360" indent="-137160">
              <a:spcAft>
                <a:spcPts val="500"/>
              </a:spcAft>
            </a:pPr>
            <a:r>
              <a:rPr sz="1300" b="0">
                <a:solidFill>
                  <a:srgbClr val="6E6E6E"/>
                </a:solidFill>
                <a:latin typeface="Arial"/>
              </a:rPr>
              <a:t>–  Code cleanup: improved robustness, automated testing, updating documentation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engine, four surfaces</a:t>
            </a:r>
          </a:p>
          <a:p>
            <a:pPr>
              <a:spcAft>
                <a:spcPts val="0"/>
              </a:spcAft>
            </a:pPr>
            <a:r>
              <a:rPr sz="1250" b="0">
                <a:solidFill>
                  <a:srgbClr val="6E6E6E"/>
                </a:solidFill>
                <a:latin typeface="Arial"/>
              </a:rPr>
              <a:t>The same Fortran core answers a terminal, a library call, MATLAB, and Python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ecosystem.png"/>
          <p:cNvPicPr>
            <a:picLocks noChangeAspect="1"/>
          </p:cNvPicPr>
          <p:nvPr/>
        </p:nvPicPr>
        <p:blipFill>
          <a:blip r:embed="rId2"/>
          <a:stretch>
            <a:fillRect/>
          </a:stretch>
        </p:blipFill>
        <p:spPr>
          <a:xfrm>
            <a:off x="2057400" y="1234440"/>
            <a:ext cx="8183879" cy="3767328"/>
          </a:xfrm>
          <a:prstGeom prst="rect">
            <a:avLst/>
          </a:prstGeom>
        </p:spPr>
      </p:pic>
      <p:sp>
        <p:nvSpPr>
          <p:cNvPr id="5" name="TextBox 4"/>
          <p:cNvSpPr txBox="1"/>
          <p:nvPr/>
        </p:nvSpPr>
        <p:spPr>
          <a:xfrm>
            <a:off x="2057400" y="5029200"/>
            <a:ext cx="9720072" cy="274320"/>
          </a:xfrm>
          <a:prstGeom prst="rect">
            <a:avLst/>
          </a:prstGeom>
          <a:noFill/>
        </p:spPr>
        <p:txBody>
          <a:bodyPr wrap="square">
            <a:spAutoFit/>
          </a:bodyPr>
          <a:lstStyle/>
          <a:p>
            <a:pPr>
              <a:spcAft>
                <a:spcPts val="600"/>
              </a:spcAft>
            </a:pPr>
            <a:r>
              <a:rPr sz="1500" b="0">
                <a:solidFill>
                  <a:srgbClr val="282828"/>
                </a:solidFill>
                <a:latin typeface="Arial"/>
              </a:rPr>
              <a:t>•  Physics lives in the engine: a capability added there is everywhere at once</a:t>
            </a:r>
          </a:p>
          <a:p>
            <a:pPr>
              <a:spcAft>
                <a:spcPts val="600"/>
              </a:spcAft>
            </a:pPr>
            <a:r>
              <a:rPr sz="1500" b="0">
                <a:solidFill>
                  <a:srgbClr val="282828"/>
                </a:solidFill>
                <a:latin typeface="Arial"/>
              </a:rPr>
              <a:t>•  One shared library layer serves the MATLAB and Python toolboxes.</a:t>
            </a:r>
          </a:p>
          <a:p>
            <a:pPr>
              <a:spcAft>
                <a:spcPts val="600"/>
              </a:spcAft>
            </a:pPr>
            <a:r>
              <a:rPr sz="1500" b="0">
                <a:solidFill>
                  <a:srgbClr val="282828"/>
                </a:solidFill>
                <a:latin typeface="Arial"/>
              </a:rPr>
              <a:t>•  The prescription generators and the CODE V converter feed the same Rx language.</a:t>
            </a:r>
          </a:p>
          <a:p>
            <a:pPr>
              <a:spcAft>
                <a:spcPts val="600"/>
              </a:spcAft>
            </a:pPr>
            <a:r>
              <a:rPr sz="1500" b="0">
                <a:solidFill>
                  <a:srgbClr val="282828"/>
                </a:solidFill>
                <a:latin typeface="Arial"/>
              </a:rPr>
              <a:t>•  CODE V and PROPER provide independent cross-checks.</a:t>
            </a:r>
          </a:p>
          <a:p>
            <a:pPr>
              <a:spcAft>
                <a:spcPts val="600"/>
              </a:spcAft>
            </a:pPr>
            <a:r>
              <a:rPr sz="1500" b="0">
                <a:solidFill>
                  <a:srgbClr val="282828"/>
                </a:solidFill>
                <a:latin typeface="Arial"/>
              </a:rPr>
              <a:t>•  One source tree: github nasa-jpl/macos and /MACOS_resources contain it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Inside the toolbox</a:t>
            </a:r>
          </a:p>
          <a:p>
            <a:pPr>
              <a:spcAft>
                <a:spcPts val="0"/>
              </a:spcAft>
            </a:pPr>
            <a:r>
              <a:rPr sz="1250" b="0">
                <a:solidFill>
                  <a:srgbClr val="6E6E6E"/>
                </a:solidFill>
                <a:latin typeface="Arial"/>
              </a:rPr>
              <a:t>Five areas, organized the way the work flows — veneer, sensitivities, design, runners, worked examples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mmacos.png"/>
          <p:cNvPicPr>
            <a:picLocks noChangeAspect="1"/>
          </p:cNvPicPr>
          <p:nvPr/>
        </p:nvPicPr>
        <p:blipFill>
          <a:blip r:embed="rId2"/>
          <a:stretch>
            <a:fillRect/>
          </a:stretch>
        </p:blipFill>
        <p:spPr>
          <a:xfrm>
            <a:off x="463282" y="1298448"/>
            <a:ext cx="11265130" cy="4297680"/>
          </a:xfrm>
          <a:prstGeom prst="rect">
            <a:avLst/>
          </a:prstGeom>
        </p:spPr>
      </p:pic>
      <p:sp>
        <p:nvSpPr>
          <p:cNvPr id="5" name="TextBox 4"/>
          <p:cNvSpPr txBox="1"/>
          <p:nvPr/>
        </p:nvSpPr>
        <p:spPr>
          <a:xfrm>
            <a:off x="914400" y="5596128"/>
            <a:ext cx="10863072" cy="274320"/>
          </a:xfrm>
          <a:prstGeom prst="rect">
            <a:avLst/>
          </a:prstGeom>
          <a:noFill/>
        </p:spPr>
        <p:txBody>
          <a:bodyPr wrap="square">
            <a:spAutoFit/>
          </a:bodyPr>
          <a:lstStyle/>
          <a:p>
            <a:pPr>
              <a:spcAft>
                <a:spcPts val="600"/>
              </a:spcAft>
            </a:pPr>
            <a:r>
              <a:rPr sz="1050" b="0">
                <a:solidFill>
                  <a:srgbClr val="6E6E6E"/>
                </a:solidFill>
                <a:latin typeface="Arial"/>
              </a:rPr>
              <a:t>Counts as of 2026-08.  Every area is exercised by the committed test suites and by the worked examples beside it — the same templates this talk's studies live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Three design challenges, one method</a:t>
            </a:r>
          </a:p>
          <a:p>
            <a:pPr>
              <a:spcAft>
                <a:spcPts val="0"/>
              </a:spcAft>
            </a:pPr>
            <a:r>
              <a:rPr sz="1250" b="0">
                <a:solidFill>
                  <a:srgbClr val="6E6E6E"/>
                </a:solidFill>
                <a:latin typeface="Arial"/>
              </a:rPr>
              <a:t>CODE V benchmark studies reproduced first, then extended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623185"/>
        </p:xfrm>
        <a:graphic>
          <a:graphicData uri="http://schemas.openxmlformats.org/drawingml/2006/table">
            <a:tbl>
              <a:tblPr firstRow="1" bandRow="1">
                <a:tableStyleId>{5C22544A-7EE6-4342-B048-85BDC9FD1C3A}</a:tableStyleId>
              </a:tblPr>
              <a:tblGrid>
                <a:gridCol w="2252980"/>
                <a:gridCol w="2247020"/>
                <a:gridCol w="3396065"/>
                <a:gridCol w="3472668"/>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challenge 1 (July)</a:t>
                      </a:r>
                    </a:p>
                  </a:txBody>
                  <a:tcPr marL="54864" marR="54864" marT="18288" marB="18288">
                    <a:solidFill>
                      <a:srgbClr val="1F4E79"/>
                    </a:solidFill>
                  </a:tcPr>
                </a:tc>
                <a:tc>
                  <a:txBody>
                    <a:bodyPr wrap="square"/>
                    <a:lstStyle/>
                    <a:p>
                      <a:r>
                        <a:rPr sz="1100" b="1">
                          <a:solidFill>
                            <a:srgbClr val="FFFFFF"/>
                          </a:solidFill>
                          <a:latin typeface="Arial"/>
                        </a:rPr>
                        <a:t>challenge 2 (August)</a:t>
                      </a:r>
                    </a:p>
                  </a:txBody>
                  <a:tcPr marL="54864" marR="54864" marT="18288" marB="18288">
                    <a:solidFill>
                      <a:srgbClr val="1F4E79"/>
                    </a:solidFill>
                  </a:tcPr>
                </a:tc>
                <a:tc>
                  <a:txBody>
                    <a:bodyPr wrap="square"/>
                    <a:lstStyle/>
                    <a:p>
                      <a:r>
                        <a:rPr sz="1100" b="1">
                          <a:solidFill>
                            <a:srgbClr val="FFFFFF"/>
                          </a:solidFill>
                          <a:latin typeface="Arial"/>
                        </a:rPr>
                        <a:t>challenge 3 (August)</a:t>
                      </a:r>
                    </a:p>
                  </a:txBody>
                  <a:tcPr marL="54864" marR="54864" marT="18288" marB="18288">
                    <a:solidFill>
                      <a:srgbClr val="1F4E79"/>
                    </a:solidFill>
                  </a:tcPr>
                </a:tc>
              </a:tr>
              <a:tr h="657225">
                <a:tc>
                  <a:txBody>
                    <a:bodyPr wrap="square"/>
                    <a:lstStyle/>
                    <a:p>
                      <a:r>
                        <a:rPr sz="1100" b="0">
                          <a:solidFill>
                            <a:srgbClr val="282828"/>
                          </a:solidFill>
                          <a:latin typeface="Arial"/>
                        </a:rPr>
                        <a:t>the task, as posed</a:t>
                      </a:r>
                    </a:p>
                  </a:txBody>
                  <a:tcPr marL="54864" marR="54864" marT="18288" marB="18288">
                    <a:solidFill>
                      <a:srgbClr val="FFFFFF"/>
                    </a:solidFill>
                  </a:tcPr>
                </a:tc>
                <a:tc>
                  <a:txBody>
                    <a:bodyPr wrap="square"/>
                    <a:lstStyle/>
                    <a:p>
                      <a:r>
                        <a:rPr sz="1100" b="0">
                          <a:solidFill>
                            <a:srgbClr val="282828"/>
                          </a:solidFill>
                          <a:latin typeface="Arial"/>
                        </a:rPr>
                        <a:t>a three-mirror telescope, f/20, 5 m aperture: a 0.2°×0.2° field box offset 0.5° off axis</a:t>
                      </a:r>
                    </a:p>
                  </a:txBody>
                  <a:tcPr marL="54864" marR="54864" marT="18288" marB="18288">
                    <a:solidFill>
                      <a:srgbClr val="FFFFFF"/>
                    </a:solidFill>
                  </a:tcPr>
                </a:tc>
                <a:tc>
                  <a:txBody>
                    <a:bodyPr wrap="square"/>
                    <a:lstStyle/>
                    <a:p>
                      <a:r>
                        <a:rPr sz="1100" b="0">
                          <a:solidFill>
                            <a:srgbClr val="282828"/>
                          </a:solidFill>
                          <a:latin typeface="Arial"/>
                        </a:rPr>
                        <a:t>a three-mirror afocal telescope, 30×, 1 m aperture: a 0.5°×0.5° field offset 0.6°, a tilted cold stop the interface to the instrument</a:t>
                      </a:r>
                    </a:p>
                  </a:txBody>
                  <a:tcPr marL="54864" marR="54864" marT="18288" marB="18288">
                    <a:solidFill>
                      <a:srgbClr val="FFFFFF"/>
                    </a:solidFill>
                  </a:tcPr>
                </a:tc>
                <a:tc>
                  <a:txBody>
                    <a:bodyPr wrap="square"/>
                    <a:lstStyle/>
                    <a:p>
                      <a:r>
                        <a:rPr sz="1100" b="0">
                          <a:solidFill>
                            <a:srgbClr val="282828"/>
                          </a:solidFill>
                          <a:latin typeface="Arial"/>
                        </a:rPr>
                        <a:t>a three-mirror imager, f/4, 75 mm aperture: a 20°×20° field box centered 22° off axis, exit beam horizontal, hard beam–mirror clearances</a:t>
                      </a:r>
                    </a:p>
                  </a:txBody>
                  <a:tcPr marL="54864" marR="54864" marT="18288" marB="18288">
                    <a:solidFill>
                      <a:srgbClr val="FFFFFF"/>
                    </a:solidFill>
                  </a:tcPr>
                </a:tc>
              </a:tr>
              <a:tr h="468630">
                <a:tc>
                  <a:txBody>
                    <a:bodyPr wrap="square"/>
                    <a:lstStyle/>
                    <a:p>
                      <a:r>
                        <a:rPr sz="1100" b="0">
                          <a:solidFill>
                            <a:srgbClr val="282828"/>
                          </a:solidFill>
                          <a:latin typeface="Arial"/>
                        </a:rPr>
                        <a:t>the ladder, in steps</a:t>
                      </a:r>
                    </a:p>
                  </a:txBody>
                  <a:tcPr marL="54864" marR="54864" marT="18288" marB="18288">
                    <a:solidFill>
                      <a:srgbClr val="ECF1F6"/>
                    </a:solidFill>
                  </a:tcPr>
                </a:tc>
                <a:tc>
                  <a:txBody>
                    <a:bodyPr wrap="square"/>
                    <a:lstStyle/>
                    <a:p>
                      <a:r>
                        <a:rPr sz="1100" b="0">
                          <a:solidFill>
                            <a:srgbClr val="282828"/>
                          </a:solidFill>
                          <a:latin typeface="Arial"/>
                        </a:rPr>
                        <a:t>on-axis → offset, frozen → re-solved → tilt/decenter</a:t>
                      </a:r>
                    </a:p>
                  </a:txBody>
                  <a:tcPr marL="54864" marR="54864" marT="18288" marB="18288">
                    <a:solidFill>
                      <a:srgbClr val="ECF1F6"/>
                    </a:solidFill>
                  </a:tcPr>
                </a:tc>
                <a:tc>
                  <a:txBody>
                    <a:bodyPr wrap="square"/>
                    <a:lstStyle/>
                    <a:p>
                      <a:r>
                        <a:rPr sz="1100" b="0">
                          <a:solidFill>
                            <a:srgbClr val="282828"/>
                          </a:solidFill>
                          <a:latin typeface="Arial"/>
                        </a:rPr>
                        <a:t>on-axis → offset, frozen → re-solved → tilt/decenter</a:t>
                      </a:r>
                    </a:p>
                  </a:txBody>
                  <a:tcPr marL="54864" marR="54864" marT="18288" marB="18288">
                    <a:solidFill>
                      <a:srgbClr val="ECF1F6"/>
                    </a:solidFill>
                  </a:tcPr>
                </a:tc>
                <a:tc>
                  <a:txBody>
                    <a:bodyPr wrap="square"/>
                    <a:lstStyle/>
                    <a:p>
                      <a:r>
                        <a:rPr sz="1100" b="0">
                          <a:solidFill>
                            <a:srgbClr val="282828"/>
                          </a:solidFill>
                          <a:latin typeface="Arial"/>
                        </a:rPr>
                        <a:t>on-axis → offset, frozen → re-solved → + clearance constraints → + Zernike freedom</a:t>
                      </a:r>
                    </a:p>
                  </a:txBody>
                  <a:tcPr marL="54864" marR="54864" marT="18288" marB="18288">
                    <a:solidFill>
                      <a:srgbClr val="ECF1F6"/>
                    </a:solidFill>
                  </a:tcPr>
                </a:tc>
              </a:tr>
              <a:tr h="280035">
                <a:tc>
                  <a:txBody>
                    <a:bodyPr wrap="square"/>
                    <a:lstStyle/>
                    <a:p>
                      <a:r>
                        <a:rPr sz="1100" b="0">
                          <a:solidFill>
                            <a:srgbClr val="282828"/>
                          </a:solidFill>
                          <a:latin typeface="Arial"/>
                        </a:rPr>
                        <a:t>reported ladder (max RMS WFE)</a:t>
                      </a:r>
                    </a:p>
                  </a:txBody>
                  <a:tcPr marL="54864" marR="54864" marT="18288" marB="18288">
                    <a:solidFill>
                      <a:srgbClr val="FFFFFF"/>
                    </a:solidFill>
                  </a:tcPr>
                </a:tc>
                <a:tc>
                  <a:txBody>
                    <a:bodyPr wrap="square"/>
                    <a:lstStyle/>
                    <a:p>
                      <a:r>
                        <a:rPr sz="1100" b="0">
                          <a:solidFill>
                            <a:srgbClr val="282828"/>
                          </a:solidFill>
                          <a:latin typeface="Arial"/>
                        </a:rPr>
                        <a:t>2 → 375 → 92 → 40 nm</a:t>
                      </a:r>
                    </a:p>
                  </a:txBody>
                  <a:tcPr marL="54864" marR="54864" marT="18288" marB="18288">
                    <a:solidFill>
                      <a:srgbClr val="FFFFFF"/>
                    </a:solidFill>
                  </a:tcPr>
                </a:tc>
                <a:tc>
                  <a:txBody>
                    <a:bodyPr wrap="square"/>
                    <a:lstStyle/>
                    <a:p>
                      <a:r>
                        <a:rPr sz="1100" b="0">
                          <a:solidFill>
                            <a:srgbClr val="282828"/>
                          </a:solidFill>
                          <a:latin typeface="Arial"/>
                        </a:rPr>
                        <a:t>15 → 430 → 160 → 119 nm</a:t>
                      </a:r>
                    </a:p>
                  </a:txBody>
                  <a:tcPr marL="54864" marR="54864" marT="18288" marB="18288">
                    <a:solidFill>
                      <a:srgbClr val="FFFFFF"/>
                    </a:solidFill>
                  </a:tcPr>
                </a:tc>
                <a:tc>
                  <a:txBody>
                    <a:bodyPr wrap="square"/>
                    <a:lstStyle/>
                    <a:p>
                      <a:r>
                        <a:rPr sz="1100" b="0">
                          <a:solidFill>
                            <a:srgbClr val="282828"/>
                          </a:solidFill>
                          <a:latin typeface="Arial"/>
                        </a:rPr>
                        <a:t>159 → 8810 → 168 → 117 → 53 nm</a:t>
                      </a:r>
                    </a:p>
                  </a:txBody>
                  <a:tcPr marL="54864" marR="54864" marT="18288" marB="18288">
                    <a:solidFill>
                      <a:srgbClr val="FFFFFF"/>
                    </a:solidFill>
                  </a:tcPr>
                </a:tc>
              </a:tr>
              <a:tr h="280035">
                <a:tc>
                  <a:txBody>
                    <a:bodyPr wrap="square"/>
                    <a:lstStyle/>
                    <a:p>
                      <a:r>
                        <a:rPr sz="1100" b="0">
                          <a:solidFill>
                            <a:srgbClr val="282828"/>
                          </a:solidFill>
                          <a:latin typeface="Arial"/>
                        </a:rPr>
                        <a:t>reproduction</a:t>
                      </a:r>
                    </a:p>
                  </a:txBody>
                  <a:tcPr marL="54864" marR="54864" marT="18288" marB="18288">
                    <a:solidFill>
                      <a:srgbClr val="ECF1F6"/>
                    </a:solidFill>
                  </a:tcPr>
                </a:tc>
                <a:tc>
                  <a:txBody>
                    <a:bodyPr wrap="square"/>
                    <a:lstStyle/>
                    <a:p>
                      <a:r>
                        <a:rPr sz="1100" b="0">
                          <a:solidFill>
                            <a:srgbClr val="282828"/>
                          </a:solidFill>
                          <a:latin typeface="Arial"/>
                        </a:rPr>
                        <a:t>0.83–1.11×</a:t>
                      </a:r>
                    </a:p>
                  </a:txBody>
                  <a:tcPr marL="54864" marR="54864" marT="18288" marB="18288">
                    <a:solidFill>
                      <a:srgbClr val="ECF1F6"/>
                    </a:solidFill>
                  </a:tcPr>
                </a:tc>
                <a:tc>
                  <a:txBody>
                    <a:bodyPr wrap="square"/>
                    <a:lstStyle/>
                    <a:p>
                      <a:r>
                        <a:rPr sz="1100" b="0">
                          <a:solidFill>
                            <a:srgbClr val="282828"/>
                          </a:solidFill>
                          <a:latin typeface="Arial"/>
                        </a:rPr>
                        <a:t>0.95–1.02×</a:t>
                      </a:r>
                    </a:p>
                  </a:txBody>
                  <a:tcPr marL="54864" marR="54864" marT="18288" marB="18288">
                    <a:solidFill>
                      <a:srgbClr val="ECF1F6"/>
                    </a:solidFill>
                  </a:tcPr>
                </a:tc>
                <a:tc>
                  <a:txBody>
                    <a:bodyPr wrap="square"/>
                    <a:lstStyle/>
                    <a:p>
                      <a:r>
                        <a:rPr sz="1100" b="0">
                          <a:solidFill>
                            <a:srgbClr val="282828"/>
                          </a:solidFill>
                          <a:latin typeface="Arial"/>
                        </a:rPr>
                        <a:t>0.99–1.10× (all five steps)</a:t>
                      </a:r>
                    </a:p>
                  </a:txBody>
                  <a:tcPr marL="54864" marR="54864" marT="18288" marB="18288">
                    <a:solidFill>
                      <a:srgbClr val="ECF1F6"/>
                    </a:solidFill>
                  </a:tcPr>
                </a:tc>
              </a:tr>
              <a:tr h="657225">
                <a:tc>
                  <a:txBody>
                    <a:bodyPr wrap="square"/>
                    <a:lstStyle/>
                    <a:p>
                      <a:r>
                        <a:rPr sz="1100" b="0">
                          <a:solidFill>
                            <a:srgbClr val="282828"/>
                          </a:solidFill>
                          <a:latin typeface="Arial"/>
                        </a:rPr>
                        <a:t>the feature it proved</a:t>
                      </a:r>
                    </a:p>
                  </a:txBody>
                  <a:tcPr marL="54864" marR="54864" marT="18288" marB="18288">
                    <a:solidFill>
                      <a:srgbClr val="FFFFFF"/>
                    </a:solidFill>
                  </a:tcPr>
                </a:tc>
                <a:tc>
                  <a:txBody>
                    <a:bodyPr wrap="square"/>
                    <a:lstStyle/>
                    <a:p>
                      <a:r>
                        <a:rPr sz="1100" b="0">
                          <a:solidFill>
                            <a:srgbClr val="282828"/>
                          </a:solidFill>
                          <a:latin typeface="Arial"/>
                        </a:rPr>
                        <a:t>the field widened without freeforms — joint optics + focal-plane solves</a:t>
                      </a:r>
                    </a:p>
                  </a:txBody>
                  <a:tcPr marL="54864" marR="54864" marT="18288" marB="18288">
                    <a:solidFill>
                      <a:srgbClr val="FFFFFF"/>
                    </a:solidFill>
                  </a:tcPr>
                </a:tc>
                <a:tc>
                  <a:txBody>
                    <a:bodyPr wrap="square"/>
                    <a:lstStyle/>
                    <a:p>
                      <a:r>
                        <a:rPr sz="1100" b="0">
                          <a:solidFill>
                            <a:srgbClr val="282828"/>
                          </a:solidFill>
                          <a:latin typeface="Arial"/>
                        </a:rPr>
                        <a:t>pupil image quality, measured: metrics + the fourth-mirror trade</a:t>
                      </a:r>
                    </a:p>
                  </a:txBody>
                  <a:tcPr marL="54864" marR="54864" marT="18288" marB="18288">
                    <a:solidFill>
                      <a:srgbClr val="FFFFFF"/>
                    </a:solidFill>
                  </a:tcPr>
                </a:tc>
                <a:tc>
                  <a:txBody>
                    <a:bodyPr wrap="square"/>
                    <a:lstStyle/>
                    <a:p>
                      <a:r>
                        <a:rPr sz="1100" b="0">
                          <a:solidFill>
                            <a:srgbClr val="282828"/>
                          </a:solidFill>
                          <a:latin typeface="Arial"/>
                        </a:rPr>
                        <a:t>a super-wide-field imager family: the continuation walk + its frontier</a:t>
                      </a:r>
                    </a:p>
                  </a:txBody>
                  <a:tcPr marL="54864" marR="54864" marT="18288" marB="18288">
                    <a:solidFill>
                      <a:srgbClr val="FFFFFF"/>
                    </a:solidFill>
                  </a:tcPr>
                </a:tc>
              </a:tr>
            </a:tbl>
          </a:graphicData>
        </a:graphic>
      </p:graphicFrame>
      <p:sp>
        <p:nvSpPr>
          <p:cNvPr id="5" name="TextBox 4"/>
          <p:cNvSpPr txBox="1"/>
          <p:nvPr/>
        </p:nvSpPr>
        <p:spPr>
          <a:xfrm>
            <a:off x="411480" y="4067937"/>
            <a:ext cx="11368735" cy="274320"/>
          </a:xfrm>
          <a:prstGeom prst="rect">
            <a:avLst/>
          </a:prstGeom>
          <a:noFill/>
        </p:spPr>
        <p:txBody>
          <a:bodyPr wrap="square">
            <a:spAutoFit/>
          </a:bodyPr>
          <a:lstStyle/>
          <a:p>
            <a:pPr>
              <a:spcAft>
                <a:spcPts val="600"/>
              </a:spcAft>
            </a:pPr>
            <a:r>
              <a:rPr sz="1500" b="0">
                <a:solidFill>
                  <a:srgbClr val="282828"/>
                </a:solidFill>
                <a:latin typeface="Arial"/>
              </a:rPr>
              <a:t>•  Objective: meet the challenge, and use the solution to establish a design family.</a:t>
            </a:r>
          </a:p>
          <a:p>
            <a:pPr marL="594360" indent="-137160">
              <a:spcAft>
                <a:spcPts val="500"/>
              </a:spcAft>
            </a:pPr>
            <a:r>
              <a:rPr sz="1300" b="0">
                <a:solidFill>
                  <a:srgbClr val="6E6E6E"/>
                </a:solidFill>
                <a:latin typeface="Arial"/>
              </a:rPr>
              <a:t>–  Build a solution code for each particular problem, using AI assistance.</a:t>
            </a:r>
          </a:p>
          <a:p>
            <a:pPr marL="594360" indent="-137160">
              <a:spcAft>
                <a:spcPts val="500"/>
              </a:spcAft>
            </a:pPr>
            <a:r>
              <a:rPr sz="1300" b="0">
                <a:solidFill>
                  <a:srgbClr val="6E6E6E"/>
                </a:solidFill>
                <a:latin typeface="Arial"/>
              </a:rPr>
              <a:t>–  Build another code to rapidly generate adjacent solutions, without AI assistance.</a:t>
            </a:r>
          </a:p>
          <a:p>
            <a:pPr>
              <a:spcAft>
                <a:spcPts val="600"/>
              </a:spcAft>
            </a:pPr>
            <a:r>
              <a:rPr sz="1500" b="0">
                <a:solidFill>
                  <a:srgbClr val="282828"/>
                </a:solidFill>
                <a:latin typeface="Arial"/>
              </a:rPr>
              <a:t>•  Each challenge left a reusable template behind — the whole study re-runs at new parameters in one call.</a:t>
            </a:r>
          </a:p>
          <a:p>
            <a:pPr>
              <a:spcAft>
                <a:spcPts val="600"/>
              </a:spcAft>
            </a:pPr>
            <a:r>
              <a:rPr sz="1500" b="0">
                <a:solidFill>
                  <a:srgbClr val="282828"/>
                </a:solidFill>
                <a:latin typeface="Arial"/>
              </a:rPr>
              <a:t>•  MACOS solves each problem with its own optimizer and the same degrees of freedom.</a:t>
            </a:r>
          </a:p>
          <a:p>
            <a:pPr>
              <a:spcAft>
                <a:spcPts val="600"/>
              </a:spcAft>
            </a:pPr>
            <a:r>
              <a:rPr sz="1500" b="0">
                <a:solidFill>
                  <a:srgbClr val="282828"/>
                </a:solidFill>
                <a:latin typeface="Arial"/>
              </a:rPr>
              <a:t>•  MACOS separately re-traces the delivered prescriptions to compare design against design under one decoded metric.</a:t>
            </a:r>
          </a:p>
          <a:p>
            <a:pPr>
              <a:spcAft>
                <a:spcPts val="600"/>
              </a:spcAft>
            </a:pPr>
            <a:r>
              <a:rPr sz="1500" b="0">
                <a:solidFill>
                  <a:srgbClr val="282828"/>
                </a:solidFill>
                <a:latin typeface="Arial"/>
              </a:rPr>
              <a:t>•  Challenges and solution prompts provided by Mike Rodgers (thanks Mike!).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3: moving a 20°×20° field 22° off axis</a:t>
            </a:r>
          </a:p>
          <a:p>
            <a:pPr>
              <a:spcAft>
                <a:spcPts val="0"/>
              </a:spcAft>
            </a:pPr>
            <a:r>
              <a:rPr sz="1250" b="0">
                <a:solidFill>
                  <a:srgbClr val="6E6E6E"/>
                </a:solidFill>
                <a:latin typeface="Arial"/>
              </a:rPr>
              <a:t>All five reported steps reproduce from the lens sequences before any extension is claimed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4709160" cy="274320"/>
          </a:xfrm>
          <a:prstGeom prst="rect">
            <a:avLst/>
          </a:prstGeom>
          <a:noFill/>
        </p:spPr>
        <p:txBody>
          <a:bodyPr wrap="square">
            <a:spAutoFit/>
          </a:bodyPr>
          <a:lstStyle/>
          <a:p>
            <a:pPr>
              <a:spcAft>
                <a:spcPts val="600"/>
              </a:spcAft>
            </a:pPr>
            <a:r>
              <a:rPr sz="1400" b="0">
                <a:solidFill>
                  <a:srgbClr val="282828"/>
                </a:solidFill>
                <a:latin typeface="Arial"/>
              </a:rPr>
              <a:t>•  The hardest of the three: a wide field box far off axis, an exit-beam pointing constraint, and hard clearance requirements between beam and mirrors.</a:t>
            </a:r>
          </a:p>
          <a:p>
            <a:pPr>
              <a:spcAft>
                <a:spcPts val="600"/>
              </a:spcAft>
            </a:pPr>
            <a:r>
              <a:rPr sz="1400" b="0">
                <a:solidFill>
                  <a:srgbClr val="282828"/>
                </a:solidFill>
                <a:latin typeface="Arial"/>
              </a:rPr>
              <a:t>•  Reproduction first: all five reported design steps rebuild from the delivered lens sequences inside 0.8–1.25× — nothing tuned toward the reported numbers.</a:t>
            </a:r>
          </a:p>
          <a:p>
            <a:pPr>
              <a:spcAft>
                <a:spcPts val="600"/>
              </a:spcAft>
            </a:pPr>
            <a:r>
              <a:rPr sz="1400" b="0">
                <a:solidFill>
                  <a:srgbClr val="282828"/>
                </a:solidFill>
                <a:latin typeface="Arial"/>
              </a:rPr>
              <a:t>•  The study became a template: one parameterized five-stage flow (solve on axis, map the offset, re-solve at the used field, add buildability constraints, add surface freedom) — re-running the whole study at new parameters is one call.</a:t>
            </a:r>
          </a:p>
          <a:p>
            <a:pPr>
              <a:spcAft>
                <a:spcPts val="600"/>
              </a:spcAft>
            </a:pPr>
            <a:r>
              <a:rPr sz="1400" b="0">
                <a:solidFill>
                  <a:srgbClr val="282828"/>
                </a:solidFill>
                <a:latin typeface="Arial"/>
              </a:rPr>
              <a:t>•  Every design passes the same gate sequence:</a:t>
            </a:r>
          </a:p>
          <a:p>
            <a:pPr marL="594360" indent="-137160">
              <a:spcAft>
                <a:spcPts val="500"/>
              </a:spcAft>
            </a:pPr>
            <a:r>
              <a:rPr sz="1250" b="0">
                <a:solidFill>
                  <a:srgbClr val="6E6E6E"/>
                </a:solidFill>
                <a:latin typeface="Arial"/>
              </a:rPr>
              <a:t>–  1 · traceability — every solve field reaches the detector (screened before solving)</a:t>
            </a:r>
          </a:p>
          <a:p>
            <a:pPr marL="594360" indent="-137160">
              <a:spcAft>
                <a:spcPts val="500"/>
              </a:spcAft>
            </a:pPr>
            <a:r>
              <a:rPr sz="1250" b="0">
                <a:solidFill>
                  <a:srgbClr val="6E6E6E"/>
                </a:solidFill>
                <a:latin typeface="Arial"/>
              </a:rPr>
              <a:t>–  2 · map validity — all 121 dense-map fields present, none lost</a:t>
            </a:r>
          </a:p>
          <a:p>
            <a:pPr marL="594360" indent="-137160">
              <a:spcAft>
                <a:spcPts val="500"/>
              </a:spcAft>
            </a:pPr>
            <a:r>
              <a:rPr sz="1250" b="0">
                <a:solidFill>
                  <a:srgbClr val="6E6E6E"/>
                </a:solidFill>
                <a:latin typeface="Arial"/>
              </a:rPr>
              <a:t>–  3 · exit-beam direction — the chief within tolerance of the horizontal pin</a:t>
            </a:r>
          </a:p>
          <a:p>
            <a:pPr marL="594360" indent="-137160">
              <a:spcAft>
                <a:spcPts val="500"/>
              </a:spcAft>
            </a:pPr>
            <a:r>
              <a:rPr sz="1250" b="0">
                <a:solidFill>
                  <a:srgbClr val="6E6E6E"/>
                </a:solidFill>
                <a:latin typeface="Arial"/>
              </a:rPr>
              <a:t>–  4 · clearance — the signed beam–mirror floor at or above spec</a:t>
            </a:r>
          </a:p>
          <a:p>
            <a:pPr marL="594360" indent="-137160">
              <a:spcAft>
                <a:spcPts val="500"/>
              </a:spcAft>
            </a:pPr>
            <a:r>
              <a:rPr sz="1250" b="0">
                <a:solidFill>
                  <a:srgbClr val="6E6E6E"/>
                </a:solidFill>
                <a:latin typeface="Arial"/>
              </a:rPr>
              <a:t>–  5 · score — strict RMS WFE against the reported ladder</a:t>
            </a:r>
          </a:p>
          <a:p>
            <a:pPr marL="594360" indent="-137160">
              <a:spcAft>
                <a:spcPts val="500"/>
              </a:spcAft>
            </a:pPr>
            <a:r>
              <a:rPr sz="1250" b="0">
                <a:solidFill>
                  <a:srgbClr val="6E6E6E"/>
                </a:solidFill>
                <a:latin typeface="Arial"/>
              </a:rPr>
              <a:t>–  pinned by regression checks with negative controls (the control reads 2989× the gate)</a:t>
            </a:r>
          </a:p>
        </p:txBody>
      </p:sp>
      <p:pic>
        <p:nvPicPr>
          <p:cNvPr id="5" name="Picture 4" descr="pair_r3t_s1_layout.png"/>
          <p:cNvPicPr>
            <a:picLocks noChangeAspect="1"/>
          </p:cNvPicPr>
          <p:nvPr/>
        </p:nvPicPr>
        <p:blipFill>
          <a:blip r:embed="rId2"/>
          <a:stretch>
            <a:fillRect/>
          </a:stretch>
        </p:blipFill>
        <p:spPr>
          <a:xfrm>
            <a:off x="5257800" y="1344168"/>
            <a:ext cx="6748272" cy="3383280"/>
          </a:xfrm>
          <a:prstGeom prst="rect">
            <a:avLst/>
          </a:prstGeom>
        </p:spPr>
      </p:pic>
      <p:sp>
        <p:nvSpPr>
          <p:cNvPr id="6" name="TextBox 5"/>
          <p:cNvSpPr txBox="1"/>
          <p:nvPr/>
        </p:nvSpPr>
        <p:spPr>
          <a:xfrm>
            <a:off x="6409944" y="4800600"/>
            <a:ext cx="5394960" cy="394208"/>
          </a:xfrm>
          <a:prstGeom prst="rect">
            <a:avLst/>
          </a:prstGeom>
          <a:noFill/>
        </p:spPr>
        <p:txBody>
          <a:bodyPr wrap="square">
            <a:spAutoFit/>
          </a:bodyPr>
          <a:lstStyle/>
          <a:p>
            <a:pPr algn="ctr">
              <a:spcAft>
                <a:spcPts val="0"/>
              </a:spcAft>
            </a:pPr>
            <a:r>
              <a:rPr sz="1000" b="0">
                <a:solidFill>
                  <a:srgbClr val="6E6E6E"/>
                </a:solidFill>
                <a:latin typeface="Arial"/>
              </a:rPr>
              <a:t>The offset imager as traced in MACOS at the stage-1 configuration (iso + side views).</a:t>
            </a:r>
          </a:p>
        </p:txBody>
      </p:sp>
      <p:sp>
        <p:nvSpPr>
          <p:cNvPr id="7" name="TextBox 6"/>
          <p:cNvSpPr txBox="1"/>
          <p:nvPr/>
        </p:nvSpPr>
        <p:spPr>
          <a:xfrm>
            <a:off x="6629400" y="5074920"/>
            <a:ext cx="5394960" cy="274320"/>
          </a:xfrm>
          <a:prstGeom prst="rect">
            <a:avLst/>
          </a:prstGeom>
          <a:noFill/>
        </p:spPr>
        <p:txBody>
          <a:bodyPr wrap="square">
            <a:spAutoFit/>
          </a:bodyPr>
          <a:lstStyle/>
          <a:p>
            <a:pPr>
              <a:spcAft>
                <a:spcPts val="600"/>
              </a:spcAft>
            </a:pPr>
            <a:r>
              <a:rPr sz="1050" b="0">
                <a:solidFill>
                  <a:srgbClr val="6E6E6E"/>
                </a:solidFill>
                <a:latin typeface="Arial"/>
              </a:rPr>
              <a:t>Record: challenges/rodgers3 — packet, per-step prescriptions, regression checks with negative controls.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3: the numbers</a:t>
            </a:r>
          </a:p>
          <a:p>
            <a:pPr>
              <a:spcAft>
                <a:spcPts val="0"/>
              </a:spcAft>
            </a:pPr>
            <a:r>
              <a:rPr sz="1250" b="0">
                <a:solidFill>
                  <a:srgbClr val="6E6E6E"/>
                </a:solidFill>
                <a:latin typeface="Arial"/>
              </a:rPr>
              <a:t>Paying the same constraints lands the same design space — then a diagnosis beats the reported result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buildability step: enforcing the reported ≥35 mm clearance lands 113.6 nm at a 34.1 mm floor, against the reported 117 nm — 0.97×, same design space.  The final step, diagnosed then beaten: the gap to the reported 53 nm was the solve-field count, not physics; matching it lands 45.4 nm — 0.86× — at a floor 1.6 mm shy of the stated 35 mm.</a:t>
            </a:r>
          </a:p>
          <a:p>
            <a:pPr>
              <a:spcAft>
                <a:spcPts val="600"/>
              </a:spcAft>
            </a:pPr>
            <a:r>
              <a:rPr sz="1500" b="0">
                <a:solidFill>
                  <a:srgbClr val="282828"/>
                </a:solidFill>
                <a:latin typeface="Arial"/>
              </a:rPr>
              <a:t>•  An unconstrained solve reads 58.3 nm — with the beam passing through the secondary.  The layout figure caught it; clearance constraints are part of the problem statement.</a:t>
            </a:r>
          </a:p>
        </p:txBody>
      </p:sp>
      <p:pic>
        <p:nvPicPr>
          <p:cNvPr id="5" name="Picture 4" descr="pair_r3t_s4_layout.png"/>
          <p:cNvPicPr>
            <a:picLocks noChangeAspect="1"/>
          </p:cNvPicPr>
          <p:nvPr/>
        </p:nvPicPr>
        <p:blipFill>
          <a:blip r:embed="rId2"/>
          <a:stretch>
            <a:fillRect/>
          </a:stretch>
        </p:blipFill>
        <p:spPr>
          <a:xfrm>
            <a:off x="265176" y="2743200"/>
            <a:ext cx="7068312" cy="3429000"/>
          </a:xfrm>
          <a:prstGeom prst="rect">
            <a:avLst/>
          </a:prstGeom>
        </p:spPr>
      </p:pic>
      <p:sp>
        <p:nvSpPr>
          <p:cNvPr id="6" name="TextBox 5"/>
          <p:cNvSpPr txBox="1"/>
          <p:nvPr/>
        </p:nvSpPr>
        <p:spPr>
          <a:xfrm>
            <a:off x="411480" y="6126480"/>
            <a:ext cx="5806440" cy="229107"/>
          </a:xfrm>
          <a:prstGeom prst="rect">
            <a:avLst/>
          </a:prstGeom>
          <a:noFill/>
        </p:spPr>
        <p:txBody>
          <a:bodyPr wrap="square">
            <a:spAutoFit/>
          </a:bodyPr>
          <a:lstStyle/>
          <a:p>
            <a:pPr algn="ctr">
              <a:spcAft>
                <a:spcPts val="0"/>
              </a:spcAft>
            </a:pPr>
            <a:r>
              <a:rPr sz="1000" b="0">
                <a:solidFill>
                  <a:srgbClr val="6E6E6E"/>
                </a:solidFill>
                <a:latin typeface="Arial"/>
              </a:rPr>
              <a:t>The buildability-constrained design: a 34.1 mm clearance floor, traced (iso + side views).</a:t>
            </a:r>
          </a:p>
        </p:txBody>
      </p:sp>
      <p:pic>
        <p:nvPicPr>
          <p:cNvPr id="7" name="Picture 6" descr="r3t_s4_map.png"/>
          <p:cNvPicPr>
            <a:picLocks noChangeAspect="1"/>
          </p:cNvPicPr>
          <p:nvPr/>
        </p:nvPicPr>
        <p:blipFill>
          <a:blip r:embed="rId3"/>
          <a:stretch>
            <a:fillRect/>
          </a:stretch>
        </p:blipFill>
        <p:spPr>
          <a:xfrm>
            <a:off x="7543375" y="2853690"/>
            <a:ext cx="3109808" cy="2696972"/>
          </a:xfrm>
          <a:prstGeom prst="rect">
            <a:avLst/>
          </a:prstGeom>
        </p:spPr>
      </p:pic>
      <p:sp>
        <p:nvSpPr>
          <p:cNvPr id="8" name="TextBox 7"/>
          <p:cNvSpPr txBox="1"/>
          <p:nvPr/>
        </p:nvSpPr>
        <p:spPr>
          <a:xfrm>
            <a:off x="6400800" y="5568949"/>
            <a:ext cx="5394960" cy="229107"/>
          </a:xfrm>
          <a:prstGeom prst="rect">
            <a:avLst/>
          </a:prstGeom>
          <a:noFill/>
        </p:spPr>
        <p:txBody>
          <a:bodyPr wrap="square">
            <a:spAutoFit/>
          </a:bodyPr>
          <a:lstStyle/>
          <a:p>
            <a:pPr algn="ctr">
              <a:spcAft>
                <a:spcPts val="0"/>
              </a:spcAft>
            </a:pPr>
            <a:r>
              <a:rPr sz="1000" b="0">
                <a:solidFill>
                  <a:srgbClr val="6E6E6E"/>
                </a:solidFill>
                <a:latin typeface="Arial"/>
              </a:rPr>
              <a:t>Its field map: 113.6 nm max over the 20° box.</a:t>
            </a:r>
          </a:p>
        </p:txBody>
      </p:sp>
      <p:sp>
        <p:nvSpPr>
          <p:cNvPr id="9" name="TextBox 8"/>
          <p:cNvSpPr txBox="1"/>
          <p:nvPr/>
        </p:nvSpPr>
        <p:spPr>
          <a:xfrm>
            <a:off x="6400800" y="5834633"/>
            <a:ext cx="5394960" cy="274320"/>
          </a:xfrm>
          <a:prstGeom prst="rect">
            <a:avLst/>
          </a:prstGeom>
          <a:noFill/>
        </p:spPr>
        <p:txBody>
          <a:bodyPr wrap="square">
            <a:spAutoFit/>
          </a:bodyPr>
          <a:lstStyle/>
          <a:p>
            <a:pPr>
              <a:spcAft>
                <a:spcPts val="600"/>
              </a:spcAft>
            </a:pPr>
            <a:r>
              <a:rPr sz="1050" b="0">
                <a:solidFill>
                  <a:srgbClr val="6E6E6E"/>
                </a:solidFill>
                <a:latin typeface="Arial"/>
              </a:rPr>
              <a:t>Metric, stated once for this study: strict RMS WFE, reference sphere on the spot centroid on the frozen focal plane, anchored at the exit pupil, piston-only removal; headline = maximum of a dense 11×11 field 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From one design to a design family</a:t>
            </a:r>
          </a:p>
          <a:p>
            <a:pPr>
              <a:spcAft>
                <a:spcPts val="0"/>
              </a:spcAft>
            </a:pPr>
            <a:r>
              <a:rPr sz="1250" b="0">
                <a:solidFill>
                  <a:srgbClr val="6E6E6E"/>
                </a:solidFill>
                <a:latin typeface="Arial"/>
              </a:rPr>
              <a:t>Warm-started continuation solves what a cold start cannot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cold start fails (596 µm, most field points lose every ray); the walk succeeds: solve an easy 5° box, widen in steps, each warm-started from the last — 10.9 → 21.5 → 27.3 → 40.0 → 69.8 nm at 5/8/11/13/15°, 8531× better than the cold start.</a:t>
            </a:r>
          </a:p>
          <a:p>
            <a:pPr>
              <a:spcAft>
                <a:spcPts val="600"/>
              </a:spcAft>
            </a:pPr>
            <a:r>
              <a:rPr sz="1500" b="0">
                <a:solidFill>
                  <a:srgbClr val="282828"/>
                </a:solidFill>
                <a:latin typeface="Arial"/>
              </a:rPr>
              <a:t>•  The step table is the instrument's field-vs-packaging frontier: every row a finished, checked design; the largest spec-compliant box is 11°×11° at 27.3 nm with a 25.1 mm clearance floor.</a:t>
            </a:r>
          </a:p>
        </p:txBody>
      </p:sp>
      <p:pic>
        <p:nvPicPr>
          <p:cNvPr id="5" name="Picture 4" descr="pair_t5_walk_k05_layout.png"/>
          <p:cNvPicPr>
            <a:picLocks noChangeAspect="1"/>
          </p:cNvPicPr>
          <p:nvPr/>
        </p:nvPicPr>
        <p:blipFill>
          <a:blip r:embed="rId2"/>
          <a:stretch>
            <a:fillRect/>
          </a:stretch>
        </p:blipFill>
        <p:spPr>
          <a:xfrm>
            <a:off x="0" y="2295144"/>
            <a:ext cx="6437376" cy="3877056"/>
          </a:xfrm>
          <a:prstGeom prst="rect">
            <a:avLst/>
          </a:prstGeom>
        </p:spPr>
      </p:pic>
      <p:sp>
        <p:nvSpPr>
          <p:cNvPr id="6" name="TextBox 5"/>
          <p:cNvSpPr txBox="1"/>
          <p:nvPr/>
        </p:nvSpPr>
        <p:spPr>
          <a:xfrm>
            <a:off x="411480" y="6181344"/>
            <a:ext cx="5806440" cy="229107"/>
          </a:xfrm>
          <a:prstGeom prst="rect">
            <a:avLst/>
          </a:prstGeom>
          <a:noFill/>
        </p:spPr>
        <p:txBody>
          <a:bodyPr wrap="square">
            <a:spAutoFit/>
          </a:bodyPr>
          <a:lstStyle/>
          <a:p>
            <a:pPr algn="ctr">
              <a:spcAft>
                <a:spcPts val="0"/>
              </a:spcAft>
            </a:pPr>
            <a:r>
              <a:rPr sz="1000" b="0">
                <a:solidFill>
                  <a:srgbClr val="6E6E6E"/>
                </a:solidFill>
                <a:latin typeface="Arial"/>
              </a:rPr>
              <a:t>The 15° endpoint of the continuation walk, traced with clearances (iso + side views).</a:t>
            </a:r>
          </a:p>
        </p:txBody>
      </p:sp>
      <p:pic>
        <p:nvPicPr>
          <p:cNvPr id="7" name="Picture 6" descr="t5_walk_k03_map.png"/>
          <p:cNvPicPr>
            <a:picLocks noChangeAspect="1"/>
          </p:cNvPicPr>
          <p:nvPr/>
        </p:nvPicPr>
        <p:blipFill>
          <a:blip r:embed="rId3"/>
          <a:stretch>
            <a:fillRect/>
          </a:stretch>
        </p:blipFill>
        <p:spPr>
          <a:xfrm>
            <a:off x="7514869" y="2853690"/>
            <a:ext cx="3166820" cy="2788411"/>
          </a:xfrm>
          <a:prstGeom prst="rect">
            <a:avLst/>
          </a:prstGeom>
        </p:spPr>
      </p:pic>
      <p:sp>
        <p:nvSpPr>
          <p:cNvPr id="8" name="TextBox 7"/>
          <p:cNvSpPr txBox="1"/>
          <p:nvPr/>
        </p:nvSpPr>
        <p:spPr>
          <a:xfrm>
            <a:off x="6400800" y="5660389"/>
            <a:ext cx="5394960" cy="229107"/>
          </a:xfrm>
          <a:prstGeom prst="rect">
            <a:avLst/>
          </a:prstGeom>
          <a:noFill/>
        </p:spPr>
        <p:txBody>
          <a:bodyPr wrap="square">
            <a:spAutoFit/>
          </a:bodyPr>
          <a:lstStyle/>
          <a:p>
            <a:pPr algn="ctr">
              <a:spcAft>
                <a:spcPts val="0"/>
              </a:spcAft>
            </a:pPr>
            <a:r>
              <a:rPr sz="1000" b="0">
                <a:solidFill>
                  <a:srgbClr val="6E6E6E"/>
                </a:solidFill>
                <a:latin typeface="Arial"/>
              </a:rPr>
              <a:t>The 11° step's field map: 27.3 nm max — the largest spec-compliant row.</a:t>
            </a:r>
          </a:p>
        </p:txBody>
      </p:sp>
      <p:sp>
        <p:nvSpPr>
          <p:cNvPr id="9" name="TextBox 8"/>
          <p:cNvSpPr txBox="1"/>
          <p:nvPr/>
        </p:nvSpPr>
        <p:spPr>
          <a:xfrm>
            <a:off x="6940296" y="5925312"/>
            <a:ext cx="4709160" cy="274320"/>
          </a:xfrm>
          <a:prstGeom prst="rect">
            <a:avLst/>
          </a:prstGeom>
          <a:noFill/>
        </p:spPr>
        <p:txBody>
          <a:bodyPr wrap="square">
            <a:spAutoFit/>
          </a:bodyPr>
          <a:lstStyle/>
          <a:p>
            <a:pPr>
              <a:spcAft>
                <a:spcPts val="600"/>
              </a:spcAft>
            </a:pPr>
            <a:r>
              <a:rPr sz="1050" b="0">
                <a:solidFill>
                  <a:srgbClr val="6E6E6E"/>
                </a:solidFill>
                <a:latin typeface="Arial"/>
              </a:rPr>
              <a:t>This frontier is the basis of the live demonstration — next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live demonstration: an adjacent instrument, designed during this talk</a:t>
            </a:r>
          </a:p>
          <a:p>
            <a:pPr>
              <a:spcAft>
                <a:spcPts val="0"/>
              </a:spcAft>
            </a:pPr>
            <a:r>
              <a:rPr sz="1250" b="0">
                <a:solidFill>
                  <a:srgbClr val="6E6E6E"/>
                </a:solidFill>
                <a:latin typeface="Arial"/>
              </a:rPr>
              <a:t>Kicked off now, in MATLAB; predicted first, revealed before the closing discussion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4846320" cy="274320"/>
          </a:xfrm>
          <a:prstGeom prst="rect">
            <a:avLst/>
          </a:prstGeom>
          <a:noFill/>
        </p:spPr>
        <p:txBody>
          <a:bodyPr wrap="square">
            <a:spAutoFit/>
          </a:bodyPr>
          <a:lstStyle/>
          <a:p>
            <a:pPr>
              <a:spcAft>
                <a:spcPts val="600"/>
              </a:spcAft>
            </a:pPr>
            <a:r>
              <a:rPr sz="1500" b="0">
                <a:solidFill>
                  <a:srgbClr val="282828"/>
                </a:solidFill>
                <a:latin typeface="Arial"/>
              </a:rPr>
              <a:t>•  The ask: name a field-box full width, anywhere in 5–15°, for the same instrument class — 150 mm f/3.3 at the +22.5° offset, same envelope, same clearance rules.</a:t>
            </a:r>
          </a:p>
          <a:p>
            <a:pPr>
              <a:spcAft>
                <a:spcPts val="600"/>
              </a:spcAft>
            </a:pPr>
            <a:r>
              <a:rPr sz="1500" b="0">
                <a:solidFill>
                  <a:srgbClr val="282828"/>
                </a:solidFill>
                <a:latin typeface="Arial"/>
              </a:rPr>
              <a:t>•  What happens: the frontier states the prediction first; one MATLAB call launches a full-freedom solve, warm-started from the nearest committed design below the ask, and it runs while the talk continues (~15 min).</a:t>
            </a:r>
          </a:p>
          <a:p>
            <a:pPr>
              <a:spcAft>
                <a:spcPts val="600"/>
              </a:spcAft>
            </a:pPr>
            <a:r>
              <a:rPr sz="1500" b="0">
                <a:solidFill>
                  <a:srgbClr val="282828"/>
                </a:solidFill>
                <a:latin typeface="Arial"/>
              </a:rPr>
              <a:t>•  The AI is not driving: the design knowledge is compiled into the driver — this is the "adjacent solutions, without AI assistance" half of the objective, running live.</a:t>
            </a:r>
          </a:p>
          <a:p>
            <a:pPr>
              <a:spcAft>
                <a:spcPts val="600"/>
              </a:spcAft>
            </a:pPr>
            <a:r>
              <a:rPr sz="1500" b="0">
                <a:solidFill>
                  <a:srgbClr val="282828"/>
                </a:solidFill>
                <a:latin typeface="Arial"/>
              </a:rPr>
              <a:t>•  The AI is available for questions.</a:t>
            </a:r>
          </a:p>
          <a:p>
            <a:pPr>
              <a:spcAft>
                <a:spcPts val="600"/>
              </a:spcAft>
            </a:pPr>
            <a:r>
              <a:rPr sz="1500" b="0">
                <a:solidFill>
                  <a:srgbClr val="282828"/>
                </a:solidFill>
                <a:latin typeface="Arial"/>
              </a:rPr>
              <a:t>•  What the reveal shows: the field map, the clearance floor and the exit-direction check, beside the stated prediction.  Every ask is a genuine continuation step, never a re-score of a stored design; a repeat run reproduces every printed digit.</a:t>
            </a:r>
          </a:p>
        </p:txBody>
      </p:sp>
      <p:sp>
        <p:nvSpPr>
          <p:cNvPr id="5" name="Rectangle 4"/>
          <p:cNvSpPr/>
          <p:nvPr/>
        </p:nvSpPr>
        <p:spPr>
          <a:xfrm>
            <a:off x="5486400" y="1371600"/>
            <a:ext cx="6702552" cy="2478024"/>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
              </a:spcAft>
            </a:pPr>
            <a:r>
              <a:rPr sz="1150" b="0">
                <a:solidFill>
                  <a:srgbClr val="282828"/>
                </a:solidFill>
                <a:latin typeface="Consolas"/>
              </a:rPr>
              <a:t>$ matlab &amp;                    % a fresh MATLAB, just for this solve</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&gt;&gt; cd ~/dev/MACOS_resources/mmacos/templates/10_telescopes/offset_imager</a:t>
            </a:r>
          </a:p>
          <a:p>
            <a:pPr>
              <a:spcAft>
                <a:spcPts val="100"/>
              </a:spcAft>
            </a:pPr>
            <a:r>
              <a:rPr sz="1150" b="0">
                <a:solidFill>
                  <a:srgbClr val="282828"/>
                </a:solidFill>
                <a:latin typeface="Consolas"/>
              </a:rPr>
              <a:t>&gt;&gt; OUT = oi_demo_step(12)     % &lt;-- the room's width goes here (5-15 deg)</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 warm start : committed walk step 3  (11 x 11 deg)</a:t>
            </a:r>
          </a:p>
          <a:p>
            <a:pPr>
              <a:spcAft>
                <a:spcPts val="100"/>
              </a:spcAft>
            </a:pPr>
            <a:r>
              <a:rPr sz="1150" b="0">
                <a:solidFill>
                  <a:srgbClr val="282828"/>
                </a:solidFill>
                <a:latin typeface="Consolas"/>
              </a:rPr>
              <a:t> predicted  : ~33.7 nm, ~24.8 mm floor  (frontier rows 11/13 deg)</a:t>
            </a:r>
          </a:p>
          <a:p>
            <a:pPr>
              <a:spcAft>
                <a:spcPts val="100"/>
              </a:spcAft>
            </a:pPr>
            <a:r>
              <a:rPr sz="1150" b="0">
                <a:solidFill>
                  <a:srgbClr val="282828"/>
                </a:solidFill>
                <a:latin typeface="Consolas"/>
              </a:rPr>
              <a:t> solving    : one full-freedom step ...  ~15 min</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 ... at the reveal, the windows are already up; if needed:</a:t>
            </a:r>
          </a:p>
          <a:p>
            <a:pPr>
              <a:spcAft>
                <a:spcPts val="100"/>
              </a:spcAft>
            </a:pPr>
            <a:r>
              <a:rPr sz="1150" b="0">
                <a:solidFill>
                  <a:srgbClr val="282828"/>
                </a:solidFill>
                <a:latin typeface="Consolas"/>
              </a:rPr>
              <a:t>&gt;&gt; oi_demo_show(OUT)          % live layout + WF map + fields</a:t>
            </a:r>
          </a:p>
          <a:p>
            <a:pPr>
              <a:spcAft>
                <a:spcPts val="100"/>
              </a:spcAft>
            </a:pPr>
            <a:r>
              <a:rPr sz="1150" b="0">
                <a:solidFill>
                  <a:srgbClr val="282828"/>
                </a:solidFill>
                <a:latin typeface="Consolas"/>
              </a:rPr>
              <a:t>&gt;&gt; type(OUT.files.verdict)    % the verdict block</a:t>
            </a:r>
          </a:p>
        </p:txBody>
      </p:sp>
      <p:sp>
        <p:nvSpPr>
          <p:cNvPr id="6" name="TextBox 5"/>
          <p:cNvSpPr txBox="1"/>
          <p:nvPr/>
        </p:nvSpPr>
        <p:spPr>
          <a:xfrm>
            <a:off x="5815584" y="4773168"/>
            <a:ext cx="5394960" cy="274320"/>
          </a:xfrm>
          <a:prstGeom prst="rect">
            <a:avLst/>
          </a:prstGeom>
          <a:noFill/>
        </p:spPr>
        <p:txBody>
          <a:bodyPr wrap="square">
            <a:spAutoFit/>
          </a:bodyPr>
          <a:lstStyle/>
          <a:p>
            <a:pPr>
              <a:spcAft>
                <a:spcPts val="600"/>
              </a:spcAft>
            </a:pPr>
            <a:r>
              <a:rPr sz="1050" b="0">
                <a:solidFill>
                  <a:srgbClr val="6E6E6E"/>
                </a:solidFill>
                <a:latin typeface="Arial"/>
              </a:rPr>
              <a:t>The literal demo-day sequence ($ = shell, &gt;&gt; = MATLAB); the rehearsal at 12° solved 33.6 nm against the ~33.7 prediction, and the 14° rehearsal beat its predict too.</a:t>
            </a:r>
          </a:p>
        </p:txBody>
      </p:sp>
      <p:sp>
        <p:nvSpPr>
          <p:cNvPr id="7" name="TextBox 6"/>
          <p:cNvSpPr txBox="1"/>
          <p:nvPr/>
        </p:nvSpPr>
        <p:spPr>
          <a:xfrm>
            <a:off x="8915400" y="5925312"/>
            <a:ext cx="2880360" cy="274320"/>
          </a:xfrm>
          <a:prstGeom prst="rect">
            <a:avLst/>
          </a:prstGeom>
          <a:noFill/>
        </p:spPr>
        <p:txBody>
          <a:bodyPr wrap="square">
            <a:spAutoFit/>
          </a:bodyPr>
          <a:lstStyle/>
          <a:p>
            <a:pPr>
              <a:spcAft>
                <a:spcPts val="600"/>
              </a:spcAft>
            </a:pPr>
            <a:r>
              <a:rPr sz="1050" b="0">
                <a:solidFill>
                  <a:srgbClr val="6E6E6E"/>
                </a:solidFill>
                <a:latin typeface="Arial"/>
              </a:rPr>
              <a:t>In the mean time, continuing...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1: MACOS solves match the re-traced CODE V designs</a:t>
            </a:r>
          </a:p>
          <a:p>
            <a:pPr>
              <a:spcAft>
                <a:spcPts val="0"/>
              </a:spcAft>
            </a:pPr>
            <a:r>
              <a:rPr sz="1250" b="0">
                <a:solidFill>
                  <a:srgbClr val="6E6E6E"/>
                </a:solidFill>
                <a:latin typeface="Arial"/>
              </a:rPr>
              <a:t>Re-traced designs land 0.991–1.003× of reported; the MACOS solves score 0.97× design vs design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1680210"/>
        </p:xfrm>
        <a:graphic>
          <a:graphicData uri="http://schemas.openxmlformats.org/drawingml/2006/table">
            <a:tbl>
              <a:tblPr firstRow="1" bandRow="1">
                <a:tableStyleId>{5C22544A-7EE6-4342-B048-85BDC9FD1C3A}</a:tableStyleId>
              </a:tblPr>
              <a:tblGrid>
                <a:gridCol w="2734252"/>
                <a:gridCol w="4029425"/>
                <a:gridCol w="2446436"/>
                <a:gridCol w="2158620"/>
              </a:tblGrid>
              <a:tr h="280035">
                <a:tc>
                  <a:txBody>
                    <a:bodyPr wrap="square"/>
                    <a:lstStyle/>
                    <a:p>
                      <a:r>
                        <a:rPr sz="1100" b="1">
                          <a:solidFill>
                            <a:srgbClr val="FFFFFF"/>
                          </a:solidFill>
                          <a:latin typeface="Arial"/>
                        </a:rPr>
                        <a:t>design</a:t>
                      </a:r>
                    </a:p>
                  </a:txBody>
                  <a:tcPr marL="54864" marR="54864" marT="18288" marB="18288">
                    <a:solidFill>
                      <a:srgbClr val="1F4E79"/>
                    </a:solidFill>
                  </a:tcPr>
                </a:tc>
                <a:tc>
                  <a:txBody>
                    <a:bodyPr wrap="square"/>
                    <a:lstStyle/>
                    <a:p>
                      <a:r>
                        <a:rPr sz="1100" b="1">
                          <a:solidFill>
                            <a:srgbClr val="FFFFFF"/>
                          </a:solidFill>
                          <a:latin typeface="Arial"/>
                        </a:rPr>
                        <a:t>MACOS, piston + tilt removed</a:t>
                      </a:r>
                    </a:p>
                  </a:txBody>
                  <a:tcPr marL="54864" marR="54864" marT="18288" marB="18288">
                    <a:solidFill>
                      <a:srgbClr val="1F4E79"/>
                    </a:solidFill>
                  </a:tcPr>
                </a:tc>
                <a:tc>
                  <a:txBody>
                    <a:bodyPr wrap="square"/>
                    <a:lstStyle/>
                    <a:p>
                      <a:r>
                        <a:rPr sz="1100" b="1">
                          <a:solidFill>
                            <a:srgbClr val="FFFFFF"/>
                          </a:solidFill>
                          <a:latin typeface="Arial"/>
                        </a:rPr>
                        <a:t>bestfoc + LS tilt</a:t>
                      </a:r>
                    </a:p>
                  </a:txBody>
                  <a:tcPr marL="54864" marR="54864" marT="18288" marB="18288">
                    <a:solidFill>
                      <a:srgbClr val="1F4E79"/>
                    </a:solidFill>
                  </a:tcPr>
                </a:tc>
                <a:tc>
                  <a:txBody>
                    <a:bodyPr wrap="square"/>
                    <a:lstStyle/>
                    <a:p>
                      <a:r>
                        <a:rPr sz="1100" b="1">
                          <a:solidFill>
                            <a:srgbClr val="FFFFFF"/>
                          </a:solidFill>
                          <a:latin typeface="Arial"/>
                        </a:rPr>
                        <a:t>CODE V reported</a:t>
                      </a:r>
                    </a:p>
                  </a:txBody>
                  <a:tcPr marL="54864" marR="54864" marT="18288" marB="18288">
                    <a:solidFill>
                      <a:srgbClr val="1F4E79"/>
                    </a:solidFill>
                  </a:tcPr>
                </a:tc>
              </a:tr>
              <a:tr h="280035">
                <a:tc>
                  <a:txBody>
                    <a:bodyPr wrap="square"/>
                    <a:lstStyle/>
                    <a:p>
                      <a:r>
                        <a:rPr sz="1100" b="0">
                          <a:solidFill>
                            <a:srgbClr val="282828"/>
                          </a:solidFill>
                          <a:latin typeface="Arial"/>
                        </a:rPr>
                        <a:t>S2 verbatim</a:t>
                      </a:r>
                    </a:p>
                  </a:txBody>
                  <a:tcPr marL="54864" marR="54864" marT="18288" marB="18288">
                    <a:solidFill>
                      <a:srgbClr val="FFFFFF"/>
                    </a:solidFill>
                  </a:tcPr>
                </a:tc>
                <a:tc>
                  <a:txBody>
                    <a:bodyPr wrap="square"/>
                    <a:lstStyle/>
                    <a:p>
                      <a:r>
                        <a:rPr sz="1100" b="0">
                          <a:solidFill>
                            <a:srgbClr val="282828"/>
                          </a:solidFill>
                          <a:latin typeface="Arial"/>
                        </a:rPr>
                        <a:t>482.8 / 272.0</a:t>
                      </a:r>
                    </a:p>
                  </a:txBody>
                  <a:tcPr marL="54864" marR="54864" marT="18288" marB="18288">
                    <a:solidFill>
                      <a:srgbClr val="FFFFFF"/>
                    </a:solidFill>
                  </a:tcPr>
                </a:tc>
                <a:tc>
                  <a:txBody>
                    <a:bodyPr wrap="square"/>
                    <a:lstStyle/>
                    <a:p>
                      <a:r>
                        <a:rPr sz="1100" b="0">
                          <a:solidFill>
                            <a:srgbClr val="282828"/>
                          </a:solidFill>
                          <a:latin typeface="Arial"/>
                        </a:rPr>
                        <a:t>371.4 / 201.4</a:t>
                      </a:r>
                    </a:p>
                  </a:txBody>
                  <a:tcPr marL="54864" marR="54864" marT="18288" marB="18288">
                    <a:solidFill>
                      <a:srgbClr val="FFFFFF"/>
                    </a:solidFill>
                  </a:tcPr>
                </a:tc>
                <a:tc>
                  <a:txBody>
                    <a:bodyPr wrap="square"/>
                    <a:lstStyle/>
                    <a:p>
                      <a:r>
                        <a:rPr sz="1100" b="0">
                          <a:solidFill>
                            <a:srgbClr val="282828"/>
                          </a:solidFill>
                          <a:latin typeface="Arial"/>
                        </a:rPr>
                        <a:t>374.6 / 200.0</a:t>
                      </a:r>
                    </a:p>
                  </a:txBody>
                  <a:tcPr marL="54864" marR="54864" marT="18288" marB="18288">
                    <a:solidFill>
                      <a:srgbClr val="FFFFFF"/>
                    </a:solidFill>
                  </a:tcPr>
                </a:tc>
              </a:tr>
              <a:tr h="280035">
                <a:tc>
                  <a:txBody>
                    <a:bodyPr wrap="square"/>
                    <a:lstStyle/>
                    <a:p>
                      <a:r>
                        <a:rPr sz="1100" b="0">
                          <a:solidFill>
                            <a:srgbClr val="282828"/>
                          </a:solidFill>
                          <a:latin typeface="Arial"/>
                        </a:rPr>
                        <a:t>S3 MACOS solve</a:t>
                      </a:r>
                    </a:p>
                  </a:txBody>
                  <a:tcPr marL="54864" marR="54864" marT="18288" marB="18288">
                    <a:solidFill>
                      <a:srgbClr val="ECF1F6"/>
                    </a:solidFill>
                  </a:tcPr>
                </a:tc>
                <a:tc>
                  <a:txBody>
                    <a:bodyPr wrap="square"/>
                    <a:lstStyle/>
                    <a:p>
                      <a:r>
                        <a:rPr sz="1100" b="0">
                          <a:solidFill>
                            <a:srgbClr val="282828"/>
                          </a:solidFill>
                          <a:latin typeface="Arial"/>
                        </a:rPr>
                        <a:t>116.8 / 68.1</a:t>
                      </a:r>
                    </a:p>
                  </a:txBody>
                  <a:tcPr marL="54864" marR="54864" marT="18288" marB="18288">
                    <a:solidFill>
                      <a:srgbClr val="ECF1F6"/>
                    </a:solidFill>
                  </a:tcPr>
                </a:tc>
                <a:tc>
                  <a:txBody>
                    <a:bodyPr wrap="square"/>
                    <a:lstStyle/>
                    <a:p>
                      <a:r>
                        <a:rPr sz="1100" b="0">
                          <a:solidFill>
                            <a:srgbClr val="282828"/>
                          </a:solidFill>
                          <a:latin typeface="Arial"/>
                        </a:rPr>
                        <a:t>86.8 / 50.5</a:t>
                      </a:r>
                    </a:p>
                  </a:txBody>
                  <a:tcPr marL="54864" marR="54864" marT="18288" marB="18288">
                    <a:solidFill>
                      <a:srgbClr val="ECF1F6"/>
                    </a:solidFill>
                  </a:tcPr>
                </a:tc>
                <a:tc>
                  <a:txBody>
                    <a:bodyPr wrap="square"/>
                    <a:lstStyle/>
                    <a:p>
                      <a:r>
                        <a:rPr sz="1100" b="0">
                          <a:solidFill>
                            <a:srgbClr val="282828"/>
                          </a:solidFill>
                          <a:latin typeface="Arial"/>
                        </a:rPr>
                        <a:t>91.6 / 46.4</a:t>
                      </a:r>
                    </a:p>
                  </a:txBody>
                  <a:tcPr marL="54864" marR="54864" marT="18288" marB="18288">
                    <a:solidFill>
                      <a:srgbClr val="ECF1F6"/>
                    </a:solidFill>
                  </a:tcPr>
                </a:tc>
              </a:tr>
              <a:tr h="280035">
                <a:tc>
                  <a:txBody>
                    <a:bodyPr wrap="square"/>
                    <a:lstStyle/>
                    <a:p>
                      <a:r>
                        <a:rPr sz="1100" b="0">
                          <a:solidFill>
                            <a:srgbClr val="282828"/>
                          </a:solidFill>
                          <a:latin typeface="Arial"/>
                        </a:rPr>
                        <a:t>S3 CODE V re-traced</a:t>
                      </a:r>
                    </a:p>
                  </a:txBody>
                  <a:tcPr marL="54864" marR="54864" marT="18288" marB="18288">
                    <a:solidFill>
                      <a:srgbClr val="FFFFFF"/>
                    </a:solidFill>
                  </a:tcPr>
                </a:tc>
                <a:tc>
                  <a:txBody>
                    <a:bodyPr wrap="square"/>
                    <a:lstStyle/>
                    <a:p>
                      <a:r>
                        <a:rPr sz="1100" b="0">
                          <a:solidFill>
                            <a:srgbClr val="282828"/>
                          </a:solidFill>
                          <a:latin typeface="Arial"/>
                        </a:rPr>
                        <a:t>121.0 / 67.9</a:t>
                      </a:r>
                    </a:p>
                  </a:txBody>
                  <a:tcPr marL="54864" marR="54864" marT="18288" marB="18288">
                    <a:solidFill>
                      <a:srgbClr val="FFFFFF"/>
                    </a:solidFill>
                  </a:tcPr>
                </a:tc>
                <a:tc>
                  <a:txBody>
                    <a:bodyPr wrap="square"/>
                    <a:lstStyle/>
                    <a:p>
                      <a:r>
                        <a:rPr sz="1100" b="0">
                          <a:solidFill>
                            <a:srgbClr val="282828"/>
                          </a:solidFill>
                          <a:latin typeface="Arial"/>
                        </a:rPr>
                        <a:t>91.9 / 50.2</a:t>
                      </a:r>
                    </a:p>
                  </a:txBody>
                  <a:tcPr marL="54864" marR="54864" marT="18288" marB="18288">
                    <a:solidFill>
                      <a:srgbClr val="FFFFFF"/>
                    </a:solidFill>
                  </a:tcPr>
                </a:tc>
                <a:tc>
                  <a:txBody>
                    <a:bodyPr wrap="square"/>
                    <a:lstStyle/>
                    <a:p>
                      <a:r>
                        <a:rPr sz="1100" b="0">
                          <a:solidFill>
                            <a:srgbClr val="282828"/>
                          </a:solidFill>
                          <a:latin typeface="Arial"/>
                        </a:rPr>
                        <a:t>91.6 / 46.4</a:t>
                      </a:r>
                    </a:p>
                  </a:txBody>
                  <a:tcPr marL="54864" marR="54864" marT="18288" marB="18288">
                    <a:solidFill>
                      <a:srgbClr val="FFFFFF"/>
                    </a:solidFill>
                  </a:tcPr>
                </a:tc>
              </a:tr>
              <a:tr h="280035">
                <a:tc>
                  <a:txBody>
                    <a:bodyPr wrap="square"/>
                    <a:lstStyle/>
                    <a:p>
                      <a:r>
                        <a:rPr sz="1100" b="0">
                          <a:solidFill>
                            <a:srgbClr val="282828"/>
                          </a:solidFill>
                          <a:latin typeface="Arial"/>
                        </a:rPr>
                        <a:t>S4 MACOS solve</a:t>
                      </a:r>
                    </a:p>
                  </a:txBody>
                  <a:tcPr marL="54864" marR="54864" marT="18288" marB="18288">
                    <a:solidFill>
                      <a:srgbClr val="ECF1F6"/>
                    </a:solidFill>
                  </a:tcPr>
                </a:tc>
                <a:tc>
                  <a:txBody>
                    <a:bodyPr wrap="square"/>
                    <a:lstStyle/>
                    <a:p>
                      <a:r>
                        <a:rPr sz="1100" b="0">
                          <a:solidFill>
                            <a:srgbClr val="282828"/>
                          </a:solidFill>
                          <a:latin typeface="Arial"/>
                        </a:rPr>
                        <a:t>65.6 / 36.4</a:t>
                      </a:r>
                    </a:p>
                  </a:txBody>
                  <a:tcPr marL="54864" marR="54864" marT="18288" marB="18288">
                    <a:solidFill>
                      <a:srgbClr val="ECF1F6"/>
                    </a:solidFill>
                  </a:tcPr>
                </a:tc>
                <a:tc>
                  <a:txBody>
                    <a:bodyPr wrap="square"/>
                    <a:lstStyle/>
                    <a:p>
                      <a:r>
                        <a:rPr sz="1100" b="0">
                          <a:solidFill>
                            <a:srgbClr val="282828"/>
                          </a:solidFill>
                          <a:latin typeface="Arial"/>
                        </a:rPr>
                        <a:t>41.2 / 21.9</a:t>
                      </a:r>
                    </a:p>
                  </a:txBody>
                  <a:tcPr marL="54864" marR="54864" marT="18288" marB="18288">
                    <a:solidFill>
                      <a:srgbClr val="ECF1F6"/>
                    </a:solidFill>
                  </a:tcPr>
                </a:tc>
                <a:tc>
                  <a:txBody>
                    <a:bodyPr wrap="square"/>
                    <a:lstStyle/>
                    <a:p>
                      <a:r>
                        <a:rPr sz="1100" b="0">
                          <a:solidFill>
                            <a:srgbClr val="282828"/>
                          </a:solidFill>
                          <a:latin typeface="Arial"/>
                        </a:rPr>
                        <a:t>39.8 / 22.5</a:t>
                      </a:r>
                    </a:p>
                  </a:txBody>
                  <a:tcPr marL="54864" marR="54864" marT="18288" marB="18288">
                    <a:solidFill>
                      <a:srgbClr val="ECF1F6"/>
                    </a:solidFill>
                  </a:tcPr>
                </a:tc>
              </a:tr>
              <a:tr h="280035">
                <a:tc>
                  <a:txBody>
                    <a:bodyPr wrap="square"/>
                    <a:lstStyle/>
                    <a:p>
                      <a:r>
                        <a:rPr sz="1100" b="0">
                          <a:solidFill>
                            <a:srgbClr val="282828"/>
                          </a:solidFill>
                          <a:latin typeface="Arial"/>
                        </a:rPr>
                        <a:t>S4 CODE V re-traced</a:t>
                      </a:r>
                    </a:p>
                  </a:txBody>
                  <a:tcPr marL="54864" marR="54864" marT="18288" marB="18288">
                    <a:solidFill>
                      <a:srgbClr val="FFFFFF"/>
                    </a:solidFill>
                  </a:tcPr>
                </a:tc>
                <a:tc>
                  <a:txBody>
                    <a:bodyPr wrap="square"/>
                    <a:lstStyle/>
                    <a:p>
                      <a:r>
                        <a:rPr sz="1100" b="0">
                          <a:solidFill>
                            <a:srgbClr val="282828"/>
                          </a:solidFill>
                          <a:latin typeface="Arial"/>
                        </a:rPr>
                        <a:t>67.6 / 36.7</a:t>
                      </a:r>
                    </a:p>
                  </a:txBody>
                  <a:tcPr marL="54864" marR="54864" marT="18288" marB="18288">
                    <a:solidFill>
                      <a:srgbClr val="FFFFFF"/>
                    </a:solidFill>
                  </a:tcPr>
                </a:tc>
                <a:tc>
                  <a:txBody>
                    <a:bodyPr wrap="square"/>
                    <a:lstStyle/>
                    <a:p>
                      <a:r>
                        <a:rPr sz="1100" b="0">
                          <a:solidFill>
                            <a:srgbClr val="282828"/>
                          </a:solidFill>
                          <a:latin typeface="Arial"/>
                        </a:rPr>
                        <a:t>39.8 / 22.1</a:t>
                      </a:r>
                    </a:p>
                  </a:txBody>
                  <a:tcPr marL="54864" marR="54864" marT="18288" marB="18288">
                    <a:solidFill>
                      <a:srgbClr val="FFFFFF"/>
                    </a:solidFill>
                  </a:tcPr>
                </a:tc>
                <a:tc>
                  <a:txBody>
                    <a:bodyPr wrap="square"/>
                    <a:lstStyle/>
                    <a:p>
                      <a:r>
                        <a:rPr sz="1100" b="0">
                          <a:solidFill>
                            <a:srgbClr val="282828"/>
                          </a:solidFill>
                          <a:latin typeface="Arial"/>
                        </a:rPr>
                        <a:t>39.8 / 22.5</a:t>
                      </a:r>
                    </a:p>
                  </a:txBody>
                  <a:tcPr marL="54864" marR="54864" marT="18288" marB="18288">
                    <a:solidFill>
                      <a:srgbClr val="FFFFFF"/>
                    </a:solidFill>
                  </a:tcPr>
                </a:tc>
              </a:tr>
            </a:tbl>
          </a:graphicData>
        </a:graphic>
      </p:graphicFrame>
      <p:sp>
        <p:nvSpPr>
          <p:cNvPr id="5" name="TextBox 4"/>
          <p:cNvSpPr txBox="1"/>
          <p:nvPr/>
        </p:nvSpPr>
        <p:spPr>
          <a:xfrm>
            <a:off x="411480" y="3124962"/>
            <a:ext cx="5806440" cy="274320"/>
          </a:xfrm>
          <a:prstGeom prst="rect">
            <a:avLst/>
          </a:prstGeom>
          <a:noFill/>
        </p:spPr>
        <p:txBody>
          <a:bodyPr wrap="square">
            <a:spAutoFit/>
          </a:bodyPr>
          <a:lstStyle/>
          <a:p>
            <a:pPr>
              <a:spcAft>
                <a:spcPts val="600"/>
              </a:spcAft>
            </a:pPr>
            <a:r>
              <a:rPr sz="1400" b="0">
                <a:solidFill>
                  <a:srgbClr val="282828"/>
                </a:solidFill>
                <a:latin typeface="Arial"/>
              </a:rPr>
              <a:t>•  The metric decoded: the reported map subtracts per-field best focus + least-squares tip/tilt; re-scoring the same traces under that convention (third column) lands the re-traced designs at 0.991× / 1.003× / 1.000× of the reported max.</a:t>
            </a:r>
          </a:p>
          <a:p>
            <a:pPr>
              <a:spcAft>
                <a:spcPts val="600"/>
              </a:spcAft>
            </a:pPr>
            <a:r>
              <a:rPr sz="1400" b="0">
                <a:solidFill>
                  <a:srgbClr val="282828"/>
                </a:solidFill>
                <a:latin typeface="Arial"/>
              </a:rPr>
              <a:t>•  Design vs design, the reproduction closes: the MACOS solves score 0.97× of the re-traced CODE V designs at both stages; under the reported convention the S3 solve (86.8 nm) beats the reported 91.6.  Conics agree to 1.5×10⁻⁴, rigid-body DOFs land on the same compensation branch, all signs matching.</a:t>
            </a:r>
          </a:p>
          <a:p>
            <a:pPr>
              <a:spcAft>
                <a:spcPts val="600"/>
              </a:spcAft>
            </a:pPr>
            <a:r>
              <a:rPr sz="1400" b="0">
                <a:solidFill>
                  <a:srgbClr val="282828"/>
                </a:solidFill>
                <a:latin typeface="Arial"/>
              </a:rPr>
              <a:t>•  The study returned more than it consumed: two engine defects found and fixed (a silently inert exit-pupil keyword; collimated sources tracing a pupil 5% oversize, hidden for decades), and the joint-solve doctrine — optics + focal-plane pose in one DOF set, never alternating.</a:t>
            </a:r>
          </a:p>
        </p:txBody>
      </p:sp>
      <p:pic>
        <p:nvPicPr>
          <p:cNvPr id="6" name="Picture 5" descr="rodgers1_layout_s4_seq.png"/>
          <p:cNvPicPr>
            <a:picLocks noChangeAspect="1"/>
          </p:cNvPicPr>
          <p:nvPr/>
        </p:nvPicPr>
        <p:blipFill>
          <a:blip r:embed="rId2"/>
          <a:stretch>
            <a:fillRect/>
          </a:stretch>
        </p:blipFill>
        <p:spPr>
          <a:xfrm>
            <a:off x="6601968" y="3017520"/>
            <a:ext cx="4800600" cy="2834640"/>
          </a:xfrm>
          <a:prstGeom prst="rect">
            <a:avLst/>
          </a:prstGeom>
        </p:spPr>
      </p:pic>
      <p:sp>
        <p:nvSpPr>
          <p:cNvPr id="7" name="TextBox 6"/>
          <p:cNvSpPr txBox="1"/>
          <p:nvPr/>
        </p:nvSpPr>
        <p:spPr>
          <a:xfrm>
            <a:off x="6400800" y="5888736"/>
            <a:ext cx="5394960" cy="229107"/>
          </a:xfrm>
          <a:prstGeom prst="rect">
            <a:avLst/>
          </a:prstGeom>
          <a:noFill/>
        </p:spPr>
        <p:txBody>
          <a:bodyPr wrap="square">
            <a:spAutoFit/>
          </a:bodyPr>
          <a:lstStyle/>
          <a:p>
            <a:pPr algn="ctr">
              <a:spcAft>
                <a:spcPts val="0"/>
              </a:spcAft>
            </a:pPr>
            <a:r>
              <a:rPr sz="1000" b="0">
                <a:solidFill>
                  <a:srgbClr val="6E6E6E"/>
                </a:solidFill>
                <a:latin typeface="Arial"/>
              </a:rPr>
              <a:t>The arrived-at configuration: the stage-4 joint solve traced at the offset field.</a:t>
            </a:r>
          </a:p>
        </p:txBody>
      </p:sp>
      <p:sp>
        <p:nvSpPr>
          <p:cNvPr id="8" name="TextBox 7"/>
          <p:cNvSpPr txBox="1"/>
          <p:nvPr/>
        </p:nvSpPr>
        <p:spPr>
          <a:xfrm>
            <a:off x="6400800" y="6163056"/>
            <a:ext cx="5394960" cy="274320"/>
          </a:xfrm>
          <a:prstGeom prst="rect">
            <a:avLst/>
          </a:prstGeom>
          <a:noFill/>
        </p:spPr>
        <p:txBody>
          <a:bodyPr wrap="square">
            <a:spAutoFit/>
          </a:bodyPr>
          <a:lstStyle/>
          <a:p>
            <a:pPr>
              <a:spcAft>
                <a:spcPts val="600"/>
              </a:spcAft>
            </a:pPr>
            <a:r>
              <a:rPr sz="1050" b="0">
                <a:solidFill>
                  <a:srgbClr val="6E6E6E"/>
                </a:solidFill>
                <a:latin typeface="Arial"/>
              </a:rPr>
              <a:t>Box max / avg, nm, at the .seq configuration.  Piston + per-field tip/tilt removed = a centroid-referenced sphere (a chief-referenced sphere leaves the tilt in).  Full record: design/rodgers1 — packet with 10 addenda, every retraction in place.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a 30× afocal feeding an instrument through a tilted cold stop</a:t>
            </a:r>
          </a:p>
          <a:p>
            <a:pPr>
              <a:spcAft>
                <a:spcPts val="0"/>
              </a:spcAft>
            </a:pPr>
            <a:r>
              <a:rPr sz="1250" b="0">
                <a:solidFill>
                  <a:srgbClr val="6E6E6E"/>
                </a:solidFill>
                <a:latin typeface="Arial"/>
              </a:rPr>
              <a:t>Reproduced, then extended: the pupil measured, the trade priced, the package cleared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The challenge: a three-mirror afocal, 30×, 1 m aperture, a 0.5°×0.5° field offset 0.6° — feeding an instrument through a tilted cold stop, with the pupil quality left unmeasured by the source.</a:t>
            </a:r>
          </a:p>
          <a:p>
            <a:pPr>
              <a:spcAft>
                <a:spcPts val="600"/>
              </a:spcAft>
            </a:pPr>
            <a:r>
              <a:rPr sz="1500" b="0">
                <a:solidFill>
                  <a:srgbClr val="282828"/>
                </a:solidFill>
                <a:latin typeface="Arial"/>
              </a:rPr>
              <a:t>•  The pursuit: transcribe and audit the delivered sequences, decode the reporting reference, reproduce all four variants — then extend where the source stopped: measure the pupil, price the fourth mirror, clear the package.</a:t>
            </a:r>
          </a:p>
          <a:p>
            <a:pPr>
              <a:spcAft>
                <a:spcPts val="600"/>
              </a:spcAft>
            </a:pPr>
            <a:r>
              <a:rPr sz="1500" b="0">
                <a:solidFill>
                  <a:srgbClr val="282828"/>
                </a:solidFill>
                <a:latin typeface="Arial"/>
              </a:rPr>
              <a:t>•  Achieved: all four variants inside 0.95–1.02×; the reported 28.7× magnification measures 28.686×; the computed exit pupil falls 0.8 mm from the stop placed by hand in the source deck.</a:t>
            </a:r>
          </a:p>
        </p:txBody>
      </p:sp>
      <p:graphicFrame>
        <p:nvGraphicFramePr>
          <p:cNvPr id="5" name="Table 4"/>
          <p:cNvGraphicFramePr>
            <a:graphicFrameLocks noGrp="1"/>
          </p:cNvGraphicFramePr>
          <p:nvPr/>
        </p:nvGraphicFramePr>
        <p:xfrm>
          <a:off x="411480" y="4727447"/>
          <a:ext cx="5806439" cy="1400175"/>
        </p:xfrm>
        <a:graphic>
          <a:graphicData uri="http://schemas.openxmlformats.org/drawingml/2006/table">
            <a:tbl>
              <a:tblPr firstRow="1" bandRow="1">
                <a:tableStyleId>{5C22544A-7EE6-4342-B048-85BDC9FD1C3A}</a:tableStyleId>
              </a:tblPr>
              <a:tblGrid>
                <a:gridCol w="3915663"/>
                <a:gridCol w="727456"/>
                <a:gridCol w="1163320"/>
              </a:tblGrid>
              <a:tr h="280035">
                <a:tc>
                  <a:txBody>
                    <a:bodyPr wrap="square"/>
                    <a:lstStyle/>
                    <a:p>
                      <a:r>
                        <a:rPr sz="1100" b="1">
                          <a:solidFill>
                            <a:srgbClr val="FFFFFF"/>
                          </a:solidFill>
                          <a:latin typeface="Arial"/>
                        </a:rPr>
                        <a:t>variant</a:t>
                      </a:r>
                    </a:p>
                  </a:txBody>
                  <a:tcPr marL="54864" marR="54864" marT="18288" marB="18288">
                    <a:solidFill>
                      <a:srgbClr val="1F4E79"/>
                    </a:solidFill>
                  </a:tcPr>
                </a:tc>
                <a:tc>
                  <a:txBody>
                    <a:bodyPr wrap="square"/>
                    <a:lstStyle/>
                    <a:p>
                      <a:r>
                        <a:rPr sz="1100" b="1">
                          <a:solidFill>
                            <a:srgbClr val="FFFFFF"/>
                          </a:solidFill>
                          <a:latin typeface="Arial"/>
                        </a:rPr>
                        <a:t>CODE V</a:t>
                      </a:r>
                    </a:p>
                  </a:txBody>
                  <a:tcPr marL="54864" marR="54864" marT="18288" marB="18288">
                    <a:solidFill>
                      <a:srgbClr val="1F4E79"/>
                    </a:solidFill>
                  </a:tcPr>
                </a:tc>
                <a:tc>
                  <a:txBody>
                    <a:bodyPr wrap="square"/>
                    <a:lstStyle/>
                    <a:p>
                      <a:r>
                        <a:rPr sz="1100" b="1">
                          <a:solidFill>
                            <a:srgbClr val="FFFFFF"/>
                          </a:solidFill>
                          <a:latin typeface="Arial"/>
                        </a:rPr>
                        <a:t>MACOS / CODE V</a:t>
                      </a:r>
                    </a:p>
                  </a:txBody>
                  <a:tcPr marL="54864" marR="54864" marT="18288" marB="18288">
                    <a:solidFill>
                      <a:srgbClr val="1F4E79"/>
                    </a:solidFill>
                  </a:tcPr>
                </a:tc>
              </a:tr>
              <a:tr h="280035">
                <a:tc>
                  <a:txBody>
                    <a:bodyPr wrap="square"/>
                    <a:lstStyle/>
                    <a:p>
                      <a:r>
                        <a:rPr sz="1100" b="0">
                          <a:solidFill>
                            <a:srgbClr val="282828"/>
                          </a:solidFill>
                          <a:latin typeface="Arial"/>
                        </a:rPr>
                        <a:t>on-axis</a:t>
                      </a:r>
                    </a:p>
                  </a:txBody>
                  <a:tcPr marL="54864" marR="54864" marT="18288" marB="18288">
                    <a:solidFill>
                      <a:srgbClr val="FFFFFF"/>
                    </a:solidFill>
                  </a:tcPr>
                </a:tc>
                <a:tc>
                  <a:txBody>
                    <a:bodyPr wrap="square"/>
                    <a:lstStyle/>
                    <a:p>
                      <a:r>
                        <a:rPr sz="1100" b="0">
                          <a:solidFill>
                            <a:srgbClr val="282828"/>
                          </a:solidFill>
                          <a:latin typeface="Arial"/>
                        </a:rPr>
                        <a:t>≤ 15 nm</a:t>
                      </a:r>
                    </a:p>
                  </a:txBody>
                  <a:tcPr marL="54864" marR="54864" marT="18288" marB="18288">
                    <a:solidFill>
                      <a:srgbClr val="FFFFFF"/>
                    </a:solidFill>
                  </a:tcPr>
                </a:tc>
                <a:tc>
                  <a:txBody>
                    <a:bodyPr wrap="square"/>
                    <a:lstStyle/>
                    <a:p>
                      <a:r>
                        <a:rPr sz="1100" b="0">
                          <a:solidFill>
                            <a:srgbClr val="282828"/>
                          </a:solidFill>
                          <a:latin typeface="Arial"/>
                        </a:rPr>
                        <a:t>0.99×</a:t>
                      </a:r>
                    </a:p>
                  </a:txBody>
                  <a:tcPr marL="54864" marR="54864" marT="18288" marB="18288">
                    <a:solidFill>
                      <a:srgbClr val="FFFFFF"/>
                    </a:solidFill>
                  </a:tcPr>
                </a:tc>
              </a:tr>
              <a:tr h="280035">
                <a:tc>
                  <a:txBody>
                    <a:bodyPr wrap="square"/>
                    <a:lstStyle/>
                    <a:p>
                      <a:r>
                        <a:rPr sz="1100" b="0">
                          <a:solidFill>
                            <a:srgbClr val="282828"/>
                          </a:solidFill>
                          <a:latin typeface="Arial"/>
                        </a:rPr>
                        <a:t>offset, frozen design</a:t>
                      </a:r>
                    </a:p>
                  </a:txBody>
                  <a:tcPr marL="54864" marR="54864" marT="18288" marB="18288">
                    <a:solidFill>
                      <a:srgbClr val="ECF1F6"/>
                    </a:solidFill>
                  </a:tcPr>
                </a:tc>
                <a:tc>
                  <a:txBody>
                    <a:bodyPr wrap="square"/>
                    <a:lstStyle/>
                    <a:p>
                      <a:r>
                        <a:rPr sz="1100" b="0">
                          <a:solidFill>
                            <a:srgbClr val="282828"/>
                          </a:solidFill>
                          <a:latin typeface="Arial"/>
                        </a:rPr>
                        <a:t>≤ 430 nm</a:t>
                      </a:r>
                    </a:p>
                  </a:txBody>
                  <a:tcPr marL="54864" marR="54864" marT="18288" marB="18288">
                    <a:solidFill>
                      <a:srgbClr val="ECF1F6"/>
                    </a:solidFill>
                  </a:tcPr>
                </a:tc>
                <a:tc>
                  <a:txBody>
                    <a:bodyPr wrap="square"/>
                    <a:lstStyle/>
                    <a:p>
                      <a:r>
                        <a:rPr sz="1100" b="0">
                          <a:solidFill>
                            <a:srgbClr val="282828"/>
                          </a:solidFill>
                          <a:latin typeface="Arial"/>
                        </a:rPr>
                        <a:t>1.01×</a:t>
                      </a:r>
                    </a:p>
                  </a:txBody>
                  <a:tcPr marL="54864" marR="54864" marT="18288" marB="18288">
                    <a:solidFill>
                      <a:srgbClr val="ECF1F6"/>
                    </a:solidFill>
                  </a:tcPr>
                </a:tc>
              </a:tr>
              <a:tr h="280035">
                <a:tc>
                  <a:txBody>
                    <a:bodyPr wrap="square"/>
                    <a:lstStyle/>
                    <a:p>
                      <a:r>
                        <a:rPr sz="1100" b="0">
                          <a:solidFill>
                            <a:srgbClr val="282828"/>
                          </a:solidFill>
                          <a:latin typeface="Arial"/>
                        </a:rPr>
                        <a:t>offset, re-solved</a:t>
                      </a:r>
                    </a:p>
                  </a:txBody>
                  <a:tcPr marL="54864" marR="54864" marT="18288" marB="18288">
                    <a:solidFill>
                      <a:srgbClr val="FFFFFF"/>
                    </a:solidFill>
                  </a:tcPr>
                </a:tc>
                <a:tc>
                  <a:txBody>
                    <a:bodyPr wrap="square"/>
                    <a:lstStyle/>
                    <a:p>
                      <a:r>
                        <a:rPr sz="1100" b="0">
                          <a:solidFill>
                            <a:srgbClr val="282828"/>
                          </a:solidFill>
                          <a:latin typeface="Arial"/>
                        </a:rPr>
                        <a:t>≤ 160 nm</a:t>
                      </a:r>
                    </a:p>
                  </a:txBody>
                  <a:tcPr marL="54864" marR="54864" marT="18288" marB="18288">
                    <a:solidFill>
                      <a:srgbClr val="FFFFFF"/>
                    </a:solidFill>
                  </a:tcPr>
                </a:tc>
                <a:tc>
                  <a:txBody>
                    <a:bodyPr wrap="square"/>
                    <a:lstStyle/>
                    <a:p>
                      <a:r>
                        <a:rPr sz="1100" b="0">
                          <a:solidFill>
                            <a:srgbClr val="282828"/>
                          </a:solidFill>
                          <a:latin typeface="Arial"/>
                        </a:rPr>
                        <a:t>0.95×</a:t>
                      </a:r>
                    </a:p>
                  </a:txBody>
                  <a:tcPr marL="54864" marR="54864" marT="18288" marB="18288">
                    <a:solidFill>
                      <a:srgbClr val="FFFFFF"/>
                    </a:solidFill>
                  </a:tcPr>
                </a:tc>
              </a:tr>
              <a:tr h="280035">
                <a:tc>
                  <a:txBody>
                    <a:bodyPr wrap="square"/>
                    <a:lstStyle/>
                    <a:p>
                      <a:r>
                        <a:rPr sz="1100" b="0">
                          <a:solidFill>
                            <a:srgbClr val="282828"/>
                          </a:solidFill>
                          <a:latin typeface="Arial"/>
                        </a:rPr>
                        <a:t>offset, tilt/dec</a:t>
                      </a:r>
                    </a:p>
                  </a:txBody>
                  <a:tcPr marL="54864" marR="54864" marT="18288" marB="18288">
                    <a:solidFill>
                      <a:srgbClr val="ECF1F6"/>
                    </a:solidFill>
                  </a:tcPr>
                </a:tc>
                <a:tc>
                  <a:txBody>
                    <a:bodyPr wrap="square"/>
                    <a:lstStyle/>
                    <a:p>
                      <a:r>
                        <a:rPr sz="1100" b="0">
                          <a:solidFill>
                            <a:srgbClr val="282828"/>
                          </a:solidFill>
                          <a:latin typeface="Arial"/>
                        </a:rPr>
                        <a:t>≤ 119 nm</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r>
            </a:tbl>
          </a:graphicData>
        </a:graphic>
      </p:graphicFrame>
      <p:pic>
        <p:nvPicPr>
          <p:cNvPr id="6" name="Picture 5" descr="rodgers2_layout_parent3.png"/>
          <p:cNvPicPr>
            <a:picLocks noChangeAspect="1"/>
          </p:cNvPicPr>
          <p:nvPr/>
        </p:nvPicPr>
        <p:blipFill>
          <a:blip r:embed="rId2"/>
          <a:stretch>
            <a:fillRect/>
          </a:stretch>
        </p:blipFill>
        <p:spPr>
          <a:xfrm>
            <a:off x="6510528" y="1261872"/>
            <a:ext cx="5148072" cy="3959352"/>
          </a:xfrm>
          <a:prstGeom prst="rect">
            <a:avLst/>
          </a:prstGeom>
        </p:spPr>
      </p:pic>
      <p:sp>
        <p:nvSpPr>
          <p:cNvPr id="7" name="TextBox 6"/>
          <p:cNvSpPr txBox="1"/>
          <p:nvPr/>
        </p:nvSpPr>
        <p:spPr>
          <a:xfrm>
            <a:off x="6400800" y="5129784"/>
            <a:ext cx="5394960" cy="394208"/>
          </a:xfrm>
          <a:prstGeom prst="rect">
            <a:avLst/>
          </a:prstGeom>
          <a:noFill/>
        </p:spPr>
        <p:txBody>
          <a:bodyPr wrap="square">
            <a:spAutoFit/>
          </a:bodyPr>
          <a:lstStyle/>
          <a:p>
            <a:pPr algn="ctr">
              <a:spcAft>
                <a:spcPts val="0"/>
              </a:spcAft>
            </a:pPr>
            <a:r>
              <a:rPr sz="1000" b="0">
                <a:solidFill>
                  <a:srgbClr val="6E6E6E"/>
                </a:solidFill>
                <a:latin typeface="Arial"/>
              </a:rPr>
              <a:t>The transcribed system traced in MACOS: light enters left, M1 → M2 → M3; the computed exit pupil falls 0.8 mm from the delivered cold stop (detail panel).</a:t>
            </a:r>
          </a:p>
        </p:txBody>
      </p:sp>
      <p:sp>
        <p:nvSpPr>
          <p:cNvPr id="8" name="TextBox 7"/>
          <p:cNvSpPr txBox="1"/>
          <p:nvPr/>
        </p:nvSpPr>
        <p:spPr>
          <a:xfrm>
            <a:off x="6400800" y="5559552"/>
            <a:ext cx="5394960" cy="274320"/>
          </a:xfrm>
          <a:prstGeom prst="rect">
            <a:avLst/>
          </a:prstGeom>
          <a:noFill/>
        </p:spPr>
        <p:txBody>
          <a:bodyPr wrap="square">
            <a:spAutoFit/>
          </a:bodyPr>
          <a:lstStyle/>
          <a:p>
            <a:pPr>
              <a:spcAft>
                <a:spcPts val="600"/>
              </a:spcAft>
            </a:pPr>
            <a:r>
              <a:rPr sz="1050" b="0">
                <a:solidFill>
                  <a:srgbClr val="6E6E6E"/>
                </a:solidFill>
                <a:latin typeface="Arial"/>
              </a:rPr>
              <a:t>The source's own pupil verdict — "with 3 mirrors, the pupil quality is not very good" — carries no metric; MACOS defines and measures one: next slide.  Audit rigor: the coordinate break lands the cold stop on the traced beam to 2×10⁻⁷ mm, where the wrong sign convention misses by 211–247 mm.  Full record: design/rodgers2.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extended: the pupil measured — and what a fourth mirror buys</a:t>
            </a:r>
          </a:p>
          <a:p>
            <a:pPr>
              <a:spcAft>
                <a:spcPts val="0"/>
              </a:spcAft>
            </a:pPr>
            <a:r>
              <a:rPr sz="1250" b="0">
                <a:solidFill>
                  <a:srgbClr val="6E6E6E"/>
                </a:solidFill>
                <a:latin typeface="Arial"/>
              </a:rPr>
              <a:t>Pupil blur 469 → 157 µm; the exchange costs image quality a factor 39</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1400175"/>
        </p:xfrm>
        <a:graphic>
          <a:graphicData uri="http://schemas.openxmlformats.org/drawingml/2006/table">
            <a:tbl>
              <a:tblPr firstRow="1" bandRow="1">
                <a:tableStyleId>{5C22544A-7EE6-4342-B048-85BDC9FD1C3A}</a:tableStyleId>
              </a:tblPr>
              <a:tblGrid>
                <a:gridCol w="3988307"/>
                <a:gridCol w="800100"/>
                <a:gridCol w="1018032"/>
              </a:tblGrid>
              <a:tr h="280035">
                <a:tc>
                  <a:txBody>
                    <a:bodyPr wrap="square"/>
                    <a:lstStyle/>
                    <a:p>
                      <a:r>
                        <a:rPr sz="1100" b="1">
                          <a:solidFill>
                            <a:srgbClr val="FFFFFF"/>
                          </a:solidFill>
                          <a:latin typeface="Arial"/>
                        </a:rPr>
                        <a:t>metric</a:t>
                      </a:r>
                    </a:p>
                  </a:txBody>
                  <a:tcPr marL="54864" marR="54864" marT="18288" marB="18288">
                    <a:solidFill>
                      <a:srgbClr val="1F4E79"/>
                    </a:solidFill>
                  </a:tcPr>
                </a:tc>
                <a:tc>
                  <a:txBody>
                    <a:bodyPr wrap="square"/>
                    <a:lstStyle/>
                    <a:p>
                      <a:r>
                        <a:rPr sz="1100" b="1">
                          <a:solidFill>
                            <a:srgbClr val="FFFFFF"/>
                          </a:solidFill>
                          <a:latin typeface="Arial"/>
                        </a:rPr>
                        <a:t>3 mirrors</a:t>
                      </a:r>
                    </a:p>
                  </a:txBody>
                  <a:tcPr marL="54864" marR="54864" marT="18288" marB="18288">
                    <a:solidFill>
                      <a:srgbClr val="1F4E79"/>
                    </a:solidFill>
                  </a:tcPr>
                </a:tc>
                <a:tc>
                  <a:txBody>
                    <a:bodyPr wrap="square"/>
                    <a:lstStyle/>
                    <a:p>
                      <a:r>
                        <a:rPr sz="1100" b="1">
                          <a:solidFill>
                            <a:srgbClr val="FFFFFF"/>
                          </a:solidFill>
                          <a:latin typeface="Arial"/>
                        </a:rPr>
                        <a:t>+ 4th mirror</a:t>
                      </a:r>
                    </a:p>
                  </a:txBody>
                  <a:tcPr marL="54864" marR="54864" marT="18288" marB="18288">
                    <a:solidFill>
                      <a:srgbClr val="1F4E79"/>
                    </a:solidFill>
                  </a:tcPr>
                </a:tc>
              </a:tr>
              <a:tr h="280035">
                <a:tc>
                  <a:txBody>
                    <a:bodyPr wrap="square"/>
                    <a:lstStyle/>
                    <a:p>
                      <a:r>
                        <a:rPr sz="1100" b="0">
                          <a:solidFill>
                            <a:srgbClr val="282828"/>
                          </a:solidFill>
                          <a:latin typeface="Arial"/>
                        </a:rPr>
                        <a:t>pupil blur</a:t>
                      </a:r>
                    </a:p>
                  </a:txBody>
                  <a:tcPr marL="54864" marR="54864" marT="18288" marB="18288">
                    <a:solidFill>
                      <a:srgbClr val="FFFFFF"/>
                    </a:solidFill>
                  </a:tcPr>
                </a:tc>
                <a:tc>
                  <a:txBody>
                    <a:bodyPr wrap="square"/>
                    <a:lstStyle/>
                    <a:p>
                      <a:r>
                        <a:rPr sz="1100" b="0">
                          <a:solidFill>
                            <a:srgbClr val="282828"/>
                          </a:solidFill>
                          <a:latin typeface="Arial"/>
                        </a:rPr>
                        <a:t>469 µm</a:t>
                      </a:r>
                    </a:p>
                  </a:txBody>
                  <a:tcPr marL="54864" marR="54864" marT="18288" marB="18288">
                    <a:solidFill>
                      <a:srgbClr val="FFFFFF"/>
                    </a:solidFill>
                  </a:tcPr>
                </a:tc>
                <a:tc>
                  <a:txBody>
                    <a:bodyPr wrap="square"/>
                    <a:lstStyle/>
                    <a:p>
                      <a:r>
                        <a:rPr sz="1100" b="0">
                          <a:solidFill>
                            <a:srgbClr val="282828"/>
                          </a:solidFill>
                          <a:latin typeface="Arial"/>
                        </a:rPr>
                        <a:t>157 µm</a:t>
                      </a:r>
                    </a:p>
                  </a:txBody>
                  <a:tcPr marL="54864" marR="54864" marT="18288" marB="18288">
                    <a:solidFill>
                      <a:srgbClr val="FFFFFF"/>
                    </a:solidFill>
                  </a:tcPr>
                </a:tc>
              </a:tr>
              <a:tr h="280035">
                <a:tc>
                  <a:txBody>
                    <a:bodyPr wrap="square"/>
                    <a:lstStyle/>
                    <a:p>
                      <a:r>
                        <a:rPr sz="1100" b="0">
                          <a:solidFill>
                            <a:srgbClr val="282828"/>
                          </a:solidFill>
                          <a:latin typeface="Arial"/>
                        </a:rPr>
                        <a:t>footprint wander on the cold stop</a:t>
                      </a:r>
                    </a:p>
                  </a:txBody>
                  <a:tcPr marL="54864" marR="54864" marT="18288" marB="18288">
                    <a:solidFill>
                      <a:srgbClr val="ECF1F6"/>
                    </a:solidFill>
                  </a:tcPr>
                </a:tc>
                <a:tc>
                  <a:txBody>
                    <a:bodyPr wrap="square"/>
                    <a:lstStyle/>
                    <a:p>
                      <a:r>
                        <a:rPr sz="1100" b="0">
                          <a:solidFill>
                            <a:srgbClr val="282828"/>
                          </a:solidFill>
                          <a:latin typeface="Arial"/>
                        </a:rPr>
                        <a:t>557 µm</a:t>
                      </a:r>
                    </a:p>
                  </a:txBody>
                  <a:tcPr marL="54864" marR="54864" marT="18288" marB="18288">
                    <a:solidFill>
                      <a:srgbClr val="ECF1F6"/>
                    </a:solidFill>
                  </a:tcPr>
                </a:tc>
                <a:tc>
                  <a:txBody>
                    <a:bodyPr wrap="square"/>
                    <a:lstStyle/>
                    <a:p>
                      <a:r>
                        <a:rPr sz="1100" b="0">
                          <a:solidFill>
                            <a:srgbClr val="282828"/>
                          </a:solidFill>
                          <a:latin typeface="Arial"/>
                        </a:rPr>
                        <a:t>161 µm</a:t>
                      </a:r>
                    </a:p>
                  </a:txBody>
                  <a:tcPr marL="54864" marR="54864" marT="18288" marB="18288">
                    <a:solidFill>
                      <a:srgbClr val="ECF1F6"/>
                    </a:solidFill>
                  </a:tcPr>
                </a:tc>
              </a:tr>
              <a:tr h="280035">
                <a:tc>
                  <a:txBody>
                    <a:bodyPr wrap="square"/>
                    <a:lstStyle/>
                    <a:p>
                      <a:r>
                        <a:rPr sz="1100" b="0">
                          <a:solidFill>
                            <a:srgbClr val="282828"/>
                          </a:solidFill>
                          <a:latin typeface="Arial"/>
                        </a:rPr>
                        <a:t>magnification variation</a:t>
                      </a:r>
                    </a:p>
                  </a:txBody>
                  <a:tcPr marL="54864" marR="54864" marT="18288" marB="18288">
                    <a:solidFill>
                      <a:srgbClr val="FFFFFF"/>
                    </a:solidFill>
                  </a:tcPr>
                </a:tc>
                <a:tc>
                  <a:txBody>
                    <a:bodyPr wrap="square"/>
                    <a:lstStyle/>
                    <a:p>
                      <a:r>
                        <a:rPr sz="1100" b="0">
                          <a:solidFill>
                            <a:srgbClr val="282828"/>
                          </a:solidFill>
                          <a:latin typeface="Arial"/>
                        </a:rPr>
                        <a:t>±3.6%</a:t>
                      </a:r>
                    </a:p>
                  </a:txBody>
                  <a:tcPr marL="54864" marR="54864" marT="18288" marB="18288">
                    <a:solidFill>
                      <a:srgbClr val="FFFFFF"/>
                    </a:solidFill>
                  </a:tcPr>
                </a:tc>
                <a:tc>
                  <a:txBody>
                    <a:bodyPr wrap="square"/>
                    <a:lstStyle/>
                    <a:p>
                      <a:r>
                        <a:rPr sz="1100" b="0">
                          <a:solidFill>
                            <a:srgbClr val="282828"/>
                          </a:solidFill>
                          <a:latin typeface="Arial"/>
                        </a:rPr>
                        <a:t>0.12%</a:t>
                      </a:r>
                    </a:p>
                  </a:txBody>
                  <a:tcPr marL="54864" marR="54864" marT="18288" marB="18288">
                    <a:solidFill>
                      <a:srgbClr val="FFFFFF"/>
                    </a:solidFill>
                  </a:tcPr>
                </a:tc>
              </a:tr>
              <a:tr h="280035">
                <a:tc>
                  <a:txBody>
                    <a:bodyPr wrap="square"/>
                    <a:lstStyle/>
                    <a:p>
                      <a:r>
                        <a:rPr sz="1100" b="0">
                          <a:solidFill>
                            <a:srgbClr val="282828"/>
                          </a:solidFill>
                          <a:latin typeface="Arial"/>
                        </a:rPr>
                        <a:t>wavefront error — the price paid</a:t>
                      </a:r>
                    </a:p>
                  </a:txBody>
                  <a:tcPr marL="54864" marR="54864" marT="18288" marB="18288">
                    <a:solidFill>
                      <a:srgbClr val="ECF1F6"/>
                    </a:solidFill>
                  </a:tcPr>
                </a:tc>
                <a:tc>
                  <a:txBody>
                    <a:bodyPr wrap="square"/>
                    <a:lstStyle/>
                    <a:p>
                      <a:r>
                        <a:rPr sz="1100" b="0">
                          <a:solidFill>
                            <a:srgbClr val="282828"/>
                          </a:solidFill>
                          <a:latin typeface="Arial"/>
                        </a:rPr>
                        <a:t>119 nm</a:t>
                      </a:r>
                    </a:p>
                  </a:txBody>
                  <a:tcPr marL="54864" marR="54864" marT="18288" marB="18288">
                    <a:solidFill>
                      <a:srgbClr val="ECF1F6"/>
                    </a:solidFill>
                  </a:tcPr>
                </a:tc>
                <a:tc>
                  <a:txBody>
                    <a:bodyPr wrap="square"/>
                    <a:lstStyle/>
                    <a:p>
                      <a:r>
                        <a:rPr sz="1100" b="0">
                          <a:solidFill>
                            <a:srgbClr val="282828"/>
                          </a:solidFill>
                          <a:latin typeface="Arial"/>
                        </a:rPr>
                        <a:t>10.4 µm</a:t>
                      </a:r>
                    </a:p>
                  </a:txBody>
                  <a:tcPr marL="54864" marR="54864" marT="18288" marB="18288">
                    <a:solidFill>
                      <a:srgbClr val="ECF1F6"/>
                    </a:solidFill>
                  </a:tcPr>
                </a:tc>
              </a:tr>
            </a:tbl>
          </a:graphicData>
        </a:graphic>
      </p:graphicFrame>
      <p:sp>
        <p:nvSpPr>
          <p:cNvPr id="5" name="TextBox 4"/>
          <p:cNvSpPr txBox="1"/>
          <p:nvPr/>
        </p:nvSpPr>
        <p:spPr>
          <a:xfrm>
            <a:off x="411480" y="2844927"/>
            <a:ext cx="5806440" cy="274320"/>
          </a:xfrm>
          <a:prstGeom prst="rect">
            <a:avLst/>
          </a:prstGeom>
          <a:noFill/>
        </p:spPr>
        <p:txBody>
          <a:bodyPr wrap="square">
            <a:spAutoFit/>
          </a:bodyPr>
          <a:lstStyle/>
          <a:p>
            <a:pPr>
              <a:spcAft>
                <a:spcPts val="600"/>
              </a:spcAft>
            </a:pPr>
            <a:r>
              <a:rPr sz="1200" b="0">
                <a:solidFill>
                  <a:srgbClr val="282828"/>
                </a:solidFill>
                <a:latin typeface="Arial"/>
              </a:rPr>
              <a:t>•  The two qualities pull opposite ways: the fourth mirror's power serves the pupil and costs the image — a factor-39 exchange.  Declining the power (a flat fourth mirror) keeps 266 nm and the three-mirror pupil.</a:t>
            </a:r>
          </a:p>
          <a:p>
            <a:pPr>
              <a:spcAft>
                <a:spcPts val="600"/>
              </a:spcAft>
            </a:pPr>
            <a:r>
              <a:rPr sz="1200" b="0">
                <a:solidFill>
                  <a:srgbClr val="282828"/>
                </a:solidFill>
                <a:latin typeface="Arial"/>
              </a:rPr>
              <a:t>•  The trade, constrained: with the last mirror held behind the primary, the solutions split into two families; pupil distances under 220 mm leave no room for an instrument after the fold — 343 mm admits a 464 mm diameter.</a:t>
            </a:r>
          </a:p>
        </p:txBody>
      </p:sp>
      <p:pic>
        <p:nvPicPr>
          <p:cNvPr id="6" name="Picture 5" descr="rodgers2_S1_onaxis_pupil.png"/>
          <p:cNvPicPr>
            <a:picLocks noChangeAspect="1"/>
          </p:cNvPicPr>
          <p:nvPr/>
        </p:nvPicPr>
        <p:blipFill>
          <a:blip r:embed="rId2"/>
          <a:stretch>
            <a:fillRect/>
          </a:stretch>
        </p:blipFill>
        <p:spPr>
          <a:xfrm>
            <a:off x="228600" y="4352544"/>
            <a:ext cx="6172200" cy="1362456"/>
          </a:xfrm>
          <a:prstGeom prst="rect">
            <a:avLst/>
          </a:prstGeom>
        </p:spPr>
      </p:pic>
      <p:sp>
        <p:nvSpPr>
          <p:cNvPr id="7" name="TextBox 6"/>
          <p:cNvSpPr txBox="1"/>
          <p:nvPr/>
        </p:nvSpPr>
        <p:spPr>
          <a:xfrm>
            <a:off x="411480" y="5961888"/>
            <a:ext cx="5806440" cy="394208"/>
          </a:xfrm>
          <a:prstGeom prst="rect">
            <a:avLst/>
          </a:prstGeom>
          <a:noFill/>
        </p:spPr>
        <p:txBody>
          <a:bodyPr wrap="square">
            <a:spAutoFit/>
          </a:bodyPr>
          <a:lstStyle/>
          <a:p>
            <a:pPr algn="ctr">
              <a:spcAft>
                <a:spcPts val="0"/>
              </a:spcAft>
            </a:pPr>
            <a:r>
              <a:rPr sz="1000" b="0">
                <a:solidFill>
                  <a:srgbClr val="6E6E6E"/>
                </a:solidFill>
                <a:latin typeface="Arial"/>
              </a:rPr>
              <a:t>A point of M1 imaged at the pupil: the convergence clouds behind the pupil-blur metric, traced across the field.</a:t>
            </a:r>
          </a:p>
        </p:txBody>
      </p:sp>
      <p:pic>
        <p:nvPicPr>
          <p:cNvPr id="8" name="Picture 7" descr="rodgers2_final_trade.png"/>
          <p:cNvPicPr>
            <a:picLocks noChangeAspect="1"/>
          </p:cNvPicPr>
          <p:nvPr/>
        </p:nvPicPr>
        <p:blipFill>
          <a:blip r:embed="rId3"/>
          <a:stretch>
            <a:fillRect/>
          </a:stretch>
        </p:blipFill>
        <p:spPr>
          <a:xfrm>
            <a:off x="6483096" y="1408176"/>
            <a:ext cx="5513832" cy="3767328"/>
          </a:xfrm>
          <a:prstGeom prst="rect">
            <a:avLst/>
          </a:prstGeom>
        </p:spPr>
      </p:pic>
      <p:sp>
        <p:nvSpPr>
          <p:cNvPr id="9" name="TextBox 8"/>
          <p:cNvSpPr txBox="1"/>
          <p:nvPr/>
        </p:nvSpPr>
        <p:spPr>
          <a:xfrm>
            <a:off x="7315200" y="5358384"/>
            <a:ext cx="4480560" cy="394208"/>
          </a:xfrm>
          <a:prstGeom prst="rect">
            <a:avLst/>
          </a:prstGeom>
          <a:noFill/>
        </p:spPr>
        <p:txBody>
          <a:bodyPr wrap="square">
            <a:spAutoFit/>
          </a:bodyPr>
          <a:lstStyle/>
          <a:p>
            <a:pPr algn="ctr">
              <a:spcAft>
                <a:spcPts val="0"/>
              </a:spcAft>
            </a:pPr>
            <a:r>
              <a:rPr sz="1000" b="0">
                <a:solidFill>
                  <a:srgbClr val="6E6E6E"/>
                </a:solidFill>
                <a:latin typeface="Arial"/>
              </a:rPr>
              <a:t>Both solution families beside the retracted unconstrained curve; the instrument-diameter column selects the 343 mm point.</a:t>
            </a:r>
          </a:p>
        </p:txBody>
      </p:sp>
      <p:sp>
        <p:nvSpPr>
          <p:cNvPr id="10" name="TextBox 9"/>
          <p:cNvSpPr txBox="1"/>
          <p:nvPr/>
        </p:nvSpPr>
        <p:spPr>
          <a:xfrm>
            <a:off x="7315200" y="5789168"/>
            <a:ext cx="4480560" cy="274320"/>
          </a:xfrm>
          <a:prstGeom prst="rect">
            <a:avLst/>
          </a:prstGeom>
          <a:noFill/>
        </p:spPr>
        <p:txBody>
          <a:bodyPr wrap="square">
            <a:spAutoFit/>
          </a:bodyPr>
          <a:lstStyle/>
          <a:p>
            <a:pPr>
              <a:spcAft>
                <a:spcPts val="600"/>
              </a:spcAft>
            </a:pPr>
            <a:r>
              <a:rPr sz="1050" b="0">
                <a:solidFill>
                  <a:srgbClr val="6E6E6E"/>
                </a:solidFill>
                <a:latin typeface="Arial"/>
              </a:rPr>
              <a:t>Yardsticks: pupil imaging resolves 2.7 µm across the 33 mm pupil, depth of focus ~30 µm — the measured defects sit 50–350× above these floors.  Per-point trade table: the design/rodgers2 record.  Buildability re-prices this trade — next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packaging — and the defect no fold could fix</a:t>
            </a:r>
          </a:p>
          <a:p>
            <a:pPr>
              <a:spcAft>
                <a:spcPts val="0"/>
              </a:spcAft>
            </a:pPr>
            <a:r>
              <a:rPr sz="1250" b="0">
                <a:solidFill>
                  <a:srgbClr val="6E6E6E"/>
                </a:solidFill>
                <a:latin typeface="Arial"/>
              </a:rPr>
              <a:t>The collimator stood in its own feed beam by −80 mm; a −10° extraction tilt clears it at +38 mm — wavefront 14% better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collision.png"/>
          <p:cNvPicPr>
            <a:picLocks noChangeAspect="1"/>
          </p:cNvPicPr>
          <p:nvPr/>
        </p:nvPicPr>
        <p:blipFill>
          <a:blip r:embed="rId2"/>
          <a:stretch>
            <a:fillRect/>
          </a:stretch>
        </p:blipFill>
        <p:spPr>
          <a:xfrm>
            <a:off x="3281848" y="1298448"/>
            <a:ext cx="5627997" cy="2440432"/>
          </a:xfrm>
          <a:prstGeom prst="rect">
            <a:avLst/>
          </a:prstGeom>
        </p:spPr>
      </p:pic>
      <p:sp>
        <p:nvSpPr>
          <p:cNvPr id="5" name="TextBox 4"/>
          <p:cNvSpPr txBox="1"/>
          <p:nvPr/>
        </p:nvSpPr>
        <p:spPr>
          <a:xfrm>
            <a:off x="411480" y="3757167"/>
            <a:ext cx="11368735" cy="394208"/>
          </a:xfrm>
          <a:prstGeom prst="rect">
            <a:avLst/>
          </a:prstGeom>
          <a:noFill/>
        </p:spPr>
        <p:txBody>
          <a:bodyPr wrap="square">
            <a:spAutoFit/>
          </a:bodyPr>
          <a:lstStyle/>
          <a:p>
            <a:pPr algn="ctr">
              <a:spcAft>
                <a:spcPts val="0"/>
              </a:spcAft>
            </a:pPr>
            <a:r>
              <a:rPr sz="1000" b="0">
                <a:solidFill>
                  <a:srgbClr val="6E6E6E"/>
                </a:solidFill>
                <a:latin typeface="Arial"/>
              </a:rPr>
              <a:t>Nine per-field feed-beam patches (light blue) at the collimator's plane, their union (dashed), and the part (gray).  The centre field's beam (bold) clears its own glass (green) — it lands on the glass the other fields need.  Left: committed, −79.9 mm.  Right: cleared −10°, +37.8 mm.</a:t>
            </a:r>
          </a:p>
        </p:txBody>
      </p:sp>
      <p:sp>
        <p:nvSpPr>
          <p:cNvPr id="6" name="TextBox 5"/>
          <p:cNvSpPr txBox="1"/>
          <p:nvPr/>
        </p:nvSpPr>
        <p:spPr>
          <a:xfrm>
            <a:off x="411480" y="4187951"/>
            <a:ext cx="11368735" cy="274320"/>
          </a:xfrm>
          <a:prstGeom prst="rect">
            <a:avLst/>
          </a:prstGeom>
          <a:noFill/>
        </p:spPr>
        <p:txBody>
          <a:bodyPr wrap="square">
            <a:spAutoFit/>
          </a:bodyPr>
          <a:lstStyle/>
          <a:p>
            <a:pPr>
              <a:spcAft>
                <a:spcPts val="600"/>
              </a:spcAft>
            </a:pPr>
            <a:r>
              <a:rPr sz="1500" b="0">
                <a:solidFill>
                  <a:srgbClr val="282828"/>
                </a:solidFill>
                <a:latin typeface="Arial"/>
              </a:rPr>
              <a:t>•  Why no single-field trace shows it, and no fold fixes it: each field's feed beam clears the glass its own light uses by 10–27 mm — the collision is with the glass the other fields need, and one monolithic mirror must carry them all.  Body and beam unions are scaled copies of the same field box (separation needs a 2.43× scale ratio; measured 1.30), and a fold is an isometry: the best flat placement anywhere reproduces −79.9 mm to the last digit.</a:t>
            </a:r>
          </a:p>
          <a:p>
            <a:pPr>
              <a:spcAft>
                <a:spcPts val="600"/>
              </a:spcAft>
            </a:pPr>
            <a:r>
              <a:rPr sz="1500" b="0">
                <a:solidFill>
                  <a:srgbClr val="282828"/>
                </a:solidFill>
                <a:latin typeface="Arial"/>
              </a:rPr>
              <a:t>•  The fix is optical, and priced: tilt the field mirror −10° and re-solve around it.  Clears at +37.8 mm with zero rays lost; wavefront 8993 vs 10407 nm; the interface holds (30.015×, 33.57 mm exit beam).  It packages itself — deepest optic 1.81× → 1.24× the M1–M2 spacing, zero fold flats.  The price is the fourth mirror's pupil control: blur 157 → 553 µm, breathing 0.12 → 0.82% — still 4× steadier than three mirrors.</a:t>
            </a:r>
          </a:p>
        </p:txBody>
      </p:sp>
      <p:sp>
        <p:nvSpPr>
          <p:cNvPr id="7" name="TextBox 6"/>
          <p:cNvSpPr txBox="1"/>
          <p:nvPr/>
        </p:nvSpPr>
        <p:spPr>
          <a:xfrm>
            <a:off x="411480" y="6486143"/>
            <a:ext cx="11368735" cy="274320"/>
          </a:xfrm>
          <a:prstGeom prst="rect">
            <a:avLst/>
          </a:prstGeom>
          <a:noFill/>
        </p:spPr>
        <p:txBody>
          <a:bodyPr wrap="square">
            <a:spAutoFit/>
          </a:bodyPr>
          <a:lstStyle/>
          <a:p>
            <a:pPr>
              <a:spcAft>
                <a:spcPts val="600"/>
              </a:spcAft>
            </a:pPr>
            <a:r>
              <a:rPr sz="1050" b="0">
                <a:solidFill>
                  <a:srgbClr val="6E6E6E"/>
                </a:solidFill>
                <a:latin typeface="Arial"/>
              </a:rPr>
              <a:t>The union check is now a standing gate: fails the committed deck, passes the cleared one — a margin is a number, not a body.  Three-way layouts: backup.  Record: challenges/afocal4/{packaging,clearing}.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 second live demonstration: the AI drives an interferometer</a:t>
            </a:r>
          </a:p>
          <a:p>
            <a:pPr>
              <a:spcAft>
                <a:spcPts val="0"/>
              </a:spcAft>
            </a:pPr>
            <a:r>
              <a:rPr sz="1250" b="0">
                <a:solidFill>
                  <a:srgbClr val="6E6E6E"/>
                </a:solidFill>
                <a:latin typeface="Arial"/>
              </a:rPr>
              <a:t>A polarization Twyman–Green gauging a deformable mirror — armed in a terminal now, run on the room's cue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4846320" cy="274320"/>
          </a:xfrm>
          <a:prstGeom prst="rect">
            <a:avLst/>
          </a:prstGeom>
          <a:noFill/>
        </p:spPr>
        <p:txBody>
          <a:bodyPr wrap="square">
            <a:spAutoFit/>
          </a:bodyPr>
          <a:lstStyle/>
          <a:p>
            <a:pPr>
              <a:spcAft>
                <a:spcPts val="600"/>
              </a:spcAft>
            </a:pPr>
            <a:r>
              <a:rPr sz="1150" b="0">
                <a:solidFill>
                  <a:srgbClr val="282828"/>
                </a:solidFill>
                <a:latin typeface="Arial"/>
              </a:rPr>
              <a:t>•  Why a Twyman–Green for a DM: it is the Michelson topology fed with collimated light — both arms end on mirrors, so the DM takes one arm whole, at normal incidence, double pass (height counts twice), with a natural null against the reference flat.  A Mach–Zehnder has no natural seat for a mirror — its isolated arms and two ports serve dynamics and transmission, not figure.</a:t>
            </a:r>
          </a:p>
          <a:p>
            <a:pPr>
              <a:spcAft>
                <a:spcPts val="600"/>
              </a:spcAft>
            </a:pPr>
            <a:r>
              <a:rPr sz="1150" b="0">
                <a:solidFill>
                  <a:srgbClr val="282828"/>
                </a:solidFill>
                <a:latin typeface="Arial"/>
              </a:rPr>
              <a:t>•  Phase shifting, nothing moving in the interferometer: the arms carry orthogonal polarizations; a quarter-wave plate makes them opposite circular; the analyzer angle θ writes fringe phase 2θ.  The analyzer sits in the recombined beam, where its motion adds only common phase — or is a pixelated camera (0/45/90/135° per 2×2 tile): all four steps in one snapshot.</a:t>
            </a:r>
          </a:p>
          <a:p>
            <a:pPr>
              <a:spcAft>
                <a:spcPts val="600"/>
              </a:spcAft>
            </a:pPr>
            <a:r>
              <a:rPr sz="1150" b="0">
                <a:solidFill>
                  <a:srgbClr val="282828"/>
                </a:solidFill>
                <a:latin typeface="Arial"/>
              </a:rPr>
              <a:t>•  Cube against plate: the plate rig's diattenuation rotates one arm 7.5° and the gauge reads 11.7% high; the MacNeille cube parks each arm on a coating eigenaxis.  Both are built — the cube runs today.</a:t>
            </a:r>
          </a:p>
        </p:txBody>
      </p:sp>
      <p:sp>
        <p:nvSpPr>
          <p:cNvPr id="5" name="Rectangle 4"/>
          <p:cNvSpPr/>
          <p:nvPr/>
        </p:nvSpPr>
        <p:spPr>
          <a:xfrm>
            <a:off x="5486400" y="1371600"/>
            <a:ext cx="6702552" cy="2092452"/>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
              </a:spcAft>
            </a:pPr>
            <a:r>
              <a:rPr sz="1150" b="0">
                <a:solidFill>
                  <a:srgbClr val="282828"/>
                </a:solidFill>
                <a:latin typeface="Consolas"/>
              </a:rPr>
              <a:t>$ claude                      % a fresh AI session, in the terminal</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&gt; Let's run the IFO demo.  Runbook is demo_session/RUNBOOK_ifo_demo.md</a:t>
            </a:r>
          </a:p>
          <a:p>
            <a:pPr>
              <a:spcAft>
                <a:spcPts val="100"/>
              </a:spcAft>
            </a:pPr>
            <a:r>
              <a:rPr sz="1150" b="0">
                <a:solidFill>
                  <a:srgbClr val="282828"/>
                </a:solidFill>
                <a:latin typeface="Consolas"/>
              </a:rPr>
              <a:t>  — arm it and wait for my cue.</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  Armed — v2, eight beats, beat 1 computed and waiting.  Say the word.</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&gt; tell us about the next step ...          &gt; run it</a:t>
            </a:r>
          </a:p>
          <a:p>
            <a:pPr>
              <a:spcAft>
                <a:spcPts val="100"/>
              </a:spcAft>
            </a:pPr>
            <a:r>
              <a:rPr sz="1150" b="0">
                <a:solidFill>
                  <a:srgbClr val="282828"/>
                </a:solidFill>
                <a:latin typeface="Consolas"/>
              </a:rPr>
              <a:t>  BUILD → LAYOUT → COATING → NULL → POKE → SWEEP → RECOVER → CALIBRATE</a:t>
            </a:r>
          </a:p>
          <a:p>
            <a:pPr>
              <a:spcAft>
                <a:spcPts val="100"/>
              </a:spcAft>
            </a:pPr>
            <a:r>
              <a:rPr sz="1150" b="0">
                <a:solidFill>
                  <a:srgbClr val="282828"/>
                </a:solidFill>
                <a:latin typeface="Consolas"/>
              </a:rPr>
              <a:t>  (~45 s of compute across the run — the rest is conversation)</a:t>
            </a:r>
          </a:p>
        </p:txBody>
      </p:sp>
      <p:sp>
        <p:nvSpPr>
          <p:cNvPr id="6" name="TextBox 5"/>
          <p:cNvSpPr txBox="1"/>
          <p:nvPr/>
        </p:nvSpPr>
        <p:spPr>
          <a:xfrm>
            <a:off x="6400800" y="3573780"/>
            <a:ext cx="5394960" cy="274320"/>
          </a:xfrm>
          <a:prstGeom prst="rect">
            <a:avLst/>
          </a:prstGeom>
          <a:noFill/>
        </p:spPr>
        <p:txBody>
          <a:bodyPr wrap="square">
            <a:spAutoFit/>
          </a:bodyPr>
          <a:lstStyle/>
          <a:p>
            <a:pPr>
              <a:spcAft>
                <a:spcPts val="600"/>
              </a:spcAft>
            </a:pPr>
            <a:r>
              <a:rPr sz="1050" b="0">
                <a:solidFill>
                  <a:srgbClr val="6E6E6E"/>
                </a:solidFill>
                <a:latin typeface="Arial"/>
              </a:rPr>
              <a:t>The dialog is the demonstration: the AI narrates each beat, runs it on the cue, pastes the real output, and answers the room's questions from the live session — figures open on the desktop as they draw.  Every beat has a committed fallback figure.</a:t>
            </a:r>
          </a:p>
        </p:txBody>
      </p:sp>
      <p:pic>
        <p:nvPicPr>
          <p:cNvPr id="7" name="Picture 6" descr="fig_ifo_topologies.png"/>
          <p:cNvPicPr>
            <a:picLocks noChangeAspect="1"/>
          </p:cNvPicPr>
          <p:nvPr/>
        </p:nvPicPr>
        <p:blipFill>
          <a:blip r:embed="rId2"/>
          <a:stretch>
            <a:fillRect/>
          </a:stretch>
        </p:blipFill>
        <p:spPr>
          <a:xfrm>
            <a:off x="1024128" y="4133087"/>
            <a:ext cx="9720072" cy="2350008"/>
          </a:xfrm>
          <a:prstGeom prst="rect">
            <a:avLst/>
          </a:prstGeom>
        </p:spPr>
      </p:pic>
      <p:sp>
        <p:nvSpPr>
          <p:cNvPr id="8" name="TextBox 7"/>
          <p:cNvSpPr txBox="1"/>
          <p:nvPr/>
        </p:nvSpPr>
        <p:spPr>
          <a:xfrm>
            <a:off x="1024128" y="6501383"/>
            <a:ext cx="9720072" cy="229107"/>
          </a:xfrm>
          <a:prstGeom prst="rect">
            <a:avLst/>
          </a:prstGeom>
          <a:noFill/>
        </p:spPr>
        <p:txBody>
          <a:bodyPr wrap="square">
            <a:spAutoFit/>
          </a:bodyPr>
          <a:lstStyle/>
          <a:p>
            <a:pPr algn="ctr">
              <a:spcAft>
                <a:spcPts val="0"/>
              </a:spcAft>
            </a:pPr>
            <a:r>
              <a:rPr sz="1000" b="0">
                <a:solidFill>
                  <a:srgbClr val="6E6E6E"/>
                </a:solidFill>
                <a:latin typeface="Arial"/>
              </a:rPr>
              <a:t>The demo rig, and the splitter that decides its error budget.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Recap: the interferometer, built and calibrated in the model</a:t>
            </a:r>
          </a:p>
          <a:p>
            <a:pPr>
              <a:spcAft>
                <a:spcPts val="0"/>
              </a:spcAft>
            </a:pPr>
            <a:r>
              <a:rPr sz="1250" b="0">
                <a:solidFill>
                  <a:srgbClr val="6E6E6E"/>
                </a:solidFill>
                <a:latin typeface="Arial"/>
              </a:rPr>
              <a:t>The plate rig's 11.7% error, caught and fixed — then designed out by a real MacNeille cube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The rig: a polarizing Twyman–Green with a 16×16-actuator deformable mirror as the test optic — polarizers, waveplates, splitter and coatings are engine surfaces, not a Jones model appended after the trace.  Two builds: the v1 plate rig, and a v2 with a real cemented MacNeille cube — one coated 45° interface (engine vs textbook thin-film at 10⁻¹⁰; R+T = 1.000000000000 measured).</a:t>
            </a:r>
          </a:p>
          <a:p>
            <a:pPr>
              <a:spcAft>
                <a:spcPts val="600"/>
              </a:spcAft>
            </a:pPr>
            <a:r>
              <a:rPr sz="1400" b="0">
                <a:solidFill>
                  <a:srgbClr val="282828"/>
                </a:solidFill>
                <a:latin typeface="Arial"/>
              </a:rPr>
              <a:t>•  v1's catch: splitter diattenuation rotates the test arm 7.5° from orthogonal — the gauge reads 11.7% high while fringe contrast moves 0.17% (a 69× blind spot); fixed by re-clocking one waveplate 3.77°, solved in 5 traces.</a:t>
            </a:r>
          </a:p>
          <a:p>
            <a:pPr>
              <a:spcAft>
                <a:spcPts val="600"/>
              </a:spcAft>
            </a:pPr>
            <a:r>
              <a:rPr sz="1400" b="0">
                <a:solidFill>
                  <a:srgbClr val="282828"/>
                </a:solidFill>
                <a:latin typeface="Arial"/>
              </a:rPr>
              <a:t>•  v2 designs the error out: each arm rides a coating eigenaxis, where a diattenuator cannot rotate it — and the error budget inverts: a waveplate error now costs visible contrast instead of invisible scale.</a:t>
            </a:r>
          </a:p>
        </p:txBody>
      </p:sp>
      <p:graphicFrame>
        <p:nvGraphicFramePr>
          <p:cNvPr id="5" name="Table 4"/>
          <p:cNvGraphicFramePr>
            <a:graphicFrameLocks noGrp="1"/>
          </p:cNvGraphicFramePr>
          <p:nvPr/>
        </p:nvGraphicFramePr>
        <p:xfrm>
          <a:off x="411480" y="4425696"/>
          <a:ext cx="5806439" cy="1680210"/>
        </p:xfrm>
        <a:graphic>
          <a:graphicData uri="http://schemas.openxmlformats.org/drawingml/2006/table">
            <a:tbl>
              <a:tblPr firstRow="1" bandRow="1">
                <a:tableStyleId>{5C22544A-7EE6-4342-B048-85BDC9FD1C3A}</a:tableStyleId>
              </a:tblPr>
              <a:tblGrid>
                <a:gridCol w="2939223"/>
                <a:gridCol w="872744"/>
                <a:gridCol w="199447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plate (v1)</a:t>
                      </a:r>
                    </a:p>
                  </a:txBody>
                  <a:tcPr marL="54864" marR="54864" marT="18288" marB="18288">
                    <a:solidFill>
                      <a:srgbClr val="1F4E79"/>
                    </a:solidFill>
                  </a:tcPr>
                </a:tc>
                <a:tc>
                  <a:txBody>
                    <a:bodyPr wrap="square"/>
                    <a:lstStyle/>
                    <a:p>
                      <a:r>
                        <a:rPr sz="1100" b="1">
                          <a:solidFill>
                            <a:srgbClr val="FFFFFF"/>
                          </a:solidFill>
                          <a:latin typeface="Arial"/>
                        </a:rPr>
                        <a:t>MacNeille cube (v2)</a:t>
                      </a:r>
                    </a:p>
                  </a:txBody>
                  <a:tcPr marL="54864" marR="54864" marT="18288" marB="18288">
                    <a:solidFill>
                      <a:srgbClr val="1F4E79"/>
                    </a:solidFill>
                  </a:tcPr>
                </a:tc>
              </a:tr>
              <a:tr h="280035">
                <a:tc>
                  <a:txBody>
                    <a:bodyPr wrap="square"/>
                    <a:lstStyle/>
                    <a:p>
                      <a:r>
                        <a:rPr sz="1100" b="0">
                          <a:solidFill>
                            <a:srgbClr val="282828"/>
                          </a:solidFill>
                          <a:latin typeface="Arial"/>
                        </a:rPr>
                        <a:t>arm rotation from orthogonal</a:t>
                      </a:r>
                    </a:p>
                  </a:txBody>
                  <a:tcPr marL="54864" marR="54864" marT="18288" marB="18288">
                    <a:solidFill>
                      <a:srgbClr val="FFFFFF"/>
                    </a:solidFill>
                  </a:tcPr>
                </a:tc>
                <a:tc>
                  <a:txBody>
                    <a:bodyPr wrap="square"/>
                    <a:lstStyle/>
                    <a:p>
                      <a:r>
                        <a:rPr sz="1100" b="0">
                          <a:solidFill>
                            <a:srgbClr val="282828"/>
                          </a:solidFill>
                          <a:latin typeface="Arial"/>
                        </a:rPr>
                        <a:t>7.479°</a:t>
                      </a:r>
                    </a:p>
                  </a:txBody>
                  <a:tcPr marL="54864" marR="54864" marT="18288" marB="18288">
                    <a:solidFill>
                      <a:srgbClr val="FFFFFF"/>
                    </a:solidFill>
                  </a:tcPr>
                </a:tc>
                <a:tc>
                  <a:txBody>
                    <a:bodyPr wrap="square"/>
                    <a:lstStyle/>
                    <a:p>
                      <a:r>
                        <a:rPr sz="1100" b="0">
                          <a:solidFill>
                            <a:srgbClr val="282828"/>
                          </a:solidFill>
                          <a:latin typeface="Arial"/>
                        </a:rPr>
                        <a:t>5×10⁻⁶ °</a:t>
                      </a:r>
                    </a:p>
                  </a:txBody>
                  <a:tcPr marL="54864" marR="54864" marT="18288" marB="18288">
                    <a:solidFill>
                      <a:srgbClr val="FFFFFF"/>
                    </a:solidFill>
                  </a:tcPr>
                </a:tc>
              </a:tr>
              <a:tr h="280035">
                <a:tc>
                  <a:txBody>
                    <a:bodyPr wrap="square"/>
                    <a:lstStyle/>
                    <a:p>
                      <a:r>
                        <a:rPr sz="1100" b="0">
                          <a:solidFill>
                            <a:srgbClr val="282828"/>
                          </a:solidFill>
                          <a:latin typeface="Arial"/>
                        </a:rPr>
                        <a:t>PSI scale gain</a:t>
                      </a:r>
                    </a:p>
                  </a:txBody>
                  <a:tcPr marL="54864" marR="54864" marT="18288" marB="18288">
                    <a:solidFill>
                      <a:srgbClr val="ECF1F6"/>
                    </a:solidFill>
                  </a:tcPr>
                </a:tc>
                <a:tc>
                  <a:txBody>
                    <a:bodyPr wrap="square"/>
                    <a:lstStyle/>
                    <a:p>
                      <a:r>
                        <a:rPr sz="1100" b="0">
                          <a:solidFill>
                            <a:srgbClr val="282828"/>
                          </a:solidFill>
                          <a:latin typeface="Arial"/>
                        </a:rPr>
                        <a:t>1.117</a:t>
                      </a:r>
                    </a:p>
                  </a:txBody>
                  <a:tcPr marL="54864" marR="54864" marT="18288" marB="18288">
                    <a:solidFill>
                      <a:srgbClr val="ECF1F6"/>
                    </a:solidFill>
                  </a:tcPr>
                </a:tc>
                <a:tc>
                  <a:txBody>
                    <a:bodyPr wrap="square"/>
                    <a:lstStyle/>
                    <a:p>
                      <a:r>
                        <a:rPr sz="1100" b="0">
                          <a:solidFill>
                            <a:srgbClr val="282828"/>
                          </a:solidFill>
                          <a:latin typeface="Arial"/>
                        </a:rPr>
                        <a:t>0.999999</a:t>
                      </a:r>
                    </a:p>
                  </a:txBody>
                  <a:tcPr marL="54864" marR="54864" marT="18288" marB="18288">
                    <a:solidFill>
                      <a:srgbClr val="ECF1F6"/>
                    </a:solidFill>
                  </a:tcPr>
                </a:tc>
              </a:tr>
              <a:tr h="280035">
                <a:tc>
                  <a:txBody>
                    <a:bodyPr wrap="square"/>
                    <a:lstStyle/>
                    <a:p>
                      <a:r>
                        <a:rPr sz="1100" b="0">
                          <a:solidFill>
                            <a:srgbClr val="282828"/>
                          </a:solidFill>
                          <a:latin typeface="Arial"/>
                        </a:rPr>
                        <a:t>alignment solve</a:t>
                      </a:r>
                    </a:p>
                  </a:txBody>
                  <a:tcPr marL="54864" marR="54864" marT="18288" marB="18288">
                    <a:solidFill>
                      <a:srgbClr val="FFFFFF"/>
                    </a:solidFill>
                  </a:tcPr>
                </a:tc>
                <a:tc>
                  <a:txBody>
                    <a:bodyPr wrap="square"/>
                    <a:lstStyle/>
                    <a:p>
                      <a:r>
                        <a:rPr sz="1100" b="0">
                          <a:solidFill>
                            <a:srgbClr val="282828"/>
                          </a:solidFill>
                          <a:latin typeface="Arial"/>
                        </a:rPr>
                        <a:t>+3.768°</a:t>
                      </a:r>
                    </a:p>
                  </a:txBody>
                  <a:tcPr marL="54864" marR="54864" marT="18288" marB="18288">
                    <a:solidFill>
                      <a:srgbClr val="FFFFFF"/>
                    </a:solidFill>
                  </a:tcPr>
                </a:tc>
                <a:tc>
                  <a:txBody>
                    <a:bodyPr wrap="square"/>
                    <a:lstStyle/>
                    <a:p>
                      <a:r>
                        <a:rPr sz="1100" b="0">
                          <a:solidFill>
                            <a:srgbClr val="282828"/>
                          </a:solidFill>
                          <a:latin typeface="Arial"/>
                        </a:rPr>
                        <a:t>none needed</a:t>
                      </a:r>
                    </a:p>
                  </a:txBody>
                  <a:tcPr marL="54864" marR="54864" marT="18288" marB="18288">
                    <a:solidFill>
                      <a:srgbClr val="FFFFFF"/>
                    </a:solidFill>
                  </a:tcPr>
                </a:tc>
              </a:tr>
              <a:tr h="280035">
                <a:tc>
                  <a:txBody>
                    <a:bodyPr wrap="square"/>
                    <a:lstStyle/>
                    <a:p>
                      <a:r>
                        <a:rPr sz="1100" b="0">
                          <a:solidFill>
                            <a:srgbClr val="282828"/>
                          </a:solidFill>
                          <a:latin typeface="Arial"/>
                        </a:rPr>
                        <a:t>delivered power</a:t>
                      </a:r>
                    </a:p>
                  </a:txBody>
                  <a:tcPr marL="54864" marR="54864" marT="18288" marB="18288">
                    <a:solidFill>
                      <a:srgbClr val="ECF1F6"/>
                    </a:solidFill>
                  </a:tcPr>
                </a:tc>
                <a:tc>
                  <a:txBody>
                    <a:bodyPr wrap="square"/>
                    <a:lstStyle/>
                    <a:p>
                      <a:r>
                        <a:rPr sz="1100" b="0">
                          <a:solidFill>
                            <a:srgbClr val="282828"/>
                          </a:solidFill>
                          <a:latin typeface="Arial"/>
                        </a:rPr>
                        <a:t>0.169</a:t>
                      </a:r>
                    </a:p>
                  </a:txBody>
                  <a:tcPr marL="54864" marR="54864" marT="18288" marB="18288">
                    <a:solidFill>
                      <a:srgbClr val="ECF1F6"/>
                    </a:solidFill>
                  </a:tcPr>
                </a:tc>
                <a:tc>
                  <a:txBody>
                    <a:bodyPr wrap="square"/>
                    <a:lstStyle/>
                    <a:p>
                      <a:r>
                        <a:rPr sz="1100" b="0">
                          <a:solidFill>
                            <a:srgbClr val="282828"/>
                          </a:solidFill>
                          <a:latin typeface="Arial"/>
                        </a:rPr>
                        <a:t>0.384 (2.27×)</a:t>
                      </a:r>
                    </a:p>
                  </a:txBody>
                  <a:tcPr marL="54864" marR="54864" marT="18288" marB="18288">
                    <a:solidFill>
                      <a:srgbClr val="ECF1F6"/>
                    </a:solidFill>
                  </a:tcPr>
                </a:tc>
              </a:tr>
              <a:tr h="280035">
                <a:tc>
                  <a:txBody>
                    <a:bodyPr wrap="square"/>
                    <a:lstStyle/>
                    <a:p>
                      <a:r>
                        <a:rPr sz="1100" b="0">
                          <a:solidFill>
                            <a:srgbClr val="282828"/>
                          </a:solidFill>
                          <a:latin typeface="Arial"/>
                        </a:rPr>
                        <a:t>DM closure residual</a:t>
                      </a:r>
                    </a:p>
                  </a:txBody>
                  <a:tcPr marL="54864" marR="54864" marT="18288" marB="18288">
                    <a:solidFill>
                      <a:srgbClr val="FFFFFF"/>
                    </a:solidFill>
                  </a:tcPr>
                </a:tc>
                <a:tc>
                  <a:txBody>
                    <a:bodyPr wrap="square"/>
                    <a:lstStyle/>
                    <a:p>
                      <a:r>
                        <a:rPr sz="1100" b="0">
                          <a:solidFill>
                            <a:srgbClr val="282828"/>
                          </a:solidFill>
                          <a:latin typeface="Arial"/>
                        </a:rPr>
                        <a:t>0.304 nm</a:t>
                      </a:r>
                    </a:p>
                  </a:txBody>
                  <a:tcPr marL="54864" marR="54864" marT="18288" marB="18288">
                    <a:solidFill>
                      <a:srgbClr val="FFFFFF"/>
                    </a:solidFill>
                  </a:tcPr>
                </a:tc>
                <a:tc>
                  <a:txBody>
                    <a:bodyPr wrap="square"/>
                    <a:lstStyle/>
                    <a:p>
                      <a:r>
                        <a:rPr sz="1100" b="0">
                          <a:solidFill>
                            <a:srgbClr val="282828"/>
                          </a:solidFill>
                          <a:latin typeface="Arial"/>
                        </a:rPr>
                        <a:t>0.183 nm</a:t>
                      </a:r>
                    </a:p>
                  </a:txBody>
                  <a:tcPr marL="54864" marR="54864" marT="18288" marB="18288">
                    <a:solidFill>
                      <a:srgbClr val="FFFFFF"/>
                    </a:solidFill>
                  </a:tcPr>
                </a:tc>
              </a:tr>
            </a:tbl>
          </a:graphicData>
        </a:graphic>
      </p:graphicFrame>
      <p:pic>
        <p:nvPicPr>
          <p:cNvPr id="6" name="Picture 5" descr="demo2_beat6_sweep.png"/>
          <p:cNvPicPr>
            <a:picLocks noChangeAspect="1"/>
          </p:cNvPicPr>
          <p:nvPr/>
        </p:nvPicPr>
        <p:blipFill>
          <a:blip r:embed="rId2"/>
          <a:stretch>
            <a:fillRect/>
          </a:stretch>
        </p:blipFill>
        <p:spPr>
          <a:xfrm>
            <a:off x="6858000" y="914400"/>
            <a:ext cx="4343400" cy="2157984"/>
          </a:xfrm>
          <a:prstGeom prst="rect">
            <a:avLst/>
          </a:prstGeom>
        </p:spPr>
      </p:pic>
      <p:sp>
        <p:nvSpPr>
          <p:cNvPr id="7" name="TextBox 6"/>
          <p:cNvSpPr txBox="1"/>
          <p:nvPr/>
        </p:nvSpPr>
        <p:spPr>
          <a:xfrm>
            <a:off x="6400800" y="3072384"/>
            <a:ext cx="5394960" cy="394208"/>
          </a:xfrm>
          <a:prstGeom prst="rect">
            <a:avLst/>
          </a:prstGeom>
          <a:noFill/>
        </p:spPr>
        <p:txBody>
          <a:bodyPr wrap="square">
            <a:spAutoFit/>
          </a:bodyPr>
          <a:lstStyle/>
          <a:p>
            <a:pPr algn="ctr">
              <a:spcAft>
                <a:spcPts val="0"/>
              </a:spcAft>
            </a:pPr>
            <a:r>
              <a:rPr sz="1000" b="0">
                <a:solidFill>
                  <a:srgbClr val="6E6E6E"/>
                </a:solidFill>
                <a:latin typeface="Arial"/>
              </a:rPr>
              <a:t>The analyzer sweep, from the run: phase-stepped fringes over the poked actuator — the phase walks, nothing in the rig moves.</a:t>
            </a:r>
          </a:p>
        </p:txBody>
      </p:sp>
      <p:pic>
        <p:nvPicPr>
          <p:cNvPr id="8" name="Picture 7" descr="tg_psi_dm_v2_sensitivity.png"/>
          <p:cNvPicPr>
            <a:picLocks noChangeAspect="1"/>
          </p:cNvPicPr>
          <p:nvPr/>
        </p:nvPicPr>
        <p:blipFill>
          <a:blip r:embed="rId3"/>
          <a:stretch>
            <a:fillRect/>
          </a:stretch>
        </p:blipFill>
        <p:spPr>
          <a:xfrm>
            <a:off x="6592824" y="3575304"/>
            <a:ext cx="5129784" cy="2075688"/>
          </a:xfrm>
          <a:prstGeom prst="rect">
            <a:avLst/>
          </a:prstGeom>
        </p:spPr>
      </p:pic>
      <p:sp>
        <p:nvSpPr>
          <p:cNvPr id="9" name="TextBox 8"/>
          <p:cNvSpPr txBox="1"/>
          <p:nvPr/>
        </p:nvSpPr>
        <p:spPr>
          <a:xfrm>
            <a:off x="6400800" y="5687568"/>
            <a:ext cx="5394960" cy="394208"/>
          </a:xfrm>
          <a:prstGeom prst="rect">
            <a:avLst/>
          </a:prstGeom>
          <a:noFill/>
        </p:spPr>
        <p:txBody>
          <a:bodyPr wrap="square">
            <a:spAutoFit/>
          </a:bodyPr>
          <a:lstStyle/>
          <a:p>
            <a:pPr algn="ctr">
              <a:spcAft>
                <a:spcPts val="0"/>
              </a:spcAft>
            </a:pPr>
            <a:r>
              <a:rPr sz="1000" b="0">
                <a:solidFill>
                  <a:srgbClr val="6E6E6E"/>
                </a:solidFill>
                <a:latin typeface="Arial"/>
              </a:rPr>
              <a:t>Who cleans an alignment error: the plate's arm rotation walks with waveplate error; the cube's arms stay put — the error emerges as contrast, not scale.</a:t>
            </a:r>
          </a:p>
        </p:txBody>
      </p:sp>
      <p:sp>
        <p:nvSpPr>
          <p:cNvPr id="10" name="TextBox 9"/>
          <p:cNvSpPr txBox="1"/>
          <p:nvPr/>
        </p:nvSpPr>
        <p:spPr>
          <a:xfrm>
            <a:off x="6400800" y="6117336"/>
            <a:ext cx="5394960" cy="274320"/>
          </a:xfrm>
          <a:prstGeom prst="rect">
            <a:avLst/>
          </a:prstGeom>
          <a:noFill/>
        </p:spPr>
        <p:txBody>
          <a:bodyPr wrap="square">
            <a:spAutoFit/>
          </a:bodyPr>
          <a:lstStyle/>
          <a:p>
            <a:pPr>
              <a:spcAft>
                <a:spcPts val="600"/>
              </a:spcAft>
            </a:pPr>
            <a:r>
              <a:rPr sz="1050" b="0">
                <a:solidFill>
                  <a:srgbClr val="6E6E6E"/>
                </a:solidFill>
                <a:latin typeface="Arial"/>
              </a:rPr>
              <a:t>Records: templates/90_polarization/tg_psi_dm (v1) + tg_psi_dm_v2 (the demo rig); 18 regression checks across the pair.  A PBS converts an invisible systematic into a visible one — a better reason to buy one than throughput.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Recap: the measurement the room just watched</a:t>
            </a:r>
          </a:p>
          <a:p>
            <a:pPr>
              <a:spcAft>
                <a:spcPts val="0"/>
              </a:spcAft>
            </a:pPr>
            <a:r>
              <a:rPr sz="1250" b="0">
                <a:solidFill>
                  <a:srgbClr val="6E6E6E"/>
                </a:solidFill>
                <a:latin typeface="Arial"/>
              </a:rPr>
              <a:t>Eight beats, ~45 s of compute — 0.18 nm rms residual on 6.35 nm of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800" b="0">
                <a:solidFill>
                  <a:srgbClr val="282828"/>
                </a:solidFill>
                <a:latin typeface="Arial"/>
              </a:rPr>
              <a:t>•  The eight beats, replayed: build (the design condition hands back a dense flint, n = 1.6555 — why real polarizing cubes are not BK7) → layout → coating (R+T = 1.000000000000 measured; one termination choice moves R_p from 4×10⁻¹² to 2.1%) → null → poke → sweep → recover → calibrate.</a:t>
            </a:r>
          </a:p>
          <a:p>
            <a:pPr>
              <a:spcAft>
                <a:spcPts val="600"/>
              </a:spcAft>
            </a:pPr>
            <a:r>
              <a:rPr sz="1800" b="0">
                <a:solidFill>
                  <a:srgbClr val="282828"/>
                </a:solidFill>
                <a:latin typeface="Arial"/>
              </a:rPr>
              <a:t>•  The numbers that landed: the null reads 73 pm with nothing aligned; the poked actuator recovers 146 nm against 150 injected — the bullseye's own half-fringe arithmetic; the full map lands 6.26 nm against 6.35 truth, 0.183 nm rms residual.</a:t>
            </a:r>
          </a:p>
          <a:p>
            <a:pPr>
              <a:spcAft>
                <a:spcPts val="600"/>
              </a:spcAft>
            </a:pPr>
            <a:r>
              <a:rPr sz="1800" b="0">
                <a:solidFill>
                  <a:srgbClr val="282828"/>
                </a:solidFill>
                <a:latin typeface="Arial"/>
              </a:rPr>
              <a:t>•  The calibration question: gain 0.9912 ± 0.0020, linear to 0.00% — almost nothing to calibrate, and the two correlations say where the leftover error lives.</a:t>
            </a:r>
          </a:p>
        </p:txBody>
      </p:sp>
      <p:pic>
        <p:nvPicPr>
          <p:cNvPr id="5" name="Picture 4" descr="demo2_beat5_poke.png"/>
          <p:cNvPicPr>
            <a:picLocks noChangeAspect="1"/>
          </p:cNvPicPr>
          <p:nvPr/>
        </p:nvPicPr>
        <p:blipFill>
          <a:blip r:embed="rId2"/>
          <a:stretch>
            <a:fillRect/>
          </a:stretch>
        </p:blipFill>
        <p:spPr>
          <a:xfrm>
            <a:off x="6834395" y="1298448"/>
            <a:ext cx="4527768" cy="1736851"/>
          </a:xfrm>
          <a:prstGeom prst="rect">
            <a:avLst/>
          </a:prstGeom>
        </p:spPr>
      </p:pic>
      <p:sp>
        <p:nvSpPr>
          <p:cNvPr id="6" name="TextBox 5"/>
          <p:cNvSpPr txBox="1"/>
          <p:nvPr/>
        </p:nvSpPr>
        <p:spPr>
          <a:xfrm>
            <a:off x="6400800" y="3053588"/>
            <a:ext cx="5394960" cy="229107"/>
          </a:xfrm>
          <a:prstGeom prst="rect">
            <a:avLst/>
          </a:prstGeom>
          <a:noFill/>
        </p:spPr>
        <p:txBody>
          <a:bodyPr wrap="square">
            <a:spAutoFit/>
          </a:bodyPr>
          <a:lstStyle/>
          <a:p>
            <a:pPr algn="ctr">
              <a:spcAft>
                <a:spcPts val="0"/>
              </a:spcAft>
            </a:pPr>
            <a:r>
              <a:rPr sz="1000" b="0">
                <a:solidFill>
                  <a:srgbClr val="6E6E6E"/>
                </a:solidFill>
                <a:latin typeface="Arial"/>
              </a:rPr>
              <a:t>Beat 5 — one actuator poked: the fringes bend over it.</a:t>
            </a:r>
          </a:p>
        </p:txBody>
      </p:sp>
      <p:pic>
        <p:nvPicPr>
          <p:cNvPr id="7" name="Picture 6" descr="demo2_beat7_recovery.png"/>
          <p:cNvPicPr>
            <a:picLocks noChangeAspect="1"/>
          </p:cNvPicPr>
          <p:nvPr/>
        </p:nvPicPr>
        <p:blipFill>
          <a:blip r:embed="rId3"/>
          <a:stretch>
            <a:fillRect/>
          </a:stretch>
        </p:blipFill>
        <p:spPr>
          <a:xfrm>
            <a:off x="6400800" y="3319272"/>
            <a:ext cx="5394960" cy="1452489"/>
          </a:xfrm>
          <a:prstGeom prst="rect">
            <a:avLst/>
          </a:prstGeom>
        </p:spPr>
      </p:pic>
      <p:sp>
        <p:nvSpPr>
          <p:cNvPr id="8" name="TextBox 7"/>
          <p:cNvSpPr txBox="1"/>
          <p:nvPr/>
        </p:nvSpPr>
        <p:spPr>
          <a:xfrm>
            <a:off x="6400800" y="4790049"/>
            <a:ext cx="5394960" cy="229107"/>
          </a:xfrm>
          <a:prstGeom prst="rect">
            <a:avLst/>
          </a:prstGeom>
          <a:noFill/>
        </p:spPr>
        <p:txBody>
          <a:bodyPr wrap="square">
            <a:spAutoFit/>
          </a:bodyPr>
          <a:lstStyle/>
          <a:p>
            <a:pPr algn="ctr">
              <a:spcAft>
                <a:spcPts val="0"/>
              </a:spcAft>
            </a:pPr>
            <a:r>
              <a:rPr sz="1000" b="0">
                <a:solidFill>
                  <a:srgbClr val="6E6E6E"/>
                </a:solidFill>
                <a:latin typeface="Arial"/>
              </a:rPr>
              <a:t>Beat 7 — the recovery beside the injected truth map.</a:t>
            </a:r>
          </a:p>
        </p:txBody>
      </p:sp>
      <p:sp>
        <p:nvSpPr>
          <p:cNvPr id="9" name="TextBox 8"/>
          <p:cNvSpPr txBox="1"/>
          <p:nvPr/>
        </p:nvSpPr>
        <p:spPr>
          <a:xfrm>
            <a:off x="6400800" y="5055733"/>
            <a:ext cx="5394960" cy="274320"/>
          </a:xfrm>
          <a:prstGeom prst="rect">
            <a:avLst/>
          </a:prstGeom>
          <a:noFill/>
        </p:spPr>
        <p:txBody>
          <a:bodyPr wrap="square">
            <a:spAutoFit/>
          </a:bodyPr>
          <a:lstStyle/>
          <a:p>
            <a:pPr>
              <a:spcAft>
                <a:spcPts val="600"/>
              </a:spcAft>
            </a:pPr>
            <a:r>
              <a:rPr sz="1050" b="0">
                <a:solidFill>
                  <a:srgbClr val="6E6E6E"/>
                </a:solidFill>
                <a:latin typeface="Arial"/>
              </a:rPr>
              <a:t>Every number above is printed by the run itself; the sweep costs 36 frames and zero ray traces.  Both rigs run the same demo (v1 49.8 s, v2 47.0 s wall) — the committed beat figures stand in if a live beat stalls.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 coronagraph testbed, end to end</a:t>
            </a:r>
          </a:p>
          <a:p>
            <a:pPr>
              <a:spcAft>
                <a:spcPts val="0"/>
              </a:spcAft>
            </a:pPr>
            <a:r>
              <a:rPr sz="1250" b="0">
                <a:solidFill>
                  <a:srgbClr val="6E6E6E"/>
                </a:solidFill>
                <a:latin typeface="Arial"/>
              </a:rPr>
              <a:t>Six mask families from the literature, scored on one footing — validated against PROPER station by station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full testbed model — off-axis parabolas, focal-plane masks, Lyot stop, two 32×32-actuator deformable mirrors — every mask generated at 8× sub-pixel resolution and binned to the model grid.</a:t>
            </a:r>
          </a:p>
          <a:p>
            <a:pPr>
              <a:spcAft>
                <a:spcPts val="600"/>
              </a:spcAft>
            </a:pPr>
            <a:r>
              <a:rPr sz="1600" b="0">
                <a:solidFill>
                  <a:srgbClr val="282828"/>
                </a:solidFill>
                <a:latin typeface="Arial"/>
              </a:rPr>
              <a:t>•  Validated externally: a pure-PROPER run reads only the exported planes — no macos anywhere — and reproduces the bare image at correlation 1.000000, forming the same dark zone.</a:t>
            </a:r>
          </a:p>
        </p:txBody>
      </p:sp>
      <p:graphicFrame>
        <p:nvGraphicFramePr>
          <p:cNvPr id="5" name="Table 4"/>
          <p:cNvGraphicFramePr>
            <a:graphicFrameLocks noGrp="1"/>
          </p:cNvGraphicFramePr>
          <p:nvPr/>
        </p:nvGraphicFramePr>
        <p:xfrm>
          <a:off x="411480" y="3849624"/>
          <a:ext cx="5806439" cy="1680210"/>
        </p:xfrm>
        <a:graphic>
          <a:graphicData uri="http://schemas.openxmlformats.org/drawingml/2006/table">
            <a:tbl>
              <a:tblPr firstRow="1" bandRow="1">
                <a:tableStyleId>{5C22544A-7EE6-4342-B048-85BDC9FD1C3A}</a:tableStyleId>
              </a:tblPr>
              <a:tblGrid>
                <a:gridCol w="3770375"/>
                <a:gridCol w="1163320"/>
                <a:gridCol w="872744"/>
              </a:tblGrid>
              <a:tr h="280035">
                <a:tc>
                  <a:txBody>
                    <a:bodyPr wrap="square"/>
                    <a:lstStyle/>
                    <a:p>
                      <a:r>
                        <a:rPr sz="1100" b="1">
                          <a:solidFill>
                            <a:srgbClr val="FFFFFF"/>
                          </a:solidFill>
                          <a:latin typeface="Arial"/>
                        </a:rPr>
                        <a:t>mask (static, no control)</a:t>
                      </a:r>
                    </a:p>
                  </a:txBody>
                  <a:tcPr marL="54864" marR="54864" marT="18288" marB="18288">
                    <a:solidFill>
                      <a:srgbClr val="1F4E79"/>
                    </a:solidFill>
                  </a:tcPr>
                </a:tc>
                <a:tc>
                  <a:txBody>
                    <a:bodyPr wrap="square"/>
                    <a:lstStyle/>
                    <a:p>
                      <a:r>
                        <a:rPr sz="1100" b="1">
                          <a:solidFill>
                            <a:srgbClr val="FFFFFF"/>
                          </a:solidFill>
                          <a:latin typeface="Arial"/>
                        </a:rPr>
                        <a:t>dark-zone mean</a:t>
                      </a:r>
                    </a:p>
                  </a:txBody>
                  <a:tcPr marL="54864" marR="54864" marT="18288" marB="18288">
                    <a:solidFill>
                      <a:srgbClr val="1F4E79"/>
                    </a:solidFill>
                  </a:tcPr>
                </a:tc>
                <a:tc>
                  <a:txBody>
                    <a:bodyPr wrap="square"/>
                    <a:lstStyle/>
                    <a:p>
                      <a:r>
                        <a:rPr sz="1100" b="1">
                          <a:solidFill>
                            <a:srgbClr val="FFFFFF"/>
                          </a:solidFill>
                          <a:latin typeface="Arial"/>
                        </a:rPr>
                        <a:t>throughput</a:t>
                      </a:r>
                    </a:p>
                  </a:txBody>
                  <a:tcPr marL="54864" marR="54864" marT="18288" marB="18288">
                    <a:solidFill>
                      <a:srgbClr val="1F4E79"/>
                    </a:solidFill>
                  </a:tcPr>
                </a:tc>
              </a:tr>
              <a:tr h="280035">
                <a:tc>
                  <a:txBody>
                    <a:bodyPr wrap="square"/>
                    <a:lstStyle/>
                    <a:p>
                      <a:r>
                        <a:rPr sz="1100" b="0">
                          <a:solidFill>
                            <a:srgbClr val="282828"/>
                          </a:solidFill>
                          <a:latin typeface="Arial"/>
                        </a:rPr>
                        <a:t>apodized-pupil Lyot (prolate)</a:t>
                      </a:r>
                    </a:p>
                  </a:txBody>
                  <a:tcPr marL="54864" marR="54864" marT="18288" marB="18288">
                    <a:solidFill>
                      <a:srgbClr val="FFFFFF"/>
                    </a:solidFill>
                  </a:tcPr>
                </a:tc>
                <a:tc>
                  <a:txBody>
                    <a:bodyPr wrap="square"/>
                    <a:lstStyle/>
                    <a:p>
                      <a:r>
                        <a:rPr sz="1100" b="0">
                          <a:solidFill>
                            <a:srgbClr val="282828"/>
                          </a:solidFill>
                          <a:latin typeface="Arial"/>
                        </a:rPr>
                        <a:t>2.1×10⁻¹⁰</a:t>
                      </a:r>
                    </a:p>
                  </a:txBody>
                  <a:tcPr marL="54864" marR="54864" marT="18288" marB="18288">
                    <a:solidFill>
                      <a:srgbClr val="FFFFFF"/>
                    </a:solidFill>
                  </a:tcPr>
                </a:tc>
                <a:tc>
                  <a:txBody>
                    <a:bodyPr wrap="square"/>
                    <a:lstStyle/>
                    <a:p>
                      <a:r>
                        <a:rPr sz="1100" b="0">
                          <a:solidFill>
                            <a:srgbClr val="282828"/>
                          </a:solidFill>
                          <a:latin typeface="Arial"/>
                        </a:rPr>
                        <a:t>27%</a:t>
                      </a:r>
                    </a:p>
                  </a:txBody>
                  <a:tcPr marL="54864" marR="54864" marT="18288" marB="18288">
                    <a:solidFill>
                      <a:srgbClr val="FFFFFF"/>
                    </a:solidFill>
                  </a:tcPr>
                </a:tc>
              </a:tr>
              <a:tr h="280035">
                <a:tc>
                  <a:txBody>
                    <a:bodyPr wrap="square"/>
                    <a:lstStyle/>
                    <a:p>
                      <a:r>
                        <a:rPr sz="1100" b="0">
                          <a:solidFill>
                            <a:srgbClr val="282828"/>
                          </a:solidFill>
                          <a:latin typeface="Arial"/>
                        </a:rPr>
                        <a:t>vortex, matched Lyot</a:t>
                      </a:r>
                    </a:p>
                  </a:txBody>
                  <a:tcPr marL="54864" marR="54864" marT="18288" marB="18288">
                    <a:solidFill>
                      <a:srgbClr val="ECF1F6"/>
                    </a:solidFill>
                  </a:tcPr>
                </a:tc>
                <a:tc>
                  <a:txBody>
                    <a:bodyPr wrap="square"/>
                    <a:lstStyle/>
                    <a:p>
                      <a:r>
                        <a:rPr sz="1100" b="0">
                          <a:solidFill>
                            <a:srgbClr val="282828"/>
                          </a:solidFill>
                          <a:latin typeface="Arial"/>
                        </a:rPr>
                        <a:t>1.4×10⁻⁸</a:t>
                      </a:r>
                    </a:p>
                  </a:txBody>
                  <a:tcPr marL="54864" marR="54864" marT="18288" marB="18288">
                    <a:solidFill>
                      <a:srgbClr val="ECF1F6"/>
                    </a:solidFill>
                  </a:tcPr>
                </a:tc>
                <a:tc>
                  <a:txBody>
                    <a:bodyPr wrap="square"/>
                    <a:lstStyle/>
                    <a:p>
                      <a:r>
                        <a:rPr sz="1100" b="0">
                          <a:solidFill>
                            <a:srgbClr val="282828"/>
                          </a:solidFill>
                          <a:latin typeface="Arial"/>
                        </a:rPr>
                        <a:t>81%</a:t>
                      </a:r>
                    </a:p>
                  </a:txBody>
                  <a:tcPr marL="54864" marR="54864" marT="18288" marB="18288">
                    <a:solidFill>
                      <a:srgbClr val="ECF1F6"/>
                    </a:solidFill>
                  </a:tcPr>
                </a:tc>
              </a:tr>
              <a:tr h="280035">
                <a:tc>
                  <a:txBody>
                    <a:bodyPr wrap="square"/>
                    <a:lstStyle/>
                    <a:p>
                      <a:r>
                        <a:rPr sz="1100" b="0">
                          <a:solidFill>
                            <a:srgbClr val="282828"/>
                          </a:solidFill>
                          <a:latin typeface="Arial"/>
                        </a:rPr>
                        <a:t>band-limited (4th order)</a:t>
                      </a:r>
                    </a:p>
                  </a:txBody>
                  <a:tcPr marL="54864" marR="54864" marT="18288" marB="18288">
                    <a:solidFill>
                      <a:srgbClr val="FFFFFF"/>
                    </a:solidFill>
                  </a:tcPr>
                </a:tc>
                <a:tc>
                  <a:txBody>
                    <a:bodyPr wrap="square"/>
                    <a:lstStyle/>
                    <a:p>
                      <a:r>
                        <a:rPr sz="1100" b="0">
                          <a:solidFill>
                            <a:srgbClr val="282828"/>
                          </a:solidFill>
                          <a:latin typeface="Arial"/>
                        </a:rPr>
                        <a:t>2.7×10⁻⁸</a:t>
                      </a:r>
                    </a:p>
                  </a:txBody>
                  <a:tcPr marL="54864" marR="54864" marT="18288" marB="18288">
                    <a:solidFill>
                      <a:srgbClr val="FFFFFF"/>
                    </a:solidFill>
                  </a:tcPr>
                </a:tc>
                <a:tc>
                  <a:txBody>
                    <a:bodyPr wrap="square"/>
                    <a:lstStyle/>
                    <a:p>
                      <a:r>
                        <a:rPr sz="1100" b="0">
                          <a:solidFill>
                            <a:srgbClr val="282828"/>
                          </a:solidFill>
                          <a:latin typeface="Arial"/>
                        </a:rPr>
                        <a:t>36%</a:t>
                      </a:r>
                    </a:p>
                  </a:txBody>
                  <a:tcPr marL="54864" marR="54864" marT="18288" marB="18288">
                    <a:solidFill>
                      <a:srgbClr val="FFFFFF"/>
                    </a:solidFill>
                  </a:tcPr>
                </a:tc>
              </a:tr>
              <a:tr h="280035">
                <a:tc>
                  <a:txBody>
                    <a:bodyPr wrap="square"/>
                    <a:lstStyle/>
                    <a:p>
                      <a:r>
                        <a:rPr sz="1100" b="0">
                          <a:solidFill>
                            <a:srgbClr val="282828"/>
                          </a:solidFill>
                          <a:latin typeface="Arial"/>
                        </a:rPr>
                        <a:t>hard occulter</a:t>
                      </a:r>
                    </a:p>
                  </a:txBody>
                  <a:tcPr marL="54864" marR="54864" marT="18288" marB="18288">
                    <a:solidFill>
                      <a:srgbClr val="ECF1F6"/>
                    </a:solidFill>
                  </a:tcPr>
                </a:tc>
                <a:tc>
                  <a:txBody>
                    <a:bodyPr wrap="square"/>
                    <a:lstStyle/>
                    <a:p>
                      <a:r>
                        <a:rPr sz="1100" b="0">
                          <a:solidFill>
                            <a:srgbClr val="282828"/>
                          </a:solidFill>
                          <a:latin typeface="Arial"/>
                        </a:rPr>
                        <a:t>2.5×10⁻⁷</a:t>
                      </a:r>
                    </a:p>
                  </a:txBody>
                  <a:tcPr marL="54864" marR="54864" marT="18288" marB="18288">
                    <a:solidFill>
                      <a:srgbClr val="ECF1F6"/>
                    </a:solidFill>
                  </a:tcPr>
                </a:tc>
                <a:tc>
                  <a:txBody>
                    <a:bodyPr wrap="square"/>
                    <a:lstStyle/>
                    <a:p>
                      <a:r>
                        <a:rPr sz="1100" b="0">
                          <a:solidFill>
                            <a:srgbClr val="282828"/>
                          </a:solidFill>
                          <a:latin typeface="Arial"/>
                        </a:rPr>
                        <a:t>25%</a:t>
                      </a:r>
                    </a:p>
                  </a:txBody>
                  <a:tcPr marL="54864" marR="54864" marT="18288" marB="18288">
                    <a:solidFill>
                      <a:srgbClr val="ECF1F6"/>
                    </a:solidFill>
                  </a:tcPr>
                </a:tc>
              </a:tr>
              <a:tr h="280035">
                <a:tc>
                  <a:txBody>
                    <a:bodyPr wrap="square"/>
                    <a:lstStyle/>
                    <a:p>
                      <a:r>
                        <a:rPr sz="1100" b="0">
                          <a:solidFill>
                            <a:srgbClr val="282828"/>
                          </a:solidFill>
                          <a:latin typeface="Arial"/>
                        </a:rPr>
                        <a:t>Roddier π-mask</a:t>
                      </a:r>
                    </a:p>
                  </a:txBody>
                  <a:tcPr marL="54864" marR="54864" marT="18288" marB="18288">
                    <a:solidFill>
                      <a:srgbClr val="FFFFFF"/>
                    </a:solidFill>
                  </a:tcPr>
                </a:tc>
                <a:tc>
                  <a:txBody>
                    <a:bodyPr wrap="square"/>
                    <a:lstStyle/>
                    <a:p>
                      <a:r>
                        <a:rPr sz="1100" b="0">
                          <a:solidFill>
                            <a:srgbClr val="282828"/>
                          </a:solidFill>
                          <a:latin typeface="Arial"/>
                        </a:rPr>
                        <a:t>2.4×10⁻⁶</a:t>
                      </a:r>
                    </a:p>
                  </a:txBody>
                  <a:tcPr marL="54864" marR="54864" marT="18288" marB="18288">
                    <a:solidFill>
                      <a:srgbClr val="FFFFFF"/>
                    </a:solidFill>
                  </a:tcPr>
                </a:tc>
                <a:tc>
                  <a:txBody>
                    <a:bodyPr wrap="square"/>
                    <a:lstStyle/>
                    <a:p>
                      <a:r>
                        <a:rPr sz="1100" b="0">
                          <a:solidFill>
                            <a:srgbClr val="282828"/>
                          </a:solidFill>
                          <a:latin typeface="Arial"/>
                        </a:rPr>
                        <a:t>81%</a:t>
                      </a:r>
                    </a:p>
                  </a:txBody>
                  <a:tcPr marL="54864" marR="54864" marT="18288" marB="18288">
                    <a:solidFill>
                      <a:srgbClr val="FFFFFF"/>
                    </a:solidFill>
                  </a:tcPr>
                </a:tc>
              </a:tr>
            </a:tbl>
          </a:graphicData>
        </a:graphic>
      </p:graphicFrame>
      <p:pic>
        <p:nvPicPr>
          <p:cNvPr id="6" name="Picture 5" descr="ctb_train_render.png"/>
          <p:cNvPicPr>
            <a:picLocks noChangeAspect="1"/>
          </p:cNvPicPr>
          <p:nvPr/>
        </p:nvPicPr>
        <p:blipFill>
          <a:blip r:embed="rId2"/>
          <a:stretch>
            <a:fillRect/>
          </a:stretch>
        </p:blipFill>
        <p:spPr>
          <a:xfrm>
            <a:off x="7086600" y="1261872"/>
            <a:ext cx="4297680" cy="1362456"/>
          </a:xfrm>
          <a:prstGeom prst="rect">
            <a:avLst/>
          </a:prstGeom>
        </p:spPr>
      </p:pic>
      <p:sp>
        <p:nvSpPr>
          <p:cNvPr id="7" name="TextBox 6"/>
          <p:cNvSpPr txBox="1"/>
          <p:nvPr/>
        </p:nvSpPr>
        <p:spPr>
          <a:xfrm>
            <a:off x="6400800" y="2706624"/>
            <a:ext cx="5394960" cy="394208"/>
          </a:xfrm>
          <a:prstGeom prst="rect">
            <a:avLst/>
          </a:prstGeom>
          <a:noFill/>
        </p:spPr>
        <p:txBody>
          <a:bodyPr wrap="square">
            <a:spAutoFit/>
          </a:bodyPr>
          <a:lstStyle/>
          <a:p>
            <a:pPr algn="ctr">
              <a:spcAft>
                <a:spcPts val="0"/>
              </a:spcAft>
            </a:pPr>
            <a:r>
              <a:rPr sz="1000" b="0">
                <a:solidFill>
                  <a:srgbClr val="6E6E6E"/>
                </a:solidFill>
                <a:latin typeface="Arial"/>
              </a:rPr>
              <a:t>The bench: the real-ray layout of the full model — source, DMs, OAP relays, apodizer, focal-plane mask, Lyot stop, camera.</a:t>
            </a:r>
          </a:p>
        </p:txBody>
      </p:sp>
      <p:pic>
        <p:nvPicPr>
          <p:cNvPr id="8" name="Picture 7" descr="ctb_mask_compare.png"/>
          <p:cNvPicPr>
            <a:picLocks noChangeAspect="1"/>
          </p:cNvPicPr>
          <p:nvPr/>
        </p:nvPicPr>
        <p:blipFill>
          <a:blip r:embed="rId3"/>
          <a:stretch>
            <a:fillRect/>
          </a:stretch>
        </p:blipFill>
        <p:spPr>
          <a:xfrm>
            <a:off x="6629400" y="3118104"/>
            <a:ext cx="4736592" cy="2542032"/>
          </a:xfrm>
          <a:prstGeom prst="rect">
            <a:avLst/>
          </a:prstGeom>
        </p:spPr>
      </p:pic>
      <p:sp>
        <p:nvSpPr>
          <p:cNvPr id="9" name="TextBox 8"/>
          <p:cNvSpPr txBox="1"/>
          <p:nvPr/>
        </p:nvSpPr>
        <p:spPr>
          <a:xfrm>
            <a:off x="6400800" y="5614416"/>
            <a:ext cx="5394960" cy="559307"/>
          </a:xfrm>
          <a:prstGeom prst="rect">
            <a:avLst/>
          </a:prstGeom>
          <a:noFill/>
        </p:spPr>
        <p:txBody>
          <a:bodyPr wrap="square">
            <a:spAutoFit/>
          </a:bodyPr>
          <a:lstStyle/>
          <a:p>
            <a:pPr algn="ctr">
              <a:spcAft>
                <a:spcPts val="0"/>
              </a:spcAft>
            </a:pPr>
            <a:r>
              <a:rPr sz="1000" b="0">
                <a:solidFill>
                  <a:srgbClr val="6E6E6E"/>
                </a:solidFill>
                <a:latin typeface="Arial"/>
              </a:rPr>
              <a:t>Contrast against throughput for the mask families, static — lower-right is better: the apodized-pupil Lyot deepest, the pixel-averaged vortex second at three times its throughput.</a:t>
            </a:r>
          </a:p>
        </p:txBody>
      </p:sp>
      <p:sp>
        <p:nvSpPr>
          <p:cNvPr id="10" name="TextBox 9"/>
          <p:cNvSpPr txBox="1"/>
          <p:nvPr/>
        </p:nvSpPr>
        <p:spPr>
          <a:xfrm>
            <a:off x="6400800" y="6071616"/>
            <a:ext cx="5394960" cy="274320"/>
          </a:xfrm>
          <a:prstGeom prst="rect">
            <a:avLst/>
          </a:prstGeom>
          <a:noFill/>
        </p:spPr>
        <p:txBody>
          <a:bodyPr wrap="square">
            <a:spAutoFit/>
          </a:bodyPr>
          <a:lstStyle/>
          <a:p>
            <a:pPr>
              <a:spcAft>
                <a:spcPts val="600"/>
              </a:spcAft>
            </a:pPr>
            <a:r>
              <a:rPr sz="1050" b="0">
                <a:solidFill>
                  <a:srgbClr val="6E6E6E"/>
                </a:solidFill>
                <a:latin typeface="Arial"/>
              </a:rPr>
              <a:t>Dark zone 3–15 λ/D, one grid, one normalization throughout; every mask formula taken from its source paper.  Record: templates/30_instruments/bench_ctb.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vortex against the Lyot stop</a:t>
            </a:r>
          </a:p>
          <a:p>
            <a:pPr>
              <a:spcAft>
                <a:spcPts val="0"/>
              </a:spcAft>
            </a:pPr>
            <a:r>
              <a:rPr sz="1250" b="0">
                <a:solidFill>
                  <a:srgbClr val="6E6E6E"/>
                </a:solidFill>
                <a:latin typeface="Arial"/>
              </a:rPr>
              <a:t>Charge 4 under-runs every fixed design at every throughput: 8.8×10⁻¹¹ at the band-limited mask's own 36%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303520" cy="274320"/>
          </a:xfrm>
          <a:prstGeom prst="rect">
            <a:avLst/>
          </a:prstGeom>
          <a:noFill/>
        </p:spPr>
        <p:txBody>
          <a:bodyPr wrap="square">
            <a:spAutoFit/>
          </a:bodyPr>
          <a:lstStyle/>
          <a:p>
            <a:pPr>
              <a:spcAft>
                <a:spcPts val="600"/>
              </a:spcAft>
            </a:pPr>
            <a:r>
              <a:rPr sz="1800" b="0">
                <a:solidFill>
                  <a:srgbClr val="282828"/>
                </a:solidFill>
                <a:latin typeface="Arial"/>
              </a:rPr>
              <a:t>•  One mask, one dial: the vortex phase is fixed; only the Lyot stop fraction moves — a genuine depth-for-throughput dial, where each fixed design is a single point.</a:t>
            </a:r>
          </a:p>
          <a:p>
            <a:pPr>
              <a:spcAft>
                <a:spcPts val="600"/>
              </a:spcAft>
            </a:pPr>
            <a:r>
              <a:rPr sz="1800" b="0">
                <a:solidFill>
                  <a:srgbClr val="282828"/>
                </a:solidFill>
                <a:latin typeface="Arial"/>
              </a:rPr>
              <a:t>•  Readings from the curve: at the apodized-pupil Lyot's operating point, charge 4 is deeper (8.8×10⁻¹¹ vs 2.1×10⁻¹⁰) at more throughput (36% vs 27%) — with no apodizer to fabricate.  At 81% throughput it still holds 8.0×10⁻⁹.</a:t>
            </a:r>
          </a:p>
          <a:p>
            <a:pPr>
              <a:spcAft>
                <a:spcPts val="600"/>
              </a:spcAft>
            </a:pPr>
            <a:r>
              <a:rPr sz="1800" b="0">
                <a:solidFill>
                  <a:srgbClr val="282828"/>
                </a:solidFill>
                <a:latin typeface="Arial"/>
              </a:rPr>
              <a:t>•  Charge 4 runs ~4× deeper than charge 6 at every stop; the useful dial range is 0.50–0.90 — past 0.90 the rejected-starlight ring arrives inside the stop.</a:t>
            </a:r>
          </a:p>
        </p:txBody>
      </p:sp>
      <p:pic>
        <p:nvPicPr>
          <p:cNvPr id="5" name="Picture 4" descr="ctb_vortex_lyot_sweep.png"/>
          <p:cNvPicPr>
            <a:picLocks noChangeAspect="1"/>
          </p:cNvPicPr>
          <p:nvPr/>
        </p:nvPicPr>
        <p:blipFill>
          <a:blip r:embed="rId2"/>
          <a:stretch>
            <a:fillRect/>
          </a:stretch>
        </p:blipFill>
        <p:spPr>
          <a:xfrm>
            <a:off x="5934456" y="1353312"/>
            <a:ext cx="5943600" cy="4133087"/>
          </a:xfrm>
          <a:prstGeom prst="rect">
            <a:avLst/>
          </a:prstGeom>
        </p:spPr>
      </p:pic>
      <p:sp>
        <p:nvSpPr>
          <p:cNvPr id="6" name="TextBox 5"/>
          <p:cNvSpPr txBox="1"/>
          <p:nvPr/>
        </p:nvSpPr>
        <p:spPr>
          <a:xfrm>
            <a:off x="6400800" y="5596128"/>
            <a:ext cx="5394960" cy="394208"/>
          </a:xfrm>
          <a:prstGeom prst="rect">
            <a:avLst/>
          </a:prstGeom>
          <a:noFill/>
        </p:spPr>
        <p:txBody>
          <a:bodyPr wrap="square">
            <a:spAutoFit/>
          </a:bodyPr>
          <a:lstStyle/>
          <a:p>
            <a:pPr algn="ctr">
              <a:spcAft>
                <a:spcPts val="0"/>
              </a:spcAft>
            </a:pPr>
            <a:r>
              <a:rPr sz="1000" b="0">
                <a:solidFill>
                  <a:srgbClr val="6E6E6E"/>
                </a:solidFill>
                <a:latin typeface="Arial"/>
              </a:rPr>
              <a:t>Dark-zone mean contrast against throughput: the swept charge-4 vortex (labels = Lyot fraction) against the fixed designs, on the same footing.</a:t>
            </a:r>
          </a:p>
        </p:txBody>
      </p:sp>
      <p:sp>
        <p:nvSpPr>
          <p:cNvPr id="7" name="TextBox 6"/>
          <p:cNvSpPr txBox="1"/>
          <p:nvPr/>
        </p:nvSpPr>
        <p:spPr>
          <a:xfrm>
            <a:off x="6400800" y="6025896"/>
            <a:ext cx="5394960" cy="274320"/>
          </a:xfrm>
          <a:prstGeom prst="rect">
            <a:avLst/>
          </a:prstGeom>
          <a:noFill/>
        </p:spPr>
        <p:txBody>
          <a:bodyPr wrap="square">
            <a:spAutoFit/>
          </a:bodyPr>
          <a:lstStyle/>
          <a:p>
            <a:pPr>
              <a:spcAft>
                <a:spcPts val="600"/>
              </a:spcAft>
            </a:pPr>
            <a:r>
              <a:rPr sz="1050" b="0">
                <a:solidFill>
                  <a:srgbClr val="6E6E6E"/>
                </a:solidFill>
                <a:latin typeface="Arial"/>
              </a:rPr>
              <a:t>Same grid, annulus and normalization as the head-to-head; fixed-design markers read from the committed comparison, not re-scored.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mirrors close the loop</a:t>
            </a:r>
          </a:p>
          <a:p>
            <a:pPr>
              <a:spcAft>
                <a:spcPts val="0"/>
              </a:spcAft>
            </a:pPr>
            <a:r>
              <a:rPr sz="1250" b="0">
                <a:solidFill>
                  <a:srgbClr val="6E6E6E"/>
                </a:solidFill>
                <a:latin typeface="Arial"/>
              </a:rPr>
              <a:t>On the vortex chain: 1.7×10⁻⁸ → 6.8×10⁻¹⁵ — nothing left that the mirrors cannot remove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074920" cy="274320"/>
          </a:xfrm>
          <a:prstGeom prst="rect">
            <a:avLst/>
          </a:prstGeom>
          <a:noFill/>
        </p:spPr>
        <p:txBody>
          <a:bodyPr wrap="square">
            <a:spAutoFit/>
          </a:bodyPr>
          <a:lstStyle/>
          <a:p>
            <a:pPr>
              <a:spcAft>
                <a:spcPts val="600"/>
              </a:spcAft>
            </a:pPr>
            <a:r>
              <a:rPr sz="1500" b="0">
                <a:solidFill>
                  <a:srgbClr val="282828"/>
                </a:solidFill>
                <a:latin typeface="Arial"/>
              </a:rPr>
              <a:t>•  The control matrix is measured, not modeled: every actuator poked and propagated through the full masked chain, so the correction solve has no model error to exploit; each iteration re-propagates and scores the measured contrast.</a:t>
            </a:r>
          </a:p>
          <a:p>
            <a:pPr>
              <a:spcAft>
                <a:spcPts val="600"/>
              </a:spcAft>
            </a:pPr>
            <a:r>
              <a:rPr sz="1500" b="0">
                <a:solidFill>
                  <a:srgbClr val="282828"/>
                </a:solidFill>
                <a:latin typeface="Arial"/>
              </a:rPr>
              <a:t>•  Two chains, two kinds of floor: the hard occulter stops at 3.8×10⁻⁹ — physics, occulter-edge diffraction the mirrors cannot represent; the charge-4 vortex chain reaches 6.8×10⁻¹⁵ at half-nanometer strokes — the model's own double-precision floor.</a:t>
            </a:r>
          </a:p>
          <a:p>
            <a:pPr>
              <a:spcAft>
                <a:spcPts val="600"/>
              </a:spcAft>
            </a:pPr>
            <a:r>
              <a:rPr sz="1500" b="0">
                <a:solidFill>
                  <a:srgbClr val="282828"/>
                </a:solidFill>
                <a:latin typeface="Arial"/>
              </a:rPr>
              <a:t>•  The physics layers, measured: the coated train's polarization floor rides flat at 1.1×10⁻¹⁵ at every bandwidth (a state change, not an aberration); the chromatic floor grows gently when control sampling matches the band — 8×10⁻¹³ mono to 5.4×10⁻¹¹ at a 20% band.</a:t>
            </a:r>
          </a:p>
          <a:p>
            <a:pPr>
              <a:spcAft>
                <a:spcPts val="600"/>
              </a:spcAft>
            </a:pPr>
            <a:r>
              <a:rPr sz="1500" b="0">
                <a:solidFill>
                  <a:srgbClr val="282828"/>
                </a:solidFill>
                <a:latin typeface="Arial"/>
              </a:rPr>
              <a:t>•  The vector-vortex verdict: the zero-order plate's retardance leak is uncorrectable by any mirror but optically removable — a circular polarizer sandwich returns to the scalar floor under per-λ control; a crossed-linear sandwich goes decades deeper on the star, at the price of eight planet blind spots.</a:t>
            </a:r>
          </a:p>
        </p:txBody>
      </p:sp>
      <p:pic>
        <p:nvPicPr>
          <p:cNvPr id="5" name="Picture 4" descr="ctb_efc_vortex.png"/>
          <p:cNvPicPr>
            <a:picLocks noChangeAspect="1"/>
          </p:cNvPicPr>
          <p:nvPr/>
        </p:nvPicPr>
        <p:blipFill>
          <a:blip r:embed="rId2"/>
          <a:stretch>
            <a:fillRect/>
          </a:stretch>
        </p:blipFill>
        <p:spPr>
          <a:xfrm>
            <a:off x="5641848" y="1298448"/>
            <a:ext cx="6464808" cy="1444752"/>
          </a:xfrm>
          <a:prstGeom prst="rect">
            <a:avLst/>
          </a:prstGeom>
        </p:spPr>
      </p:pic>
      <p:sp>
        <p:nvSpPr>
          <p:cNvPr id="6" name="TextBox 5"/>
          <p:cNvSpPr txBox="1"/>
          <p:nvPr/>
        </p:nvSpPr>
        <p:spPr>
          <a:xfrm>
            <a:off x="5486400" y="2807208"/>
            <a:ext cx="6309360" cy="394208"/>
          </a:xfrm>
          <a:prstGeom prst="rect">
            <a:avLst/>
          </a:prstGeom>
          <a:noFill/>
        </p:spPr>
        <p:txBody>
          <a:bodyPr wrap="square">
            <a:spAutoFit/>
          </a:bodyPr>
          <a:lstStyle/>
          <a:p>
            <a:pPr algn="ctr">
              <a:spcAft>
                <a:spcPts val="0"/>
              </a:spcAft>
            </a:pPr>
            <a:r>
              <a:rPr sz="1000" b="0">
                <a:solidFill>
                  <a:srgbClr val="6E6E6E"/>
                </a:solidFill>
                <a:latin typeface="Arial"/>
              </a:rPr>
              <a:t>The vortex-chain dark hole: before and after (color floor 10⁻¹⁴), convergence, and the command maps.</a:t>
            </a:r>
          </a:p>
        </p:txBody>
      </p:sp>
      <p:pic>
        <p:nvPicPr>
          <p:cNvPr id="7" name="Picture 6" descr="ctb_vortex_bandwidth.png"/>
          <p:cNvPicPr>
            <a:picLocks noChangeAspect="1"/>
          </p:cNvPicPr>
          <p:nvPr/>
        </p:nvPicPr>
        <p:blipFill>
          <a:blip r:embed="rId3"/>
          <a:stretch>
            <a:fillRect/>
          </a:stretch>
        </p:blipFill>
        <p:spPr>
          <a:xfrm>
            <a:off x="7086600" y="3136392"/>
            <a:ext cx="3557016" cy="2642616"/>
          </a:xfrm>
          <a:prstGeom prst="rect">
            <a:avLst/>
          </a:prstGeom>
        </p:spPr>
      </p:pic>
      <p:sp>
        <p:nvSpPr>
          <p:cNvPr id="8" name="TextBox 7"/>
          <p:cNvSpPr txBox="1"/>
          <p:nvPr/>
        </p:nvSpPr>
        <p:spPr>
          <a:xfrm>
            <a:off x="5742432" y="5769864"/>
            <a:ext cx="6300216" cy="229107"/>
          </a:xfrm>
          <a:prstGeom prst="rect">
            <a:avLst/>
          </a:prstGeom>
          <a:noFill/>
        </p:spPr>
        <p:txBody>
          <a:bodyPr wrap="square">
            <a:spAutoFit/>
          </a:bodyPr>
          <a:lstStyle/>
          <a:p>
            <a:pPr algn="ctr">
              <a:spcAft>
                <a:spcPts val="0"/>
              </a:spcAft>
            </a:pPr>
            <a:r>
              <a:rPr sz="1000" b="0">
                <a:solidFill>
                  <a:srgbClr val="6E6E6E"/>
                </a:solidFill>
                <a:latin typeface="Arial"/>
              </a:rPr>
              <a:t>The bandwidth map: static, closed-loop floor, and the flat polarization floor at each band.</a:t>
            </a:r>
          </a:p>
        </p:txBody>
      </p:sp>
      <p:sp>
        <p:nvSpPr>
          <p:cNvPr id="9" name="TextBox 8"/>
          <p:cNvSpPr txBox="1"/>
          <p:nvPr/>
        </p:nvSpPr>
        <p:spPr>
          <a:xfrm>
            <a:off x="5751576" y="5989320"/>
            <a:ext cx="6300216" cy="274320"/>
          </a:xfrm>
          <a:prstGeom prst="rect">
            <a:avLst/>
          </a:prstGeom>
          <a:noFill/>
        </p:spPr>
        <p:txBody>
          <a:bodyPr wrap="square">
            <a:spAutoFit/>
          </a:bodyPr>
          <a:lstStyle/>
          <a:p>
            <a:pPr>
              <a:spcAft>
                <a:spcPts val="600"/>
              </a:spcAft>
            </a:pPr>
            <a:r>
              <a:rPr sz="1050" b="0">
                <a:solidFill>
                  <a:srgbClr val="6E6E6E"/>
                </a:solidFill>
                <a:latin typeface="Arial"/>
              </a:rPr>
              <a:t>6.8×10⁻¹⁵ = dark-zone mean 3–15 λ/D, Strehl-normalized, monochromatic, noiseless sensing — the numerical floor of the noiseless model, not a hardware prediction.  Next layer of realism: camera-based sensing (pairwise probing), then FALCO driving the same DMs.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From the testbed to an observatory</a:t>
            </a:r>
          </a:p>
          <a:p>
            <a:pPr>
              <a:spcAft>
                <a:spcPts val="0"/>
              </a:spcAft>
            </a:pPr>
            <a:r>
              <a:rPr sz="1250" b="0">
                <a:solidFill>
                  <a:srgbClr val="6E6E6E"/>
                </a:solidFill>
                <a:latin typeface="Arial"/>
              </a:rPr>
              <a:t>The proven coronagraph modeling, carried onto a telescope designed for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testbed is where the models are built and proven; the same modeling then builds the flight-like system: an unobscured 6 m telescope from the design-layer templates — imaging leg and coronagraph leg, with the same DMs, apodizer, focal-plane mask and Lyot machinery — the telescope packaged to an 8 m launch shroud.</a:t>
            </a:r>
          </a:p>
          <a:p>
            <a:pPr>
              <a:spcAft>
                <a:spcPts val="600"/>
              </a:spcAft>
            </a:pPr>
            <a:r>
              <a:rPr sz="1500" b="0">
                <a:solidFill>
                  <a:srgbClr val="282828"/>
                </a:solidFill>
                <a:latin typeface="Arial"/>
              </a:rPr>
              <a:t>•  The coronagraph bench still needs packaging work: the body-in-beam gate built for challenge 2, run on this train, finds the bench nicking the M1–M2 beam and the DM pocket's folded legs overlapping.  In the days ahead: the gate joins the template's standing checks; the bench clocks and drops out of the trunk beam by re-posing its pickoff fold — an optical null; the pocket's fold angles open with a small re-solve, priced in wavefront; the train re-verifies end to end.</a:t>
            </a:r>
          </a:p>
        </p:txBody>
      </p:sp>
      <p:pic>
        <p:nvPicPr>
          <p:cNvPr id="5" name="Picture 4" descr="crop_r2_train_iso.png"/>
          <p:cNvPicPr>
            <a:picLocks noChangeAspect="1"/>
          </p:cNvPicPr>
          <p:nvPr/>
        </p:nvPicPr>
        <p:blipFill>
          <a:blip r:embed="rId2"/>
          <a:srcRect t="21300"/>
          <a:stretch>
            <a:fillRect/>
          </a:stretch>
        </p:blipFill>
        <p:spPr>
          <a:xfrm>
            <a:off x="996696" y="3008376"/>
            <a:ext cx="5175504" cy="2898648"/>
          </a:xfrm>
          <a:prstGeom prst="rect">
            <a:avLst/>
          </a:prstGeom>
        </p:spPr>
      </p:pic>
      <p:sp>
        <p:nvSpPr>
          <p:cNvPr id="6" name="TextBox 5"/>
          <p:cNvSpPr txBox="1"/>
          <p:nvPr/>
        </p:nvSpPr>
        <p:spPr>
          <a:xfrm>
            <a:off x="411480" y="5815584"/>
            <a:ext cx="5806440" cy="410718"/>
          </a:xfrm>
          <a:prstGeom prst="rect">
            <a:avLst/>
          </a:prstGeom>
          <a:noFill/>
        </p:spPr>
        <p:txBody>
          <a:bodyPr wrap="square">
            <a:spAutoFit/>
          </a:bodyPr>
          <a:lstStyle/>
          <a:p>
            <a:pPr algn="ctr">
              <a:spcAft>
                <a:spcPts val="0"/>
              </a:spcAft>
            </a:pPr>
            <a:r>
              <a:rPr sz="1050" b="0">
                <a:solidFill>
                  <a:srgbClr val="6E6E6E"/>
                </a:solidFill>
                <a:latin typeface="Arial"/>
              </a:rPr>
              <a:t>The full train, traced: the segmented 6 m primary feeding the DM-bearing back end — 37 elements across the two instrument legs.</a:t>
            </a:r>
          </a:p>
        </p:txBody>
      </p:sp>
      <p:sp>
        <p:nvSpPr>
          <p:cNvPr id="7" name="TextBox 6"/>
          <p:cNvSpPr txBox="1"/>
          <p:nvPr/>
        </p:nvSpPr>
        <p:spPr>
          <a:xfrm>
            <a:off x="411480" y="6245352"/>
            <a:ext cx="5806440" cy="274320"/>
          </a:xfrm>
          <a:prstGeom prst="rect">
            <a:avLst/>
          </a:prstGeom>
          <a:noFill/>
        </p:spPr>
        <p:txBody>
          <a:bodyPr wrap="square">
            <a:spAutoFit/>
          </a:bodyPr>
          <a:lstStyle/>
          <a:p>
            <a:pPr>
              <a:spcAft>
                <a:spcPts val="600"/>
              </a:spcAft>
            </a:pPr>
            <a:r>
              <a:rPr sz="1100" b="0">
                <a:solidFill>
                  <a:srgbClr val="6E6E6E"/>
                </a:solidFill>
                <a:latin typeface="Arial"/>
              </a:rPr>
              <a:t>The telescope is diffraction-limited at 500 nm (imaging-leg Strehl 0.9993).  Record: templates/80_end_to_end/e2e6m_r2.</a:t>
            </a:r>
          </a:p>
        </p:txBody>
      </p:sp>
      <p:pic>
        <p:nvPicPr>
          <p:cNvPr id="8" name="Picture 7" descr="r1_seg_d110_shroud.png"/>
          <p:cNvPicPr>
            <a:picLocks noChangeAspect="1"/>
          </p:cNvPicPr>
          <p:nvPr/>
        </p:nvPicPr>
        <p:blipFill>
          <a:blip r:embed="rId3"/>
          <a:stretch>
            <a:fillRect/>
          </a:stretch>
        </p:blipFill>
        <p:spPr>
          <a:xfrm>
            <a:off x="7406640" y="2971800"/>
            <a:ext cx="3895344" cy="2816352"/>
          </a:xfrm>
          <a:prstGeom prst="rect">
            <a:avLst/>
          </a:prstGeom>
        </p:spPr>
      </p:pic>
      <p:sp>
        <p:nvSpPr>
          <p:cNvPr id="9" name="TextBox 8"/>
          <p:cNvSpPr txBox="1"/>
          <p:nvPr/>
        </p:nvSpPr>
        <p:spPr>
          <a:xfrm>
            <a:off x="7406640" y="5806440"/>
            <a:ext cx="3895344" cy="394208"/>
          </a:xfrm>
          <a:prstGeom prst="rect">
            <a:avLst/>
          </a:prstGeom>
          <a:noFill/>
        </p:spPr>
        <p:txBody>
          <a:bodyPr wrap="square">
            <a:spAutoFit/>
          </a:bodyPr>
          <a:lstStyle/>
          <a:p>
            <a:pPr algn="ctr">
              <a:spcAft>
                <a:spcPts val="0"/>
              </a:spcAft>
            </a:pPr>
            <a:r>
              <a:rPr sz="1000" b="0">
                <a:solidFill>
                  <a:srgbClr val="6E6E6E"/>
                </a:solidFill>
                <a:latin typeface="Arial"/>
              </a:rPr>
              <a:t>End-on in the shroud: the hex-19 telescope and instrument legs — hardware union 7.451 m against the 8.0 m gate.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linear model: state to wavefront to control</a:t>
            </a:r>
          </a:p>
          <a:p>
            <a:pPr>
              <a:spcAft>
                <a:spcPts val="0"/>
              </a:spcAft>
            </a:pPr>
            <a:r>
              <a:rPr sz="1250" b="0">
                <a:solidFill>
                  <a:srgbClr val="6E6E6E"/>
                </a:solidFill>
                <a:latin typeface="Arial"/>
              </a:rPr>
              <a:t>Every matrix is measured from the engine, then closure-checked against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wavefront model:   w  =  w₀ + J·x,    J = [ ∂w/∂x   ∂w/∂z   ∂w/∂grid ]</a:t>
            </a:r>
          </a:p>
          <a:p>
            <a:pPr marL="594360" indent="-137160">
              <a:spcAft>
                <a:spcPts val="500"/>
              </a:spcAft>
            </a:pPr>
            <a:r>
              <a:rPr sz="1300" b="0">
                <a:solidFill>
                  <a:srgbClr val="6E6E6E"/>
                </a:solidFill>
                <a:latin typeface="Arial"/>
              </a:rPr>
              <a:t>–  x stacks rigid-body states (6 DOF per optic and per group), segment Zernike figure modes, and grid/actuator influences; J's columns are engine-measured pokes through the full train, per field — the three families on the following slides.</a:t>
            </a:r>
          </a:p>
          <a:p>
            <a:pPr>
              <a:spcAft>
                <a:spcPts val="600"/>
              </a:spcAft>
            </a:pPr>
            <a:r>
              <a:rPr sz="1500" b="0">
                <a:solidFill>
                  <a:srgbClr val="282828"/>
                </a:solidFill>
                <a:latin typeface="Arial"/>
              </a:rPr>
              <a:t>•  The metrology forward model:   m  =  [ ∂l/∂x ; ∂e/∂x ]·x + n</a:t>
            </a:r>
          </a:p>
          <a:p>
            <a:pPr marL="594360" indent="-137160">
              <a:spcAft>
                <a:spcPts val="500"/>
              </a:spcAft>
            </a:pPr>
            <a:r>
              <a:rPr sz="1300" b="0">
                <a:solidFill>
                  <a:srgbClr val="6E6E6E"/>
                </a:solidFill>
                <a:latin typeface="Arial"/>
              </a:rPr>
              <a:t>–  laser-gauge lengths l and edge-sensor gaps e; a sensor layout is scored by the control information it carries — minimize trace( J Px̂ Jᵀ ), the wavefront error the estimator leaves behind.</a:t>
            </a:r>
          </a:p>
          <a:p>
            <a:pPr>
              <a:spcAft>
                <a:spcPts val="600"/>
              </a:spcAft>
            </a:pPr>
            <a:r>
              <a:rPr sz="1500" b="0">
                <a:solidFill>
                  <a:srgbClr val="282828"/>
                </a:solidFill>
                <a:latin typeface="Arial"/>
              </a:rPr>
              <a:t>•  Actuators to states:   x  =  (∂x/∂u)·u ,   so   ∂w/∂u  =  J·(∂x/∂u)</a:t>
            </a:r>
          </a:p>
          <a:p>
            <a:pPr marL="594360" indent="-137160">
              <a:spcAft>
                <a:spcPts val="500"/>
              </a:spcAft>
            </a:pPr>
            <a:r>
              <a:rPr sz="1300" b="0">
                <a:solidFill>
                  <a:srgbClr val="6E6E6E"/>
                </a:solidFill>
                <a:latin typeface="Arial"/>
              </a:rPr>
              <a:t>–  Stewart-platform kinematics carry the actuator strokes u of each segment and of M2 into rigid-body states x; ∂w/∂u is the control Jacobian.</a:t>
            </a:r>
          </a:p>
          <a:p>
            <a:pPr>
              <a:spcAft>
                <a:spcPts val="600"/>
              </a:spcAft>
            </a:pPr>
            <a:r>
              <a:rPr sz="1500" b="0">
                <a:solidFill>
                  <a:srgbClr val="282828"/>
                </a:solidFill>
                <a:latin typeface="Arial"/>
              </a:rPr>
              <a:t>•  Control using wavefront measurements:   u  =  −(∂w/∂u)⁺·w</a:t>
            </a:r>
          </a:p>
          <a:p>
            <a:pPr marL="594360" indent="-137160">
              <a:spcAft>
                <a:spcPts val="500"/>
              </a:spcAft>
            </a:pPr>
            <a:r>
              <a:rPr sz="1300" b="0">
                <a:solidFill>
                  <a:srgbClr val="6E6E6E"/>
                </a:solidFill>
                <a:latin typeface="Arial"/>
              </a:rPr>
              <a:t>–  Wavefront sensing and control in one step, enveloping telescope initialization controls.</a:t>
            </a:r>
          </a:p>
          <a:p>
            <a:pPr>
              <a:spcAft>
                <a:spcPts val="600"/>
              </a:spcAft>
            </a:pPr>
            <a:r>
              <a:rPr sz="1500" b="0">
                <a:solidFill>
                  <a:srgbClr val="282828"/>
                </a:solidFill>
                <a:latin typeface="Arial"/>
              </a:rPr>
              <a:t>•  Estimation and control using metrology measurements:   x̂  =  ( HᵀWH + ρI )⁻¹ HᵀW·m ;    u  ←  u − g·(∂x/∂u)⁺·x̂</a:t>
            </a:r>
          </a:p>
          <a:p>
            <a:pPr marL="594360" indent="-137160">
              <a:spcAft>
                <a:spcPts val="500"/>
              </a:spcAft>
            </a:pPr>
            <a:r>
              <a:rPr sz="1300" b="0">
                <a:solidFill>
                  <a:srgbClr val="6E6E6E"/>
                </a:solidFill>
                <a:latin typeface="Arial"/>
              </a:rPr>
              <a:t>–  BLUE: weighted least squares with a ridge on the segment state; an integrator closes the rigid-body loop each frame.</a:t>
            </a:r>
          </a:p>
        </p:txBody>
      </p:sp>
      <p:sp>
        <p:nvSpPr>
          <p:cNvPr id="5" name="TextBox 4"/>
          <p:cNvSpPr txBox="1"/>
          <p:nvPr/>
        </p:nvSpPr>
        <p:spPr>
          <a:xfrm>
            <a:off x="411480" y="5628894"/>
            <a:ext cx="11368735" cy="274320"/>
          </a:xfrm>
          <a:prstGeom prst="rect">
            <a:avLst/>
          </a:prstGeom>
          <a:noFill/>
        </p:spPr>
        <p:txBody>
          <a:bodyPr wrap="square">
            <a:spAutoFit/>
          </a:bodyPr>
          <a:lstStyle/>
          <a:p>
            <a:pPr>
              <a:spcAft>
                <a:spcPts val="600"/>
              </a:spcAft>
            </a:pPr>
            <a:r>
              <a:rPr sz="1050" b="0">
                <a:solidFill>
                  <a:srgbClr val="6E6E6E"/>
                </a:solidFill>
                <a:latin typeface="Arial"/>
              </a:rPr>
              <a:t>Notation as in the code: run_sensitivities builds the J families; the MET stage scores layouts on the trace merit; the simulator runs the BLUE estimator and integrator — and jacobian_check re-pokes the engine against every J before it is trusted.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physical-optics model: wavefront to field to contrast</a:t>
            </a:r>
          </a:p>
          <a:p>
            <a:pPr>
              <a:spcAft>
                <a:spcPts val="0"/>
              </a:spcAft>
            </a:pPr>
            <a:r>
              <a:rPr sz="1250" b="0">
                <a:solidFill>
                  <a:srgbClr val="6E6E6E"/>
                </a:solidFill>
                <a:latin typeface="Arial"/>
              </a:rPr>
              <a:t>The same engine — every plane PROPER-checked, every coating checked against the Fresnel closed forms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From rays to fields:   E  =  A·e^(−i·2πw/λ)   at each pupil;   plane to plane   E′ = F⁻¹[ e^(−iπλΔz·f²) F[E] ] ;   to a focal plane   E_focal ∝ F[E]</a:t>
            </a:r>
          </a:p>
          <a:p>
            <a:pPr marL="594360" indent="-137160">
              <a:spcAft>
                <a:spcPts val="500"/>
              </a:spcAft>
            </a:pPr>
            <a:r>
              <a:rPr sz="1300" b="0">
                <a:solidFill>
                  <a:srgbClr val="6E6E6E"/>
                </a:solidFill>
                <a:latin typeface="Arial"/>
              </a:rPr>
              <a:t>–  the ray-traced OPD w and aperture A seed the grid; Fresnel / angular-spectrum kernels carry it through apodizer, focal-plane mask, Lyot stop and field stop — the masks act on the field, plane by plane.</a:t>
            </a:r>
          </a:p>
          <a:p>
            <a:pPr>
              <a:spcAft>
                <a:spcPts val="600"/>
              </a:spcAft>
            </a:pPr>
            <a:r>
              <a:rPr sz="1500" b="0">
                <a:solidFill>
                  <a:srgbClr val="282828"/>
                </a:solidFill>
                <a:latin typeface="Arial"/>
              </a:rPr>
              <a:t>•  The image and the score:   I = |E|² ;   contrast C = ⟨ I / I₀,peak ⟩ over the 3–15 λ/D dark zone</a:t>
            </a:r>
          </a:p>
          <a:p>
            <a:pPr marL="594360" indent="-137160">
              <a:spcAft>
                <a:spcPts val="500"/>
              </a:spcAft>
            </a:pPr>
            <a:r>
              <a:rPr sz="1300" b="0">
                <a:solidFill>
                  <a:srgbClr val="6E6E6E"/>
                </a:solidFill>
                <a:latin typeface="Arial"/>
              </a:rPr>
              <a:t>–  Strehl-normalized to the bare unmasked peak; one grid and one normalization for Jacobian, control and scoring.</a:t>
            </a:r>
          </a:p>
          <a:p>
            <a:pPr>
              <a:spcAft>
                <a:spcPts val="600"/>
              </a:spcAft>
            </a:pPr>
            <a:r>
              <a:rPr sz="1500" b="0">
                <a:solidFill>
                  <a:srgbClr val="282828"/>
                </a:solidFill>
                <a:latin typeface="Arial"/>
              </a:rPr>
              <a:t>•  The field Jacobian, from repeated propagations:   G(:,k) = [ E(a+δeₖ) − E(a) ] / δ   →   Δa = −( Re(GᴴG) + λI )⁻¹ Re(GᴴE)</a:t>
            </a:r>
          </a:p>
          <a:p>
            <a:pPr marL="594360" indent="-137160">
              <a:spcAft>
                <a:spcPts val="500"/>
              </a:spcAft>
            </a:pPr>
            <a:r>
              <a:rPr sz="1300" b="0">
                <a:solidFill>
                  <a:srgbClr val="6E6E6E"/>
                </a:solidFill>
                <a:latin typeface="Arial"/>
              </a:rPr>
              <a:t>–  every column is one full-chain propagation with actuator k poked; the EFC step is Tikhonov, line-searched against measured contrast — and re-linearized about the dug state as the hole deepens.</a:t>
            </a:r>
          </a:p>
          <a:p>
            <a:pPr>
              <a:spcAft>
                <a:spcPts val="600"/>
              </a:spcAft>
            </a:pPr>
            <a:r>
              <a:rPr sz="1500" b="0">
                <a:solidFill>
                  <a:srgbClr val="282828"/>
                </a:solidFill>
                <a:latin typeface="Arial"/>
              </a:rPr>
              <a:t>•  Polarization:   at each surface  E → ( r_s ŝŝᵀ + r_p p̂p̂ᵀ )·E  (multilayer coatings by the Airy recursion);  vector diffraction propagates Ex, Ey, Ez as three planes;  the Jones pupil J(u,v) yields diattenuation and retardance maps</a:t>
            </a:r>
          </a:p>
          <a:p>
            <a:pPr marL="594360" indent="-137160">
              <a:spcAft>
                <a:spcPts val="500"/>
              </a:spcAft>
            </a:pPr>
            <a:r>
              <a:rPr sz="1300" b="0">
                <a:solidFill>
                  <a:srgbClr val="6E6E6E"/>
                </a:solidFill>
                <a:latin typeface="Arial"/>
              </a:rPr>
              <a:t>–  the machinery behind the interferometer demo and the coated-train contrast floors.</a:t>
            </a:r>
          </a:p>
        </p:txBody>
      </p:sp>
      <p:sp>
        <p:nvSpPr>
          <p:cNvPr id="5" name="TextBox 4"/>
          <p:cNvSpPr txBox="1"/>
          <p:nvPr/>
        </p:nvSpPr>
        <p:spPr>
          <a:xfrm>
            <a:off x="411480" y="5427218"/>
            <a:ext cx="11368735" cy="274320"/>
          </a:xfrm>
          <a:prstGeom prst="rect">
            <a:avLst/>
          </a:prstGeom>
          <a:noFill/>
        </p:spPr>
        <p:txBody>
          <a:bodyPr wrap="square">
            <a:spAutoFit/>
          </a:bodyPr>
          <a:lstStyle/>
          <a:p>
            <a:pPr>
              <a:spcAft>
                <a:spcPts val="600"/>
              </a:spcAft>
            </a:pPr>
            <a:r>
              <a:rPr sz="1050" b="0">
                <a:solidFill>
                  <a:srgbClr val="6E6E6E"/>
                </a:solidFill>
                <a:latin typeface="Arial"/>
              </a:rPr>
              <a:t>Conventions: exp(+iωt) time dependence, so phase = −2πw/λ.  Anchors: PROPER station by station at 10⁻¹¹–10⁻¹³; coatings against Born &amp; Wolf / Abelès at 10⁻¹²–10⁻¹⁴; published protected-Al Mueller data at ~10⁻¹⁴.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Segmentation, metrology, controls — on the observatory</a:t>
            </a:r>
          </a:p>
          <a:p>
            <a:pPr>
              <a:spcAft>
                <a:spcPts val="0"/>
              </a:spcAft>
            </a:pPr>
            <a:r>
              <a:rPr sz="1250" b="0">
                <a:solidFill>
                  <a:srgbClr val="6E6E6E"/>
                </a:solidFill>
                <a:latin typeface="Arial"/>
              </a:rPr>
              <a:t>The same segmentation and metrology machinery the smaller studies proved, at 6 m scale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primary segments hex-19 with physical apertures through the same segmentation product; every segment gets rigid-body and surface-figure sensitivity channels, stacked into one Jacobian — the control basis.</a:t>
            </a:r>
          </a:p>
          <a:p>
            <a:pPr>
              <a:spcAft>
                <a:spcPts val="600"/>
              </a:spcAft>
            </a:pPr>
            <a:r>
              <a:rPr sz="1600" b="0">
                <a:solidFill>
                  <a:srgbClr val="282828"/>
                </a:solidFill>
                <a:latin typeface="Arial"/>
              </a:rPr>
              <a:t>•  Metrology and edge sensors are designed ON that Jacobian — 114 beams from the launcher stations shown — and the same matrices drive the estimator and the closed loop.</a:t>
            </a:r>
          </a:p>
          <a:p>
            <a:pPr>
              <a:spcAft>
                <a:spcPts val="600"/>
              </a:spcAft>
            </a:pPr>
            <a:r>
              <a:rPr sz="1600" b="0">
                <a:solidFill>
                  <a:srgbClr val="282828"/>
                </a:solidFill>
                <a:latin typeface="Arial"/>
              </a:rPr>
              <a:t>•  The channels themselves — dw/dx, dw/dz, dw/dgrid — follow on the next three slides, at readable size.</a:t>
            </a:r>
          </a:p>
        </p:txBody>
      </p:sp>
      <p:pic>
        <p:nvPicPr>
          <p:cNvPr id="5" name="Picture 4" descr="r3_met_view_rx.png"/>
          <p:cNvPicPr>
            <a:picLocks noChangeAspect="1"/>
          </p:cNvPicPr>
          <p:nvPr/>
        </p:nvPicPr>
        <p:blipFill>
          <a:blip r:embed="rId2"/>
          <a:srcRect l="29400" r="29400" t="4200" b="5900"/>
          <a:stretch>
            <a:fillRect/>
          </a:stretch>
        </p:blipFill>
        <p:spPr>
          <a:xfrm>
            <a:off x="7315200" y="1298448"/>
            <a:ext cx="4114800" cy="5477256"/>
          </a:xfrm>
          <a:prstGeom prst="rect">
            <a:avLst/>
          </a:prstGeom>
        </p:spPr>
      </p:pic>
      <p:sp>
        <p:nvSpPr>
          <p:cNvPr id="6" name="TextBox 5"/>
          <p:cNvSpPr txBox="1"/>
          <p:nvPr/>
        </p:nvSpPr>
        <p:spPr>
          <a:xfrm>
            <a:off x="5148072" y="4517136"/>
            <a:ext cx="2514600" cy="1054608"/>
          </a:xfrm>
          <a:prstGeom prst="rect">
            <a:avLst/>
          </a:prstGeom>
          <a:noFill/>
        </p:spPr>
        <p:txBody>
          <a:bodyPr wrap="square">
            <a:spAutoFit/>
          </a:bodyPr>
          <a:lstStyle/>
          <a:p>
            <a:pPr algn="r">
              <a:spcAft>
                <a:spcPts val="0"/>
              </a:spcAft>
            </a:pPr>
            <a:r>
              <a:rPr sz="1500" b="0">
                <a:solidFill>
                  <a:srgbClr val="6E6E6E"/>
                </a:solidFill>
                <a:latin typeface="Arial"/>
              </a:rPr>
              <a:t>The metrology on the observatory: 24 elements, 114 MET beams to the aft launcher station.</a:t>
            </a:r>
          </a:p>
        </p:txBody>
      </p:sp>
      <p:sp>
        <p:nvSpPr>
          <p:cNvPr id="7" name="TextBox 6"/>
          <p:cNvSpPr txBox="1"/>
          <p:nvPr/>
        </p:nvSpPr>
        <p:spPr>
          <a:xfrm>
            <a:off x="3063240" y="6382512"/>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templates/80_end_to_end/e2e6m_r2, sensitivities + MET stages.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state equations I: rigid-body channels — dw/dx</a:t>
            </a:r>
          </a:p>
          <a:p>
            <a:pPr>
              <a:spcAft>
                <a:spcPts val="0"/>
              </a:spcAft>
            </a:pPr>
            <a:r>
              <a:rPr sz="1250" b="0">
                <a:solidFill>
                  <a:srgbClr val="6E6E6E"/>
                </a:solidFill>
                <a:latin typeface="Arial"/>
              </a:rPr>
              <a:t>Runner: macos.dw_dx_multi, harvested by run_sensitivities (stage r3) — OPD at the coronagraph exit pupil per unit rigid-body motion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dwdx_read.png"/>
          <p:cNvPicPr>
            <a:picLocks noChangeAspect="1"/>
          </p:cNvPicPr>
          <p:nvPr/>
        </p:nvPicPr>
        <p:blipFill>
          <a:blip r:embed="rId2"/>
          <a:stretch>
            <a:fillRect/>
          </a:stretch>
        </p:blipFill>
        <p:spPr>
          <a:xfrm>
            <a:off x="948630" y="1298448"/>
            <a:ext cx="10294434" cy="2732532"/>
          </a:xfrm>
          <a:prstGeom prst="rect">
            <a:avLst/>
          </a:prstGeom>
        </p:spPr>
      </p:pic>
      <p:sp>
        <p:nvSpPr>
          <p:cNvPr id="5" name="TextBox 4"/>
          <p:cNvSpPr txBox="1"/>
          <p:nvPr/>
        </p:nvSpPr>
        <p:spPr>
          <a:xfrm>
            <a:off x="411480" y="4049267"/>
            <a:ext cx="11368735" cy="608838"/>
          </a:xfrm>
          <a:prstGeom prst="rect">
            <a:avLst/>
          </a:prstGeom>
          <a:noFill/>
        </p:spPr>
        <p:txBody>
          <a:bodyPr wrap="square">
            <a:spAutoFit/>
          </a:bodyPr>
          <a:lstStyle/>
          <a:p>
            <a:pPr algn="ctr">
              <a:spcAft>
                <a:spcPts val="0"/>
              </a:spcAft>
            </a:pPr>
            <a:r>
              <a:rPr sz="1100" b="0">
                <a:solidFill>
                  <a:srgbClr val="6E6E6E"/>
                </a:solidFill>
                <a:latin typeface="Arial"/>
              </a:rPr>
              <a:t>Two rigid-body channels: the centre segment (E1) and an outer-ring segment (E8), x-rotation — the centre-field OPD at full size, then the same channel at all five fields, every pupil full.  Drawn from the round-1-train harvest, whose stops pass the whole box; the r2-train harvest matches at the centre field, but its DM-bearing coronagraph clips the corners — that instrument works the centre field.  Piston removed; 1–99% color scale.</a:t>
            </a:r>
          </a:p>
        </p:txBody>
      </p:sp>
      <p:sp>
        <p:nvSpPr>
          <p:cNvPr id="6" name="TextBox 5"/>
          <p:cNvSpPr txBox="1"/>
          <p:nvPr/>
        </p:nvSpPr>
        <p:spPr>
          <a:xfrm>
            <a:off x="411480" y="4694682"/>
            <a:ext cx="11368735" cy="274320"/>
          </a:xfrm>
          <a:prstGeom prst="rect">
            <a:avLst/>
          </a:prstGeom>
          <a:noFill/>
        </p:spPr>
        <p:txBody>
          <a:bodyPr wrap="square">
            <a:spAutoFit/>
          </a:bodyPr>
          <a:lstStyle/>
          <a:p>
            <a:pPr>
              <a:spcAft>
                <a:spcPts val="600"/>
              </a:spcAft>
            </a:pPr>
            <a:r>
              <a:rPr sz="1500" b="0">
                <a:solidFill>
                  <a:srgbClr val="282828"/>
                </a:solidFill>
                <a:latin typeface="Arial"/>
              </a:rPr>
              <a:t>•  Six rigid-body DOFs for every optic — the 19 segments, M2-M3, both DMs, the 8 OAPs — plus the whole primary as one rigid group, five fields each, stacked into the control Jacobian.  The response lives on the moved segment's footprint and walks with field.  The coronagraph works the center field only — its stops vignette the corners; the imaging leg sees the full box.</a:t>
            </a:r>
          </a:p>
        </p:txBody>
      </p:sp>
      <p:sp>
        <p:nvSpPr>
          <p:cNvPr id="7" name="TextBox 6"/>
          <p:cNvSpPr txBox="1"/>
          <p:nvPr/>
        </p:nvSpPr>
        <p:spPr>
          <a:xfrm>
            <a:off x="411480" y="5862065"/>
            <a:ext cx="11368735" cy="274320"/>
          </a:xfrm>
          <a:prstGeom prst="rect">
            <a:avLst/>
          </a:prstGeom>
          <a:noFill/>
        </p:spPr>
        <p:txBody>
          <a:bodyPr wrap="square">
            <a:spAutoFit/>
          </a:bodyPr>
          <a:lstStyle/>
          <a:p>
            <a:pPr>
              <a:spcAft>
                <a:spcPts val="600"/>
              </a:spcAft>
            </a:pPr>
            <a:r>
              <a:rPr sz="1200" b="0">
                <a:solidFill>
                  <a:srgbClr val="6E6E6E"/>
                </a:solidFill>
                <a:latin typeface="Arial"/>
              </a:rPr>
              <a:t>Harvest on r1_seg_prop.in, the deck the simulator propagates; per-field FEX reset; closure gated by jacobian_check.  Every panel is one line from the saved Jacobian: OPD = v2m(dwdx(:,k), indx).  Record: templates/80_end_to_end/e2e6m_r2.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state equations II: segment-figure channels — dw/dz</a:t>
            </a:r>
          </a:p>
          <a:p>
            <a:pPr>
              <a:spcAft>
                <a:spcPts val="0"/>
              </a:spcAft>
            </a:pPr>
            <a:r>
              <a:rPr sz="1250" b="0">
                <a:solidFill>
                  <a:srgbClr val="6E6E6E"/>
                </a:solidFill>
                <a:latin typeface="Arial"/>
              </a:rPr>
              <a:t>Runner: macos.dw_dz_zernike_multi, harvested by run_sensitivities (stage r3) — MonZernike modes 4–11 on each segment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dwdz_read.png"/>
          <p:cNvPicPr>
            <a:picLocks noChangeAspect="1"/>
          </p:cNvPicPr>
          <p:nvPr/>
        </p:nvPicPr>
        <p:blipFill>
          <a:blip r:embed="rId2"/>
          <a:stretch>
            <a:fillRect/>
          </a:stretch>
        </p:blipFill>
        <p:spPr>
          <a:xfrm>
            <a:off x="637634" y="1298448"/>
            <a:ext cx="10916426" cy="2897632"/>
          </a:xfrm>
          <a:prstGeom prst="rect">
            <a:avLst/>
          </a:prstGeom>
        </p:spPr>
      </p:pic>
      <p:sp>
        <p:nvSpPr>
          <p:cNvPr id="5" name="TextBox 4"/>
          <p:cNvSpPr txBox="1"/>
          <p:nvPr/>
        </p:nvSpPr>
        <p:spPr>
          <a:xfrm>
            <a:off x="411480" y="4214367"/>
            <a:ext cx="11368735" cy="493268"/>
          </a:xfrm>
          <a:prstGeom prst="rect">
            <a:avLst/>
          </a:prstGeom>
          <a:noFill/>
        </p:spPr>
        <p:txBody>
          <a:bodyPr wrap="square">
            <a:spAutoFit/>
          </a:bodyPr>
          <a:lstStyle/>
          <a:p>
            <a:pPr algn="ctr">
              <a:spcAft>
                <a:spcPts val="0"/>
              </a:spcAft>
            </a:pPr>
            <a:r>
              <a:rPr sz="1300" b="0">
                <a:solidFill>
                  <a:srgbClr val="6E6E6E"/>
                </a:solidFill>
                <a:latin typeface="Arial"/>
              </a:rPr>
              <a:t>Two of the 152 channels: segments E1 and E8, MonZernike mode 4 — the centre field at full size, then all five fields (round-1-train harvest, full pupils).  Piston removed; 1–99% color scale.</a:t>
            </a:r>
          </a:p>
        </p:txBody>
      </p:sp>
      <p:sp>
        <p:nvSpPr>
          <p:cNvPr id="6" name="TextBox 5"/>
          <p:cNvSpPr txBox="1"/>
          <p:nvPr/>
        </p:nvSpPr>
        <p:spPr>
          <a:xfrm>
            <a:off x="411480" y="4744211"/>
            <a:ext cx="11368735" cy="274320"/>
          </a:xfrm>
          <a:prstGeom prst="rect">
            <a:avLst/>
          </a:prstGeom>
          <a:noFill/>
        </p:spPr>
        <p:txBody>
          <a:bodyPr wrap="square">
            <a:spAutoFit/>
          </a:bodyPr>
          <a:lstStyle/>
          <a:p>
            <a:pPr>
              <a:spcAft>
                <a:spcPts val="600"/>
              </a:spcAft>
            </a:pPr>
            <a:r>
              <a:rPr sz="1500" b="0">
                <a:solidFill>
                  <a:srgbClr val="282828"/>
                </a:solidFill>
                <a:latin typeface="Arial"/>
              </a:rPr>
              <a:t>•  Zernike figure modes 4–11 on each of the 19 segments, M2-M3, the 8 OAPs — five fields each.  Each channel is confined to its own segment; the mode shape is visible at a glance.</a:t>
            </a:r>
          </a:p>
          <a:p>
            <a:pPr>
              <a:spcAft>
                <a:spcPts val="600"/>
              </a:spcAft>
            </a:pPr>
            <a:r>
              <a:rPr sz="1500" b="0">
                <a:solidFill>
                  <a:srgbClr val="282828"/>
                </a:solidFill>
                <a:latin typeface="Arial"/>
              </a:rPr>
              <a:t>•  Any element can have deformations described by up to 65 Zernike modes.</a:t>
            </a:r>
          </a:p>
          <a:p>
            <a:pPr>
              <a:spcAft>
                <a:spcPts val="600"/>
              </a:spcAft>
            </a:pPr>
            <a:r>
              <a:rPr sz="1500" b="0">
                <a:solidFill>
                  <a:srgbClr val="282828"/>
                </a:solidFill>
                <a:latin typeface="Arial"/>
              </a:rPr>
              <a:t>•  MACOS supports 4 types of Zernikes, in normalized or raw forms.</a:t>
            </a:r>
          </a:p>
        </p:txBody>
      </p:sp>
      <p:sp>
        <p:nvSpPr>
          <p:cNvPr id="7" name="TextBox 6"/>
          <p:cNvSpPr txBox="1"/>
          <p:nvPr/>
        </p:nvSpPr>
        <p:spPr>
          <a:xfrm>
            <a:off x="411480" y="6192011"/>
            <a:ext cx="11368735" cy="274320"/>
          </a:xfrm>
          <a:prstGeom prst="rect">
            <a:avLst/>
          </a:prstGeom>
          <a:noFill/>
        </p:spPr>
        <p:txBody>
          <a:bodyPr wrap="square">
            <a:spAutoFit/>
          </a:bodyPr>
          <a:lstStyle/>
          <a:p>
            <a:pPr>
              <a:spcAft>
                <a:spcPts val="600"/>
              </a:spcAft>
            </a:pPr>
            <a:r>
              <a:rPr sz="1300" b="0">
                <a:solidFill>
                  <a:srgbClr val="6E6E6E"/>
                </a:solidFill>
                <a:latin typeface="Arial"/>
              </a:rPr>
              <a:t>Same harvest, metric and gates as dw/dx.  Record: templates/80_end_to_end/e2e6m_r2.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state equations III: shape-normalized modes — dw/dgrid</a:t>
            </a:r>
          </a:p>
          <a:p>
            <a:pPr>
              <a:spcAft>
                <a:spcPts val="0"/>
              </a:spcAft>
            </a:pPr>
            <a:r>
              <a:rPr sz="1250" b="0">
                <a:solidFill>
                  <a:srgbClr val="6E6E6E"/>
                </a:solidFill>
                <a:latin typeface="Arial"/>
              </a:rPr>
              <a:t>Runner: macos.dw_dgrid_multi, harvested by run_sensitivities (stage r3) — the grid influence basis on each segment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dwdgrid_read.png"/>
          <p:cNvPicPr>
            <a:picLocks noChangeAspect="1"/>
          </p:cNvPicPr>
          <p:nvPr/>
        </p:nvPicPr>
        <p:blipFill>
          <a:blip r:embed="rId2"/>
          <a:stretch>
            <a:fillRect/>
          </a:stretch>
        </p:blipFill>
        <p:spPr>
          <a:xfrm>
            <a:off x="637634" y="1298448"/>
            <a:ext cx="10916426" cy="2897632"/>
          </a:xfrm>
          <a:prstGeom prst="rect">
            <a:avLst/>
          </a:prstGeom>
        </p:spPr>
      </p:pic>
      <p:sp>
        <p:nvSpPr>
          <p:cNvPr id="5" name="TextBox 4"/>
          <p:cNvSpPr txBox="1"/>
          <p:nvPr/>
        </p:nvSpPr>
        <p:spPr>
          <a:xfrm>
            <a:off x="411480" y="4214367"/>
            <a:ext cx="11368735" cy="460248"/>
          </a:xfrm>
          <a:prstGeom prst="rect">
            <a:avLst/>
          </a:prstGeom>
          <a:noFill/>
        </p:spPr>
        <p:txBody>
          <a:bodyPr wrap="square">
            <a:spAutoFit/>
          </a:bodyPr>
          <a:lstStyle/>
          <a:p>
            <a:pPr algn="ctr">
              <a:spcAft>
                <a:spcPts val="0"/>
              </a:spcAft>
            </a:pPr>
            <a:r>
              <a:rPr sz="1200" b="0">
                <a:solidFill>
                  <a:srgbClr val="6E6E6E"/>
                </a:solidFill>
                <a:latin typeface="Arial"/>
              </a:rPr>
              <a:t>Two of the 114 channels: segments E1 and E8, grid mode 4 — the centre field at full size, then all five fields (round-1-train harvest, full pupils).  Piston removed; 1–99% color scale.</a:t>
            </a:r>
          </a:p>
        </p:txBody>
      </p:sp>
      <p:sp>
        <p:nvSpPr>
          <p:cNvPr id="6" name="TextBox 5"/>
          <p:cNvSpPr txBox="1"/>
          <p:nvPr/>
        </p:nvSpPr>
        <p:spPr>
          <a:xfrm>
            <a:off x="411480" y="4711192"/>
            <a:ext cx="11368735" cy="274320"/>
          </a:xfrm>
          <a:prstGeom prst="rect">
            <a:avLst/>
          </a:prstGeom>
          <a:noFill/>
        </p:spPr>
        <p:txBody>
          <a:bodyPr wrap="square">
            <a:spAutoFit/>
          </a:bodyPr>
          <a:lstStyle/>
          <a:p>
            <a:pPr>
              <a:spcAft>
                <a:spcPts val="600"/>
              </a:spcAft>
            </a:pPr>
            <a:r>
              <a:rPr sz="1500" b="0">
                <a:solidFill>
                  <a:srgbClr val="282828"/>
                </a:solidFill>
                <a:latin typeface="Arial"/>
              </a:rPr>
              <a:t>•  GridData surfaces can be used to add nearly any surface departure form: as-measured aberrations, Gram-Schmidt orthogonalized Zernike modes, and DM actuations are all used in coronagraphic telescope models.</a:t>
            </a:r>
          </a:p>
          <a:p>
            <a:pPr>
              <a:spcAft>
                <a:spcPts val="600"/>
              </a:spcAft>
            </a:pPr>
            <a:r>
              <a:rPr sz="1500" b="0">
                <a:solidFill>
                  <a:srgbClr val="282828"/>
                </a:solidFill>
                <a:latin typeface="Arial"/>
              </a:rPr>
              <a:t>•  These plots illustrate grid-basis influence shapes on 2 of the 19 segments, using the interface for measured influence functions and actuator maps.</a:t>
            </a:r>
          </a:p>
          <a:p>
            <a:pPr>
              <a:spcAft>
                <a:spcPts val="600"/>
              </a:spcAft>
            </a:pPr>
            <a:r>
              <a:rPr sz="1500" b="0">
                <a:solidFill>
                  <a:srgbClr val="282828"/>
                </a:solidFill>
                <a:latin typeface="Arial"/>
              </a:rPr>
              <a:t>•  DM Jacobians use the same form: dw/dDM.</a:t>
            </a:r>
          </a:p>
        </p:txBody>
      </p:sp>
      <p:sp>
        <p:nvSpPr>
          <p:cNvPr id="7" name="TextBox 6"/>
          <p:cNvSpPr txBox="1"/>
          <p:nvPr/>
        </p:nvSpPr>
        <p:spPr>
          <a:xfrm>
            <a:off x="411480" y="6163056"/>
            <a:ext cx="11368735" cy="274320"/>
          </a:xfrm>
          <a:prstGeom prst="rect">
            <a:avLst/>
          </a:prstGeom>
          <a:noFill/>
        </p:spPr>
        <p:txBody>
          <a:bodyPr wrap="square">
            <a:spAutoFit/>
          </a:bodyPr>
          <a:lstStyle/>
          <a:p>
            <a:pPr>
              <a:spcAft>
                <a:spcPts val="600"/>
              </a:spcAft>
            </a:pPr>
            <a:r>
              <a:rPr sz="1300" b="0">
                <a:solidFill>
                  <a:srgbClr val="6E6E6E"/>
                </a:solidFill>
                <a:latin typeface="Arial"/>
              </a:rPr>
              <a:t>Same harvest, metric and gates as dw/dx.  Record: templates/80_end_to_end/e2e6m_r2.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Digging the dark hole: the overnight restart ladder</a:t>
            </a:r>
          </a:p>
          <a:p>
            <a:pPr>
              <a:spcAft>
                <a:spcPts val="0"/>
              </a:spcAft>
            </a:pPr>
            <a:r>
              <a:rPr sz="1250" b="0">
                <a:solidFill>
                  <a:srgbClr val="6E6E6E"/>
                </a:solidFill>
                <a:latin typeface="Arial"/>
              </a:rPr>
              <a:t>1.2×10⁻⁶ → 1.1×10⁻⁹ — three decades from restart scheduling alone; no new hardware, no new physics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800" b="0">
                <a:solidFill>
                  <a:srgbClr val="282828"/>
                </a:solidFill>
                <a:latin typeface="Arial"/>
              </a:rPr>
              <a:t>•  The recipe: EFC to a floor, relinearize about the dug state, restart at that floor — rinse and repeat.  Ten digging rounds, ~4 h unattended, on the d = 1.10 m two-DM variant — the spacing study's best linear substrate; three stall rounds then prove the plateau.</a:t>
            </a:r>
          </a:p>
          <a:p>
            <a:pPr>
              <a:spcAft>
                <a:spcPts val="600"/>
              </a:spcAft>
            </a:pPr>
            <a:r>
              <a:rPr sz="1800" b="0">
                <a:solidFill>
                  <a:srgbClr val="282828"/>
                </a:solidFill>
                <a:latin typeface="Arial"/>
              </a:rPr>
              <a:t>•  The controller was the bottleneck, measured: a single linearization stalls at 9.0×10⁻⁷; every restart bought another step down.  DM strokes end at 33 nm rms, well inside the 50 nm budget.</a:t>
            </a:r>
          </a:p>
          <a:p>
            <a:pPr>
              <a:spcAft>
                <a:spcPts val="600"/>
              </a:spcAft>
            </a:pPr>
            <a:r>
              <a:rPr sz="1800" b="0">
                <a:solidFill>
                  <a:srgbClr val="282828"/>
                </a:solidFill>
                <a:latin typeface="Arial"/>
              </a:rPr>
              <a:t>•  The remaining 1.5 decades are priced: re-measured at every dug state, the linear-achievable floor holds at 2–4×10⁻¹¹ — HWO-class 5×10⁻¹¹ is within this substrate's reach.  The plateau at 1.1×10⁻⁹ is the monotone Tikhonov step rule: the measured case for FALCO-grade step control on this same model.</a:t>
            </a:r>
          </a:p>
        </p:txBody>
      </p:sp>
      <p:pic>
        <p:nvPicPr>
          <p:cNvPr id="5" name="Picture 4" descr="fig_cf3d_ladder.png"/>
          <p:cNvPicPr>
            <a:picLocks noChangeAspect="1"/>
          </p:cNvPicPr>
          <p:nvPr/>
        </p:nvPicPr>
        <p:blipFill>
          <a:blip r:embed="rId2"/>
          <a:stretch>
            <a:fillRect/>
          </a:stretch>
        </p:blipFill>
        <p:spPr>
          <a:xfrm>
            <a:off x="6400800" y="1298448"/>
            <a:ext cx="5394960" cy="3637305"/>
          </a:xfrm>
          <a:prstGeom prst="rect">
            <a:avLst/>
          </a:prstGeom>
        </p:spPr>
      </p:pic>
      <p:sp>
        <p:nvSpPr>
          <p:cNvPr id="6" name="TextBox 5"/>
          <p:cNvSpPr txBox="1"/>
          <p:nvPr/>
        </p:nvSpPr>
        <p:spPr>
          <a:xfrm>
            <a:off x="6400800" y="4954041"/>
            <a:ext cx="5394960" cy="394208"/>
          </a:xfrm>
          <a:prstGeom prst="rect">
            <a:avLst/>
          </a:prstGeom>
          <a:noFill/>
        </p:spPr>
        <p:txBody>
          <a:bodyPr wrap="square">
            <a:spAutoFit/>
          </a:bodyPr>
          <a:lstStyle/>
          <a:p>
            <a:pPr algn="ctr">
              <a:spcAft>
                <a:spcPts val="0"/>
              </a:spcAft>
            </a:pPr>
            <a:r>
              <a:rPr sz="1000" b="0">
                <a:solidFill>
                  <a:srgbClr val="6E6E6E"/>
                </a:solidFill>
                <a:latin typeface="Arial"/>
              </a:rPr>
              <a:t>The ladder: measured dark-zone floor by restart round, with the linear-achievable substrate re-measured at every dug state.</a:t>
            </a:r>
          </a:p>
        </p:txBody>
      </p:sp>
      <p:sp>
        <p:nvSpPr>
          <p:cNvPr id="7" name="TextBox 6"/>
          <p:cNvSpPr txBox="1"/>
          <p:nvPr/>
        </p:nvSpPr>
        <p:spPr>
          <a:xfrm>
            <a:off x="6400800" y="5384825"/>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templates/80_end_to_end/e2e6m_r2, CF3d stage — checkpointed and resumable; every round is a finished floor.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Inside the dig, station by station</a:t>
            </a:r>
          </a:p>
          <a:p>
            <a:pPr>
              <a:spcAft>
                <a:spcPts val="0"/>
              </a:spcAft>
            </a:pPr>
            <a:r>
              <a:rPr sz="1250" b="0">
                <a:solidFill>
                  <a:srgbClr val="6E6E6E"/>
                </a:solidFill>
                <a:latin typeface="Arial"/>
              </a:rPr>
              <a:t>Intensity at seven internal planes — the DM commands visibly do the gap work</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cf3d_stations_wide.png"/>
          <p:cNvPicPr>
            <a:picLocks noChangeAspect="1"/>
          </p:cNvPicPr>
          <p:nvPr/>
        </p:nvPicPr>
        <p:blipFill>
          <a:blip r:embed="rId2"/>
          <a:stretch>
            <a:fillRect/>
          </a:stretch>
        </p:blipFill>
        <p:spPr>
          <a:xfrm>
            <a:off x="1544429" y="1298448"/>
            <a:ext cx="9102837" cy="2257552"/>
          </a:xfrm>
          <a:prstGeom prst="rect">
            <a:avLst/>
          </a:prstGeom>
        </p:spPr>
      </p:pic>
      <p:sp>
        <p:nvSpPr>
          <p:cNvPr id="5" name="TextBox 4"/>
          <p:cNvSpPr txBox="1"/>
          <p:nvPr/>
        </p:nvSpPr>
        <p:spPr>
          <a:xfrm>
            <a:off x="411480" y="3574288"/>
            <a:ext cx="11368735" cy="394208"/>
          </a:xfrm>
          <a:prstGeom prst="rect">
            <a:avLst/>
          </a:prstGeom>
          <a:noFill/>
        </p:spPr>
        <p:txBody>
          <a:bodyPr wrap="square">
            <a:spAutoFit/>
          </a:bodyPr>
          <a:lstStyle/>
          <a:p>
            <a:pPr algn="ctr">
              <a:spcAft>
                <a:spcPts val="0"/>
              </a:spcAft>
            </a:pPr>
            <a:r>
              <a:rPr sz="1000" b="0">
                <a:solidFill>
                  <a:srgbClr val="6E6E6E"/>
                </a:solidFill>
                <a:latin typeface="Arial"/>
              </a:rPr>
              <a:t>Seven planes, DMs flat (top row) against the dug state (bottom): pupil, apodizer, focal plane before and after the occulter, Lyot plane before and after the stop, science-plane contrast.  The dug row ends in the full 3–15 λ/D annular dark hole at the 10⁻⁹ floor; the in-walk dark-zone means reproduce the scored record exactly.</a:t>
            </a:r>
          </a:p>
        </p:txBody>
      </p:sp>
      <p:sp>
        <p:nvSpPr>
          <p:cNvPr id="6" name="TextBox 5"/>
          <p:cNvSpPr txBox="1"/>
          <p:nvPr/>
        </p:nvSpPr>
        <p:spPr>
          <a:xfrm>
            <a:off x="411480" y="4005072"/>
            <a:ext cx="11368735" cy="274320"/>
          </a:xfrm>
          <a:prstGeom prst="rect">
            <a:avLst/>
          </a:prstGeom>
          <a:noFill/>
        </p:spPr>
        <p:txBody>
          <a:bodyPr wrap="square">
            <a:spAutoFit/>
          </a:bodyPr>
          <a:lstStyle/>
          <a:p>
            <a:pPr>
              <a:spcAft>
                <a:spcPts val="600"/>
              </a:spcAft>
            </a:pPr>
            <a:r>
              <a:rPr sz="1500" b="0">
                <a:solidFill>
                  <a:srgbClr val="282828"/>
                </a:solidFill>
                <a:latin typeface="Arial"/>
              </a:rPr>
              <a:t>•  DM1's command map imprints the hex-gap lattice — the controller is doing the gap-and-edge work the apodizer was bought for, actuator by actuator, at 33 nm rms; a no-apodizer A/B to price the throughput trade is the scoped follow-on.</a:t>
            </a:r>
          </a:p>
          <a:p>
            <a:pPr>
              <a:spcAft>
                <a:spcPts val="600"/>
              </a:spcAft>
            </a:pPr>
            <a:r>
              <a:rPr sz="1500" b="0">
                <a:solidFill>
                  <a:srgbClr val="282828"/>
                </a:solidFill>
                <a:latin typeface="Arial"/>
              </a:rPr>
              <a:t>•  The 0.90 Lyot stop removes only ~0.1% of the post-occulter energy — this train's rejected light is interior gap structure, not edge rings, so the Lyot radius is not where the suppression happens.</a:t>
            </a:r>
          </a:p>
        </p:txBody>
      </p:sp>
      <p:pic>
        <p:nvPicPr>
          <p:cNvPr id="7" name="Picture 6" descr="fig_cf3d_dm_state.png"/>
          <p:cNvPicPr>
            <a:picLocks noChangeAspect="1"/>
          </p:cNvPicPr>
          <p:nvPr/>
        </p:nvPicPr>
        <p:blipFill>
          <a:blip r:embed="rId3"/>
          <a:stretch>
            <a:fillRect/>
          </a:stretch>
        </p:blipFill>
        <p:spPr>
          <a:xfrm>
            <a:off x="4763617" y="5312664"/>
            <a:ext cx="2664460" cy="1188720"/>
          </a:xfrm>
          <a:prstGeom prst="rect">
            <a:avLst/>
          </a:prstGeom>
        </p:spPr>
      </p:pic>
      <p:sp>
        <p:nvSpPr>
          <p:cNvPr id="8" name="TextBox 7"/>
          <p:cNvSpPr txBox="1"/>
          <p:nvPr/>
        </p:nvSpPr>
        <p:spPr>
          <a:xfrm>
            <a:off x="411480" y="6501384"/>
            <a:ext cx="11368735" cy="274320"/>
          </a:xfrm>
          <a:prstGeom prst="rect">
            <a:avLst/>
          </a:prstGeom>
          <a:noFill/>
        </p:spPr>
        <p:txBody>
          <a:bodyPr wrap="square">
            <a:spAutoFit/>
          </a:bodyPr>
          <a:lstStyle/>
          <a:p>
            <a:pPr>
              <a:spcAft>
                <a:spcPts val="600"/>
              </a:spcAft>
            </a:pPr>
            <a:r>
              <a:rPr sz="1050" b="0">
                <a:solidFill>
                  <a:srgbClr val="6E6E6E"/>
                </a:solidFill>
                <a:latin typeface="Arial"/>
              </a:rPr>
              <a:t>The CTB documentation model — intensity at key planes, compact-vs-full — applied to the observatory train: same station layout, the two columns now DMs-flat vs dug.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 randomly disturbed observatory, simulated</a:t>
            </a:r>
          </a:p>
          <a:p>
            <a:pPr>
              <a:spcAft>
                <a:spcPts val="0"/>
              </a:spcAft>
            </a:pPr>
            <a:r>
              <a:rPr sz="1250" b="0">
                <a:solidFill>
                  <a:srgbClr val="6E6E6E"/>
                </a:solidFill>
                <a:latin typeface="Arial"/>
              </a:rPr>
              <a:t>JWST-class drift on the dug dark hole: open loop decays 4.5 decades in a day — the loop holds 2×10⁻⁹</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series starts at the new solution — frame one reproduces the dug floor (1.134 vs 1.133×10⁻⁹, a built-in gate) — and runs a random disturbance: a 10 nm/hr correlated drift ramp plus a 0.5 nm-per-step walk, 24 hours at 30-minute frames.</a:t>
            </a:r>
          </a:p>
          <a:p>
            <a:pPr>
              <a:spcAft>
                <a:spcPts val="600"/>
              </a:spcAft>
            </a:pPr>
            <a:r>
              <a:rPr sz="1600" b="0">
                <a:solidFill>
                  <a:srgbClr val="282828"/>
                </a:solidFill>
                <a:latin typeface="Arial"/>
              </a:rPr>
              <a:t>•  Open loop, DMs frozen at the dug state: 1.1×10⁻⁹ → 3.9×10⁻⁵.  The first decade is lost to the first nanometre of drift — at 10⁻⁹, continuous control is not optional.</a:t>
            </a:r>
          </a:p>
          <a:p>
            <a:pPr>
              <a:spcAft>
                <a:spcPts val="600"/>
              </a:spcAft>
            </a:pPr>
            <a:r>
              <a:rPr sz="1600" b="0">
                <a:solidFill>
                  <a:srgbClr val="282828"/>
                </a:solidFill>
                <a:latin typeface="Arial"/>
              </a:rPr>
              <a:t>•  Closed loop: the rigid-body loop senses through the designed metrology and holds the segment state at 1.2 nm against 23 nm of accumulated drift; a guarded EFC hold — one damped step per hour about the dug-state Jacobian, 25 steps taken, none reverted — keeps the dark zone at ~2×10⁻⁹ for the full day.</a:t>
            </a:r>
          </a:p>
          <a:p>
            <a:pPr>
              <a:spcAft>
                <a:spcPts val="600"/>
              </a:spcAft>
            </a:pPr>
            <a:r>
              <a:rPr sz="1600" b="0">
                <a:solidFill>
                  <a:srgbClr val="282828"/>
                </a:solidFill>
                <a:latin typeface="Arial"/>
              </a:rPr>
              <a:t>•  The disturbance interface is the point: the same channels ingest dynamical- and thermal-model time histories — simulating performance in the space environment.</a:t>
            </a:r>
          </a:p>
        </p:txBody>
      </p:sp>
      <p:pic>
        <p:nvPicPr>
          <p:cNvPr id="5" name="Picture 4" descr="fig_cf5b_jwst.png"/>
          <p:cNvPicPr>
            <a:picLocks noChangeAspect="1"/>
          </p:cNvPicPr>
          <p:nvPr/>
        </p:nvPicPr>
        <p:blipFill>
          <a:blip r:embed="rId2"/>
          <a:stretch>
            <a:fillRect/>
          </a:stretch>
        </p:blipFill>
        <p:spPr>
          <a:xfrm>
            <a:off x="6629400" y="1078992"/>
            <a:ext cx="4572000" cy="4434840"/>
          </a:xfrm>
          <a:prstGeom prst="rect">
            <a:avLst/>
          </a:prstGeom>
        </p:spPr>
      </p:pic>
      <p:sp>
        <p:nvSpPr>
          <p:cNvPr id="6" name="TextBox 5"/>
          <p:cNvSpPr txBox="1"/>
          <p:nvPr/>
        </p:nvSpPr>
        <p:spPr>
          <a:xfrm>
            <a:off x="6400800" y="5513832"/>
            <a:ext cx="5394960" cy="559307"/>
          </a:xfrm>
          <a:prstGeom prst="rect">
            <a:avLst/>
          </a:prstGeom>
          <a:noFill/>
        </p:spPr>
        <p:txBody>
          <a:bodyPr wrap="square">
            <a:spAutoFit/>
          </a:bodyPr>
          <a:lstStyle/>
          <a:p>
            <a:pPr algn="ctr">
              <a:spcAft>
                <a:spcPts val="0"/>
              </a:spcAft>
            </a:pPr>
            <a:r>
              <a:rPr sz="1000" b="0">
                <a:solidFill>
                  <a:srgbClr val="6E6E6E"/>
                </a:solidFill>
                <a:latin typeface="Arial"/>
              </a:rPr>
              <a:t>Twenty-four hours random drift, both passes starting from the dug dark hole: segment rigid-body state, exit-pupil wavefront, and science-plane contrast — open loop against closed.</a:t>
            </a:r>
          </a:p>
        </p:txBody>
      </p:sp>
      <p:sp>
        <p:nvSpPr>
          <p:cNvPr id="7" name="TextBox 6"/>
          <p:cNvSpPr txBox="1"/>
          <p:nvPr/>
        </p:nvSpPr>
        <p:spPr>
          <a:xfrm>
            <a:off x="6400800" y="6108192"/>
            <a:ext cx="5394960" cy="274320"/>
          </a:xfrm>
          <a:prstGeom prst="rect">
            <a:avLst/>
          </a:prstGeom>
          <a:noFill/>
        </p:spPr>
        <p:txBody>
          <a:bodyPr wrap="square">
            <a:spAutoFit/>
          </a:bodyPr>
          <a:lstStyle/>
          <a:p>
            <a:pPr>
              <a:spcAft>
                <a:spcPts val="600"/>
              </a:spcAft>
            </a:pPr>
            <a:r>
              <a:rPr sz="1200" b="0">
                <a:solidFill>
                  <a:srgbClr val="6E6E6E"/>
                </a:solidFill>
                <a:latin typeface="Arial"/>
              </a:rPr>
              <a:t>Record: templates/80_end_to_end/e2e6m_r2, CF5b stage — d=1.10 deck, G = the ladder's dug-state Jacobian.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live design, revealed</a:t>
            </a:r>
          </a:p>
          <a:p>
            <a:pPr>
              <a:spcAft>
                <a:spcPts val="0"/>
              </a:spcAft>
            </a:pPr>
            <a:r>
              <a:rPr sz="1250" b="0">
                <a:solidFill>
                  <a:srgbClr val="6E6E6E"/>
                </a:solidFill>
                <a:latin typeface="Arial"/>
              </a:rPr>
              <a:t>Predicted from the frontier before solving; solved in one warm-started step while we talked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ask: a field-box width, anywhere in 5–15°.  The prediction, stated before the solve: interpolated from the committed frontier rows.</a:t>
            </a:r>
          </a:p>
          <a:p>
            <a:pPr>
              <a:spcAft>
                <a:spcPts val="600"/>
              </a:spcAft>
            </a:pPr>
            <a:r>
              <a:rPr sz="1600" b="0">
                <a:solidFill>
                  <a:srgbClr val="282828"/>
                </a:solidFill>
                <a:latin typeface="Arial"/>
              </a:rPr>
              <a:t>•  The pre-run rehearsal of the default ask (12°): predicted 33.7 nm; solved 33.6 nm — 1.00× — at a 24.9 mm clearance floor, both checks pass, in 15 minutes.</a:t>
            </a:r>
          </a:p>
          <a:p>
            <a:pPr>
              <a:spcAft>
                <a:spcPts val="600"/>
              </a:spcAft>
            </a:pPr>
            <a:r>
              <a:rPr sz="1600" b="0">
                <a:solidFill>
                  <a:srgbClr val="282828"/>
                </a:solidFill>
                <a:latin typeface="Arial"/>
              </a:rPr>
              <a:t>•  The run is deterministic to every printed digit, and every ask is a genuine continuation step — never a re-score of a stored design.</a:t>
            </a:r>
          </a:p>
        </p:txBody>
      </p:sp>
      <p:pic>
        <p:nvPicPr>
          <p:cNvPr id="5" name="Picture 4" descr="crop_oi_demo_12deg_layout.png"/>
          <p:cNvPicPr>
            <a:picLocks noChangeAspect="1"/>
          </p:cNvPicPr>
          <p:nvPr/>
        </p:nvPicPr>
        <p:blipFill>
          <a:blip r:embed="rId2"/>
          <a:stretch>
            <a:fillRect/>
          </a:stretch>
        </p:blipFill>
        <p:spPr>
          <a:xfrm>
            <a:off x="7168896" y="1298448"/>
            <a:ext cx="3520440" cy="5102352"/>
          </a:xfrm>
          <a:prstGeom prst="rect">
            <a:avLst/>
          </a:prstGeom>
        </p:spPr>
      </p:pic>
      <p:sp>
        <p:nvSpPr>
          <p:cNvPr id="6" name="TextBox 5"/>
          <p:cNvSpPr txBox="1"/>
          <p:nvPr/>
        </p:nvSpPr>
        <p:spPr>
          <a:xfrm>
            <a:off x="6400800" y="6016752"/>
            <a:ext cx="5394960" cy="394208"/>
          </a:xfrm>
          <a:prstGeom prst="rect">
            <a:avLst/>
          </a:prstGeom>
          <a:noFill/>
        </p:spPr>
        <p:txBody>
          <a:bodyPr wrap="square">
            <a:spAutoFit/>
          </a:bodyPr>
          <a:lstStyle/>
          <a:p>
            <a:pPr algn="ctr">
              <a:spcAft>
                <a:spcPts val="0"/>
              </a:spcAft>
            </a:pPr>
            <a:r>
              <a:rPr sz="1000" b="0">
                <a:solidFill>
                  <a:srgbClr val="6E6E6E"/>
                </a:solidFill>
                <a:latin typeface="Arial"/>
              </a:rPr>
              <a:t>The 12° rehearsal design and its field map: 33.6 nm max against a 33.7 nm prediction.</a:t>
            </a:r>
          </a:p>
        </p:txBody>
      </p:sp>
      <p:pic>
        <p:nvPicPr>
          <p:cNvPr id="7" name="Picture 6" descr="oi_demo_12deg_map.png"/>
          <p:cNvPicPr>
            <a:picLocks noChangeAspect="1"/>
          </p:cNvPicPr>
          <p:nvPr/>
        </p:nvPicPr>
        <p:blipFill>
          <a:blip r:embed="rId3"/>
          <a:stretch>
            <a:fillRect/>
          </a:stretch>
        </p:blipFill>
        <p:spPr>
          <a:xfrm>
            <a:off x="3635124" y="3995928"/>
            <a:ext cx="2294375" cy="2011680"/>
          </a:xfrm>
          <a:prstGeom prst="rect">
            <a:avLst/>
          </a:prstGeom>
        </p:spPr>
      </p:pic>
      <p:sp>
        <p:nvSpPr>
          <p:cNvPr id="8" name="TextBox 7"/>
          <p:cNvSpPr txBox="1"/>
          <p:nvPr/>
        </p:nvSpPr>
        <p:spPr>
          <a:xfrm>
            <a:off x="530352" y="6007608"/>
            <a:ext cx="5394960" cy="274320"/>
          </a:xfrm>
          <a:prstGeom prst="rect">
            <a:avLst/>
          </a:prstGeom>
          <a:noFill/>
        </p:spPr>
        <p:txBody>
          <a:bodyPr wrap="square">
            <a:spAutoFit/>
          </a:bodyPr>
          <a:lstStyle/>
          <a:p>
            <a:pPr>
              <a:spcAft>
                <a:spcPts val="600"/>
              </a:spcAft>
            </a:pPr>
            <a:r>
              <a:rPr sz="1050" b="0">
                <a:solidFill>
                  <a:srgbClr val="6E6E6E"/>
                </a:solidFill>
                <a:latin typeface="Arial"/>
              </a:rPr>
              <a:t>On demo day the live run's figures replace these panels; this pre-generated bundle is the fallback if the room's ask matches nothing better.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AI in design and analysis — the working questions</a:t>
            </a:r>
          </a:p>
          <a:p>
            <a:pPr>
              <a:spcAft>
                <a:spcPts val="0"/>
              </a:spcAft>
            </a:pPr>
            <a:r>
              <a:rPr sz="1250" b="0">
                <a:solidFill>
                  <a:srgbClr val="6E6E6E"/>
                </a:solidFill>
                <a:latin typeface="Arial"/>
              </a:rPr>
              <a:t>What we ask of an AI-driven study before believing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How is a machine's result verified?  Regression checks with negative controls; layout renders read against every claim — the checks caught the errors shown today.</a:t>
            </a:r>
          </a:p>
          <a:p>
            <a:pPr>
              <a:spcAft>
                <a:spcPts val="600"/>
              </a:spcAft>
            </a:pPr>
            <a:r>
              <a:rPr sz="1500" b="0">
                <a:solidFill>
                  <a:srgbClr val="282828"/>
                </a:solidFill>
                <a:latin typeface="Arial"/>
              </a:rPr>
              <a:t>•  Where does the human rule?  Constraints, metrics, and every outward claim — the AI proposes, the record decides.</a:t>
            </a:r>
          </a:p>
          <a:p>
            <a:pPr>
              <a:spcAft>
                <a:spcPts val="600"/>
              </a:spcAft>
            </a:pPr>
            <a:r>
              <a:rPr sz="1500" b="0">
                <a:solidFill>
                  <a:srgbClr val="282828"/>
                </a:solidFill>
                <a:latin typeface="Arial"/>
              </a:rPr>
              <a:t>•  Is it reproducible?  Every number in this deck rebuilds from committed scripts and committed records — including the design solved during this talk.</a:t>
            </a:r>
          </a:p>
        </p:txBody>
      </p:sp>
      <p:sp>
        <p:nvSpPr>
          <p:cNvPr id="5" name="TextBox 4"/>
          <p:cNvSpPr txBox="1"/>
          <p:nvPr/>
        </p:nvSpPr>
        <p:spPr>
          <a:xfrm>
            <a:off x="411480" y="2993898"/>
            <a:ext cx="11368735" cy="274320"/>
          </a:xfrm>
          <a:prstGeom prst="rect">
            <a:avLst/>
          </a:prstGeom>
          <a:noFill/>
        </p:spPr>
        <p:txBody>
          <a:bodyPr wrap="square">
            <a:spAutoFit/>
          </a:bodyPr>
          <a:lstStyle/>
          <a:p>
            <a:pPr>
              <a:spcAft>
                <a:spcPts val="600"/>
              </a:spcAft>
            </a:pPr>
            <a:r>
              <a:rPr sz="1050" b="0">
                <a:solidFill>
                  <a:srgbClr val="6E6E6E"/>
                </a:solidFill>
                <a:latin typeface="Arial"/>
              </a:rPr>
              <a:t>Offered as discussion questions, not settled doctrine — the next slide takes one of them to architecture.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agent's own questions for this room</a:t>
            </a:r>
          </a:p>
          <a:p>
            <a:pPr>
              <a:spcAft>
                <a:spcPts val="0"/>
              </a:spcAft>
            </a:pPr>
            <a:r>
              <a:rPr sz="1250" b="0">
                <a:solidFill>
                  <a:srgbClr val="6E6E6E"/>
                </a:solidFill>
                <a:latin typeface="Arial"/>
              </a:rPr>
              <a:t>Asked by the AI that ran these studies — each is a place a campaign hit something your experience can answer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To the coronagraph builders: our EFC restart ladder walled at 1.1×10⁻⁹ while the measured linear substrate priced 3.5×10⁻¹¹ — the binding element was the monotone Tikhonov step rule, not the optics.  What buys your last decade and a half — β-bump schedules, per-mode regularization, constrained strokes — and at 10⁻¹⁰-class floors, what breaks first: the linear model, the strokes, or the estimate?</a:t>
            </a:r>
          </a:p>
          <a:p>
            <a:pPr>
              <a:spcAft>
                <a:spcPts val="600"/>
              </a:spcAft>
            </a:pPr>
            <a:r>
              <a:rPr sz="1500" b="0">
                <a:solidFill>
                  <a:srgbClr val="282828"/>
                </a:solidFill>
                <a:latin typeface="Arial"/>
              </a:rPr>
              <a:t>•  Also yours: last night we measured that the apodizer's real purchase is stroke economy — the same 10⁻¹¹-class substrate costs ~33 nm rms of DM stroke apodized and microns bare, at 8× the throughput.  Do amplitude-shaping solutions at micron-class strokes survive contact with real DMs?</a:t>
            </a:r>
          </a:p>
          <a:p>
            <a:pPr>
              <a:spcAft>
                <a:spcPts val="600"/>
              </a:spcAft>
            </a:pPr>
            <a:r>
              <a:rPr sz="1500" b="0">
                <a:solidFill>
                  <a:srgbClr val="282828"/>
                </a:solidFill>
                <a:latin typeface="Arial"/>
              </a:rPr>
              <a:t>•  To the designers: in the 30× afocal study, the interface-pupil condition consumes the last two mirror powers — we priced it at 2.7× of wavefront at the delivered standoff — and field curvature owns 60–99.7% of every design's wavefront variance.  Is that pupil requirement held this hard in shipped practice, and is a strongly curved opposite-sign corrector in the compressed beam near the exit a move you have seen work?</a:t>
            </a:r>
          </a:p>
          <a:p>
            <a:pPr>
              <a:spcAft>
                <a:spcPts val="600"/>
              </a:spcAft>
            </a:pPr>
            <a:r>
              <a:rPr sz="1500" b="0">
                <a:solidFill>
                  <a:srgbClr val="282828"/>
                </a:solidFill>
                <a:latin typeface="Arial"/>
              </a:rPr>
              <a:t>•  To everyone: the largest defect class I produced in months of this work was conventions — the sign of a radius, which reference sphere a number is quoted against.  What would it take for the industry to ship its conventions as data?</a:t>
            </a:r>
          </a:p>
        </p:txBody>
      </p:sp>
      <p:sp>
        <p:nvSpPr>
          <p:cNvPr id="5" name="TextBox 4"/>
          <p:cNvSpPr txBox="1"/>
          <p:nvPr/>
        </p:nvSpPr>
        <p:spPr>
          <a:xfrm>
            <a:off x="411480" y="5115306"/>
            <a:ext cx="11368735" cy="274320"/>
          </a:xfrm>
          <a:prstGeom prst="rect">
            <a:avLst/>
          </a:prstGeom>
          <a:noFill/>
        </p:spPr>
        <p:txBody>
          <a:bodyPr wrap="square">
            <a:spAutoFit/>
          </a:bodyPr>
          <a:lstStyle/>
          <a:p>
            <a:pPr>
              <a:spcAft>
                <a:spcPts val="600"/>
              </a:spcAft>
            </a:pPr>
            <a:r>
              <a:rPr sz="1050" b="0">
                <a:solidFill>
                  <a:srgbClr val="6E6E6E"/>
                </a:solidFill>
                <a:latin typeface="Arial"/>
              </a:rPr>
              <a:t>These are genuine, not rhetorical.  The agent is live during this talk: Dave can relay your answers — or your questions — and it will respond, or follow up, in real time.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Discussion: where should the agent sit?</a:t>
            </a:r>
          </a:p>
          <a:p>
            <a:pPr>
              <a:spcAft>
                <a:spcPts val="0"/>
              </a:spcAft>
            </a:pPr>
            <a:r>
              <a:rPr sz="1250" b="0">
                <a:solidFill>
                  <a:srgbClr val="6E6E6E"/>
                </a:solidFill>
                <a:latin typeface="Arial"/>
              </a:rPr>
              <a:t>Three modes — two exercised by these studies, one open — and the boundary between them is the question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2000" b="0">
                <a:solidFill>
                  <a:srgbClr val="282828"/>
                </a:solidFill>
                <a:latin typeface="Arial"/>
              </a:rPr>
              <a:t>•  A · The compiled tool, no agent — what ships: versioned, regression-tested, inspectable, and it runs unattended.  But measured on a cold user, the docs alone did not carry them.</a:t>
            </a:r>
          </a:p>
          <a:p>
            <a:pPr>
              <a:spcAft>
                <a:spcPts val="600"/>
              </a:spcAft>
            </a:pPr>
            <a:r>
              <a:rPr sz="2000" b="0">
                <a:solidFill>
                  <a:srgbClr val="282828"/>
                </a:solidFill>
                <a:latin typeface="Arial"/>
              </a:rPr>
              <a:t>•  B · An agent alongside the tool — what these studies did: it found and fixed the conceptual defects in hours and chose what was worth compiling.  Its knowledge is current — but not versioned with the tool.</a:t>
            </a:r>
          </a:p>
          <a:p>
            <a:pPr>
              <a:spcAft>
                <a:spcPts val="600"/>
              </a:spcAft>
            </a:pPr>
            <a:r>
              <a:rPr sz="2000" b="0">
                <a:solidFill>
                  <a:srgbClr val="282828"/>
                </a:solidFill>
                <a:latin typeface="Arial"/>
              </a:rPr>
              <a:t>•  C · A helper embedded in the tool — the open question: advice at the moment of use, catching the failure class that was documented and still fatal.</a:t>
            </a:r>
          </a:p>
          <a:p>
            <a:pPr>
              <a:spcAft>
                <a:spcPts val="600"/>
              </a:spcAft>
            </a:pPr>
            <a:r>
              <a:rPr sz="2000" b="0">
                <a:solidFill>
                  <a:srgbClr val="282828"/>
                </a:solidFill>
                <a:latin typeface="Arial"/>
              </a:rPr>
              <a:t>•  Shapes for C, in increasing authority:  agent-readable state (the user's own assistant drives the tool); a failure-triage assistant (fires on a failed check, returns a diagnosis and a next command); a policy assistant inside hard limits (chooses schedules and targets; the code enforces limits and logs every choice).</a:t>
            </a:r>
          </a:p>
          <a:p>
            <a:pPr>
              <a:spcAft>
                <a:spcPts val="600"/>
              </a:spcAft>
            </a:pPr>
            <a:r>
              <a:rPr sz="2000" b="0">
                <a:solidFill>
                  <a:srgbClr val="282828"/>
                </a:solidFill>
                <a:latin typeface="Arial"/>
              </a:rPr>
              <a:t>•  At any level, tier the agents: an orchestrator plans and delegates bounded tasks; the committed records — not any agent's memory — are the shared memory.</a:t>
            </a:r>
          </a:p>
        </p:txBody>
      </p:sp>
      <p:sp>
        <p:nvSpPr>
          <p:cNvPr id="5" name="TextBox 4"/>
          <p:cNvSpPr txBox="1"/>
          <p:nvPr/>
        </p:nvSpPr>
        <p:spPr>
          <a:xfrm>
            <a:off x="411480" y="6117336"/>
            <a:ext cx="11365992" cy="274320"/>
          </a:xfrm>
          <a:prstGeom prst="rect">
            <a:avLst/>
          </a:prstGeom>
          <a:noFill/>
        </p:spPr>
        <p:txBody>
          <a:bodyPr wrap="square">
            <a:spAutoFit/>
          </a:bodyPr>
          <a:lstStyle/>
          <a:p>
            <a:pPr>
              <a:spcAft>
                <a:spcPts val="600"/>
              </a:spcAft>
            </a:pPr>
            <a:r>
              <a:rPr sz="1050" b="0">
                <a:solidFill>
                  <a:srgbClr val="6E6E6E"/>
                </a:solidFill>
                <a:latin typeface="Arial"/>
              </a:rPr>
              <a:t>A stale check fails loudly; stale advice fails silently.  Measured: the tool alone did not carry a new user; an agent alongside it closed every gap — and most of what it learned is now in the tool, as checks and defaults.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If you asked us: AI around CODE V and LightTools</a:t>
            </a:r>
          </a:p>
          <a:p>
            <a:pPr>
              <a:spcAft>
                <a:spcPts val="0"/>
              </a:spcAft>
            </a:pPr>
            <a:r>
              <a:rPr sz="1250" b="0">
                <a:solidFill>
                  <a:srgbClr val="6E6E6E"/>
                </a:solidFill>
                <a:latin typeface="Arial"/>
              </a:rPr>
              <a:t>Add it around the optics, not in them — every claim below is measured, not speculative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800" b="0">
                <a:solidFill>
                  <a:srgbClr val="282828"/>
                </a:solidFill>
                <a:latin typeface="Arial"/>
              </a:rPr>
              <a:t>•  Make the tools agent-readable first — state, results, warnings and docs as structured data through the existing macro/API surface.  Every user's assistant then attaches today, and the vendor ships no intelligence at all.  This whole talk ran in that mode.</a:t>
            </a:r>
          </a:p>
          <a:p>
            <a:pPr>
              <a:spcAft>
                <a:spcPts val="600"/>
              </a:spcAft>
            </a:pPr>
            <a:r>
              <a:rPr sz="1800" b="0">
                <a:solidFill>
                  <a:srgbClr val="282828"/>
                </a:solidFill>
                <a:latin typeface="Arial"/>
              </a:rPr>
              <a:t>•  Ship the conventions as data.  The largest defect class our agent found was conventions — the sign of a radius, DAR versus a coordinate break, which reference sphere a number is quoted against.  Make them queryable and the dominant error source disappears for humans and agents alike.</a:t>
            </a:r>
          </a:p>
          <a:p>
            <a:pPr>
              <a:spcAft>
                <a:spcPts val="600"/>
              </a:spcAft>
            </a:pPr>
            <a:r>
              <a:rPr sz="1800" b="0">
                <a:solidFill>
                  <a:srgbClr val="282828"/>
                </a:solidFill>
                <a:latin typeface="Arial"/>
              </a:rPr>
              <a:t>•  Embed a failure-triage assistant first — it wakes on a failed trace or a stalled solve, reads the saved state, and returns one line of diagnosis plus a next command the person runs.  Our stalled solve was a finite-difference step reading the gradient 17% low: a one-line answer sitting in state the tool already had.</a:t>
            </a:r>
          </a:p>
          <a:p>
            <a:pPr>
              <a:spcAft>
                <a:spcPts val="600"/>
              </a:spcAft>
            </a:pPr>
            <a:r>
              <a:rPr sz="1800" b="0">
                <a:solidFill>
                  <a:srgbClr val="282828"/>
                </a:solidFill>
                <a:latin typeface="Arial"/>
              </a:rPr>
              <a:t>•  Put the agent in the search, never in the numerics — starting points and basins (a warm-started walk beat the cold start 8500×); variable-set audits (35% of a metric unclaimed because one freedom was never offered); optimization schedules (a restart ladder dug the dark hole 1.2×10⁻⁶ → 1.1×10⁻⁹ overnight); tolerancing and glass searches.</a:t>
            </a:r>
          </a:p>
          <a:p>
            <a:pPr>
              <a:spcAft>
                <a:spcPts val="600"/>
              </a:spcAft>
            </a:pPr>
            <a:r>
              <a:rPr sz="1800" b="0">
                <a:solidFill>
                  <a:srgbClr val="282828"/>
                </a:solidFill>
                <a:latin typeface="Arial"/>
              </a:rPr>
              <a:t>•  Ship the trust machinery with it: every AI action a readable, replayable script — never an opaque state mutation; every proposal a before/after check with negative controls; the assistant's knowledge versioned with the release.</a:t>
            </a:r>
          </a:p>
        </p:txBody>
      </p:sp>
      <p:sp>
        <p:nvSpPr>
          <p:cNvPr id="5" name="TextBox 4"/>
          <p:cNvSpPr txBox="1"/>
          <p:nvPr/>
        </p:nvSpPr>
        <p:spPr>
          <a:xfrm>
            <a:off x="411480" y="6263640"/>
            <a:ext cx="11365992" cy="274320"/>
          </a:xfrm>
          <a:prstGeom prst="rect">
            <a:avLst/>
          </a:prstGeom>
          <a:noFill/>
        </p:spPr>
        <p:txBody>
          <a:bodyPr wrap="square">
            <a:spAutoFit/>
          </a:bodyPr>
          <a:lstStyle/>
          <a:p>
            <a:pPr>
              <a:spcAft>
                <a:spcPts val="600"/>
              </a:spcAft>
            </a:pPr>
            <a:r>
              <a:rPr sz="1050" b="0">
                <a:solidFill>
                  <a:srgbClr val="6E6E6E"/>
                </a:solidFill>
                <a:latin typeface="Arial"/>
              </a:rPr>
              <a:t>The agent proposes; the trusted engine disposes.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 Slides</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Validation anchors</a:t>
            </a:r>
          </a:p>
          <a:p>
            <a:pPr>
              <a:spcAft>
                <a:spcPts val="0"/>
              </a:spcAft>
            </a:pPr>
            <a:r>
              <a:rPr sz="1250" b="0">
                <a:solidFill>
                  <a:srgbClr val="6E6E6E"/>
                </a:solidFill>
                <a:latin typeface="Arial"/>
              </a:rPr>
              <a:t>The trust base, by physics domain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1680210"/>
        </p:xfrm>
        <a:graphic>
          <a:graphicData uri="http://schemas.openxmlformats.org/drawingml/2006/table">
            <a:tbl>
              <a:tblPr firstRow="1" bandRow="1">
                <a:tableStyleId>{5C22544A-7EE6-4342-B048-85BDC9FD1C3A}</a:tableStyleId>
              </a:tblPr>
              <a:tblGrid>
                <a:gridCol w="1526540"/>
                <a:gridCol w="3444768"/>
                <a:gridCol w="6397426"/>
              </a:tblGrid>
              <a:tr h="280035">
                <a:tc>
                  <a:txBody>
                    <a:bodyPr wrap="square"/>
                    <a:lstStyle/>
                    <a:p>
                      <a:r>
                        <a:rPr sz="1100" b="1">
                          <a:solidFill>
                            <a:srgbClr val="FFFFFF"/>
                          </a:solidFill>
                          <a:latin typeface="Arial"/>
                        </a:rPr>
                        <a:t>domain</a:t>
                      </a:r>
                    </a:p>
                  </a:txBody>
                  <a:tcPr marL="54864" marR="54864" marT="18288" marB="18288">
                    <a:solidFill>
                      <a:srgbClr val="1F4E79"/>
                    </a:solidFill>
                  </a:tcPr>
                </a:tc>
                <a:tc>
                  <a:txBody>
                    <a:bodyPr wrap="square"/>
                    <a:lstStyle/>
                    <a:p>
                      <a:r>
                        <a:rPr sz="1100" b="1">
                          <a:solidFill>
                            <a:srgbClr val="FFFFFF"/>
                          </a:solidFill>
                          <a:latin typeface="Arial"/>
                        </a:rPr>
                        <a:t>reference</a:t>
                      </a:r>
                    </a:p>
                  </a:txBody>
                  <a:tcPr marL="54864" marR="54864" marT="18288" marB="18288">
                    <a:solidFill>
                      <a:srgbClr val="1F4E79"/>
                    </a:solidFill>
                  </a:tcPr>
                </a:tc>
                <a:tc>
                  <a:txBody>
                    <a:bodyPr wrap="square"/>
                    <a:lstStyle/>
                    <a:p>
                      <a:r>
                        <a:rPr sz="1100" b="1">
                          <a:solidFill>
                            <a:srgbClr val="FFFFFF"/>
                          </a:solidFill>
                          <a:latin typeface="Arial"/>
                        </a:rPr>
                        <a:t>agreement</a:t>
                      </a:r>
                    </a:p>
                  </a:txBody>
                  <a:tcPr marL="54864" marR="54864" marT="18288" marB="18288">
                    <a:solidFill>
                      <a:srgbClr val="1F4E79"/>
                    </a:solidFill>
                  </a:tcPr>
                </a:tc>
              </a:tr>
              <a:tr h="280035">
                <a:tc>
                  <a:txBody>
                    <a:bodyPr wrap="square"/>
                    <a:lstStyle/>
                    <a:p>
                      <a:r>
                        <a:rPr sz="1100" b="0">
                          <a:solidFill>
                            <a:srgbClr val="282828"/>
                          </a:solidFill>
                          <a:latin typeface="Arial"/>
                        </a:rPr>
                        <a:t>geometric ray trace</a:t>
                      </a:r>
                    </a:p>
                  </a:txBody>
                  <a:tcPr marL="54864" marR="54864" marT="18288" marB="18288">
                    <a:solidFill>
                      <a:srgbClr val="FFFFFF"/>
                    </a:solidFill>
                  </a:tcPr>
                </a:tc>
                <a:tc>
                  <a:txBody>
                    <a:bodyPr wrap="square"/>
                    <a:lstStyle/>
                    <a:p>
                      <a:r>
                        <a:rPr sz="1100" b="0">
                          <a:solidFill>
                            <a:srgbClr val="282828"/>
                          </a:solidFill>
                          <a:latin typeface="Arial"/>
                        </a:rPr>
                        <a:t>CODE V comparison suite</a:t>
                      </a:r>
                    </a:p>
                  </a:txBody>
                  <a:tcPr marL="54864" marR="54864" marT="18288" marB="18288">
                    <a:solidFill>
                      <a:srgbClr val="FFFFFF"/>
                    </a:solidFill>
                  </a:tcPr>
                </a:tc>
                <a:tc>
                  <a:txBody>
                    <a:bodyPr wrap="square"/>
                    <a:lstStyle/>
                    <a:p>
                      <a:r>
                        <a:rPr sz="1100" b="0">
                          <a:solidFill>
                            <a:srgbClr val="282828"/>
                          </a:solidFill>
                          <a:latin typeface="Arial"/>
                        </a:rPr>
                        <a:t>6,601 tests</a:t>
                      </a:r>
                    </a:p>
                  </a:txBody>
                  <a:tcPr marL="54864" marR="54864" marT="18288" marB="18288">
                    <a:solidFill>
                      <a:srgbClr val="FFFFFF"/>
                    </a:solidFill>
                  </a:tcPr>
                </a:tc>
              </a:tr>
              <a:tr h="280035">
                <a:tc>
                  <a:txBody>
                    <a:bodyPr wrap="square"/>
                    <a:lstStyle/>
                    <a:p>
                      <a:r>
                        <a:rPr sz="1100" b="0">
                          <a:solidFill>
                            <a:srgbClr val="282828"/>
                          </a:solidFill>
                          <a:latin typeface="Arial"/>
                        </a:rPr>
                        <a:t>physical optics</a:t>
                      </a:r>
                    </a:p>
                  </a:txBody>
                  <a:tcPr marL="54864" marR="54864" marT="18288" marB="18288">
                    <a:solidFill>
                      <a:srgbClr val="ECF1F6"/>
                    </a:solidFill>
                  </a:tcPr>
                </a:tc>
                <a:tc>
                  <a:txBody>
                    <a:bodyPr wrap="square"/>
                    <a:lstStyle/>
                    <a:p>
                      <a:r>
                        <a:rPr sz="1100" b="0">
                          <a:solidFill>
                            <a:srgbClr val="282828"/>
                          </a:solidFill>
                          <a:latin typeface="Arial"/>
                        </a:rPr>
                        <a:t>PROPER propagation library</a:t>
                      </a:r>
                    </a:p>
                  </a:txBody>
                  <a:tcPr marL="54864" marR="54864" marT="18288" marB="18288">
                    <a:solidFill>
                      <a:srgbClr val="ECF1F6"/>
                    </a:solidFill>
                  </a:tcPr>
                </a:tc>
                <a:tc>
                  <a:txBody>
                    <a:bodyPr wrap="square"/>
                    <a:lstStyle/>
                    <a:p>
                      <a:r>
                        <a:rPr sz="1100" b="0">
                          <a:solidFill>
                            <a:srgbClr val="282828"/>
                          </a:solidFill>
                          <a:latin typeface="Arial"/>
                        </a:rPr>
                        <a:t>10⁻¹¹–10⁻¹³ well-sampled; 10⁻⁸–10⁻⁵ sampling-limited / post-focus</a:t>
                      </a:r>
                    </a:p>
                  </a:txBody>
                  <a:tcPr marL="54864" marR="54864" marT="18288" marB="18288">
                    <a:solidFill>
                      <a:srgbClr val="ECF1F6"/>
                    </a:solidFill>
                  </a:tcPr>
                </a:tc>
              </a:tr>
              <a:tr h="280035">
                <a:tc>
                  <a:txBody>
                    <a:bodyPr wrap="square"/>
                    <a:lstStyle/>
                    <a:p>
                      <a:r>
                        <a:rPr sz="1100" b="0">
                          <a:solidFill>
                            <a:srgbClr val="282828"/>
                          </a:solidFill>
                          <a:latin typeface="Arial"/>
                        </a:rPr>
                        <a:t>polarization</a:t>
                      </a:r>
                    </a:p>
                  </a:txBody>
                  <a:tcPr marL="54864" marR="54864" marT="18288" marB="18288">
                    <a:solidFill>
                      <a:srgbClr val="FFFFFF"/>
                    </a:solidFill>
                  </a:tcPr>
                </a:tc>
                <a:tc>
                  <a:txBody>
                    <a:bodyPr wrap="square"/>
                    <a:lstStyle/>
                    <a:p>
                      <a:r>
                        <a:rPr sz="1100" b="0">
                          <a:solidFill>
                            <a:srgbClr val="282828"/>
                          </a:solidFill>
                          <a:latin typeface="Arial"/>
                        </a:rPr>
                        <a:t>Born &amp; Wolf / Abelès closed forms</a:t>
                      </a:r>
                    </a:p>
                  </a:txBody>
                  <a:tcPr marL="54864" marR="54864" marT="18288" marB="18288">
                    <a:solidFill>
                      <a:srgbClr val="FFFFFF"/>
                    </a:solidFill>
                  </a:tcPr>
                </a:tc>
                <a:tc>
                  <a:txBody>
                    <a:bodyPr wrap="square"/>
                    <a:lstStyle/>
                    <a:p>
                      <a:r>
                        <a:rPr sz="1100" b="0">
                          <a:solidFill>
                            <a:srgbClr val="282828"/>
                          </a:solidFill>
                          <a:latin typeface="Arial"/>
                        </a:rPr>
                        <a:t>10⁻¹²–10⁻¹⁴</a:t>
                      </a:r>
                    </a:p>
                  </a:txBody>
                  <a:tcPr marL="54864" marR="54864" marT="18288" marB="18288">
                    <a:solidFill>
                      <a:srgbClr val="FFFFFF"/>
                    </a:solidFill>
                  </a:tcPr>
                </a:tc>
              </a:tr>
              <a:tr h="280035">
                <a:tc>
                  <a:txBody>
                    <a:bodyPr wrap="square"/>
                    <a:lstStyle/>
                    <a:p>
                      <a:r>
                        <a:rPr sz="1100" b="0">
                          <a:solidFill>
                            <a:srgbClr val="282828"/>
                          </a:solidFill>
                          <a:latin typeface="Arial"/>
                        </a:rPr>
                        <a:t>polarization, lab</a:t>
                      </a:r>
                    </a:p>
                  </a:txBody>
                  <a:tcPr marL="54864" marR="54864" marT="18288" marB="18288">
                    <a:solidFill>
                      <a:srgbClr val="ECF1F6"/>
                    </a:solidFill>
                  </a:tcPr>
                </a:tc>
                <a:tc>
                  <a:txBody>
                    <a:bodyPr wrap="square"/>
                    <a:lstStyle/>
                    <a:p>
                      <a:r>
                        <a:rPr sz="1100" b="0">
                          <a:solidFill>
                            <a:srgbClr val="282828"/>
                          </a:solidFill>
                          <a:latin typeface="Arial"/>
                        </a:rPr>
                        <a:t>published protected-Al Mueller data</a:t>
                      </a:r>
                    </a:p>
                  </a:txBody>
                  <a:tcPr marL="54864" marR="54864" marT="18288" marB="18288">
                    <a:solidFill>
                      <a:srgbClr val="ECF1F6"/>
                    </a:solidFill>
                  </a:tcPr>
                </a:tc>
                <a:tc>
                  <a:txBody>
                    <a:bodyPr wrap="square"/>
                    <a:lstStyle/>
                    <a:p>
                      <a:r>
                        <a:rPr sz="1100" b="0">
                          <a:solidFill>
                            <a:srgbClr val="282828"/>
                          </a:solidFill>
                          <a:latin typeface="Arial"/>
                        </a:rPr>
                        <a:t>~10⁻¹⁴ vs the model</a:t>
                      </a:r>
                    </a:p>
                  </a:txBody>
                  <a:tcPr marL="54864" marR="54864" marT="18288" marB="18288">
                    <a:solidFill>
                      <a:srgbClr val="ECF1F6"/>
                    </a:solidFill>
                  </a:tcPr>
                </a:tc>
              </a:tr>
              <a:tr h="280035">
                <a:tc>
                  <a:txBody>
                    <a:bodyPr wrap="square"/>
                    <a:lstStyle/>
                    <a:p>
                      <a:r>
                        <a:rPr sz="1100" b="0">
                          <a:solidFill>
                            <a:srgbClr val="282828"/>
                          </a:solidFill>
                          <a:latin typeface="Arial"/>
                        </a:rPr>
                        <a:t>build integrity</a:t>
                      </a:r>
                    </a:p>
                  </a:txBody>
                  <a:tcPr marL="54864" marR="54864" marT="18288" marB="18288">
                    <a:solidFill>
                      <a:srgbClr val="FFFFFF"/>
                    </a:solidFill>
                  </a:tcPr>
                </a:tc>
                <a:tc>
                  <a:txBody>
                    <a:bodyPr wrap="square"/>
                    <a:lstStyle/>
                    <a:p>
                      <a:r>
                        <a:rPr sz="1100" b="0">
                          <a:solidFill>
                            <a:srgbClr val="282828"/>
                          </a:solidFill>
                          <a:latin typeface="Arial"/>
                        </a:rPr>
                        <a:t>two compilers, one tree</a:t>
                      </a:r>
                    </a:p>
                  </a:txBody>
                  <a:tcPr marL="54864" marR="54864" marT="18288" marB="18288">
                    <a:solidFill>
                      <a:srgbClr val="FFFFFF"/>
                    </a:solidFill>
                  </a:tcPr>
                </a:tc>
                <a:tc>
                  <a:txBody>
                    <a:bodyPr wrap="square"/>
                    <a:lstStyle/>
                    <a:p>
                      <a:r>
                        <a:rPr sz="1100" b="0">
                          <a:solidFill>
                            <a:srgbClr val="282828"/>
                          </a:solidFill>
                          <a:latin typeface="Arial"/>
                        </a:rPr>
                        <a:t>bit-identical</a:t>
                      </a:r>
                    </a:p>
                  </a:txBody>
                  <a:tcPr marL="54864" marR="54864" marT="18288" marB="18288">
                    <a:solidFill>
                      <a:srgbClr val="FFFFFF"/>
                    </a:solidFill>
                  </a:tcPr>
                </a:tc>
              </a:tr>
            </a:tbl>
          </a:graphicData>
        </a:graphic>
      </p:graphicFrame>
      <p:sp>
        <p:nvSpPr>
          <p:cNvPr id="5" name="TextBox 4"/>
          <p:cNvSpPr txBox="1"/>
          <p:nvPr/>
        </p:nvSpPr>
        <p:spPr>
          <a:xfrm>
            <a:off x="411480" y="3124962"/>
            <a:ext cx="11368735" cy="274320"/>
          </a:xfrm>
          <a:prstGeom prst="rect">
            <a:avLst/>
          </a:prstGeom>
          <a:noFill/>
        </p:spPr>
        <p:txBody>
          <a:bodyPr wrap="square">
            <a:spAutoFit/>
          </a:bodyPr>
          <a:lstStyle/>
          <a:p>
            <a:pPr>
              <a:spcAft>
                <a:spcPts val="600"/>
              </a:spcAft>
            </a:pPr>
            <a:r>
              <a:rPr sz="1500" b="0">
                <a:solidFill>
                  <a:srgbClr val="282828"/>
                </a:solidFill>
                <a:latin typeface="Arial"/>
              </a:rPr>
              <a:t>•  The non-vacuity rule: every regression check is shown to fail against the pre-fix engine before it counts as protection.</a:t>
            </a:r>
          </a:p>
        </p:txBody>
      </p:sp>
      <p:sp>
        <p:nvSpPr>
          <p:cNvPr id="6" name="TextBox 5"/>
          <p:cNvSpPr txBox="1"/>
          <p:nvPr/>
        </p:nvSpPr>
        <p:spPr>
          <a:xfrm>
            <a:off x="411480" y="3797046"/>
            <a:ext cx="11368735" cy="274320"/>
          </a:xfrm>
          <a:prstGeom prst="rect">
            <a:avLst/>
          </a:prstGeom>
          <a:noFill/>
        </p:spPr>
        <p:txBody>
          <a:bodyPr wrap="square">
            <a:spAutoFit/>
          </a:bodyPr>
          <a:lstStyle/>
          <a:p>
            <a:pPr>
              <a:spcAft>
                <a:spcPts val="600"/>
              </a:spcAft>
            </a:pPr>
            <a:r>
              <a:rPr sz="1050" b="0">
                <a:solidFill>
                  <a:srgbClr val="6E6E6E"/>
                </a:solidFill>
                <a:latin typeface="Arial"/>
              </a:rPr>
              <a:t>Suites run per commit; counts as of 2026-08.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adjacent-design rehearsal bundle</a:t>
            </a:r>
          </a:p>
          <a:p>
            <a:pPr>
              <a:spcAft>
                <a:spcPts val="0"/>
              </a:spcAft>
            </a:pPr>
            <a:r>
              <a:rPr sz="1250" b="0">
                <a:solidFill>
                  <a:srgbClr val="6E6E6E"/>
                </a:solidFill>
                <a:latin typeface="Arial"/>
              </a:rPr>
              <a:t>Three widths, pre-run end to end at the demo settings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1120140"/>
        </p:xfrm>
        <a:graphic>
          <a:graphicData uri="http://schemas.openxmlformats.org/drawingml/2006/table">
            <a:tbl>
              <a:tblPr firstRow="1" bandRow="1">
                <a:tableStyleId>{5C22544A-7EE6-4342-B048-85BDC9FD1C3A}</a:tableStyleId>
              </a:tblPr>
              <a:tblGrid>
                <a:gridCol w="1120861"/>
                <a:gridCol w="1601230"/>
                <a:gridCol w="1441107"/>
                <a:gridCol w="2401845"/>
                <a:gridCol w="2401845"/>
                <a:gridCol w="960738"/>
                <a:gridCol w="1441107"/>
              </a:tblGrid>
              <a:tr h="280035">
                <a:tc>
                  <a:txBody>
                    <a:bodyPr wrap="square"/>
                    <a:lstStyle/>
                    <a:p>
                      <a:r>
                        <a:rPr sz="1100" b="1">
                          <a:solidFill>
                            <a:srgbClr val="FFFFFF"/>
                          </a:solidFill>
                          <a:latin typeface="Arial"/>
                        </a:rPr>
                        <a:t>ask</a:t>
                      </a:r>
                    </a:p>
                  </a:txBody>
                  <a:tcPr marL="54864" marR="54864" marT="18288" marB="18288">
                    <a:solidFill>
                      <a:srgbClr val="1F4E79"/>
                    </a:solidFill>
                  </a:tcPr>
                </a:tc>
                <a:tc>
                  <a:txBody>
                    <a:bodyPr wrap="square"/>
                    <a:lstStyle/>
                    <a:p>
                      <a:r>
                        <a:rPr sz="1100" b="1">
                          <a:solidFill>
                            <a:srgbClr val="FFFFFF"/>
                          </a:solidFill>
                          <a:latin typeface="Arial"/>
                        </a:rPr>
                        <a:t>warm start</a:t>
                      </a:r>
                    </a:p>
                  </a:txBody>
                  <a:tcPr marL="54864" marR="54864" marT="18288" marB="18288">
                    <a:solidFill>
                      <a:srgbClr val="1F4E79"/>
                    </a:solidFill>
                  </a:tcPr>
                </a:tc>
                <a:tc>
                  <a:txBody>
                    <a:bodyPr wrap="square"/>
                    <a:lstStyle/>
                    <a:p>
                      <a:r>
                        <a:rPr sz="1100" b="1">
                          <a:solidFill>
                            <a:srgbClr val="FFFFFF"/>
                          </a:solidFill>
                          <a:latin typeface="Arial"/>
                        </a:rPr>
                        <a:t>predicted</a:t>
                      </a:r>
                    </a:p>
                  </a:txBody>
                  <a:tcPr marL="54864" marR="54864" marT="18288" marB="18288">
                    <a:solidFill>
                      <a:srgbClr val="1F4E79"/>
                    </a:solidFill>
                  </a:tcPr>
                </a:tc>
                <a:tc>
                  <a:txBody>
                    <a:bodyPr wrap="square"/>
                    <a:lstStyle/>
                    <a:p>
                      <a:r>
                        <a:rPr sz="1100" b="1">
                          <a:solidFill>
                            <a:srgbClr val="FFFFFF"/>
                          </a:solidFill>
                          <a:latin typeface="Arial"/>
                        </a:rPr>
                        <a:t>solved</a:t>
                      </a:r>
                    </a:p>
                  </a:txBody>
                  <a:tcPr marL="54864" marR="54864" marT="18288" marB="18288">
                    <a:solidFill>
                      <a:srgbClr val="1F4E79"/>
                    </a:solidFill>
                  </a:tcPr>
                </a:tc>
                <a:tc>
                  <a:txBody>
                    <a:bodyPr wrap="square"/>
                    <a:lstStyle/>
                    <a:p>
                      <a:r>
                        <a:rPr sz="1100" b="1">
                          <a:solidFill>
                            <a:srgbClr val="FFFFFF"/>
                          </a:solidFill>
                          <a:latin typeface="Arial"/>
                        </a:rPr>
                        <a:t>clearance floor</a:t>
                      </a:r>
                    </a:p>
                  </a:txBody>
                  <a:tcPr marL="54864" marR="54864" marT="18288" marB="18288">
                    <a:solidFill>
                      <a:srgbClr val="1F4E79"/>
                    </a:solidFill>
                  </a:tcPr>
                </a:tc>
                <a:tc>
                  <a:txBody>
                    <a:bodyPr wrap="square"/>
                    <a:lstStyle/>
                    <a:p>
                      <a:r>
                        <a:rPr sz="1100" b="1">
                          <a:solidFill>
                            <a:srgbClr val="FFFFFF"/>
                          </a:solidFill>
                          <a:latin typeface="Arial"/>
                        </a:rPr>
                        <a:t>checks</a:t>
                      </a:r>
                    </a:p>
                  </a:txBody>
                  <a:tcPr marL="54864" marR="54864" marT="18288" marB="18288">
                    <a:solidFill>
                      <a:srgbClr val="1F4E79"/>
                    </a:solidFill>
                  </a:tcPr>
                </a:tc>
                <a:tc>
                  <a:txBody>
                    <a:bodyPr wrap="square"/>
                    <a:lstStyle/>
                    <a:p>
                      <a:r>
                        <a:rPr sz="1100" b="1">
                          <a:solidFill>
                            <a:srgbClr val="FFFFFF"/>
                          </a:solidFill>
                          <a:latin typeface="Arial"/>
                        </a:rPr>
                        <a:t>wall time</a:t>
                      </a:r>
                    </a:p>
                  </a:txBody>
                  <a:tcPr marL="54864" marR="54864" marT="18288" marB="18288">
                    <a:solidFill>
                      <a:srgbClr val="1F4E79"/>
                    </a:solidFill>
                  </a:tcPr>
                </a:tc>
              </a:tr>
              <a:tr h="280035">
                <a:tc>
                  <a:txBody>
                    <a:bodyPr wrap="square"/>
                    <a:lstStyle/>
                    <a:p>
                      <a:r>
                        <a:rPr sz="1100" b="0">
                          <a:solidFill>
                            <a:srgbClr val="282828"/>
                          </a:solidFill>
                          <a:latin typeface="Arial"/>
                        </a:rPr>
                        <a:t>7°×7°</a:t>
                      </a:r>
                    </a:p>
                  </a:txBody>
                  <a:tcPr marL="54864" marR="54864" marT="18288" marB="18288">
                    <a:solidFill>
                      <a:srgbClr val="FFFFFF"/>
                    </a:solidFill>
                  </a:tcPr>
                </a:tc>
                <a:tc>
                  <a:txBody>
                    <a:bodyPr wrap="square"/>
                    <a:lstStyle/>
                    <a:p>
                      <a:r>
                        <a:rPr sz="1100" b="0">
                          <a:solidFill>
                            <a:srgbClr val="282828"/>
                          </a:solidFill>
                          <a:latin typeface="Arial"/>
                        </a:rPr>
                        <a:t>5° step</a:t>
                      </a:r>
                    </a:p>
                  </a:txBody>
                  <a:tcPr marL="54864" marR="54864" marT="18288" marB="18288">
                    <a:solidFill>
                      <a:srgbClr val="FFFFFF"/>
                    </a:solidFill>
                  </a:tcPr>
                </a:tc>
                <a:tc>
                  <a:txBody>
                    <a:bodyPr wrap="square"/>
                    <a:lstStyle/>
                    <a:p>
                      <a:r>
                        <a:rPr sz="1100" b="0">
                          <a:solidFill>
                            <a:srgbClr val="282828"/>
                          </a:solidFill>
                          <a:latin typeface="Arial"/>
                        </a:rPr>
                        <a:t>18.0 nm</a:t>
                      </a:r>
                    </a:p>
                  </a:txBody>
                  <a:tcPr marL="54864" marR="54864" marT="18288" marB="18288">
                    <a:solidFill>
                      <a:srgbClr val="FFFFFF"/>
                    </a:solidFill>
                  </a:tcPr>
                </a:tc>
                <a:tc>
                  <a:txBody>
                    <a:bodyPr wrap="square"/>
                    <a:lstStyle/>
                    <a:p>
                      <a:r>
                        <a:rPr sz="1100" b="0">
                          <a:solidFill>
                            <a:srgbClr val="282828"/>
                          </a:solidFill>
                          <a:latin typeface="Arial"/>
                        </a:rPr>
                        <a:t>20.0 nm (1.11×)</a:t>
                      </a:r>
                    </a:p>
                  </a:txBody>
                  <a:tcPr marL="54864" marR="54864" marT="18288" marB="18288">
                    <a:solidFill>
                      <a:srgbClr val="FFFFFF"/>
                    </a:solidFill>
                  </a:tcPr>
                </a:tc>
                <a:tc>
                  <a:txBody>
                    <a:bodyPr wrap="square"/>
                    <a:lstStyle/>
                    <a:p>
                      <a:r>
                        <a:rPr sz="1100" b="0">
                          <a:solidFill>
                            <a:srgbClr val="282828"/>
                          </a:solidFill>
                          <a:latin typeface="Arial"/>
                        </a:rPr>
                        <a:t>93.8 mm</a:t>
                      </a:r>
                    </a:p>
                  </a:txBody>
                  <a:tcPr marL="54864" marR="54864" marT="18288" marB="18288">
                    <a:solidFill>
                      <a:srgbClr val="FFFFFF"/>
                    </a:solidFill>
                  </a:tcPr>
                </a:tc>
                <a:tc>
                  <a:txBody>
                    <a:bodyPr wrap="square"/>
                    <a:lstStyle/>
                    <a:p>
                      <a:r>
                        <a:rPr sz="1100" b="0">
                          <a:solidFill>
                            <a:srgbClr val="282828"/>
                          </a:solidFill>
                          <a:latin typeface="Arial"/>
                        </a:rPr>
                        <a:t>pass</a:t>
                      </a:r>
                    </a:p>
                  </a:txBody>
                  <a:tcPr marL="54864" marR="54864" marT="18288" marB="18288">
                    <a:solidFill>
                      <a:srgbClr val="FFFFFF"/>
                    </a:solidFill>
                  </a:tcPr>
                </a:tc>
                <a:tc>
                  <a:txBody>
                    <a:bodyPr wrap="square"/>
                    <a:lstStyle/>
                    <a:p>
                      <a:r>
                        <a:rPr sz="1100" b="0">
                          <a:solidFill>
                            <a:srgbClr val="282828"/>
                          </a:solidFill>
                          <a:latin typeface="Arial"/>
                        </a:rPr>
                        <a:t>15.2 min</a:t>
                      </a:r>
                    </a:p>
                  </a:txBody>
                  <a:tcPr marL="54864" marR="54864" marT="18288" marB="18288">
                    <a:solidFill>
                      <a:srgbClr val="FFFFFF"/>
                    </a:solidFill>
                  </a:tcPr>
                </a:tc>
              </a:tr>
              <a:tr h="280035">
                <a:tc>
                  <a:txBody>
                    <a:bodyPr wrap="square"/>
                    <a:lstStyle/>
                    <a:p>
                      <a:r>
                        <a:rPr sz="1100" b="0">
                          <a:solidFill>
                            <a:srgbClr val="282828"/>
                          </a:solidFill>
                          <a:latin typeface="Arial"/>
                        </a:rPr>
                        <a:t>12°×12°</a:t>
                      </a:r>
                    </a:p>
                  </a:txBody>
                  <a:tcPr marL="54864" marR="54864" marT="18288" marB="18288">
                    <a:solidFill>
                      <a:srgbClr val="ECF1F6"/>
                    </a:solidFill>
                  </a:tcPr>
                </a:tc>
                <a:tc>
                  <a:txBody>
                    <a:bodyPr wrap="square"/>
                    <a:lstStyle/>
                    <a:p>
                      <a:r>
                        <a:rPr sz="1100" b="0">
                          <a:solidFill>
                            <a:srgbClr val="282828"/>
                          </a:solidFill>
                          <a:latin typeface="Arial"/>
                        </a:rPr>
                        <a:t>11° step</a:t>
                      </a:r>
                    </a:p>
                  </a:txBody>
                  <a:tcPr marL="54864" marR="54864" marT="18288" marB="18288">
                    <a:solidFill>
                      <a:srgbClr val="ECF1F6"/>
                    </a:solidFill>
                  </a:tcPr>
                </a:tc>
                <a:tc>
                  <a:txBody>
                    <a:bodyPr wrap="square"/>
                    <a:lstStyle/>
                    <a:p>
                      <a:r>
                        <a:rPr sz="1100" b="0">
                          <a:solidFill>
                            <a:srgbClr val="282828"/>
                          </a:solidFill>
                          <a:latin typeface="Arial"/>
                        </a:rPr>
                        <a:t>33.7 nm</a:t>
                      </a:r>
                    </a:p>
                  </a:txBody>
                  <a:tcPr marL="54864" marR="54864" marT="18288" marB="18288">
                    <a:solidFill>
                      <a:srgbClr val="ECF1F6"/>
                    </a:solidFill>
                  </a:tcPr>
                </a:tc>
                <a:tc>
                  <a:txBody>
                    <a:bodyPr wrap="square"/>
                    <a:lstStyle/>
                    <a:p>
                      <a:r>
                        <a:rPr sz="1100" b="0">
                          <a:solidFill>
                            <a:srgbClr val="282828"/>
                          </a:solidFill>
                          <a:latin typeface="Arial"/>
                        </a:rPr>
                        <a:t>33.6 nm (1.00×)</a:t>
                      </a:r>
                    </a:p>
                  </a:txBody>
                  <a:tcPr marL="54864" marR="54864" marT="18288" marB="18288">
                    <a:solidFill>
                      <a:srgbClr val="ECF1F6"/>
                    </a:solidFill>
                  </a:tcPr>
                </a:tc>
                <a:tc>
                  <a:txBody>
                    <a:bodyPr wrap="square"/>
                    <a:lstStyle/>
                    <a:p>
                      <a:r>
                        <a:rPr sz="1100" b="0">
                          <a:solidFill>
                            <a:srgbClr val="282828"/>
                          </a:solidFill>
                          <a:latin typeface="Arial"/>
                        </a:rPr>
                        <a:t>24.9 mm</a:t>
                      </a:r>
                    </a:p>
                  </a:txBody>
                  <a:tcPr marL="54864" marR="54864" marT="18288" marB="18288">
                    <a:solidFill>
                      <a:srgbClr val="ECF1F6"/>
                    </a:solidFill>
                  </a:tcPr>
                </a:tc>
                <a:tc>
                  <a:txBody>
                    <a:bodyPr wrap="square"/>
                    <a:lstStyle/>
                    <a:p>
                      <a:r>
                        <a:rPr sz="1100" b="0">
                          <a:solidFill>
                            <a:srgbClr val="282828"/>
                          </a:solidFill>
                          <a:latin typeface="Arial"/>
                        </a:rPr>
                        <a:t>pass</a:t>
                      </a:r>
                    </a:p>
                  </a:txBody>
                  <a:tcPr marL="54864" marR="54864" marT="18288" marB="18288">
                    <a:solidFill>
                      <a:srgbClr val="ECF1F6"/>
                    </a:solidFill>
                  </a:tcPr>
                </a:tc>
                <a:tc>
                  <a:txBody>
                    <a:bodyPr wrap="square"/>
                    <a:lstStyle/>
                    <a:p>
                      <a:r>
                        <a:rPr sz="1100" b="0">
                          <a:solidFill>
                            <a:srgbClr val="282828"/>
                          </a:solidFill>
                          <a:latin typeface="Arial"/>
                        </a:rPr>
                        <a:t>15.2 min</a:t>
                      </a:r>
                    </a:p>
                  </a:txBody>
                  <a:tcPr marL="54864" marR="54864" marT="18288" marB="18288">
                    <a:solidFill>
                      <a:srgbClr val="ECF1F6"/>
                    </a:solidFill>
                  </a:tcPr>
                </a:tc>
              </a:tr>
              <a:tr h="280035">
                <a:tc>
                  <a:txBody>
                    <a:bodyPr wrap="square"/>
                    <a:lstStyle/>
                    <a:p>
                      <a:r>
                        <a:rPr sz="1100" b="0">
                          <a:solidFill>
                            <a:srgbClr val="282828"/>
                          </a:solidFill>
                          <a:latin typeface="Arial"/>
                        </a:rPr>
                        <a:t>14°×14°</a:t>
                      </a:r>
                    </a:p>
                  </a:txBody>
                  <a:tcPr marL="54864" marR="54864" marT="18288" marB="18288">
                    <a:solidFill>
                      <a:srgbClr val="FFFFFF"/>
                    </a:solidFill>
                  </a:tcPr>
                </a:tc>
                <a:tc>
                  <a:txBody>
                    <a:bodyPr wrap="square"/>
                    <a:lstStyle/>
                    <a:p>
                      <a:r>
                        <a:rPr sz="1100" b="0">
                          <a:solidFill>
                            <a:srgbClr val="282828"/>
                          </a:solidFill>
                          <a:latin typeface="Arial"/>
                        </a:rPr>
                        <a:t>13° step</a:t>
                      </a:r>
                    </a:p>
                  </a:txBody>
                  <a:tcPr marL="54864" marR="54864" marT="18288" marB="18288">
                    <a:solidFill>
                      <a:srgbClr val="FFFFFF"/>
                    </a:solidFill>
                  </a:tcPr>
                </a:tc>
                <a:tc>
                  <a:txBody>
                    <a:bodyPr wrap="square"/>
                    <a:lstStyle/>
                    <a:p>
                      <a:r>
                        <a:rPr sz="1100" b="0">
                          <a:solidFill>
                            <a:srgbClr val="282828"/>
                          </a:solidFill>
                          <a:latin typeface="Arial"/>
                        </a:rPr>
                        <a:t>54.9 nm</a:t>
                      </a:r>
                    </a:p>
                  </a:txBody>
                  <a:tcPr marL="54864" marR="54864" marT="18288" marB="18288">
                    <a:solidFill>
                      <a:srgbClr val="FFFFFF"/>
                    </a:solidFill>
                  </a:tcPr>
                </a:tc>
                <a:tc>
                  <a:txBody>
                    <a:bodyPr wrap="square"/>
                    <a:lstStyle/>
                    <a:p>
                      <a:r>
                        <a:rPr sz="1100" b="0">
                          <a:solidFill>
                            <a:srgbClr val="282828"/>
                          </a:solidFill>
                          <a:latin typeface="Arial"/>
                        </a:rPr>
                        <a:t>51.2 nm (0.93×)</a:t>
                      </a:r>
                    </a:p>
                  </a:txBody>
                  <a:tcPr marL="54864" marR="54864" marT="18288" marB="18288">
                    <a:solidFill>
                      <a:srgbClr val="FFFFFF"/>
                    </a:solidFill>
                  </a:tcPr>
                </a:tc>
                <a:tc>
                  <a:txBody>
                    <a:bodyPr wrap="square"/>
                    <a:lstStyle/>
                    <a:p>
                      <a:r>
                        <a:rPr sz="1100" b="0">
                          <a:solidFill>
                            <a:srgbClr val="282828"/>
                          </a:solidFill>
                          <a:latin typeface="Arial"/>
                        </a:rPr>
                        <a:t>24.9 mm</a:t>
                      </a:r>
                    </a:p>
                  </a:txBody>
                  <a:tcPr marL="54864" marR="54864" marT="18288" marB="18288">
                    <a:solidFill>
                      <a:srgbClr val="FFFFFF"/>
                    </a:solidFill>
                  </a:tcPr>
                </a:tc>
                <a:tc>
                  <a:txBody>
                    <a:bodyPr wrap="square"/>
                    <a:lstStyle/>
                    <a:p>
                      <a:r>
                        <a:rPr sz="1100" b="0">
                          <a:solidFill>
                            <a:srgbClr val="282828"/>
                          </a:solidFill>
                          <a:latin typeface="Arial"/>
                        </a:rPr>
                        <a:t>pass</a:t>
                      </a:r>
                    </a:p>
                  </a:txBody>
                  <a:tcPr marL="54864" marR="54864" marT="18288" marB="18288">
                    <a:solidFill>
                      <a:srgbClr val="FFFFFF"/>
                    </a:solidFill>
                  </a:tcPr>
                </a:tc>
                <a:tc>
                  <a:txBody>
                    <a:bodyPr wrap="square"/>
                    <a:lstStyle/>
                    <a:p>
                      <a:r>
                        <a:rPr sz="1100" b="0">
                          <a:solidFill>
                            <a:srgbClr val="282828"/>
                          </a:solidFill>
                          <a:latin typeface="Arial"/>
                        </a:rPr>
                        <a:t>15.2 min</a:t>
                      </a:r>
                    </a:p>
                  </a:txBody>
                  <a:tcPr marL="54864" marR="54864" marT="18288" marB="18288">
                    <a:solidFill>
                      <a:srgbClr val="FFFFFF"/>
                    </a:solidFill>
                  </a:tcPr>
                </a:tc>
              </a:tr>
            </a:tbl>
          </a:graphicData>
        </a:graphic>
      </p:graphicFrame>
      <p:sp>
        <p:nvSpPr>
          <p:cNvPr id="5" name="TextBox 4"/>
          <p:cNvSpPr txBox="1"/>
          <p:nvPr/>
        </p:nvSpPr>
        <p:spPr>
          <a:xfrm>
            <a:off x="411480" y="2564892"/>
            <a:ext cx="11368735" cy="274320"/>
          </a:xfrm>
          <a:prstGeom prst="rect">
            <a:avLst/>
          </a:prstGeom>
          <a:noFill/>
        </p:spPr>
        <p:txBody>
          <a:bodyPr wrap="square">
            <a:spAutoFit/>
          </a:bodyPr>
          <a:lstStyle/>
          <a:p>
            <a:pPr>
              <a:spcAft>
                <a:spcPts val="600"/>
              </a:spcAft>
            </a:pPr>
            <a:r>
              <a:rPr sz="1500" b="0">
                <a:solidFill>
                  <a:srgbClr val="282828"/>
                </a:solidFill>
                <a:latin typeface="Arial"/>
              </a:rPr>
              <a:t>•  A repeat 12° run reproduces the bundle to every printed digit — the demonstration is deterministic.</a:t>
            </a:r>
          </a:p>
          <a:p>
            <a:pPr>
              <a:spcAft>
                <a:spcPts val="600"/>
              </a:spcAft>
            </a:pPr>
            <a:r>
              <a:rPr sz="1500" b="0">
                <a:solidFill>
                  <a:srgbClr val="282828"/>
                </a:solidFill>
                <a:latin typeface="Arial"/>
              </a:rPr>
              <a:t>•  Wide asks pass: the committed frontier line understates the envelope (its widest rows stopped early on a wavefront-only criterion while the clearance penalty was still improving).</a:t>
            </a:r>
          </a:p>
        </p:txBody>
      </p:sp>
      <p:sp>
        <p:nvSpPr>
          <p:cNvPr id="6" name="TextBox 5"/>
          <p:cNvSpPr txBox="1"/>
          <p:nvPr/>
        </p:nvSpPr>
        <p:spPr>
          <a:xfrm>
            <a:off x="411480" y="3624834"/>
            <a:ext cx="11368735" cy="274320"/>
          </a:xfrm>
          <a:prstGeom prst="rect">
            <a:avLst/>
          </a:prstGeom>
          <a:noFill/>
        </p:spPr>
        <p:txBody>
          <a:bodyPr wrap="square">
            <a:spAutoFit/>
          </a:bodyPr>
          <a:lstStyle/>
          <a:p>
            <a:pPr>
              <a:spcAft>
                <a:spcPts val="600"/>
              </a:spcAft>
            </a:pPr>
            <a:r>
              <a:rPr sz="1050" b="0">
                <a:solidFill>
                  <a:srgbClr val="6E6E6E"/>
                </a:solidFill>
                <a:latin typeface="Arial"/>
              </a:rPr>
              <a:t>Bundle: templates/10_telescopes/offset_imager/demo_adjacent — figures, verdict text, prescriptions, run records.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packaging, three ways</a:t>
            </a:r>
          </a:p>
          <a:p>
            <a:pPr>
              <a:spcAft>
                <a:spcPts val="0"/>
              </a:spcAft>
            </a:pPr>
            <a:r>
              <a:rPr sz="1250" b="0">
                <a:solidFill>
                  <a:srgbClr val="6E6E6E"/>
                </a:solidFill>
                <a:latin typeface="Arial"/>
              </a:rPr>
              <a:t>The committed deck, the retired four-flat recipe, and the cleared tilt — engine truth on one scale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focal4_clear_layouts_tight.png"/>
          <p:cNvPicPr>
            <a:picLocks noChangeAspect="1"/>
          </p:cNvPicPr>
          <p:nvPr/>
        </p:nvPicPr>
        <p:blipFill>
          <a:blip r:embed="rId2"/>
          <a:stretch>
            <a:fillRect/>
          </a:stretch>
        </p:blipFill>
        <p:spPr>
          <a:xfrm>
            <a:off x="919744" y="1298448"/>
            <a:ext cx="10352207" cy="2714752"/>
          </a:xfrm>
          <a:prstGeom prst="rect">
            <a:avLst/>
          </a:prstGeom>
        </p:spPr>
      </p:pic>
      <p:sp>
        <p:nvSpPr>
          <p:cNvPr id="5" name="TextBox 4"/>
          <p:cNvSpPr txBox="1"/>
          <p:nvPr/>
        </p:nvSpPr>
        <p:spPr>
          <a:xfrm>
            <a:off x="411480" y="4031488"/>
            <a:ext cx="11368735" cy="394208"/>
          </a:xfrm>
          <a:prstGeom prst="rect">
            <a:avLst/>
          </a:prstGeom>
          <a:noFill/>
        </p:spPr>
        <p:txBody>
          <a:bodyPr wrap="square">
            <a:spAutoFit/>
          </a:bodyPr>
          <a:lstStyle/>
          <a:p>
            <a:pPr algn="ctr">
              <a:spcAft>
                <a:spcPts val="0"/>
              </a:spcAft>
            </a:pPr>
            <a:r>
              <a:rPr sz="1000" b="0">
                <a:solidFill>
                  <a:srgbClr val="6E6E6E"/>
                </a:solidFill>
                <a:latin typeface="Arial"/>
              </a:rPr>
              <a:t>Reading the markers: the blue dashed box is the stated envelope — the slab one M1–M2 spacing deep directly behind the primary, inside the 0.56 m keep-out radius; the blue bracket is the M1–M2 yardstick the depth ratios read against; the red dotted line marks the deepest optic; the green patch is the instrument volume along the exit chief.</a:t>
            </a:r>
          </a:p>
        </p:txBody>
      </p:sp>
      <p:sp>
        <p:nvSpPr>
          <p:cNvPr id="6" name="TextBox 5"/>
          <p:cNvSpPr txBox="1"/>
          <p:nvPr/>
        </p:nvSpPr>
        <p:spPr>
          <a:xfrm>
            <a:off x="411480" y="4462272"/>
            <a:ext cx="11368735" cy="274320"/>
          </a:xfrm>
          <a:prstGeom prst="rect">
            <a:avLst/>
          </a:prstGeom>
          <a:noFill/>
        </p:spPr>
        <p:txBody>
          <a:bodyPr wrap="square">
            <a:spAutoFit/>
          </a:bodyPr>
          <a:lstStyle/>
          <a:p>
            <a:pPr>
              <a:spcAft>
                <a:spcPts val="600"/>
              </a:spcAft>
            </a:pPr>
            <a:r>
              <a:rPr sz="1050" b="0">
                <a:solidFill>
                  <a:srgbClr val="6E6E6E"/>
                </a:solidFill>
                <a:latin typeface="Arial"/>
              </a:rPr>
              <a:t>Committed: deepest optic 1.887 m = 1.81× the spacing, the feed beam through the collimator by −79.9 mm.  Four-flat recipe: 0.893 m deep, but a fold is an isometry — the interference rides across — and it does not close on the cleared deck (96 routes, every admissible one loses rays).  Cleared −10°: 1.287 m = 1.24×, zero flats, +37.8 mm of daylight.  Record: challenges/afocal4/{packaging,clearing}.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demonstration backups</a:t>
            </a:r>
          </a:p>
          <a:p>
            <a:pPr>
              <a:spcAft>
                <a:spcPts val="0"/>
              </a:spcAft>
            </a:pPr>
            <a:r>
              <a:rPr sz="1250" b="0">
                <a:solidFill>
                  <a:srgbClr val="6E6E6E"/>
                </a:solidFill>
                <a:latin typeface="Arial"/>
              </a:rPr>
              <a:t>One committed image per live beat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mo2_beat5_poke.png"/>
          <p:cNvPicPr>
            <a:picLocks noChangeAspect="1"/>
          </p:cNvPicPr>
          <p:nvPr/>
        </p:nvPicPr>
        <p:blipFill>
          <a:blip r:embed="rId2"/>
          <a:stretch>
            <a:fillRect/>
          </a:stretch>
        </p:blipFill>
        <p:spPr>
          <a:xfrm>
            <a:off x="3772370" y="1298448"/>
            <a:ext cx="4646955" cy="1782572"/>
          </a:xfrm>
          <a:prstGeom prst="rect">
            <a:avLst/>
          </a:prstGeom>
        </p:spPr>
      </p:pic>
      <p:sp>
        <p:nvSpPr>
          <p:cNvPr id="5" name="TextBox 4"/>
          <p:cNvSpPr txBox="1"/>
          <p:nvPr/>
        </p:nvSpPr>
        <p:spPr>
          <a:xfrm>
            <a:off x="411480" y="3099308"/>
            <a:ext cx="11368735" cy="229107"/>
          </a:xfrm>
          <a:prstGeom prst="rect">
            <a:avLst/>
          </a:prstGeom>
          <a:noFill/>
        </p:spPr>
        <p:txBody>
          <a:bodyPr wrap="square">
            <a:spAutoFit/>
          </a:bodyPr>
          <a:lstStyle/>
          <a:p>
            <a:pPr algn="ctr">
              <a:spcAft>
                <a:spcPts val="0"/>
              </a:spcAft>
            </a:pPr>
            <a:r>
              <a:rPr sz="1000" b="0">
                <a:solidFill>
                  <a:srgbClr val="6E6E6E"/>
                </a:solidFill>
                <a:latin typeface="Arial"/>
              </a:rPr>
              <a:t>Beat 5 — one actuator poked: the fringes bend over it.</a:t>
            </a:r>
          </a:p>
        </p:txBody>
      </p:sp>
      <p:pic>
        <p:nvPicPr>
          <p:cNvPr id="6" name="Picture 5" descr="demo2_beat6_sweep.png"/>
          <p:cNvPicPr>
            <a:picLocks noChangeAspect="1"/>
          </p:cNvPicPr>
          <p:nvPr/>
        </p:nvPicPr>
        <p:blipFill>
          <a:blip r:embed="rId3"/>
          <a:stretch>
            <a:fillRect/>
          </a:stretch>
        </p:blipFill>
        <p:spPr>
          <a:xfrm>
            <a:off x="4186821" y="3364992"/>
            <a:ext cx="3818051" cy="1782572"/>
          </a:xfrm>
          <a:prstGeom prst="rect">
            <a:avLst/>
          </a:prstGeom>
        </p:spPr>
      </p:pic>
      <p:sp>
        <p:nvSpPr>
          <p:cNvPr id="7" name="TextBox 6"/>
          <p:cNvSpPr txBox="1"/>
          <p:nvPr/>
        </p:nvSpPr>
        <p:spPr>
          <a:xfrm>
            <a:off x="411480" y="5165852"/>
            <a:ext cx="11368735" cy="229107"/>
          </a:xfrm>
          <a:prstGeom prst="rect">
            <a:avLst/>
          </a:prstGeom>
          <a:noFill/>
        </p:spPr>
        <p:txBody>
          <a:bodyPr wrap="square">
            <a:spAutoFit/>
          </a:bodyPr>
          <a:lstStyle/>
          <a:p>
            <a:pPr algn="ctr">
              <a:spcAft>
                <a:spcPts val="0"/>
              </a:spcAft>
            </a:pPr>
            <a:r>
              <a:rPr sz="1000" b="0">
                <a:solidFill>
                  <a:srgbClr val="6E6E6E"/>
                </a:solidFill>
                <a:latin typeface="Arial"/>
              </a:rPr>
              <a:t>Beat 6 — the analyzer sweep: phase-stepped frames, no re-trace.</a:t>
            </a:r>
          </a:p>
        </p:txBody>
      </p:sp>
      <p:pic>
        <p:nvPicPr>
          <p:cNvPr id="8" name="Picture 7" descr="demo2_beat7_recovery.png"/>
          <p:cNvPicPr>
            <a:picLocks noChangeAspect="1"/>
          </p:cNvPicPr>
          <p:nvPr/>
        </p:nvPicPr>
        <p:blipFill>
          <a:blip r:embed="rId4"/>
          <a:stretch>
            <a:fillRect/>
          </a:stretch>
        </p:blipFill>
        <p:spPr>
          <a:xfrm>
            <a:off x="4177857" y="5431536"/>
            <a:ext cx="3835980" cy="1032763"/>
          </a:xfrm>
          <a:prstGeom prst="rect">
            <a:avLst/>
          </a:prstGeom>
        </p:spPr>
      </p:pic>
      <p:sp>
        <p:nvSpPr>
          <p:cNvPr id="9" name="TextBox 8"/>
          <p:cNvSpPr txBox="1"/>
          <p:nvPr/>
        </p:nvSpPr>
        <p:spPr>
          <a:xfrm>
            <a:off x="411480" y="6482588"/>
            <a:ext cx="11368735" cy="229107"/>
          </a:xfrm>
          <a:prstGeom prst="rect">
            <a:avLst/>
          </a:prstGeom>
          <a:noFill/>
        </p:spPr>
        <p:txBody>
          <a:bodyPr wrap="square">
            <a:spAutoFit/>
          </a:bodyPr>
          <a:lstStyle/>
          <a:p>
            <a:pPr algn="ctr">
              <a:spcAft>
                <a:spcPts val="0"/>
              </a:spcAft>
            </a:pPr>
            <a:r>
              <a:rPr sz="1000" b="0">
                <a:solidFill>
                  <a:srgbClr val="6E6E6E"/>
                </a:solidFill>
                <a:latin typeface="Arial"/>
              </a:rPr>
              <a:t>Beat 7 — the recovery beside the truth map.</a:t>
            </a:r>
          </a:p>
        </p:txBody>
      </p:sp>
      <p:sp>
        <p:nvSpPr>
          <p:cNvPr id="10" name="TextBox 9"/>
          <p:cNvSpPr txBox="1"/>
          <p:nvPr/>
        </p:nvSpPr>
        <p:spPr>
          <a:xfrm>
            <a:off x="411480" y="6748272"/>
            <a:ext cx="11368735" cy="274320"/>
          </a:xfrm>
          <a:prstGeom prst="rect">
            <a:avLst/>
          </a:prstGeom>
          <a:noFill/>
        </p:spPr>
        <p:txBody>
          <a:bodyPr wrap="square">
            <a:spAutoFit/>
          </a:bodyPr>
          <a:lstStyle/>
          <a:p>
            <a:pPr>
              <a:spcAft>
                <a:spcPts val="600"/>
              </a:spcAft>
            </a:pPr>
            <a:r>
              <a:rPr sz="1050" b="0">
                <a:solidFill>
                  <a:srgbClr val="6E6E6E"/>
                </a:solidFill>
                <a:latin typeface="Arial"/>
              </a:rPr>
              <a:t>All eight beats have committed figures in templates/90_polarization/tg_psi_dm_v2 (v1 likewise); the driver opens them on the desktop as each beat runs.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e2e worked example: specification to design</a:t>
            </a:r>
          </a:p>
          <a:p>
            <a:pPr>
              <a:spcAft>
                <a:spcPts val="0"/>
              </a:spcAft>
            </a:pPr>
            <a:r>
              <a:rPr sz="1250" b="0">
                <a:solidFill>
                  <a:srgbClr val="6E6E6E"/>
                </a:solidFill>
                <a:latin typeface="Arial"/>
              </a:rPr>
              <a:t>A 4 m f/18 visible-band telescope from a closed-form seed — no starting prescription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stage-runner sequence on the smaller worked example: specification → design → segmentation → metrology → comparison → simulation, each stage a committed runner handing its prescription to the next.</a:t>
            </a:r>
          </a:p>
          <a:p>
            <a:pPr>
              <a:spcAft>
                <a:spcPts val="600"/>
              </a:spcAft>
            </a:pPr>
            <a:r>
              <a:rPr sz="1200" b="0">
                <a:solidFill>
                  <a:srgbClr val="282828"/>
                </a:solidFill>
                <a:latin typeface="Arial"/>
              </a:rPr>
              <a:t>•  A 4 m f/18 telescope (f/1.75 primary) from a closed-form first-order seed; diffraction-limited over ±1′ alone, and the Offner ring-field relay buys the full ±2′ (Strehl floor 0.965, on pure spheres).</a:t>
            </a:r>
          </a:p>
        </p:txBody>
      </p:sp>
      <p:pic>
        <p:nvPicPr>
          <p:cNvPr id="5" name="Picture 4" descr="rowpair_s1_views.png"/>
          <p:cNvPicPr>
            <a:picLocks noChangeAspect="1"/>
          </p:cNvPicPr>
          <p:nvPr/>
        </p:nvPicPr>
        <p:blipFill>
          <a:blip r:embed="rId2"/>
          <a:stretch>
            <a:fillRect/>
          </a:stretch>
        </p:blipFill>
        <p:spPr>
          <a:xfrm>
            <a:off x="6738659" y="1298448"/>
            <a:ext cx="4719240" cy="2056892"/>
          </a:xfrm>
          <a:prstGeom prst="rect">
            <a:avLst/>
          </a:prstGeom>
        </p:spPr>
      </p:pic>
      <p:sp>
        <p:nvSpPr>
          <p:cNvPr id="6" name="TextBox 5"/>
          <p:cNvSpPr txBox="1"/>
          <p:nvPr/>
        </p:nvSpPr>
        <p:spPr>
          <a:xfrm>
            <a:off x="6400800" y="3373628"/>
            <a:ext cx="5394960" cy="229107"/>
          </a:xfrm>
          <a:prstGeom prst="rect">
            <a:avLst/>
          </a:prstGeom>
          <a:noFill/>
        </p:spPr>
        <p:txBody>
          <a:bodyPr wrap="square">
            <a:spAutoFit/>
          </a:bodyPr>
          <a:lstStyle/>
          <a:p>
            <a:pPr algn="ctr">
              <a:spcAft>
                <a:spcPts val="0"/>
              </a:spcAft>
            </a:pPr>
            <a:r>
              <a:rPr sz="1000" b="0">
                <a:solidFill>
                  <a:srgbClr val="6E6E6E"/>
                </a:solidFill>
                <a:latin typeface="Arial"/>
              </a:rPr>
              <a:t>The telescope as designed (front + iso views), with the traced field.</a:t>
            </a:r>
          </a:p>
        </p:txBody>
      </p:sp>
      <p:pic>
        <p:nvPicPr>
          <p:cNvPr id="7" name="Picture 6" descr="s1_wfe_field.png"/>
          <p:cNvPicPr>
            <a:picLocks noChangeAspect="1"/>
          </p:cNvPicPr>
          <p:nvPr/>
        </p:nvPicPr>
        <p:blipFill>
          <a:blip r:embed="rId3"/>
          <a:stretch>
            <a:fillRect/>
          </a:stretch>
        </p:blipFill>
        <p:spPr>
          <a:xfrm>
            <a:off x="7993860" y="3639312"/>
            <a:ext cx="2208839" cy="1782572"/>
          </a:xfrm>
          <a:prstGeom prst="rect">
            <a:avLst/>
          </a:prstGeom>
        </p:spPr>
      </p:pic>
      <p:sp>
        <p:nvSpPr>
          <p:cNvPr id="8" name="TextBox 7"/>
          <p:cNvSpPr txBox="1"/>
          <p:nvPr/>
        </p:nvSpPr>
        <p:spPr>
          <a:xfrm>
            <a:off x="6400800" y="5440171"/>
            <a:ext cx="5394960" cy="229107"/>
          </a:xfrm>
          <a:prstGeom prst="rect">
            <a:avLst/>
          </a:prstGeom>
          <a:noFill/>
        </p:spPr>
        <p:txBody>
          <a:bodyPr wrap="square">
            <a:spAutoFit/>
          </a:bodyPr>
          <a:lstStyle/>
          <a:p>
            <a:pPr algn="ctr">
              <a:spcAft>
                <a:spcPts val="0"/>
              </a:spcAft>
            </a:pPr>
            <a:r>
              <a:rPr sz="1000" b="0">
                <a:solidFill>
                  <a:srgbClr val="6E6E6E"/>
                </a:solidFill>
                <a:latin typeface="Arial"/>
              </a:rPr>
              <a:t>Wavefront error over the field: diffraction-limited across the box.</a:t>
            </a:r>
          </a:p>
        </p:txBody>
      </p:sp>
      <p:sp>
        <p:nvSpPr>
          <p:cNvPr id="9" name="TextBox 8"/>
          <p:cNvSpPr txBox="1"/>
          <p:nvPr/>
        </p:nvSpPr>
        <p:spPr>
          <a:xfrm>
            <a:off x="6400800" y="5705855"/>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 — staged worked example, committed at every step.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e2e worked example: segmentation and metrology</a:t>
            </a:r>
          </a:p>
          <a:p>
            <a:pPr>
              <a:spcAft>
                <a:spcPts val="0"/>
              </a:spcAft>
            </a:pPr>
            <a:r>
              <a:rPr sz="1250" b="0">
                <a:solidFill>
                  <a:srgbClr val="6E6E6E"/>
                </a:solidFill>
                <a:latin typeface="Arial"/>
              </a:rPr>
              <a:t>The monolith segments in one call; the metrology is designed on the same Jacobian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primary segments into a pie or hex tiling with physical apertures; every segment gets rigid-body and surface-figure sensitivity channels, stacked into one Jacobian — the control basis.</a:t>
            </a:r>
          </a:p>
          <a:p>
            <a:pPr>
              <a:spcAft>
                <a:spcPts val="600"/>
              </a:spcAft>
            </a:pPr>
            <a:r>
              <a:rPr sz="1200" b="0">
                <a:solidFill>
                  <a:srgbClr val="282828"/>
                </a:solidFill>
                <a:latin typeface="Arial"/>
              </a:rPr>
              <a:t>•  Metrology is an optimization on that basis: edge-sensor and beam-launcher layouts scored by the control information they carry, not by symmetry; the winning pattern exports as a reusable preset.</a:t>
            </a:r>
          </a:p>
        </p:txBody>
      </p:sp>
      <p:pic>
        <p:nvPicPr>
          <p:cNvPr id="5" name="Picture 4" descr="rowpair_s3_views_pie.png"/>
          <p:cNvPicPr>
            <a:picLocks noChangeAspect="1"/>
          </p:cNvPicPr>
          <p:nvPr/>
        </p:nvPicPr>
        <p:blipFill>
          <a:blip r:embed="rId2"/>
          <a:stretch>
            <a:fillRect/>
          </a:stretch>
        </p:blipFill>
        <p:spPr>
          <a:xfrm>
            <a:off x="6618167" y="1298448"/>
            <a:ext cx="4960224" cy="1965451"/>
          </a:xfrm>
          <a:prstGeom prst="rect">
            <a:avLst/>
          </a:prstGeom>
        </p:spPr>
      </p:pic>
      <p:sp>
        <p:nvSpPr>
          <p:cNvPr id="6" name="TextBox 5"/>
          <p:cNvSpPr txBox="1"/>
          <p:nvPr/>
        </p:nvSpPr>
        <p:spPr>
          <a:xfrm>
            <a:off x="6400800" y="3282188"/>
            <a:ext cx="5394960" cy="229107"/>
          </a:xfrm>
          <a:prstGeom prst="rect">
            <a:avLst/>
          </a:prstGeom>
          <a:noFill/>
        </p:spPr>
        <p:txBody>
          <a:bodyPr wrap="square">
            <a:spAutoFit/>
          </a:bodyPr>
          <a:lstStyle/>
          <a:p>
            <a:pPr algn="ctr">
              <a:spcAft>
                <a:spcPts val="0"/>
              </a:spcAft>
            </a:pPr>
            <a:r>
              <a:rPr sz="1000" b="0">
                <a:solidFill>
                  <a:srgbClr val="6E6E6E"/>
                </a:solidFill>
                <a:latin typeface="Arial"/>
              </a:rPr>
              <a:t>The segmented primary with physical apertures (front + iso views).</a:t>
            </a:r>
          </a:p>
        </p:txBody>
      </p:sp>
      <p:pic>
        <p:nvPicPr>
          <p:cNvPr id="7" name="Picture 6" descr="e2e_pie_met_view_rx.png"/>
          <p:cNvPicPr>
            <a:picLocks noChangeAspect="1"/>
          </p:cNvPicPr>
          <p:nvPr/>
        </p:nvPicPr>
        <p:blipFill>
          <a:blip r:embed="rId3"/>
          <a:stretch>
            <a:fillRect/>
          </a:stretch>
        </p:blipFill>
        <p:spPr>
          <a:xfrm>
            <a:off x="7662896" y="3547872"/>
            <a:ext cx="2870767" cy="1874011"/>
          </a:xfrm>
          <a:prstGeom prst="rect">
            <a:avLst/>
          </a:prstGeom>
        </p:spPr>
      </p:pic>
      <p:sp>
        <p:nvSpPr>
          <p:cNvPr id="8" name="TextBox 7"/>
          <p:cNvSpPr txBox="1"/>
          <p:nvPr/>
        </p:nvSpPr>
        <p:spPr>
          <a:xfrm>
            <a:off x="6400800" y="5440171"/>
            <a:ext cx="5394960" cy="229107"/>
          </a:xfrm>
          <a:prstGeom prst="rect">
            <a:avLst/>
          </a:prstGeom>
          <a:noFill/>
        </p:spPr>
        <p:txBody>
          <a:bodyPr wrap="square">
            <a:spAutoFit/>
          </a:bodyPr>
          <a:lstStyle/>
          <a:p>
            <a:pPr algn="ctr">
              <a:spcAft>
                <a:spcPts val="0"/>
              </a:spcAft>
            </a:pPr>
            <a:r>
              <a:rPr sz="1000" b="0">
                <a:solidFill>
                  <a:srgbClr val="6E6E6E"/>
                </a:solidFill>
                <a:latin typeface="Arial"/>
              </a:rPr>
              <a:t>The optimized metrology layout on the segmented primary.</a:t>
            </a:r>
          </a:p>
        </p:txBody>
      </p:sp>
      <p:sp>
        <p:nvSpPr>
          <p:cNvPr id="9" name="TextBox 8"/>
          <p:cNvSpPr txBox="1"/>
          <p:nvPr/>
        </p:nvSpPr>
        <p:spPr>
          <a:xfrm>
            <a:off x="6400800" y="5705855"/>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 stages 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e2e worked example: comparison and simulation</a:t>
            </a:r>
          </a:p>
          <a:p>
            <a:pPr>
              <a:spcAft>
                <a:spcPts val="0"/>
              </a:spcAft>
            </a:pPr>
            <a:r>
              <a:rPr sz="1250" b="0">
                <a:solidFill>
                  <a:srgbClr val="6E6E6E"/>
                </a:solidFill>
                <a:latin typeface="Arial"/>
              </a:rPr>
              <a:t>Segment drift of 10⁵ nm rms is sensed and held at ~7 nm corrected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Every linear model is checked against the engine before it is trusted: step each channel, re-trace, render engine and model side by side (left).  Then the simulator closes the loop on the same model: inject drift, sense with the designed metrology, estimate, correct (right).</a:t>
            </a:r>
          </a:p>
        </p:txBody>
      </p:sp>
      <p:pic>
        <p:nvPicPr>
          <p:cNvPr id="5" name="Picture 4" descr="e2e_compare_p001.png"/>
          <p:cNvPicPr>
            <a:picLocks noChangeAspect="1"/>
          </p:cNvPicPr>
          <p:nvPr/>
        </p:nvPicPr>
        <p:blipFill>
          <a:blip r:embed="rId2"/>
          <a:stretch>
            <a:fillRect/>
          </a:stretch>
        </p:blipFill>
        <p:spPr>
          <a:xfrm>
            <a:off x="1466756" y="2218182"/>
            <a:ext cx="3695887" cy="2714752"/>
          </a:xfrm>
          <a:prstGeom prst="rect">
            <a:avLst/>
          </a:prstGeom>
        </p:spPr>
      </p:pic>
      <p:sp>
        <p:nvSpPr>
          <p:cNvPr id="6" name="TextBox 5"/>
          <p:cNvSpPr txBox="1"/>
          <p:nvPr/>
        </p:nvSpPr>
        <p:spPr>
          <a:xfrm>
            <a:off x="411480" y="4951222"/>
            <a:ext cx="5806440" cy="394208"/>
          </a:xfrm>
          <a:prstGeom prst="rect">
            <a:avLst/>
          </a:prstGeom>
          <a:noFill/>
        </p:spPr>
        <p:txBody>
          <a:bodyPr wrap="square">
            <a:spAutoFit/>
          </a:bodyPr>
          <a:lstStyle/>
          <a:p>
            <a:pPr algn="ctr">
              <a:spcAft>
                <a:spcPts val="0"/>
              </a:spcAft>
            </a:pPr>
            <a:r>
              <a:rPr sz="1000" b="0">
                <a:solidFill>
                  <a:srgbClr val="6E6E6E"/>
                </a:solidFill>
                <a:latin typeface="Arial"/>
              </a:rPr>
              <a:t>The comparison stage: engine re-trace vs linear model, one perturbation channel (segment 1 Rx, +100 nrad).</a:t>
            </a:r>
          </a:p>
        </p:txBody>
      </p:sp>
      <p:pic>
        <p:nvPicPr>
          <p:cNvPr id="7" name="Picture 6" descr="e2e_sim_t007.png"/>
          <p:cNvPicPr>
            <a:picLocks noChangeAspect="1"/>
          </p:cNvPicPr>
          <p:nvPr/>
        </p:nvPicPr>
        <p:blipFill>
          <a:blip r:embed="rId3"/>
          <a:stretch>
            <a:fillRect/>
          </a:stretch>
        </p:blipFill>
        <p:spPr>
          <a:xfrm>
            <a:off x="6784520" y="2218182"/>
            <a:ext cx="4627519" cy="2714752"/>
          </a:xfrm>
          <a:prstGeom prst="rect">
            <a:avLst/>
          </a:prstGeom>
        </p:spPr>
      </p:pic>
      <p:sp>
        <p:nvSpPr>
          <p:cNvPr id="8" name="TextBox 7"/>
          <p:cNvSpPr txBox="1"/>
          <p:nvPr/>
        </p:nvSpPr>
        <p:spPr>
          <a:xfrm>
            <a:off x="6400800" y="4951222"/>
            <a:ext cx="5394960" cy="394208"/>
          </a:xfrm>
          <a:prstGeom prst="rect">
            <a:avLst/>
          </a:prstGeom>
          <a:noFill/>
        </p:spPr>
        <p:txBody>
          <a:bodyPr wrap="square">
            <a:spAutoFit/>
          </a:bodyPr>
          <a:lstStyle/>
          <a:p>
            <a:pPr algn="ctr">
              <a:spcAft>
                <a:spcPts val="0"/>
              </a:spcAft>
            </a:pPr>
            <a:r>
              <a:rPr sz="1000" b="0">
                <a:solidFill>
                  <a:srgbClr val="6E6E6E"/>
                </a:solidFill>
                <a:latin typeface="Arial"/>
              </a:rPr>
              <a:t>The simulator at t = 70 s: uncorrected 1.0×10⁵ nm vs 6.8 nm corrected; accumulating WFE and Strehl vs time below.</a:t>
            </a:r>
          </a:p>
        </p:txBody>
      </p:sp>
      <p:sp>
        <p:nvSpPr>
          <p:cNvPr id="9" name="TextBox 8"/>
          <p:cNvSpPr txBox="1"/>
          <p:nvPr/>
        </p:nvSpPr>
        <p:spPr>
          <a:xfrm>
            <a:off x="6400800" y="5382006"/>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 comparison + simulator stages (s6/s7).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