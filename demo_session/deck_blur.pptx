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1737360"/>
            <a:ext cx="10545775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4000" b="1">
                <a:solidFill>
                  <a:srgbClr val="1F4E79"/>
                </a:solidFill>
                <a:latin typeface="Arial"/>
              </a:rPr>
              <a:t>Pupil-Image Blur and the DM Gauge</a:t>
            </a:r>
          </a:p>
          <a:p>
            <a:pPr>
              <a:spcAft>
                <a:spcPts val="1400"/>
              </a:spcAft>
            </a:pPr>
            <a:r>
              <a:rPr sz="2200" b="0">
                <a:solidFill>
                  <a:srgbClr val="282828"/>
                </a:solidFill>
                <a:latin typeface="Arial"/>
              </a:rPr>
              <a:t>When does a blurred image of the deformable mirror cost the gauge accuracy?  A known surface, blurred by a kernel of swept width, reconstructed without and with calibration, by a plain least-squares read and by the gauge's own reconstructor; the built benches placed on the same axis.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6E6E6E"/>
                </a:solidFill>
                <a:latin typeface="Arial"/>
              </a:rPr>
              <a:t>D. C. Redding, with Claude Code.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6E6E6E"/>
                </a:solidFill>
                <a:latin typeface="Arial"/>
              </a:rPr>
              <a:t>October 2026.  Working record; engine-free (the model is the DM's influence functions and a Gaussian blur).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6E6E6E"/>
                </a:solidFill>
                <a:latin typeface="Arial"/>
              </a:rPr>
              <a:t>DRAFT — pending review.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5486400"/>
            <a:ext cx="1054577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 b="0">
                <a:solidFill>
                  <a:srgbClr val="6E6E6E"/>
                </a:solidFill>
                <a:latin typeface="Arial"/>
              </a:rPr>
              <a:t>The question (Fang Shi, 2026-10-08 talk): the DM is imaged onto the gauge's camera through lenses or off-axis mirrors; how much does the image's blur cost after calibration, and when would it matter?  The answer in one line: blur is a roll-off of the DM's highest spatial frequencies; a calibrated read removes it until the roll-off at the actuator spacing's Nyquist frequency reaches the reconstructor's own floor; the built legs sit two orders of magnitude below that.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The question, and how it is answered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Four steps anyone can check by eye; the only physics is the DM's influence function and a blur kernel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298448"/>
            <a:ext cx="5806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1. A known surface.</a:t>
            </a:r>
            <a:r>
              <a:rPr sz="1200" b="0">
                <a:solidFill>
                  <a:srgbClr val="282828"/>
                </a:solidFill>
                <a:latin typeface="Arial"/>
              </a:rPr>
              <a:t>  96 × 96 actuators at 1 mm spacing (the "pitch"); each actuator lifts a Gaussian bump of 0.85 mm 1/e radius; a random 30 nm rms command (the gauge's working surface) and, as the hardest case, a ±50 nm checkerboard — the finest pattern the DM can make.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2. The blur.</a:t>
            </a:r>
            <a:r>
              <a:rPr sz="1200" b="0">
                <a:solidFill>
                  <a:srgbClr val="282828"/>
                </a:solidFill>
                <a:latin typeface="Arial"/>
              </a:rPr>
              <a:t>  The surface is convolved with a Gaussian of 1/e radius σ, swept from 0 to 1.5 pitch, plus 20 pm of read noise per map pixel: this is what the camera sees.  (A detector-cell average — a box — is the second kernel, for a photodiode array.)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3. The reconstruction.</a:t>
            </a:r>
            <a:r>
              <a:rPr sz="1200" b="0">
                <a:solidFill>
                  <a:srgbClr val="282828"/>
                </a:solidFill>
                <a:latin typeface="Arial"/>
              </a:rPr>
              <a:t>  The actuator commands are recovered from the blurred map by least squares against a response matrix (one column per lit actuator), </a:t>
            </a:r>
            <a:r>
              <a:rPr sz="1200" b="1">
                <a:solidFill>
                  <a:srgbClr val="282828"/>
                </a:solidFill>
                <a:latin typeface="Arial"/>
              </a:rPr>
              <a:t>without calibration</a:t>
            </a:r>
            <a:r>
              <a:rPr sz="1200" b="0">
                <a:solidFill>
                  <a:srgbClr val="282828"/>
                </a:solidFill>
                <a:latin typeface="Arial"/>
              </a:rPr>
              <a:t> — the matrix built from the unblurred influence, as if no one knew about the blur — and </a:t>
            </a:r>
            <a:r>
              <a:rPr sz="1200" b="1">
                <a:solidFill>
                  <a:srgbClr val="282828"/>
                </a:solidFill>
                <a:latin typeface="Arial"/>
              </a:rPr>
              <a:t>with calibration</a:t>
            </a:r>
            <a:r>
              <a:rPr sz="1200" b="0">
                <a:solidFill>
                  <a:srgbClr val="282828"/>
                </a:solidFill>
                <a:latin typeface="Arial"/>
              </a:rPr>
              <a:t> — the matrix built from the blurred influence, which is what measuring the response matrix through the camera does automatically.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4. The score.</a:t>
            </a:r>
            <a:r>
              <a:rPr sz="1200" b="0">
                <a:solidFill>
                  <a:srgbClr val="282828"/>
                </a:solidFill>
                <a:latin typeface="Arial"/>
              </a:rPr>
              <a:t>  rms of (recovered − true) commands over the 2852 lit actuators, as a percentage of the command rms; and the reconstructed surface against the true one.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0" y="1298448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Two reconstructors.</a:t>
            </a:r>
            <a:r>
              <a:rPr sz="1200" b="0">
                <a:solidFill>
                  <a:srgbClr val="282828"/>
                </a:solidFill>
                <a:latin typeface="Arial"/>
              </a:rPr>
              <a:t>  Plain least squares: the matrix inverted with no regularization to speak of (λ = 10⁻⁹) — the simplest possible estimator.  The gauge's own: the same matrix with the record's Tikhonov weight (λ_m = 10⁻³ of the median column energy, matrix_lam in every bench run) — what every number in the gauge deck used.  The regularization protects the measured matrix against its own noise, at the price of a floor: 1.0 % on the random surface and 6 % on the checkerboard at zero blur, photon-independent.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The built benches on the axis.</a:t>
            </a:r>
            <a:r>
              <a:rPr sz="1200" b="0">
                <a:solidFill>
                  <a:srgbClr val="282828"/>
                </a:solidFill>
                <a:latin typeface="Arial"/>
              </a:rPr>
              <a:t>  The rigorous tool (tg96_pupilsim, engine-traced) gives each leg's transfer at the actuator Nyquist frequency: 0.9999 (lens rig), 0.9994 (mirror rig).  The Gaussian with the same transfer has σ = 0.006 and 0.016 pitch — where they sit on the curves.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4190999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pupil_blur_demo.m (templates/40_benches/tg_psi_dm96_oap/), ~1 min, no engine; record runs/pupil_blur_demo/pupil_blur_demo_report.txt.  Approximations: the blur acts on the phase map (the small-phase limit, 0.1 wave here); the legs are matched to a Gaussian at the Nyquist transfer only.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Step by step, plain least squares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The 30 nm working surface, blurred at σ = 0.5 pitch (54 % transfer at the actuator Nyquist): the uncalibrated read returns the blurred surface; the calibrated read returns the true one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blur_steps_lsq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1298448"/>
            <a:ext cx="11368735" cy="219177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11480" y="3508514"/>
            <a:ext cx="11368735" cy="394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6E6E6E"/>
                </a:solidFill>
                <a:latin typeface="Arial"/>
              </a:rPr>
              <a:t>Left to right: the true surface; the blurred surface the camera sees; the surface rebuilt from the commands recovered WITHOUT calibration; the same WITH calibration.  Center 24 × 24 pitches of the 96 × 96 DM, same gray scale (±110 nm).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11480" y="3939298"/>
          <a:ext cx="11368734" cy="84010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83417"/>
                <a:gridCol w="1090676"/>
                <a:gridCol w="7194641"/>
              </a:tblGrid>
              <a:tr h="280035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plain least squares at σ = 0.5 pitch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command error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reconstructed surface vs true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without calibration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37 %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5.1 nm rms — the blurred surface itself (it differs from the true one by 5.2 nm rms)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with calibration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0.09 %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0.007 nm rms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411480" y="4925707"/>
            <a:ext cx="113687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 b="0">
                <a:solidFill>
                  <a:srgbClr val="282828"/>
                </a:solidFill>
                <a:latin typeface="Arial"/>
              </a:rPr>
              <a:t>•  </a:t>
            </a:r>
            <a:r>
              <a:rPr sz="1500" b="1">
                <a:solidFill>
                  <a:srgbClr val="282828"/>
                </a:solidFill>
                <a:latin typeface="Arial"/>
              </a:rPr>
              <a:t>Without calibration the read is faithful to the wrong thing:</a:t>
            </a:r>
            <a:r>
              <a:rPr sz="1500" b="0">
                <a:solidFill>
                  <a:srgbClr val="282828"/>
                </a:solidFill>
                <a:latin typeface="Arial"/>
              </a:rPr>
              <a:t> it reproduces the blurred surface, so every feature is softened and the command error is a third of the command.  </a:t>
            </a:r>
            <a:r>
              <a:rPr sz="1500" b="1">
                <a:solidFill>
                  <a:srgbClr val="282828"/>
                </a:solidFill>
                <a:latin typeface="Arial"/>
              </a:rPr>
              <a:t>With calibration</a:t>
            </a:r>
            <a:r>
              <a:rPr sz="1500" b="0">
                <a:solidFill>
                  <a:srgbClr val="282828"/>
                </a:solidFill>
                <a:latin typeface="Arial"/>
              </a:rPr>
              <a:t> the blur is in the forward model and the inversion undoes it: the true surface to 7 pm, with the 20 pm read noise as the only residual.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80" y="5845441"/>
            <a:ext cx="113687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pupil_blur_demo_steps.png, top row; the "steps figure" line of the report.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Step by step, the gauge's own reconstructor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The same surface and blur through the regularized read the deck used: calibration still removes most of the blur, but the regularization's floor shows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blur_steps_matri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1298448"/>
            <a:ext cx="11368735" cy="2320731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11480" y="3637467"/>
            <a:ext cx="11368735" cy="229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6E6E6E"/>
                </a:solidFill>
                <a:latin typeface="Arial"/>
              </a:rPr>
              <a:t>The same four panels with the record's estimator (λ_m = 10⁻³).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11480" y="3903151"/>
          <a:ext cx="11368735" cy="84010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025079"/>
                <a:gridCol w="1090676"/>
                <a:gridCol w="2252980"/>
              </a:tblGrid>
              <a:tr h="280035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the gauge's reconstructor at σ = 0.5 pitch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command error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reconstructed surface vs true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without calibration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37 %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5.2 nm rms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with calibration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4.8 %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0.23 nm rms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411480" y="4889560"/>
            <a:ext cx="113687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 b="0">
                <a:solidFill>
                  <a:srgbClr val="282828"/>
                </a:solidFill>
                <a:latin typeface="Arial"/>
              </a:rPr>
              <a:t>•  </a:t>
            </a:r>
            <a:r>
              <a:rPr sz="1500" b="1">
                <a:solidFill>
                  <a:srgbClr val="282828"/>
                </a:solidFill>
                <a:latin typeface="Arial"/>
              </a:rPr>
              <a:t>The 4.8 % is the regularization, not the blur:</a:t>
            </a:r>
            <a:r>
              <a:rPr sz="1500" b="0">
                <a:solidFill>
                  <a:srgbClr val="282828"/>
                </a:solidFill>
                <a:latin typeface="Arial"/>
              </a:rPr>
              <a:t> at zero blur this estimator already carries 1.0 % on this surface, and as the blur erases the finest content the fixed weight λ_m bites harder on what is left.  The plain read shows what the data support (0.09 %); the gauge's read shows what its weight chooses to keep.  The weight is a knob — the record's 10⁻³ guards the measured matrix's own noise; the trade is measured on the next slide's backup.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80" y="6056944"/>
            <a:ext cx="113687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pupil_blur_demo_steps.png, bottom row.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The curves: error against blur width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The uncalibrated read degrades from a twentieth of a pitch; the calibrated plain read holds to about 0.8 pitch and fails at 1.1 when the blur has erased the actuator-scale content; the gauge's reconstructor holds to 0.3–0.4 pitch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blur_curve_rando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60189" y="1298448"/>
            <a:ext cx="2909021" cy="256743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11480" y="3884167"/>
            <a:ext cx="5806440" cy="7244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6E6E6E"/>
                </a:solidFill>
                <a:latin typeface="Arial"/>
              </a:rPr>
              <a:t>The random 30 nm working surface: command error vs blur 1/e radius in actuator pitches.  Dashed gray: plain least squares; black: the record's reconstructor; blue dotted: the bench's kernel estimator.  Open = without calibration, filled = with.  The shaded band is the width the gauge deck stated for its legs.</a:t>
            </a:r>
          </a:p>
        </p:txBody>
      </p:sp>
      <p:pic>
        <p:nvPicPr>
          <p:cNvPr id="6" name="Picture 5" descr="blur_curve_check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66814" y="1298448"/>
            <a:ext cx="3262931" cy="289763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400800" y="4214367"/>
            <a:ext cx="5394960" cy="394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6E6E6E"/>
                </a:solidFill>
                <a:latin typeface="Arial"/>
              </a:rPr>
              <a:t>The ±50 nm checkerboard — the actuator Nyquist pattern, the first thing blur removes.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0" y="4645151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Uncalibrated:</a:t>
            </a:r>
            <a:r>
              <a:rPr sz="1200" b="0">
                <a:solidFill>
                  <a:srgbClr val="282828"/>
                </a:solidFill>
                <a:latin typeface="Arial"/>
              </a:rPr>
              <a:t> 2 % at 0.1 pitch, 8 % at 0.2, 37 % at 0.5 (random surface); the checkerboard is half gone at 0.4.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Calibrated, plain:</a:t>
            </a:r>
            <a:r>
              <a:rPr sz="1200" b="0">
                <a:solidFill>
                  <a:srgbClr val="282828"/>
                </a:solidFill>
                <a:latin typeface="Arial"/>
              </a:rPr>
              <a:t> at the noise floor (0.04 %) to 0.5 pitch, 0.35 % at 0.8, then the matrix turns ill-conditioned (the transfer at Nyquist is 8 % at 1.0 pitch, 5 % at 1.1) and the read collapses by 1.3.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Calibrated, the gauge's:</a:t>
            </a:r>
            <a:r>
              <a:rPr sz="1200" b="0">
                <a:solidFill>
                  <a:srgbClr val="282828"/>
                </a:solidFill>
                <a:latin typeface="Arial"/>
              </a:rPr>
              <a:t> 1.3 % at 0.2 pitch, 2.8 % at 0.4, 4.8 % at 0.5 — the floor plus the regularization's growing share.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0" y="6489192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pupil_blur_demo_curve.png, top-left two panels; the sweep tables in the report.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Where the built benches sit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Both legs are at a hundredth of a pitch, where the uncalibrated cost is a few hundredths of a percent and the calibrated cost is unmeasurable — so the 0.13 / 0.29 % the gauge deck attributed to "blur" is mostly something else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blur_crossche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26014" y="1298448"/>
            <a:ext cx="6139666" cy="262331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11480" y="3940047"/>
            <a:ext cx="11368735" cy="394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6E6E6E"/>
                </a:solidFill>
                <a:latin typeface="Arial"/>
              </a:rPr>
              <a:t>The uncalibrated cost of a Gaussian blur on the 30 nm surface (map metric, piston and tilt removed) against blur width, log-log; the dots are the two built legs at their measured Nyquist transfer; the dashed lines are the gauge deck's quoted pupil-imaging shares; the diamonds are the cost of a registration shift of the size the pupil-imaging records show.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4370831"/>
            <a:ext cx="113687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 b="0">
                <a:solidFill>
                  <a:srgbClr val="282828"/>
                </a:solidFill>
                <a:latin typeface="Arial"/>
              </a:rPr>
              <a:t>•  </a:t>
            </a:r>
            <a:r>
              <a:rPr sz="1500" b="1">
                <a:solidFill>
                  <a:srgbClr val="282828"/>
                </a:solidFill>
                <a:latin typeface="Arial"/>
              </a:rPr>
              <a:t>Lens rig:</a:t>
            </a:r>
            <a:r>
              <a:rPr sz="1500" b="0">
                <a:solidFill>
                  <a:srgbClr val="282828"/>
                </a:solidFill>
                <a:latin typeface="Arial"/>
              </a:rPr>
              <a:t> σ = 0.006 pitch; blur costs </a:t>
            </a:r>
            <a:r>
              <a:rPr sz="1500" b="1">
                <a:solidFill>
                  <a:srgbClr val="282828"/>
                </a:solidFill>
                <a:latin typeface="Arial"/>
              </a:rPr>
              <a:t>0.004 %</a:t>
            </a:r>
            <a:r>
              <a:rPr sz="1500" b="0">
                <a:solidFill>
                  <a:srgbClr val="282828"/>
                </a:solidFill>
                <a:latin typeface="Arial"/>
              </a:rPr>
              <a:t> of the surface uncalibrated; the deck quoted 0.13 %.  </a:t>
            </a:r>
            <a:r>
              <a:rPr sz="1500" b="1">
                <a:solidFill>
                  <a:srgbClr val="282828"/>
                </a:solidFill>
                <a:latin typeface="Arial"/>
              </a:rPr>
              <a:t>Mirror rig:</a:t>
            </a:r>
            <a:r>
              <a:rPr sz="1500" b="0">
                <a:solidFill>
                  <a:srgbClr val="282828"/>
                </a:solidFill>
                <a:latin typeface="Arial"/>
              </a:rPr>
              <a:t> σ = 0.016 pitch; </a:t>
            </a:r>
            <a:r>
              <a:rPr sz="1500" b="1">
                <a:solidFill>
                  <a:srgbClr val="282828"/>
                </a:solidFill>
                <a:latin typeface="Arial"/>
              </a:rPr>
              <a:t>0.024 %</a:t>
            </a:r>
            <a:r>
              <a:rPr sz="1500" b="0">
                <a:solidFill>
                  <a:srgbClr val="282828"/>
                </a:solidFill>
                <a:latin typeface="Arial"/>
              </a:rPr>
              <a:t> against 0.29 %.  More than 3× apart on both: a finding.  A Gaussian would need 0.036 / 0.054 mm to cost the quoted shares.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282828"/>
                </a:solidFill>
                <a:latin typeface="Arial"/>
              </a:rPr>
              <a:t>•  </a:t>
            </a:r>
            <a:r>
              <a:rPr sz="1500" b="1">
                <a:solidFill>
                  <a:srgbClr val="282828"/>
                </a:solidFill>
                <a:latin typeface="Arial"/>
              </a:rPr>
              <a:t>What the shares are instead:</a:t>
            </a:r>
            <a:r>
              <a:rPr sz="1500" b="0">
                <a:solidFill>
                  <a:srgbClr val="282828"/>
                </a:solidFill>
                <a:latin typeface="Arial"/>
              </a:rPr>
              <a:t> a registration shift of the size the records show (0.4 µm on the lens rig) costs 0.047 % — a third of the lens share; the mirror's error sits in the lowest spatial band, which no blur produces.  The deck's number stands; its attribution to blur does not.  Calibrated, both legs read within 0.1 % of their zero-blur floors.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6173723"/>
            <a:ext cx="113687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Report §"the built leg on the axis" and §"the cross-check"; the pupilsim records runs/pupilsim_redo_lens, _oap (stage 2, Nyquist gain, min over u and v).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A detector cell instead of a blur: one reading per actuator, or nothing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For a photodiode-array gauge (COPHI) the "blur" is the cell average; the actuator-space read survives a cell of one pitch and collapses at 1.5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blur_curve_b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94205" y="1298448"/>
            <a:ext cx="3040988" cy="271475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11480" y="4031488"/>
            <a:ext cx="5806440" cy="394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6E6E6E"/>
                </a:solidFill>
                <a:latin typeface="Arial"/>
              </a:rPr>
              <a:t>One reading per detector cell, cell size in pitches; the calibrated read uses the cell-averaged matrix.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400800" y="1298448"/>
          <a:ext cx="5394958" cy="1485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38784"/>
                <a:gridCol w="1505464"/>
                <a:gridCol w="1445246"/>
                <a:gridCol w="1505464"/>
              </a:tblGrid>
              <a:tr h="434340"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cell (pitch)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readings per lit actuator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checkerboard, calibrated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30 nm surface, calibrated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</a:tr>
              <a:tr h="26289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0.5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5.45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9.8 %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1.5 %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6289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1.0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1.34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9.0 %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1.6 %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26289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1.5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0.58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98 %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72 %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6289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2.0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0.32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98 %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86 %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400800" y="2930652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The collapse between 1 and 1.5 pitch is counting, not blur:</a:t>
            </a:r>
            <a:r>
              <a:rPr sz="1200" b="0">
                <a:solidFill>
                  <a:srgbClr val="282828"/>
                </a:solidFill>
                <a:latin typeface="Arial"/>
              </a:rPr>
              <a:t> fewer readings than lit actuators, and the actuator-space fit has nothing to determine it.  A coarse array must be read in a low-order basis (modes), never in actuator space — the form the COPHI campaign's photodiode row takes.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0" y="4098036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Report §"the BOX kernel"; 'kernel','box'.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What is approximate, and how to run it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The demo is a model of the blur alone; its three idealizations are stated, and every number is one command away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298448"/>
            <a:ext cx="5806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The blur acts on the phase map.</a:t>
            </a:r>
            <a:r>
              <a:rPr sz="1200" b="0">
                <a:solidFill>
                  <a:srgbClr val="282828"/>
                </a:solidFill>
                <a:latin typeface="Arial"/>
              </a:rPr>
              <a:t>  A camera blurs intensity; the four-step phase of blurred fringes equals the blurred phase only near null — true at 0.1 wave (the 30 nm surface), not at a wave.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The built legs are not Gaussians.</a:t>
            </a:r>
            <a:r>
              <a:rPr sz="1200" b="0">
                <a:solidFill>
                  <a:srgbClr val="282828"/>
                </a:solidFill>
                <a:latin typeface="Arial"/>
              </a:rPr>
              <a:t>  The rigorous tool finds a phase gain cos φ with amplitude cross-talk sin φ and a distortion; the Gaussian is matched to it at the actuator-Nyquist transfer only.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The lit set</a:t>
            </a:r>
            <a:r>
              <a:rPr sz="1200" b="0">
                <a:solidFill>
                  <a:srgbClr val="282828"/>
                </a:solidFill>
                <a:latin typeface="Arial"/>
              </a:rPr>
              <a:t> is the demo's 2852 actuators (0.85 × 0.74 of the aperture radius); the benches light 5072 (lens) and 6948 (mirror) from the traced cone.  The error is a per-actuator rms, so the count sets the edge-to-interior ratio, not the scale.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0" y="1298448"/>
            <a:ext cx="5394960" cy="1009154"/>
          </a:xfrm>
          <a:prstGeom prst="rect">
            <a:avLst/>
          </a:prstGeom>
          <a:solidFill>
            <a:srgbClr val="FFFFFF"/>
          </a:solidFill>
          <a:ln w="9525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l">
              <a:spcAft>
                <a:spcPts val="100"/>
              </a:spcAft>
            </a:pPr>
            <a:r>
              <a:rPr sz="1007" b="0">
                <a:solidFill>
                  <a:srgbClr val="282828"/>
                </a:solidFill>
                <a:latin typeface="Consolas"/>
              </a:rPr>
              <a:t>cd &lt;path&gt;/mmacos/templates/40_benches/tg_psi_dm96_oap</a:t>
            </a:r>
          </a:p>
          <a:p>
            <a:pPr algn="l">
              <a:spcAft>
                <a:spcPts val="100"/>
              </a:spcAft>
            </a:pPr>
            <a:r>
              <a:rPr sz="1007" b="0">
                <a:solidFill>
                  <a:srgbClr val="282828"/>
                </a:solidFill>
                <a:latin typeface="Consolas"/>
              </a:rPr>
              <a:t>matlab</a:t>
            </a:r>
          </a:p>
          <a:p>
            <a:pPr algn="l">
              <a:spcAft>
                <a:spcPts val="100"/>
              </a:spcAft>
            </a:pPr>
            <a:r>
              <a:rPr sz="1007" b="0">
                <a:solidFill>
                  <a:srgbClr val="282828"/>
                </a:solidFill>
                <a:latin typeface="Consolas"/>
              </a:rPr>
              <a:t>&gt;&gt; pupil_blur_demo                    % ~1 min, no engine</a:t>
            </a:r>
          </a:p>
          <a:p>
            <a:pPr algn="l">
              <a:spcAft>
                <a:spcPts val="100"/>
              </a:spcAft>
            </a:pPr>
            <a:r>
              <a:rPr sz="1007" b="0">
                <a:solidFill>
                  <a:srgbClr val="282828"/>
                </a:solidFill>
                <a:latin typeface="Consolas"/>
              </a:rPr>
              <a:t>&gt;&gt; pupil_blur_demo('steps_sig', 0.8)  % the steps at another blur</a:t>
            </a:r>
          </a:p>
          <a:p>
            <a:pPr algn="l">
              <a:spcAft>
                <a:spcPts val="100"/>
              </a:spcAft>
            </a:pPr>
            <a:r>
              <a:rPr sz="1007" b="0">
                <a:solidFill>
                  <a:srgbClr val="282828"/>
                </a:solidFill>
                <a:latin typeface="Consolas"/>
              </a:rPr>
              <a:t>&gt;&gt; pupil_blur_lam_m                   % the weight vs noise (backup)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2417330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Test:</a:t>
            </a:r>
            <a:r>
              <a:rPr sz="1200" b="0">
                <a:solidFill>
                  <a:srgbClr val="282828"/>
                </a:solidFill>
                <a:latin typeface="Arial"/>
              </a:rPr>
              <a:t> ./run_mmacos_tests.sh tPupilBlurDemo (5 assertions, ~7 s; the all-unknowns solve kept as the must-fail control).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2990354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Public: nasa-jpl/MACOS_resources, branch dev-candidate.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Backup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914400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The reconstructor's floor: regularization against noise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The gauge's weight sets a bias that scales with the weight; the noise floor sits at the unregularized read, about a picometer at 10¹⁴ photons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11480" y="1298448"/>
          <a:ext cx="11368732" cy="168021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28310"/>
                <a:gridCol w="1722535"/>
                <a:gridCol w="2583803"/>
                <a:gridCol w="2067042"/>
                <a:gridCol w="2067042"/>
              </a:tblGrid>
              <a:tr h="280035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λ_m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noise-free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20 pm per pixel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10¹³ photons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10¹⁴ photons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10⁻³ (the record)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306 pm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306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306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306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10⁻⁴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31.6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33.1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31.7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31.6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10⁻⁵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3.17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10.9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4.23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3.28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10⁻⁶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0.32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10.5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2.86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0.95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10⁻⁷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0.03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10.5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2.85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0.90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11480" y="3124962"/>
            <a:ext cx="113687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 b="0">
                <a:solidFill>
                  <a:srgbClr val="282828"/>
                </a:solidFill>
                <a:latin typeface="Arial"/>
              </a:rPr>
              <a:t>•  </a:t>
            </a:r>
            <a:r>
              <a:rPr sz="1500" b="1">
                <a:solidFill>
                  <a:srgbClr val="282828"/>
                </a:solidFill>
                <a:latin typeface="Arial"/>
              </a:rPr>
              <a:t>The bias scales with λ_m</a:t>
            </a:r>
            <a:r>
              <a:rPr sz="1500" b="0">
                <a:solidFill>
                  <a:srgbClr val="282828"/>
                </a:solidFill>
                <a:latin typeface="Arial"/>
              </a:rPr>
              <a:t> (306 pm = 1.0 % of the 30 nm surface at the record's weight) and is photon-independent; </a:t>
            </a:r>
            <a:r>
              <a:rPr sz="1500" b="1">
                <a:solidFill>
                  <a:srgbClr val="282828"/>
                </a:solidFill>
                <a:latin typeface="Arial"/>
              </a:rPr>
              <a:t>the noise part plateaus</a:t>
            </a:r>
            <a:r>
              <a:rPr sz="1500" b="0">
                <a:solidFill>
                  <a:srgbClr val="282828"/>
                </a:solidFill>
                <a:latin typeface="Arial"/>
              </a:rPr>
              <a:t> at the unregularized least-squares floor, 0.90 pm at 10¹⁴ photons and 2.85 at 10¹³ — the gauge deck's 1.4 / 2.3 pm class.  So the record's 1 % is a regularization choice, not physics.  </a:t>
            </a:r>
            <a:r>
              <a:rPr sz="1500" b="1">
                <a:solidFill>
                  <a:srgbClr val="282828"/>
                </a:solidFill>
                <a:latin typeface="Arial"/>
              </a:rPr>
              <a:t>Caveat:</a:t>
            </a:r>
            <a:r>
              <a:rPr sz="1500" b="0">
                <a:solidFill>
                  <a:srgbClr val="282828"/>
                </a:solidFill>
                <a:latin typeface="Arial"/>
              </a:rPr>
              <a:t> the bench's measured matrix carries noise and model error in its columns that λ_m guards; lowering it is re-gated on the measured matrix (the bench's Stage E sweep), not read off this ideal-matrix bound.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4539996"/>
            <a:ext cx="113687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pupil_blur_lam_m.m, record pupil_blur_lam_m_report.txt (TO, 2026-10-09); ideal matrix, the record's random 30 nm surface, 2852 lit actuators, shot noise per 0.25 mm pixel.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Records behind each slide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Every number is in a committed run record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11480" y="1298448"/>
          <a:ext cx="11368735" cy="168021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09524"/>
                <a:gridCol w="10859211"/>
              </a:tblGrid>
              <a:tr h="280035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slide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record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3, 4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runs/pupil_blur_demo/pupil_blur_demo_steps.png; the "steps figure" line of pupil_blur_demo_report.txt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pupil_blur_demo_curve.png; the two sweep tables (regularized and plain) in the report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the report's "built leg on the axis" and "cross-check" sections; runs/pupilsim_redo_lens/, runs/pupilsim_redo_oap/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the report's "BOX kernel" section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runs/pupil_blur_demo/pupil_blur_lam_m_report.txt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11480" y="3124962"/>
            <a:ext cx="113687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macos/REPORT_pupil_blur.md (TO), macos/NOTE_to_ccmac_pupil_blur_review.md (CC), macos/BRIEF_to_pupil_blur.md; the gauge deck's pupil-imaging slide and REPORT_gauge_ifo.md §6b carry the corrected attribution.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