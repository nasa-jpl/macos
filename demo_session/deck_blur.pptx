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4577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4000" b="1">
                <a:solidFill>
                  <a:srgbClr val="1F4E79"/>
                </a:solidFill>
                <a:latin typeface="Arial"/>
              </a:rPr>
              <a:t>Pupil-Image Blur and the DM Gauge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282828"/>
                </a:solidFill>
                <a:latin typeface="Arial"/>
              </a:rPr>
              <a:t>When does a blurred image of the deformable mirror cost the gauge accuracy?  A known surface, blurred by a kernel of swept width, reconstructed without and with calibration, by a plain least-squares read and by the gauge's own reconstructor; the built benches placed on the same axis.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D. C. Redding, with Claude Code.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October 2026.  Working record; engine-free (the model is the DM's influence functions and a Gaussian blur).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6E6E6E"/>
                </a:solidFill>
                <a:latin typeface="Arial"/>
              </a:rPr>
              <a:t>DRAFT — pending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486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E6E6E"/>
                </a:solidFill>
                <a:latin typeface="Arial"/>
              </a:rPr>
              <a:t>The question (Fang Shi, 2026-10-08 talk): the DM is imaged onto the gauge's camera through lenses or off-axis mirrors; how much does the image's blur cost after calibration, and when would it matter?  The answer in one line: blur is a roll-off of the DM's highest spatial frequencies; a one-shot read needs calibration to undo it, and a servo converges to the true surface with or without it until the roll-off at the actuator spacing's Nyquist frequency takes the loop's stability; the built legs sit two orders of magnitude below either limit.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question, and how it is answered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Four steps anyone can check by eye; the only physics is the DM's influence function and a blur kernel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1. A known surface.</a:t>
            </a:r>
            <a:r>
              <a:rPr sz="1200" b="0">
                <a:solidFill>
                  <a:srgbClr val="282828"/>
                </a:solidFill>
                <a:latin typeface="Arial"/>
              </a:rPr>
              <a:t>  96 × 96 actuators at 1 mm spacing (the "pitch"); each actuator lifts a Gaussian bump of 0.85 mm 1/e radius; a random 30 nm rms command (the gauge's working surface) and, as the hardest case, a ±50 nm checkerboard — the finest pattern the DM can make.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2. The blur.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surface is convolved with a Gaussian of 1/e radius σ, swept from 0 to 1.5 pitch, plus 20 pm of read noise per map pixel: this is what the camera sees.  (A detector-cell average — a box — is the second kernel, for a photodiode array.)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3. The reconstruction.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actuator commands are recovered from the blurred map by least squares against a response matrix (one column per lit actuator), </a:t>
            </a:r>
            <a:r>
              <a:rPr sz="1200" b="1">
                <a:solidFill>
                  <a:srgbClr val="282828"/>
                </a:solidFill>
                <a:latin typeface="Arial"/>
              </a:rPr>
              <a:t>without calibration</a:t>
            </a:r>
            <a:r>
              <a:rPr sz="1200" b="0">
                <a:solidFill>
                  <a:srgbClr val="282828"/>
                </a:solidFill>
                <a:latin typeface="Arial"/>
              </a:rPr>
              <a:t> — the matrix built from the unblurred influence, as if no one knew about the blur — and </a:t>
            </a:r>
            <a:r>
              <a:rPr sz="1200" b="1">
                <a:solidFill>
                  <a:srgbClr val="282828"/>
                </a:solidFill>
                <a:latin typeface="Arial"/>
              </a:rPr>
              <a:t>with calibration</a:t>
            </a:r>
            <a:r>
              <a:rPr sz="1200" b="0">
                <a:solidFill>
                  <a:srgbClr val="282828"/>
                </a:solidFill>
                <a:latin typeface="Arial"/>
              </a:rPr>
              <a:t> — the matrix built from the blurred influence, which is what measuring the response matrix through the camera does automatically.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4. The score.</a:t>
            </a:r>
            <a:r>
              <a:rPr sz="1200" b="0">
                <a:solidFill>
                  <a:srgbClr val="282828"/>
                </a:solidFill>
                <a:latin typeface="Arial"/>
              </a:rPr>
              <a:t>  rms of (recovered − true) commands over the 2852 lit actuators, as a percentage of the command rms; and the reconstructed surface against the true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984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Two reconstructors, and two ways to use them.</a:t>
            </a:r>
            <a:r>
              <a:rPr sz="1200" b="0">
                <a:solidFill>
                  <a:srgbClr val="282828"/>
                </a:solidFill>
                <a:latin typeface="Arial"/>
              </a:rPr>
              <a:t>  Plain least squares: the matrix inverted with no regularization to speak of (λ = 10⁻⁹) — the simplest estimator, and the indicator of where any estimator converges.  The gauge's own: the same matrix with the record's Tikhonov weight (λ_m = 10⁻³ of the median column energy), which protects the measured matrix against its own noise at the price of shrinking a single estimate (1 % on this surface at zero blur).  Each is shown </a:t>
            </a:r>
            <a:r>
              <a:rPr sz="1200" b="1">
                <a:solidFill>
                  <a:srgbClr val="282828"/>
                </a:solidFill>
                <a:latin typeface="Arial"/>
              </a:rPr>
              <a:t>one shot</a:t>
            </a:r>
            <a:r>
              <a:rPr sz="1200" b="0">
                <a:solidFill>
                  <a:srgbClr val="282828"/>
                </a:solidFill>
                <a:latin typeface="Arial"/>
              </a:rPr>
              <a:t> (a capture, an absolute read) and </a:t>
            </a:r>
            <a:r>
              <a:rPr sz="1200" b="1">
                <a:solidFill>
                  <a:srgbClr val="282828"/>
                </a:solidFill>
                <a:latin typeface="Arial"/>
              </a:rPr>
              <a:t>driven to convergence</a:t>
            </a:r>
            <a:r>
              <a:rPr sz="1200" b="0">
                <a:solidFill>
                  <a:srgbClr val="282828"/>
                </a:solidFill>
                <a:latin typeface="Arial"/>
              </a:rPr>
              <a:t> as the gauge's servo uses it: read the residual, correct, read again.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built benches on the axis.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rigorous tool (tg96_pupilsim, engine-traced) gives each leg's transfer at the actuator Nyquist frequency: 0.9999 (lens rig), 0.9994 (mirror rig).  The Gaussian with the same transfer has σ = 0.006 and 0.016 pitch — where they sit on the curves.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389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pupil_blur_demo.m (templates/40_benches/tg_psi_dm96_oap/), ~1 min, no engine; record runs/pupil_blur_demo/pupil_blur_demo_report.txt.  Approximations: the blur acts on the phase map (the small-phase limit, 0.1 wave here); the legs are matched to a Gaussian at the Nyquist transfer only.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Step by step, plain least squares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30 nm working surface blurred at σ = 0.5 pitch (54 % transfer at the actuator Nyquist): read without calibration the estimate is the blurred surface; read with calibration it is the true one; one gray scale for all four panels, the error on the same scale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steps_ls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164" y="1298448"/>
            <a:ext cx="9407365" cy="353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8544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Rows: the read without calibration, then with.  Columns: the true surface; the blurred surface the camera sees; the surface rebuilt from the recovered commands; the error, reconstructed − true.  Center 24 × 24 pitches of the 96 × 96 DM, one gray scale (±120 nm).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Without calibration</a:t>
            </a:r>
            <a:r>
              <a:rPr sz="1500" b="0">
                <a:solidFill>
                  <a:srgbClr val="282828"/>
                </a:solidFill>
                <a:latin typeface="Arial"/>
              </a:rPr>
              <a:t> the read is faithful to the wrong thing: it reproduces the blurred surface (37 % command error; 5.1 nm rms from the true, which is the blurred surface's own 5.2 nm).  </a:t>
            </a:r>
            <a:r>
              <a:rPr sz="1500" b="1">
                <a:solidFill>
                  <a:srgbClr val="282828"/>
                </a:solidFill>
                <a:latin typeface="Arial"/>
              </a:rPr>
              <a:t>With calibration</a:t>
            </a:r>
            <a:r>
              <a:rPr sz="1500" b="0">
                <a:solidFill>
                  <a:srgbClr val="282828"/>
                </a:solidFill>
                <a:latin typeface="Arial"/>
              </a:rPr>
              <a:t> the blur is in the forward model and the inversion undoes it: 0.09 %, 7 pm rms — the 20 pm read noise is the only residual.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204965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pupil_blur_demo_steps.png, rows 1–2; the "steps figure" line of the report.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Step by step, the gauge's reconstructor, one step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same surface and blur through the regularized read the gauge deck used, applied once: the shrinkage shows — and it is not the estimator's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step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403" y="1298448"/>
            <a:ext cx="9896888" cy="37028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019547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same layout with the record's estimator (λ_m = 10⁻³), one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One step, calibrated: 4.8 %, 0.23 nm rms</a:t>
            </a:r>
            <a:r>
              <a:rPr sz="1500" b="0">
                <a:solidFill>
                  <a:srgbClr val="282828"/>
                </a:solidFill>
                <a:latin typeface="Arial"/>
              </a:rPr>
              <a:t> against the plain read's 0.09 %.  The difference is the regularization's shrinkage, which already costs 1 % at zero blur and more as the blur erases the finest content.  A single regularized step is a shrunk estimate, not where the estimator converges — the gauge never uses it once; its servo applies it repeatedly (next slide).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52615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pupil_blur_demo_steps.png, rows 3–4.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Step by step, the gauge's reconstructor driven to convergence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Applied as the servo applies it — read the residual, correct, read again — the regularized estimator converges to the plain read's answer, with and even without calibration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steps_i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500" y="1298448"/>
            <a:ext cx="9826693" cy="37028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019547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same layout, the record's estimator iterated 20 times at gain 1: a_{k+1} = a_k + est(m − blur(surface(a_k))).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2852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Converged, calibrated: 0.087 %, 7 pm</a:t>
            </a:r>
            <a:r>
              <a:rPr sz="1500" b="0">
                <a:solidFill>
                  <a:srgbClr val="282828"/>
                </a:solidFill>
                <a:latin typeface="Arial"/>
              </a:rPr>
              <a:t> — the plain least-squares answer; the regularization set the convergence rate, not the accuracy.  </a:t>
            </a:r>
            <a:r>
              <a:rPr sz="1500" b="1">
                <a:solidFill>
                  <a:srgbClr val="282828"/>
                </a:solidFill>
                <a:latin typeface="Arial"/>
              </a:rPr>
              <a:t>Converged, uncalibrated: 0.09 %, 7 pm as well</a:t>
            </a:r>
            <a:r>
              <a:rPr sz="1500" b="0">
                <a:solidFill>
                  <a:srgbClr val="282828"/>
                </a:solidFill>
                <a:latin typeface="Arial"/>
              </a:rPr>
              <a:t> — the blur is in the loop's plant, so the loop corrects what the camera sees until the camera sees nothing, and a blurred residual of zero is a residual of zero for every frequency the blur passes.  Calibration matters for a one-shot read (a capture, an absolute measurement); for hold it sets the stability margin: the uncalibrated loop over-corrects the attenuated frequencies and diverges beyond 0.6 pitch of blur (next slide).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947915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pupil_blur_demo_steps.png, rows 5–6; the "ITERATED TO CONVERGENCE" sweep in the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checkerboard, the hardest pattern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±50 nm on alternate actuators is only ±13 nm of surface (neighboring bumps cancel); blurred at 0.5 pitch it nearly vanishes; the uncalibrated read returns the faint version, the calibrated read the full 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maps_che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556" y="1298448"/>
            <a:ext cx="8828582" cy="38856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5202427"/>
            <a:ext cx="11368735" cy="229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±50 nm checkerboard (the actuator Nyquist pattern) at σ = 0.5 pitch, plain least squares, rows without / with calibration, one gray scale (±13 nm).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46811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pupil_blur_demo_maps.png.  Without calibration 68 % command error (4.5 nm rms of surface); with 0.05 % (0.01 nm).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curves: error against blur width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One-shot reads degrade from a twentieth of a pitch without calibration and hold to about 0.8 pitch with it; the servo converges to the same accuracy with or without calibration until the loop's stability goes, at 0.6 pitch uncalibrated and 0.8 calibrated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curve_rand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992" y="1298448"/>
            <a:ext cx="2805415" cy="2475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792728"/>
            <a:ext cx="5806440" cy="72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random 30 nm working surface: command error vs blur 1/e radius in actuator pitches.  Dashed gray: plain least squares; black: the record's estimator, one step; green: the record's estimator iterated to convergence; blue dotted: the bench's kernel estimator.  Open = without calibration, filled = with.</a:t>
            </a:r>
          </a:p>
        </p:txBody>
      </p:sp>
      <p:pic>
        <p:nvPicPr>
          <p:cNvPr id="6" name="Picture 5" descr="blur_curve_ch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97" y="1298448"/>
            <a:ext cx="3159964" cy="28061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122927"/>
            <a:ext cx="539496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±50 nm checkerboard — the actuator Nyquist pattern, the first thing blur removes.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5371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One shot, uncalibrated:</a:t>
            </a:r>
            <a:r>
              <a:rPr sz="1200" b="0">
                <a:solidFill>
                  <a:srgbClr val="282828"/>
                </a:solidFill>
                <a:latin typeface="Arial"/>
              </a:rPr>
              <a:t> 2 % at 0.1 pitch, 8 % at 0.2, 37 % at 0.5.  </a:t>
            </a:r>
            <a:r>
              <a:rPr sz="1200" b="1">
                <a:solidFill>
                  <a:srgbClr val="282828"/>
                </a:solidFill>
                <a:latin typeface="Arial"/>
              </a:rPr>
              <a:t>One shot, calibrated, plain:</a:t>
            </a:r>
            <a:r>
              <a:rPr sz="1200" b="0">
                <a:solidFill>
                  <a:srgbClr val="282828"/>
                </a:solidFill>
                <a:latin typeface="Arial"/>
              </a:rPr>
              <a:t> at the noise floor (0.04 %) to 0.5 pitch, 0.35 % at 0.8, collapse by 1.3 when the blur has erased the actuator-scale content (8 % transfer at 1.0 pitch).  </a:t>
            </a:r>
            <a:r>
              <a:rPr sz="1200" b="1">
                <a:solidFill>
                  <a:srgbClr val="282828"/>
                </a:solidFill>
                <a:latin typeface="Arial"/>
              </a:rPr>
              <a:t>One shot, the gauge's, one step:</a:t>
            </a:r>
            <a:r>
              <a:rPr sz="1200" b="0">
                <a:solidFill>
                  <a:srgbClr val="282828"/>
                </a:solidFill>
                <a:latin typeface="Arial"/>
              </a:rPr>
              <a:t> 1.3 % at 0.2, 4.8 % at 0.5 — shrinkage.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Iterated to convergence (the servo):</a:t>
            </a:r>
            <a:r>
              <a:rPr sz="1200" b="0">
                <a:solidFill>
                  <a:srgbClr val="282828"/>
                </a:solidFill>
                <a:latin typeface="Arial"/>
              </a:rPr>
              <a:t> calibrated, the plain answer to 0.7 pitch then the same collapse; uncalibrated, the same to 0.5 pitch, 2.7 % at 0.6, divergent beyond — the loop's gain at the attenuated frequencies exceeds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65378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pupil_blur_demo_curve.png, top-left two panels; the three sweep tables in the report.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Where the built benches sit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Both legs are at a hundredth of a pitch, where the uncalibrated cost is a few hundredths of a percent and the calibrated cost is unmeasurable — so the 0.13 / 0.29 % the gauge deck attributed to "blur" is mostly something else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cross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014" y="1298448"/>
            <a:ext cx="6139666" cy="2623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3940047"/>
            <a:ext cx="11368735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The uncalibrated cost of a Gaussian blur on the 30 nm surface (map metric, piston and tilt removed) against blur width, log-log; the dots are the two built legs at their measured Nyquist transfer; the dashed lines are the gauge deck's quoted pupil-imaging shares; the diamonds are the cost of a registration shift of the size the pupil-imaging records show.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370831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Lens rig:</a:t>
            </a:r>
            <a:r>
              <a:rPr sz="1500" b="0">
                <a:solidFill>
                  <a:srgbClr val="282828"/>
                </a:solidFill>
                <a:latin typeface="Arial"/>
              </a:rPr>
              <a:t> σ = 0.006 pitch; blur costs </a:t>
            </a:r>
            <a:r>
              <a:rPr sz="1500" b="1">
                <a:solidFill>
                  <a:srgbClr val="282828"/>
                </a:solidFill>
                <a:latin typeface="Arial"/>
              </a:rPr>
              <a:t>0.004 %</a:t>
            </a:r>
            <a:r>
              <a:rPr sz="1500" b="0">
                <a:solidFill>
                  <a:srgbClr val="282828"/>
                </a:solidFill>
                <a:latin typeface="Arial"/>
              </a:rPr>
              <a:t> of the surface uncalibrated; the deck quoted 0.13 %.  </a:t>
            </a:r>
            <a:r>
              <a:rPr sz="1500" b="1">
                <a:solidFill>
                  <a:srgbClr val="282828"/>
                </a:solidFill>
                <a:latin typeface="Arial"/>
              </a:rPr>
              <a:t>Mirror rig:</a:t>
            </a:r>
            <a:r>
              <a:rPr sz="1500" b="0">
                <a:solidFill>
                  <a:srgbClr val="282828"/>
                </a:solidFill>
                <a:latin typeface="Arial"/>
              </a:rPr>
              <a:t> σ = 0.016 pitch; </a:t>
            </a:r>
            <a:r>
              <a:rPr sz="1500" b="1">
                <a:solidFill>
                  <a:srgbClr val="282828"/>
                </a:solidFill>
                <a:latin typeface="Arial"/>
              </a:rPr>
              <a:t>0.024 %</a:t>
            </a:r>
            <a:r>
              <a:rPr sz="1500" b="0">
                <a:solidFill>
                  <a:srgbClr val="282828"/>
                </a:solidFill>
                <a:latin typeface="Arial"/>
              </a:rPr>
              <a:t> against 0.29 %.  More than 3× apart on both: a finding.  A Gaussian would need 0.036 / 0.054 mm to cost the quoted shares.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What the shares are instead:</a:t>
            </a:r>
            <a:r>
              <a:rPr sz="1500" b="0">
                <a:solidFill>
                  <a:srgbClr val="282828"/>
                </a:solidFill>
                <a:latin typeface="Arial"/>
              </a:rPr>
              <a:t> a registration shift of the size the records show (0.4 µm on the lens rig) costs 0.047 % — a third of the lens share; the mirror's error sits in the lowest spatial band, which no blur produces.  The deck's number stands; its attribution to blur does not.  Calibrated, both legs read within 0.1 % of their zero-blur floors.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173723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Report §"the built leg on the axis" and §"the cross-check"; the pupilsim records runs/pupilsim_redo_lens, _oap (stage 2, Nyquist gain, min over u and v).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A detector cell instead of a blur: one reading per actuator, or nothing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For a photodiode-array gauge (COPHI) the "blur" is the cell average; the actuator-space read survives a cell of one pitch and collapses at 1.5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lur_curve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05" y="1298448"/>
            <a:ext cx="3040988" cy="27147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4031488"/>
            <a:ext cx="5806440" cy="39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6E6E6E"/>
                </a:solidFill>
                <a:latin typeface="Arial"/>
              </a:rPr>
              <a:t>One reading per detector cell, cell size in pitches; the calibrated read uses the cell-averaged matrix.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298448"/>
          <a:ext cx="5394958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8784"/>
                <a:gridCol w="1505464"/>
                <a:gridCol w="1445246"/>
                <a:gridCol w="1505464"/>
              </a:tblGrid>
              <a:tr h="43434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cell (pitch)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readings per lit actuator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checkerboard, calibrated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30 nm surface, calibrated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5.45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9.8 %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1.5 %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1.34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9.0 %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1.6 %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1.5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0.58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98 %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72 %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2.0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98 %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82828"/>
                          </a:solidFill>
                          <a:latin typeface="Arial"/>
                        </a:rPr>
                        <a:t>86 %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0" y="293065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collapse between 1 and 1.5 pitch is counting, not blur:</a:t>
            </a:r>
            <a:r>
              <a:rPr sz="1200" b="0">
                <a:solidFill>
                  <a:srgbClr val="282828"/>
                </a:solidFill>
                <a:latin typeface="Arial"/>
              </a:rPr>
              <a:t> fewer readings than lit actuators, and the actuator-space fit has nothing to determine it.  A coarse array must be read in a low-order basis (modes), never in actuator space — the form the COPHI campaign's photodiode row takes.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980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Report §"the BOX kernel"; 'kernel','box'.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What is approximate, and how to run it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demo is a model of the blur alone; its three idealizations are stated, and every number is one command 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98448"/>
            <a:ext cx="5806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blur acts on the phase map.</a:t>
            </a:r>
            <a:r>
              <a:rPr sz="1200" b="0">
                <a:solidFill>
                  <a:srgbClr val="282828"/>
                </a:solidFill>
                <a:latin typeface="Arial"/>
              </a:rPr>
              <a:t>  A camera blurs intensity; the four-step phase of blurred fringes equals the blurred phase only near null — true at 0.1 wave (the 30 nm surface), not at a wave.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built legs are not Gaussians.</a:t>
            </a:r>
            <a:r>
              <a:rPr sz="1200" b="0">
                <a:solidFill>
                  <a:srgbClr val="282828"/>
                </a:solidFill>
                <a:latin typeface="Arial"/>
              </a:rPr>
              <a:t>  The rigorous tool finds a phase gain cos φ with amplitude cross-talk sin φ and a distortion; the Gaussian is matched to it at the actuator-Nyquist transfer only.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The lit set</a:t>
            </a:r>
            <a:r>
              <a:rPr sz="1200" b="0">
                <a:solidFill>
                  <a:srgbClr val="282828"/>
                </a:solidFill>
                <a:latin typeface="Arial"/>
              </a:rPr>
              <a:t> is the demo's 2852 actuators (0.85 × 0.74 of the aperture radius); the benches light 5072 (lens) and 6948 (mirror) from the traced cone.  The error is a per-actuator rms, so the count sets the edge-to-interior ratio, not the scale.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298448"/>
            <a:ext cx="5394960" cy="1009154"/>
          </a:xfrm>
          <a:prstGeom prst="rect">
            <a:avLst/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00"/>
              </a:spcAft>
            </a:pPr>
            <a:r>
              <a:rPr sz="1007" b="0">
                <a:solidFill>
                  <a:srgbClr val="282828"/>
                </a:solidFill>
                <a:latin typeface="Consolas"/>
              </a:rPr>
              <a:t>cd &lt;path&gt;/mmacos/templates/40_benches/tg_psi_dm96_oap</a:t>
            </a:r>
          </a:p>
          <a:p>
            <a:pPr algn="l">
              <a:spcAft>
                <a:spcPts val="100"/>
              </a:spcAft>
            </a:pPr>
            <a:r>
              <a:rPr sz="1007" b="0">
                <a:solidFill>
                  <a:srgbClr val="282828"/>
                </a:solidFill>
                <a:latin typeface="Consolas"/>
              </a:rPr>
              <a:t>matlab</a:t>
            </a:r>
          </a:p>
          <a:p>
            <a:pPr algn="l">
              <a:spcAft>
                <a:spcPts val="100"/>
              </a:spcAft>
            </a:pPr>
            <a:r>
              <a:rPr sz="1007" b="0">
                <a:solidFill>
                  <a:srgbClr val="282828"/>
                </a:solidFill>
                <a:latin typeface="Consolas"/>
              </a:rPr>
              <a:t>&gt;&gt; pupil_blur_demo                    % ~1 min, no engine</a:t>
            </a:r>
          </a:p>
          <a:p>
            <a:pPr algn="l">
              <a:spcAft>
                <a:spcPts val="100"/>
              </a:spcAft>
            </a:pPr>
            <a:r>
              <a:rPr sz="1007" b="0">
                <a:solidFill>
                  <a:srgbClr val="282828"/>
                </a:solidFill>
                <a:latin typeface="Consolas"/>
              </a:rPr>
              <a:t>&gt;&gt; pupil_blur_demo('steps_sig', 0.8)  % the steps at another blur</a:t>
            </a:r>
          </a:p>
          <a:p>
            <a:pPr algn="l">
              <a:spcAft>
                <a:spcPts val="100"/>
              </a:spcAft>
            </a:pPr>
            <a:r>
              <a:rPr sz="1007" b="0">
                <a:solidFill>
                  <a:srgbClr val="282828"/>
                </a:solidFill>
                <a:latin typeface="Consolas"/>
              </a:rPr>
              <a:t>&gt;&gt; pupil_blur_lam_m                   % the weight vs noise (backup)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41733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82828"/>
                </a:solidFill>
                <a:latin typeface="Arial"/>
              </a:rPr>
              <a:t>•  </a:t>
            </a:r>
            <a:r>
              <a:rPr sz="1200" b="1">
                <a:solidFill>
                  <a:srgbClr val="282828"/>
                </a:solidFill>
                <a:latin typeface="Arial"/>
              </a:rPr>
              <a:t>Test:</a:t>
            </a:r>
            <a:r>
              <a:rPr sz="1200" b="0">
                <a:solidFill>
                  <a:srgbClr val="282828"/>
                </a:solidFill>
                <a:latin typeface="Arial"/>
              </a:rPr>
              <a:t> ./run_mmacos_tests.sh tPupilBlurDemo (5 assertions, ~7 s; the all-unknowns solve kept as the must-fail control).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99035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Public: nasa-jpl/MACOS_resources, branch dev-candidate.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Backup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The reconstructor's floor: regularization against noise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The gauge's weight sets a bias that scales with the weight; the noise floor sits at the unregularized read, about a picometer at 10¹⁴ photons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2" cy="1680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8310"/>
                <a:gridCol w="1722535"/>
                <a:gridCol w="2583803"/>
                <a:gridCol w="2067042"/>
                <a:gridCol w="2067042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λ_m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noise-free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20 pm per pixel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10¹³ photons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10¹⁴ photons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10⁻³ (the record)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306 pm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10⁻⁴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31.6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33.1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31.7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31.6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10⁻⁵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3.17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4.23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3.28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10⁻⁶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0.32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0.95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10⁻⁷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0.03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10.5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2.85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0.90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124962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82828"/>
                </a:solidFill>
                <a:latin typeface="Arial"/>
              </a:rPr>
              <a:t>•  </a:t>
            </a:r>
            <a:r>
              <a:rPr sz="1500" b="1">
                <a:solidFill>
                  <a:srgbClr val="282828"/>
                </a:solidFill>
                <a:latin typeface="Arial"/>
              </a:rPr>
              <a:t>The one-step shrinkage scales with λ_m</a:t>
            </a:r>
            <a:r>
              <a:rPr sz="1500" b="0">
                <a:solidFill>
                  <a:srgbClr val="282828"/>
                </a:solidFill>
                <a:latin typeface="Arial"/>
              </a:rPr>
              <a:t> (306 pm = 1.0 % of the 30 nm surface at the record's weight) and is photon-independent; </a:t>
            </a:r>
            <a:r>
              <a:rPr sz="1500" b="1">
                <a:solidFill>
                  <a:srgbClr val="282828"/>
                </a:solidFill>
                <a:latin typeface="Arial"/>
              </a:rPr>
              <a:t>the noise part plateaus</a:t>
            </a:r>
            <a:r>
              <a:rPr sz="1500" b="0">
                <a:solidFill>
                  <a:srgbClr val="282828"/>
                </a:solidFill>
                <a:latin typeface="Arial"/>
              </a:rPr>
              <a:t> at the unregularized least-squares floor, 0.90 pm at 10¹⁴ photons and 2.85 at 10¹³ — the gauge deck's 1.4 / 2.3 pm class.  Driven to convergence the shrinkage is gone (slide 5); it sets how many steps the servo needs, not where it ends.  </a:t>
            </a:r>
            <a:r>
              <a:rPr sz="1500" b="1">
                <a:solidFill>
                  <a:srgbClr val="282828"/>
                </a:solidFill>
                <a:latin typeface="Arial"/>
              </a:rPr>
              <a:t>Caveat:</a:t>
            </a:r>
            <a:r>
              <a:rPr sz="1500" b="0">
                <a:solidFill>
                  <a:srgbClr val="282828"/>
                </a:solidFill>
                <a:latin typeface="Arial"/>
              </a:rPr>
              <a:t> the bench's measured matrix carries noise and model error in its columns that λ_m guards; lowering it is re-gated on the measured matrix (the bench's Stage E sweep), not read off this ideal-matrix bound.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787646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pupil_blur_lam_m.m, record pupil_blur_lam_m_report.txt (TO, 2026-10-09); ideal matrix, the record's random 30 nm surface, 2852 lit actuators, shot noise per 0.25 mm pixel.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687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Arial"/>
              </a:rPr>
              <a:t>Records behind each slide</a:t>
            </a:r>
          </a:p>
          <a:p>
            <a:pPr>
              <a:spcAft>
                <a:spcPts val="0"/>
              </a:spcAft>
            </a:pPr>
            <a:r>
              <a:rPr sz="1250" b="0">
                <a:solidFill>
                  <a:srgbClr val="6E6E6E"/>
                </a:solidFill>
                <a:latin typeface="Arial"/>
              </a:rPr>
              <a:t>Every number is in a committed run record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1133856"/>
            <a:ext cx="11368735" cy="20320"/>
          </a:xfrm>
          <a:prstGeom prst="rect">
            <a:avLst/>
          </a:prstGeom>
          <a:solidFill>
            <a:srgbClr val="B8C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98448"/>
          <a:ext cx="11368735" cy="19602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812"/>
                <a:gridCol w="10713923"/>
              </a:tblGrid>
              <a:tr h="280035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record</a:t>
                      </a:r>
                    </a:p>
                  </a:txBody>
                  <a:tcPr marL="54864" marR="54864" marT="18288" marB="18288">
                    <a:solidFill>
                      <a:srgbClr val="1F4E79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3, 4, 5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runs/pupil_blur_demo/pupil_blur_demo_steps.png; the "steps figure" line of pupil_blur_demo_report.txt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pupil_blur_demo_maps.png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pupil_blur_demo_curve.png; the three sweep tables (regularized one step, iterated, plain) in the report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report's "built leg on the axis" and "cross-check" sections; runs/pupilsim_redo_lens/, runs/pupilsim_redo_oap/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the report's "BOX kernel" section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82828"/>
                          </a:solidFill>
                          <a:latin typeface="Arial"/>
                        </a:rPr>
                        <a:t>runs/pupil_blur_demo/pupil_blur_lam_m_report.txt</a:t>
                      </a:r>
                    </a:p>
                  </a:txBody>
                  <a:tcPr marL="54864" marR="54864" marT="18288" marB="18288">
                    <a:solidFill>
                      <a:srgbClr val="ECF1F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04997"/>
            <a:ext cx="113687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50" b="0">
                <a:solidFill>
                  <a:srgbClr val="6E6E6E"/>
                </a:solidFill>
                <a:latin typeface="Arial"/>
              </a:rPr>
              <a:t>macos/REPORT_pupil_blur.md (TO), macos/NOTE_to_ccmac_pupil_blur_review.md (CC), macos/BRIEF_to_pupil_blur.md; the gauge deck's pupil-imaging slide and REPORT_gauge_ifo.md §6b carry the corrected attribution.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