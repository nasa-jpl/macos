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40.xml" ContentType="application/vnd.openxmlformats-officedocument.presentationml.slide+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37.xml.rels" ContentType="application/vnd.openxmlformats-package.relationships+xml"/>
  <Override PartName="/ppt/slides/_rels/slide56.xml.rels" ContentType="application/vnd.openxmlformats-package.relationships+xml"/>
  <Override PartName="/ppt/slides/_rels/slide2.xml.rels" ContentType="application/vnd.openxmlformats-package.relationships+xml"/>
  <Override PartName="/ppt/slides/_rels/slide44.xml.rels" ContentType="application/vnd.openxmlformats-package.relationships+xml"/>
  <Override PartName="/ppt/slides/_rels/slide55.xml.rels" ContentType="application/vnd.openxmlformats-package.relationships+xml"/>
  <Override PartName="/ppt/slides/_rels/slide1.xml.rels" ContentType="application/vnd.openxmlformats-package.relationships+xml"/>
  <Override PartName="/ppt/slides/_rels/slide43.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53.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2.xml.rels" ContentType="application/vnd.openxmlformats-package.relationships+xml"/>
  <Override PartName="/ppt/slides/_rels/slide49.xml.rels" ContentType="application/vnd.openxmlformats-package.relationships+xml"/>
  <Override PartName="/ppt/slides/_rels/slide51.xml.rels" ContentType="application/vnd.openxmlformats-package.relationships+xml"/>
  <Override PartName="/ppt/slides/_rels/slide15.xml.rels" ContentType="application/vnd.openxmlformats-package.relationships+xml"/>
  <Override PartName="/ppt/slides/_rels/slide52.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50.xml.rels" ContentType="application/vnd.openxmlformats-package.relationships+xml"/>
  <Override PartName="/ppt/slides/_rels/slide13.xml.rels" ContentType="application/vnd.openxmlformats-package.relationships+xml"/>
  <Override PartName="/ppt/slides/_rels/slide40.xml.rels" ContentType="application/vnd.openxmlformats-package.relationships+xml"/>
  <Override PartName="/ppt/slides/_rels/slide38.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slide38.xml" ContentType="application/vnd.openxmlformats-officedocument.presentationml.slide+xml"/>
  <Override PartName="/ppt/slides/slide52.xml" ContentType="application/vnd.openxmlformats-officedocument.presentationml.slide+xml"/>
  <Override PartName="/ppt/slides/slide41.xml" ContentType="application/vnd.openxmlformats-officedocument.presentationml.slide+xml"/>
  <Override PartName="/ppt/slides/slide39.xml" ContentType="application/vnd.openxmlformats-officedocument.presentationml.slide+xml"/>
  <Override PartName="/ppt/slides/slide53.xml" ContentType="application/vnd.openxmlformats-officedocument.presentationml.slide+xml"/>
  <Override PartName="/ppt/slides/slide42.xml" ContentType="application/vnd.openxmlformats-officedocument.presentationml.slide+xml"/>
  <Override PartName="/ppt/slides/slide54.xml" ContentType="application/vnd.openxmlformats-officedocument.presentationml.slide+xml"/>
  <Override PartName="/ppt/slides/slide43.xml" ContentType="application/vnd.openxmlformats-officedocument.presentationml.slide+xml"/>
  <Override PartName="/ppt/slides/slide55.xml" ContentType="application/vnd.openxmlformats-officedocument.presentationml.slide+xml"/>
  <Override PartName="/ppt/slides/slide44.xml" ContentType="application/vnd.openxmlformats-officedocument.presentationml.slide+xml"/>
  <Override PartName="/ppt/slides/slide56.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25.png" ContentType="image/png"/>
  <Override PartName="/ppt/media/image24.png" ContentType="image/png"/>
  <Override PartName="/ppt/media/image23.png" ContentType="image/png"/>
  <Override PartName="/ppt/media/image22.png" ContentType="image/png"/>
  <Override PartName="/ppt/media/image21.png" ContentType="image/png"/>
  <Override PartName="/ppt/media/image19.png" ContentType="image/png"/>
  <Override PartName="/ppt/media/image5.png" ContentType="image/png"/>
  <Override PartName="/ppt/media/image14.png" ContentType="image/png"/>
  <Override PartName="/ppt/media/image6.png" ContentType="image/png"/>
  <Override PartName="/ppt/media/image15.png" ContentType="image/png"/>
  <Override PartName="/ppt/media/image10.png" ContentType="image/png"/>
  <Override PartName="/ppt/media/image1.png" ContentType="image/png"/>
  <Override PartName="/ppt/media/image7.png" ContentType="image/png"/>
  <Override PartName="/ppt/media/image1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9F81250F-1FE0-4D97-91B5-0B01EDC45FB2}"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F0972686-3404-4FD4-8B1C-999570B79D29}"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545628F8-6017-4294-A5F1-2FDC50BD8B5F}"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40E4A6F6-B7B2-4EF8-B5F3-A2577D0E0BFC}"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0CE7E953-93C6-4184-8A84-CA8E09363463}"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37EE49F7-8C74-4039-8485-3FA9E642DD1F}"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AF9B151C-E313-45ED-8736-FE84ED54DB9A}"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05928E5-7DE1-46D5-8D20-44A7314DFAAC}"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7E364AEC-FBEC-4E32-A8F8-14B824A14246}"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490D0BEE-AFB4-444B-8762-88D610F9C610}"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E723CA88-4579-4A7F-B0AC-013693563483}"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a:t>
            </a:r>
            <a:r>
              <a:rPr b="0" lang="en-US" sz="4400" spc="-1" strike="noStrike">
                <a:solidFill>
                  <a:schemeClr val="dk1"/>
                </a:solidFill>
                <a:latin typeface="Calibri"/>
              </a:rPr>
              <a:t>k to </a:t>
            </a:r>
            <a:r>
              <a:rPr b="0" lang="en-US" sz="4400" spc="-1" strike="noStrike">
                <a:solidFill>
                  <a:schemeClr val="dk1"/>
                </a:solidFill>
                <a:latin typeface="Calibri"/>
              </a:rPr>
              <a:t>edit </a:t>
            </a:r>
            <a:r>
              <a:rPr b="0" lang="en-US" sz="4400" spc="-1" strike="noStrike">
                <a:solidFill>
                  <a:schemeClr val="dk1"/>
                </a:solidFill>
                <a:latin typeface="Calibri"/>
              </a:rPr>
              <a:t>Ma</a:t>
            </a:r>
            <a:r>
              <a:rPr b="0" lang="en-US" sz="4400" spc="-1" strike="noStrike">
                <a:solidFill>
                  <a:schemeClr val="dk1"/>
                </a:solidFill>
                <a:latin typeface="Calibri"/>
              </a:rPr>
              <a:t>ster </a:t>
            </a:r>
            <a:r>
              <a:rPr b="0" lang="en-US" sz="4400" spc="-1" strike="noStrike">
                <a:solidFill>
                  <a:schemeClr val="dk1"/>
                </a:solidFill>
                <a:latin typeface="Calibri"/>
              </a:rPr>
              <a:t>title </a:t>
            </a:r>
            <a:r>
              <a:rPr b="0" lang="en-US" sz="4400" spc="-1" strike="noStrike">
                <a:solidFill>
                  <a:schemeClr val="dk1"/>
                </a:solidFill>
                <a:latin typeface="Calibri"/>
              </a:rPr>
              <a:t>styl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9CE4A2D-4B74-492E-9926-F34EEE7C18F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a:t>
            </a:r>
            <a:r>
              <a:rPr b="0" lang="en-US" sz="4400" spc="-1" strike="noStrike">
                <a:solidFill>
                  <a:schemeClr val="dk1"/>
                </a:solidFill>
                <a:latin typeface="Calibri"/>
              </a:rPr>
              <a:t>edit </a:t>
            </a:r>
            <a:r>
              <a:rPr b="0" lang="en-US" sz="4400" spc="-1" strike="noStrike">
                <a:solidFill>
                  <a:schemeClr val="dk1"/>
                </a:solidFill>
                <a:latin typeface="Calibri"/>
              </a:rPr>
              <a:t>Master </a:t>
            </a:r>
            <a:r>
              <a:rPr b="0" lang="en-US" sz="4400" spc="-1" strike="noStrike">
                <a:solidFill>
                  <a:schemeClr val="dk1"/>
                </a:solidFill>
                <a:latin typeface="Calibri"/>
              </a:rPr>
              <a:t>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792FA97-2FD0-46F1-8FF8-53FDF781204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a:t>
            </a:r>
            <a:r>
              <a:rPr b="0" lang="en-US" sz="4400" spc="-1" strike="noStrike">
                <a:solidFill>
                  <a:schemeClr val="dk1"/>
                </a:solidFill>
                <a:latin typeface="Calibri"/>
              </a:rPr>
              <a:t>l</a:t>
            </a:r>
            <a:r>
              <a:rPr b="0" lang="en-US" sz="4400" spc="-1" strike="noStrike">
                <a:solidFill>
                  <a:schemeClr val="dk1"/>
                </a:solidFill>
                <a:latin typeface="Calibri"/>
              </a:rPr>
              <a:t>i</a:t>
            </a:r>
            <a:r>
              <a:rPr b="0" lang="en-US" sz="4400" spc="-1" strike="noStrike">
                <a:solidFill>
                  <a:schemeClr val="dk1"/>
                </a:solidFill>
                <a:latin typeface="Calibri"/>
              </a:rPr>
              <a:t>c</a:t>
            </a:r>
            <a:r>
              <a:rPr b="0" lang="en-US" sz="4400" spc="-1" strike="noStrike">
                <a:solidFill>
                  <a:schemeClr val="dk1"/>
                </a:solidFill>
                <a:latin typeface="Calibri"/>
              </a:rPr>
              <a:t>k</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o</a:t>
            </a:r>
            <a:r>
              <a:rPr b="0" lang="en-US" sz="4400" spc="-1" strike="noStrike">
                <a:solidFill>
                  <a:schemeClr val="dk1"/>
                </a:solidFill>
                <a:latin typeface="Calibri"/>
              </a:rPr>
              <a:t> </a:t>
            </a:r>
            <a:r>
              <a:rPr b="0" lang="en-US" sz="4400" spc="-1" strike="noStrike">
                <a:solidFill>
                  <a:schemeClr val="dk1"/>
                </a:solidFill>
                <a:latin typeface="Calibri"/>
              </a:rPr>
              <a:t>e</a:t>
            </a:r>
            <a:r>
              <a:rPr b="0" lang="en-US" sz="4400" spc="-1" strike="noStrike">
                <a:solidFill>
                  <a:schemeClr val="dk1"/>
                </a:solidFill>
                <a:latin typeface="Calibri"/>
              </a:rPr>
              <a:t>d</a:t>
            </a:r>
            <a:r>
              <a:rPr b="0" lang="en-US" sz="4400" spc="-1" strike="noStrike">
                <a:solidFill>
                  <a:schemeClr val="dk1"/>
                </a:solidFill>
                <a:latin typeface="Calibri"/>
              </a:rPr>
              <a:t>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e</a:t>
            </a:r>
            <a:r>
              <a:rPr b="0" lang="en-US" sz="4400" spc="-1" strike="noStrike">
                <a:solidFill>
                  <a:schemeClr val="dk1"/>
                </a:solidFill>
                <a:latin typeface="Calibri"/>
              </a:rPr>
              <a:t>r </a:t>
            </a:r>
            <a:r>
              <a:rPr b="0" lang="en-US" sz="4400" spc="-1" strike="noStrike">
                <a:solidFill>
                  <a:schemeClr val="dk1"/>
                </a:solidFill>
                <a:latin typeface="Calibri"/>
              </a:rPr>
              <a:t>t</a:t>
            </a:r>
            <a:r>
              <a:rPr b="0" lang="en-US" sz="4400" spc="-1" strike="noStrike">
                <a:solidFill>
                  <a:schemeClr val="dk1"/>
                </a:solidFill>
                <a:latin typeface="Calibri"/>
              </a:rPr>
              <a:t>i</a:t>
            </a:r>
            <a:r>
              <a:rPr b="0" lang="en-US" sz="4400" spc="-1" strike="noStrike">
                <a:solidFill>
                  <a:schemeClr val="dk1"/>
                </a:solidFill>
                <a:latin typeface="Calibri"/>
              </a:rPr>
              <a:t>t</a:t>
            </a:r>
            <a:r>
              <a:rPr b="0" lang="en-US" sz="4400" spc="-1" strike="noStrike">
                <a:solidFill>
                  <a:schemeClr val="dk1"/>
                </a:solidFill>
                <a:latin typeface="Calibri"/>
              </a:rPr>
              <a:t>l</a:t>
            </a:r>
            <a:r>
              <a:rPr b="0" lang="en-US" sz="4400" spc="-1" strike="noStrike">
                <a:solidFill>
                  <a:schemeClr val="dk1"/>
                </a:solidFill>
                <a:latin typeface="Calibri"/>
              </a:rPr>
              <a:t>e</a:t>
            </a:r>
            <a:r>
              <a:rPr b="0" lang="en-US" sz="4400" spc="-1" strike="noStrike">
                <a:solidFill>
                  <a:schemeClr val="dk1"/>
                </a:solidFill>
                <a:latin typeface="Calibri"/>
              </a:rPr>
              <a:t> </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y</a:t>
            </a:r>
            <a:r>
              <a:rPr b="0" lang="en-US" sz="4400" spc="-1" strike="noStrike">
                <a:solidFill>
                  <a:schemeClr val="dk1"/>
                </a:solidFill>
                <a:latin typeface="Calibri"/>
              </a:rPr>
              <a:t>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C0E4EA3-982E-49A8-82CC-35486353228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63F2FAD-B446-4BF8-94DB-F222A51AF6B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a:t>
            </a:r>
            <a:r>
              <a:rPr b="1" lang="en-US" sz="4000" spc="-1" strike="noStrike" cap="all">
                <a:solidFill>
                  <a:schemeClr val="dk1"/>
                </a:solidFill>
                <a:latin typeface="Calibri"/>
              </a:rPr>
              <a:t>to </a:t>
            </a:r>
            <a:r>
              <a:rPr b="1" lang="en-US" sz="4000" spc="-1" strike="noStrike" cap="all">
                <a:solidFill>
                  <a:schemeClr val="dk1"/>
                </a:solidFill>
                <a:latin typeface="Calibri"/>
              </a:rPr>
              <a:t>edit </a:t>
            </a:r>
            <a:r>
              <a:rPr b="1" lang="en-US" sz="4000" spc="-1" strike="noStrike" cap="all">
                <a:solidFill>
                  <a:schemeClr val="dk1"/>
                </a:solidFill>
                <a:latin typeface="Calibri"/>
              </a:rPr>
              <a:t>Maste</a:t>
            </a:r>
            <a:r>
              <a:rPr b="1" lang="en-US" sz="4000" spc="-1" strike="noStrike" cap="all">
                <a:solidFill>
                  <a:schemeClr val="dk1"/>
                </a:solidFill>
                <a:latin typeface="Calibri"/>
              </a:rPr>
              <a:t>r title </a:t>
            </a:r>
            <a:r>
              <a:rPr b="1" lang="en-US" sz="4000" spc="-1" strike="noStrike" cap="all">
                <a:solidFill>
                  <a:schemeClr val="dk1"/>
                </a:solidFill>
                <a:latin typeface="Calibri"/>
              </a:rPr>
              <a:t>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2A27ED7-F358-49F6-9688-67D4C673637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A3FE28C-B26B-4DEF-86E9-9AD5E062CAE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1C72DC09-830B-4D2F-BBB7-6EE3E6C32C1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D1F9A3D3-2B95-4701-9E08-2FD50F295B5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EF06933-CE27-4808-AD6E-19DAE5F436D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A1AF8B8-7B5E-4542-9E50-362A2C1B8A9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50DEA13-E82A-4481-8080-506A34DCC2A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
</Relationships>
</file>

<file path=ppt/slides/_rels/slide3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3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7.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9.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1.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9.xml"/>
</Relationships>
</file>

<file path=ppt/slides/_rels/slide52.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9.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TextBox 1"/>
          <p:cNvSpPr/>
          <p:nvPr/>
        </p:nvSpPr>
        <p:spPr>
          <a:xfrm>
            <a:off x="822960" y="1737360"/>
            <a:ext cx="10545480" cy="3720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4000" spc="-1" strike="noStrike">
                <a:solidFill>
                  <a:srgbClr val="1f4e79"/>
                </a:solidFill>
                <a:latin typeface="Arial"/>
              </a:rPr>
              <a:t>DM Surface Gauge Comparison</a:t>
            </a:r>
            <a:endParaRPr b="0" lang="en-US" sz="4000" spc="-1" strike="noStrike">
              <a:solidFill>
                <a:srgbClr val="000000"/>
              </a:solidFill>
              <a:latin typeface="Arial"/>
            </a:endParaRPr>
          </a:p>
          <a:p>
            <a:pPr defTabSz="457200">
              <a:lnSpc>
                <a:spcPct val="100000"/>
              </a:lnSpc>
              <a:spcAft>
                <a:spcPts val="1400"/>
              </a:spcAft>
            </a:pPr>
            <a:r>
              <a:rPr b="0" lang="en-US" sz="2200" spc="-1" strike="noStrike">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endParaRPr b="0" lang="en-US" sz="22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 C. Redding, with Claude Code.</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October 2026.  For the JPL HWO WFS&amp;C discussion group, 2026-10-08.</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DRAFT — pending review.  Every number here comes from a committed run of one shared, parameterized model (MACOS, mmacos); the run tags are on the provenance slide.</a:t>
            </a:r>
            <a:endParaRPr b="0" lang="en-US" sz="1500" spc="-1" strike="noStrike">
              <a:solidFill>
                <a:srgbClr val="000000"/>
              </a:solidFill>
              <a:latin typeface="Arial"/>
            </a:endParaRPr>
          </a:p>
        </p:txBody>
      </p:sp>
      <p:sp>
        <p:nvSpPr>
          <p:cNvPr id="68" name="TextBox 2"/>
          <p:cNvSpPr/>
          <p:nvPr/>
        </p:nvSpPr>
        <p:spPr>
          <a:xfrm>
            <a:off x="822960" y="5486400"/>
            <a:ext cx="10545480" cy="91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optical bench to demo 4 surface gauges, in mirror and lens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Comparing accuracy, precision, repeatability and hold, for interferometers, scalar and vector Zernike WF sensors, and a point-diffraction sensor</a:t>
            </a:r>
            <a:endParaRPr b="0" lang="en-US" sz="1250" spc="-1" strike="noStrike">
              <a:solidFill>
                <a:srgbClr val="000000"/>
              </a:solidFill>
              <a:latin typeface="Arial"/>
            </a:endParaRPr>
          </a:p>
        </p:txBody>
      </p:sp>
      <p:sp>
        <p:nvSpPr>
          <p:cNvPr id="7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71" name="Table 3"/>
          <p:cNvGraphicFramePr/>
          <p:nvPr/>
        </p:nvGraphicFramePr>
        <p:xfrm>
          <a:off x="411480" y="1298520"/>
          <a:ext cx="11368440" cy="2019960"/>
        </p:xfrm>
        <a:graphic>
          <a:graphicData uri="http://schemas.openxmlformats.org/drawingml/2006/table">
            <a:tbl>
              <a:tblPr/>
              <a:tblGrid>
                <a:gridCol w="2883960"/>
                <a:gridCol w="6157800"/>
                <a:gridCol w="1163160"/>
                <a:gridCol w="1163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the claim (interferometer, both rigs)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means here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mirror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accuracy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imaging's error in reading a 30 nm working surface, piston and tilt removed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 (42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0.29 % (92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in the top spatial band (at the actuator Nyquist)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0.5 %</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0.9 %</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precision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measurement, photon-limited, at 1e14 / 1e15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 / 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 / 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repeatability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surface held in a servo, rms over 30 cycles, same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1.4 / 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 0.4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photons per cycle to keep the surface inside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endParaRPr b="0" lang="en-US" sz="1800" spc="-1" strike="noStrike">
                        <a:solidFill>
                          <a:srgbClr val="000000"/>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under a 2 pm per actuator per cycle random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72" name="TextBox 4"/>
          <p:cNvSpPr/>
          <p:nvPr/>
        </p:nvSpPr>
        <p:spPr>
          <a:xfrm>
            <a:off x="411480" y="3404880"/>
            <a:ext cx="11368440" cy="2299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Picometer measurement is photon-limited, not bench-limited.</a:t>
            </a:r>
            <a:r>
              <a:rPr b="0" lang="en-US" sz="1500" spc="-1" strike="noStrike">
                <a:solidFill>
                  <a:srgbClr val="282828"/>
                </a:solidFill>
                <a:latin typeface="Arial"/>
              </a:rPr>
              <a:t>  One measurement at 1e15 photons — 0.31 mJ, about 1.3 s of a 1 mW laser — repeats to 0.7 pm, and a servo fed at that rate holds under half a picometer.  Both front ends agree to within 10 %.  For scale, </a:t>
            </a:r>
            <a:r>
              <a:rPr b="1" lang="en-US" sz="1500" spc="-1" strike="noStrike">
                <a:solidFill>
                  <a:srgbClr val="282828"/>
                </a:solidFill>
                <a:latin typeface="Arial"/>
              </a:rPr>
              <a:t>Steeves et al. (2020, Optica 7, 1267) demonstrate 1.6 pm in 4.3 s on a real interferometer</a:t>
            </a:r>
            <a:r>
              <a:rPr b="0" lang="en-US" sz="1500" spc="-1" strike="noStrike">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Accuracy is systematic and proportional</a:t>
            </a:r>
            <a:r>
              <a:rPr b="0" lang="en-US" sz="1500" spc="-1" strike="noStrike">
                <a:solidFill>
                  <a:srgbClr val="282828"/>
                </a:solidFill>
                <a:latin typeface="Arial"/>
              </a:rPr>
              <a:t> — a fraction of the figure read, so 30 nm costs tens of picometers and a 200 nm capture figure costs hundreds.  It holds because the response matrix is measured on the surface, not assumed geometric.</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One disturbance is not photon-limited:</a:t>
            </a:r>
            <a:r>
              <a:rPr b="0" lang="en-US" sz="1500" spc="-1" strike="noStrike">
                <a:solidFill>
                  <a:srgbClr val="282828"/>
                </a:solidFill>
                <a:latin typeface="Arial"/>
              </a:rPr>
              <a:t> under a 5 pm per cycle thermal ramp the loop lags at about 10 pm however many photons it is given — a cadence and thermal-control requirement, not a sensing one.</a:t>
            </a:r>
            <a:endParaRPr b="0" lang="en-US" sz="1500" spc="-1" strike="noStrike">
              <a:solidFill>
                <a:srgbClr val="000000"/>
              </a:solidFill>
              <a:latin typeface="Arial"/>
            </a:endParaRPr>
          </a:p>
        </p:txBody>
      </p:sp>
      <p:sp>
        <p:nvSpPr>
          <p:cNvPr id="73" name="TextBox 5"/>
          <p:cNvSpPr/>
          <p:nvPr/>
        </p:nvSpPr>
        <p:spPr>
          <a:xfrm>
            <a:off x="457200" y="5760720"/>
            <a:ext cx="1136556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three jobs, and how each is scored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Measure the mirror's surface to picometers; capture its post-launch shape, 100-200 nm of wavefront, into the servo's reach; hold it there in a servo</a:t>
            </a:r>
            <a:endParaRPr b="0" lang="en-US" sz="1250" spc="-1" strike="noStrike">
              <a:solidFill>
                <a:srgbClr val="000000"/>
              </a:solidFill>
              <a:latin typeface="Arial"/>
            </a:endParaRPr>
          </a:p>
        </p:txBody>
      </p:sp>
      <p:sp>
        <p:nvSpPr>
          <p:cNvPr id="7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76" name="TextBox 3"/>
          <p:cNvSpPr/>
          <p:nvPr/>
        </p:nvSpPr>
        <p:spPr>
          <a:xfrm>
            <a:off x="411480" y="1298520"/>
            <a:ext cx="5806080" cy="3947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The DM:</a:t>
            </a:r>
            <a:r>
              <a:rPr b="0" lang="en-US" sz="1400" spc="-1" strike="noStrike">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1, measure:</a:t>
            </a:r>
            <a:r>
              <a:rPr b="0" lang="en-US" sz="1400" spc="-1" strike="noStrike">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2, capture:</a:t>
            </a:r>
            <a:r>
              <a:rPr b="0" lang="en-US" sz="1400" spc="-1" strike="noStrike">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endParaRPr b="0" lang="en-US" sz="1400" spc="-1" strike="noStrike">
              <a:solidFill>
                <a:srgbClr val="000000"/>
              </a:solidFill>
              <a:latin typeface="Arial"/>
            </a:endParaRPr>
          </a:p>
          <a:p>
            <a:pPr defTabSz="457200">
              <a:lnSpc>
                <a:spcPct val="100000"/>
              </a:lnSpc>
              <a:spcAft>
                <a:spcPts val="601"/>
              </a:spcAft>
            </a:pPr>
            <a:r>
              <a:rPr b="0" lang="en-US" sz="1400" spc="-1" strike="noStrike">
                <a:solidFill>
                  <a:srgbClr val="282828"/>
                </a:solidFill>
                <a:latin typeface="Arial"/>
              </a:rPr>
              <a:t>•  </a:t>
            </a:r>
            <a:r>
              <a:rPr b="1" lang="en-US" sz="1400" spc="-1" strike="noStrike">
                <a:solidFill>
                  <a:srgbClr val="282828"/>
                </a:solidFill>
                <a:latin typeface="Arial"/>
              </a:rPr>
              <a:t>Job 3, hold:</a:t>
            </a:r>
            <a:r>
              <a:rPr b="0" lang="en-US" sz="1400" spc="-1" strike="noStrike">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endParaRPr b="0" lang="en-US" sz="1400" spc="-1" strike="noStrike">
              <a:solidFill>
                <a:srgbClr val="000000"/>
              </a:solidFill>
              <a:latin typeface="Arial"/>
            </a:endParaRPr>
          </a:p>
        </p:txBody>
      </p:sp>
      <p:graphicFrame>
        <p:nvGraphicFramePr>
          <p:cNvPr id="77" name="Table 4"/>
          <p:cNvGraphicFramePr/>
          <p:nvPr/>
        </p:nvGraphicFramePr>
        <p:xfrm>
          <a:off x="6400800" y="1298520"/>
          <a:ext cx="5394600" cy="2908080"/>
        </p:xfrm>
        <a:graphic>
          <a:graphicData uri="http://schemas.openxmlformats.org/drawingml/2006/table">
            <a:tbl>
              <a:tblPr/>
              <a:tblGrid>
                <a:gridCol w="843840"/>
                <a:gridCol w="455076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score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meaning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gain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true change; 1.0 is perfect; quoted after calibration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floor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rms of the actuators that were not changed, in picometers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SNR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floor; above 5 counts as detected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photons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all frames of one measurement summed; 1e14 photons at 633 nm = 31 µJ = 0.13 s of a 1 mW laser at 25% throughput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capture range to 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working surface at which a 10 nm change on the 47 sites reads within 10%, the matrix left as calibrated at 30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capture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starting surface the servo brings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hold, one number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that hold 3 pm rms in a 60-cycle loop at gain 0.5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8" name="TextBox 5"/>
          <p:cNvSpPr/>
          <p:nvPr/>
        </p:nvSpPr>
        <p:spPr>
          <a:xfrm>
            <a:off x="6400800" y="42336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Measuring a change costs two measurements.  The 96×96 at 385 detector pixels per pupil is the flight-like sampling; most rows here are at 193 pixels, which the sampling study showed reads the same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two forms, four ways of sensing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endParaRPr b="0" lang="en-US" sz="1250" spc="-1" strike="noStrike">
              <a:solidFill>
                <a:srgbClr val="000000"/>
              </a:solidFill>
              <a:latin typeface="Arial"/>
            </a:endParaRPr>
          </a:p>
        </p:txBody>
      </p:sp>
      <p:sp>
        <p:nvSpPr>
          <p:cNvPr id="8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81" name="Picture 3" descr="crop_bench_bs22_train.png"/>
          <p:cNvPicPr/>
          <p:nvPr/>
        </p:nvPicPr>
        <p:blipFill>
          <a:blip r:embed="rId1"/>
          <a:stretch/>
        </p:blipFill>
        <p:spPr>
          <a:xfrm>
            <a:off x="1657800" y="1298520"/>
            <a:ext cx="3313440" cy="1652760"/>
          </a:xfrm>
          <a:prstGeom prst="rect">
            <a:avLst/>
          </a:prstGeom>
          <a:ln w="0">
            <a:noFill/>
          </a:ln>
        </p:spPr>
      </p:pic>
      <p:sp>
        <p:nvSpPr>
          <p:cNvPr id="82" name="TextBox 4"/>
          <p:cNvSpPr/>
          <p:nvPr/>
        </p:nvSpPr>
        <p:spPr>
          <a:xfrm>
            <a:off x="411480" y="296964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endParaRPr b="0" lang="en-US" sz="1000" spc="-1" strike="noStrike">
              <a:solidFill>
                <a:srgbClr val="000000"/>
              </a:solidFill>
              <a:latin typeface="Arial"/>
            </a:endParaRPr>
          </a:p>
        </p:txBody>
      </p:sp>
      <p:pic>
        <p:nvPicPr>
          <p:cNvPr id="83" name="Picture 5" descr="crop_lay96_oap_train.png"/>
          <p:cNvPicPr/>
          <p:nvPr/>
        </p:nvPicPr>
        <p:blipFill>
          <a:blip r:embed="rId2"/>
          <a:stretch/>
        </p:blipFill>
        <p:spPr>
          <a:xfrm>
            <a:off x="8195400" y="1298520"/>
            <a:ext cx="1805400" cy="1652760"/>
          </a:xfrm>
          <a:prstGeom prst="rect">
            <a:avLst/>
          </a:prstGeom>
          <a:ln w="0">
            <a:noFill/>
          </a:ln>
        </p:spPr>
      </p:pic>
      <p:sp>
        <p:nvSpPr>
          <p:cNvPr id="84" name="TextBox 6"/>
          <p:cNvSpPr/>
          <p:nvPr/>
        </p:nvSpPr>
        <p:spPr>
          <a:xfrm>
            <a:off x="6400800" y="2969640"/>
            <a:ext cx="539460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endParaRPr b="0" lang="en-US" sz="1000" spc="-1" strike="noStrike">
              <a:solidFill>
                <a:srgbClr val="000000"/>
              </a:solidFill>
              <a:latin typeface="Arial"/>
            </a:endParaRPr>
          </a:p>
        </p:txBody>
      </p:sp>
      <p:graphicFrame>
        <p:nvGraphicFramePr>
          <p:cNvPr id="85" name="Table 7"/>
          <p:cNvGraphicFramePr/>
          <p:nvPr/>
        </p:nvGraphicFramePr>
        <p:xfrm>
          <a:off x="411480" y="3730680"/>
          <a:ext cx="11368440" cy="2658960"/>
        </p:xfrm>
        <a:graphic>
          <a:graphicData uri="http://schemas.openxmlformats.org/drawingml/2006/table">
            <a:tbl>
              <a:tblPr/>
              <a:tblGrid>
                <a:gridCol w="1235880"/>
                <a:gridCol w="3635280"/>
                <a:gridCol w="649692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lenses (L1, L2: 103 mm singlets)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parabolas (OAP1 20°, OAP2 25°)</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 axis, no polarization from folds; inexpensive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against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color at a time; each plate in the converging beam adds aberration (0.03 wave per 2 mm); the detector leg reaches its best focus only after a numerical adjustment; faces need anti-reflection coating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where it stands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reads 1.004 / 1.4 pm on a 10 nm change; holds 3 pm from 2.3e13 photons per cycle; captures from 200 nm to 3.1 pm in 60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reads 0.986 / 2.3 pm; holds 3 pm from 2.0e13; captures from 200 nm in 24 cycles; the pinhole and the calibrated vector pair pass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86" name="TextBox 8"/>
          <p:cNvSpPr/>
          <p:nvPr/>
        </p:nvSpPr>
        <p:spPr>
          <a:xfrm>
            <a:off x="411480" y="63640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common to every configuration: the front end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endParaRPr b="0" lang="en-US" sz="1250" spc="-1" strike="noStrike">
              <a:solidFill>
                <a:srgbClr val="000000"/>
              </a:solidFill>
              <a:latin typeface="Arial"/>
            </a:endParaRPr>
          </a:p>
        </p:txBody>
      </p:sp>
      <p:sp>
        <p:nvSpPr>
          <p:cNvPr id="8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89" name="Table 3"/>
          <p:cNvGraphicFramePr/>
          <p:nvPr/>
        </p:nvGraphicFramePr>
        <p:xfrm>
          <a:off x="411480" y="1298520"/>
          <a:ext cx="11368440" cy="3937320"/>
        </p:xfrm>
        <a:graphic>
          <a:graphicData uri="http://schemas.openxmlformats.org/drawingml/2006/table">
            <a:tbl>
              <a:tblPr/>
              <a:tblGrid>
                <a:gridCol w="1962360"/>
                <a:gridCol w="5301720"/>
                <a:gridCol w="1561320"/>
                <a:gridCol w="509400"/>
                <a:gridCol w="20332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laser, spatially filtered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HeNe 632.8 nm, 1 mW class; the source cone is baffled to 59 mm radius, overfilling the mirror by 11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source; 1e14 photons per measurement is 0.13 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collimator: L1 or OAP1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L1: f 857 mm, 103 mm, plano-convex conic (R 427.3, conic −0.583), 5 mm center.  OAP1: parent f 757 mm (R −1514), 551 mm off-axis, 20° fold, 113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L1 anti-reflection; OAP1 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collimates onto the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plate splitter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22.5°, 50/50, 10 mm thick; the glass shifts the transmitted beam 1.39 mm and takes the flat null 0.13 → 20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50/50 front coating, AR back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splits to the mirror and the reference arm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compensator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matched to the splitter, in the mirror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balances the glass path through the splitter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deformable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96×96, 1 mm pitch, 96 mm, 700 mm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test object; its surface is the measurand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aperture on the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96 mm, at the actuator footprint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stop: it defines the pupil, so the baffle never does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mounts, bench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 m × 1 m table; 103 mm mounts, 25 mm clearance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22.5° layout clears every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90" name="TextBox 4"/>
          <p:cNvSpPr/>
          <p:nvPr/>
        </p:nvSpPr>
        <p:spPr>
          <a:xfrm>
            <a:off x="411480" y="5382360"/>
            <a:ext cx="11368440" cy="5907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a:t>
            </a:r>
            <a:r>
              <a:rPr b="0" lang="en-US" sz="1050" spc="-1" strike="noStrike" baseline="-25000">
                <a:solidFill>
                  <a:srgbClr val="6e6e6e"/>
                </a:solidFill>
                <a:latin typeface="Arial"/>
              </a:rPr>
              <a:t>2</a:t>
            </a:r>
            <a:r>
              <a:rPr b="0" lang="en-US" sz="1050" spc="-1" strike="noStrike">
                <a:solidFill>
                  <a:srgbClr val="6e6e6e"/>
                </a:solidFill>
                <a:latin typeface="Arial"/>
              </a:rPr>
              <a:t>, and the polarization cost of an overcoat reverses sign across the quarter-wave condition, so a quarter wave AT 632.8 nm is the specification to order if the mirror rig is built.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Twyman-Green, four phase steps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endParaRPr b="0" lang="en-US" sz="1250" spc="-1" strike="noStrike">
              <a:solidFill>
                <a:srgbClr val="000000"/>
              </a:solidFill>
              <a:latin typeface="Arial"/>
            </a:endParaRPr>
          </a:p>
        </p:txBody>
      </p:sp>
      <p:sp>
        <p:nvSpPr>
          <p:cNvPr id="9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93" name="TextBox 3"/>
          <p:cNvSpPr/>
          <p:nvPr/>
        </p:nvSpPr>
        <p:spPr>
          <a:xfrm>
            <a:off x="411480" y="1298520"/>
            <a:ext cx="5806080" cy="3671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How it reads:</a:t>
            </a:r>
            <a:r>
              <a:rPr b="0" lang="en-US" sz="1500" spc="-1" strike="noStrike">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30 nm surface, matrix measured on it (lens rig; mirror rig in parentheses):</a:t>
            </a:r>
            <a:r>
              <a:rPr b="0" lang="en-US" sz="1500" spc="-1" strike="noStrike">
                <a:solidFill>
                  <a:srgbClr val="282828"/>
                </a:solidFill>
                <a:latin typeface="Arial"/>
              </a:rPr>
              <a:t> 10 nm on one actuator 1.004 / 1.4 pm / SNR 7741 (0.986 / 2.3 pm / 6044); 1 nm on 120 sites 0.993 / 10 pm (0.981 / 4.4 pm); dense 10 nm 0.9995, 500 pm (0.977, 698 pm).</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Servo:</a:t>
            </a:r>
            <a:r>
              <a:rPr b="0" lang="en-US" sz="1500" spc="-1" strike="noStrike">
                <a:solidFill>
                  <a:srgbClr val="282828"/>
                </a:solidFill>
                <a:latin typeface="Arial"/>
              </a:rPr>
              <a:t> 3 pm from 2.3e13 photons per cycle with noise only, 7.1e13 under a 2 pm per-cycle actuator walk (mirror rig 2.0e13 / 6.6e13); a noiseless 1 nm step settles to 0.015 pm (2.8 pm on the mirror rig), so no fixed error.</a:t>
            </a:r>
            <a:endParaRPr b="0" lang="en-US" sz="1500" spc="-1" strike="noStrike">
              <a:solidFill>
                <a:srgbClr val="000000"/>
              </a:solidFill>
              <a:latin typeface="Arial"/>
            </a:endParaRPr>
          </a:p>
        </p:txBody>
      </p:sp>
      <p:graphicFrame>
        <p:nvGraphicFramePr>
          <p:cNvPr id="94" name="Table 4"/>
          <p:cNvGraphicFramePr/>
          <p:nvPr/>
        </p:nvGraphicFramePr>
        <p:xfrm>
          <a:off x="6400800" y="1298520"/>
          <a:ext cx="5394600" cy="1828440"/>
        </p:xfrm>
        <a:graphic>
          <a:graphicData uri="http://schemas.openxmlformats.org/drawingml/2006/table">
            <a:tbl>
              <a:tblPr/>
              <a:tblGrid>
                <a:gridCol w="2861280"/>
                <a:gridCol w="253332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reference flat on a piezo stage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103 mm, protected aluminum, 564 mm leg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compensator plate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matched to the splitter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snapshot form: input polarizer, two arm quarter-wave plates, output quarter-wave plate, analyzer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zero-order plates on 2-3 mm substrates (to be modeled); azimuths 45 / 0 / 45 / 0 / 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4 (snapshot: at once; piezo: in sequence)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95" name="TextBox 5"/>
          <p:cNvSpPr/>
          <p:nvPr/>
        </p:nvSpPr>
        <p:spPr>
          <a:xfrm>
            <a:off x="6400800" y="327348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redo96_lensloop, redo96_oaploop; the three phase-shift forms are priced in backup (lens_deck_se2).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pupil image quality</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endParaRPr b="0" lang="en-US" sz="1250" spc="-1" strike="noStrike">
              <a:solidFill>
                <a:srgbClr val="000000"/>
              </a:solidFill>
              <a:latin typeface="Arial"/>
            </a:endParaRPr>
          </a:p>
        </p:txBody>
      </p:sp>
      <p:sp>
        <p:nvSpPr>
          <p:cNvPr id="9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98" name="Picture 3" descr="pupilq96_lens_pupil.png"/>
          <p:cNvPicPr/>
          <p:nvPr/>
        </p:nvPicPr>
        <p:blipFill>
          <a:blip r:embed="rId1"/>
          <a:srcRect l="7850" t="0" r="7850" b="4272"/>
          <a:stretch/>
        </p:blipFill>
        <p:spPr>
          <a:xfrm>
            <a:off x="0" y="1298520"/>
            <a:ext cx="6400440" cy="3273120"/>
          </a:xfrm>
          <a:prstGeom prst="rect">
            <a:avLst/>
          </a:prstGeom>
          <a:ln w="0">
            <a:noFill/>
          </a:ln>
        </p:spPr>
      </p:pic>
      <p:sp>
        <p:nvSpPr>
          <p:cNvPr id="99" name="TextBox 4"/>
          <p:cNvSpPr/>
          <p:nvPr/>
        </p:nvSpPr>
        <p:spPr>
          <a:xfrm>
            <a:off x="228600" y="4937760"/>
            <a:ext cx="59432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endParaRPr b="0" lang="en-US" sz="1000" spc="-1" strike="noStrike">
              <a:solidFill>
                <a:srgbClr val="000000"/>
              </a:solidFill>
              <a:latin typeface="Arial"/>
            </a:endParaRPr>
          </a:p>
        </p:txBody>
      </p:sp>
      <p:graphicFrame>
        <p:nvGraphicFramePr>
          <p:cNvPr id="100" name="Table 5"/>
          <p:cNvGraphicFramePr/>
          <p:nvPr/>
        </p:nvGraphicFramePr>
        <p:xfrm>
          <a:off x="6400800" y="1298520"/>
          <a:ext cx="5394600" cy="1657080"/>
        </p:xfrm>
        <a:graphic>
          <a:graphicData uri="http://schemas.openxmlformats.org/drawingml/2006/table">
            <a:tbl>
              <a:tblPr/>
              <a:tblGrid>
                <a:gridCol w="2873160"/>
                <a:gridCol w="1407240"/>
                <a:gridCol w="111384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DM mm unless stated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lens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mirror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distortion vs one affine: rms / edge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0.047 / 0.138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0.62 / 1.19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blur over the actuator band: rms / max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0.066 / 0.133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0.051 / 0.143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image surface: defocus / astig / tilt (mm of sag)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-0.0005 / -0.095 / 0.002</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-0.45 / 0.14 / 0.42</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focal spot on axis / at the actuator-band tilt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0.06 / 0.09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0.03 / 2.2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01" name="TextBox 6"/>
          <p:cNvSpPr/>
          <p:nvPr/>
        </p:nvSpPr>
        <p:spPr>
          <a:xfrm>
            <a:off x="6400800" y="3102120"/>
            <a:ext cx="5394600" cy="3793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Pupil image quality supports picometer measurement on both rigs.</a:t>
            </a:r>
            <a:r>
              <a:rPr b="0" lang="en-US" sz="1200" spc="-1" strike="noStrike">
                <a:solidFill>
                  <a:srgbClr val="282828"/>
                </a:solidFill>
                <a:latin typeface="Arial"/>
              </a:rPr>
              <a:t>  Carried through to a reading it costs </a:t>
            </a:r>
            <a:r>
              <a:rPr b="1" lang="en-US" sz="1200" spc="-1" strike="noStrike">
                <a:solidFill>
                  <a:srgbClr val="282828"/>
                </a:solidFill>
                <a:latin typeface="Arial"/>
              </a:rPr>
              <a:t>0.13 %</a:t>
            </a:r>
            <a:r>
              <a:rPr b="0" lang="en-US" sz="1200" spc="-1" strike="noStrike">
                <a:solidFill>
                  <a:srgbClr val="282828"/>
                </a:solidFill>
                <a:latin typeface="Arial"/>
              </a:rPr>
              <a:t> of the figure on lenses and </a:t>
            </a:r>
            <a:r>
              <a:rPr b="1" lang="en-US" sz="1200" spc="-1" strike="noStrike">
                <a:solidFill>
                  <a:srgbClr val="282828"/>
                </a:solidFill>
                <a:latin typeface="Arial"/>
              </a:rPr>
              <a:t>0.29 %</a:t>
            </a:r>
            <a:r>
              <a:rPr b="0" lang="en-US" sz="1200" spc="-1" strike="noStrike">
                <a:solidFill>
                  <a:srgbClr val="282828"/>
                </a:solidFill>
                <a:latin typeface="Arial"/>
              </a:rPr>
              <a:t> on mirrors — 42 and 92 pm on a 30 nm working surface — and </a:t>
            </a:r>
            <a:r>
              <a:rPr b="1" lang="en-US" sz="1200" spc="-1" strike="noStrike">
                <a:solidFill>
                  <a:srgbClr val="282828"/>
                </a:solidFill>
                <a:latin typeface="Arial"/>
              </a:rPr>
              <a:t>0.5 % / 0.9 %</a:t>
            </a:r>
            <a:r>
              <a:rPr b="0" lang="en-US" sz="1200" spc="-1" strike="noStrike">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Method:</a:t>
            </a:r>
            <a:r>
              <a:rPr b="0" lang="en-US" sz="1200" spc="-1" strike="noStrike">
                <a:solidFill>
                  <a:srgbClr val="282828"/>
                </a:solidFill>
                <a:latin typeface="Arial"/>
              </a:rPr>
              <a:t> the DM declared the stop, the field a tilt about it; two traces a small field step apart cross at each zone's image at the camera; scored in DM mm against the 1 mm pitch.</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lens rig images the DM flat</a:t>
            </a:r>
            <a:r>
              <a:rPr b="0" lang="en-US" sz="1200" spc="-1" strike="noStrike">
                <a:solidFill>
                  <a:srgbClr val="282828"/>
                </a:solidFill>
                <a:latin typeface="Arial"/>
              </a:rPr>
              <a:t> (0.5 µm of defocus across the pupil) and holds its mapping to a seventh of an actuator pitch.  </a:t>
            </a:r>
            <a:r>
              <a:rPr b="1" lang="en-US" sz="1200" spc="-1" strike="noStrike">
                <a:solidFill>
                  <a:srgbClr val="282828"/>
                </a:solidFill>
                <a:latin typeface="Arial"/>
              </a:rPr>
              <a:t>The mirror rig trades mapping for the front end</a:t>
            </a:r>
            <a:r>
              <a:rPr b="0" lang="en-US" sz="1200" spc="-1" strike="noStrike">
                <a:solidFill>
                  <a:srgbClr val="282828"/>
                </a:solidFill>
                <a:latin typeface="Arial"/>
              </a:rPr>
              <a:t>: the OAP pair distorts the image by more than a pitch at the edge, which the measured matrix absorbs and the numbers above already include.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mirror rig's focus is perfect on axis and coma-limited off it</a:t>
            </a:r>
            <a:r>
              <a:rPr b="0" lang="en-US" sz="1200" spc="-1" strike="noStrike">
                <a:solidFill>
                  <a:srgbClr val="282828"/>
                </a:solidFill>
                <a:latin typeface="Arial"/>
              </a:rPr>
              <a:t> (2.2 λF/D at the actuator-band tilt); not a pupil-image cost, a number to know for any off-axis reading at the seat.</a:t>
            </a:r>
            <a:endParaRPr b="0" lang="en-US" sz="1200" spc="-1" strike="noStrike">
              <a:solidFill>
                <a:srgbClr val="000000"/>
              </a:solidFill>
              <a:latin typeface="Arial"/>
            </a:endParaRPr>
          </a:p>
        </p:txBody>
      </p:sp>
      <p:sp>
        <p:nvSpPr>
          <p:cNvPr id="102" name="TextBox 7"/>
          <p:cNvSpPr/>
          <p:nvPr/>
        </p:nvSpPr>
        <p:spPr>
          <a:xfrm>
            <a:off x="548640" y="574236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a quarter-wave dimple at the focus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beam interferes with its own core: no reference arm; the best reading steps the dimple's depth through four frames and inverts pixel by pixel</a:t>
            </a:r>
            <a:endParaRPr b="0" lang="en-US" sz="1250" spc="-1" strike="noStrike">
              <a:solidFill>
                <a:srgbClr val="000000"/>
              </a:solidFill>
              <a:latin typeface="Arial"/>
            </a:endParaRPr>
          </a:p>
        </p:txBody>
      </p:sp>
      <p:sp>
        <p:nvSpPr>
          <p:cNvPr id="10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05" name="TextBox 3"/>
          <p:cNvSpPr/>
          <p:nvPr/>
        </p:nvSpPr>
        <p:spPr>
          <a:xfrm>
            <a:off x="411480" y="1298520"/>
            <a:ext cx="5806080" cy="27568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How it reads:</a:t>
            </a:r>
            <a:r>
              <a:rPr b="0" lang="en-US" sz="1500" spc="-1" strike="noStrike">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30 nm surface, matrix measured on it (mirror rig, 385 px):</a:t>
            </a:r>
            <a:r>
              <a:rPr b="0" lang="en-US" sz="1500" spc="-1" strike="noStrike">
                <a:solidFill>
                  <a:srgbClr val="282828"/>
                </a:solidFill>
                <a:latin typeface="Arial"/>
              </a:rPr>
              <a:t> 10 nm on one actuator 0.993 / 5 pm / SNR 1987; 1 nm on 120 sites 0.995 / 4 pm; dense 10 nm 0.978, 0.75 nm.</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Servo:</a:t>
            </a:r>
            <a:r>
              <a:rPr b="0" lang="en-US" sz="1500" spc="-1" strike="noStrike">
                <a:solidFill>
                  <a:srgbClr val="282828"/>
                </a:solidFill>
                <a:latin typeface="Arial"/>
              </a:rPr>
              <a:t> 3 pm from 2.6e12 photons per cycle noise only, 7.5e12 under the 2 pm walk; no fixed error (a noiseless step goes to 0.000 pm).</a:t>
            </a:r>
            <a:endParaRPr b="0" lang="en-US" sz="1500" spc="-1" strike="noStrike">
              <a:solidFill>
                <a:srgbClr val="000000"/>
              </a:solidFill>
              <a:latin typeface="Arial"/>
            </a:endParaRPr>
          </a:p>
        </p:txBody>
      </p:sp>
      <p:pic>
        <p:nvPicPr>
          <p:cNvPr id="106" name="Picture 4" descr="zwfs_mask385_mask.png"/>
          <p:cNvPicPr/>
          <p:nvPr/>
        </p:nvPicPr>
        <p:blipFill>
          <a:blip r:embed="rId1"/>
          <a:stretch/>
        </p:blipFill>
        <p:spPr>
          <a:xfrm>
            <a:off x="6490440" y="1298520"/>
            <a:ext cx="5215680" cy="2183400"/>
          </a:xfrm>
          <a:prstGeom prst="rect">
            <a:avLst/>
          </a:prstGeom>
          <a:ln w="0">
            <a:noFill/>
          </a:ln>
        </p:spPr>
      </p:pic>
      <p:sp>
        <p:nvSpPr>
          <p:cNvPr id="107" name="TextBox 5"/>
          <p:cNvSpPr/>
          <p:nvPr/>
        </p:nvSpPr>
        <p:spPr>
          <a:xfrm>
            <a:off x="6400800" y="3500640"/>
            <a:ext cx="539460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endParaRPr b="0" lang="en-US" sz="1000" spc="-1" strike="noStrike">
              <a:solidFill>
                <a:srgbClr val="000000"/>
              </a:solidFill>
              <a:latin typeface="Arial"/>
            </a:endParaRPr>
          </a:p>
        </p:txBody>
      </p:sp>
      <p:sp>
        <p:nvSpPr>
          <p:cNvPr id="108" name="TextBox 6"/>
          <p:cNvSpPr/>
          <p:nvPr/>
        </p:nvSpPr>
        <p:spPr>
          <a:xfrm>
            <a:off x="6400800" y="4096440"/>
            <a:ext cx="53946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polarized dimple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geometric-phase metasurface in the same seat delays the two circular polarizations by +90° and −90°; a quarter-wave plate and a polarizing cube send the two images to two cameras, both frames at once</a:t>
            </a:r>
            <a:endParaRPr b="0" lang="en-US" sz="1250" spc="-1" strike="noStrike">
              <a:solidFill>
                <a:srgbClr val="000000"/>
              </a:solidFill>
              <a:latin typeface="Arial"/>
            </a:endParaRPr>
          </a:p>
        </p:txBody>
      </p:sp>
      <p:sp>
        <p:nvSpPr>
          <p:cNvPr id="11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11" name="TextBox 3"/>
          <p:cNvSpPr/>
          <p:nvPr/>
        </p:nvSpPr>
        <p:spPr>
          <a:xfrm>
            <a:off x="411480" y="1298520"/>
            <a:ext cx="5806080" cy="252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How it reads:</a:t>
            </a:r>
            <a:r>
              <a:rPr b="0" lang="en-US" sz="1500" spc="-1" strike="noStrike">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30 nm surface, matrix measured on it (mirror rig, 385 px):</a:t>
            </a:r>
            <a:r>
              <a:rPr b="0" lang="en-US" sz="1500" spc="-1" strike="noStrike">
                <a:solidFill>
                  <a:srgbClr val="282828"/>
                </a:solidFill>
                <a:latin typeface="Arial"/>
              </a:rPr>
              <a:t> 10 nm on one actuator 1.008 / 2 pm / SNR 6364; 1 nm on 120 sites 1.001 / 4 pm; dense 10 nm 1.0035, 0.44 nm — the best line in the comparison.</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Servo (mirror rig):</a:t>
            </a:r>
            <a:r>
              <a:rPr b="0" lang="en-US" sz="1500" spc="-1" strike="noStrike">
                <a:solidFill>
                  <a:srgbClr val="282828"/>
                </a:solidFill>
                <a:latin typeface="Arial"/>
              </a:rPr>
              <a:t> 3 pm from 2.2e12 photons per cycle noise only, 6.8e12 under the 2 pm walk; no fixed error.</a:t>
            </a:r>
            <a:endParaRPr b="0" lang="en-US" sz="1500" spc="-1" strike="noStrike">
              <a:solidFill>
                <a:srgbClr val="000000"/>
              </a:solidFill>
              <a:latin typeface="Arial"/>
            </a:endParaRPr>
          </a:p>
        </p:txBody>
      </p:sp>
      <p:graphicFrame>
        <p:nvGraphicFramePr>
          <p:cNvPr id="112" name="Table 4"/>
          <p:cNvGraphicFramePr/>
          <p:nvPr/>
        </p:nvGraphicFramePr>
        <p:xfrm>
          <a:off x="6400800" y="1298520"/>
          <a:ext cx="5394600" cy="3160440"/>
        </p:xfrm>
        <a:graphic>
          <a:graphicData uri="http://schemas.openxmlformats.org/drawingml/2006/table">
            <a:tbl>
              <a:tblPr/>
              <a:tblGrid>
                <a:gridCol w="670320"/>
                <a:gridCol w="4724280"/>
              </a:tblGrid>
              <a:tr h="605520">
                <a:tc>
                  <a:txBody>
                    <a:bodyPr lIns="54720" rIns="54720" tIns="18000" bIns="1800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metasurface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geometric-phase (half-wave) dimple in the etched plate's seat: +90° on one circular state, −90° on the other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quarter-wave plate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zero order on a 2 mm substrate (0.05 wave of spherical aberration in the F/3.6 leg, to be modeled), fast axis at 45° between the cube's s and p; spec λ/300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polarizing cube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12.7 mm cemented MacNeille, behind the field lens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cameras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two, both 20.7 mm behind the cube at the 7.5 mm pupil image; a 6.5 µm sCMOS (13 mm sensor) binned 3 to 385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2, simultaneous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13" name="TextBox 5"/>
          <p:cNvSpPr/>
          <p:nvPr/>
        </p:nvSpPr>
        <p:spPr>
          <a:xfrm>
            <a:off x="6400800" y="456516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Two cameras rather than one: the 7.5 mm pupil image 32 mm behind the field lens would need a 17° split for side-by-side images, past a calcite prism's limit.  Run tags v193base, vloop193.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a stepped pinhole with a shutter frame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best common-path form: a 5.3 µm pinhole with an attenuated surround at the focus, five phase steps of the substrate, plus one pinhole-only frame per state that keeps the calibration honest far from null</a:t>
            </a:r>
            <a:endParaRPr b="0" lang="en-US" sz="1250" spc="-1" strike="noStrike">
              <a:solidFill>
                <a:srgbClr val="000000"/>
              </a:solidFill>
              <a:latin typeface="Arial"/>
            </a:endParaRPr>
          </a:p>
        </p:txBody>
      </p:sp>
      <p:sp>
        <p:nvSpPr>
          <p:cNvPr id="11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16" name="TextBox 3"/>
          <p:cNvSpPr/>
          <p:nvPr/>
        </p:nvSpPr>
        <p:spPr>
          <a:xfrm>
            <a:off x="411480" y="1298520"/>
            <a:ext cx="5806080" cy="4204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How it reads:</a:t>
            </a:r>
            <a:r>
              <a:rPr b="0" lang="en-US" sz="1500" spc="-1" strike="noStrike">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30 nm surface, matrix measured on it (mirror rig, 385 px):</a:t>
            </a:r>
            <a:r>
              <a:rPr b="0" lang="en-US" sz="1500" spc="-1" strike="noStrike">
                <a:solidFill>
                  <a:srgbClr val="282828"/>
                </a:solidFill>
                <a:latin typeface="Arial"/>
              </a:rPr>
              <a:t> 10 nm on one actuator 0.995 / 3 pm / SNR 3845; 1 nm on 120 sites 0.998 / 3 pm; dense 10 nm 0.994, 313 pm.</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Servo:</a:t>
            </a:r>
            <a:r>
              <a:rPr b="0" lang="en-US" sz="1500" spc="-1" strike="noStrike">
                <a:solidFill>
                  <a:srgbClr val="282828"/>
                </a:solidFill>
                <a:latin typeface="Arial"/>
              </a:rPr>
              <a:t> 3 pm from 2.3e12 photons per cycle noise only, 7.0e12 under the walk; no fixed error.  The shutter frame is what lets it read to 480 nm of surface (next slides).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Not yet modeled: how the phase is stepped.</a:t>
            </a:r>
            <a:r>
              <a:rPr b="0" lang="en-US" sz="1500" spc="-1" strike="noStrike">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endParaRPr b="0" lang="en-US" sz="1500" spc="-1" strike="noStrike">
              <a:solidFill>
                <a:srgbClr val="000000"/>
              </a:solidFill>
              <a:latin typeface="Arial"/>
            </a:endParaRPr>
          </a:p>
        </p:txBody>
      </p:sp>
      <p:graphicFrame>
        <p:nvGraphicFramePr>
          <p:cNvPr id="117" name="Table 4"/>
          <p:cNvGraphicFramePr/>
          <p:nvPr/>
        </p:nvGraphicFramePr>
        <p:xfrm>
          <a:off x="6400800" y="1298520"/>
          <a:ext cx="5394600" cy="1999800"/>
        </p:xfrm>
        <a:graphic>
          <a:graphicData uri="http://schemas.openxmlformats.org/drawingml/2006/table">
            <a:tbl>
              <a:tblPr/>
              <a:tblGrid>
                <a:gridCol w="1141200"/>
                <a:gridCol w="4253400"/>
              </a:tblGrid>
              <a:tr h="434160">
                <a:tc>
                  <a:txBody>
                    <a:bodyPr lIns="54720" rIns="54720" tIns="18000" bIns="1800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pinhole substrate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fused silica, 2-3 mm, in the mask seat; pinhole 5.27 µm (2.0 λF/D at F/4.2), clear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surround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attenuated to 0.72 in amplitude (0.52 in power), phase-stepped on a stage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shutter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over the surround: one pinhole-only frame per state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6: the five-step scan plus the shutter frame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18" name="TextBox 5"/>
          <p:cNvSpPr/>
          <p:nvPr/>
        </p:nvSpPr>
        <p:spPr>
          <a:xfrm>
            <a:off x="6400800" y="344484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Each gauge reading the 30 nm working surface,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same mirror command through the four trains: what the camera sees, and what comes back; the last column is the raw map against the engine's own field, before any calibration</a:t>
            </a:r>
            <a:endParaRPr b="0" lang="en-US" sz="1250" spc="-1" strike="noStrike">
              <a:solidFill>
                <a:srgbClr val="000000"/>
              </a:solidFill>
              <a:latin typeface="Arial"/>
            </a:endParaRPr>
          </a:p>
        </p:txBody>
      </p:sp>
      <p:sp>
        <p:nvSpPr>
          <p:cNvPr id="12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21" name="Picture 3" descr="crop_stations_row2_I.png"/>
          <p:cNvPicPr/>
          <p:nvPr/>
        </p:nvPicPr>
        <p:blipFill>
          <a:blip r:embed="rId1"/>
          <a:stretch/>
        </p:blipFill>
        <p:spPr>
          <a:xfrm>
            <a:off x="4800600" y="1061640"/>
            <a:ext cx="7287480" cy="1452960"/>
          </a:xfrm>
          <a:prstGeom prst="rect">
            <a:avLst/>
          </a:prstGeom>
          <a:ln w="0">
            <a:noFill/>
          </a:ln>
        </p:spPr>
      </p:pic>
      <p:sp>
        <p:nvSpPr>
          <p:cNvPr id="122" name="TextBox 4"/>
          <p:cNvSpPr/>
          <p:nvPr/>
        </p:nvSpPr>
        <p:spPr>
          <a:xfrm>
            <a:off x="228600" y="1371600"/>
            <a:ext cx="3886200" cy="700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Interferometer (hybrid, mirror rig): the command; the test and reference arms at the camera; two of the four phase-stepped frames; the recovered surface; the raw map minus the engine's field, 463 pm (1.5 %).</a:t>
            </a:r>
            <a:endParaRPr b="0" lang="en-US" sz="1000" spc="-1" strike="noStrike">
              <a:solidFill>
                <a:srgbClr val="000000"/>
              </a:solidFill>
              <a:latin typeface="Arial"/>
            </a:endParaRPr>
          </a:p>
        </p:txBody>
      </p:sp>
      <p:pic>
        <p:nvPicPr>
          <p:cNvPr id="123" name="Picture 5" descr="crop_stations_row2_S.png"/>
          <p:cNvPicPr/>
          <p:nvPr/>
        </p:nvPicPr>
        <p:blipFill>
          <a:blip r:embed="rId2"/>
          <a:srcRect l="0" t="10158" r="2040" b="12700"/>
          <a:stretch/>
        </p:blipFill>
        <p:spPr>
          <a:xfrm>
            <a:off x="4236840" y="2487240"/>
            <a:ext cx="7792560" cy="1004760"/>
          </a:xfrm>
          <a:prstGeom prst="rect">
            <a:avLst/>
          </a:prstGeom>
          <a:ln w="0">
            <a:noFill/>
          </a:ln>
        </p:spPr>
      </p:pic>
      <p:sp>
        <p:nvSpPr>
          <p:cNvPr id="124" name="TextBox 6"/>
          <p:cNvSpPr/>
          <p:nvPr/>
        </p:nvSpPr>
        <p:spPr>
          <a:xfrm>
            <a:off x="228600" y="2576160"/>
            <a:ext cx="3886200" cy="853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Stepped Zernike: the focal spot with the dimple's footprint; the dimple's phase; the reference wave the dimple makes from the beam; the clear frame and the first depth frame; the recovered surface; raw map minus the engine, 4.8 nm (the beam-made reference, which the matrix measured on the surface absorbs).</a:t>
            </a:r>
            <a:endParaRPr b="0" lang="en-US" sz="1000" spc="-1" strike="noStrike">
              <a:solidFill>
                <a:srgbClr val="000000"/>
              </a:solidFill>
              <a:latin typeface="Arial"/>
            </a:endParaRPr>
          </a:p>
        </p:txBody>
      </p:sp>
      <p:pic>
        <p:nvPicPr>
          <p:cNvPr id="125" name="Picture 7" descr="crop_stations_row2_V.png"/>
          <p:cNvPicPr/>
          <p:nvPr/>
        </p:nvPicPr>
        <p:blipFill>
          <a:blip r:embed="rId3"/>
          <a:srcRect l="0" t="10076" r="2131" b="10711"/>
          <a:stretch/>
        </p:blipFill>
        <p:spPr>
          <a:xfrm>
            <a:off x="4217760" y="3562920"/>
            <a:ext cx="7785360" cy="1031760"/>
          </a:xfrm>
          <a:prstGeom prst="rect">
            <a:avLst/>
          </a:prstGeom>
          <a:ln w="0">
            <a:noFill/>
          </a:ln>
        </p:spPr>
      </p:pic>
      <p:sp>
        <p:nvSpPr>
          <p:cNvPr id="126" name="TextBox 8"/>
          <p:cNvSpPr/>
          <p:nvPr/>
        </p:nvSpPr>
        <p:spPr>
          <a:xfrm>
            <a:off x="182880" y="3795840"/>
            <a:ext cx="3931920" cy="547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Vector Zernike: the metasurface (+90° on one circular state, −90° on the other); camera A and camera B, both frames at once; the pixel-by-pixel solve; raw map minus the engine, 25 pm.</a:t>
            </a:r>
            <a:endParaRPr b="0" lang="en-US" sz="1000" spc="-1" strike="noStrike">
              <a:solidFill>
                <a:srgbClr val="000000"/>
              </a:solidFill>
              <a:latin typeface="Arial"/>
            </a:endParaRPr>
          </a:p>
        </p:txBody>
      </p:sp>
      <p:pic>
        <p:nvPicPr>
          <p:cNvPr id="127" name="Picture 9" descr="crop_stations_row2_P.png"/>
          <p:cNvPicPr/>
          <p:nvPr/>
        </p:nvPicPr>
        <p:blipFill>
          <a:blip r:embed="rId4"/>
          <a:srcRect l="0" t="10546" r="1579" b="11619"/>
          <a:stretch/>
        </p:blipFill>
        <p:spPr>
          <a:xfrm>
            <a:off x="4217760" y="4709520"/>
            <a:ext cx="7829280" cy="1013760"/>
          </a:xfrm>
          <a:prstGeom prst="rect">
            <a:avLst/>
          </a:prstGeom>
          <a:ln w="0">
            <a:noFill/>
          </a:ln>
        </p:spPr>
      </p:pic>
      <p:sp>
        <p:nvSpPr>
          <p:cNvPr id="128" name="TextBox 10"/>
          <p:cNvSpPr/>
          <p:nvPr/>
        </p:nvSpPr>
        <p:spPr>
          <a:xfrm>
            <a:off x="182880" y="4938840"/>
            <a:ext cx="3931920" cy="547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000" spc="-1" strike="noStrike">
                <a:solidFill>
                  <a:srgbClr val="6e6e6e"/>
                </a:solidFill>
                <a:latin typeface="Arial"/>
              </a:rPr>
              <a:t>Stepped pinhole: the pinhole plate (clear pinhole, the surround at 0.72); the first step frame and the shutter frame (the pinhole's light alone); the recovered surface; raw map minus the engine, 184 pm.</a:t>
            </a:r>
            <a:endParaRPr b="0" lang="en-US" sz="1000" spc="-1" strike="noStrike">
              <a:solidFill>
                <a:srgbClr val="000000"/>
              </a:solidFill>
              <a:latin typeface="Arial"/>
            </a:endParaRPr>
          </a:p>
        </p:txBody>
      </p:sp>
      <p:sp>
        <p:nvSpPr>
          <p:cNvPr id="129" name="TextBox 11"/>
          <p:cNvSpPr/>
          <p:nvPr/>
        </p:nvSpPr>
        <p:spPr>
          <a:xfrm>
            <a:off x="411480" y="5943600"/>
            <a:ext cx="113382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Row 2 of each gauge's station-by-station figure (the full figures, with the flat mirror as row 1, are in the backup).  Run tags redo96_oapstn (interferometer) and stations193 (the three sensors, 193 pixels per pupil).</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Performance side by side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reading on the same 30 nm working surface, the response matrix measured on it: the four best readings are within 1% of each other and within 2 pm on the floor</a:t>
            </a:r>
            <a:endParaRPr b="0" lang="en-US" sz="1250" spc="-1" strike="noStrike">
              <a:solidFill>
                <a:srgbClr val="000000"/>
              </a:solidFill>
              <a:latin typeface="Arial"/>
            </a:endParaRPr>
          </a:p>
        </p:txBody>
      </p:sp>
      <p:sp>
        <p:nvSpPr>
          <p:cNvPr id="13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32" name="Table 3"/>
          <p:cNvGraphicFramePr/>
          <p:nvPr/>
        </p:nvGraphicFramePr>
        <p:xfrm>
          <a:off x="411480" y="1298520"/>
          <a:ext cx="11368440" cy="2520000"/>
        </p:xfrm>
        <a:graphic>
          <a:graphicData uri="http://schemas.openxmlformats.org/drawingml/2006/table">
            <a:tbl>
              <a:tblPr/>
              <a:tblGrid>
                <a:gridCol w="2674800"/>
                <a:gridCol w="3427200"/>
                <a:gridCol w="2591280"/>
                <a:gridCol w="26748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reading (frames per measurement)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nm on one actuator: gain / floor / SNR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120 sites: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dense random 10 nm: gain /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 1.4 pm / 7741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10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0.9995 / 500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 2.3 pm / 6044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0.981 / 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0.977 / 698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 one frame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21 pm / 492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4.7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0.78 / 74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0.90 / 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0.86 / 5.2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5 pm / 1987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0.978 / 0.75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1.008 / 2 pm / 6364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1.001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1.0035 / 0.44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3 pm / 3845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0.998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0.994 / 313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 reference arm traced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2 pm / 4895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0.9924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0.9926 / 144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33" name="TextBox 4"/>
          <p:cNvSpPr/>
          <p:nvPr/>
        </p:nvSpPr>
        <p:spPr>
          <a:xfrm>
            <a:off x="411480" y="3965040"/>
            <a:ext cx="11368440" cy="1080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one-frame Zernike readings lose:</a:t>
            </a:r>
            <a:r>
              <a:rPr b="0" lang="en-US" sz="1500" spc="-1" strike="noStrike">
                <a:solidFill>
                  <a:srgbClr val="282828"/>
                </a:solidFill>
                <a:latin typeface="Arial"/>
              </a:rPr>
              <a:t> the linear one is biased 4-5% and floors at 21 pm; the exact one-frame reading misreads the sign past the quarter-wave fold (7.8% of pixels on this surface) and diverges in a servo.</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dense-pattern error is 0.3-0.75 nm for every reading, the interferometer's included;</a:t>
            </a:r>
            <a:r>
              <a:rPr b="0" lang="en-US" sz="1500" spc="-1" strike="noStrike">
                <a:solidFill>
                  <a:srgbClr val="282828"/>
                </a:solidFill>
                <a:latin typeface="Arial"/>
              </a:rPr>
              <a:t> the single-actuator and grid rows, which the servo uses, are at 1-10 pm.</a:t>
            </a:r>
            <a:endParaRPr b="0" lang="en-US" sz="1500" spc="-1" strike="noStrike">
              <a:solidFill>
                <a:srgbClr val="000000"/>
              </a:solidFill>
              <a:latin typeface="Arial"/>
            </a:endParaRPr>
          </a:p>
        </p:txBody>
      </p:sp>
      <p:sp>
        <p:nvSpPr>
          <p:cNvPr id="134" name="TextBox 5"/>
          <p:cNvSpPr/>
          <p:nvPr/>
        </p:nvSpPr>
        <p:spPr>
          <a:xfrm>
            <a:off x="411480" y="52725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(interferometer, 385 px), redo96_oapsens (the three sensors on the mirror rig, 385 px); the one-frame Zernike readings and the P/SRI at 193 px (matbase, pfdeck).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how far from null each reading works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endParaRPr b="0" lang="en-US" sz="1250" spc="-1" strike="noStrike">
              <a:solidFill>
                <a:srgbClr val="000000"/>
              </a:solidFill>
              <a:latin typeface="Arial"/>
            </a:endParaRPr>
          </a:p>
        </p:txBody>
      </p:sp>
      <p:sp>
        <p:nvSpPr>
          <p:cNvPr id="13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37" name="Table 3"/>
          <p:cNvGraphicFramePr/>
          <p:nvPr/>
        </p:nvGraphicFramePr>
        <p:xfrm>
          <a:off x="411480" y="1298520"/>
          <a:ext cx="5806080" cy="3554280"/>
        </p:xfrm>
        <a:graphic>
          <a:graphicData uri="http://schemas.openxmlformats.org/drawingml/2006/table">
            <a:tbl>
              <a:tblPr/>
              <a:tblGrid>
                <a:gridCol w="2977560"/>
                <a:gridCol w="28285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range to 10%, calibration aging from 30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pinhole, no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with a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(1.02 / 1.06 / 1.13 at 120 / 240 / 480)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(within 1% at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both rigs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single site and grid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 vector / pinhole on the mirror rig, 385 px</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 51 / 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38" name="TextBox 4"/>
          <p:cNvSpPr/>
          <p:nvPr/>
        </p:nvSpPr>
        <p:spPr>
          <a:xfrm>
            <a:off x="6400800" y="1298520"/>
            <a:ext cx="5394600" cy="252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Why the sensors age:</a:t>
            </a:r>
            <a:r>
              <a:rPr b="0" lang="en-US" sz="1500" spc="-1" strike="noStrike">
                <a:solidFill>
                  <a:srgbClr val="282828"/>
                </a:solidFill>
                <a:latin typeface="Arial"/>
              </a:rPr>
              <a:t> their reference is made from the beam's own core, and the core changes with the surface.  Past 100 nm rms (2 rad of phase) the core collapses and the reading goes blind.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shutter frame fixes the pinhole's version of this:</a:t>
            </a:r>
            <a:r>
              <a:rPr b="0" lang="en-US" sz="1500" spc="-1" strike="noStrike">
                <a:solidFill>
                  <a:srgbClr val="282828"/>
                </a:solidFill>
                <a:latin typeface="Arial"/>
              </a:rPr>
              <a:t> measuring the reference by itself each state removes the surface dependence, for one more frame.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Re-measuring the matrix on the surface restores every reading's gain</a:t>
            </a:r>
            <a:r>
              <a:rPr b="0" lang="en-US" sz="1500" spc="-1" strike="noStrike">
                <a:solidFill>
                  <a:srgbClr val="282828"/>
                </a:solidFill>
                <a:latin typeface="Arial"/>
              </a:rPr>
              <a:t> to within 5% at 60-160 nm — at a photon price (next slide).</a:t>
            </a:r>
            <a:endParaRPr b="0" lang="en-US" sz="1500" spc="-1" strike="noStrike">
              <a:solidFill>
                <a:srgbClr val="000000"/>
              </a:solidFill>
              <a:latin typeface="Arial"/>
            </a:endParaRPr>
          </a:p>
        </p:txBody>
      </p:sp>
      <p:sp>
        <p:nvSpPr>
          <p:cNvPr id="139" name="TextBox 5"/>
          <p:cNvSpPr/>
          <p:nvPr/>
        </p:nvSpPr>
        <p:spPr>
          <a:xfrm>
            <a:off x="6355080" y="43434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 cap385p, pdi193state, lens_deck, oap_deck, oapsens385 (the mirror rig at 385 px, the Mac); 385 pixels per pupil, 47 sites (52 for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Photons for 1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endParaRPr b="0" lang="en-US" sz="1250" spc="-1" strike="noStrike">
              <a:solidFill>
                <a:srgbClr val="000000"/>
              </a:solidFill>
              <a:latin typeface="Arial"/>
            </a:endParaRPr>
          </a:p>
        </p:txBody>
      </p:sp>
      <p:sp>
        <p:nvSpPr>
          <p:cNvPr id="14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2" name="Table 3"/>
          <p:cNvGraphicFramePr/>
          <p:nvPr/>
        </p:nvGraphicFramePr>
        <p:xfrm>
          <a:off x="411480" y="1298520"/>
          <a:ext cx="5806080" cy="2811600"/>
        </p:xfrm>
        <a:graphic>
          <a:graphicData uri="http://schemas.openxmlformats.org/drawingml/2006/table">
            <a:tbl>
              <a:tblPr/>
              <a:tblGrid>
                <a:gridCol w="1741680"/>
                <a:gridCol w="2322360"/>
                <a:gridCol w="174168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for 1 pm, matrix on the flat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matrix on the 30 nm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43" name="Picture 4" descr="zwfs_redo96_noise.png"/>
          <p:cNvPicPr/>
          <p:nvPr/>
        </p:nvPicPr>
        <p:blipFill>
          <a:blip r:embed="rId1"/>
          <a:stretch/>
        </p:blipFill>
        <p:spPr>
          <a:xfrm>
            <a:off x="6501240" y="1298520"/>
            <a:ext cx="4928400" cy="3894840"/>
          </a:xfrm>
          <a:prstGeom prst="rect">
            <a:avLst/>
          </a:prstGeom>
          <a:ln w="0">
            <a:noFill/>
          </a:ln>
        </p:spPr>
      </p:pic>
      <p:sp>
        <p:nvSpPr>
          <p:cNvPr id="144" name="TextBox 5"/>
          <p:cNvSpPr/>
          <p:nvPr/>
        </p:nvSpPr>
        <p:spPr>
          <a:xfrm>
            <a:off x="6428160" y="5212080"/>
            <a:ext cx="49284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Noise on a single-actuator estimate against photons per measurement, per reading, with the 1 pm line: the runner's own figure.</a:t>
            </a:r>
            <a:endParaRPr b="0" lang="en-US" sz="1000" spc="-1" strike="noStrike">
              <a:solidFill>
                <a:srgbClr val="000000"/>
              </a:solidFill>
              <a:latin typeface="Arial"/>
            </a:endParaRPr>
          </a:p>
        </p:txBody>
      </p:sp>
      <p:sp>
        <p:nvSpPr>
          <p:cNvPr id="145" name="TextBox 6"/>
          <p:cNvSpPr/>
          <p:nvPr/>
        </p:nvSpPr>
        <p:spPr>
          <a:xfrm>
            <a:off x="6428160" y="564192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servo: holding 3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endParaRPr b="0" lang="en-US" sz="1250" spc="-1" strike="noStrike">
              <a:solidFill>
                <a:srgbClr val="000000"/>
              </a:solidFill>
              <a:latin typeface="Arial"/>
            </a:endParaRPr>
          </a:p>
        </p:txBody>
      </p:sp>
      <p:sp>
        <p:nvSpPr>
          <p:cNvPr id="14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48" name="Table 3"/>
          <p:cNvGraphicFramePr/>
          <p:nvPr/>
        </p:nvGraphicFramePr>
        <p:xfrm>
          <a:off x="411480" y="1298520"/>
          <a:ext cx="5806080" cy="3024000"/>
        </p:xfrm>
        <a:graphic>
          <a:graphicData uri="http://schemas.openxmlformats.org/drawingml/2006/table">
            <a:tbl>
              <a:tblPr/>
              <a:tblGrid>
                <a:gridCol w="1096200"/>
                <a:gridCol w="649440"/>
                <a:gridCol w="1299240"/>
                <a:gridCol w="1339920"/>
                <a:gridCol w="14209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noise only</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under a 2 pm per-cycle walk</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floor under a 5 pm per-cycle ramp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noiseless 1 nm step after 60 cycles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2.2e12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6.8e12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8.4e12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149" name="Picture 4" descr="crop_zwfs_redo96_loop_right.png"/>
          <p:cNvPicPr/>
          <p:nvPr/>
        </p:nvPicPr>
        <p:blipFill>
          <a:blip r:embed="rId1"/>
          <a:stretch/>
        </p:blipFill>
        <p:spPr>
          <a:xfrm>
            <a:off x="7086600" y="1271160"/>
            <a:ext cx="4004640" cy="3373920"/>
          </a:xfrm>
          <a:prstGeom prst="rect">
            <a:avLst/>
          </a:prstGeom>
          <a:ln w="0">
            <a:noFill/>
          </a:ln>
        </p:spPr>
      </p:pic>
      <p:sp>
        <p:nvSpPr>
          <p:cNvPr id="150" name="TextBox 5"/>
          <p:cNvSpPr/>
          <p:nvPr/>
        </p:nvSpPr>
        <p:spPr>
          <a:xfrm>
            <a:off x="6400800" y="4700160"/>
            <a:ext cx="40046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Steady-state hold error against photons per cycle for the stepped Zernike (green), the vector pair (purple) and the pinhole (red), with no drift, a 2 pm walk, and a 5 pm ramp: the runner's own figure.</a:t>
            </a:r>
            <a:endParaRPr b="0" lang="en-US" sz="1000" spc="-1" strike="noStrike">
              <a:solidFill>
                <a:srgbClr val="000000"/>
              </a:solidFill>
              <a:latin typeface="Arial"/>
            </a:endParaRPr>
          </a:p>
        </p:txBody>
      </p:sp>
      <p:sp>
        <p:nvSpPr>
          <p:cNvPr id="151" name="TextBox 6"/>
          <p:cNvSpPr/>
          <p:nvPr/>
        </p:nvSpPr>
        <p:spPr>
          <a:xfrm>
            <a:off x="6400800" y="5193720"/>
            <a:ext cx="5394600" cy="1368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Capturing the initial figure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endParaRPr b="0" lang="en-US" sz="1250" spc="-1" strike="noStrike">
              <a:solidFill>
                <a:srgbClr val="000000"/>
              </a:solidFill>
              <a:latin typeface="Arial"/>
            </a:endParaRPr>
          </a:p>
        </p:txBody>
      </p:sp>
      <p:sp>
        <p:nvSpPr>
          <p:cNvPr id="15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4" name="Table 3"/>
          <p:cNvGraphicFramePr/>
          <p:nvPr/>
        </p:nvGraphicFramePr>
        <p:xfrm>
          <a:off x="411480" y="1298520"/>
          <a:ext cx="5806080" cy="4195440"/>
        </p:xfrm>
        <a:graphic>
          <a:graphicData uri="http://schemas.openxmlformats.org/drawingml/2006/table">
            <a:tbl>
              <a:tblPr/>
              <a:tblGrid>
                <a:gridCol w="1090440"/>
                <a:gridCol w="930240"/>
                <a:gridCol w="3785400"/>
              </a:tblGrid>
              <a:tr h="65700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largest start brought to 3 pm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takes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 unwrapping changes nothing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with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 (200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every 10: 0.21 pm at 1e15, 2.1 pm at 1e13, 3 pm by cycle 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0.25 pm; ceiling between 100 and 150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 pm in 19 / 24 cycles from 100 / 200 nm, contraction 0.52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3.1 pm at cycle 60 from 30, 100 and 200 nm alike, contraction 0.50-0.69; not under 3 pm within 60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5" name="TextBox 4"/>
          <p:cNvSpPr/>
          <p:nvPr/>
        </p:nvSpPr>
        <p:spPr>
          <a:xfrm>
            <a:off x="6400800" y="1298520"/>
            <a:ext cx="5394600" cy="27568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wrap is not the limit for the self-referenced sensors:</a:t>
            </a:r>
            <a:r>
              <a:rPr b="0" lang="en-US" sz="1500" spc="-1" strike="noStrike">
                <a:solidFill>
                  <a:srgbClr val="282828"/>
                </a:solidFill>
                <a:latin typeface="Arial"/>
              </a:rPr>
              <a:t> past 60 nm their differential comes back at 24-28 nm whatever the truth, with zero residues — the focal reference has collapsed, the reading is blind, not folded.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Unwrapping alone is not enough for the pinhole or the P/SRI:</a:t>
            </a:r>
            <a:r>
              <a:rPr b="0" lang="en-US" sz="1500" spc="-1" strike="noStrike">
                <a:solidFill>
                  <a:srgbClr val="282828"/>
                </a:solidFill>
                <a:latin typeface="Arial"/>
              </a:rPr>
              <a:t> the calibration measured at the start is wrong by the time the surface has moved; re-measuring it every 10 cycles (3 times in the descent) closes the loop.  Cadence is not the constraint; the cycle count 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interferometer needs no recalibration</a:t>
            </a:r>
            <a:r>
              <a:rPr b="0" lang="en-US" sz="1500" spc="-1" strike="noStrike">
                <a:solidFill>
                  <a:srgbClr val="282828"/>
                </a:solidFill>
                <a:latin typeface="Arial"/>
              </a:rPr>
              <a:t> because its reference is the flat, not the beam.</a:t>
            </a:r>
            <a:endParaRPr b="0" lang="en-US" sz="1500" spc="-1" strike="noStrike">
              <a:solidFill>
                <a:srgbClr val="000000"/>
              </a:solidFill>
              <a:latin typeface="Arial"/>
            </a:endParaRPr>
          </a:p>
        </p:txBody>
      </p:sp>
      <p:sp>
        <p:nvSpPr>
          <p:cNvPr id="156" name="TextBox 5"/>
          <p:cNvSpPr/>
          <p:nvPr/>
        </p:nvSpPr>
        <p:spPr>
          <a:xfrm>
            <a:off x="6419160" y="455364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Lenses or off-axis mirrors: the two front ends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Both rigs hold 3 pm at the same photon cost within 15 % and the mirror rig reads 1 pm for 30 % fewer photons; it is achromatic, puts no glass in the beam, captures faster, and is where the sensors were scored</a:t>
            </a:r>
            <a:endParaRPr b="0" lang="en-US" sz="1250" spc="-1" strike="noStrike">
              <a:solidFill>
                <a:srgbClr val="000000"/>
              </a:solidFill>
              <a:latin typeface="Arial"/>
            </a:endParaRPr>
          </a:p>
        </p:txBody>
      </p:sp>
      <p:sp>
        <p:nvSpPr>
          <p:cNvPr id="15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59" name="Table 3"/>
          <p:cNvGraphicFramePr/>
          <p:nvPr/>
        </p:nvGraphicFramePr>
        <p:xfrm>
          <a:off x="411480" y="1298520"/>
          <a:ext cx="11368440" cy="3387600"/>
        </p:xfrm>
        <a:graphic>
          <a:graphicData uri="http://schemas.openxmlformats.org/drawingml/2006/table">
            <a:tbl>
              <a:tblPr/>
              <a:tblGrid>
                <a:gridCol w="4625640"/>
                <a:gridCol w="2979360"/>
                <a:gridCol w="376344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mirror rig (protected aluminum)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1.004 / 1.4 pm / SNR 7741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0.986 / 2.3 pm / 6044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 nm on 120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10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0.981 / 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dense random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0.9995 / 500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0.977 / 698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photons for 1 pm on the 30 nm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servo: 3 pm noise only / under the 2 pm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2.3e13 / 7.1e13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 / 6.6e13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noiseless 1 nm step, residual at cycle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0.015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3.1 pm at cycle 60 from 100 and 200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 pm from 100 nm in 19 cycles, from 200 nm in 24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flat-mirror null with the substrates in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26.5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10 nm on one actuator (stepped / vector /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 run on the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 / 5, 1.008 / 2, 0.995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capture range to 10% (stepped / vector /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 51 / 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alignment: 10 µrad tilt of a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(D4 not yet run on this bench)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60" name="TextBox 4"/>
          <p:cNvSpPr/>
          <p:nvPr/>
        </p:nvSpPr>
        <p:spPr>
          <a:xfrm>
            <a:off x="411480" y="4805280"/>
            <a:ext cx="11368440" cy="1308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vector pair's raw error on the mirror rig is channel amplitude imbalance from the metal folds</a:t>
            </a:r>
            <a:r>
              <a:rPr b="0" lang="en-US" sz="1500" spc="-1" strike="noStrike">
                <a:solidFill>
                  <a:srgbClr val="282828"/>
                </a:solidFill>
                <a:latin typeface="Arial"/>
              </a:rPr>
              <a:t> (1.08 between its two circular channels on bare aluminum; a quarter-wave overcoat halves the error), not channel phase; the calibrated reading passes its gate.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Both rigs wrap between 60 and 120 nm of surface</a:t>
            </a:r>
            <a:r>
              <a:rPr b="0" lang="en-US" sz="1500" spc="-1" strike="noStrike">
                <a:solidFill>
                  <a:srgbClr val="282828"/>
                </a:solidFill>
                <a:latin typeface="Arial"/>
              </a:rPr>
              <a:t> (a base the four-step cannot follow reads λ/2 ÷ √12 = 91 nm rms); the capture range is set by the unwrapping, not by the front end.</a:t>
            </a:r>
            <a:endParaRPr b="0" lang="en-US" sz="1500" spc="-1" strike="noStrike">
              <a:solidFill>
                <a:srgbClr val="000000"/>
              </a:solidFill>
              <a:latin typeface="Arial"/>
            </a:endParaRPr>
          </a:p>
        </p:txBody>
      </p:sp>
      <p:sp>
        <p:nvSpPr>
          <p:cNvPr id="161" name="TextBox 5"/>
          <p:cNvSpPr/>
          <p:nvPr/>
        </p:nvSpPr>
        <p:spPr>
          <a:xfrm>
            <a:off x="411480" y="6360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can spoil each reading, priced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systematic we could model is either calibrated by the response matrix measured through the sensor, or shown small; one line per approach</a:t>
            </a:r>
            <a:endParaRPr b="0" lang="en-US" sz="1250" spc="-1" strike="noStrike">
              <a:solidFill>
                <a:srgbClr val="000000"/>
              </a:solidFill>
              <a:latin typeface="Arial"/>
            </a:endParaRPr>
          </a:p>
        </p:txBody>
      </p:sp>
      <p:sp>
        <p:nvSpPr>
          <p:cNvPr id="16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64" name="Table 3"/>
          <p:cNvGraphicFramePr/>
          <p:nvPr/>
        </p:nvGraphicFramePr>
        <p:xfrm>
          <a:off x="411480" y="1298520"/>
          <a:ext cx="11368440" cy="4777560"/>
        </p:xfrm>
        <a:graphic>
          <a:graphicData uri="http://schemas.openxmlformats.org/drawingml/2006/table">
            <a:tbl>
              <a:tblPr/>
              <a:tblGrid>
                <a:gridCol w="1889640"/>
                <a:gridCol w="2203200"/>
                <a:gridCol w="3824640"/>
                <a:gridCol w="34506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approach</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size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after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piezo step error 2% / 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0.974 / 0.954; floor 2 → 5 / 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common mode in the servo: 5.4e12 vs 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1/f walk, 1e-3 of signal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light for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splitter diattenuation (plate); cube R_p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the built 22.5°: arm rotation 1.56°, gain +0.9% (11.7% at 45°); 2.1% (cube, naive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residual after a measured matrix 1.4e-3 (lens), 5.5e-4 (mirrors); symmetric stack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out of focus (the early model); sampling; color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floor 744 → 67 pm on correction; dimple needs 6 pixels; one etch reads five colors within 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0.1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750 pm on a 12 nm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0.9934 / 4 pm, the ideal numbers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arm's polarization (six tilted glass faces)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 pm on 12 nm;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to 0.1 rad;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analyzer: cube extinction; plate error λ/300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 165 pm (1.4% of the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within 0.7%, floors within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 step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4.9 pm with the five-frame scan (421 pm with four-step least squares)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differential rows error-free to the digit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bias drifting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 / 10.7 pm at 1e15 (the linear Zernike: 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own reference arm walking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 more light over a hundredfold range of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path change is piston, the mode the estimator nulls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65" name="TextBox 4"/>
          <p:cNvSpPr/>
          <p:nvPr/>
        </p:nvSpPr>
        <p:spPr>
          <a:xfrm>
            <a:off x="411480" y="62226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Nothing is left open on the vector sensor's line.  Run tags lens_deck_se2/se5, loop_lens_cam, tg_psi_dm, tg_psi_dm_v2, v2g, v3arm, an193, pdi193se_sh5, pcam193ri, rw193.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Recommendation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Hold with the vector Zernike sensor; capture with the interferometer, or with the stepped pinhole's shutter frame if a second arm is not wanted; build on lenses; build one bench that switches</a:t>
            </a:r>
            <a:endParaRPr b="0" lang="en-US" sz="1250" spc="-1" strike="noStrike">
              <a:solidFill>
                <a:srgbClr val="000000"/>
              </a:solidFill>
              <a:latin typeface="Arial"/>
            </a:endParaRPr>
          </a:p>
        </p:txBody>
      </p:sp>
      <p:sp>
        <p:nvSpPr>
          <p:cNvPr id="16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68" name="TextBox 3"/>
          <p:cNvSpPr/>
          <p:nvPr/>
        </p:nvSpPr>
        <p:spPr>
          <a:xfrm>
            <a:off x="411480" y="1298520"/>
            <a:ext cx="5806080" cy="4814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Hold:</a:t>
            </a:r>
            <a:r>
              <a:rPr b="0" lang="en-US" sz="1500" spc="-1" strike="noStrike">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Capture:</a:t>
            </a:r>
            <a:r>
              <a:rPr b="0" lang="en-US" sz="1500" spc="-1" strike="noStrike">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Front end:</a:t>
            </a:r>
            <a:r>
              <a:rPr b="0" lang="en-US" sz="1500" spc="-1" strike="noStrike">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endParaRPr b="0" lang="en-US" sz="1500" spc="-1" strike="noStrike">
              <a:solidFill>
                <a:srgbClr val="000000"/>
              </a:solidFill>
              <a:latin typeface="Arial"/>
            </a:endParaRPr>
          </a:p>
        </p:txBody>
      </p:sp>
      <p:sp>
        <p:nvSpPr>
          <p:cNvPr id="169" name="TextBox 4"/>
          <p:cNvSpPr/>
          <p:nvPr/>
        </p:nvSpPr>
        <p:spPr>
          <a:xfrm>
            <a:off x="6400800" y="1298520"/>
            <a:ext cx="5394600" cy="2680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bench:</a:t>
            </a:r>
            <a:r>
              <a:rPr b="0" lang="en-US" sz="1500" spc="-1" strike="noStrike">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What the numbers do not decide:</a:t>
            </a:r>
            <a:r>
              <a:rPr b="0" lang="en-US" sz="1500" spc="-1" strike="noStrike">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endParaRPr b="0" lang="en-US" sz="1500" spc="-1" strike="noStrike">
              <a:solidFill>
                <a:srgbClr val="000000"/>
              </a:solidFill>
              <a:latin typeface="Arial"/>
            </a:endParaRPr>
          </a:p>
        </p:txBody>
      </p:sp>
      <p:sp>
        <p:nvSpPr>
          <p:cNvPr id="170" name="TextBox 5"/>
          <p:cNvSpPr/>
          <p:nvPr/>
        </p:nvSpPr>
        <p:spPr>
          <a:xfrm>
            <a:off x="6400800" y="457200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Draft stance approved 2026-09-13; the wording is for review.</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modes, from launch to hold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Four operating modes and what carries the surface between them: the ground flat, the loop's own phase retrieval, capture, and the servo hold, with recalibration events</a:t>
            </a:r>
            <a:endParaRPr b="0" lang="en-US" sz="1250" spc="-1" strike="noStrike">
              <a:solidFill>
                <a:srgbClr val="000000"/>
              </a:solidFill>
              <a:latin typeface="Arial"/>
            </a:endParaRPr>
          </a:p>
        </p:txBody>
      </p:sp>
      <p:sp>
        <p:nvSpPr>
          <p:cNvPr id="17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73" name="Picture 3" descr="gauge_modes_flow.png"/>
          <p:cNvPicPr/>
          <p:nvPr/>
        </p:nvPicPr>
        <p:blipFill>
          <a:blip r:embed="rId1"/>
          <a:stretch/>
        </p:blipFill>
        <p:spPr>
          <a:xfrm>
            <a:off x="2516400" y="1298520"/>
            <a:ext cx="7158600" cy="3976920"/>
          </a:xfrm>
          <a:prstGeom prst="rect">
            <a:avLst/>
          </a:prstGeom>
          <a:ln w="0">
            <a:noFill/>
          </a:ln>
        </p:spPr>
      </p:pic>
      <p:sp>
        <p:nvSpPr>
          <p:cNvPr id="174" name="TextBox 4"/>
          <p:cNvSpPr/>
          <p:nvPr/>
        </p:nvSpPr>
        <p:spPr>
          <a:xfrm>
            <a:off x="411480" y="5293800"/>
            <a:ext cx="1136844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operating modes as a flow: ground flat, image-based phase retrieval, capture, closed-loop hold; the readings' capture limits under the capture box; recalibration events above.</a:t>
            </a:r>
            <a:endParaRPr b="0" lang="en-US" sz="1000" spc="-1" strike="noStrike">
              <a:solidFill>
                <a:srgbClr val="000000"/>
              </a:solidFill>
              <a:latin typeface="Arial"/>
            </a:endParaRPr>
          </a:p>
        </p:txBody>
      </p:sp>
      <p:sp>
        <p:nvSpPr>
          <p:cNvPr id="175"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loop's own focal-plane phase retrieval wraps at half a wave of high-spatial-frequency wavefront, one wave before the gauges do; its reach sets what capture must cover.  Drawn by gauge_modes_flow.m.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comes next, and how to run it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Three threads of future work, and one command line per gauge; every number in the deck is reproduced by the runners in the public repositories</a:t>
            </a:r>
            <a:endParaRPr b="0" lang="en-US" sz="1250" spc="-1" strike="noStrike">
              <a:solidFill>
                <a:srgbClr val="000000"/>
              </a:solidFill>
              <a:latin typeface="Arial"/>
            </a:endParaRPr>
          </a:p>
        </p:txBody>
      </p:sp>
      <p:sp>
        <p:nvSpPr>
          <p:cNvPr id="17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78" name="TextBox 3"/>
          <p:cNvSpPr/>
          <p:nvPr/>
        </p:nvSpPr>
        <p:spPr>
          <a:xfrm>
            <a:off x="411480" y="1298520"/>
            <a:ext cx="5806080" cy="1888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Capture beyond one wave with a second color:</a:t>
            </a:r>
            <a:r>
              <a:rPr b="0" lang="en-US" sz="1200" spc="-1" strike="noStrike">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From this model to as-built performance:</a:t>
            </a:r>
            <a:r>
              <a:rPr b="0" lang="en-US" sz="1200" spc="-1" strike="noStrike">
                <a:solidFill>
                  <a:srgbClr val="282828"/>
                </a:solidFill>
                <a:latin typeface="Arial"/>
              </a:rPr>
              <a:t> the camera's well depth sets the measurement time (1e14 photons is 1600 frames at 60 ke per pixel); surface, alignment, stability and polarization errors priced per reading (Backup).</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Other approaches worth a look:</a:t>
            </a:r>
            <a:r>
              <a:rPr b="0" lang="en-US" sz="1200" spc="-1" strike="noStrike">
                <a:solidFill>
                  <a:srgbClr val="282828"/>
                </a:solidFill>
                <a:latin typeface="Arial"/>
              </a:rPr>
              <a:t> a modeled large-figure solve, phase diversity, white-light scanning, heterodyne detection, direct-sequence metrology (Backup).</a:t>
            </a:r>
            <a:endParaRPr b="0" lang="en-US" sz="1200" spc="-1" strike="noStrike">
              <a:solidFill>
                <a:srgbClr val="000000"/>
              </a:solidFill>
              <a:latin typeface="Arial"/>
            </a:endParaRPr>
          </a:p>
        </p:txBody>
      </p:sp>
      <p:sp>
        <p:nvSpPr>
          <p:cNvPr id="179" name="TextBox 4"/>
          <p:cNvSpPr/>
          <p:nvPr/>
        </p:nvSpPr>
        <p:spPr>
          <a:xfrm>
            <a:off x="6400800" y="1298520"/>
            <a:ext cx="5394600" cy="2330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Interferometer</a:t>
            </a:r>
            <a:r>
              <a:rPr b="0" lang="en-US" sz="1200" spc="-1" strike="noStrike">
                <a:solidFill>
                  <a:srgbClr val="282828"/>
                </a:solidFill>
                <a:latin typeface="Arial"/>
              </a:rPr>
              <a:t> (tg_psi_dm96_oap): tg96_run (lens rig); tg96_run('bench.optics','oap') (mirror rig).</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Zernike sensors</a:t>
            </a:r>
            <a:r>
              <a:rPr b="0" lang="en-US" sz="1200" spc="-1" strike="noStrike">
                <a:solidFill>
                  <a:srgbClr val="282828"/>
                </a:solidFill>
                <a:latin typeface="Arial"/>
              </a:rPr>
              <a:t> (zwfs_dm96): zwfs_run (bench, battery, figures); zwfs_run('bench.optics','oap','readings',{'S','V','P'},'stages',{'bench','battery','noise','loop'}) for the mirror rig.</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Point-diffraction</a:t>
            </a:r>
            <a:r>
              <a:rPr b="0" lang="en-US" sz="1200" spc="-1" strike="noStrike">
                <a:solidFill>
                  <a:srgbClr val="282828"/>
                </a:solidFill>
                <a:latin typeface="Arial"/>
              </a:rPr>
              <a:t> (pdi_dm96): P = pdi_params; out = pdi_run(P);.</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Where:</a:t>
            </a:r>
            <a:r>
              <a:rPr b="0" lang="en-US" sz="1200" spc="-1" strike="noStrike">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endParaRPr b="0" lang="en-US" sz="1200" spc="-1" strike="noStrike">
              <a:solidFill>
                <a:srgbClr val="000000"/>
              </a:solidFill>
              <a:latin typeface="Arial"/>
            </a:endParaRPr>
          </a:p>
        </p:txBody>
      </p:sp>
      <p:sp>
        <p:nvSpPr>
          <p:cNvPr id="180" name="TextBox 5"/>
          <p:cNvSpPr/>
          <p:nvPr/>
        </p:nvSpPr>
        <p:spPr>
          <a:xfrm>
            <a:off x="6400800" y="387720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TextBox 1"/>
          <p:cNvSpPr/>
          <p:nvPr/>
        </p:nvSpPr>
        <p:spPr>
          <a:xfrm>
            <a:off x="411480" y="201240"/>
            <a:ext cx="1136844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a:t>
            </a:r>
            <a:endParaRPr b="0" lang="en-US" sz="2400" spc="-1" strike="noStrike">
              <a:solidFill>
                <a:srgbClr val="000000"/>
              </a:solidFill>
              <a:latin typeface="Arial"/>
            </a:endParaRPr>
          </a:p>
        </p:txBody>
      </p:sp>
      <p:sp>
        <p:nvSpPr>
          <p:cNvPr id="182" name="Rectangle 2"/>
          <p:cNvSpPr/>
          <p:nvPr/>
        </p:nvSpPr>
        <p:spPr>
          <a:xfrm>
            <a:off x="411480" y="9144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splitter angle: three options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7° cannot be built; 22.5° clears every part and is the choice; 30° adds margin at the price of a wider bench and more plate polarization</a:t>
            </a:r>
            <a:endParaRPr b="0" lang="en-US" sz="1250" spc="-1" strike="noStrike">
              <a:solidFill>
                <a:srgbClr val="000000"/>
              </a:solidFill>
              <a:latin typeface="Arial"/>
            </a:endParaRPr>
          </a:p>
        </p:txBody>
      </p:sp>
      <p:sp>
        <p:nvSpPr>
          <p:cNvPr id="18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85" name="Picture 3" descr="bench_three_nodes.png"/>
          <p:cNvPicPr/>
          <p:nvPr/>
        </p:nvPicPr>
        <p:blipFill>
          <a:blip r:embed="rId1"/>
          <a:stretch/>
        </p:blipFill>
        <p:spPr>
          <a:xfrm>
            <a:off x="2390400" y="1298520"/>
            <a:ext cx="7410600" cy="1434240"/>
          </a:xfrm>
          <a:prstGeom prst="rect">
            <a:avLst/>
          </a:prstGeom>
          <a:ln w="0">
            <a:noFill/>
          </a:ln>
        </p:spPr>
      </p:pic>
      <p:sp>
        <p:nvSpPr>
          <p:cNvPr id="186" name="TextBox 4"/>
          <p:cNvSpPr/>
          <p:nvPr/>
        </p:nvSpPr>
        <p:spPr>
          <a:xfrm>
            <a:off x="411480" y="275148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endParaRPr b="0" lang="en-US" sz="1000" spc="-1" strike="noStrike">
              <a:solidFill>
                <a:srgbClr val="000000"/>
              </a:solidFill>
              <a:latin typeface="Arial"/>
            </a:endParaRPr>
          </a:p>
        </p:txBody>
      </p:sp>
      <p:graphicFrame>
        <p:nvGraphicFramePr>
          <p:cNvPr id="187" name="Table 5"/>
          <p:cNvGraphicFramePr/>
          <p:nvPr/>
        </p:nvGraphicFramePr>
        <p:xfrm>
          <a:off x="411480" y="3182040"/>
          <a:ext cx="11368440" cy="3182760"/>
        </p:xfrm>
        <a:graphic>
          <a:graphicData uri="http://schemas.openxmlformats.org/drawingml/2006/table">
            <a:tbl>
              <a:tblPr/>
              <a:tblGrid>
                <a:gridCol w="3410280"/>
                <a:gridCol w="2273400"/>
                <a:gridCol w="3284280"/>
                <a:gridCol w="2399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impact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7° (record)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22.5° (choice)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node clearance, worst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109 mm: not buildable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 output optics +55 / +65; L2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the rest +178 or more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bench shape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 four legs within 14° of one line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45° to the source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plate's polarization (mean diattenuation, uniform)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pupil-varying part (the lenses; what the sensors feel)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sensor, channel phase difference /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1.63 mrad / 9.0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1.66 mrad / 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1.69 mrad / 9.1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transmitted beam shift in the 2.6 mm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0.36 mm (1.4 at 10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small-angle case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plate systematics re-run at this angle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larger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88" name="TextBox 6"/>
          <p:cNvSpPr/>
          <p:nvPr/>
        </p:nvSpPr>
        <p:spPr>
          <a:xfrm>
            <a:off x="411480" y="64008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common to every configuration: the detector leg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From the focuser to the camera: focused once and shared by every configuration, so only the mask seat's contents and what follows the field lens change</a:t>
            </a:r>
            <a:endParaRPr b="0" lang="en-US" sz="1250" spc="-1" strike="noStrike">
              <a:solidFill>
                <a:srgbClr val="000000"/>
              </a:solidFill>
              <a:latin typeface="Arial"/>
            </a:endParaRPr>
          </a:p>
        </p:txBody>
      </p:sp>
      <p:sp>
        <p:nvSpPr>
          <p:cNvPr id="19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1" name="Table 3"/>
          <p:cNvGraphicFramePr/>
          <p:nvPr/>
        </p:nvGraphicFramePr>
        <p:xfrm>
          <a:off x="411480" y="1298520"/>
          <a:ext cx="11368440" cy="2154240"/>
        </p:xfrm>
        <a:graphic>
          <a:graphicData uri="http://schemas.openxmlformats.org/drawingml/2006/table">
            <a:tbl>
              <a:tblPr/>
              <a:tblGrid>
                <a:gridCol w="1526400"/>
                <a:gridCol w="5300640"/>
                <a:gridCol w="1604880"/>
                <a:gridCol w="509400"/>
                <a:gridCol w="24264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focuser: L2 or OAP2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L2: f 429 mm, 103 mm, plano-convex conic (conic −0.582), 8 mm center.  OAP2: parent f 352 mm (R −704), 328 mm off-axis, 25° fold, 113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L2 anti-reflection; OAP2 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internal focus at F/4.2 where the masks sit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mask seat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translation stage at the internal focus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selects the sensor: clear window, dimple, metasurface,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 43 mm, 21 mm, a conic: −2.11 at the seed station 10.8 mm past the focus, or −7.77 tuned — over the 2.4 mm of it the beam uses, 0.20 µm apart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reimages the DM: 9.8 mm across on the 96 mm beam, 38 mm behind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sCMOS 2048×2048, 6.5 µm binned 4 to 377 px across the 9.8 mm image; or 24 µm pixels unbinned (408)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configuration's pupil image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92" name="TextBox 4"/>
          <p:cNvSpPr/>
          <p:nvPr/>
        </p:nvSpPr>
        <p:spPr>
          <a:xfrm>
            <a:off x="411480" y="359928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field lens's conic is the one part still open: the seed station images the mirror flat, the tuned station reads it 2.3x better, and the two differ by 0.20 µm over the 2.4 mm the beam uses.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interferometer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the reference arm and the two phase-shift forms add to the common bench</a:t>
            </a:r>
            <a:endParaRPr b="0" lang="en-US" sz="1250" spc="-1" strike="noStrike">
              <a:solidFill>
                <a:srgbClr val="000000"/>
              </a:solidFill>
              <a:latin typeface="Arial"/>
            </a:endParaRPr>
          </a:p>
        </p:txBody>
      </p:sp>
      <p:sp>
        <p:nvSpPr>
          <p:cNvPr id="19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5" name="Table 3"/>
          <p:cNvGraphicFramePr/>
          <p:nvPr/>
        </p:nvGraphicFramePr>
        <p:xfrm>
          <a:off x="411480" y="1298520"/>
          <a:ext cx="11368440" cy="4977360"/>
        </p:xfrm>
        <a:graphic>
          <a:graphicData uri="http://schemas.openxmlformats.org/drawingml/2006/table">
            <a:tbl>
              <a:tblPr/>
              <a:tblGrid>
                <a:gridCol w="1090440"/>
                <a:gridCol w="1930680"/>
                <a:gridCol w="2844000"/>
                <a:gridCol w="2397960"/>
                <a:gridCol w="509400"/>
                <a:gridCol w="2594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 / 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all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reference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λ/20; 564 mm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external reference: the arm that makes this the one gauge to capture a whole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piezo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closed-loop piezo stage under the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stroke over one wave (633 nm) in four steps of λ/8 of surface; closed-loop, since the step error is read directly as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steps the reference phase; a 2% step error is priced in the servo, and the stepping is what exposes it to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input polarizer; one quarter-wave plate in each arm, double-passed; output quarter-wave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zero-order plates on 2-3 mm substrates; azimuths 45 / 0 / 45 /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codes the four channels in polarization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piezo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analyzer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polarizer on a 2 mm substrate, 160 mm behind the splitter with the output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sets the interference to be read; in the snapshot form the camera's own micro-polarizer array does this job four ways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camera, replacing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micro-polarizer array 0 / 45 / 90 / 135° over a 2048×2048 sCMOS, 3.45 µm pixels in 2×2 super-pixels, 680 per orientation across the pupil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four analyzer channels in one frame: no moving part, and immune to the drift within a scan that the piezo form pays 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cube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cemented polarizing cube in place of the plate and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class MacNeille, symmetric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ZnS / cryolite on n 1.655 glass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split as polarization physics; no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96" name="TextBox 4"/>
          <p:cNvSpPr/>
          <p:nvPr/>
        </p:nvSpPr>
        <p:spPr>
          <a:xfrm>
            <a:off x="411480" y="642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hybrid form uses the snapshot parts for every change measurement and the piezo for the absolute calibration; both live on the same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sensors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each focal-plane sensor adds to the common bench: one substrate on the mask seat, and the vector sensor's split behind the field lens</a:t>
            </a:r>
            <a:endParaRPr b="0" lang="en-US" sz="1250" spc="-1" strike="noStrike">
              <a:solidFill>
                <a:srgbClr val="000000"/>
              </a:solidFill>
              <a:latin typeface="Arial"/>
            </a:endParaRPr>
          </a:p>
        </p:txBody>
      </p:sp>
      <p:sp>
        <p:nvSpPr>
          <p:cNvPr id="19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9" name="Table 3"/>
          <p:cNvGraphicFramePr/>
          <p:nvPr/>
        </p:nvGraphicFramePr>
        <p:xfrm>
          <a:off x="411480" y="1298520"/>
          <a:ext cx="11368440" cy="3565800"/>
        </p:xfrm>
        <a:graphic>
          <a:graphicData uri="http://schemas.openxmlformats.org/drawingml/2006/table">
            <a:tbl>
              <a:tblPr/>
              <a:tblGrid>
                <a:gridCol w="1671480"/>
                <a:gridCol w="2188440"/>
                <a:gridCol w="2918160"/>
                <a:gridCol w="1026720"/>
                <a:gridCol w="509400"/>
                <a:gridCol w="3053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sensor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etched mask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a 3×3 array of dimples 346 nm deep (a quarter wave), the chosen 5.3 µm (2.0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bare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beam's own core; stepped by translating between depths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geometric-phase metasurface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 the mask seat: a half-wave dimple pattern, +90° on one circular state and −90° on the other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dielectric metasurface on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two images with opposite dimple sign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split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polarizing cube; camera B</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zero-order plate at λ/300 on a 2 mm substrate; 12.7 mm cemented MacNeille cube; a second sCMOS like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 ZnS / cryolite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separates the two circular states onto two cameras, both frames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the interferometer's polarization camera in place of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zero-order plate; the micro-polarizer array already on the bench for the snapshot 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two states read on one camera: one detector, no split leg to align, at a quarter of the pixels per state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pinhole plate on a phase-stepping stage;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5.27 µm pinhole, surround attenuated to 0.72 in amplitude; steps of an eighth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metal-film attenuator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core through the pinhole; the shutter frame reads the reference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00" name="TextBox 4"/>
          <p:cNvSpPr/>
          <p:nvPr/>
        </p:nvSpPr>
        <p:spPr>
          <a:xfrm>
            <a:off x="292680" y="57423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the node at 22.5°</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endParaRPr b="0" lang="en-US" sz="1250" spc="-1" strike="noStrike">
              <a:solidFill>
                <a:srgbClr val="000000"/>
              </a:solidFill>
              <a:latin typeface="Arial"/>
            </a:endParaRPr>
          </a:p>
        </p:txBody>
      </p:sp>
      <p:sp>
        <p:nvSpPr>
          <p:cNvPr id="20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03" name="Picture 3" descr="crop_bench_bs22_node.png"/>
          <p:cNvPicPr/>
          <p:nvPr/>
        </p:nvPicPr>
        <p:blipFill>
          <a:blip r:embed="rId1"/>
          <a:stretch/>
        </p:blipFill>
        <p:spPr>
          <a:xfrm>
            <a:off x="3309480" y="1298520"/>
            <a:ext cx="5572080" cy="3280680"/>
          </a:xfrm>
          <a:prstGeom prst="rect">
            <a:avLst/>
          </a:prstGeom>
          <a:ln w="0">
            <a:noFill/>
          </a:ln>
        </p:spPr>
      </p:pic>
      <p:sp>
        <p:nvSpPr>
          <p:cNvPr id="204" name="TextBox 4"/>
          <p:cNvSpPr/>
          <p:nvPr/>
        </p:nvSpPr>
        <p:spPr>
          <a:xfrm>
            <a:off x="411480" y="4597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endParaRPr b="0" lang="en-US" sz="1000" spc="-1" strike="noStrike">
              <a:solidFill>
                <a:srgbClr val="000000"/>
              </a:solidFill>
              <a:latin typeface="Arial"/>
            </a:endParaRPr>
          </a:p>
        </p:txBody>
      </p:sp>
      <p:sp>
        <p:nvSpPr>
          <p:cNvPr id="205" name="TextBox 5"/>
          <p:cNvSpPr/>
          <p:nvPr/>
        </p:nvSpPr>
        <p:spPr>
          <a:xfrm>
            <a:off x="411480" y="519372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on the redesigned mirror rig: the absolute map is within 1.5% of the engine's field, the differential rows within 1.8 pm</a:t>
            </a:r>
            <a:endParaRPr b="0" lang="en-US" sz="1250" spc="-1" strike="noStrike">
              <a:solidFill>
                <a:srgbClr val="000000"/>
              </a:solidFill>
              <a:latin typeface="Arial"/>
            </a:endParaRPr>
          </a:p>
        </p:txBody>
      </p:sp>
      <p:sp>
        <p:nvSpPr>
          <p:cNvPr id="20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08" name="Picture 3" descr="redo96_oapstn_stations.png"/>
          <p:cNvPicPr/>
          <p:nvPr/>
        </p:nvPicPr>
        <p:blipFill>
          <a:blip r:embed="rId1"/>
          <a:stretch/>
        </p:blipFill>
        <p:spPr>
          <a:xfrm>
            <a:off x="2028600" y="1298520"/>
            <a:ext cx="8134200" cy="2531520"/>
          </a:xfrm>
          <a:prstGeom prst="rect">
            <a:avLst/>
          </a:prstGeom>
          <a:ln w="0">
            <a:noFill/>
          </a:ln>
        </p:spPr>
      </p:pic>
      <p:sp>
        <p:nvSpPr>
          <p:cNvPr id="209" name="TextBox 4"/>
          <p:cNvSpPr/>
          <p:nvPr/>
        </p:nvSpPr>
        <p:spPr>
          <a:xfrm>
            <a:off x="411480" y="38487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endParaRPr b="0" lang="en-US" sz="1000" spc="-1" strike="noStrike">
              <a:solidFill>
                <a:srgbClr val="000000"/>
              </a:solidFill>
              <a:latin typeface="Arial"/>
            </a:endParaRPr>
          </a:p>
        </p:txBody>
      </p:sp>
      <p:sp>
        <p:nvSpPr>
          <p:cNvPr id="210" name="TextBox 5"/>
          <p:cNvSpPr/>
          <p:nvPr/>
        </p:nvSpPr>
        <p:spPr>
          <a:xfrm>
            <a:off x="411480" y="427932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residual column is the absolute read against the engine:</a:t>
            </a:r>
            <a:r>
              <a:rPr b="0" lang="en-US" sz="1500" spc="-1" strike="noStrike">
                <a:solidFill>
                  <a:srgbClr val="282828"/>
                </a:solidFill>
                <a:latin typeface="Arial"/>
              </a:rPr>
              <a:t> 0.00 pm on the flat, 463 pm on the 30 nm surface (1.5% of the figure); the differential rows the servo uses read the same surface's changes to 1.8 pm, which is why the matrix is measured on the surface.</a:t>
            </a:r>
            <a:endParaRPr b="0" lang="en-US" sz="1500" spc="-1" strike="noStrike">
              <a:solidFill>
                <a:srgbClr val="000000"/>
              </a:solidFill>
              <a:latin typeface="Arial"/>
            </a:endParaRPr>
          </a:p>
        </p:txBody>
      </p:sp>
      <p:sp>
        <p:nvSpPr>
          <p:cNvPr id="211" name="TextBox 6"/>
          <p:cNvSpPr/>
          <p:nvPr/>
        </p:nvSpPr>
        <p:spPr>
          <a:xfrm>
            <a:off x="411480" y="519912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question: must the pupil imaging be simulated, and how?</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Is it possible or even necessary to simulate the effect of the pupil imaging geometry on the pupil images of the DM?  Convolve the pupil image with the complex amplitude?  (Dave, 2026-09-16)</a:t>
            </a:r>
            <a:endParaRPr b="0" lang="en-US" sz="1250" spc="-1" strike="noStrike">
              <a:solidFill>
                <a:srgbClr val="000000"/>
              </a:solidFill>
              <a:latin typeface="Arial"/>
            </a:endParaRPr>
          </a:p>
        </p:txBody>
      </p:sp>
      <p:sp>
        <p:nvSpPr>
          <p:cNvPr id="21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14" name="TextBox 3"/>
          <p:cNvSpPr/>
          <p:nvPr/>
        </p:nvSpPr>
        <p:spPr>
          <a:xfrm>
            <a:off x="411480" y="1298520"/>
            <a:ext cx="11368440" cy="4159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800" spc="-1" strike="noStrike">
                <a:solidFill>
                  <a:srgbClr val="282828"/>
                </a:solidFill>
                <a:latin typeface="Arial"/>
              </a:rPr>
              <a:t>•  </a:t>
            </a:r>
            <a:r>
              <a:rPr b="1" lang="en-US" sz="1800" spc="-1" strike="noStrike">
                <a:solidFill>
                  <a:srgbClr val="282828"/>
                </a:solidFill>
                <a:latin typeface="Arial"/>
              </a:rPr>
              <a:t>The right model is coherent imaging:</a:t>
            </a:r>
            <a:r>
              <a:rPr b="0" lang="en-US" sz="1800" spc="-1" strike="noStrike">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endParaRPr b="0" lang="en-US" sz="1800" spc="-1" strike="noStrike">
              <a:solidFill>
                <a:srgbClr val="000000"/>
              </a:solidFill>
              <a:latin typeface="Arial"/>
            </a:endParaRPr>
          </a:p>
          <a:p>
            <a:pPr defTabSz="457200">
              <a:lnSpc>
                <a:spcPct val="100000"/>
              </a:lnSpc>
              <a:spcAft>
                <a:spcPts val="601"/>
              </a:spcAft>
            </a:pPr>
            <a:r>
              <a:rPr b="0" lang="en-US" sz="1800" spc="-1" strike="noStrike">
                <a:solidFill>
                  <a:srgbClr val="282828"/>
                </a:solidFill>
                <a:latin typeface="Arial"/>
              </a:rPr>
              <a:t>•  </a:t>
            </a:r>
            <a:r>
              <a:rPr b="1" lang="en-US" sz="1800" spc="-1" strike="noStrike">
                <a:solidFill>
                  <a:srgbClr val="282828"/>
                </a:solidFill>
                <a:latin typeface="Arial"/>
              </a:rPr>
              <a:t>For the mask sensors it is already in the runner:</a:t>
            </a:r>
            <a:r>
              <a:rPr b="0" lang="en-US" sz="1800" spc="-1" strike="noStrike">
                <a:solidFill>
                  <a:srgbClr val="282828"/>
                </a:solidFill>
                <a:latin typeface="Arial"/>
              </a:rPr>
              <a:t> the mask sandwich propagates the field to the seat, applies the mask, and propagates back to the pupil image, mask shape and all.</a:t>
            </a:r>
            <a:endParaRPr b="0" lang="en-US" sz="1800" spc="-1" strike="noStrike">
              <a:solidFill>
                <a:srgbClr val="000000"/>
              </a:solidFill>
              <a:latin typeface="Arial"/>
            </a:endParaRPr>
          </a:p>
          <a:p>
            <a:pPr defTabSz="457200">
              <a:lnSpc>
                <a:spcPct val="100000"/>
              </a:lnSpc>
              <a:spcAft>
                <a:spcPts val="601"/>
              </a:spcAft>
            </a:pPr>
            <a:r>
              <a:rPr b="0" lang="en-US" sz="1800" spc="-1" strike="noStrike">
                <a:solidFill>
                  <a:srgbClr val="282828"/>
                </a:solidFill>
                <a:latin typeface="Arial"/>
              </a:rPr>
              <a:t>•  </a:t>
            </a:r>
            <a:r>
              <a:rPr b="1" lang="en-US" sz="1800" spc="-1" strike="noStrike">
                <a:solidFill>
                  <a:srgbClr val="282828"/>
                </a:solidFill>
                <a:latin typeface="Arial"/>
              </a:rPr>
              <a:t>For the interferometer the aperture at the focus is wide</a:t>
            </a:r>
            <a:r>
              <a:rPr b="0" lang="en-US" sz="1800" spc="-1" strike="noStrike">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endParaRPr b="0" lang="en-US" sz="1800" spc="-1" strike="noStrike">
              <a:solidFill>
                <a:srgbClr val="000000"/>
              </a:solidFill>
              <a:latin typeface="Arial"/>
            </a:endParaRPr>
          </a:p>
          <a:p>
            <a:pPr defTabSz="457200">
              <a:lnSpc>
                <a:spcPct val="100000"/>
              </a:lnSpc>
              <a:spcAft>
                <a:spcPts val="601"/>
              </a:spcAft>
            </a:pPr>
            <a:r>
              <a:rPr b="0" lang="en-US" sz="1800" spc="-1" strike="noStrike">
                <a:solidFill>
                  <a:srgbClr val="282828"/>
                </a:solidFill>
                <a:latin typeface="Arial"/>
              </a:rPr>
              <a:t>•  </a:t>
            </a:r>
            <a:r>
              <a:rPr b="1" lang="en-US" sz="1800" spc="-1" strike="noStrike">
                <a:solidFill>
                  <a:srgbClr val="282828"/>
                </a:solidFill>
                <a:latin typeface="Arial"/>
              </a:rPr>
              <a:t>When a small field stop sits at the focus</a:t>
            </a:r>
            <a:r>
              <a:rPr b="0" lang="en-US" sz="1800" spc="-1" strike="noStrike">
                <a:solidFill>
                  <a:srgbClr val="282828"/>
                </a:solidFill>
                <a:latin typeface="Arial"/>
              </a:rPr>
              <a:t> (a spatial filter of a few λ/D), the pupil image is low-pass filtered and actuator responses blur; then one aperture element at the seat through the existing sandwich answers it in one run.</a:t>
            </a:r>
            <a:endParaRPr b="0" lang="en-US" sz="1800" spc="-1" strike="noStrike">
              <a:solidFill>
                <a:srgbClr val="000000"/>
              </a:solidFill>
              <a:latin typeface="Arial"/>
            </a:endParaRPr>
          </a:p>
        </p:txBody>
      </p:sp>
      <p:sp>
        <p:nvSpPr>
          <p:cNvPr id="215" name="TextBox 4"/>
          <p:cNvSpPr/>
          <p:nvPr/>
        </p:nvSpPr>
        <p:spPr>
          <a:xfrm>
            <a:off x="411480" y="566028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answer as given on 2026-09-16, before the simulation; the next slide supersedes its "not needed" with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Pupil imaging: the DM's modes through the detector leg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endParaRPr b="0" lang="en-US" sz="1250" spc="-1" strike="noStrike">
              <a:solidFill>
                <a:srgbClr val="000000"/>
              </a:solidFill>
              <a:latin typeface="Arial"/>
            </a:endParaRPr>
          </a:p>
        </p:txBody>
      </p:sp>
      <p:sp>
        <p:nvSpPr>
          <p:cNvPr id="21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18" name="Picture 3" descr="pupilsim_redo_lens_gain.png"/>
          <p:cNvPicPr/>
          <p:nvPr/>
        </p:nvPicPr>
        <p:blipFill>
          <a:blip r:embed="rId1"/>
          <a:srcRect l="8739" t="0" r="8079" b="1762"/>
          <a:stretch/>
        </p:blipFill>
        <p:spPr>
          <a:xfrm>
            <a:off x="45720" y="1691640"/>
            <a:ext cx="6967440" cy="2742840"/>
          </a:xfrm>
          <a:prstGeom prst="rect">
            <a:avLst/>
          </a:prstGeom>
          <a:ln w="0">
            <a:noFill/>
          </a:ln>
        </p:spPr>
      </p:pic>
      <p:sp>
        <p:nvSpPr>
          <p:cNvPr id="219" name="TextBox 4"/>
          <p:cNvSpPr/>
          <p:nvPr/>
        </p:nvSpPr>
        <p:spPr>
          <a:xfrm>
            <a:off x="411480" y="5394960"/>
            <a:ext cx="6967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endParaRPr b="0" lang="en-US" sz="1000" spc="-1" strike="noStrike">
              <a:solidFill>
                <a:srgbClr val="000000"/>
              </a:solidFill>
              <a:latin typeface="Arial"/>
            </a:endParaRPr>
          </a:p>
        </p:txBody>
      </p:sp>
      <p:graphicFrame>
        <p:nvGraphicFramePr>
          <p:cNvPr id="220" name="Table 5"/>
          <p:cNvGraphicFramePr/>
          <p:nvPr/>
        </p:nvGraphicFramePr>
        <p:xfrm>
          <a:off x="7086600" y="1298520"/>
          <a:ext cx="4708800" cy="959760"/>
        </p:xfrm>
        <a:graphic>
          <a:graphicData uri="http://schemas.openxmlformats.org/drawingml/2006/table">
            <a:tbl>
              <a:tblPr/>
              <a:tblGrid>
                <a:gridCol w="1960920"/>
                <a:gridCol w="542520"/>
                <a:gridCol w="542520"/>
                <a:gridCol w="542520"/>
                <a:gridCol w="1120320"/>
              </a:tblGrid>
              <a:tr h="434160">
                <a:tc>
                  <a:txBody>
                    <a:bodyPr lIns="54720" rIns="54720" tIns="18000" bIns="18000" anchor="t">
                      <a:noAutofit/>
                    </a:bodyPr>
                    <a:p>
                      <a:pPr defTabSz="457200">
                        <a:lnSpc>
                          <a:spcPct val="100000"/>
                        </a:lnSpc>
                      </a:pPr>
                      <a:r>
                        <a:rPr b="1" lang="en-US" sz="1000" spc="-1" strike="noStrike">
                          <a:solidFill>
                            <a:srgbClr val="ffffff"/>
                          </a:solidFill>
                          <a:latin typeface="Arial"/>
                        </a:rPr>
                        <a:t>gain at the actuator Nyquist (2 mm)</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center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edge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worst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30 nm surface, error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lens rig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42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mirror rig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92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21" name="TextBox 6"/>
          <p:cNvSpPr/>
          <p:nvPr/>
        </p:nvSpPr>
        <p:spPr>
          <a:xfrm>
            <a:off x="7086600" y="2688480"/>
            <a:ext cx="4708800" cy="23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How:</a:t>
            </a:r>
            <a:r>
              <a:rPr b="0" lang="en-US" sz="1150" spc="-1" strike="noStrike">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endParaRPr b="0" lang="en-US" sz="1150" spc="-1" strike="noStrike">
              <a:solidFill>
                <a:srgbClr val="000000"/>
              </a:solidFill>
              <a:latin typeface="Arial"/>
            </a:endParaRPr>
          </a:p>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The camera is at the pupil image</a:t>
            </a:r>
            <a:r>
              <a:rPr b="0" lang="en-US" sz="1150" spc="-1" strike="noStrike">
                <a:solidFill>
                  <a:srgbClr val="282828"/>
                </a:solidFill>
                <a:latin typeface="Arial"/>
              </a:rPr>
              <a:t>, and the best detector move from here is </a:t>
            </a:r>
            <a:r>
              <a:rPr b="1" lang="en-US" sz="1150" spc="-1" strike="noStrike">
                <a:solidFill>
                  <a:srgbClr val="282828"/>
                </a:solidFill>
                <a:latin typeface="Arial"/>
              </a:rPr>
              <a:t>−0.00 mm</a:t>
            </a:r>
            <a:r>
              <a:rPr b="0" lang="en-US" sz="1150" spc="-1" strike="noStrike">
                <a:solidFill>
                  <a:srgbClr val="282828"/>
                </a:solidFill>
                <a:latin typeface="Arial"/>
              </a:rPr>
              <a:t>: there is nothing left to correct.  The band-edge quadratic phase is 0.000 rad rms on lenses and 0.013 on mirrors, so the gain at the actuator Nyquist is 1.0000 and 0.9994.</a:t>
            </a:r>
            <a:endParaRPr b="0" lang="en-US" sz="1150" spc="-1" strike="noStrike">
              <a:solidFill>
                <a:srgbClr val="000000"/>
              </a:solidFill>
              <a:latin typeface="Arial"/>
            </a:endParaRPr>
          </a:p>
          <a:p>
            <a:pPr defTabSz="457200">
              <a:lnSpc>
                <a:spcPct val="100000"/>
              </a:lnSpc>
              <a:spcAft>
                <a:spcPts val="601"/>
              </a:spcAft>
            </a:pPr>
            <a:r>
              <a:rPr b="0" lang="en-US" sz="1150" spc="-1" strike="noStrike">
                <a:solidFill>
                  <a:srgbClr val="282828"/>
                </a:solidFill>
                <a:latin typeface="Arial"/>
              </a:rPr>
              <a:t>•  </a:t>
            </a:r>
            <a:r>
              <a:rPr b="1" lang="en-US" sz="1150" spc="-1" strike="noStrike">
                <a:solidFill>
                  <a:srgbClr val="282828"/>
                </a:solidFill>
                <a:latin typeface="Arial"/>
              </a:rPr>
              <a:t>The beam of record under-filled the DM</a:t>
            </a:r>
            <a:r>
              <a:rPr b="0" lang="en-US" sz="1150" spc="-1" strike="noStrike">
                <a:solidFill>
                  <a:srgbClr val="282828"/>
                </a:solidFill>
                <a:latin typeface="Arial"/>
              </a:rPr>
              <a:t> (77 / 82 mm of 96): the baffle is now opened and the aperture sits on the DM; runs from 2026-09-17 carry the full 96 mm.</a:t>
            </a:r>
            <a:endParaRPr b="0" lang="en-US" sz="1150" spc="-1" strike="noStrike">
              <a:solidFill>
                <a:srgbClr val="000000"/>
              </a:solidFill>
              <a:latin typeface="Arial"/>
            </a:endParaRPr>
          </a:p>
        </p:txBody>
      </p:sp>
      <p:sp>
        <p:nvSpPr>
          <p:cNvPr id="222" name="TextBox 7"/>
          <p:cNvSpPr/>
          <p:nvPr/>
        </p:nvSpPr>
        <p:spPr>
          <a:xfrm>
            <a:off x="7315200" y="5614560"/>
            <a:ext cx="44802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Scalar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endParaRPr b="0" lang="en-US" sz="1250" spc="-1" strike="noStrike">
              <a:solidFill>
                <a:srgbClr val="000000"/>
              </a:solidFill>
              <a:latin typeface="Arial"/>
            </a:endParaRPr>
          </a:p>
        </p:txBody>
      </p:sp>
      <p:sp>
        <p:nvSpPr>
          <p:cNvPr id="22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25" name="Picture 3" descr="stations193_stations_S.png"/>
          <p:cNvPicPr/>
          <p:nvPr/>
        </p:nvPicPr>
        <p:blipFill>
          <a:blip r:embed="rId1"/>
          <a:stretch/>
        </p:blipFill>
        <p:spPr>
          <a:xfrm>
            <a:off x="2167560" y="1298520"/>
            <a:ext cx="7856280" cy="2183400"/>
          </a:xfrm>
          <a:prstGeom prst="rect">
            <a:avLst/>
          </a:prstGeom>
          <a:ln w="0">
            <a:noFill/>
          </a:ln>
        </p:spPr>
      </p:pic>
      <p:sp>
        <p:nvSpPr>
          <p:cNvPr id="226"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endParaRPr b="0" lang="en-US" sz="1000" spc="-1" strike="noStrike">
              <a:solidFill>
                <a:srgbClr val="000000"/>
              </a:solidFill>
              <a:latin typeface="Arial"/>
            </a:endParaRPr>
          </a:p>
        </p:txBody>
      </p:sp>
      <p:sp>
        <p:nvSpPr>
          <p:cNvPr id="227" name="TextBox 5"/>
          <p:cNvSpPr/>
          <p:nvPr/>
        </p:nvSpPr>
        <p:spPr>
          <a:xfrm>
            <a:off x="411480" y="409644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reference wave</a:t>
            </a:r>
            <a:r>
              <a:rPr b="0" lang="en-US" sz="1500" spc="-1" strike="noStrike">
                <a:solidFill>
                  <a:srgbClr val="282828"/>
                </a:solidFill>
                <a:latin typeface="Arial"/>
              </a:rPr>
              <a:t> (fourth column) is the core of the focal spot spread back over the pupil: on the working surface it has changed, so the raw four-frame map carries a 4.8 nm bias.  The matrix measured on the surface absorbs it, which is how the stepped reading reaches 5 pm on its rows.</a:t>
            </a:r>
            <a:endParaRPr b="0" lang="en-US" sz="1500" spc="-1" strike="noStrike">
              <a:solidFill>
                <a:srgbClr val="000000"/>
              </a:solidFill>
              <a:latin typeface="Arial"/>
            </a:endParaRPr>
          </a:p>
        </p:txBody>
      </p:sp>
      <p:sp>
        <p:nvSpPr>
          <p:cNvPr id="228" name="TextBox 6"/>
          <p:cNvSpPr/>
          <p:nvPr/>
        </p:nvSpPr>
        <p:spPr>
          <a:xfrm>
            <a:off x="411480" y="50162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residual column is the raw pixel map against the engine's field, before any calibration; the performance rows and the servo use the calibrated estimate.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 to the two cameras, both channel decks traced by the engine</a:t>
            </a:r>
            <a:endParaRPr b="0" lang="en-US" sz="1250" spc="-1" strike="noStrike">
              <a:solidFill>
                <a:srgbClr val="000000"/>
              </a:solidFill>
              <a:latin typeface="Arial"/>
            </a:endParaRPr>
          </a:p>
        </p:txBody>
      </p:sp>
      <p:sp>
        <p:nvSpPr>
          <p:cNvPr id="23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31" name="Picture 3" descr="crop_zwfs_vlayout_tail.png"/>
          <p:cNvPicPr/>
          <p:nvPr/>
        </p:nvPicPr>
        <p:blipFill>
          <a:blip r:embed="rId1"/>
          <a:stretch/>
        </p:blipFill>
        <p:spPr>
          <a:xfrm>
            <a:off x="3601080" y="1298520"/>
            <a:ext cx="4988880" cy="3445920"/>
          </a:xfrm>
          <a:prstGeom prst="rect">
            <a:avLst/>
          </a:prstGeom>
          <a:ln w="0">
            <a:noFill/>
          </a:ln>
        </p:spPr>
      </p:pic>
      <p:sp>
        <p:nvSpPr>
          <p:cNvPr id="232" name="TextBox 4"/>
          <p:cNvSpPr/>
          <p:nvPr/>
        </p:nvSpPr>
        <p:spPr>
          <a:xfrm>
            <a:off x="411480" y="47631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endParaRPr b="0" lang="en-US" sz="1000" spc="-1" strike="noStrike">
              <a:solidFill>
                <a:srgbClr val="000000"/>
              </a:solidFill>
              <a:latin typeface="Arial"/>
            </a:endParaRPr>
          </a:p>
        </p:txBody>
      </p:sp>
      <p:sp>
        <p:nvSpPr>
          <p:cNvPr id="233" name="TextBox 5"/>
          <p:cNvSpPr/>
          <p:nvPr/>
        </p:nvSpPr>
        <p:spPr>
          <a:xfrm>
            <a:off x="411480" y="5193720"/>
            <a:ext cx="1136844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same polarization camera as the interferometer's snapshot form would replace the cube and one camera:</a:t>
            </a:r>
            <a:r>
              <a:rPr b="0" lang="en-US" sz="1500" spc="-1" strike="noStrike">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endParaRPr b="0" lang="en-US" sz="1500" spc="-1" strike="noStrike">
              <a:solidFill>
                <a:srgbClr val="000000"/>
              </a:solidFill>
              <a:latin typeface="Arial"/>
            </a:endParaRPr>
          </a:p>
        </p:txBody>
      </p:sp>
      <p:sp>
        <p:nvSpPr>
          <p:cNvPr id="234" name="TextBox 6"/>
          <p:cNvSpPr/>
          <p:nvPr/>
        </p:nvSpPr>
        <p:spPr>
          <a:xfrm>
            <a:off x="411480" y="63612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two images taken at once, and a raw map within 25 pm of the engine's field on the 30 nm working surface: the pixel-by-pixel solve needs no calibration to read the surface</a:t>
            </a:r>
            <a:endParaRPr b="0" lang="en-US" sz="1250" spc="-1" strike="noStrike">
              <a:solidFill>
                <a:srgbClr val="000000"/>
              </a:solidFill>
              <a:latin typeface="Arial"/>
            </a:endParaRPr>
          </a:p>
        </p:txBody>
      </p:sp>
      <p:sp>
        <p:nvSpPr>
          <p:cNvPr id="23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37" name="Picture 3" descr="stations193_stations_V.png"/>
          <p:cNvPicPr/>
          <p:nvPr/>
        </p:nvPicPr>
        <p:blipFill>
          <a:blip r:embed="rId1"/>
          <a:stretch/>
        </p:blipFill>
        <p:spPr>
          <a:xfrm>
            <a:off x="2167560" y="1298520"/>
            <a:ext cx="7856280" cy="2183400"/>
          </a:xfrm>
          <a:prstGeom prst="rect">
            <a:avLst/>
          </a:prstGeom>
          <a:ln w="0">
            <a:noFill/>
          </a:ln>
        </p:spPr>
      </p:pic>
      <p:sp>
        <p:nvSpPr>
          <p:cNvPr id="238"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endParaRPr b="0" lang="en-US" sz="1000" spc="-1" strike="noStrike">
              <a:solidFill>
                <a:srgbClr val="000000"/>
              </a:solidFill>
              <a:latin typeface="Arial"/>
            </a:endParaRPr>
          </a:p>
        </p:txBody>
      </p:sp>
      <p:sp>
        <p:nvSpPr>
          <p:cNvPr id="239"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On the flat the two images are complementary</a:t>
            </a:r>
            <a:r>
              <a:rPr b="0" lang="en-US" sz="1500" spc="-1" strike="noStrike">
                <a:solidFill>
                  <a:srgbClr val="282828"/>
                </a:solidFill>
                <a:latin typeface="Arial"/>
              </a:rPr>
              <a:t> (dark center on A, bright on B: the dimple's sign); on the working surface each carries the surface's structure, and their per-pixel combination gives the phase with no branch choice and no stepping.</a:t>
            </a:r>
            <a:endParaRPr b="0" lang="en-US" sz="1500" spc="-1" strike="noStrike">
              <a:solidFill>
                <a:srgbClr val="000000"/>
              </a:solidFill>
              <a:latin typeface="Arial"/>
            </a:endParaRPr>
          </a:p>
        </p:txBody>
      </p:sp>
      <p:sp>
        <p:nvSpPr>
          <p:cNvPr id="240" name="TextBox 6"/>
          <p:cNvSpPr/>
          <p:nvPr/>
        </p:nvSpPr>
        <p:spPr>
          <a:xfrm>
            <a:off x="411480" y="50162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25 pm is the raw absolute map's error on a 30 nm surface with the flat's calibration; on the same surface the calibrated reading is 0.9935 / 4 pm.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focuser to the camera, with the pinhole substrate at the internal focus</a:t>
            </a:r>
            <a:endParaRPr b="0" lang="en-US" sz="1250" spc="-1" strike="noStrike">
              <a:solidFill>
                <a:srgbClr val="000000"/>
              </a:solidFill>
              <a:latin typeface="Arial"/>
            </a:endParaRPr>
          </a:p>
        </p:txBody>
      </p:sp>
      <p:sp>
        <p:nvSpPr>
          <p:cNvPr id="24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3" name="Picture 3" descr="crop_pdi_layout_tail.png"/>
          <p:cNvPicPr/>
          <p:nvPr/>
        </p:nvPicPr>
        <p:blipFill>
          <a:blip r:embed="rId1"/>
          <a:stretch/>
        </p:blipFill>
        <p:spPr>
          <a:xfrm>
            <a:off x="3485160" y="1298520"/>
            <a:ext cx="5220720" cy="3811680"/>
          </a:xfrm>
          <a:prstGeom prst="rect">
            <a:avLst/>
          </a:prstGeom>
          <a:ln w="0">
            <a:noFill/>
          </a:ln>
        </p:spPr>
      </p:pic>
      <p:sp>
        <p:nvSpPr>
          <p:cNvPr id="244" name="TextBox 4"/>
          <p:cNvSpPr/>
          <p:nvPr/>
        </p:nvSpPr>
        <p:spPr>
          <a:xfrm>
            <a:off x="411480" y="5128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endParaRPr b="0" lang="en-US" sz="1000" spc="-1" strike="noStrike">
              <a:solidFill>
                <a:srgbClr val="000000"/>
              </a:solidFill>
              <a:latin typeface="Arial"/>
            </a:endParaRPr>
          </a:p>
        </p:txBody>
      </p:sp>
      <p:sp>
        <p:nvSpPr>
          <p:cNvPr id="245"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Stepped pinhole,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passes the core as the reference, the attenuated surround passes the rest; the first step frame and the shutter frame; a raw map within 0.18 nm of the engine's field on the working surface</a:t>
            </a:r>
            <a:endParaRPr b="0" lang="en-US" sz="1250" spc="-1" strike="noStrike">
              <a:solidFill>
                <a:srgbClr val="000000"/>
              </a:solidFill>
              <a:latin typeface="Arial"/>
            </a:endParaRPr>
          </a:p>
        </p:txBody>
      </p:sp>
      <p:sp>
        <p:nvSpPr>
          <p:cNvPr id="24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8" name="Picture 3" descr="stations193_stations_P.png"/>
          <p:cNvPicPr/>
          <p:nvPr/>
        </p:nvPicPr>
        <p:blipFill>
          <a:blip r:embed="rId1"/>
          <a:stretch/>
        </p:blipFill>
        <p:spPr>
          <a:xfrm>
            <a:off x="2162160" y="1298520"/>
            <a:ext cx="7867080" cy="2183400"/>
          </a:xfrm>
          <a:prstGeom prst="rect">
            <a:avLst/>
          </a:prstGeom>
          <a:ln w="0">
            <a:noFill/>
          </a:ln>
        </p:spPr>
      </p:pic>
      <p:sp>
        <p:nvSpPr>
          <p:cNvPr id="249"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endParaRPr b="0" lang="en-US" sz="1000" spc="-1" strike="noStrike">
              <a:solidFill>
                <a:srgbClr val="000000"/>
              </a:solidFill>
              <a:latin typeface="Arial"/>
            </a:endParaRPr>
          </a:p>
        </p:txBody>
      </p:sp>
      <p:sp>
        <p:nvSpPr>
          <p:cNvPr id="250"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shutter frame measures the reference by itself</a:t>
            </a:r>
            <a:r>
              <a:rPr b="0" lang="en-US" sz="1500" spc="-1" strike="noStrike">
                <a:solidFill>
                  <a:srgbClr val="282828"/>
                </a:solidFill>
                <a:latin typeface="Arial"/>
              </a:rPr>
              <a:t>, state by state; that is what lets this reading keep its calibration to 480 nm of surface where the dimple's self-reference collapses at 60.</a:t>
            </a:r>
            <a:endParaRPr b="0" lang="en-US" sz="1500" spc="-1" strike="noStrike">
              <a:solidFill>
                <a:srgbClr val="000000"/>
              </a:solidFill>
              <a:latin typeface="Arial"/>
            </a:endParaRPr>
          </a:p>
        </p:txBody>
      </p:sp>
      <p:sp>
        <p:nvSpPr>
          <p:cNvPr id="251" name="TextBox 6"/>
          <p:cNvSpPr/>
          <p:nvPr/>
        </p:nvSpPr>
        <p:spPr>
          <a:xfrm>
            <a:off x="411480" y="476856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0.18 nm is the raw map's error with the flat's calibration; through the matrix on the surface the pinhole reads 0.9935 / 4 pm, the same as the vector dimple.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second half: the photon price of working off null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endParaRPr b="0" lang="en-US" sz="1250" spc="-1" strike="noStrike">
              <a:solidFill>
                <a:srgbClr val="000000"/>
              </a:solidFill>
              <a:latin typeface="Arial"/>
            </a:endParaRPr>
          </a:p>
        </p:txBody>
      </p:sp>
      <p:sp>
        <p:nvSpPr>
          <p:cNvPr id="25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54" name="Table 3"/>
          <p:cNvGraphicFramePr/>
          <p:nvPr/>
        </p:nvGraphicFramePr>
        <p:xfrm>
          <a:off x="411480" y="1298520"/>
          <a:ext cx="11368440" cy="3657240"/>
        </p:xfrm>
        <a:graphic>
          <a:graphicData uri="http://schemas.openxmlformats.org/drawingml/2006/table">
            <a:tbl>
              <a:tblPr/>
              <a:tblGrid>
                <a:gridCol w="2034720"/>
                <a:gridCol w="7275240"/>
                <a:gridCol w="2058120"/>
              </a:tblGrid>
              <a:tr h="65700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the grid sites, matrix re-measured at 60 / 120 / 160 nm: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per measurement for 1 pm at 30 / 60 / 120 / 160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0.94 / 50,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1.2e14, 5.3e14, 4.6e15, 7.5e15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6,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4.6e13, 1.4e14, 2.4e15, 4.5e15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 / 16, 0.99 / 26, 0.99 / 26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1.5e14, 3.0e14, 3.0e15, 7.3e15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1.001 / 2, 0.996 / 2, 0.996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9.9e14, 8.6e14, 5.9e14, 6.6e14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0.989 / 2, 0.995 / 2, 0.995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7.0e14, 5.3e14, 4.9e14, 4.4e14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either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2 pm to 60 nm; between 60 and 120 nm the raw four-step reading wraps (the base past λ/2 of surface reads 91 nm rms whatever it is) on lens and mirror rigs alike; unwrapping restores it (next slides)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55" name="TextBox 4"/>
          <p:cNvSpPr/>
          <p:nvPr/>
        </p:nvSpPr>
        <p:spPr>
          <a:xfrm>
            <a:off x="411480" y="510228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What this says:</a:t>
            </a:r>
            <a:r>
              <a:rPr b="0" lang="en-US" sz="1500" spc="-1" strike="noStrike">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endParaRPr b="0" lang="en-US" sz="1500" spc="-1" strike="noStrike">
              <a:solidFill>
                <a:srgbClr val="000000"/>
              </a:solidFill>
              <a:latin typeface="Arial"/>
            </a:endParaRPr>
          </a:p>
        </p:txBody>
      </p:sp>
      <p:sp>
        <p:nvSpPr>
          <p:cNvPr id="256" name="TextBox 5"/>
          <p:cNvSpPr/>
          <p:nvPr/>
        </p:nvSpPr>
        <p:spPr>
          <a:xfrm>
            <a:off x="411480" y="602208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reflective front end: the design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Fed at its focus and solved at the 22.5° splitter: every part clears by 33 mm, the focus lands on the mask seat without adjustment, and the residual with a flat mirror is 0.029 nm</a:t>
            </a:r>
            <a:endParaRPr b="0" lang="en-US" sz="1250" spc="-1" strike="noStrike">
              <a:solidFill>
                <a:srgbClr val="000000"/>
              </a:solidFill>
              <a:latin typeface="Arial"/>
            </a:endParaRPr>
          </a:p>
        </p:txBody>
      </p:sp>
      <p:sp>
        <p:nvSpPr>
          <p:cNvPr id="25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59" name="Picture 3" descr="crop_lay96_oap_train.png"/>
          <p:cNvPicPr/>
          <p:nvPr/>
        </p:nvPicPr>
        <p:blipFill>
          <a:blip r:embed="rId1"/>
          <a:stretch/>
        </p:blipFill>
        <p:spPr>
          <a:xfrm>
            <a:off x="2012400" y="1298520"/>
            <a:ext cx="2604600" cy="2384280"/>
          </a:xfrm>
          <a:prstGeom prst="rect">
            <a:avLst/>
          </a:prstGeom>
          <a:ln w="0">
            <a:noFill/>
          </a:ln>
        </p:spPr>
      </p:pic>
      <p:sp>
        <p:nvSpPr>
          <p:cNvPr id="260" name="TextBox 4"/>
          <p:cNvSpPr/>
          <p:nvPr/>
        </p:nvSpPr>
        <p:spPr>
          <a:xfrm>
            <a:off x="411480" y="370116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endParaRPr b="0" lang="en-US" sz="1000" spc="-1" strike="noStrike">
              <a:solidFill>
                <a:srgbClr val="000000"/>
              </a:solidFill>
              <a:latin typeface="Arial"/>
            </a:endParaRPr>
          </a:p>
        </p:txBody>
      </p:sp>
      <p:graphicFrame>
        <p:nvGraphicFramePr>
          <p:cNvPr id="261" name="Table 5"/>
          <p:cNvGraphicFramePr/>
          <p:nvPr/>
        </p:nvGraphicFramePr>
        <p:xfrm>
          <a:off x="6400800" y="1298520"/>
          <a:ext cx="5394600" cy="2138760"/>
        </p:xfrm>
        <a:graphic>
          <a:graphicData uri="http://schemas.openxmlformats.org/drawingml/2006/table">
            <a:tbl>
              <a:tblPr/>
              <a:tblGrid>
                <a:gridCol w="1854360"/>
                <a:gridCol w="3540240"/>
              </a:tblGrid>
              <a:tr h="26280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collimation after the collimator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 µrad residual (the source at the parabola's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blur at the mask seat, best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 λF/D at zero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residual with a flat mirror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0.029 nm with no adjustment (lens rig 0.13 nm after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clearance, worst part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+33.4 mm over 8 parts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rays lost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62" name="TextBox 6"/>
          <p:cNvSpPr/>
          <p:nvPr/>
        </p:nvSpPr>
        <p:spPr>
          <a:xfrm>
            <a:off x="6400800" y="3536280"/>
            <a:ext cx="539460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rule a parabola enforces and a lens hides:</a:t>
            </a:r>
            <a:r>
              <a:rPr b="0" lang="en-US" sz="1200" spc="-1" strike="noStrike">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Coatings:</a:t>
            </a:r>
            <a:r>
              <a:rPr b="0" lang="en-US" sz="1200" spc="-1" strike="noStrike">
                <a:solidFill>
                  <a:srgbClr val="282828"/>
                </a:solidFill>
                <a:latin typeface="Arial"/>
              </a:rPr>
              <a:t> bare and protected aluminum give the same rows; the retardance variation they add is 0.5 mrad, a floor.</a:t>
            </a:r>
            <a:endParaRPr b="0" lang="en-US" sz="1200" spc="-1" strike="noStrike">
              <a:solidFill>
                <a:srgbClr val="000000"/>
              </a:solidFill>
              <a:latin typeface="Arial"/>
            </a:endParaRPr>
          </a:p>
        </p:txBody>
      </p:sp>
      <p:sp>
        <p:nvSpPr>
          <p:cNvPr id="263" name="TextBox 7"/>
          <p:cNvSpPr/>
          <p:nvPr/>
        </p:nvSpPr>
        <p:spPr>
          <a:xfrm>
            <a:off x="6400800" y="543852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Measuring the full complex amplitude, for two-mirror control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approach but the one-frame Zernike readings returns the pupil field's amplitude as well as its phase from frames it already takes; no separate camera is needed</a:t>
            </a:r>
            <a:endParaRPr b="0" lang="en-US" sz="1250" spc="-1" strike="noStrike">
              <a:solidFill>
                <a:srgbClr val="000000"/>
              </a:solidFill>
              <a:latin typeface="Arial"/>
            </a:endParaRPr>
          </a:p>
        </p:txBody>
      </p:sp>
      <p:sp>
        <p:nvSpPr>
          <p:cNvPr id="26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66" name="Table 3"/>
          <p:cNvGraphicFramePr/>
          <p:nvPr/>
        </p:nvGraphicFramePr>
        <p:xfrm>
          <a:off x="411480" y="1298520"/>
          <a:ext cx="5806080" cy="2811600"/>
        </p:xfrm>
        <a:graphic>
          <a:graphicData uri="http://schemas.openxmlformats.org/drawingml/2006/table">
            <a:tbl>
              <a:tblPr/>
              <a:tblGrid>
                <a:gridCol w="908640"/>
                <a:gridCol w="1514520"/>
                <a:gridCol w="33825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67" name="TextBox 4"/>
          <p:cNvSpPr/>
          <p:nvPr/>
        </p:nvSpPr>
        <p:spPr>
          <a:xfrm>
            <a:off x="6400800" y="1298520"/>
            <a:ext cx="5394600" cy="222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vector pair alone cannot:</a:t>
            </a:r>
            <a:r>
              <a:rPr b="0" lang="en-US" sz="1500" spc="-1" strike="noStrike">
                <a:solidFill>
                  <a:srgbClr val="282828"/>
                </a:solidFill>
                <a:latin typeface="Arial"/>
              </a:rPr>
              <a:t> its two images fix the field only up to a mirror image about the reference wave, and at gauge-level phases (a 100 nm poke is 1.9 rad) the true field crosses that line.  Solving both from the pair diverges.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pair plus the state's clear frame reads both exactly:</a:t>
            </a:r>
            <a:r>
              <a:rPr b="0" lang="en-US" sz="1500" spc="-1" strike="noStrike">
                <a:solidFill>
                  <a:srgbClr val="282828"/>
                </a:solidFill>
                <a:latin typeface="Arial"/>
              </a:rPr>
              <a:t> through a 5% and a 20% dip in pupil amplitude the phase comes back at 0.02 and 0.13 pm, where the phase-only solve misreads by 237 and 952 pm; the hold rows are unchanged to the digit.  Three frames.</a:t>
            </a:r>
            <a:endParaRPr b="0" lang="en-US" sz="1500" spc="-1" strike="noStrike">
              <a:solidFill>
                <a:srgbClr val="000000"/>
              </a:solidFill>
              <a:latin typeface="Arial"/>
            </a:endParaRPr>
          </a:p>
        </p:txBody>
      </p:sp>
      <p:sp>
        <p:nvSpPr>
          <p:cNvPr id="268" name="TextBox 5"/>
          <p:cNvSpPr/>
          <p:nvPr/>
        </p:nvSpPr>
        <p:spPr>
          <a:xfrm>
            <a:off x="6492240" y="48006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On orbit with starlight, the field's amplitude is what the second mirror's control needs.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every mode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Nothing is realigned: the mask seat translates, the reference arm is shuttered, the quarter-wave plate goes in or out, and the P/SRI arm sits behind a flip-in plate</a:t>
            </a:r>
            <a:endParaRPr b="0" lang="en-US" sz="1250" spc="-1" strike="noStrike">
              <a:solidFill>
                <a:srgbClr val="000000"/>
              </a:solidFill>
              <a:latin typeface="Arial"/>
            </a:endParaRPr>
          </a:p>
        </p:txBody>
      </p:sp>
      <p:sp>
        <p:nvSpPr>
          <p:cNvPr id="27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71" name="Picture 3" descr="gauge_one_bench.png"/>
          <p:cNvPicPr/>
          <p:nvPr/>
        </p:nvPicPr>
        <p:blipFill>
          <a:blip r:embed="rId1"/>
          <a:stretch/>
        </p:blipFill>
        <p:spPr>
          <a:xfrm>
            <a:off x="2829600" y="1298520"/>
            <a:ext cx="6532200" cy="3628800"/>
          </a:xfrm>
          <a:prstGeom prst="rect">
            <a:avLst/>
          </a:prstGeom>
          <a:ln w="0">
            <a:noFill/>
          </a:ln>
        </p:spPr>
      </p:pic>
      <p:sp>
        <p:nvSpPr>
          <p:cNvPr id="272" name="TextBox 4"/>
          <p:cNvSpPr/>
          <p:nvPr/>
        </p:nvSpPr>
        <p:spPr>
          <a:xfrm>
            <a:off x="411480" y="494604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endParaRPr b="0" lang="en-US" sz="1000" spc="-1" strike="noStrike">
              <a:solidFill>
                <a:srgbClr val="000000"/>
              </a:solidFill>
              <a:latin typeface="Arial"/>
            </a:endParaRPr>
          </a:p>
        </p:txBody>
      </p:sp>
      <p:sp>
        <p:nvSpPr>
          <p:cNvPr id="273" name="TextBox 5"/>
          <p:cNvSpPr/>
          <p:nvPr/>
        </p:nvSpPr>
        <p:spPr>
          <a:xfrm>
            <a:off x="411480" y="53766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capture beyond one wave with a second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Unwrapping works while neighboring pixels differ by less than half a wave; a figure of more than a wave with actuator-scale structure needs a coarse ruler</a:t>
            </a:r>
            <a:endParaRPr b="0" lang="en-US" sz="1250" spc="-1" strike="noStrike">
              <a:solidFill>
                <a:srgbClr val="000000"/>
              </a:solidFill>
              <a:latin typeface="Arial"/>
            </a:endParaRPr>
          </a:p>
        </p:txBody>
      </p:sp>
      <p:sp>
        <p:nvSpPr>
          <p:cNvPr id="27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76" name="TextBox 3"/>
          <p:cNvSpPr/>
          <p:nvPr/>
        </p:nvSpPr>
        <p:spPr>
          <a:xfrm>
            <a:off x="411480" y="1298520"/>
            <a:ext cx="5806080" cy="3214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Where unwrapping stops:</a:t>
            </a:r>
            <a:r>
              <a:rPr b="0" lang="en-US" sz="1500" spc="-1" strike="noStrike">
                <a:solidFill>
                  <a:srgbClr val="282828"/>
                </a:solidFill>
                <a:latin typeface="Arial"/>
              </a:rPr>
              <a:t> at 4 pixels per actuator a 100-200 nm rms actuator pattern is 0.7-1.4 rad per pixel and unwraps; quilting, print-through or a stuck actuator at more than a wave does 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second color makes a synthetic wavelength:</a:t>
            </a:r>
            <a:r>
              <a:rPr b="0" lang="en-US" sz="1500" spc="-1" strike="noStrike">
                <a:solidFill>
                  <a:srgbClr val="282828"/>
                </a:solidFill>
                <a:latin typeface="Arial"/>
              </a:rPr>
              <a:t> 632.8 + 700 nm gives 6.6 µm, an unambiguous surface range of 1.6 µm (double pass); 632.8 + 780 nm gives 3.35 µm and 0.84 µm.  The coarse pair captures, the single color holds; the coarse solve is 5-10× noisier.</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machinery exists:</a:t>
            </a:r>
            <a:r>
              <a:rPr b="0" lang="en-US" sz="1500" spc="-1" strike="noStrike">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endParaRPr b="0" lang="en-US" sz="1500" spc="-1" strike="noStrike">
              <a:solidFill>
                <a:srgbClr val="000000"/>
              </a:solidFill>
              <a:latin typeface="Arial"/>
            </a:endParaRPr>
          </a:p>
        </p:txBody>
      </p:sp>
      <p:graphicFrame>
        <p:nvGraphicFramePr>
          <p:cNvPr id="277" name="Table 4"/>
          <p:cNvGraphicFramePr/>
          <p:nvPr/>
        </p:nvGraphicFramePr>
        <p:xfrm>
          <a:off x="6400800" y="1298520"/>
          <a:ext cx="5394600" cy="788400"/>
        </p:xfrm>
        <a:graphic>
          <a:graphicData uri="http://schemas.openxmlformats.org/drawingml/2006/table">
            <a:tbl>
              <a:tblPr/>
              <a:tblGrid>
                <a:gridCol w="1070640"/>
                <a:gridCol w="1803600"/>
                <a:gridCol w="1713600"/>
                <a:gridCol w="8064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color pair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synthetic wavelength</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unambiguous surface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noise cost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+ 700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6.6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+ 780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3.35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0.84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78" name="TextBox 5"/>
          <p:cNvSpPr/>
          <p:nvPr/>
        </p:nvSpPr>
        <p:spPr>
          <a:xfrm>
            <a:off x="6400800" y="223344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two-color interferometer is the classic form; the same trick applies to the dimple and the pinhole through their color stage.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other approaches worth a look</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Eight candidates, none modeled here, each with one sentence on what it would buy</a:t>
            </a:r>
            <a:endParaRPr b="0" lang="en-US" sz="1250" spc="-1" strike="noStrike">
              <a:solidFill>
                <a:srgbClr val="000000"/>
              </a:solidFill>
              <a:latin typeface="Arial"/>
            </a:endParaRPr>
          </a:p>
        </p:txBody>
      </p:sp>
      <p:sp>
        <p:nvSpPr>
          <p:cNvPr id="28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1" name="TextBox 3"/>
          <p:cNvSpPr/>
          <p:nvPr/>
        </p:nvSpPr>
        <p:spPr>
          <a:xfrm>
            <a:off x="411480" y="1298520"/>
            <a:ext cx="11368440" cy="33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model-based large-figure solve:</a:t>
            </a:r>
            <a:r>
              <a:rPr b="0" lang="en-US" sz="1500" spc="-1" strike="noStrike">
                <a:solidFill>
                  <a:srgbClr val="282828"/>
                </a:solidFill>
                <a:latin typeface="Arial"/>
              </a:rPr>
              <a:t> the mirror's influence functions as the basis of a nonlinear fit to the sensor's frames; the estimator already carries the basis.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Shack-Hartmann or modulated pyramid as the capture stage:</a:t>
            </a:r>
            <a:r>
              <a:rPr b="0" lang="en-US" sz="1500" spc="-1" strike="noStrike">
                <a:solidFill>
                  <a:srgbClr val="282828"/>
                </a:solidFill>
                <a:latin typeface="Arial"/>
              </a:rPr>
              <a:t> many waves of range, no wrap, far from picometers; hands off to the gauge inside its range.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Redesign the lenses as multi-element assemblies.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Phase diversity (two defocused pupil images):</a:t>
            </a:r>
            <a:r>
              <a:rPr b="0" lang="en-US" sz="1500" spc="-1" strike="noStrike">
                <a:solidFill>
                  <a:srgbClr val="282828"/>
                </a:solidFill>
                <a:latin typeface="Arial"/>
              </a:rPr>
              <a:t> wide range, common path, iterative; a capture candidate with the existing camera and one translation stage.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White-light scanning in the interferometer:</a:t>
            </a:r>
            <a:r>
              <a:rPr b="0" lang="en-US" sz="1500" spc="-1" strike="noStrike">
                <a:solidFill>
                  <a:srgbClr val="282828"/>
                </a:solidFill>
                <a:latin typeface="Arial"/>
              </a:rPr>
              <a:t> an absolute surface with no wrap, slow; a one-time capture tool.</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Vector Zernike with a polarization camera:</a:t>
            </a:r>
            <a:r>
              <a:rPr b="0" lang="en-US" sz="1500" spc="-1" strike="noStrike">
                <a:solidFill>
                  <a:srgbClr val="282828"/>
                </a:solidFill>
                <a:latin typeface="Arial"/>
              </a:rPr>
              <a:t> one camera instead of the cube and two, at a quarter of the pixels per image.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Heterodyne or lock-in detection:</a:t>
            </a:r>
            <a:r>
              <a:rPr b="0" lang="en-US" sz="1500" spc="-1" strike="noStrike">
                <a:solidFill>
                  <a:srgbClr val="282828"/>
                </a:solidFill>
                <a:latin typeface="Arial"/>
              </a:rPr>
              <a:t> immunity to slow drift and 1/f electronics, for a frequency-shifted reference; the two-arm instruments can carry it, the common-path sensors cannot.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Direct actuator metrology (capacitive, optical):</a:t>
            </a:r>
            <a:r>
              <a:rPr b="0" lang="en-US" sz="1500" spc="-1" strike="noStrike">
                <a:solidFill>
                  <a:srgbClr val="282828"/>
                </a:solidFill>
                <a:latin typeface="Arial"/>
              </a:rPr>
              <a:t> a coarse reference the optical gauge is calibrated against.</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from this model to as-built performance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model today has ideal optics, a perfect camera, photon noise, and mirror and camera drift; five additions, in the order they are likely to matter</a:t>
            </a:r>
            <a:endParaRPr b="0" lang="en-US" sz="1250" spc="-1" strike="noStrike">
              <a:solidFill>
                <a:srgbClr val="000000"/>
              </a:solidFill>
              <a:latin typeface="Arial"/>
            </a:endParaRPr>
          </a:p>
        </p:txBody>
      </p:sp>
      <p:sp>
        <p:nvSpPr>
          <p:cNvPr id="28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84" name="TextBox 3"/>
          <p:cNvSpPr/>
          <p:nvPr/>
        </p:nvSpPr>
        <p:spPr>
          <a:xfrm>
            <a:off x="411480" y="1298520"/>
            <a:ext cx="11368440" cy="359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camera sets the measurement time, not the laser:</a:t>
            </a:r>
            <a:r>
              <a:rPr b="0" lang="en-US" sz="1500" spc="-1" strike="noStrike">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Optical surface errors:</a:t>
            </a:r>
            <a:r>
              <a:rPr b="0" lang="en-US" sz="1500" spc="-1" strike="noStrike">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Alignment and stability:</a:t>
            </a:r>
            <a:r>
              <a:rPr b="0" lang="en-US" sz="1500" spc="-1" strike="noStrike">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More drift in the loop:</a:t>
            </a:r>
            <a:r>
              <a:rPr b="0" lang="en-US" sz="1500" spc="-1" strike="noStrike">
                <a:solidFill>
                  <a:srgbClr val="282828"/>
                </a:solidFill>
                <a:latin typeface="Arial"/>
              </a:rPr>
              <a:t> actuator hysteresis and creep, command quantization (14-16 bits: 0.1-0.5 nm steps as a floor), influence-function error, vibration within a stepped scan.</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error budget in the JPL form:</a:t>
            </a:r>
            <a:r>
              <a:rPr b="0" lang="en-US" sz="1500" spc="-1" strike="noStrike">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endParaRPr b="0" lang="en-US" sz="1500" spc="-1" strike="noStrike">
              <a:solidFill>
                <a:srgbClr val="000000"/>
              </a:solidFill>
              <a:latin typeface="Arial"/>
            </a:endParaRPr>
          </a:p>
        </p:txBody>
      </p:sp>
      <p:sp>
        <p:nvSpPr>
          <p:cNvPr id="285" name="TextBox 4"/>
          <p:cNvSpPr/>
          <p:nvPr/>
        </p:nvSpPr>
        <p:spPr>
          <a:xfrm>
            <a:off x="411480" y="57506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telescope-level version of this (an allocation table rolled through the sensitivity model, then the closed-loop predictor) is being planned separately; it is a later add to this 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How every configuration was analyzed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repeatable path, ten steps, the same for all four approaches: a new sensor is a new reading class in the shared runner plus its gate, then steps 4 to 10 unchanged</a:t>
            </a:r>
            <a:endParaRPr b="0" lang="en-US" sz="1250" spc="-1" strike="noStrike">
              <a:solidFill>
                <a:srgbClr val="000000"/>
              </a:solidFill>
              <a:latin typeface="Arial"/>
            </a:endParaRPr>
          </a:p>
        </p:txBody>
      </p:sp>
      <p:sp>
        <p:nvSpPr>
          <p:cNvPr id="28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88" name="Table 3"/>
          <p:cNvGraphicFramePr/>
          <p:nvPr/>
        </p:nvGraphicFramePr>
        <p:xfrm>
          <a:off x="411480" y="1298520"/>
          <a:ext cx="5806080" cy="3188520"/>
        </p:xfrm>
        <a:graphic>
          <a:graphicData uri="http://schemas.openxmlformats.org/drawingml/2006/table">
            <a:tbl>
              <a:tblPr/>
              <a:tblGrid>
                <a:gridCol w="436680"/>
                <a:gridCol w="2963160"/>
                <a:gridCol w="2405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gate or output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parameter sheet and one runner per approach; batch wrappers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number has a run tag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build the bench from the sheet, trace it; clearance of end bodies and node parts; detector-leg focus; sampling budget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part clears by 25 mm; 6 pixels across the mask feature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gates before any number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mask round trip, reference-wave surrogate, working-state amplitude, the reading on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calibration: the response matrix measured through the sensor, on the 30 nm working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piston null carried; stencil-site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on the working surface: 10 nm on one actuator; 1 nm on 47 sites;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floor, SNR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graphicFrame>
        <p:nvGraphicFramePr>
          <p:cNvPr id="289" name="Table 4"/>
          <p:cNvGraphicFramePr/>
          <p:nvPr/>
        </p:nvGraphicFramePr>
        <p:xfrm>
          <a:off x="6400800" y="1298520"/>
          <a:ext cx="5394600" cy="2777040"/>
        </p:xfrm>
        <a:graphic>
          <a:graphicData uri="http://schemas.openxmlformats.org/drawingml/2006/table">
            <a:tbl>
              <a:tblPr/>
              <a:tblGrid>
                <a:gridCol w="410400"/>
                <a:gridCol w="3846600"/>
                <a:gridCol w="11376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step</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what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gate or output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6</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capture range: the aging ladder to 10%; the matrix re-measured at 60 to 160 nm with its photon cost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range in nm; photons per rung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noise fit over 1e8 to 1e14 per measurement, flat and on-surface matrix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for 1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closed loop in the shared loop code: noise, walk, ramp; noiseless step; within-scan drift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for 3 pm; fixed error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descent: the start ladder with unwrapping and recalibration on and off</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largest start brought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systematics one at a time, uncalibrated and through the matrix; layout drawn from the emitted deck; parts from the sheet; report numbers first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one line per term on the systematics slide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90" name="TextBox 5"/>
          <p:cNvSpPr/>
          <p:nvPr/>
        </p:nvSpPr>
        <p:spPr>
          <a:xfrm>
            <a:off x="6400800" y="422208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Run it yourself</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parameter sheet and one runner per approach, shared code underneath; every number here is reproduced by the commands below</a:t>
            </a:r>
            <a:endParaRPr b="0" lang="en-US" sz="1250" spc="-1" strike="noStrike">
              <a:solidFill>
                <a:srgbClr val="000000"/>
              </a:solidFill>
              <a:latin typeface="Arial"/>
            </a:endParaRPr>
          </a:p>
        </p:txBody>
      </p:sp>
      <p:sp>
        <p:nvSpPr>
          <p:cNvPr id="29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93" name="TextBox 3"/>
          <p:cNvSpPr/>
          <p:nvPr/>
        </p:nvSpPr>
        <p:spPr>
          <a:xfrm>
            <a:off x="411480" y="1298520"/>
            <a:ext cx="5806080" cy="2878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Interferometer</a:t>
            </a:r>
            <a:r>
              <a:rPr b="0" lang="en-US" sz="1200" spc="-1" strike="noStrike">
                <a:solidFill>
                  <a:srgbClr val="282828"/>
                </a:solidFill>
                <a:latin typeface="Arial"/>
              </a:rPr>
              <a:t> (tg_psi_dm96_oap): tg96_run for the lens rig; tg96_run('bench.optics','oap','tag','oap') for the mirror rig; ./tg96_batch.sh lens_deck "'stages',{'bench','deck'},'battery.noise',true"; ./tg96_batch.sh loop_lens "'stages',{'bench','loop','figs'}".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Pupil image</a:t>
            </a:r>
            <a:r>
              <a:rPr b="0" lang="en-US" sz="1200" spc="-1" strike="noStrike">
                <a:solidFill>
                  <a:srgbClr val="282828"/>
                </a:solidFill>
                <a:latin typeface="Arial"/>
              </a:rPr>
              <a:t> (tg_psi_dm96_oap): tg96_pupilq('rig','lens'), tg96_pupilsim('rig','oap'); both tools, both rigs: ./tg96_pupil_batch.sh both (knobs: P.pupil in tg96_params).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Zernike sensors</a:t>
            </a:r>
            <a:r>
              <a:rPr b="0" lang="en-US" sz="1200" spc="-1" strike="noStrike">
                <a:solidFill>
                  <a:srgbClr val="282828"/>
                </a:solidFill>
                <a:latin typeface="Arial"/>
              </a:rPr>
              <a:t> (zwfs_dm96): out = zwfs_run; (bench + battery + figures); zwfs_run('tag','ng385','NGRID',385); zwfs_run('MODEL',2048,'NGRID',385,'param_file','macos_param_2048.txt'); ./zwfs_batch.sh loop193 "'stages',{'bench','loop','figs'}".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Point-diffraction</a:t>
            </a:r>
            <a:r>
              <a:rPr b="0" lang="en-US" sz="1200" spc="-1" strike="noStrike">
                <a:solidFill>
                  <a:srgbClr val="282828"/>
                </a:solidFill>
                <a:latin typeface="Arial"/>
              </a:rPr>
              <a:t> (pdi_dm96): P = pdi_params; out = pdi_run(P);; pdi_run('pdi.DIA_LAMD',1.0,'stages',{'bench','battery','figs'}); ./pdi_batch.sh TAG "pdi_params, 'stages',{'bench','loop','figs'}".</a:t>
            </a:r>
            <a:endParaRPr b="0" lang="en-US" sz="1200" spc="-1" strike="noStrike">
              <a:solidFill>
                <a:srgbClr val="000000"/>
              </a:solidFill>
              <a:latin typeface="Arial"/>
            </a:endParaRPr>
          </a:p>
        </p:txBody>
      </p:sp>
      <p:sp>
        <p:nvSpPr>
          <p:cNvPr id="294" name="TextBox 4"/>
          <p:cNvSpPr/>
          <p:nvPr/>
        </p:nvSpPr>
        <p:spPr>
          <a:xfrm>
            <a:off x="6400800" y="1298520"/>
            <a:ext cx="539460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other gauges on the mirror rig:</a:t>
            </a:r>
            <a:r>
              <a:rPr b="0" lang="en-US" sz="1200" spc="-1" strike="noStrike">
                <a:solidFill>
                  <a:srgbClr val="282828"/>
                </a:solidFill>
                <a:latin typeface="Arial"/>
              </a:rPr>
              <a:t> zwfs_run('bench.optics','oap','bench.coat_oap','bareAl','readings',{'L','S','V','P','PF'},'stages',{'bench','battery','noise','loop'},'mask.v_arm','engine').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Where:</a:t>
            </a:r>
            <a:r>
              <a:rPr b="0" lang="en-US" sz="1200" spc="-1" strike="noStrike">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Gates:</a:t>
            </a:r>
            <a:r>
              <a:rPr b="0" lang="en-US" sz="1200" spc="-1" strike="noStrike">
                <a:solidFill>
                  <a:srgbClr val="282828"/>
                </a:solidFill>
                <a:latin typeface="Arial"/>
              </a:rPr>
              <a:t> every stage asserts its own gates (the mask round trip, the reference-wave surrogate, the fold, the pinhole, the analyzer); tDmgLoop 15/15; the mmacos fast suite 481/0.</a:t>
            </a:r>
            <a:endParaRPr b="0" lang="en-US" sz="1200" spc="-1" strike="noStrike">
              <a:solidFill>
                <a:srgbClr val="000000"/>
              </a:solidFill>
              <a:latin typeface="Arial"/>
            </a:endParaRPr>
          </a:p>
        </p:txBody>
      </p:sp>
      <p:sp>
        <p:nvSpPr>
          <p:cNvPr id="295" name="TextBox 5"/>
          <p:cNvSpPr/>
          <p:nvPr/>
        </p:nvSpPr>
        <p:spPr>
          <a:xfrm>
            <a:off x="6400800" y="37368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Each directory's README carries the full command list and the run-tag index. All code and documentation is available from the public nasa-jpl github macos and MACOS_resources repos.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Improving the pupil image: the options, assessed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endParaRPr b="0" lang="en-US" sz="1250" spc="-1" strike="noStrike">
              <a:solidFill>
                <a:srgbClr val="000000"/>
              </a:solidFill>
              <a:latin typeface="Arial"/>
            </a:endParaRPr>
          </a:p>
        </p:txBody>
      </p:sp>
      <p:sp>
        <p:nvSpPr>
          <p:cNvPr id="29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98" name="Table 3"/>
          <p:cNvGraphicFramePr/>
          <p:nvPr/>
        </p:nvGraphicFramePr>
        <p:xfrm>
          <a:off x="411480" y="1298520"/>
          <a:ext cx="11368440" cy="2903040"/>
        </p:xfrm>
        <a:graphic>
          <a:graphicData uri="http://schemas.openxmlformats.org/drawingml/2006/table">
            <a:tbl>
              <a:tblPr/>
              <a:tblGrid>
                <a:gridCol w="2271600"/>
                <a:gridCol w="2079000"/>
                <a:gridCol w="945360"/>
                <a:gridCol w="2325600"/>
                <a:gridCol w="1347480"/>
                <a:gridCol w="1526400"/>
                <a:gridCol w="8726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lens rig variant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zone image vs the detector, mm (on axis / mean / edge)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astigmatism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Nyquist gain, as built / worst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with the detector at the image mean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 nm surface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distortion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tuned tail (field lens 39.8 mm past the focus, conic −2.59)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 / +4.3 /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0.979 / 0.954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+4.3 mm: 0.993 worst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 → 0.4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seed tail (field lens 10.8 mm past the focus, conic −2.11)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0.5 / −0.7 /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0.08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0.9992 / 0.9986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0.7 mm: 0.9999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0.24 → 0.06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tuned tail, spherical 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 / +1.5 /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0.996 / 0.992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 mm: 0.994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0.54 → 0.34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true collimation, tuned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 / +3.9 / +5.1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0.982 / 0.965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+3.9 mm: 0.996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 → 0.3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true collimation, seed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0.5 / −0.8 / −1.1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0.9991 / 0.9980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0.8 mm: 0.9999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0.26 → 0.08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0.035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mirror rig, as built (seed tail)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0.4 / −0.6 / −1.3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0.9993 / 0.9974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0.6 mm: 0.9994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0.23 → 0.09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99" name="TextBox 4"/>
          <p:cNvSpPr/>
          <p:nvPr/>
        </p:nvSpPr>
        <p:spPr>
          <a:xfrm>
            <a:off x="411480" y="4348080"/>
            <a:ext cx="11368440" cy="1537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The null tuner bought its 0.13 nm flat-mirror null with the pupil image:</a:t>
            </a:r>
            <a:r>
              <a:rPr b="0" lang="en-US" sz="1500" spc="-1" strike="noStrike">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A flattener behind the tuned tail is not an optic:</a:t>
            </a:r>
            <a:r>
              <a:rPr b="0" lang="en-US" sz="1500" spc="-1" strike="noStrike">
                <a:solidFill>
                  <a:srgbClr val="282828"/>
                </a:solidFill>
                <a:latin typeface="Arial"/>
              </a:rPr>
              <a:t> its bowl is a 5 mm-radius surface in image space.  </a:t>
            </a:r>
            <a:r>
              <a:rPr b="1" lang="en-US" sz="1500" spc="-1" strike="noStrike">
                <a:solidFill>
                  <a:srgbClr val="282828"/>
                </a:solidFill>
                <a:latin typeface="Arial"/>
              </a:rPr>
              <a:t>True collimation</a:t>
            </a:r>
            <a:r>
              <a:rPr b="0" lang="en-US" sz="1500" spc="-1" strike="noStrike">
                <a:solidFill>
                  <a:srgbClr val="282828"/>
                </a:solidFill>
                <a:latin typeface="Arial"/>
              </a:rPr>
              <a:t> (a source 14 mm inside the hyperbolic collimator's focus, the case assessed here, is what the bench corrects) halves the distortion and is needed for any re-tune and for the physical-optics chain.</a:t>
            </a:r>
            <a:endParaRPr b="0" lang="en-US" sz="1500" spc="-1" strike="noStrike">
              <a:solidFill>
                <a:srgbClr val="000000"/>
              </a:solidFill>
              <a:latin typeface="Arial"/>
            </a:endParaRPr>
          </a:p>
        </p:txBody>
      </p:sp>
      <p:sp>
        <p:nvSpPr>
          <p:cNvPr id="300" name="TextBox 5"/>
          <p:cNvSpPr/>
          <p:nvPr/>
        </p:nvSpPr>
        <p:spPr>
          <a:xfrm>
            <a:off x="411480" y="615096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interferometer's three phase-shift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four frames are the same in the model; the forms differ in what they get wrong</a:t>
            </a:r>
            <a:endParaRPr b="0" lang="en-US" sz="1250" spc="-1" strike="noStrike">
              <a:solidFill>
                <a:srgbClr val="000000"/>
              </a:solidFill>
              <a:latin typeface="Arial"/>
            </a:endParaRPr>
          </a:p>
        </p:txBody>
      </p:sp>
      <p:sp>
        <p:nvSpPr>
          <p:cNvPr id="30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03" name="Table 3"/>
          <p:cNvGraphicFramePr/>
          <p:nvPr/>
        </p:nvGraphicFramePr>
        <p:xfrm>
          <a:off x="411480" y="1298520"/>
          <a:ext cx="11368440" cy="2817000"/>
        </p:xfrm>
        <a:graphic>
          <a:graphicData uri="http://schemas.openxmlformats.org/drawingml/2006/table">
            <a:tbl>
              <a:tblPr/>
              <a:tblGrid>
                <a:gridCol w="1671480"/>
                <a:gridCol w="1257120"/>
                <a:gridCol w="1523160"/>
                <a:gridCol w="69159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 the four steps are made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gets wrong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priced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flat stepped in time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miscalibration; camera and mirror drift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error 2% / 5%: gain 0.974 / 0.954, floors 5 / 9 pm; in the servo common mode (5.4e12 vs 5.5e12); camera walk 1e-3 within a scan: +13% light; mirror walk within a scan: 1.6e13 vs 1.7-2.0e13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polarization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four analyzer channels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systematics, fixed by design; no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hybrid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snapshot for the change, piezo for the absolute 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each half removes the other's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recommended form; its value is the absolute calibration more than drift immunity: the four-step already tolerates all three sequential terms in 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04" name="TextBox 4"/>
          <p:cNvSpPr/>
          <p:nvPr/>
        </p:nvSpPr>
        <p:spPr>
          <a:xfrm>
            <a:off x="411480" y="426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lens_deck_se2, lens_deck_se5, loop_lens_se2, loop_lens_cam, loop_lens_intra, tg_psi_dm, tg_psi_dm_v2.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Zernike readings that lost, and the fold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frame is not enough: the linear reading imprints error under a slow drift, and the exact one-frame reading diverges once actuators sit past the quarter-wave fold</a:t>
            </a:r>
            <a:endParaRPr b="0" lang="en-US" sz="1250" spc="-1" strike="noStrike">
              <a:solidFill>
                <a:srgbClr val="000000"/>
              </a:solidFill>
              <a:latin typeface="Arial"/>
            </a:endParaRPr>
          </a:p>
        </p:txBody>
      </p:sp>
      <p:sp>
        <p:nvSpPr>
          <p:cNvPr id="30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07" name="TextBox 3"/>
          <p:cNvSpPr/>
          <p:nvPr/>
        </p:nvSpPr>
        <p:spPr>
          <a:xfrm>
            <a:off x="411480" y="1298520"/>
            <a:ext cx="580608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Linear, one frame:</a:t>
            </a:r>
            <a:r>
              <a:rPr b="0" lang="en-US" sz="1200" spc="-1" strike="noStrike">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Exact, one frame with a sign prior:</a:t>
            </a:r>
            <a:r>
              <a:rPr b="0" lang="en-US" sz="1200" spc="-1" strike="noStrike">
                <a:solidFill>
                  <a:srgbClr val="282828"/>
                </a:solidFill>
                <a:latin typeface="Arial"/>
              </a:rPr>
              <a:t> a 1 nm step grows to 99 nm in 60 cycles, 10 nm to 178 nm; the actuators whose footprint lies past the fold read with the wrong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fold:</a:t>
            </a:r>
            <a:r>
              <a:rPr b="0" lang="en-US" sz="1200" spc="-1" strike="noStrike">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endParaRPr b="0" lang="en-US" sz="1200" spc="-1" strike="noStrike">
              <a:solidFill>
                <a:srgbClr val="000000"/>
              </a:solidFill>
              <a:latin typeface="Arial"/>
            </a:endParaRPr>
          </a:p>
        </p:txBody>
      </p:sp>
      <p:pic>
        <p:nvPicPr>
          <p:cNvPr id="308" name="Picture 4" descr="crop_zwfs_loop193_left.png"/>
          <p:cNvPicPr/>
          <p:nvPr/>
        </p:nvPicPr>
        <p:blipFill>
          <a:blip r:embed="rId1"/>
          <a:stretch/>
        </p:blipFill>
        <p:spPr>
          <a:xfrm>
            <a:off x="7932240" y="1298520"/>
            <a:ext cx="2331360" cy="1982880"/>
          </a:xfrm>
          <a:prstGeom prst="rect">
            <a:avLst/>
          </a:prstGeom>
          <a:ln w="0">
            <a:noFill/>
          </a:ln>
        </p:spPr>
      </p:pic>
      <p:sp>
        <p:nvSpPr>
          <p:cNvPr id="309"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stepped Zernike servo: residual per cycle at four light levels, with the noiseless 1 nm step decaying to zero.</a:t>
            </a:r>
            <a:endParaRPr b="0" lang="en-US" sz="1000" spc="-1" strike="noStrike">
              <a:solidFill>
                <a:srgbClr val="000000"/>
              </a:solidFill>
              <a:latin typeface="Arial"/>
            </a:endParaRPr>
          </a:p>
        </p:txBody>
      </p:sp>
      <p:sp>
        <p:nvSpPr>
          <p:cNvPr id="310"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loop193, fold_diag, matbase385.</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point-diffraction trades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diameter of record is 2.0 λF/D; the P/SRI's traced reference arm moves with the state by 0.05% of the figure and costs twice the light</a:t>
            </a:r>
            <a:endParaRPr b="0" lang="en-US" sz="1250" spc="-1" strike="noStrike">
              <a:solidFill>
                <a:srgbClr val="000000"/>
              </a:solidFill>
              <a:latin typeface="Arial"/>
            </a:endParaRPr>
          </a:p>
        </p:txBody>
      </p:sp>
      <p:sp>
        <p:nvSpPr>
          <p:cNvPr id="31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13" name="Table 3"/>
          <p:cNvGraphicFramePr/>
          <p:nvPr/>
        </p:nvGraphicFramePr>
        <p:xfrm>
          <a:off x="411480" y="1298520"/>
          <a:ext cx="5806080" cy="3274200"/>
        </p:xfrm>
        <a:graphic>
          <a:graphicData uri="http://schemas.openxmlformats.org/drawingml/2006/table">
            <a:tbl>
              <a:tblPr/>
              <a:tblGrid>
                <a:gridCol w="2152800"/>
                <a:gridCol w="1043640"/>
                <a:gridCol w="2609280"/>
              </a:tblGrid>
              <a:tr h="46836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5.27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2.64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surround transmission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throughput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pixels across at the mask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4.0 (below the 6 the sampling rule asks)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0.9937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range,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120 nm and beyond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photons for 1 pm on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below 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14"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range the small pinhole buys, the shutter frame gives free</a:t>
            </a:r>
            <a:r>
              <a:rPr b="0" lang="en-US" sz="1200" spc="-1" strike="noStrike">
                <a:solidFill>
                  <a:srgbClr val="282828"/>
                </a:solidFill>
                <a:latin typeface="Arial"/>
              </a:rPr>
              <a:t> at the large one's throughput: 1.02 / 1.06 / 1.13 at 120 / 240 / 480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P/SRI</a:t>
            </a:r>
            <a:r>
              <a:rPr b="0" lang="en-US" sz="1200" spc="-1" strike="noStrike">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Five frames beat four:</a:t>
            </a:r>
            <a:r>
              <a:rPr b="0" lang="en-US" sz="1200" spc="-1" strike="noStrike">
                <a:solidFill>
                  <a:srgbClr val="282828"/>
                </a:solidFill>
                <a:latin typeface="Arial"/>
              </a:rPr>
              <a:t> a 2% step error reads 4.9 pm (pinhole) and 2.2 pm (P/SRI) with the Schwider-Hariharan scan against 421 and 251 pm with four-step least squares.</a:t>
            </a:r>
            <a:endParaRPr b="0" lang="en-US" sz="1200" spc="-1" strike="noStrike">
              <a:solidFill>
                <a:srgbClr val="000000"/>
              </a:solidFill>
              <a:latin typeface="Arial"/>
            </a:endParaRPr>
          </a:p>
        </p:txBody>
      </p:sp>
      <p:sp>
        <p:nvSpPr>
          <p:cNvPr id="315"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pin20_1024, pin10_2048, pin20_loop, pin10_loop, pfdeck, pfdeck_frz, pdi193se_sh5, pdi193se_ls; layouts psri_layout.png and psri_render.png in pdi_dm96.</a:t>
            </a:r>
            <a:endParaRPr b="0" lang="en-US" sz="1050" spc="-1" strike="noStrike">
              <a:solidFill>
                <a:srgbClr val="000000"/>
              </a:solidFill>
              <a:latin typeface="Arial"/>
            </a:endParaRPr>
          </a:p>
        </p:txBody>
      </p:sp>
      <p:sp>
        <p:nvSpPr>
          <p:cNvPr id="316" name="TextBox 6"/>
          <p:cNvSpPr/>
          <p:nvPr/>
        </p:nvSpPr>
        <p:spPr>
          <a:xfrm>
            <a:off x="6400800" y="4458600"/>
            <a:ext cx="5394600" cy="1048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Drift within a measurement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mirror that drifts during a stepped scan helps the stepped readings; a camera that drifts during the scan hurts them; the simultaneous readings see neither</a:t>
            </a:r>
            <a:endParaRPr b="0" lang="en-US" sz="1250" spc="-1" strike="noStrike">
              <a:solidFill>
                <a:srgbClr val="000000"/>
              </a:solidFill>
              <a:latin typeface="Arial"/>
            </a:endParaRPr>
          </a:p>
        </p:txBody>
      </p:sp>
      <p:sp>
        <p:nvSpPr>
          <p:cNvPr id="31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19" name="Table 3"/>
          <p:cNvGraphicFramePr/>
          <p:nvPr/>
        </p:nvGraphicFramePr>
        <p:xfrm>
          <a:off x="411480" y="1298520"/>
          <a:ext cx="5806080" cy="2231280"/>
        </p:xfrm>
        <a:graphic>
          <a:graphicData uri="http://schemas.openxmlformats.org/drawingml/2006/table">
            <a:tbl>
              <a:tblPr/>
              <a:tblGrid>
                <a:gridCol w="3208680"/>
                <a:gridCol w="534600"/>
                <a:gridCol w="534600"/>
                <a:gridCol w="458280"/>
                <a:gridCol w="534600"/>
                <a:gridCol w="5346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hold error at 1e15 photons per cycle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linear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stepped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vector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P/SRI</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still during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1.71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mirror still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6.70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7.30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camera scale drifting 1e-3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20" name="TextBox 4"/>
          <p:cNvSpPr/>
          <p:nvPr/>
        </p:nvSpPr>
        <p:spPr>
          <a:xfrm>
            <a:off x="6400800" y="1298520"/>
            <a:ext cx="539460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Why the mirror's drift helps:</a:t>
            </a:r>
            <a:r>
              <a:rPr b="0" lang="en-US" sz="1200" spc="-1" strike="noStrike">
                <a:solidFill>
                  <a:srgbClr val="282828"/>
                </a:solidFill>
                <a:latin typeface="Arial"/>
              </a:rPr>
              <a:t> a scan reads the surface at its midpoint, a free half-step of prediction; 26-32% less hold error for the stepped readings.  The camera's drift is an additive bias, the opposite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P/SRI's reference arm walking</a:t>
            </a:r>
            <a:r>
              <a:rPr b="0" lang="en-US" sz="1200" spc="-1" strike="noStrike">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paper's camera number</a:t>
            </a:r>
            <a:r>
              <a:rPr b="0" lang="en-US" sz="1200" spc="-1" strike="noStrike">
                <a:solidFill>
                  <a:srgbClr val="282828"/>
                </a:solidFill>
                <a:latin typeface="Arial"/>
              </a:rPr>
              <a:t> (0.13 electrons per pixel per cycle) is invisible to every reading: an electron is 1e-4 of a lit pixel's shot noise at 1e13 photons.</a:t>
            </a:r>
            <a:endParaRPr b="0" lang="en-US" sz="1200" spc="-1" strike="noStrike">
              <a:solidFill>
                <a:srgbClr val="000000"/>
              </a:solidFill>
              <a:latin typeface="Arial"/>
            </a:endParaRPr>
          </a:p>
        </p:txBody>
      </p:sp>
      <p:sp>
        <p:nvSpPr>
          <p:cNvPr id="321"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intra193_0, intra193, pcam193, pcam193r, pcam193ri, rw193_1e3/1e2/1e1, loop_lens_intra, loop_lens_cam.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vector sensor's polarization terms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metasurface's retardance error, the arm's polarization aberration, and the analyzer, each from the engine's polarized traces of this bench</a:t>
            </a:r>
            <a:endParaRPr b="0" lang="en-US" sz="1250" spc="-1" strike="noStrike">
              <a:solidFill>
                <a:srgbClr val="000000"/>
              </a:solidFill>
              <a:latin typeface="Arial"/>
            </a:endParaRPr>
          </a:p>
        </p:txBody>
      </p:sp>
      <p:sp>
        <p:nvSpPr>
          <p:cNvPr id="32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24" name="Table 3"/>
          <p:cNvGraphicFramePr/>
          <p:nvPr/>
        </p:nvGraphicFramePr>
        <p:xfrm>
          <a:off x="411480" y="1298520"/>
          <a:ext cx="5806080" cy="3377160"/>
        </p:xfrm>
        <a:graphic>
          <a:graphicData uri="http://schemas.openxmlformats.org/drawingml/2006/table">
            <a:tbl>
              <a:tblPr/>
              <a:tblGrid>
                <a:gridCol w="1924200"/>
                <a:gridCol w="1824840"/>
                <a:gridCol w="20570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on 100 nm pokes (12 nm rms)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through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0.02 / 0.05 / 0.10 / 0.20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153 / 380 / 750 / 1461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 at 0.10 and 0.20: the ideal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laser at 45° / 0° / 90° to the fold plane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9.0 / 17.2 / 11.2 pm (ideal 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through 0.1 rad of channel phase;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design scan: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 178 / 597 / 1877 pm at 0.01 / 0.03 / 0.1 / 0.3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cube extinction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plate λ/300; 1° azimuth; λ/100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165; 263; 496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0.9932 / 4; 0.9932 / 4; 0.9928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25"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arm:</a:t>
            </a:r>
            <a:r>
              <a:rPr b="0" lang="en-US" sz="1200" spc="-1" strike="noStrike">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analyzer:</a:t>
            </a:r>
            <a:r>
              <a:rPr b="0" lang="en-US" sz="1200" spc="-1" strike="noStrike">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A three-number fit on the flat's two images</a:t>
            </a:r>
            <a:r>
              <a:rPr b="0" lang="en-US" sz="1200" spc="-1" strike="noStrike">
                <a:solidFill>
                  <a:srgbClr val="282828"/>
                </a:solidFill>
                <a:latin typeface="Arial"/>
              </a:rPr>
              <a:t> recovers the metasurface's constants to five digits (0.048 pm).</a:t>
            </a:r>
            <a:endParaRPr b="0" lang="en-US" sz="1200" spc="-1" strike="noStrike">
              <a:solidFill>
                <a:srgbClr val="000000"/>
              </a:solidFill>
              <a:latin typeface="Arial"/>
            </a:endParaRPr>
          </a:p>
        </p:txBody>
      </p:sp>
      <p:sp>
        <p:nvSpPr>
          <p:cNvPr id="326"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v2g, v2loop, v3arm, v3s, v3loop, an193_cube/q300/q100/az1; zwfs_dm96 README V2-V4.</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sensor model, sampling and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early Zernike model was out of focus by 4.9 m at the pupil image; corrected, every gate closes; the sampling rule and the color result follow from the corrected model</a:t>
            </a:r>
            <a:endParaRPr b="0" lang="en-US" sz="1250" spc="-1" strike="noStrike">
              <a:solidFill>
                <a:srgbClr val="000000"/>
              </a:solidFill>
              <a:latin typeface="Arial"/>
            </a:endParaRPr>
          </a:p>
        </p:txBody>
      </p:sp>
      <p:sp>
        <p:nvSpPr>
          <p:cNvPr id="32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29" name="TextBox 3"/>
          <p:cNvSpPr/>
          <p:nvPr/>
        </p:nvSpPr>
        <p:spPr>
          <a:xfrm>
            <a:off x="411480" y="1298520"/>
            <a:ext cx="580608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The correction:</a:t>
            </a:r>
            <a:r>
              <a:rPr b="0" lang="en-US" sz="1200" spc="-1" strike="noStrike">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Sampling:</a:t>
            </a:r>
            <a:r>
              <a:rPr b="0" lang="en-US" sz="1200" spc="-1" strike="noStrike">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Color:</a:t>
            </a:r>
            <a:r>
              <a:rPr b="0" lang="en-US" sz="1200" spc="-1" strike="noStrike">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endParaRPr b="0" lang="en-US" sz="1200" spc="-1" strike="noStrike">
              <a:solidFill>
                <a:srgbClr val="000000"/>
              </a:solidFill>
              <a:latin typeface="Arial"/>
            </a:endParaRPr>
          </a:p>
        </p:txBody>
      </p:sp>
      <p:pic>
        <p:nvPicPr>
          <p:cNvPr id="330" name="Picture 4" descr="zwfs_s7iter.png"/>
          <p:cNvPicPr/>
          <p:nvPr/>
        </p:nvPicPr>
        <p:blipFill>
          <a:blip r:embed="rId1"/>
          <a:stretch/>
        </p:blipFill>
        <p:spPr>
          <a:xfrm>
            <a:off x="6838560" y="1298520"/>
            <a:ext cx="4519440" cy="1982880"/>
          </a:xfrm>
          <a:prstGeom prst="rect">
            <a:avLst/>
          </a:prstGeom>
          <a:ln w="0">
            <a:noFill/>
          </a:ln>
        </p:spPr>
      </p:pic>
      <p:sp>
        <p:nvSpPr>
          <p:cNvPr id="331"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model correction: the runner's figure of the iterated reference-wave solve on the corrected model.</a:t>
            </a:r>
            <a:endParaRPr b="0" lang="en-US" sz="1000" spc="-1" strike="noStrike">
              <a:solidFill>
                <a:srgbClr val="000000"/>
              </a:solidFill>
              <a:latin typeface="Arial"/>
            </a:endParaRPr>
          </a:p>
        </p:txBody>
      </p:sp>
      <p:sp>
        <p:nvSpPr>
          <p:cNvPr id="332"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rec193full, m2048, m2048_lat, ng385_lat; zwfs_dm96 README S7-S9.</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clearance scan behind the 22.5° choice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endParaRPr b="0" lang="en-US" sz="1250" spc="-1" strike="noStrike">
              <a:solidFill>
                <a:srgbClr val="000000"/>
              </a:solidFill>
              <a:latin typeface="Arial"/>
            </a:endParaRPr>
          </a:p>
        </p:txBody>
      </p:sp>
      <p:sp>
        <p:nvSpPr>
          <p:cNvPr id="33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35" name="Table 3"/>
          <p:cNvGraphicFramePr/>
          <p:nvPr/>
        </p:nvGraphicFramePr>
        <p:xfrm>
          <a:off x="411480" y="1298520"/>
          <a:ext cx="5806080" cy="2154240"/>
        </p:xfrm>
        <a:graphic>
          <a:graphicData uri="http://schemas.openxmlformats.org/drawingml/2006/table">
            <a:tbl>
              <a:tblPr/>
              <a:tblGrid>
                <a:gridCol w="727200"/>
                <a:gridCol w="957960"/>
                <a:gridCol w="41205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splitter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worst 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others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eight parts in another beam: reference plate, analyzer, compensator, L2, polarizer,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 analyzer −11, L2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22.5°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+55, analyzer +65, L2 +100, L1 +153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+178, analyzer +196, L2 +257, L1 +350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36" name="TextBox 4"/>
          <p:cNvSpPr/>
          <p:nvPr/>
        </p:nvSpPr>
        <p:spPr>
          <a:xfrm>
            <a:off x="411480" y="3599280"/>
            <a:ext cx="580608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moves:</a:t>
            </a:r>
            <a:r>
              <a:rPr b="0" lang="en-US" sz="1200" spc="-1" strike="noStrike">
                <a:solidFill>
                  <a:srgbClr val="282828"/>
                </a:solidFill>
                <a:latin typeface="Arial"/>
              </a:rPr>
              <a:t> the output plate and analyzer from 17 and 27 mm behind the splitter to 160 and 170 mm, just ahead of the focuser at 207 mm; nothing else, so the focused detector leg is untouched.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1" lang="en-US" sz="1200" spc="-1" strike="noStrike">
                <a:solidFill>
                  <a:srgbClr val="282828"/>
                </a:solidFill>
                <a:latin typeface="Arial"/>
              </a:rPr>
              <a:t>What it costs the sensors: nothing.</a:t>
            </a:r>
            <a:r>
              <a:rPr b="0" lang="en-US" sz="1200" spc="-1" strike="noStrike">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endParaRPr b="0" lang="en-US" sz="1200" spc="-1" strike="noStrike">
              <a:solidFill>
                <a:srgbClr val="000000"/>
              </a:solidFill>
              <a:latin typeface="Arial"/>
            </a:endParaRPr>
          </a:p>
        </p:txBody>
      </p:sp>
      <p:pic>
        <p:nvPicPr>
          <p:cNvPr id="337" name="Picture 5" descr="crop_bench_bs30_node.png"/>
          <p:cNvPicPr/>
          <p:nvPr/>
        </p:nvPicPr>
        <p:blipFill>
          <a:blip r:embed="rId1"/>
          <a:stretch/>
        </p:blipFill>
        <p:spPr>
          <a:xfrm>
            <a:off x="7420320" y="1298520"/>
            <a:ext cx="3355560" cy="1965240"/>
          </a:xfrm>
          <a:prstGeom prst="rect">
            <a:avLst/>
          </a:prstGeom>
          <a:ln w="0">
            <a:noFill/>
          </a:ln>
        </p:spPr>
      </p:pic>
      <p:sp>
        <p:nvSpPr>
          <p:cNvPr id="338" name="TextBox 6"/>
          <p:cNvSpPr/>
          <p:nvPr/>
        </p:nvSpPr>
        <p:spPr>
          <a:xfrm>
            <a:off x="6400800" y="328212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30°: the compensator clears by 57 mm, the rest by 178 mm or more.</a:t>
            </a:r>
            <a:endParaRPr b="0" lang="en-US" sz="1000" spc="-1" strike="noStrike">
              <a:solidFill>
                <a:srgbClr val="000000"/>
              </a:solidFill>
              <a:latin typeface="Arial"/>
            </a:endParaRPr>
          </a:p>
        </p:txBody>
      </p:sp>
      <p:pic>
        <p:nvPicPr>
          <p:cNvPr id="339" name="Picture 7" descr="crop_bench_bs7_node.png"/>
          <p:cNvPicPr/>
          <p:nvPr/>
        </p:nvPicPr>
        <p:blipFill>
          <a:blip r:embed="rId2"/>
          <a:stretch/>
        </p:blipFill>
        <p:spPr>
          <a:xfrm>
            <a:off x="7443720" y="3547800"/>
            <a:ext cx="3308760" cy="1965240"/>
          </a:xfrm>
          <a:prstGeom prst="rect">
            <a:avLst/>
          </a:prstGeom>
          <a:ln w="0">
            <a:noFill/>
          </a:ln>
        </p:spPr>
      </p:pic>
      <p:sp>
        <p:nvSpPr>
          <p:cNvPr id="340" name="TextBox 8"/>
          <p:cNvSpPr/>
          <p:nvPr/>
        </p:nvSpPr>
        <p:spPr>
          <a:xfrm>
            <a:off x="6400800" y="553176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record's node at 7°: eight parts sit in another beam.</a:t>
            </a:r>
            <a:endParaRPr b="0" lang="en-US" sz="1000" spc="-1" strike="noStrike">
              <a:solidFill>
                <a:srgbClr val="000000"/>
              </a:solidFill>
              <a:latin typeface="Arial"/>
            </a:endParaRPr>
          </a:p>
        </p:txBody>
      </p:sp>
      <p:sp>
        <p:nvSpPr>
          <p:cNvPr id="341" name="TextBox 9"/>
          <p:cNvSpPr/>
          <p:nvPr/>
        </p:nvSpPr>
        <p:spPr>
          <a:xfrm>
            <a:off x="6400800" y="579744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the Zernike-sensor literature offers, in priority order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Twelve papers read; the first import — re-computing the reference wave — is built and measured here (the S and V readings)</a:t>
            </a:r>
            <a:endParaRPr b="0" lang="en-US" sz="1250" spc="-1" strike="noStrike">
              <a:solidFill>
                <a:srgbClr val="000000"/>
              </a:solidFill>
              <a:latin typeface="Arial"/>
            </a:endParaRPr>
          </a:p>
        </p:txBody>
      </p:sp>
      <p:sp>
        <p:nvSpPr>
          <p:cNvPr id="34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4" name="Table 3"/>
          <p:cNvGraphicFramePr/>
          <p:nvPr/>
        </p:nvGraphicFramePr>
        <p:xfrm>
          <a:off x="411480" y="1298520"/>
          <a:ext cx="11368440" cy="3091320"/>
        </p:xfrm>
        <a:graphic>
          <a:graphicData uri="http://schemas.openxmlformats.org/drawingml/2006/table">
            <a:tbl>
              <a:tblPr/>
              <a:tblGrid>
                <a:gridCol w="218880"/>
                <a:gridCol w="2691000"/>
                <a:gridCol w="84582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paper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gives this model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Ruane, Wallace, Steeves et al. 2020, JATIS 6, 045005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Doelman, Fagginger Auer, Escuti, Snik 2019, Opt. Lett. 44, 17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Vector Zernike: ±π/2 on opposite circular polarizations gives two pupil images, an exact phase-and-amplitude solution, an iterated b, achromatic to 100 % bandwidth; the leakage terms are written down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N'Diaye, Vigan, Dohlen et al. 2016, A&amp;A 592, A79 (ZELDA II)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Second-order reconstruction with b from the mask model; 1.06 λ/D at π/2; range −0.14 to +0.36 λ; the sensitivity factor drifts 10 % day to day on SPHERE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Chambouleyron, Cissé, Salama, Haffert, Wallace et al. 2024, SPIE 13097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phase-shifted pair (±π/2) yields cos φ and sin φ; iterative reconstructors reach about 1 rad rms; the bench limits were polarization crosstalk and defocus between the two pupils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Haffert 2024, A&amp;A 683, A113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Iterative nonlinear reconstructors reach machine precision below 0.25 rad rms; phase sorting extends to 0.75 rad; adding wavelengths to 1.4 rad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Darcis, Haffert, Chambouleyron, Doelman et al. 2025, A&amp;A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Multi-wavelength gradient descent through the forward model: dynamic range for the scalar sensor, photon robustness across a wider band, two-wavelength unwrapping of petal errors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5" name="TextBox 4"/>
          <p:cNvSpPr/>
          <p:nvPr/>
        </p:nvSpPr>
        <p:spPr>
          <a:xfrm>
            <a:off x="411480" y="45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Priority = payoff against this campaign's measured weak results.  Synopses and links: macos/REPORT_zwfs_lit_scan.md.</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Demonstrations, segmented mirrors, and the in-house precedent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Picometers by alternating DM shapes and averaging; segment piston by model iteration, underestimated below 50 % Strehl</a:t>
            </a:r>
            <a:endParaRPr b="0" lang="en-US" sz="1250" spc="-1" strike="noStrike">
              <a:solidFill>
                <a:srgbClr val="000000"/>
              </a:solidFill>
              <a:latin typeface="Arial"/>
            </a:endParaRPr>
          </a:p>
        </p:txBody>
      </p:sp>
      <p:sp>
        <p:nvSpPr>
          <p:cNvPr id="34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48" name="Table 3"/>
          <p:cNvGraphicFramePr/>
          <p:nvPr/>
        </p:nvGraphicFramePr>
        <p:xfrm>
          <a:off x="411480" y="1298520"/>
          <a:ext cx="11368440" cy="3091320"/>
        </p:xfrm>
        <a:graphic>
          <a:graphicData uri="http://schemas.openxmlformats.org/drawingml/2006/table">
            <a:tbl>
              <a:tblPr/>
              <a:tblGrid>
                <a:gridCol w="291240"/>
                <a:gridCol w="3729960"/>
                <a:gridCol w="7346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paper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gives this model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Steeves, Wallace, Kettenbeil, Jewell 2020, Optica 7, 1267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 pm repeatability in 4.3 s by alternating flat and waffle DM shapes and averaging the differences; a reconstruction robust at the highest spatial frequencies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Wallace, Rao, Jensen-Clem, Serabyn 2011, SPIE 8126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All-reflective phase-shifting Zernike interferometer: a dynamic, arbitrary core phase shift read in four steps gives phase and amplitude; low sensitivity to vibration, polarization and wavelength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Moore and Redding 2018, SPIE 10698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Nonlinear polychromatic physical-optics reconstruction for picometer differential metrology on LUVOIR; the in-house precedent for the reconstructor above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Keck vector-Zernike segment control 2024 (arXiv 2404.08728); Wallace et al. 2022 (arXiv 2205.02241)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Segment piston by model-based iteration; 11 nm rms piston uncertainty; underestimation 2 to 4× below 50 % Strehl; fabricated shifts 0.30π and 0.68π instead of ±0.5π</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HiCAT mid-order Zernike sensor 2024 (arXiv 2409.03411)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Per-segment piston, tip and tilt by interaction matrix; a minimal step of 125 ± 31 pm at SNR 4; 14-bit DM quantization reads as steps in the response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Shi et al. 2015, SPIE 9605 (Roman low-order sensor)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reflective dimple on the focal-plane mask senses Z2 to Z11 from the rejected starlight: the spatially filtered form of the same sensor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49" name="TextBox 4"/>
          <p:cNvSpPr/>
          <p:nvPr/>
        </p:nvSpPr>
        <p:spPr>
          <a:xfrm>
            <a:off x="411480" y="45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Also read: PIAA-ZWFS (2026, arXiv 2606.28136), lossless pupil apodization that closes the gap to the fundamental sensitivity limit by 10× — a design lever, not a model change.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path per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runner stages and knobs each approach went through, in the order they ran</a:t>
            </a:r>
            <a:endParaRPr b="0" lang="en-US" sz="1250" spc="-1" strike="noStrike">
              <a:solidFill>
                <a:srgbClr val="000000"/>
              </a:solidFill>
              <a:latin typeface="Arial"/>
            </a:endParaRPr>
          </a:p>
        </p:txBody>
      </p:sp>
      <p:sp>
        <p:nvSpPr>
          <p:cNvPr id="35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52" name="Table 3"/>
          <p:cNvGraphicFramePr/>
          <p:nvPr/>
        </p:nvGraphicFramePr>
        <p:xfrm>
          <a:off x="411480" y="1298520"/>
          <a:ext cx="11368440" cy="4217400"/>
        </p:xfrm>
        <a:graphic>
          <a:graphicData uri="http://schemas.openxmlformats.org/drawingml/2006/table">
            <a:tbl>
              <a:tblPr/>
              <a:tblGrid>
                <a:gridCol w="1453680"/>
                <a:gridCol w="3250440"/>
                <a:gridCol w="3223440"/>
                <a:gridCol w="3440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interferometer (tg96_run)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Zernike, scalar and vector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point-diffraction (pdi_run over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build + gates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A clearance, A2 sampling, B build both arms; the detector leg's focus from tg96_tail; the wrapped phase difference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bench: the symmetric mask sandwich (the S7 correction), the mask gauge factory, gates G1 to G4, G8, G9, the mask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pinhole gauge in the same seat; G5 (pinhole at full transmission equals the stepped Zernike); the P/SRI's two decks, G6, G7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calibration +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deck: matrix on the 30 nm surface; single, 52-site grid, dense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matrix on the surface (record mode, stencil fix); the same three rows; readings L, I, I+, S, V</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through the shared runner; readings P (five-frame scan, shutter frame), PF (traced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capture range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aging 30 to 480 nm; re-measured to 160;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ladder with the capture-range print; base_rms rungs; noise stage per rung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knobs; the shutter frame's 480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S5 form and the loop's noise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N(1 pm) flat and on-surface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2.0 vs 1.0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loop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PZT step error; camera and DM within-scan walks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noise, walk, ramp, step; camera drift forms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within-scan drift; reference-arm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descent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60 to 300 nm starts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start ladder: self-referenced readings blind past 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recalibration: 100 nm with the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systematics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three phase-shift forms; coatings; alignment (D4); OAP seat trim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V2 metasurface, V3 arm maps, V4 analyzer, V5 clear frame; color; sampling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schemes; camera drift; reference motion and walk; pinhole 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layout +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view_rx recipe: train, node, detector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zwfs_vlayout: both channel decks; the bench clearance tool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pdi_vfig_util: pinhole and P/SRI layouts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53" name="TextBox 4"/>
          <p:cNvSpPr/>
          <p:nvPr/>
        </p:nvSpPr>
        <p:spPr>
          <a:xfrm>
            <a:off x="411480" y="566244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Directories tg_psi_dm96_oap, zwfs_dm96, pdi_dm96 and the shared dm_gauge_lib under MACOS_resources/mmacos/templates/40_benches; each README's "run it yourself" reproduces its column.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Provenance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number in this deck has a run tag in a committed run directory of the shared model; the three lane reports carry the full tables</a:t>
            </a:r>
            <a:endParaRPr b="0" lang="en-US" sz="1250" spc="-1" strike="noStrike">
              <a:solidFill>
                <a:srgbClr val="000000"/>
              </a:solidFill>
              <a:latin typeface="Arial"/>
            </a:endParaRPr>
          </a:p>
        </p:txBody>
      </p:sp>
      <p:sp>
        <p:nvSpPr>
          <p:cNvPr id="35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56" name="TextBox 3"/>
          <p:cNvSpPr/>
          <p:nvPr/>
        </p:nvSpPr>
        <p:spPr>
          <a:xfrm>
            <a:off x="411480" y="1298520"/>
            <a:ext cx="11368440" cy="5195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Interferometer</a:t>
            </a:r>
            <a:r>
              <a:rPr b="0" lang="en-US" sz="1500" spc="-1" strike="noStrike">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Zernike sensors</a:t>
            </a:r>
            <a:r>
              <a:rPr b="0" lang="en-US" sz="1500" spc="-1" strike="noStrike">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Point-diffraction</a:t>
            </a:r>
            <a:r>
              <a:rPr b="0" lang="en-US" sz="1500" spc="-1" strike="noStrike">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Plan and rulings:</a:t>
            </a:r>
            <a:r>
              <a:rPr b="0" lang="en-US" sz="1500" spc="-1" strike="noStrike">
                <a:solidFill>
                  <a:srgbClr val="282828"/>
                </a:solidFill>
                <a:latin typeface="Arial"/>
              </a:rPr>
              <a:t> macos/BRIEF_gauge_deck.md sections 5-11.  Raw material with every figure's pixel size: demo_session/deck_gauges_material.md.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1" lang="en-US" sz="1500" spc="-1" strike="noStrike">
                <a:solidFill>
                  <a:srgbClr val="282828"/>
                </a:solidFill>
                <a:latin typeface="Arial"/>
              </a:rPr>
              <a:t>Engine:</a:t>
            </a:r>
            <a:r>
              <a:rPr b="0" lang="en-US" sz="1500" spc="-1" strike="noStrike">
                <a:solidFill>
                  <a:srgbClr val="282828"/>
                </a:solidFill>
                <a:latin typeface="Arial"/>
              </a:rPr>
              <a:t> MACOS on dev-candidate; mmacos fast suite 481 pass, 0 fail (2026-09-14); the polarization physics (Jones pupils, coatings, retarders, the metasurface's leak) from the engine's own polarized traces.</a:t>
            </a:r>
            <a:endParaRPr b="0" lang="en-US" sz="1500" spc="-1" strike="noStrike">
              <a:solidFill>
                <a:srgbClr val="000000"/>
              </a:solidFill>
              <a:latin typeface="Arial"/>
            </a:endParaRPr>
          </a:p>
        </p:txBody>
      </p:sp>
      <p:sp>
        <p:nvSpPr>
          <p:cNvPr id="357" name="TextBox 4"/>
          <p:cNvSpPr/>
          <p:nvPr/>
        </p:nvSpPr>
        <p:spPr>
          <a:xfrm>
            <a:off x="411480" y="72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Model sizes: 1024 grid with 193 rays for most rows, 2048 with 385 for the compliant sampling; one engine MATLAB at a time on the box, 11-20 GB.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12</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2026-10-07T08:06:56Z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