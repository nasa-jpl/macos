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450493"/>
                <a:gridCol w="6076392"/>
                <a:gridCol w="1920924"/>
                <a:gridCol w="1920924"/>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 the polarization snapshot / the hybrid's piezo four-step</a:t>
                      </a:r>
                    </a:p>
                  </a:txBody>
                  <a:tcPr marL="54864" marR="54864" marT="18288" marB="18288">
                    <a:solidFill>
                      <a:srgbClr val="ECF1F6"/>
                    </a:solidFill>
                  </a:tcPr>
                </a:tc>
                <a:tc>
                  <a:txBody>
                    <a:bodyPr wrap="square"/>
                    <a:lstStyle/>
                    <a:p>
                      <a:r>
                        <a:rPr sz="1100" b="0">
                          <a:solidFill>
                            <a:srgbClr val="282828"/>
                          </a:solidFill>
                          <a:latin typeface="Arial"/>
                        </a:rPr>
                        <a:t>1.4 % (350 pm), gain 0.993 / 0.01 pm, gain 1.0000</a:t>
                      </a:r>
                    </a:p>
                  </a:txBody>
                  <a:tcPr marL="54864" marR="54864" marT="18288" marB="18288">
                    <a:solidFill>
                      <a:srgbClr val="ECF1F6"/>
                    </a:solidFill>
                  </a:tcPr>
                </a:tc>
                <a:tc>
                  <a:txBody>
                    <a:bodyPr wrap="square"/>
                    <a:lstStyle/>
                    <a:p>
                      <a:r>
                        <a:rPr sz="1100" b="0">
                          <a:solidFill>
                            <a:srgbClr val="282828"/>
                          </a:solidFill>
                          <a:latin typeface="Arial"/>
                        </a:rPr>
                        <a:t>1.5 % (463 pm), gain 0.987 / 0.01 pm, gain 1.0000</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Picometer measurement is photon-limited, not bench-limited.</a:t>
            </a:r>
            <a:r>
              <a:rPr sz="1100" b="0">
                <a:solidFill>
                  <a:srgbClr val="282828"/>
                </a:solidFill>
                <a:latin typeface="Arial"/>
              </a:rPr>
              <a:t>  One measurement at 1e15 photons — 0.31 mJ, 1.3 s of a 1 mW laser — repeats to 0.7 pm, and a servo fed at that rate holds under half a picometer; both front ends agree within 10 %.  For scale, </a:t>
            </a:r>
            <a:r>
              <a:rPr sz="1100" b="1">
                <a:solidFill>
                  <a:srgbClr val="282828"/>
                </a:solidFill>
                <a:latin typeface="Arial"/>
              </a:rPr>
              <a:t>Steeves et al. (2020, Optica 7, 1267) demonstrate 1.6 pm in 4.3 s on a real interferometer</a:t>
            </a:r>
            <a:r>
              <a:rPr sz="1100" b="0">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p>
          <a:p>
            <a:pPr>
              <a:spcAft>
                <a:spcPts val="600"/>
              </a:spcAft>
            </a:pPr>
            <a:r>
              <a:rPr sz="1100" b="0">
                <a:solidFill>
                  <a:srgbClr val="282828"/>
                </a:solidFill>
                <a:latin typeface="Arial"/>
              </a:rPr>
              <a:t>•  </a:t>
            </a:r>
            <a:r>
              <a:rPr sz="1100" b="1">
                <a:solidFill>
                  <a:srgbClr val="282828"/>
                </a:solidFill>
                <a:latin typeface="Arial"/>
              </a:rPr>
              <a:t>Accuracy is a gain: systematic and proportional to the figure read.</a:t>
            </a:r>
            <a:r>
              <a:rPr sz="1100" b="0">
                <a:solidFill>
                  <a:srgbClr val="282828"/>
                </a:solidFill>
                <a:latin typeface="Arial"/>
              </a:rPr>
              <a:t>  Raw, the four-step reads the 30 nm surface 0.7 % low on lenses (350 pm) and 1.3 % low on mirrors (463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p>
          <a:p>
            <a:pPr>
              <a:spcAft>
                <a:spcPts val="600"/>
              </a:spcAft>
            </a:pPr>
            <a:r>
              <a:rPr sz="1100" b="0">
                <a:solidFill>
                  <a:srgbClr val="282828"/>
                </a:solidFill>
                <a:latin typeface="Arial"/>
              </a:rPr>
              <a:t>•  </a:t>
            </a:r>
            <a:r>
              <a:rPr sz="1100" b="1">
                <a:solidFill>
                  <a:srgbClr val="282828"/>
                </a:solidFill>
                <a:latin typeface="Arial"/>
              </a:rPr>
              <a:t>One disturbance is not photon-limited:</a:t>
            </a:r>
            <a:r>
              <a:rPr sz="11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6327648"/>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(the side-by-side slide).  The raw-map rows are the station figures' (runs redo96_lensstn2, redo96_oapstn2), the snapshot's sign set by a +50 nm push: the two rigs' polarization inputs run the fringe opposite ways, which the matrix carries and an absolute map does not.  Run tags are on the provenance slide and on each slide that derives a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 measured: on the 30 nm surface the snapshot's raw map reads the engine's field at gain 0.993 (lenses) / 0.987 (mirrors), the piezo four-step at gain 1.0000, 0.01 pm (station figures) -- the piezo leg sets the snapshot's gain, the snapshot then reads every change without drift.</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5212080" y="1060704"/>
            <a:ext cx="6629400" cy="1124712"/>
          </a:xfrm>
          <a:prstGeom prst="rect">
            <a:avLst/>
          </a:prstGeom>
        </p:spPr>
      </p:pic>
      <p:sp>
        <p:nvSpPr>
          <p:cNvPr id="5" name="TextBox 4"/>
          <p:cNvSpPr txBox="1"/>
          <p:nvPr/>
        </p:nvSpPr>
        <p:spPr>
          <a:xfrm>
            <a:off x="228600" y="1170432"/>
            <a:ext cx="3931920" cy="8895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25.8 nm rms; the snapshot's raw map minus the engine's field, 463 pm, gain 0.987; the piezo four-step's, 0.01 pm, gain 1.0000.</a:t>
            </a:r>
          </a:p>
        </p:txBody>
      </p:sp>
      <p:pic>
        <p:nvPicPr>
          <p:cNvPr id="6" name="Picture 5" descr="crop_stations_row2_S.png"/>
          <p:cNvPicPr>
            <a:picLocks noChangeAspect="1"/>
          </p:cNvPicPr>
          <p:nvPr/>
        </p:nvPicPr>
        <p:blipFill>
          <a:blip r:embed="rId3"/>
          <a:stretch>
            <a:fillRect/>
          </a:stretch>
        </p:blipFill>
        <p:spPr>
          <a:xfrm>
            <a:off x="5212080" y="2240280"/>
            <a:ext cx="6629400" cy="1161288"/>
          </a:xfrm>
          <a:prstGeom prst="rect">
            <a:avLst/>
          </a:prstGeom>
        </p:spPr>
      </p:pic>
      <p:sp>
        <p:nvSpPr>
          <p:cNvPr id="7" name="TextBox 6"/>
          <p:cNvSpPr txBox="1"/>
          <p:nvPr/>
        </p:nvSpPr>
        <p:spPr>
          <a:xfrm>
            <a:off x="228600" y="2350008"/>
            <a:ext cx="393192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5212080" y="3456432"/>
            <a:ext cx="6629400" cy="1143000"/>
          </a:xfrm>
          <a:prstGeom prst="rect">
            <a:avLst/>
          </a:prstGeom>
        </p:spPr>
      </p:pic>
      <p:sp>
        <p:nvSpPr>
          <p:cNvPr id="9" name="TextBox 8"/>
          <p:cNvSpPr txBox="1"/>
          <p:nvPr/>
        </p:nvSpPr>
        <p:spPr>
          <a:xfrm>
            <a:off x="182880" y="3566160"/>
            <a:ext cx="3977639" cy="7244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5212080" y="4654296"/>
            <a:ext cx="6629400" cy="1143000"/>
          </a:xfrm>
          <a:prstGeom prst="rect">
            <a:avLst/>
          </a:prstGeom>
        </p:spPr>
      </p:pic>
      <p:sp>
        <p:nvSpPr>
          <p:cNvPr id="11" name="TextBox 10"/>
          <p:cNvSpPr txBox="1"/>
          <p:nvPr/>
        </p:nvSpPr>
        <p:spPr>
          <a:xfrm>
            <a:off x="182880" y="4764024"/>
            <a:ext cx="3977639"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5897880"/>
            <a:ext cx="11384280" cy="274320"/>
          </a:xfrm>
          <a:prstGeom prst="rect">
            <a:avLst/>
          </a:prstGeom>
          <a:noFill/>
        </p:spPr>
        <p:txBody>
          <a:bodyPr wrap="square">
            <a:spAutoFit/>
          </a:bodyPr>
          <a:lstStyle/>
          <a:p>
            <a:pPr>
              <a:spcAft>
                <a:spcPts val="600"/>
              </a:spcAft>
            </a:pPr>
            <a:r>
              <a:rPr sz="1000" b="0">
                <a:solidFill>
                  <a:srgbClr val="282828"/>
                </a:solidFill>
                <a:latin typeface="Arial"/>
              </a:rPr>
              <a:t>•  </a:t>
            </a:r>
            <a:r>
              <a:rPr sz="1000" b="1">
                <a:solidFill>
                  <a:srgbClr val="282828"/>
                </a:solidFill>
                <a:latin typeface="Arial"/>
              </a:rPr>
              <a:t>The stepped Zernike's 7.1 nm is a gain error, not noise:</a:t>
            </a:r>
            <a:r>
              <a:rPr sz="1000" b="0">
                <a:solidFill>
                  <a:srgbClr val="282828"/>
                </a:solidFill>
                <a:latin typeface="Arial"/>
              </a:rPr>
              <a:t> its inversion takes the reference wave's amplitude from the flat; on the 30 nm surface the focal core is weaker, so the raw map reads 22 % low (gain 0.78), shaped like the surface, and the matrix measured on the surface absorbs it (5 pm calibrated).  The vector pair's two simultaneous frames need no amplitude from the flat: gain 0.993.</a:t>
            </a:r>
          </a:p>
        </p:txBody>
      </p:sp>
      <p:sp>
        <p:nvSpPr>
          <p:cNvPr id="13" name="TextBox 12"/>
          <p:cNvSpPr txBox="1"/>
          <p:nvPr/>
        </p:nvSpPr>
        <p:spPr>
          <a:xfrm>
            <a:off x="411480" y="6355080"/>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the same DM command in all four (30 nm rms over the lattice, seed 7); the full figures are in the backup.  The interferometer's camera sees 25.8 nm rms of it, the sensors' 31: the detector legs image the pupil differently (the pupil-image slide), and each matrix is measured through its own train.  Runs redo96_oapstn2, stations193_oap.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one command line per gauge; every number in the deck is reproduced by the runners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zwfs_run (bench, battery, figures); zwfs_run('bench.optics','oap','readings',{'S','V','P'},'stages',{'bench','battery','noise','loop'}) for the mirror rig.</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and the shared dm_gauge_lib, branch dev-candidate; each directory's README carries the full command list and the run-tag index.  A model-1024 run needs about 11 GB.</a:t>
            </a:r>
          </a:p>
        </p:txBody>
      </p:sp>
      <p:sp>
        <p:nvSpPr>
          <p:cNvPr id="6" name="TextBox 5"/>
          <p:cNvSpPr txBox="1"/>
          <p:nvPr/>
        </p:nvSpPr>
        <p:spPr>
          <a:xfrm>
            <a:off x="6400800" y="3877056"/>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551/0 (2026-10-06).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226862" y="1298448"/>
            <a:ext cx="9737969"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350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eighth column is the hybrid's piezo four-step on the same frames' fields: 0.01 pm, gain 1.0000 on both rigs -- the snapshot's gain is a polarization term and the piezo leg is its calibration.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