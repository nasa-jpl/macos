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37.xml.rels" ContentType="application/vnd.openxmlformats-package.relationships+xml"/>
  <Override PartName="/ppt/slides/_rels/slide54.xml.rels" ContentType="application/vnd.openxmlformats-package.relationships+xml"/>
  <Override PartName="/ppt/slides/_rels/slide42.xml.rels" ContentType="application/vnd.openxmlformats-package.relationships+xml"/>
  <Override PartName="/ppt/slides/_rels/slide53.xml.rels" ContentType="application/vnd.openxmlformats-package.relationships+xml"/>
  <Override PartName="/ppt/slides/_rels/slide52.xml.rels" ContentType="application/vnd.openxmlformats-package.relationships+xml"/>
  <Override PartName="/ppt/slides/_rels/slide51.xml.rels" ContentType="application/vnd.openxmlformats-package.relationships+xml"/>
  <Override PartName="/ppt/slides/_rels/slide13.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2.xml.rels" ContentType="application/vnd.openxmlformats-package.relationships+xml"/>
  <Override PartName="/ppt/slides/_rels/slide49.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50.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42.xml" ContentType="application/vnd.openxmlformats-officedocument.presentationml.slide+xml"/>
  <Override PartName="/ppt/slides/slide54.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25.png" ContentType="image/png"/>
  <Override PartName="/ppt/media/image24.png" ContentType="image/png"/>
  <Override PartName="/ppt/media/image23.png" ContentType="image/png"/>
  <Override PartName="/ppt/media/image22.png" ContentType="image/png"/>
  <Override PartName="/ppt/media/image21.png" ContentType="image/png"/>
  <Override PartName="/ppt/media/image19.png" ContentType="image/png"/>
  <Override PartName="/ppt/media/image5.png" ContentType="image/png"/>
  <Override PartName="/ppt/media/image14.png" ContentType="image/png"/>
  <Override PartName="/ppt/media/image6.png" ContentType="image/png"/>
  <Override PartName="/ppt/media/image15.png" ContentType="image/png"/>
  <Override PartName="/ppt/media/image10.png" ContentType="image/png"/>
  <Override PartName="/ppt/media/image1.png" ContentType="image/png"/>
  <Override PartName="/ppt/media/image7.png" ContentType="image/png"/>
  <Override PartName="/ppt/media/image16.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74248D85-B7C4-4CD8-B719-B8A0EA80A151}"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0555F24C-1F78-4140-B5C6-7C7EB93AACA0}"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3DC45F78-5023-4CE2-81B7-478F9B8D2984}"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12461CA8-9094-4106-8A4B-357E26444776}"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640B9782-103A-43CB-B5B7-162C79CDBE22}"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14A55A1C-1465-4716-A91F-6C3861650D67}"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E5F387E0-14C4-4094-BF37-4CDC98994B8D}"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23776B04-EF59-4F49-BD0D-F0477B7B155F}"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0F4C6EE6-43BD-44DE-82DC-022340B88F88}"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011F737E-6EC5-4979-A65E-40552B6C4BBB}"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D387BBBC-E1DB-46D7-A846-50DD365877C6}"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a:t>
            </a:r>
            <a:r>
              <a:rPr b="0" lang="en-US" sz="4400" spc="-1" strike="noStrike">
                <a:solidFill>
                  <a:schemeClr val="dk1"/>
                </a:solidFill>
                <a:latin typeface="Calibri"/>
              </a:rPr>
              <a:t>edit </a:t>
            </a:r>
            <a:r>
              <a:rPr b="0" lang="en-US" sz="4400" spc="-1" strike="noStrike">
                <a:solidFill>
                  <a:schemeClr val="dk1"/>
                </a:solidFill>
                <a:latin typeface="Calibri"/>
              </a:rPr>
              <a:t>Mast</a:t>
            </a:r>
            <a:r>
              <a:rPr b="0" lang="en-US" sz="4400" spc="-1" strike="noStrike">
                <a:solidFill>
                  <a:schemeClr val="dk1"/>
                </a:solidFill>
                <a:latin typeface="Calibri"/>
              </a:rPr>
              <a: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 </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F34A703-2240-4587-81A7-048731B67638}" type="slidenum">
              <a:rPr b="0" lang="en-US" sz="1200" spc="-1" strike="noStrike">
                <a:solidFill>
                  <a:schemeClr val="dk1">
                    <a:tint val="75000"/>
                  </a:schemeClr>
                </a:solidFill>
                <a:latin typeface="Calibri"/>
              </a:rPr>
              <a:t>54</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a:t>
            </a:r>
            <a:r>
              <a:rPr b="0" lang="en-US" sz="4400" spc="-1" strike="noStrike">
                <a:solidFill>
                  <a:schemeClr val="dk1"/>
                </a:solidFill>
                <a:latin typeface="Calibri"/>
              </a:rPr>
              <a:t>edit </a:t>
            </a:r>
            <a:r>
              <a:rPr b="0" lang="en-US" sz="4400" spc="-1" strike="noStrike">
                <a:solidFill>
                  <a:schemeClr val="dk1"/>
                </a:solidFill>
                <a:latin typeface="Calibri"/>
              </a:rPr>
              <a:t>Mast</a:t>
            </a:r>
            <a:r>
              <a:rPr b="0" lang="en-US" sz="4400" spc="-1" strike="noStrike">
                <a:solidFill>
                  <a:schemeClr val="dk1"/>
                </a:solidFill>
                <a:latin typeface="Calibri"/>
              </a:rPr>
              <a: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FCBF99C-4A06-4E6D-800A-A3AAE5A14E5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a:t>
            </a:r>
            <a:r>
              <a:rPr b="0" lang="en-US" sz="4400" spc="-1" strike="noStrike">
                <a:solidFill>
                  <a:schemeClr val="dk1"/>
                </a:solidFill>
                <a:latin typeface="Calibri"/>
              </a:rPr>
              <a:t>l</a:t>
            </a:r>
            <a:r>
              <a:rPr b="0" lang="en-US" sz="4400" spc="-1" strike="noStrike">
                <a:solidFill>
                  <a:schemeClr val="dk1"/>
                </a:solidFill>
                <a:latin typeface="Calibri"/>
              </a:rPr>
              <a:t>i</a:t>
            </a:r>
            <a:r>
              <a:rPr b="0" lang="en-US" sz="4400" spc="-1" strike="noStrike">
                <a:solidFill>
                  <a:schemeClr val="dk1"/>
                </a:solidFill>
                <a:latin typeface="Calibri"/>
              </a:rPr>
              <a:t>c</a:t>
            </a:r>
            <a:r>
              <a:rPr b="0" lang="en-US" sz="4400" spc="-1" strike="noStrike">
                <a:solidFill>
                  <a:schemeClr val="dk1"/>
                </a:solidFill>
                <a:latin typeface="Calibri"/>
              </a:rPr>
              <a:t>k</a:t>
            </a:r>
            <a:r>
              <a:rPr b="0" lang="en-US" sz="4400" spc="-1" strike="noStrike">
                <a:solidFill>
                  <a:schemeClr val="dk1"/>
                </a:solidFill>
                <a:latin typeface="Calibri"/>
              </a:rPr>
              <a:t> </a:t>
            </a:r>
            <a:r>
              <a:rPr b="0" lang="en-US" sz="4400" spc="-1" strike="noStrike">
                <a:solidFill>
                  <a:schemeClr val="dk1"/>
                </a:solidFill>
                <a:latin typeface="Calibri"/>
              </a:rPr>
              <a:t>t</a:t>
            </a:r>
            <a:r>
              <a:rPr b="0" lang="en-US" sz="4400" spc="-1" strike="noStrike">
                <a:solidFill>
                  <a:schemeClr val="dk1"/>
                </a:solidFill>
                <a:latin typeface="Calibri"/>
              </a:rPr>
              <a:t>o</a:t>
            </a:r>
            <a:r>
              <a:rPr b="0" lang="en-US" sz="4400" spc="-1" strike="noStrike">
                <a:solidFill>
                  <a:schemeClr val="dk1"/>
                </a:solidFill>
                <a:latin typeface="Calibri"/>
              </a:rPr>
              <a:t> </a:t>
            </a:r>
            <a:r>
              <a:rPr b="0" lang="en-US" sz="4400" spc="-1" strike="noStrike">
                <a:solidFill>
                  <a:schemeClr val="dk1"/>
                </a:solidFill>
                <a:latin typeface="Calibri"/>
              </a:rPr>
              <a:t>e</a:t>
            </a:r>
            <a:r>
              <a:rPr b="0" lang="en-US" sz="4400" spc="-1" strike="noStrike">
                <a:solidFill>
                  <a:schemeClr val="dk1"/>
                </a:solidFill>
                <a:latin typeface="Calibri"/>
              </a:rPr>
              <a:t>d</a:t>
            </a:r>
            <a:r>
              <a:rPr b="0" lang="en-US" sz="4400" spc="-1" strike="noStrike">
                <a:solidFill>
                  <a:schemeClr val="dk1"/>
                </a:solidFill>
                <a:latin typeface="Calibri"/>
              </a:rPr>
              <a:t>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e</a:t>
            </a:r>
            <a:r>
              <a:rPr b="0" lang="en-US" sz="4400" spc="-1" strike="noStrike">
                <a:solidFill>
                  <a:schemeClr val="dk1"/>
                </a:solidFill>
                <a:latin typeface="Calibri"/>
              </a:rPr>
              <a:t>r </a:t>
            </a:r>
            <a:r>
              <a:rPr b="0" lang="en-US" sz="4400" spc="-1" strike="noStrike">
                <a:solidFill>
                  <a:schemeClr val="dk1"/>
                </a:solidFill>
                <a:latin typeface="Calibri"/>
              </a:rPr>
              <a:t>t</a:t>
            </a:r>
            <a:r>
              <a:rPr b="0" lang="en-US" sz="4400" spc="-1" strike="noStrike">
                <a:solidFill>
                  <a:schemeClr val="dk1"/>
                </a:solidFill>
                <a:latin typeface="Calibri"/>
              </a:rPr>
              <a:t>i</a:t>
            </a:r>
            <a:r>
              <a:rPr b="0" lang="en-US" sz="4400" spc="-1" strike="noStrike">
                <a:solidFill>
                  <a:schemeClr val="dk1"/>
                </a:solidFill>
                <a:latin typeface="Calibri"/>
              </a:rPr>
              <a:t>t</a:t>
            </a:r>
            <a:r>
              <a:rPr b="0" lang="en-US" sz="4400" spc="-1" strike="noStrike">
                <a:solidFill>
                  <a:schemeClr val="dk1"/>
                </a:solidFill>
                <a:latin typeface="Calibri"/>
              </a:rPr>
              <a:t>l</a:t>
            </a:r>
            <a:r>
              <a:rPr b="0" lang="en-US" sz="4400" spc="-1" strike="noStrike">
                <a:solidFill>
                  <a:schemeClr val="dk1"/>
                </a:solidFill>
                <a:latin typeface="Calibri"/>
              </a:rPr>
              <a:t>e</a:t>
            </a:r>
            <a:r>
              <a:rPr b="0" lang="en-US" sz="4400" spc="-1" strike="noStrike">
                <a:solidFill>
                  <a:schemeClr val="dk1"/>
                </a:solidFill>
                <a:latin typeface="Calibri"/>
              </a:rPr>
              <a:t> </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y</a:t>
            </a:r>
            <a:r>
              <a:rPr b="0" lang="en-US" sz="4400" spc="-1" strike="noStrike">
                <a:solidFill>
                  <a:schemeClr val="dk1"/>
                </a:solidFill>
                <a:latin typeface="Calibri"/>
              </a:rPr>
              <a:t>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F91F872-5B02-4AAC-82E9-71CA41F73E5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a:t>
            </a:r>
            <a:r>
              <a:rPr b="0" lang="en-US" sz="4400" spc="-1" strike="noStrike">
                <a:solidFill>
                  <a:schemeClr val="dk1"/>
                </a:solidFill>
                <a:latin typeface="Calibri"/>
              </a:rPr>
              <a:t>edit </a:t>
            </a:r>
            <a:r>
              <a:rPr b="0" lang="en-US" sz="4400" spc="-1" strike="noStrike">
                <a:solidFill>
                  <a:schemeClr val="dk1"/>
                </a:solidFill>
                <a:latin typeface="Calibri"/>
              </a:rPr>
              <a:t>Mast</a:t>
            </a:r>
            <a:r>
              <a:rPr b="0" lang="en-US" sz="4400" spc="-1" strike="noStrike">
                <a:solidFill>
                  <a:schemeClr val="dk1"/>
                </a:solidFill>
                <a:latin typeface="Calibri"/>
              </a:rPr>
              <a: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8B74BB8-3F27-4741-932F-7C0AD4668F6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a:t>
            </a:r>
            <a:r>
              <a:rPr b="1" lang="en-US" sz="4000" spc="-1" strike="noStrike" cap="all">
                <a:solidFill>
                  <a:schemeClr val="dk1"/>
                </a:solidFill>
                <a:latin typeface="Calibri"/>
              </a:rPr>
              <a:t>k to </a:t>
            </a:r>
            <a:r>
              <a:rPr b="1" lang="en-US" sz="4000" spc="-1" strike="noStrike" cap="all">
                <a:solidFill>
                  <a:schemeClr val="dk1"/>
                </a:solidFill>
                <a:latin typeface="Calibri"/>
              </a:rPr>
              <a:t>edit </a:t>
            </a:r>
            <a:r>
              <a:rPr b="1" lang="en-US" sz="4000" spc="-1" strike="noStrike" cap="all">
                <a:solidFill>
                  <a:schemeClr val="dk1"/>
                </a:solidFill>
                <a:latin typeface="Calibri"/>
              </a:rPr>
              <a:t>Mas</a:t>
            </a:r>
            <a:r>
              <a:rPr b="1" lang="en-US" sz="4000" spc="-1" strike="noStrike" cap="all">
                <a:solidFill>
                  <a:schemeClr val="dk1"/>
                </a:solidFill>
                <a:latin typeface="Calibri"/>
              </a:rPr>
              <a:t>ter </a:t>
            </a:r>
            <a:r>
              <a:rPr b="1" lang="en-US" sz="4000" spc="-1" strike="noStrike" cap="all">
                <a:solidFill>
                  <a:schemeClr val="dk1"/>
                </a:solidFill>
                <a:latin typeface="Calibri"/>
              </a:rPr>
              <a:t>title </a:t>
            </a:r>
            <a:r>
              <a:rPr b="1" lang="en-US" sz="4000" spc="-1" strike="noStrike" cap="all">
                <a:solidFill>
                  <a:schemeClr val="dk1"/>
                </a:solidFill>
                <a:latin typeface="Calibri"/>
              </a:rPr>
              <a:t>styl</a:t>
            </a:r>
            <a:r>
              <a:rPr b="1" lang="en-US" sz="4000" spc="-1" strike="noStrike" cap="all">
                <a:solidFill>
                  <a:schemeClr val="dk1"/>
                </a:solidFill>
                <a:latin typeface="Calibri"/>
              </a:rPr>
              <a:t>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8362F8D-CB5A-4925-AF24-5D2F47325D6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a:t>
            </a:r>
            <a:r>
              <a:rPr b="0" lang="en-US" sz="4400" spc="-1" strike="noStrike">
                <a:solidFill>
                  <a:schemeClr val="dk1"/>
                </a:solidFill>
                <a:latin typeface="Calibri"/>
              </a:rPr>
              <a:t>edit </a:t>
            </a:r>
            <a:r>
              <a:rPr b="0" lang="en-US" sz="4400" spc="-1" strike="noStrike">
                <a:solidFill>
                  <a:schemeClr val="dk1"/>
                </a:solidFill>
                <a:latin typeface="Calibri"/>
              </a:rPr>
              <a:t>Mast</a:t>
            </a:r>
            <a:r>
              <a:rPr b="0" lang="en-US" sz="4400" spc="-1" strike="noStrike">
                <a:solidFill>
                  <a:schemeClr val="dk1"/>
                </a:solidFill>
                <a:latin typeface="Calibri"/>
              </a:rPr>
              <a: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349D8C29-70D4-4847-8997-4BFF8B0BFB9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a:t>
            </a:r>
            <a:r>
              <a:rPr b="0" lang="en-US" sz="4400" spc="-1" strike="noStrike">
                <a:solidFill>
                  <a:schemeClr val="dk1"/>
                </a:solidFill>
                <a:latin typeface="Calibri"/>
              </a:rPr>
              <a:t>edit </a:t>
            </a:r>
            <a:r>
              <a:rPr b="0" lang="en-US" sz="4400" spc="-1" strike="noStrike">
                <a:solidFill>
                  <a:schemeClr val="dk1"/>
                </a:solidFill>
                <a:latin typeface="Calibri"/>
              </a:rPr>
              <a:t>Mast</a:t>
            </a:r>
            <a:r>
              <a:rPr b="0" lang="en-US" sz="4400" spc="-1" strike="noStrike">
                <a:solidFill>
                  <a:schemeClr val="dk1"/>
                </a:solidFill>
                <a:latin typeface="Calibri"/>
              </a:rPr>
              <a: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A0A2E006-C1CE-4E47-A888-AFBCB249C27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a:t>
            </a:r>
            <a:r>
              <a:rPr b="0" lang="en-US" sz="4400" spc="-1" strike="noStrike">
                <a:solidFill>
                  <a:schemeClr val="dk1"/>
                </a:solidFill>
                <a:latin typeface="Calibri"/>
              </a:rPr>
              <a:t>edit </a:t>
            </a:r>
            <a:r>
              <a:rPr b="0" lang="en-US" sz="4400" spc="-1" strike="noStrike">
                <a:solidFill>
                  <a:schemeClr val="dk1"/>
                </a:solidFill>
                <a:latin typeface="Calibri"/>
              </a:rPr>
              <a:t>Mast</a:t>
            </a:r>
            <a:r>
              <a:rPr b="0" lang="en-US" sz="4400" spc="-1" strike="noStrike">
                <a:solidFill>
                  <a:schemeClr val="dk1"/>
                </a:solidFill>
                <a:latin typeface="Calibri"/>
              </a:rPr>
              <a: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5A363AF-AE79-4E3E-9285-5EE46F65365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2260993E-8F40-407A-B62C-C676DFE2788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a:t>
            </a:r>
            <a:r>
              <a:rPr b="0" lang="en-US" sz="1800" spc="-1" strike="noStrike">
                <a:solidFill>
                  <a:schemeClr val="dk1"/>
                </a:solidFill>
                <a:latin typeface="Calibri"/>
              </a:rPr>
              <a:t>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a:t>
            </a:r>
            <a:r>
              <a:rPr b="1" lang="en-US" sz="2000" spc="-1" strike="noStrike">
                <a:solidFill>
                  <a:schemeClr val="dk1"/>
                </a:solidFill>
                <a:latin typeface="Calibri"/>
              </a:rPr>
              <a:t>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5CECF619-D937-42F0-AC59-E2882C78E0B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a:t>
            </a:r>
            <a:r>
              <a:rPr b="1" lang="en-US" sz="2000" spc="-1" strike="noStrike">
                <a:solidFill>
                  <a:schemeClr val="dk1"/>
                </a:solidFill>
                <a:latin typeface="Calibri"/>
              </a:rPr>
              <a:t>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1E46D95B-6D51-46B4-802F-EB4C84275D7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9.xml"/>
</Relationships>
</file>

<file path=ppt/slides/_rels/slide3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8.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9.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5.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9.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9.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9.xml"/>
</Relationships>
</file>

<file path=ppt/slides/_rels/slide50.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9.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TextBox 1"/>
          <p:cNvSpPr/>
          <p:nvPr/>
        </p:nvSpPr>
        <p:spPr>
          <a:xfrm>
            <a:off x="822960" y="1737360"/>
            <a:ext cx="10545480" cy="3720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4000" spc="-1" strike="noStrike">
                <a:solidFill>
                  <a:srgbClr val="1f4e79"/>
                </a:solidFill>
                <a:latin typeface="Arial"/>
              </a:rPr>
              <a:t>DM Surface Gauge Comparison</a:t>
            </a:r>
            <a:endParaRPr b="0" lang="en-US" sz="4000" spc="-1" strike="noStrike">
              <a:solidFill>
                <a:srgbClr val="000000"/>
              </a:solidFill>
              <a:latin typeface="Arial"/>
            </a:endParaRPr>
          </a:p>
          <a:p>
            <a:pPr defTabSz="457200">
              <a:lnSpc>
                <a:spcPct val="100000"/>
              </a:lnSpc>
              <a:spcAft>
                <a:spcPts val="1400"/>
              </a:spcAft>
            </a:pPr>
            <a:r>
              <a:rPr b="0" lang="en-US" sz="2200" spc="-1" strike="noStrike">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endParaRPr b="0" lang="en-US" sz="22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 C. Redding, with Claude Code.</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October 2026.  For the JPL HWO WFS&amp;C discussion group, 2026-10-08.</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Every number here comes from a committed run of one shared, parameterized model (MACOS, mmacos); the run tags are on the provenance slide.</a:t>
            </a:r>
            <a:endParaRPr b="0" lang="en-US" sz="1500" spc="-1" strike="noStrike">
              <a:solidFill>
                <a:srgbClr val="000000"/>
              </a:solidFill>
              <a:latin typeface="Arial"/>
            </a:endParaRPr>
          </a:p>
        </p:txBody>
      </p:sp>
      <p:sp>
        <p:nvSpPr>
          <p:cNvPr id="68" name="TextBox 2"/>
          <p:cNvSpPr/>
          <p:nvPr/>
        </p:nvSpPr>
        <p:spPr>
          <a:xfrm>
            <a:off x="822960" y="5486400"/>
            <a:ext cx="10545480" cy="91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chemeClr val="dk1"/>
              </a:solidFill>
              <a:latin typeface="Calibri"/>
            </a:endParaRPr>
          </a:p>
        </p:txBody>
      </p:sp>
      <p:sp>
        <p:nvSpPr>
          <p:cNvPr id="69" name="TextBox 3"/>
          <p:cNvSpPr/>
          <p:nvPr/>
        </p:nvSpPr>
        <p:spPr>
          <a:xfrm>
            <a:off x="813960" y="6309360"/>
            <a:ext cx="10542600" cy="234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950" spc="-1" strike="noStrike">
                <a:solidFill>
                  <a:srgbClr val="6e6e6e"/>
                </a:solidFill>
                <a:latin typeface="Arial"/>
              </a:rPr>
              <a:t>This document has been reviewed and determined not to contain export-controlled information</a:t>
            </a:r>
            <a:endParaRPr b="0" lang="en-US" sz="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optical bench to demo 4 surface gauges, in mirror and lens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Comparing accuracy, precision, repeatability and hold, for interferometers, scalar and vector Zernike WF sensors, and a point-diffraction sensor, photon noise driven</a:t>
            </a:r>
            <a:endParaRPr b="0" lang="en-US" sz="1250" spc="-1" strike="noStrike">
              <a:solidFill>
                <a:srgbClr val="000000"/>
              </a:solidFill>
              <a:latin typeface="Arial"/>
            </a:endParaRPr>
          </a:p>
        </p:txBody>
      </p:sp>
      <p:sp>
        <p:nvSpPr>
          <p:cNvPr id="7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72" name="Table 3"/>
          <p:cNvGraphicFramePr/>
          <p:nvPr/>
        </p:nvGraphicFramePr>
        <p:xfrm>
          <a:off x="411480" y="1298520"/>
          <a:ext cx="11368440" cy="2936880"/>
        </p:xfrm>
        <a:graphic>
          <a:graphicData uri="http://schemas.openxmlformats.org/drawingml/2006/table">
            <a:tbl>
              <a:tblPr/>
              <a:tblGrid>
                <a:gridCol w="1450440"/>
                <a:gridCol w="6076080"/>
                <a:gridCol w="1920600"/>
                <a:gridCol w="192060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the claim (interferometer, both rigs)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means here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mirror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accuracy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10 nm change on one actuator, read through the matrix measured on the 30 nm surface: gain (error) / floor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(0.4 %) / 1.4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(1.4 %) / 2.3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raw map of the 30 nm surface against the engine's field at the camera, before any calibration: the polarization snapshot / the hybrid's piezo four-step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 (392 pm), gain 0.993 / 0.01 pm, gain 1.0000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1.8 % (551 pm), gain 0.987 / 0.01 pm, gain 1.0000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of which the pupil imaging, piston and tilt removed; in the top spatial band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0.13 % (42 pm); 0.5 %</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0.29 % (92 pm); 0.9 %</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precision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measurement, photon-limited, at 1e14 / 1e15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 / 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 / 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repeatability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surface held in a servo, rms over 30 cycles, same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1.4 / 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 0.4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photons per cycle to keep the surface inside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under a 2 pm per actuator per cycle random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3" name="TextBox 4"/>
          <p:cNvSpPr/>
          <p:nvPr/>
        </p:nvSpPr>
        <p:spPr>
          <a:xfrm>
            <a:off x="411480" y="4127040"/>
            <a:ext cx="11368440" cy="2164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Picometer measurement is photon-limited, not bench-limited.</a:t>
            </a:r>
            <a:r>
              <a:rPr b="0" lang="en-US" sz="1100" spc="-1" strike="noStrike">
                <a:solidFill>
                  <a:srgbClr val="282828"/>
                </a:solidFill>
                <a:latin typeface="Arial"/>
              </a:rPr>
              <a:t>  One measurement at 1e15 photons — 0.31 mJ, 1.3 s of a 1 mW laser — repeats to 0.7 pm, and a servo fed at that rate holds under half a picometer; both front ends agree within 10 %.</a:t>
            </a:r>
            <a:endParaRPr b="0" lang="en-US" sz="1100" spc="-1" strike="noStrike">
              <a:solidFill>
                <a:srgbClr val="000000"/>
              </a:solidFill>
              <a:latin typeface="Arial"/>
            </a:endParaRPr>
          </a:p>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Steeves et al. (2020, Optica 7, 1267) demonstrate 1.6 pm in 4.3 s on a real interferometer:</a:t>
            </a:r>
            <a:r>
              <a:rPr b="0" lang="en-US" sz="1100" spc="-1" strike="noStrike">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endParaRPr b="0" lang="en-US" sz="1100" spc="-1" strike="noStrike">
              <a:solidFill>
                <a:srgbClr val="000000"/>
              </a:solidFill>
              <a:latin typeface="Arial"/>
            </a:endParaRPr>
          </a:p>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Accuracy is a gain: systematic and proportional to the figure read.</a:t>
            </a:r>
            <a:r>
              <a:rPr b="0" lang="en-US" sz="1100" spc="-1" strike="noStrike">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endParaRPr b="0" lang="en-US" sz="1100" spc="-1" strike="noStrike">
              <a:solidFill>
                <a:srgbClr val="000000"/>
              </a:solidFill>
              <a:latin typeface="Arial"/>
            </a:endParaRPr>
          </a:p>
          <a:p>
            <a:pPr defTabSz="457200">
              <a:lnSpc>
                <a:spcPct val="100000"/>
              </a:lnSpc>
              <a:spcAft>
                <a:spcPts val="601"/>
              </a:spcAft>
            </a:pPr>
            <a:r>
              <a:rPr b="0" lang="en-US" sz="1100" spc="-1" strike="noStrike">
                <a:solidFill>
                  <a:srgbClr val="282828"/>
                </a:solidFill>
                <a:latin typeface="Arial"/>
              </a:rPr>
              <a:t>•  </a:t>
            </a:r>
            <a:r>
              <a:rPr b="1" lang="en-US" sz="1100" spc="-1" strike="noStrike">
                <a:solidFill>
                  <a:srgbClr val="282828"/>
                </a:solidFill>
                <a:latin typeface="Arial"/>
              </a:rPr>
              <a:t>One disturbance is not photon-limited:</a:t>
            </a:r>
            <a:r>
              <a:rPr b="0" lang="en-US" sz="1100" spc="-1" strike="noStrike">
                <a:solidFill>
                  <a:srgbClr val="282828"/>
                </a:solidFill>
                <a:latin typeface="Arial"/>
              </a:rPr>
              <a:t> under a 5 pm per cycle thermal ramp — a low-order change of the mirror's figure growing at a steady rate, the model's stand-in for a thermal drift of the DM; nothing in the bench or the sensor is given a temperature — the loop lags at rate ÷ (gain × response), about 10 pm, however many photons it is given: a cadence and thermal-control requirement, not a sensing one.</a:t>
            </a:r>
            <a:endParaRPr b="0" lang="en-US" sz="1100" spc="-1" strike="noStrike">
              <a:solidFill>
                <a:srgbClr val="000000"/>
              </a:solidFill>
              <a:latin typeface="Arial"/>
            </a:endParaRPr>
          </a:p>
        </p:txBody>
      </p:sp>
      <p:sp>
        <p:nvSpPr>
          <p:cNvPr id="74" name="TextBox 5"/>
          <p:cNvSpPr/>
          <p:nvPr/>
        </p:nvSpPr>
        <p:spPr>
          <a:xfrm>
            <a:off x="411480" y="6309360"/>
            <a:ext cx="11594160" cy="410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table is the interferometer's, the one gauge scored on both front ends; the three sensors, scored on the mirror rig, read within 1 % and 2 pm of it (the side-by-side slide).  Scope: gain / floor rows are single noiseless runs (systematics only); photon rows Monte Carlo, 6–24 realizations per level; servo rows one 60-cycle run per level, rms over the last 30, one drift realization for all.  </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three jobs, and how each is scored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Measure the mirror's surface to picometers; capture its post-launch shape, 100-200 nm of wavefront, into the servo's reach; hold it there in a servo</a:t>
            </a:r>
            <a:endParaRPr b="0" lang="en-US" sz="1250" spc="-1" strike="noStrike">
              <a:solidFill>
                <a:srgbClr val="000000"/>
              </a:solidFill>
              <a:latin typeface="Arial"/>
            </a:endParaRPr>
          </a:p>
        </p:txBody>
      </p:sp>
      <p:sp>
        <p:nvSpPr>
          <p:cNvPr id="7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77" name="TextBox 3"/>
          <p:cNvSpPr/>
          <p:nvPr/>
        </p:nvSpPr>
        <p:spPr>
          <a:xfrm>
            <a:off x="411480" y="1298520"/>
            <a:ext cx="5806080" cy="3947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The DM:</a:t>
            </a:r>
            <a:r>
              <a:rPr b="0" lang="en-US" sz="1400" spc="-1" strike="noStrike">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1, measure:</a:t>
            </a:r>
            <a:r>
              <a:rPr b="0" lang="en-US" sz="1400" spc="-1" strike="noStrike">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2, capture:</a:t>
            </a:r>
            <a:r>
              <a:rPr b="0" lang="en-US" sz="1400" spc="-1" strike="noStrike">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3, hold:</a:t>
            </a:r>
            <a:r>
              <a:rPr b="0" lang="en-US" sz="1400" spc="-1" strike="noStrike">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endParaRPr b="0" lang="en-US" sz="1400" spc="-1" strike="noStrike">
              <a:solidFill>
                <a:srgbClr val="000000"/>
              </a:solidFill>
              <a:latin typeface="Arial"/>
            </a:endParaRPr>
          </a:p>
        </p:txBody>
      </p:sp>
      <p:graphicFrame>
        <p:nvGraphicFramePr>
          <p:cNvPr id="78" name="Table 4"/>
          <p:cNvGraphicFramePr/>
          <p:nvPr/>
        </p:nvGraphicFramePr>
        <p:xfrm>
          <a:off x="6400800" y="1298520"/>
          <a:ext cx="5394600" cy="2908080"/>
        </p:xfrm>
        <a:graphic>
          <a:graphicData uri="http://schemas.openxmlformats.org/drawingml/2006/table">
            <a:tbl>
              <a:tblPr/>
              <a:tblGrid>
                <a:gridCol w="843840"/>
                <a:gridCol w="455076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score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meaning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gain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true change; 1.0 is perfect; quoted after calibration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floor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rms of the actuators that were not changed, in picometers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SNR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floor; above 5 counts as detected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photons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all frames of one measurement summed; 1e14 photons at 633 nm = 31 µJ = 0.13 s of a 1 mW laser at 25% throughput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capture range to 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working surface at which a 10 nm change on the 47 sites reads within 10%, the matrix left as calibrated at 30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capture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starting surface the servo brings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hold, one number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that hold 3 pm rms in a 60-cycle loop at gain 0.5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9" name="TextBox 5"/>
          <p:cNvSpPr/>
          <p:nvPr/>
        </p:nvSpPr>
        <p:spPr>
          <a:xfrm>
            <a:off x="6400800" y="423360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Measuring a change costs two measurements.  The 96×96 at 385 detector pixels per pupil is the flight-like sampling; most rows here are at 193 pixels, which the sampling study showed reads the same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two forms, four ways of sensing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endParaRPr b="0" lang="en-US" sz="1250" spc="-1" strike="noStrike">
              <a:solidFill>
                <a:srgbClr val="000000"/>
              </a:solidFill>
              <a:latin typeface="Arial"/>
            </a:endParaRPr>
          </a:p>
        </p:txBody>
      </p:sp>
      <p:sp>
        <p:nvSpPr>
          <p:cNvPr id="8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82" name="Picture 3" descr="crop_bench_bs22_train.png"/>
          <p:cNvPicPr/>
          <p:nvPr/>
        </p:nvPicPr>
        <p:blipFill>
          <a:blip r:embed="rId1"/>
          <a:stretch/>
        </p:blipFill>
        <p:spPr>
          <a:xfrm>
            <a:off x="749880" y="1216080"/>
            <a:ext cx="4717800" cy="2349720"/>
          </a:xfrm>
          <a:prstGeom prst="rect">
            <a:avLst/>
          </a:prstGeom>
          <a:ln w="0">
            <a:noFill/>
          </a:ln>
        </p:spPr>
      </p:pic>
      <p:sp>
        <p:nvSpPr>
          <p:cNvPr id="83" name="TextBox 4"/>
          <p:cNvSpPr/>
          <p:nvPr/>
        </p:nvSpPr>
        <p:spPr>
          <a:xfrm>
            <a:off x="365760" y="342000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diverge.</a:t>
            </a:r>
            <a:endParaRPr b="0" lang="en-US" sz="1000" spc="-1" strike="noStrike">
              <a:solidFill>
                <a:srgbClr val="000000"/>
              </a:solidFill>
              <a:latin typeface="Arial"/>
            </a:endParaRPr>
          </a:p>
        </p:txBody>
      </p:sp>
      <p:pic>
        <p:nvPicPr>
          <p:cNvPr id="84" name="Picture 5" descr="crop_lay96_oap_train.png"/>
          <p:cNvPicPr/>
          <p:nvPr/>
        </p:nvPicPr>
        <p:blipFill>
          <a:blip r:embed="rId2"/>
          <a:stretch/>
        </p:blipFill>
        <p:spPr>
          <a:xfrm>
            <a:off x="7680960" y="1298520"/>
            <a:ext cx="2322360" cy="2121120"/>
          </a:xfrm>
          <a:prstGeom prst="rect">
            <a:avLst/>
          </a:prstGeom>
          <a:ln w="0">
            <a:noFill/>
          </a:ln>
        </p:spPr>
      </p:pic>
      <p:sp>
        <p:nvSpPr>
          <p:cNvPr id="85" name="TextBox 6"/>
          <p:cNvSpPr/>
          <p:nvPr/>
        </p:nvSpPr>
        <p:spPr>
          <a:xfrm>
            <a:off x="6355080" y="3420000"/>
            <a:ext cx="539460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endParaRPr b="0" lang="en-US" sz="1000" spc="-1" strike="noStrike">
              <a:solidFill>
                <a:srgbClr val="000000"/>
              </a:solidFill>
              <a:latin typeface="Arial"/>
            </a:endParaRPr>
          </a:p>
        </p:txBody>
      </p:sp>
      <p:graphicFrame>
        <p:nvGraphicFramePr>
          <p:cNvPr id="86" name="Table 7"/>
          <p:cNvGraphicFramePr/>
          <p:nvPr/>
        </p:nvGraphicFramePr>
        <p:xfrm>
          <a:off x="438840" y="4151520"/>
          <a:ext cx="11365560" cy="2658960"/>
        </p:xfrm>
        <a:graphic>
          <a:graphicData uri="http://schemas.openxmlformats.org/drawingml/2006/table">
            <a:tbl>
              <a:tblPr/>
              <a:tblGrid>
                <a:gridCol w="1235880"/>
                <a:gridCol w="3634560"/>
                <a:gridCol w="649512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lenses (L1, L2: 103 mm singlets)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parabolas (OAP1 20°, OAP2 25°)</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 axis, no polarization from folds; inexpensive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034280">
                <a:tc>
                  <a:txBody>
                    <a:bodyPr lIns="54720" rIns="54720" tIns="18000" bIns="18000" anchor="t">
                      <a:noAutofit/>
                    </a:bodyPr>
                    <a:p>
                      <a:pPr defTabSz="457200">
                        <a:lnSpc>
                          <a:spcPct val="100000"/>
                        </a:lnSpc>
                      </a:pPr>
                      <a:r>
                        <a:rPr b="0" lang="en-US" sz="1100" spc="-1" strike="noStrike">
                          <a:solidFill>
                            <a:srgbClr val="282828"/>
                          </a:solidFill>
                          <a:latin typeface="Arial"/>
                        </a:rPr>
                        <a:t>against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color at a time; each plate in the converging beam adds aberration (0.03 wave per 2 mm); the detector leg reaches its best focus only after a numerical adjustment; faces need anti-reflection coating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where it stands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reads 1.004 / 1.4 pm on a 10 nm change; holds 3 pm from 2.3e13 photons per cycle; captures from 200 nm to 3.1 pm in 60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reads 0.986 / 2.3 pm; holds 3 pm from 2.0e13; captures from 200 nm in 24 cycles; the pinhole and the calibrated vector pair pass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87" name="TextBox 8"/>
          <p:cNvSpPr/>
          <p:nvPr/>
        </p:nvSpPr>
        <p:spPr>
          <a:xfrm>
            <a:off x="411480" y="63640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common to every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Source, collimator and splitter node, then focuser, mask seat, field lens and camera, from the parameter sheet; the substrates are decided (10 mm splitter and compensator, 2 mm plates under every polarizing element, a 2 mm mask plate) and go into every deck</a:t>
            </a:r>
            <a:endParaRPr b="0" lang="en-US" sz="1250" spc="-1" strike="noStrike">
              <a:solidFill>
                <a:srgbClr val="000000"/>
              </a:solidFill>
              <a:latin typeface="Arial"/>
            </a:endParaRPr>
          </a:p>
        </p:txBody>
      </p:sp>
      <p:sp>
        <p:nvSpPr>
          <p:cNvPr id="8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90" name="Table 3"/>
          <p:cNvGraphicFramePr/>
          <p:nvPr/>
        </p:nvGraphicFramePr>
        <p:xfrm>
          <a:off x="411480" y="1298520"/>
          <a:ext cx="11368440" cy="4971600"/>
        </p:xfrm>
        <a:graphic>
          <a:graphicData uri="http://schemas.openxmlformats.org/drawingml/2006/table">
            <a:tbl>
              <a:tblPr/>
              <a:tblGrid>
                <a:gridCol w="2397960"/>
                <a:gridCol w="4149360"/>
                <a:gridCol w="2325600"/>
                <a:gridCol w="509400"/>
                <a:gridCol w="19857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laser, spatially filtered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HeNe 632.8 nm, 1 mW class; the source cone baffled to 59 mm radius, overfilling the mirror by 11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source; 1e14 photons per measurement is 0.13 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collimator: L1 or OAP1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L1 f 857 mm, 103 mm, plano-convex conic (R 427.3, −0.583), 5 mm center; OAP1 parent f 757 mm, 551 mm off-axis, 20° fold, 113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L1 AR; OAP1 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collimates onto the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plate splitter;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22.5°, 50/50, 10 mm thick (the glass shifts the transmitted beam 1.39 mm, flat null 0.13 → 20 nm); a matched plate in the mirror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50/50 front, AR back; 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 + 1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splits to the mirror and the reference arm; balances the glass path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deformable mirror; its aperture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96 × 96, 1 mm pitch, 96 mm, 700 mm leg; the 96 mm aperture at the actuator footprint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test object; the aperture is the stop, so the baffle never is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focuser: L2 or OAP2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L2 f 429 mm, 103 mm, plano-convex conic (−0.582), 8 mm center; OAP2 parent f 352 mm, 328 mm off-axis, 25° fold, 113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L2 AR; OAP2 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internal focus at F/4.2 where the masks sit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mask seat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translation stage at the internal focus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selects the sensor: clear window, dimple, metasurface,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 43 mm, 21 mm, a conic (−2.11 at the seed station 10.8 mm past the focus, or −7.77 tuned)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reimages the DM: 9.8 mm across, 38 mm behind 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sCMOS 2048 × 2048, 6.5 µm binned 4 to 377 px across the image; or 24 µm pixels unbinned (408)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configuration's pupil image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91" name="TextBox 4"/>
          <p:cNvSpPr/>
          <p:nvPr/>
        </p:nvSpPr>
        <p:spPr>
          <a:xfrm>
            <a:off x="411480" y="6416640"/>
            <a:ext cx="11368440" cy="410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Bench: 2 m × 1 m table, 103 mm mounts, 25 mm clearance.  Still to decide before ordering: the OAPs' overcoat thickness (a quarter wave of MgF2 at 632.8 nm, where it cancels rather than doubles the mirror's polarization term) and the field lens's conic (the seed station's, which images the mirror flat)</a:t>
            </a:r>
            <a:r>
              <a:rPr b="0" lang="en-US" sz="1050" spc="-1" strike="noStrike">
                <a:solidFill>
                  <a:srgbClr val="6e6e6e"/>
                </a:solidFill>
                <a:latin typeface="Arial"/>
              </a:rPr>
              <a:t>.  Reference-arm and sensor-specific parts: Backup.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Twyman-Green, four phase steps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Hybrid form: a polarization snapshot for every change measurement, a piezo four-step for the absolute calibration; the reference arm makes it the one gauge that captures a whole wave of figure</a:t>
            </a:r>
            <a:endParaRPr b="0" lang="en-US" sz="1250" spc="-1" strike="noStrike">
              <a:solidFill>
                <a:srgbClr val="000000"/>
              </a:solidFill>
              <a:latin typeface="Arial"/>
            </a:endParaRPr>
          </a:p>
        </p:txBody>
      </p:sp>
      <p:sp>
        <p:nvSpPr>
          <p:cNvPr id="9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94" name="TextBox 3"/>
          <p:cNvSpPr/>
          <p:nvPr/>
        </p:nvSpPr>
        <p:spPr>
          <a:xfrm>
            <a:off x="411480" y="1298520"/>
            <a:ext cx="5806080" cy="424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Reads:</a:t>
            </a:r>
            <a:r>
              <a:rPr b="0" lang="en-US" sz="1200" spc="-1" strike="noStrike">
                <a:solidFill>
                  <a:srgbClr val="282828"/>
                </a:solidFill>
                <a:latin typeface="Arial"/>
              </a:rPr>
              <a:t> the test beam from the mirror interferes with a flat's beam; four frames at four phase steps give the phase at every pixel.</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Frames per measurement: 4.</a:t>
            </a:r>
            <a:r>
              <a:rPr b="0" lang="en-US" sz="1200" spc="-1" strike="noStrike">
                <a:solidFill>
                  <a:srgbClr val="282828"/>
                </a:solidFill>
                <a:latin typeface="Arial"/>
              </a:rPr>
              <a:t>  Snapshot: the input polarizer at 45° and a double-passed quarter-wave plate in each arm return the two arms in orthogonal polarizations; an output quarter-wave plate turns their phase difference into the orientation of a linear state, and a polarization camera (a micro-polarizer array at 0 / 45 / 90 / 135° in 2 × 2 super-pixels) reads the four steps in one exposure.  Piezo: one camera, the flat stepped in time by λ/8 of surface.</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Reconstruction:</a:t>
            </a:r>
            <a:r>
              <a:rPr b="0" lang="en-US" sz="1200" spc="-1" strike="noStrike">
                <a:solidFill>
                  <a:srgbClr val="282828"/>
                </a:solidFill>
                <a:latin typeface="Arial"/>
              </a:rPr>
              <a:t> the four-step phase per pixel, atan2(I₂ − I₄, I₁ − I₃), wrapped against the flat's null; the map is then fitted by regularized least squares to the response matrix measured through the gauge (one poke per lit actuator, on the working surface), in actuator units, piston removed — the same last step for every gauge in this deck.</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Gets right:</a:t>
            </a:r>
            <a:r>
              <a:rPr b="0" lang="en-US" sz="1200" spc="-1" strike="noStrike">
                <a:solidFill>
                  <a:srgbClr val="282828"/>
                </a:solidFill>
                <a:latin typeface="Arial"/>
              </a:rPr>
              <a:t> an external reference, so it reads any figure (capture range 480 nm and beyond) and captures from 200 nm of wavefront with unwrapping alone.</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Gets wrong:</a:t>
            </a:r>
            <a:r>
              <a:rPr b="0" lang="en-US" sz="1200" spc="-1" strike="noStrike">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endParaRPr b="0" lang="en-US" sz="1200" spc="-1" strike="noStrike">
              <a:solidFill>
                <a:srgbClr val="000000"/>
              </a:solidFill>
              <a:latin typeface="Arial"/>
            </a:endParaRPr>
          </a:p>
          <a:p>
            <a:pPr defTabSz="457200">
              <a:lnSpc>
                <a:spcPct val="100000"/>
              </a:lnSpc>
              <a:spcAft>
                <a:spcPts val="499"/>
              </a:spcAft>
            </a:pPr>
            <a:r>
              <a:rPr b="0" lang="en-US" sz="1200" spc="-1" strike="noStrike">
                <a:solidFill>
                  <a:srgbClr val="282828"/>
                </a:solidFill>
                <a:latin typeface="Arial"/>
              </a:rPr>
              <a:t>•  </a:t>
            </a:r>
            <a:r>
              <a:rPr b="1" lang="en-US" sz="1200" spc="-1" strike="noStrike">
                <a:solidFill>
                  <a:srgbClr val="282828"/>
                </a:solidFill>
                <a:latin typeface="Arial"/>
              </a:rPr>
              <a:t>Scored, 30 nm surface, matrix on it:</a:t>
            </a:r>
            <a:r>
              <a:rPr b="0" lang="en-US" sz="1200" spc="-1" strike="noStrike">
                <a:solidFill>
                  <a:srgbClr val="282828"/>
                </a:solidFill>
                <a:latin typeface="Arial"/>
              </a:rPr>
              <a:t> 10 nm change at gain 1.004 / 1.4 pm (lens), 0.986 / 2.3 pm (mirror); holds 3 pm from 2.3e13 / 2.0e13 photons per cycle; the servo's noiseless step settles to 0.015 / 2.8 pm.</a:t>
            </a:r>
            <a:endParaRPr b="0" lang="en-US" sz="1200" spc="-1" strike="noStrike">
              <a:solidFill>
                <a:srgbClr val="000000"/>
              </a:solidFill>
              <a:latin typeface="Arial"/>
            </a:endParaRPr>
          </a:p>
        </p:txBody>
      </p:sp>
      <p:pic>
        <p:nvPicPr>
          <p:cNvPr id="95" name="Picture 4" descr="crop_lay96_oap_node.png"/>
          <p:cNvPicPr/>
          <p:nvPr/>
        </p:nvPicPr>
        <p:blipFill>
          <a:blip r:embed="rId1"/>
          <a:stretch/>
        </p:blipFill>
        <p:spPr>
          <a:xfrm>
            <a:off x="6675120" y="1234440"/>
            <a:ext cx="5120280" cy="2861640"/>
          </a:xfrm>
          <a:prstGeom prst="rect">
            <a:avLst/>
          </a:prstGeom>
          <a:ln w="0">
            <a:noFill/>
          </a:ln>
        </p:spPr>
      </p:pic>
      <p:sp>
        <p:nvSpPr>
          <p:cNvPr id="96" name="TextBox 5"/>
          <p:cNvSpPr/>
          <p:nvPr/>
        </p:nvSpPr>
        <p:spPr>
          <a:xfrm>
            <a:off x="6309360" y="430668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mirror rig's splitter node, the tool's own render: the reference flat's arm at 22.5°, the compensator in the mirror leg, the output plate and analyzer ahead of the focuser.</a:t>
            </a:r>
            <a:endParaRPr b="0" lang="en-US" sz="1000" spc="-1" strike="noStrike">
              <a:solidFill>
                <a:srgbClr val="000000"/>
              </a:solidFill>
              <a:latin typeface="Arial"/>
            </a:endParaRPr>
          </a:p>
        </p:txBody>
      </p:sp>
      <p:sp>
        <p:nvSpPr>
          <p:cNvPr id="97" name="TextBox 6"/>
          <p:cNvSpPr/>
          <p:nvPr/>
        </p:nvSpPr>
        <p:spPr>
          <a:xfrm>
            <a:off x="6400800" y="494676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interferometer".  Run tags redo96_lens, redo96_oap, redo96_lensloop, redo96_oaploop, redo96_lensstn2, redo96_oapstn2.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pupil image quality</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endParaRPr b="0" lang="en-US" sz="1250" spc="-1" strike="noStrike">
              <a:solidFill>
                <a:srgbClr val="000000"/>
              </a:solidFill>
              <a:latin typeface="Arial"/>
            </a:endParaRPr>
          </a:p>
        </p:txBody>
      </p:sp>
      <p:sp>
        <p:nvSpPr>
          <p:cNvPr id="9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00" name="Picture 3" descr="pupilq96_lens_pupil.png"/>
          <p:cNvPicPr/>
          <p:nvPr/>
        </p:nvPicPr>
        <p:blipFill>
          <a:blip r:embed="rId1"/>
          <a:srcRect l="7850" t="0" r="7850" b="4272"/>
          <a:stretch/>
        </p:blipFill>
        <p:spPr>
          <a:xfrm>
            <a:off x="0" y="1298520"/>
            <a:ext cx="6400440" cy="3273120"/>
          </a:xfrm>
          <a:prstGeom prst="rect">
            <a:avLst/>
          </a:prstGeom>
          <a:ln w="0">
            <a:noFill/>
          </a:ln>
        </p:spPr>
      </p:pic>
      <p:sp>
        <p:nvSpPr>
          <p:cNvPr id="101" name="TextBox 4"/>
          <p:cNvSpPr/>
          <p:nvPr/>
        </p:nvSpPr>
        <p:spPr>
          <a:xfrm>
            <a:off x="228600" y="4937760"/>
            <a:ext cx="59432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endParaRPr b="0" lang="en-US" sz="1000" spc="-1" strike="noStrike">
              <a:solidFill>
                <a:srgbClr val="000000"/>
              </a:solidFill>
              <a:latin typeface="Arial"/>
            </a:endParaRPr>
          </a:p>
        </p:txBody>
      </p:sp>
      <p:graphicFrame>
        <p:nvGraphicFramePr>
          <p:cNvPr id="102" name="Table 5"/>
          <p:cNvGraphicFramePr/>
          <p:nvPr/>
        </p:nvGraphicFramePr>
        <p:xfrm>
          <a:off x="6400800" y="1298520"/>
          <a:ext cx="5394600" cy="1657080"/>
        </p:xfrm>
        <a:graphic>
          <a:graphicData uri="http://schemas.openxmlformats.org/drawingml/2006/table">
            <a:tbl>
              <a:tblPr/>
              <a:tblGrid>
                <a:gridCol w="2873160"/>
                <a:gridCol w="1407240"/>
                <a:gridCol w="111384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DM mm unless stated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lens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mirror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distortion vs one affine: rms / edge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0.047 / 0.138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0.62 / 1.19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blur over the actuator band: rms / max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0.066 / 0.133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0.051 / 0.143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image surface: defocus / astig / tilt (mm of sag)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-0.0005 / -0.095 / 0.002</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-0.45 / 0.14 / 0.42</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focal spot on axis / at the actuator-band tilt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0.06 / 0.09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0.03 / 2.2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03" name="TextBox 6"/>
          <p:cNvSpPr/>
          <p:nvPr/>
        </p:nvSpPr>
        <p:spPr>
          <a:xfrm>
            <a:off x="6400800" y="3102120"/>
            <a:ext cx="5394600" cy="298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cost, after calibration, is resolution only:</a:t>
            </a:r>
            <a:r>
              <a:rPr b="0" lang="en-US" sz="1200" spc="-1" strike="noStrike">
                <a:solidFill>
                  <a:srgbClr val="282828"/>
                </a:solidFill>
                <a:latin typeface="Arial"/>
              </a:rPr>
              <a:t> the distortion is absorbed by the matrix measured through the camera, and the blur (0.05–0.14 mm against the 1 mm pitch) leaves 0.13 % of the figure on lenses and 0.29 % on mirrors (42 / 92 pm on 30 nm), 0.5 / 0.9 % in the top spatial band.  Adequate for 96 × 96: the blur's transfer at the actuator Nyquist is 0.98 before calibration and 0.9994–1.0000 after.  The limit is the blur: it would halve the transfer at a 0.2–0.4 mm pitch, 250–500 actuators across this aperture (Gaussian estimate).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Lenses image the DM flat</a:t>
            </a:r>
            <a:r>
              <a:rPr b="0" lang="en-US" sz="1200" spc="-1" strike="noStrike">
                <a:solidFill>
                  <a:srgbClr val="282828"/>
                </a:solidFill>
                <a:latin typeface="Arial"/>
              </a:rPr>
              <a:t> (0.5 µm of defocus across the pupil) and hold the mapping to a seventh of a pitch.  </a:t>
            </a:r>
            <a:r>
              <a:rPr b="1" lang="en-US" sz="1200" spc="-1" strike="noStrike">
                <a:solidFill>
                  <a:srgbClr val="282828"/>
                </a:solidFill>
                <a:latin typeface="Arial"/>
              </a:rPr>
              <a:t>Mirrors trade mapping for the front end:</a:t>
            </a:r>
            <a:r>
              <a:rPr b="0" lang="en-US" sz="1200" spc="-1" strike="noStrike">
                <a:solidFill>
                  <a:srgbClr val="282828"/>
                </a:solidFill>
                <a:latin typeface="Arial"/>
              </a:rPr>
              <a:t> the OAP pair distorts the image by more than a pitch at the edge; the measured matrix absorbs it.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Method:</a:t>
            </a:r>
            <a:r>
              <a:rPr b="0" lang="en-US" sz="1200" spc="-1" strike="noStrike">
                <a:solidFill>
                  <a:srgbClr val="282828"/>
                </a:solidFill>
                <a:latin typeface="Arial"/>
              </a:rPr>
              <a:t> the DM declared the stop, two traces a small field step apart cross at each zone's image at the camera; scored in DM mm against the 1 mm pitch.</a:t>
            </a:r>
            <a:endParaRPr b="0" lang="en-US" sz="1200" spc="-1" strike="noStrike">
              <a:solidFill>
                <a:srgbClr val="000000"/>
              </a:solidFill>
              <a:latin typeface="Arial"/>
            </a:endParaRPr>
          </a:p>
        </p:txBody>
      </p:sp>
      <p:sp>
        <p:nvSpPr>
          <p:cNvPr id="104" name="TextBox 7"/>
          <p:cNvSpPr/>
          <p:nvPr/>
        </p:nvSpPr>
        <p:spPr>
          <a:xfrm>
            <a:off x="548640" y="574236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pupilq96_lens, pupilq96_oap (tg96_pupilq, model 512, 2026-09-18); REPORT_bench_realism.md section 6.  Requested by Fang Shi.  λF/D = 2.83 µm on the 96 mm beam.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Zernike sensor: a quarter-wave dimple at the focus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beam interferes with its own core: no reference arm; the best reading steps the dimple's depth through four frames and inverts pixel by pixel</a:t>
            </a:r>
            <a:endParaRPr b="0" lang="en-US" sz="1250" spc="-1" strike="noStrike">
              <a:solidFill>
                <a:srgbClr val="000000"/>
              </a:solidFill>
              <a:latin typeface="Arial"/>
            </a:endParaRPr>
          </a:p>
        </p:txBody>
      </p:sp>
      <p:sp>
        <p:nvSpPr>
          <p:cNvPr id="10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07" name="TextBox 3"/>
          <p:cNvSpPr/>
          <p:nvPr/>
        </p:nvSpPr>
        <p:spPr>
          <a:xfrm>
            <a:off x="411480" y="1298520"/>
            <a:ext cx="5806080" cy="3771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Reads:</a:t>
            </a:r>
            <a:r>
              <a:rPr b="0" lang="en-US" sz="1300" spc="-1" strike="noStrike">
                <a:solidFill>
                  <a:srgbClr val="282828"/>
                </a:solidFill>
                <a:latin typeface="Arial"/>
              </a:rPr>
              <a:t> a 5.3 µm etched dimple (2.0 λF/D) delays the center of the focal spot a quarter wave; that light spreads back over the pupil and is the reference.</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Frames per measurement: 4</a:t>
            </a:r>
            <a:r>
              <a:rPr b="0" lang="en-US" sz="1300" spc="-1" strike="noStrike">
                <a:solidFill>
                  <a:srgbClr val="282828"/>
                </a:solidFill>
                <a:latin typeface="Arial"/>
              </a:rPr>
              <a:t> — three etch depths and a clear frame; no branch fold.</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Reconstruction:</a:t>
            </a:r>
            <a:r>
              <a:rPr b="0" lang="en-US" sz="1300" spc="-1" strike="noStrike">
                <a:solidFill>
                  <a:srgbClr val="282828"/>
                </a:solidFill>
                <a:latin typeface="Arial"/>
              </a:rPr>
              <a:t> the four frames give, pixel by pixel, the field's projection on the reference wave (the dimple's core, modeled from the flat) in cosine and sine, hence the phase; then the matrix fit as for every gauge.</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right:</a:t>
            </a:r>
            <a:r>
              <a:rPr b="0" lang="en-US" sz="1300" spc="-1" strike="noStrike">
                <a:solidFill>
                  <a:srgbClr val="282828"/>
                </a:solidFill>
                <a:latin typeface="Arial"/>
              </a:rPr>
              <a:t> common path, one plate, no reference arm; a tenth of the interferometer's photons.</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wrong:</a:t>
            </a:r>
            <a:r>
              <a:rPr b="0" lang="en-US" sz="1300" spc="-1" strike="noStrike">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Scored, 30 nm surface, matrix on it (mirror rig):</a:t>
            </a:r>
            <a:r>
              <a:rPr b="0" lang="en-US" sz="1300" spc="-1" strike="noStrike">
                <a:solidFill>
                  <a:srgbClr val="282828"/>
                </a:solidFill>
                <a:latin typeface="Arial"/>
              </a:rPr>
              <a:t> 10 nm change at gain 0.993 / 5 pm, SNR 1987; 1 nm on 120 sites 0.995 / 4 pm; holds 3 pm from 3.5e12 photons per cycle (9.1e12 under the 2 pm walk); no fixed error.</a:t>
            </a:r>
            <a:endParaRPr b="0" lang="en-US" sz="1300" spc="-1" strike="noStrike">
              <a:solidFill>
                <a:srgbClr val="000000"/>
              </a:solidFill>
              <a:latin typeface="Arial"/>
            </a:endParaRPr>
          </a:p>
        </p:txBody>
      </p:sp>
      <p:pic>
        <p:nvPicPr>
          <p:cNvPr id="108" name="Picture 4" descr="crop_zwfs_vlayout_tail.png"/>
          <p:cNvPicPr/>
          <p:nvPr/>
        </p:nvPicPr>
        <p:blipFill>
          <a:blip r:embed="rId1"/>
          <a:stretch/>
        </p:blipFill>
        <p:spPr>
          <a:xfrm>
            <a:off x="6309360" y="1234440"/>
            <a:ext cx="5394600" cy="3730320"/>
          </a:xfrm>
          <a:prstGeom prst="rect">
            <a:avLst/>
          </a:prstGeom>
          <a:ln w="0">
            <a:noFill/>
          </a:ln>
        </p:spPr>
      </p:pic>
      <p:sp>
        <p:nvSpPr>
          <p:cNvPr id="109" name="TextBox 5"/>
          <p:cNvSpPr/>
          <p:nvPr/>
        </p:nvSpPr>
        <p:spPr>
          <a:xfrm>
            <a:off x="6309360" y="4983480"/>
            <a:ext cx="539460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endParaRPr b="0" lang="en-US" sz="1000" spc="-1" strike="noStrike">
              <a:solidFill>
                <a:srgbClr val="000000"/>
              </a:solidFill>
              <a:latin typeface="Arial"/>
            </a:endParaRPr>
          </a:p>
        </p:txBody>
      </p:sp>
      <p:sp>
        <p:nvSpPr>
          <p:cNvPr id="110" name="TextBox 6"/>
          <p:cNvSpPr/>
          <p:nvPr/>
        </p:nvSpPr>
        <p:spPr>
          <a:xfrm>
            <a:off x="6400800" y="557928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polarized dimple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geometric-phase metasurface in the same seat delays the two circular polarizations by +90° and −90°; a quarter-wave plate and a polarizing cube send the two images to two cameras, both frames at once</a:t>
            </a:r>
            <a:endParaRPr b="0" lang="en-US" sz="1250" spc="-1" strike="noStrike">
              <a:solidFill>
                <a:srgbClr val="000000"/>
              </a:solidFill>
              <a:latin typeface="Arial"/>
            </a:endParaRPr>
          </a:p>
        </p:txBody>
      </p:sp>
      <p:sp>
        <p:nvSpPr>
          <p:cNvPr id="11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13" name="TextBox 3"/>
          <p:cNvSpPr/>
          <p:nvPr/>
        </p:nvSpPr>
        <p:spPr>
          <a:xfrm>
            <a:off x="411480" y="1298520"/>
            <a:ext cx="5806080" cy="4167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Reads:</a:t>
            </a:r>
            <a:r>
              <a:rPr b="0" lang="en-US" sz="1300" spc="-1" strike="noStrike">
                <a:solidFill>
                  <a:srgbClr val="282828"/>
                </a:solidFill>
                <a:latin typeface="Arial"/>
              </a:rPr>
              <a:t> the two images are the sensor with its dimple sign flipped; per pixel they give the cosine and sine of the phase together, so the inversion is exact with no branch choice and no stepping.</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Frames per measurement: 2, simultaneous.</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Reconstruction:</a:t>
            </a:r>
            <a:r>
              <a:rPr b="0" lang="en-US" sz="1300" spc="-1" strike="noStrike">
                <a:solidFill>
                  <a:srgbClr val="282828"/>
                </a:solidFill>
                <a:latin typeface="Arial"/>
              </a:rPr>
              <a:t> the two images are the dimple's +90° and −90° readings; their difference and sum give the sine and cosine of the phase per pixel, with the amplitude taken from the pair — no reference amplitude from the flat; then the matrix fit.</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right:</a:t>
            </a:r>
            <a:r>
              <a:rPr b="0" lang="en-US" sz="1300" spc="-1" strike="noStrike">
                <a:solidFill>
                  <a:srgbClr val="282828"/>
                </a:solidFill>
                <a:latin typeface="Arial"/>
              </a:rPr>
              <a:t> the best line in the comparison — fewest photons, no stepping, no within-scan drift; its per-pixel solve needs no reference amplitude from the flat (raw map gain 0.993).</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Gets wrong:</a:t>
            </a:r>
            <a:r>
              <a:rPr b="0" lang="en-US" sz="1300" spc="-1" strike="noStrike">
                <a:solidFill>
                  <a:srgbClr val="282828"/>
                </a:solidFill>
                <a:latin typeface="Arial"/>
              </a:rPr>
              <a:t> two cameras (the 7.5 mm pupil image would need a 17° split for side-by-side images); a metasurface and plate whose errors are priced, not yet calibrated out; capture range to 10 % only 70 nm.</a:t>
            </a:r>
            <a:endParaRPr b="0" lang="en-US" sz="1300" spc="-1" strike="noStrike">
              <a:solidFill>
                <a:srgbClr val="000000"/>
              </a:solidFill>
              <a:latin typeface="Arial"/>
            </a:endParaRPr>
          </a:p>
          <a:p>
            <a:pPr defTabSz="457200">
              <a:lnSpc>
                <a:spcPct val="100000"/>
              </a:lnSpc>
              <a:spcAft>
                <a:spcPts val="799"/>
              </a:spcAft>
            </a:pPr>
            <a:r>
              <a:rPr b="0" lang="en-US" sz="1300" spc="-1" strike="noStrike">
                <a:solidFill>
                  <a:srgbClr val="282828"/>
                </a:solidFill>
                <a:latin typeface="Arial"/>
              </a:rPr>
              <a:t>•  </a:t>
            </a:r>
            <a:r>
              <a:rPr b="1" lang="en-US" sz="1300" spc="-1" strike="noStrike">
                <a:solidFill>
                  <a:srgbClr val="282828"/>
                </a:solidFill>
                <a:latin typeface="Arial"/>
              </a:rPr>
              <a:t>Scored, 30 nm surface, matrix on it (mirror rig):</a:t>
            </a:r>
            <a:r>
              <a:rPr b="0" lang="en-US" sz="1300" spc="-1" strike="noStrike">
                <a:solidFill>
                  <a:srgbClr val="282828"/>
                </a:solidFill>
                <a:latin typeface="Arial"/>
              </a:rPr>
              <a:t> 10 nm change at gain 1.008 / 2 pm, SNR 6364; 1 nm on 120 sites 1.001 / 4 pm; dense 10 nm 1.0035 / 0.44 nm; holds 3 pm from 2.2e12 photons per cycle (6.8e12 under the walk); no fixed error.</a:t>
            </a:r>
            <a:endParaRPr b="0" lang="en-US" sz="1300" spc="-1" strike="noStrike">
              <a:solidFill>
                <a:srgbClr val="000000"/>
              </a:solidFill>
              <a:latin typeface="Arial"/>
            </a:endParaRPr>
          </a:p>
        </p:txBody>
      </p:sp>
      <p:pic>
        <p:nvPicPr>
          <p:cNvPr id="114" name="Picture 4" descr="crop_zwfs_vlayout_tail.png"/>
          <p:cNvPicPr/>
          <p:nvPr/>
        </p:nvPicPr>
        <p:blipFill>
          <a:blip r:embed="rId1"/>
          <a:stretch/>
        </p:blipFill>
        <p:spPr>
          <a:xfrm>
            <a:off x="6309360" y="1234440"/>
            <a:ext cx="5394600" cy="3730320"/>
          </a:xfrm>
          <a:prstGeom prst="rect">
            <a:avLst/>
          </a:prstGeom>
          <a:ln w="0">
            <a:noFill/>
          </a:ln>
        </p:spPr>
      </p:pic>
      <p:sp>
        <p:nvSpPr>
          <p:cNvPr id="115" name="TextBox 5"/>
          <p:cNvSpPr/>
          <p:nvPr/>
        </p:nvSpPr>
        <p:spPr>
          <a:xfrm>
            <a:off x="6309360" y="498348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vector sensor's leg from the focus to the two cameras, both channel decks traced by the engine.</a:t>
            </a:r>
            <a:endParaRPr b="0" lang="en-US" sz="1000" spc="-1" strike="noStrike">
              <a:solidFill>
                <a:srgbClr val="000000"/>
              </a:solidFill>
              <a:latin typeface="Arial"/>
            </a:endParaRPr>
          </a:p>
        </p:txBody>
      </p:sp>
      <p:sp>
        <p:nvSpPr>
          <p:cNvPr id="116" name="TextBox 6"/>
          <p:cNvSpPr/>
          <p:nvPr/>
        </p:nvSpPr>
        <p:spPr>
          <a:xfrm>
            <a:off x="6400800" y="541440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a stepped pinhole with a shutter frame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endParaRPr b="0" lang="en-US" sz="1250" spc="-1" strike="noStrike">
              <a:solidFill>
                <a:srgbClr val="000000"/>
              </a:solidFill>
              <a:latin typeface="Arial"/>
            </a:endParaRPr>
          </a:p>
        </p:txBody>
      </p:sp>
      <p:sp>
        <p:nvSpPr>
          <p:cNvPr id="11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19" name="TextBox 3"/>
          <p:cNvSpPr/>
          <p:nvPr/>
        </p:nvSpPr>
        <p:spPr>
          <a:xfrm>
            <a:off x="411480" y="1298520"/>
            <a:ext cx="5806080" cy="4663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Reads:</a:t>
            </a:r>
            <a:r>
              <a:rPr b="0" lang="en-US" sz="1100" spc="-1" strike="noStrike">
                <a:solidFill>
                  <a:srgbClr val="282828"/>
                </a:solidFill>
                <a:latin typeface="Arial"/>
              </a:rPr>
              <a:t> the pinhole passes the core of the focal spot as the reference; the surround, attenuated to 0.72 in amplitude, passes the rest; the two interfere at the pupil image.</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Frames per measurement: 6</a:t>
            </a:r>
            <a:r>
              <a:rPr b="0" lang="en-US" sz="1100" spc="-1" strike="noStrike">
                <a:solidFill>
                  <a:srgbClr val="282828"/>
                </a:solidFill>
                <a:latin typeface="Arial"/>
              </a:rPr>
              <a:t> — the surround's phase stepped through five (the Schwider-Hariharan scan, insensitive to step error) plus one frame with the surround shuttered, which measures the reference by itself.</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Reconstruction:</a:t>
            </a:r>
            <a:r>
              <a:rPr b="0" lang="en-US" sz="1100" spc="-1" strike="noStrike">
                <a:solidFill>
                  <a:srgbClr val="282828"/>
                </a:solidFill>
                <a:latin typeface="Arial"/>
              </a:rPr>
              <a:t> the five-frame Schwider-Hariharan sums give the phase per pixel against the pinhole's reference, whose amplitude the shutter frame measures state by state; then the matrix fit.</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Scanned how:</a:t>
            </a:r>
            <a:r>
              <a:rPr b="0" lang="en-US" sz="1100" spc="-1" strike="noStrike">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Gets right:</a:t>
            </a:r>
            <a:r>
              <a:rPr b="0" lang="en-US" sz="1100" spc="-1" strike="noStrike">
                <a:solidFill>
                  <a:srgbClr val="282828"/>
                </a:solidFill>
                <a:latin typeface="Arial"/>
              </a:rPr>
              <a:t> the shutter frame keeps the calibration honest far from null: 10 % accuracy to 480 nm of surface and beyond, where the dimple's self-reference fails at 42-70 nm.</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Scored, 30 nm surface, matrix on it (mirror rig):</a:t>
            </a:r>
            <a:r>
              <a:rPr b="0" lang="en-US" sz="1100" spc="-1" strike="noStrike">
                <a:solidFill>
                  <a:srgbClr val="282828"/>
                </a:solidFill>
                <a:latin typeface="Arial"/>
              </a:rPr>
              <a:t> 10 nm change at gain 0.995 / 3 pm, SNR 3845; 1 nm on 120 sites 0.998 / 3 pm; holds 3 pm from 3.1e12 photons per cycle (8.4e12 under the walk); no fixed error.</a:t>
            </a:r>
            <a:endParaRPr b="0" lang="en-US" sz="1100" spc="-1" strike="noStrike">
              <a:solidFill>
                <a:srgbClr val="000000"/>
              </a:solidFill>
              <a:latin typeface="Arial"/>
            </a:endParaRPr>
          </a:p>
          <a:p>
            <a:pPr defTabSz="457200">
              <a:lnSpc>
                <a:spcPct val="100000"/>
              </a:lnSpc>
              <a:spcAft>
                <a:spcPts val="499"/>
              </a:spcAft>
            </a:pPr>
            <a:r>
              <a:rPr b="0" lang="en-US" sz="1100" spc="-1" strike="noStrike">
                <a:solidFill>
                  <a:srgbClr val="282828"/>
                </a:solidFill>
                <a:latin typeface="Arial"/>
              </a:rPr>
              <a:t>•  </a:t>
            </a:r>
            <a:r>
              <a:rPr b="1" lang="en-US" sz="1100" spc="-1" strike="noStrike">
                <a:solidFill>
                  <a:srgbClr val="282828"/>
                </a:solidFill>
                <a:latin typeface="Arial"/>
              </a:rPr>
              <a:t>The P/SRI (Dube et al. 2024) is this sensor's photonic form:</a:t>
            </a:r>
            <a:r>
              <a:rPr b="0" lang="en-US" sz="1100" spc="-1" strike="noStrike">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endParaRPr b="0" lang="en-US" sz="1100" spc="-1" strike="noStrike">
              <a:solidFill>
                <a:srgbClr val="000000"/>
              </a:solidFill>
              <a:latin typeface="Arial"/>
            </a:endParaRPr>
          </a:p>
        </p:txBody>
      </p:sp>
      <p:pic>
        <p:nvPicPr>
          <p:cNvPr id="120" name="Picture 4" descr="crop_pdi_layout_tail.png"/>
          <p:cNvPicPr/>
          <p:nvPr/>
        </p:nvPicPr>
        <p:blipFill>
          <a:blip r:embed="rId1"/>
          <a:stretch/>
        </p:blipFill>
        <p:spPr>
          <a:xfrm>
            <a:off x="6309360" y="1234440"/>
            <a:ext cx="5394600" cy="3940560"/>
          </a:xfrm>
          <a:prstGeom prst="rect">
            <a:avLst/>
          </a:prstGeom>
          <a:ln w="0">
            <a:noFill/>
          </a:ln>
        </p:spPr>
      </p:pic>
      <p:sp>
        <p:nvSpPr>
          <p:cNvPr id="121" name="TextBox 5"/>
          <p:cNvSpPr/>
          <p:nvPr/>
        </p:nvSpPr>
        <p:spPr>
          <a:xfrm>
            <a:off x="6309360" y="51937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pinhole sensor's tail, the tool's own render: the focuser, the pinhole substrate at the internal focus on its stepping stage, the field lens and the camera.</a:t>
            </a:r>
            <a:endParaRPr b="0" lang="en-US" sz="1000" spc="-1" strike="noStrike">
              <a:solidFill>
                <a:srgbClr val="000000"/>
              </a:solidFill>
              <a:latin typeface="Arial"/>
            </a:endParaRPr>
          </a:p>
        </p:txBody>
      </p:sp>
      <p:sp>
        <p:nvSpPr>
          <p:cNvPr id="122" name="TextBox 6"/>
          <p:cNvSpPr/>
          <p:nvPr/>
        </p:nvSpPr>
        <p:spPr>
          <a:xfrm>
            <a:off x="6400800" y="5624640"/>
            <a:ext cx="53946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Each gauge reading the 30 nm working surface,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same mirror command through the four trains; the last column is the raw map against the engine's own field, before any calibration</a:t>
            </a:r>
            <a:endParaRPr b="0" lang="en-US" sz="1250" spc="-1" strike="noStrike">
              <a:solidFill>
                <a:srgbClr val="000000"/>
              </a:solidFill>
              <a:latin typeface="Arial"/>
            </a:endParaRPr>
          </a:p>
        </p:txBody>
      </p:sp>
      <p:sp>
        <p:nvSpPr>
          <p:cNvPr id="12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25" name="Picture 3" descr="crop_stations_row2_I.png"/>
          <p:cNvPicPr/>
          <p:nvPr/>
        </p:nvPicPr>
        <p:blipFill>
          <a:blip r:embed="rId1"/>
          <a:srcRect l="0" t="8640" r="0" b="10589"/>
          <a:stretch/>
        </p:blipFill>
        <p:spPr>
          <a:xfrm>
            <a:off x="2779920" y="1325880"/>
            <a:ext cx="9335520" cy="1279800"/>
          </a:xfrm>
          <a:prstGeom prst="rect">
            <a:avLst/>
          </a:prstGeom>
          <a:ln w="0">
            <a:noFill/>
          </a:ln>
        </p:spPr>
      </p:pic>
      <p:sp>
        <p:nvSpPr>
          <p:cNvPr id="126" name="TextBox 4"/>
          <p:cNvSpPr/>
          <p:nvPr/>
        </p:nvSpPr>
        <p:spPr>
          <a:xfrm>
            <a:off x="201240" y="139896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endParaRPr b="0" lang="en-US" sz="1000" spc="-1" strike="noStrike">
              <a:solidFill>
                <a:srgbClr val="000000"/>
              </a:solidFill>
              <a:latin typeface="Arial"/>
            </a:endParaRPr>
          </a:p>
        </p:txBody>
      </p:sp>
      <p:pic>
        <p:nvPicPr>
          <p:cNvPr id="127" name="Picture 5" descr="crop_stations_row2_S.png"/>
          <p:cNvPicPr/>
          <p:nvPr/>
        </p:nvPicPr>
        <p:blipFill>
          <a:blip r:embed="rId2"/>
          <a:srcRect l="0" t="10421" r="0" b="10398"/>
          <a:stretch/>
        </p:blipFill>
        <p:spPr>
          <a:xfrm>
            <a:off x="2779920" y="2624400"/>
            <a:ext cx="9335520" cy="1288800"/>
          </a:xfrm>
          <a:prstGeom prst="rect">
            <a:avLst/>
          </a:prstGeom>
          <a:ln w="0">
            <a:noFill/>
          </a:ln>
        </p:spPr>
      </p:pic>
      <p:sp>
        <p:nvSpPr>
          <p:cNvPr id="128" name="TextBox 6"/>
          <p:cNvSpPr/>
          <p:nvPr/>
        </p:nvSpPr>
        <p:spPr>
          <a:xfrm>
            <a:off x="201240" y="266076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endParaRPr b="0" lang="en-US" sz="1000" spc="-1" strike="noStrike">
              <a:solidFill>
                <a:srgbClr val="000000"/>
              </a:solidFill>
              <a:latin typeface="Arial"/>
            </a:endParaRPr>
          </a:p>
        </p:txBody>
      </p:sp>
      <p:pic>
        <p:nvPicPr>
          <p:cNvPr id="129" name="Picture 7" descr="crop_stations_row2_V.png"/>
          <p:cNvPicPr/>
          <p:nvPr/>
        </p:nvPicPr>
        <p:blipFill>
          <a:blip r:embed="rId3"/>
          <a:srcRect l="0" t="10386" r="0" b="11609"/>
          <a:stretch/>
        </p:blipFill>
        <p:spPr>
          <a:xfrm>
            <a:off x="2779920" y="3950280"/>
            <a:ext cx="9335520" cy="1261440"/>
          </a:xfrm>
          <a:prstGeom prst="rect">
            <a:avLst/>
          </a:prstGeom>
          <a:ln w="0">
            <a:noFill/>
          </a:ln>
        </p:spPr>
      </p:pic>
      <p:sp>
        <p:nvSpPr>
          <p:cNvPr id="130" name="TextBox 8"/>
          <p:cNvSpPr/>
          <p:nvPr/>
        </p:nvSpPr>
        <p:spPr>
          <a:xfrm>
            <a:off x="201240" y="395928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endParaRPr b="0" lang="en-US" sz="1000" spc="-1" strike="noStrike">
              <a:solidFill>
                <a:srgbClr val="000000"/>
              </a:solidFill>
              <a:latin typeface="Arial"/>
            </a:endParaRPr>
          </a:p>
        </p:txBody>
      </p:sp>
      <p:pic>
        <p:nvPicPr>
          <p:cNvPr id="131" name="Picture 9" descr="crop_stations_row2_P.png"/>
          <p:cNvPicPr/>
          <p:nvPr/>
        </p:nvPicPr>
        <p:blipFill>
          <a:blip r:embed="rId4"/>
          <a:srcRect l="0" t="9286" r="0" b="12136"/>
          <a:stretch/>
        </p:blipFill>
        <p:spPr>
          <a:xfrm>
            <a:off x="2779920" y="5248800"/>
            <a:ext cx="9335520" cy="1270800"/>
          </a:xfrm>
          <a:prstGeom prst="rect">
            <a:avLst/>
          </a:prstGeom>
          <a:ln w="0">
            <a:noFill/>
          </a:ln>
        </p:spPr>
      </p:pic>
      <p:sp>
        <p:nvSpPr>
          <p:cNvPr id="132" name="TextBox 10"/>
          <p:cNvSpPr/>
          <p:nvPr/>
        </p:nvSpPr>
        <p:spPr>
          <a:xfrm>
            <a:off x="201240" y="5285160"/>
            <a:ext cx="2770200" cy="100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endParaRPr b="0" lang="en-US" sz="1000" spc="-1" strike="noStrike">
              <a:solidFill>
                <a:srgbClr val="000000"/>
              </a:solidFill>
              <a:latin typeface="Arial"/>
            </a:endParaRPr>
          </a:p>
        </p:txBody>
      </p:sp>
      <p:sp>
        <p:nvSpPr>
          <p:cNvPr id="133" name="TextBox 11"/>
          <p:cNvSpPr/>
          <p:nvPr/>
        </p:nvSpPr>
        <p:spPr>
          <a:xfrm>
            <a:off x="411480" y="6537960"/>
            <a:ext cx="1138392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Row 2 of each station figure, mirror rig, one DM command in all four; the 7.1 nm is a gain error the matrix absorbs (backup).  Runs redo96_oapstn2,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Performance side by side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reading on the same 30 nm working surface, the response matrix measured on it: the four best readings are within 1% of each other and within 2 pm on the floor</a:t>
            </a:r>
            <a:endParaRPr b="0" lang="en-US" sz="1250" spc="-1" strike="noStrike">
              <a:solidFill>
                <a:srgbClr val="000000"/>
              </a:solidFill>
              <a:latin typeface="Arial"/>
            </a:endParaRPr>
          </a:p>
        </p:txBody>
      </p:sp>
      <p:sp>
        <p:nvSpPr>
          <p:cNvPr id="13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36" name="Table 3"/>
          <p:cNvGraphicFramePr/>
          <p:nvPr/>
        </p:nvGraphicFramePr>
        <p:xfrm>
          <a:off x="411480" y="1298520"/>
          <a:ext cx="11368440" cy="3085920"/>
        </p:xfrm>
        <a:graphic>
          <a:graphicData uri="http://schemas.openxmlformats.org/drawingml/2006/table">
            <a:tbl>
              <a:tblPr/>
              <a:tblGrid>
                <a:gridCol w="4296960"/>
                <a:gridCol w="2202120"/>
                <a:gridCol w="2397960"/>
                <a:gridCol w="247068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 (frames per measurement)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nm on one actuator: gain / floor / SNR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120 sites: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dense random 10 nm: gain /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 1.4 pm / 7741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10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0.9995 / 500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 2.3 pm / 6044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0.981 / 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0.977 / 698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linear one frame (1): the small-phase formula with the flat's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21 pm / 492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4.7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 (1): the exact per-pixel solve, the reference iterated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0.78 / 74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0.90 / 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0.86 / 5.2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5 pm / 1987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0.978 / 750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1.008 / 2 pm / 6364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1.001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1.0035 / 440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 / 3 pm / 3845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0.998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0.994 / 313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 reference arm traced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2 pm / 4895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0.9924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0.9926 / 144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37" name="TextBox 4"/>
          <p:cNvSpPr/>
          <p:nvPr/>
        </p:nvSpPr>
        <p:spPr>
          <a:xfrm>
            <a:off x="411480" y="4530960"/>
            <a:ext cx="11368440" cy="1080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one-frame Zernike readings lose:</a:t>
            </a:r>
            <a:r>
              <a:rPr b="0" lang="en-US" sz="1500" spc="-1" strike="noStrike">
                <a:solidFill>
                  <a:srgbClr val="282828"/>
                </a:solidFill>
                <a:latin typeface="Arial"/>
              </a:rPr>
              <a:t> the linear one is biased 4-5% and floors at 21 pm; the exact one-frame reading misreads the sign past the quarter-wave fold (7.8% of pixels on this surface) and diverges in a servo.</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dense-pattern error is 0.3-0.75 nm for every reading, the interferometer's included;</a:t>
            </a:r>
            <a:r>
              <a:rPr b="0" lang="en-US" sz="1500" spc="-1" strike="noStrike">
                <a:solidFill>
                  <a:srgbClr val="282828"/>
                </a:solidFill>
                <a:latin typeface="Arial"/>
              </a:rPr>
              <a:t> the single-actuator and grid rows, which the servo uses, are at 1-10 pm.</a:t>
            </a:r>
            <a:endParaRPr b="0" lang="en-US" sz="1500" spc="-1" strike="noStrike">
              <a:solidFill>
                <a:srgbClr val="000000"/>
              </a:solidFill>
              <a:latin typeface="Arial"/>
            </a:endParaRPr>
          </a:p>
        </p:txBody>
      </p:sp>
      <p:sp>
        <p:nvSpPr>
          <p:cNvPr id="138" name="TextBox 5"/>
          <p:cNvSpPr/>
          <p:nvPr/>
        </p:nvSpPr>
        <p:spPr>
          <a:xfrm>
            <a:off x="411480" y="5838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redo96_lens, redo96_oap (interferometer, 385 px), redo96_oapsens (the three sensors on the mirror rig, 385 px); the one-frame Zernike readings and the P/SRI at 193 px (matbase, pfdeck).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how far from null each reading works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endParaRPr b="0" lang="en-US" sz="1250" spc="-1" strike="noStrike">
              <a:solidFill>
                <a:srgbClr val="000000"/>
              </a:solidFill>
              <a:latin typeface="Arial"/>
            </a:endParaRPr>
          </a:p>
        </p:txBody>
      </p:sp>
      <p:sp>
        <p:nvSpPr>
          <p:cNvPr id="14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1" name="Table 3"/>
          <p:cNvGraphicFramePr/>
          <p:nvPr/>
        </p:nvGraphicFramePr>
        <p:xfrm>
          <a:off x="411480" y="1298520"/>
          <a:ext cx="5806080" cy="3554280"/>
        </p:xfrm>
        <a:graphic>
          <a:graphicData uri="http://schemas.openxmlformats.org/drawingml/2006/table">
            <a:tbl>
              <a:tblPr/>
              <a:tblGrid>
                <a:gridCol w="2977560"/>
                <a:gridCol w="28285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range to 10%, calibration aging from 30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pinhole, no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with a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(1.02 / 1.06 / 1.13 at 120 / 240 / 480)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(within 1% at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both rigs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single site and grid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 vector / pinhole on the mirror rig, 385 px</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 51 / 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42" name="TextBox 4"/>
          <p:cNvSpPr/>
          <p:nvPr/>
        </p:nvSpPr>
        <p:spPr>
          <a:xfrm>
            <a:off x="6400800" y="1298520"/>
            <a:ext cx="5394600" cy="252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Why the sensors age:</a:t>
            </a:r>
            <a:r>
              <a:rPr b="0" lang="en-US" sz="1500" spc="-1" strike="noStrike">
                <a:solidFill>
                  <a:srgbClr val="282828"/>
                </a:solidFill>
                <a:latin typeface="Arial"/>
              </a:rPr>
              <a:t> their reference is made from the beam's own core, and the core changes with the surface.  Past 100 nm rms (2 rad of phase) the core collapses and the reading goes blind.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shutter frame fixes the pinhole's version of this:</a:t>
            </a:r>
            <a:r>
              <a:rPr b="0" lang="en-US" sz="1500" spc="-1" strike="noStrike">
                <a:solidFill>
                  <a:srgbClr val="282828"/>
                </a:solidFill>
                <a:latin typeface="Arial"/>
              </a:rPr>
              <a:t> measuring the reference by itself each state removes the surface dependence, for one more frame.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Re-measuring the matrix on the surface restores every reading's gain</a:t>
            </a:r>
            <a:r>
              <a:rPr b="0" lang="en-US" sz="1500" spc="-1" strike="noStrike">
                <a:solidFill>
                  <a:srgbClr val="282828"/>
                </a:solidFill>
                <a:latin typeface="Arial"/>
              </a:rPr>
              <a:t> to within 5% at 60-160 nm — at a photon price (next slide).</a:t>
            </a:r>
            <a:endParaRPr b="0" lang="en-US" sz="1500" spc="-1" strike="noStrike">
              <a:solidFill>
                <a:srgbClr val="000000"/>
              </a:solidFill>
              <a:latin typeface="Arial"/>
            </a:endParaRPr>
          </a:p>
        </p:txBody>
      </p:sp>
      <p:sp>
        <p:nvSpPr>
          <p:cNvPr id="143" name="TextBox 5"/>
          <p:cNvSpPr/>
          <p:nvPr/>
        </p:nvSpPr>
        <p:spPr>
          <a:xfrm>
            <a:off x="6355080" y="43434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cap385, cap385p, pdi193state, lens_deck, oap_deck, oapsens385 (the mirror rig at 385 px, the Mac); 385 pixels per pupil, 47 sites (52 for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Photons for 1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endParaRPr b="0" lang="en-US" sz="1250" spc="-1" strike="noStrike">
              <a:solidFill>
                <a:srgbClr val="000000"/>
              </a:solidFill>
              <a:latin typeface="Arial"/>
            </a:endParaRPr>
          </a:p>
        </p:txBody>
      </p:sp>
      <p:sp>
        <p:nvSpPr>
          <p:cNvPr id="14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6" name="Table 3"/>
          <p:cNvGraphicFramePr/>
          <p:nvPr/>
        </p:nvGraphicFramePr>
        <p:xfrm>
          <a:off x="411480" y="1298520"/>
          <a:ext cx="5806080" cy="2811600"/>
        </p:xfrm>
        <a:graphic>
          <a:graphicData uri="http://schemas.openxmlformats.org/drawingml/2006/table">
            <a:tbl>
              <a:tblPr/>
              <a:tblGrid>
                <a:gridCol w="1741680"/>
                <a:gridCol w="2322360"/>
                <a:gridCol w="174168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for 1 pm, matrix on the flat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matrix on the 30 nm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47" name="Picture 4" descr="zwfs_redo96_noise.png"/>
          <p:cNvPicPr/>
          <p:nvPr/>
        </p:nvPicPr>
        <p:blipFill>
          <a:blip r:embed="rId1"/>
          <a:stretch/>
        </p:blipFill>
        <p:spPr>
          <a:xfrm>
            <a:off x="6501240" y="1298520"/>
            <a:ext cx="4928400" cy="3894840"/>
          </a:xfrm>
          <a:prstGeom prst="rect">
            <a:avLst/>
          </a:prstGeom>
          <a:ln w="0">
            <a:noFill/>
          </a:ln>
        </p:spPr>
      </p:pic>
      <p:sp>
        <p:nvSpPr>
          <p:cNvPr id="148" name="TextBox 5"/>
          <p:cNvSpPr/>
          <p:nvPr/>
        </p:nvSpPr>
        <p:spPr>
          <a:xfrm>
            <a:off x="6428160" y="5212080"/>
            <a:ext cx="49284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Noise on a single-actuator estimate against photons per measurement, per reading, with the 1 pm line: the runner's own figure.</a:t>
            </a:r>
            <a:endParaRPr b="0" lang="en-US" sz="1000" spc="-1" strike="noStrike">
              <a:solidFill>
                <a:srgbClr val="000000"/>
              </a:solidFill>
              <a:latin typeface="Arial"/>
            </a:endParaRPr>
          </a:p>
        </p:txBody>
      </p:sp>
      <p:sp>
        <p:nvSpPr>
          <p:cNvPr id="149" name="TextBox 6"/>
          <p:cNvSpPr/>
          <p:nvPr/>
        </p:nvSpPr>
        <p:spPr>
          <a:xfrm>
            <a:off x="6428160" y="564192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servo: holding 3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endParaRPr b="0" lang="en-US" sz="1250" spc="-1" strike="noStrike">
              <a:solidFill>
                <a:srgbClr val="000000"/>
              </a:solidFill>
              <a:latin typeface="Arial"/>
            </a:endParaRPr>
          </a:p>
        </p:txBody>
      </p:sp>
      <p:sp>
        <p:nvSpPr>
          <p:cNvPr id="15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2" name="Table 3"/>
          <p:cNvGraphicFramePr/>
          <p:nvPr/>
        </p:nvGraphicFramePr>
        <p:xfrm>
          <a:off x="411480" y="1298520"/>
          <a:ext cx="5806080" cy="3024000"/>
        </p:xfrm>
        <a:graphic>
          <a:graphicData uri="http://schemas.openxmlformats.org/drawingml/2006/table">
            <a:tbl>
              <a:tblPr/>
              <a:tblGrid>
                <a:gridCol w="1096200"/>
                <a:gridCol w="649440"/>
                <a:gridCol w="1299240"/>
                <a:gridCol w="1339920"/>
                <a:gridCol w="14209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noise only</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under a 2 pm per-cycle walk</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floor under a 5 pm per-cycle ramp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noiseless 1 nm step after 60 cycles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2.2e12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6.8e12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8.4e12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53" name="Picture 4" descr="crop_zwfs_redo96_loop_right.png"/>
          <p:cNvPicPr/>
          <p:nvPr/>
        </p:nvPicPr>
        <p:blipFill>
          <a:blip r:embed="rId1"/>
          <a:stretch/>
        </p:blipFill>
        <p:spPr>
          <a:xfrm>
            <a:off x="7086600" y="1271160"/>
            <a:ext cx="4004640" cy="3373920"/>
          </a:xfrm>
          <a:prstGeom prst="rect">
            <a:avLst/>
          </a:prstGeom>
          <a:ln w="0">
            <a:noFill/>
          </a:ln>
        </p:spPr>
      </p:pic>
      <p:sp>
        <p:nvSpPr>
          <p:cNvPr id="154" name="TextBox 5"/>
          <p:cNvSpPr/>
          <p:nvPr/>
        </p:nvSpPr>
        <p:spPr>
          <a:xfrm>
            <a:off x="6400800" y="4700160"/>
            <a:ext cx="40046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Steady-state hold error against photons per cycle for the stepped Zernike (green), the vector pair (purple) and the pinhole (red), with no drift, a 2 pm walk, and a 5 pm ramp: the runner's own figure.</a:t>
            </a:r>
            <a:endParaRPr b="0" lang="en-US" sz="1000" spc="-1" strike="noStrike">
              <a:solidFill>
                <a:srgbClr val="000000"/>
              </a:solidFill>
              <a:latin typeface="Arial"/>
            </a:endParaRPr>
          </a:p>
        </p:txBody>
      </p:sp>
      <p:sp>
        <p:nvSpPr>
          <p:cNvPr id="155" name="TextBox 6"/>
          <p:cNvSpPr/>
          <p:nvPr/>
        </p:nvSpPr>
        <p:spPr>
          <a:xfrm>
            <a:off x="6400800" y="5193720"/>
            <a:ext cx="5394600" cy="1368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Controlling two DMs with one sensor: the full complex amplitude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endParaRPr b="0" lang="en-US" sz="1250" spc="-1" strike="noStrike">
              <a:solidFill>
                <a:srgbClr val="000000"/>
              </a:solidFill>
              <a:latin typeface="Arial"/>
            </a:endParaRPr>
          </a:p>
        </p:txBody>
      </p:sp>
      <p:sp>
        <p:nvSpPr>
          <p:cNvPr id="15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8" name="Table 3"/>
          <p:cNvGraphicFramePr/>
          <p:nvPr/>
        </p:nvGraphicFramePr>
        <p:xfrm>
          <a:off x="411480" y="1298520"/>
          <a:ext cx="5806080" cy="2811600"/>
        </p:xfrm>
        <a:graphic>
          <a:graphicData uri="http://schemas.openxmlformats.org/drawingml/2006/table">
            <a:tbl>
              <a:tblPr/>
              <a:tblGrid>
                <a:gridCol w="908640"/>
                <a:gridCol w="1514520"/>
                <a:gridCol w="33825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amplitude from its own frames?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solve assumes the flat's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clear frame is the pupil intensity; the depths give the field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 with one clear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pair alone is ambiguous; the pair plus the clear frame is exact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stepped solve is the field against a known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fringe modulation is the test amplitude times the reference's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9" name="TextBox 4"/>
          <p:cNvSpPr/>
          <p:nvPr/>
        </p:nvSpPr>
        <p:spPr>
          <a:xfrm>
            <a:off x="411480" y="4256640"/>
            <a:ext cx="580608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vector pair alone cannot:</a:t>
            </a:r>
            <a:r>
              <a:rPr b="0" lang="en-US" sz="1200" spc="-1" strike="noStrike">
                <a:solidFill>
                  <a:srgbClr val="282828"/>
                </a:solidFill>
                <a:latin typeface="Arial"/>
              </a:rPr>
              <a:t> its two images fix the field only up to a mirror image about the reference wave, and at gauge-level phases (a 100 nm poke is 1.9 rad) the true field crosses that line; solving both from the pair diverges.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pair plus the state's clear frame reads both exactly:</a:t>
            </a:r>
            <a:r>
              <a:rPr b="0" lang="en-US" sz="1200" spc="-1" strike="noStrike">
                <a:solidFill>
                  <a:srgbClr val="282828"/>
                </a:solidFill>
                <a:latin typeface="Arial"/>
              </a:rPr>
              <a:t> through a 5 % and a 20 % dip in pupil amplitude the phase comes back at 0.02 and 0.13 pm, where the phase-only solve misreads by 237 and 952 pm; the hold rows are unchanged to the digit.  Three frames.</a:t>
            </a:r>
            <a:endParaRPr b="0" lang="en-US" sz="1200" spc="-1" strike="noStrike">
              <a:solidFill>
                <a:srgbClr val="000000"/>
              </a:solidFill>
              <a:latin typeface="Arial"/>
            </a:endParaRPr>
          </a:p>
        </p:txBody>
      </p:sp>
      <p:sp>
        <p:nvSpPr>
          <p:cNvPr id="160" name="TextBox 5"/>
          <p:cNvSpPr/>
          <p:nvPr/>
        </p:nvSpPr>
        <p:spPr>
          <a:xfrm>
            <a:off x="6400800" y="1298520"/>
            <a:ext cx="5394600" cy="3351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On the telescope:</a:t>
            </a:r>
            <a:r>
              <a:rPr b="0" lang="en-US" sz="1200" spc="-1" strike="noStrike">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the mode needs from the bench:</a:t>
            </a:r>
            <a:r>
              <a:rPr b="0" lang="en-US" sz="1200" spc="-1" strike="noStrike">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is not yet shown:</a:t>
            </a:r>
            <a:r>
              <a:rPr b="0" lang="en-US" sz="1200" spc="-1" strike="noStrike">
                <a:solidFill>
                  <a:srgbClr val="282828"/>
                </a:solidFill>
                <a:latin typeface="Arial"/>
              </a:rPr>
              <a:t> the second mirror's control law and its rows; the source's co-alignment tolerance; the out-of-band path's chromatic terms through the DMs.  The one-sensor, two-DM loop is the natural next campaign on this bench.</a:t>
            </a:r>
            <a:endParaRPr b="0" lang="en-US" sz="1200" spc="-1" strike="noStrike">
              <a:solidFill>
                <a:srgbClr val="000000"/>
              </a:solidFill>
              <a:latin typeface="Arial"/>
            </a:endParaRPr>
          </a:p>
        </p:txBody>
      </p:sp>
      <p:sp>
        <p:nvSpPr>
          <p:cNvPr id="161" name="TextBox 6"/>
          <p:cNvSpPr/>
          <p:nvPr/>
        </p:nvSpPr>
        <p:spPr>
          <a:xfrm>
            <a:off x="6400800" y="5321880"/>
            <a:ext cx="53946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Capturing the initial figure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endParaRPr b="0" lang="en-US" sz="1250" spc="-1" strike="noStrike">
              <a:solidFill>
                <a:srgbClr val="000000"/>
              </a:solidFill>
              <a:latin typeface="Arial"/>
            </a:endParaRPr>
          </a:p>
        </p:txBody>
      </p:sp>
      <p:sp>
        <p:nvSpPr>
          <p:cNvPr id="16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64" name="Table 3"/>
          <p:cNvGraphicFramePr/>
          <p:nvPr/>
        </p:nvGraphicFramePr>
        <p:xfrm>
          <a:off x="411480" y="1298520"/>
          <a:ext cx="5806080" cy="4195440"/>
        </p:xfrm>
        <a:graphic>
          <a:graphicData uri="http://schemas.openxmlformats.org/drawingml/2006/table">
            <a:tbl>
              <a:tblPr/>
              <a:tblGrid>
                <a:gridCol w="1090440"/>
                <a:gridCol w="930240"/>
                <a:gridCol w="3785400"/>
              </a:tblGrid>
              <a:tr h="65700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largest start brought to 3 pm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takes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 unwrapping changes nothing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with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 (200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every 10: 0.21 pm at 1e15, 2.1 pm at 1e13, 3 pm by cycle 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0.25 pm; ceiling between 100 and 150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200 nm (400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 pm in 19 / 24 cycles from 100 / 200 nm, contraction 0.52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200 nm (400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3.1 pm at cycle 60 from 30, 100 and 200 nm alike, contraction 0.50-0.69; not under 3 pm within 60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65" name="TextBox 4"/>
          <p:cNvSpPr/>
          <p:nvPr/>
        </p:nvSpPr>
        <p:spPr>
          <a:xfrm>
            <a:off x="6400800" y="1298520"/>
            <a:ext cx="5394600" cy="27568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wrap is not the limit for the self-referenced sensors:</a:t>
            </a:r>
            <a:r>
              <a:rPr b="0" lang="en-US" sz="1500" spc="-1" strike="noStrike">
                <a:solidFill>
                  <a:srgbClr val="282828"/>
                </a:solidFill>
                <a:latin typeface="Arial"/>
              </a:rPr>
              <a:t> past 60 nm their differential comes back at 24-28 nm whatever the truth, with zero residues — the focal reference has collapsed, the reading is blind, not folded.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Unwrapping alone is not enough for the pinhole or the P/SRI:</a:t>
            </a:r>
            <a:r>
              <a:rPr b="0" lang="en-US" sz="1500" spc="-1" strike="noStrike">
                <a:solidFill>
                  <a:srgbClr val="282828"/>
                </a:solidFill>
                <a:latin typeface="Arial"/>
              </a:rPr>
              <a:t> the calibration measured at the start is wrong by the time the surface has moved; re-measuring it every 10 cycles (3 times in the descent) closes the loop.  Cadence is not the constraint; the cycle count 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interferometer needs no recalibration</a:t>
            </a:r>
            <a:r>
              <a:rPr b="0" lang="en-US" sz="1500" spc="-1" strike="noStrike">
                <a:solidFill>
                  <a:srgbClr val="282828"/>
                </a:solidFill>
                <a:latin typeface="Arial"/>
              </a:rPr>
              <a:t> because its reference is the flat, not the beam.</a:t>
            </a:r>
            <a:endParaRPr b="0" lang="en-US" sz="1500" spc="-1" strike="noStrike">
              <a:solidFill>
                <a:srgbClr val="000000"/>
              </a:solidFill>
              <a:latin typeface="Arial"/>
            </a:endParaRPr>
          </a:p>
        </p:txBody>
      </p:sp>
      <p:sp>
        <p:nvSpPr>
          <p:cNvPr id="166" name="TextBox 5"/>
          <p:cNvSpPr/>
          <p:nvPr/>
        </p:nvSpPr>
        <p:spPr>
          <a:xfrm>
            <a:off x="6419160" y="455364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Lenses or off-axis mirrors: the two front ends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Both rigs hold 3 pm at the same photon cost within 15 % and the mirror rig reads 1 pm for 30 % fewer photons; it is achromatic, puts no glass in the beam, captures faster, and is where the sensors were scored</a:t>
            </a:r>
            <a:endParaRPr b="0" lang="en-US" sz="1250" spc="-1" strike="noStrike">
              <a:solidFill>
                <a:srgbClr val="000000"/>
              </a:solidFill>
              <a:latin typeface="Arial"/>
            </a:endParaRPr>
          </a:p>
        </p:txBody>
      </p:sp>
      <p:sp>
        <p:nvSpPr>
          <p:cNvPr id="16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69" name="Table 3"/>
          <p:cNvGraphicFramePr/>
          <p:nvPr/>
        </p:nvGraphicFramePr>
        <p:xfrm>
          <a:off x="411480" y="1298520"/>
          <a:ext cx="11368440" cy="3387600"/>
        </p:xfrm>
        <a:graphic>
          <a:graphicData uri="http://schemas.openxmlformats.org/drawingml/2006/table">
            <a:tbl>
              <a:tblPr/>
              <a:tblGrid>
                <a:gridCol w="4625640"/>
                <a:gridCol w="2979360"/>
                <a:gridCol w="376344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mirror rig (protected aluminum)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 1.4 pm / SNR 7741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 2.3 pm / 6044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 nm on 120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10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0.981 / 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dense random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0.9995 / 500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0.977 / 698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photons for 1 pm on the 30 nm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servo: 3 pm noise only / under the 2 pm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 / 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 / 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noiseless 1 nm step, residual at cycle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3.1 pm at cycle 60 from 100 and 200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 pm from 100 nm in 19 cycles, from 200 nm in 24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flat-mirror null with the substrates in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59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26.5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sensors, 10 nm on one actuator (stepped / vector /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 run on the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5, 1.008 / 2, 0.995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sensors' capture range to 10% (stepped / vector /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 51 / 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alignment: 10 µrad tilt of a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(D4 not yet run on this bench)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70" name="TextBox 4"/>
          <p:cNvSpPr/>
          <p:nvPr/>
        </p:nvSpPr>
        <p:spPr>
          <a:xfrm>
            <a:off x="411480" y="4805280"/>
            <a:ext cx="11368440" cy="1308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vector pair's raw error on the mirror rig is channel amplitude imbalance from the metal folds</a:t>
            </a:r>
            <a:r>
              <a:rPr b="0" lang="en-US" sz="1500" spc="-1" strike="noStrike">
                <a:solidFill>
                  <a:srgbClr val="282828"/>
                </a:solidFill>
                <a:latin typeface="Arial"/>
              </a:rPr>
              <a:t> (1.08 between its two circular channels on bare aluminum; a quarter-wave overcoat halves the error), not channel phase; the calibrated reading passes its gate.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Both rigs wrap between 60 and 120 nm of surface</a:t>
            </a:r>
            <a:r>
              <a:rPr b="0" lang="en-US" sz="1500" spc="-1" strike="noStrike">
                <a:solidFill>
                  <a:srgbClr val="282828"/>
                </a:solidFill>
                <a:latin typeface="Arial"/>
              </a:rPr>
              <a:t> (a base the four-step cannot follow reads λ/2 ÷ √12 = 91 nm rms); the capture range is set by the unwrapping, not by the front end.</a:t>
            </a:r>
            <a:endParaRPr b="0" lang="en-US" sz="1500" spc="-1" strike="noStrike">
              <a:solidFill>
                <a:srgbClr val="000000"/>
              </a:solidFill>
              <a:latin typeface="Arial"/>
            </a:endParaRPr>
          </a:p>
        </p:txBody>
      </p:sp>
      <p:sp>
        <p:nvSpPr>
          <p:cNvPr id="171" name="TextBox 5"/>
          <p:cNvSpPr/>
          <p:nvPr/>
        </p:nvSpPr>
        <p:spPr>
          <a:xfrm>
            <a:off x="411480" y="6360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Calibration removes the systematic errors; assessment of those it cannot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systematic we could model is either absorbed by the response matrix — measured through the sensor itself, one poke per actuator, on the working surface — or shown small; one line per approach</a:t>
            </a:r>
            <a:endParaRPr b="0" lang="en-US" sz="1250" spc="-1" strike="noStrike">
              <a:solidFill>
                <a:srgbClr val="000000"/>
              </a:solidFill>
              <a:latin typeface="Arial"/>
            </a:endParaRPr>
          </a:p>
        </p:txBody>
      </p:sp>
      <p:sp>
        <p:nvSpPr>
          <p:cNvPr id="17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74" name="Table 3"/>
          <p:cNvGraphicFramePr/>
          <p:nvPr/>
        </p:nvGraphicFramePr>
        <p:xfrm>
          <a:off x="411480" y="1298520"/>
          <a:ext cx="11368440" cy="4965840"/>
        </p:xfrm>
        <a:graphic>
          <a:graphicData uri="http://schemas.openxmlformats.org/drawingml/2006/table">
            <a:tbl>
              <a:tblPr/>
              <a:tblGrid>
                <a:gridCol w="1889640"/>
                <a:gridCol w="2203200"/>
                <a:gridCol w="3824640"/>
                <a:gridCol w="345060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approach</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size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after the response matrix is measured through the sensor on the working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piezo step error 2% / 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0.974 / 0.954; floor 2 → 5 / 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common mode in the servo: 5.4e12 vs 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1/f walk, 1e-3 of signal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light for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splitter diattenuation (plate); cube R_p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the built 22.5°: arm rotation 1.56°, gain +0.9% (11.7% at 45°); 2.1% (cube, naive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residual after a measured matrix 1.4e-3 (lens), 5.5e-4 (mirrors); symmetric stack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out of focus (the early model); sampling; color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floor 744 → 67 pm on correction; dimple needs 6 pixels; one etch reads five colors within 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0.1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750 pm on a 12 nm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0.9934 / 4 pm, the ideal numbers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arm's polarization (six tilted glass faces)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 pm on 12 nm;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to 0.1 rad;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analyzer: cube extinction; plate error λ/300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 165 pm (1.4% of the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within 0.7%, floors within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 step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4.9 pm with the five-frame scan (421 pm with four-step least squares)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differential rows error-free to the digit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bias drifting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 / 10.7 pm at 1e15 (the linear Zernike: 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own reference arm walking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 more light over a hundredfold range of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path change is piston, the mode the estimator nulls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75" name="TextBox 4"/>
          <p:cNvSpPr/>
          <p:nvPr/>
        </p:nvSpPr>
        <p:spPr>
          <a:xfrm>
            <a:off x="411480" y="64112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Nothing is left open on the vector sensor's line.  Run tags lens_deck_se2/se5, loop_lens_cam, tg_psi_dm, tg_psi_dm_v2, v2g, v3arm, an193, pdi193se_sh5, pcam193ri, rw193.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Recommendations and conclusions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Hold with the vector Zernike sensor; capture with the interferometer, or with the stepped pinhole if a second arm is not wanted; either front end builds; one bench that switches</a:t>
            </a:r>
            <a:endParaRPr b="0" lang="en-US" sz="1250" spc="-1" strike="noStrike">
              <a:solidFill>
                <a:srgbClr val="000000"/>
              </a:solidFill>
              <a:latin typeface="Arial"/>
            </a:endParaRPr>
          </a:p>
        </p:txBody>
      </p:sp>
      <p:sp>
        <p:nvSpPr>
          <p:cNvPr id="17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78" name="TextBox 3"/>
          <p:cNvSpPr/>
          <p:nvPr/>
        </p:nvSpPr>
        <p:spPr>
          <a:xfrm>
            <a:off x="411480" y="1298520"/>
            <a:ext cx="5806080" cy="3657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Hold with the ZWFS.</a:t>
            </a:r>
            <a:r>
              <a:rPr b="0" lang="en-US" sz="1400" spc="-1" strike="noStrike">
                <a:solidFill>
                  <a:srgbClr val="282828"/>
                </a:solidFill>
                <a:latin typeface="Arial"/>
              </a:rPr>
              <a:t>  The polarized dimple is the best reading on every line: 3 pm from 2.2e12 photons per cycle, two frames at once, no stepping, no fold, no fixed error, every modeled systematic calibrated by the matrix measured through it.  Fallback: the stepped scalar dimple, no polarization optics, 1.6× the light.</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Capture with the IFO or the stepped-pinhole PDI.</a:t>
            </a:r>
            <a:r>
              <a:rPr b="0" lang="en-US" sz="1400" spc="-1" strike="noStrike">
                <a:solidFill>
                  <a:srgbClr val="282828"/>
                </a:solidFill>
                <a:latin typeface="Arial"/>
              </a:rPr>
              <a:t>  The interferometer brings 200–400 nm of wavefront to 3 pm in 19–24 cycles with unwrapping alone; in the common path the stepped pinhole with its shutter frame captures 200 nm with unwrapping and three recalibrations.  A second color is the sensors' own route (future work).</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Build with either front end.</a:t>
            </a:r>
            <a:r>
              <a:rPr b="0" lang="en-US" sz="1400" spc="-1" strike="noStrike">
                <a:solidFill>
                  <a:srgbClr val="282828"/>
                </a:solidFill>
                <a:latin typeface="Arial"/>
              </a:rPr>
              <a:t>  Mirrors match lenses on every row and in the servo (2.0e13 vs 2.3e13 photons per cycle), read 1 pm for 30 % fewer photons, capture faster, take any color with no glass in the beam; they cost alignment tolerance (10 µrad = 100 nm of null) and a polarization calibration of the vector reading.  The measured trade is on the table for a ruling.</a:t>
            </a:r>
            <a:endParaRPr b="0" lang="en-US" sz="1400" spc="-1" strike="noStrike">
              <a:solidFill>
                <a:srgbClr val="000000"/>
              </a:solidFill>
              <a:latin typeface="Arial"/>
            </a:endParaRPr>
          </a:p>
        </p:txBody>
      </p:sp>
      <p:sp>
        <p:nvSpPr>
          <p:cNvPr id="179" name="TextBox 4"/>
          <p:cNvSpPr/>
          <p:nvPr/>
        </p:nvSpPr>
        <p:spPr>
          <a:xfrm>
            <a:off x="6400800" y="1298520"/>
            <a:ext cx="5394600" cy="4588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A testbed for four sensor architectures:</a:t>
            </a:r>
            <a:r>
              <a:rPr b="0" lang="en-US" sz="1400" spc="-1" strike="noStrike">
                <a:solidFill>
                  <a:srgbClr val="282828"/>
                </a:solidFill>
                <a:latin typeface="Arial"/>
              </a:rPr>
              <a:t> one layout — reference arm shuttered, mask seat translated, quarter-wave plate in or out, the P/SRI arm behind a flip-in plate.  Capture with the interferometer, hand off inside the sensor's 60 nm reach, hold with the sensor at a tenth of the light.</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A validation platform:</a:t>
            </a:r>
            <a:r>
              <a:rPr b="0" lang="en-US" sz="1400" spc="-1" strike="noStrike">
                <a:solidFill>
                  <a:srgbClr val="282828"/>
                </a:solidFill>
                <a:latin typeface="Arial"/>
              </a:rPr>
              <a:t> in air, experience and model validation; in vacuum, DM and sensor performance at TRL 5–6.</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What the numbers do not decide, experience will:</a:t>
            </a:r>
            <a:r>
              <a:rPr b="0" lang="en-US" sz="1400" spc="-1" strike="noStrike">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 and proves both.</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Technology still to develop:</a:t>
            </a:r>
            <a:r>
              <a:rPr b="0" lang="en-US" sz="1400" spc="-1" strike="noStrike">
                <a:solidFill>
                  <a:srgbClr val="282828"/>
                </a:solidFill>
                <a:latin typeface="Arial"/>
              </a:rPr>
              <a:t> the geometric-phase metasurface dimple (retardance to 0.1 rad) and the polarization optics behind it (plate at λ/300, cube extinction); the polarization camera's calibration; the piezo step's repeatability (a 2 % step error costs 2.6 % of gain uncalibrated); the stepped pinhole's phase stepping and attenuator (no device physics yet); the P/SRI's photonic chip (coupling, loss, drift); the camera's within-scan drift at 1e-3 of signal; a second color for capture.</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comes next, and how to run it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Three threads of future work, and the commands that reproduce every number in the deck, in the public repositories</a:t>
            </a:r>
            <a:endParaRPr b="0" lang="en-US" sz="1250" spc="-1" strike="noStrike">
              <a:solidFill>
                <a:srgbClr val="000000"/>
              </a:solidFill>
              <a:latin typeface="Arial"/>
            </a:endParaRPr>
          </a:p>
        </p:txBody>
      </p:sp>
      <p:sp>
        <p:nvSpPr>
          <p:cNvPr id="18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82" name="TextBox 3"/>
          <p:cNvSpPr/>
          <p:nvPr/>
        </p:nvSpPr>
        <p:spPr>
          <a:xfrm>
            <a:off x="411480" y="1298520"/>
            <a:ext cx="5806080" cy="2424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Capture beyond one wave with a second color:</a:t>
            </a:r>
            <a:r>
              <a:rPr b="0" lang="en-US" sz="1300" spc="-1" strike="noStrike">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From this model to as-built performance:</a:t>
            </a:r>
            <a:r>
              <a:rPr b="0" lang="en-US" sz="1300" spc="-1" strike="noStrike">
                <a:solidFill>
                  <a:srgbClr val="282828"/>
                </a:solidFill>
                <a:latin typeface="Arial"/>
              </a:rPr>
              <a:t> the camera's well depth sets the measurement time (1e14 photons is 1600 frames at 60 ke per pixel); surface, alignment, stability and polarization errors priced per reading (Backup).</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Other approaches worth a look:</a:t>
            </a:r>
            <a:r>
              <a:rPr b="0" lang="en-US" sz="1300" spc="-1" strike="noStrike">
                <a:solidFill>
                  <a:srgbClr val="282828"/>
                </a:solidFill>
                <a:latin typeface="Arial"/>
              </a:rPr>
              <a:t> a modeled large-figure solve, phase diversity, white-light scanning, heterodyne detection, direct-sequence metrology (Backup); and the one-sensor, two-DM loop.</a:t>
            </a:r>
            <a:endParaRPr b="0" lang="en-US" sz="1300" spc="-1" strike="noStrike">
              <a:solidFill>
                <a:srgbClr val="000000"/>
              </a:solidFill>
              <a:latin typeface="Arial"/>
            </a:endParaRPr>
          </a:p>
        </p:txBody>
      </p:sp>
      <p:sp>
        <p:nvSpPr>
          <p:cNvPr id="183" name="TextBox 4"/>
          <p:cNvSpPr/>
          <p:nvPr/>
        </p:nvSpPr>
        <p:spPr>
          <a:xfrm>
            <a:off x="6400800" y="1298520"/>
            <a:ext cx="5394600" cy="4362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Interferometer</a:t>
            </a:r>
            <a:r>
              <a:rPr b="0" lang="en-US" sz="1300" spc="-1" strike="noStrike">
                <a:solidFill>
                  <a:srgbClr val="282828"/>
                </a:solidFill>
                <a:latin typeface="Arial"/>
              </a:rPr>
              <a:t> (tg_psi_dm96_oap): tg96_run (lens rig); tg96_run('bench.optics','oap') (mirror rig); batch: ./tg96_batch.sh TAG "'stages',{'bench','loop','figs'}".</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Pupil image</a:t>
            </a:r>
            <a:r>
              <a:rPr b="0" lang="en-US" sz="1300" spc="-1" strike="noStrike">
                <a:solidFill>
                  <a:srgbClr val="282828"/>
                </a:solidFill>
                <a:latin typeface="Arial"/>
              </a:rPr>
              <a:t> (tg_psi_dm96_oap): tg96_pupilq('rig','lens'), tg96_pupilsim('rig','oap'); both tools, both rigs: ./tg96_pupil_batch.sh both.</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Zernike sensors</a:t>
            </a:r>
            <a:r>
              <a:rPr b="0" lang="en-US" sz="1300" spc="-1" strike="noStrike">
                <a:solidFill>
                  <a:srgbClr val="282828"/>
                </a:solidFill>
                <a:latin typeface="Arial"/>
              </a:rPr>
              <a:t> (zwfs_dm96): out = zwfs_run; (bench, battery, figures); mirror rig, all readings: zwfs_run('bench.optics','oap','readings',{'S','V','P','PF'},'stages',{'bench','battery','noise','loop'},'mask.v_arm','engine'); batch: ./zwfs_batch.sh TAG "...".</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Point-diffraction</a:t>
            </a:r>
            <a:r>
              <a:rPr b="0" lang="en-US" sz="1300" spc="-1" strike="noStrike">
                <a:solidFill>
                  <a:srgbClr val="282828"/>
                </a:solidFill>
                <a:latin typeface="Arial"/>
              </a:rPr>
              <a:t> (pdi_dm96): P = pdi_params; out = pdi_run(P);; pdi_run('pdi.DIA_LAMD',1.0,'stages',{'bench','battery','figs'}).</a:t>
            </a:r>
            <a:endParaRPr b="0" lang="en-US" sz="1300" spc="-1" strike="noStrike">
              <a:solidFill>
                <a:srgbClr val="000000"/>
              </a:solidFill>
              <a:latin typeface="Arial"/>
            </a:endParaRPr>
          </a:p>
          <a:p>
            <a:pPr defTabSz="457200">
              <a:lnSpc>
                <a:spcPct val="100000"/>
              </a:lnSpc>
              <a:spcAft>
                <a:spcPts val="601"/>
              </a:spcAft>
            </a:pPr>
            <a:r>
              <a:rPr b="0" lang="en-US" sz="1300" spc="-1" strike="noStrike">
                <a:solidFill>
                  <a:srgbClr val="282828"/>
                </a:solidFill>
                <a:latin typeface="Arial"/>
              </a:rPr>
              <a:t>•  </a:t>
            </a:r>
            <a:r>
              <a:rPr b="1" lang="en-US" sz="1300" spc="-1" strike="noStrike">
                <a:solidFill>
                  <a:srgbClr val="282828"/>
                </a:solidFill>
                <a:latin typeface="Arial"/>
              </a:rPr>
              <a:t>Where:</a:t>
            </a:r>
            <a:r>
              <a:rPr b="0" lang="en-US" sz="1300" spc="-1" strike="noStrike">
                <a:solidFill>
                  <a:srgbClr val="282828"/>
                </a:solidFill>
                <a:latin typeface="Arial"/>
              </a:rPr>
              <a:t> github nasa-jpl/macos and nasa-jpl/MACOS_resources: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endParaRPr b="0" lang="en-US" sz="1300" spc="-1" strike="noStrike">
              <a:solidFill>
                <a:srgbClr val="000000"/>
              </a:solidFill>
              <a:latin typeface="Arial"/>
            </a:endParaRPr>
          </a:p>
        </p:txBody>
      </p:sp>
      <p:sp>
        <p:nvSpPr>
          <p:cNvPr id="184" name="TextBox 5"/>
          <p:cNvSpPr/>
          <p:nvPr/>
        </p:nvSpPr>
        <p:spPr>
          <a:xfrm>
            <a:off x="320040" y="548640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TextBox 1"/>
          <p:cNvSpPr/>
          <p:nvPr/>
        </p:nvSpPr>
        <p:spPr>
          <a:xfrm>
            <a:off x="411480" y="201240"/>
            <a:ext cx="1136844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a:t>
            </a:r>
            <a:endParaRPr b="0" lang="en-US" sz="2400" spc="-1" strike="noStrike">
              <a:solidFill>
                <a:srgbClr val="000000"/>
              </a:solidFill>
              <a:latin typeface="Arial"/>
            </a:endParaRPr>
          </a:p>
        </p:txBody>
      </p:sp>
      <p:sp>
        <p:nvSpPr>
          <p:cNvPr id="186" name="Rectangle 2"/>
          <p:cNvSpPr/>
          <p:nvPr/>
        </p:nvSpPr>
        <p:spPr>
          <a:xfrm>
            <a:off x="411480" y="9144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modes, from launch to hold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Four operating modes and what carries the surface between them: the ground flat, the loop's own phase retrieval, capture, and the servo hold, with recalibration events</a:t>
            </a:r>
            <a:endParaRPr b="0" lang="en-US" sz="1250" spc="-1" strike="noStrike">
              <a:solidFill>
                <a:srgbClr val="000000"/>
              </a:solidFill>
              <a:latin typeface="Arial"/>
            </a:endParaRPr>
          </a:p>
        </p:txBody>
      </p:sp>
      <p:sp>
        <p:nvSpPr>
          <p:cNvPr id="18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89" name="Picture 3" descr="gauge_modes_flow.png"/>
          <p:cNvPicPr/>
          <p:nvPr/>
        </p:nvPicPr>
        <p:blipFill>
          <a:blip r:embed="rId1"/>
          <a:stretch/>
        </p:blipFill>
        <p:spPr>
          <a:xfrm>
            <a:off x="2516400" y="1298520"/>
            <a:ext cx="7158600" cy="3976920"/>
          </a:xfrm>
          <a:prstGeom prst="rect">
            <a:avLst/>
          </a:prstGeom>
          <a:ln w="0">
            <a:noFill/>
          </a:ln>
        </p:spPr>
      </p:pic>
      <p:sp>
        <p:nvSpPr>
          <p:cNvPr id="190" name="TextBox 4"/>
          <p:cNvSpPr/>
          <p:nvPr/>
        </p:nvSpPr>
        <p:spPr>
          <a:xfrm>
            <a:off x="411480" y="5293800"/>
            <a:ext cx="1136844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operating modes as a flow: ground flat, image-based phase retrieval, capture, closed-loop hold; the readings' capture limits under the capture box; recalibration events above.</a:t>
            </a:r>
            <a:endParaRPr b="0" lang="en-US" sz="1000" spc="-1" strike="noStrike">
              <a:solidFill>
                <a:srgbClr val="000000"/>
              </a:solidFill>
              <a:latin typeface="Arial"/>
            </a:endParaRPr>
          </a:p>
        </p:txBody>
      </p:sp>
      <p:sp>
        <p:nvSpPr>
          <p:cNvPr id="191"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loop's own focal-plane phase retrieval wraps at half a wave of high-spatial-frequency wavefront, one wave before the gauges do; its reach sets what capture must cover.  Drawn by gauge_modes_flow.m.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splitter angle: three options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7° cannot be built; 22.5° clears every part and is the choice; 30° adds margin at the price of a wider bench and more plate polarization</a:t>
            </a:r>
            <a:endParaRPr b="0" lang="en-US" sz="1250" spc="-1" strike="noStrike">
              <a:solidFill>
                <a:srgbClr val="000000"/>
              </a:solidFill>
              <a:latin typeface="Arial"/>
            </a:endParaRPr>
          </a:p>
        </p:txBody>
      </p:sp>
      <p:sp>
        <p:nvSpPr>
          <p:cNvPr id="19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94" name="Picture 3" descr="bench_three_nodes.png"/>
          <p:cNvPicPr/>
          <p:nvPr/>
        </p:nvPicPr>
        <p:blipFill>
          <a:blip r:embed="rId1"/>
          <a:stretch/>
        </p:blipFill>
        <p:spPr>
          <a:xfrm>
            <a:off x="2390400" y="1298520"/>
            <a:ext cx="7410600" cy="1434240"/>
          </a:xfrm>
          <a:prstGeom prst="rect">
            <a:avLst/>
          </a:prstGeom>
          <a:ln w="0">
            <a:noFill/>
          </a:ln>
        </p:spPr>
      </p:pic>
      <p:sp>
        <p:nvSpPr>
          <p:cNvPr id="195" name="TextBox 4"/>
          <p:cNvSpPr/>
          <p:nvPr/>
        </p:nvSpPr>
        <p:spPr>
          <a:xfrm>
            <a:off x="411480" y="275148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endParaRPr b="0" lang="en-US" sz="1000" spc="-1" strike="noStrike">
              <a:solidFill>
                <a:srgbClr val="000000"/>
              </a:solidFill>
              <a:latin typeface="Arial"/>
            </a:endParaRPr>
          </a:p>
        </p:txBody>
      </p:sp>
      <p:graphicFrame>
        <p:nvGraphicFramePr>
          <p:cNvPr id="196" name="Table 5"/>
          <p:cNvGraphicFramePr/>
          <p:nvPr/>
        </p:nvGraphicFramePr>
        <p:xfrm>
          <a:off x="411480" y="3182040"/>
          <a:ext cx="11368440" cy="3182760"/>
        </p:xfrm>
        <a:graphic>
          <a:graphicData uri="http://schemas.openxmlformats.org/drawingml/2006/table">
            <a:tbl>
              <a:tblPr/>
              <a:tblGrid>
                <a:gridCol w="3410280"/>
                <a:gridCol w="2273400"/>
                <a:gridCol w="3284280"/>
                <a:gridCol w="23997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impact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7° (record)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22.5° (choice)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30°</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node clearance, worst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109 mm: not buildable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 output optics +55 / +65; L2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the rest +178 or more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bench shape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all four legs within 14° of one line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45° to the source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plate's polarization (mean diattenuation, uniform)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pupil-varying part (the lenses; what the sensors feel)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sensor, channel phase difference /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1.63 mrad / 9.0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1.66 mrad / 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1.69 mrad / 9.1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transmitted beam shift in the 2.6 mm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0.36 mm (1.4 at 10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small-angle case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plate systematics re-run at this angle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larger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97" name="TextBox 6"/>
          <p:cNvSpPr/>
          <p:nvPr/>
        </p:nvSpPr>
        <p:spPr>
          <a:xfrm>
            <a:off x="411480" y="64008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interferometer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the reference arm and the two phase-shift forms add to the common bench</a:t>
            </a:r>
            <a:endParaRPr b="0" lang="en-US" sz="1250" spc="-1" strike="noStrike">
              <a:solidFill>
                <a:srgbClr val="000000"/>
              </a:solidFill>
              <a:latin typeface="Arial"/>
            </a:endParaRPr>
          </a:p>
        </p:txBody>
      </p:sp>
      <p:sp>
        <p:nvSpPr>
          <p:cNvPr id="19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00" name="Table 3"/>
          <p:cNvGraphicFramePr/>
          <p:nvPr/>
        </p:nvGraphicFramePr>
        <p:xfrm>
          <a:off x="411480" y="1298520"/>
          <a:ext cx="11368440" cy="4977360"/>
        </p:xfrm>
        <a:graphic>
          <a:graphicData uri="http://schemas.openxmlformats.org/drawingml/2006/table">
            <a:tbl>
              <a:tblPr/>
              <a:tblGrid>
                <a:gridCol w="1090440"/>
                <a:gridCol w="1930680"/>
                <a:gridCol w="2844000"/>
                <a:gridCol w="2397960"/>
                <a:gridCol w="509400"/>
                <a:gridCol w="2594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 / 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all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reference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λ/20; 564 mm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external reference: the arm that makes this the one gauge to capture a whole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piezo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closed-loop piezo stage under the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stroke over one wave (633 nm) in four steps of λ/8 of surface; closed-loop, since the step error is read directly as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steps the reference phase; a 2% step error is priced in the servo, and the stepping is what exposes it to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input polarizer; one quarter-wave plate in each arm, double-passed; output quarter-wave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zero-order plates on 2-3 mm substrates; azimuths 45 / 0 / 45 /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codes the four channels in polarization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piezo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analyzer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polarizer on a 2 mm substrate, 160 mm behind the splitter with the output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sets the interference to be read; in the snapshot form the camera's own micro-polarizer array does this job four ways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camera, replacing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micro-polarizer array 0 / 45 / 90 / 135° over a 2048×2048 sCMOS, 3.45 µm pixels in 2×2 super-pixels, 680 per orientation across the pupil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four analyzer channels in one frame: no moving part, and immune to the drift within a scan that the piezo form pays 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cube (backup)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cemented polarizing cube in place of the plate and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class MacNeille, symmetric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ZnS / cryolite on n 1.655 glass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split as polarization physics; no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01" name="TextBox 4"/>
          <p:cNvSpPr/>
          <p:nvPr/>
        </p:nvSpPr>
        <p:spPr>
          <a:xfrm>
            <a:off x="411480" y="64224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hybrid form uses the snapshot parts for every change measurement and the piezo for the absolute calibration; both live on the same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sensors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each focal-plane sensor adds to the common bench: one substrate on the mask seat, and the vector sensor's split behind the field lens</a:t>
            </a:r>
            <a:endParaRPr b="0" lang="en-US" sz="1250" spc="-1" strike="noStrike">
              <a:solidFill>
                <a:srgbClr val="000000"/>
              </a:solidFill>
              <a:latin typeface="Arial"/>
            </a:endParaRPr>
          </a:p>
        </p:txBody>
      </p:sp>
      <p:sp>
        <p:nvSpPr>
          <p:cNvPr id="20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04" name="Table 3"/>
          <p:cNvGraphicFramePr/>
          <p:nvPr/>
        </p:nvGraphicFramePr>
        <p:xfrm>
          <a:off x="411480" y="1298520"/>
          <a:ext cx="11368440" cy="3565800"/>
        </p:xfrm>
        <a:graphic>
          <a:graphicData uri="http://schemas.openxmlformats.org/drawingml/2006/table">
            <a:tbl>
              <a:tblPr/>
              <a:tblGrid>
                <a:gridCol w="1671480"/>
                <a:gridCol w="2188440"/>
                <a:gridCol w="2918160"/>
                <a:gridCol w="1026720"/>
                <a:gridCol w="509400"/>
                <a:gridCol w="3053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sensor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etched mask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a 3×3 array of dimples 346 nm deep (a quarter wave), the chosen 5.3 µm (2.0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bare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beam's own core; stepped by translating between depths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geometric-phase metasurface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 the mask seat: a half-wave dimple pattern, +90° on one circular state and −90° on the other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dielectric metasurface on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two images with opposite dimple sign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 split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quarter-wave plate; polarizing cube; camera B</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zero-order plate at λ/300 on a 2 mm substrate; 12.7 mm cemented MacNeille cube; a second sCMOS like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 ZnS / cryolite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separates the two circular states onto two cameras, both frames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quarter-wave plate; the interferometer's polarization camera in place of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zero-order plate; the micro-polarizer array already on the bench for the snapshot 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two states read on one camera: one detector, no split leg to align, at a quarter of the pixels per state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pinhole plate on a phase-stepping stage;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5.27 µm pinhole, surround attenuated to 0.72 in amplitude; steps of an eighth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metal-film attenuator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core through the pinhole; the shutter frame reads the reference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05" name="TextBox 4"/>
          <p:cNvSpPr/>
          <p:nvPr/>
        </p:nvSpPr>
        <p:spPr>
          <a:xfrm>
            <a:off x="292680" y="57423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the node at 22.5°</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endParaRPr b="0" lang="en-US" sz="1250" spc="-1" strike="noStrike">
              <a:solidFill>
                <a:srgbClr val="000000"/>
              </a:solidFill>
              <a:latin typeface="Arial"/>
            </a:endParaRPr>
          </a:p>
        </p:txBody>
      </p:sp>
      <p:sp>
        <p:nvSpPr>
          <p:cNvPr id="20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08" name="Picture 3" descr="crop_bench_bs22_node.png"/>
          <p:cNvPicPr/>
          <p:nvPr/>
        </p:nvPicPr>
        <p:blipFill>
          <a:blip r:embed="rId1"/>
          <a:stretch/>
        </p:blipFill>
        <p:spPr>
          <a:xfrm>
            <a:off x="3309480" y="1298520"/>
            <a:ext cx="5572080" cy="3280680"/>
          </a:xfrm>
          <a:prstGeom prst="rect">
            <a:avLst/>
          </a:prstGeom>
          <a:ln w="0">
            <a:noFill/>
          </a:ln>
        </p:spPr>
      </p:pic>
      <p:sp>
        <p:nvSpPr>
          <p:cNvPr id="209" name="TextBox 4"/>
          <p:cNvSpPr/>
          <p:nvPr/>
        </p:nvSpPr>
        <p:spPr>
          <a:xfrm>
            <a:off x="411480" y="4597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endParaRPr b="0" lang="en-US" sz="1000" spc="-1" strike="noStrike">
              <a:solidFill>
                <a:srgbClr val="000000"/>
              </a:solidFill>
              <a:latin typeface="Arial"/>
            </a:endParaRPr>
          </a:p>
        </p:txBody>
      </p:sp>
      <p:sp>
        <p:nvSpPr>
          <p:cNvPr id="210" name="TextBox 5"/>
          <p:cNvSpPr/>
          <p:nvPr/>
        </p:nvSpPr>
        <p:spPr>
          <a:xfrm>
            <a:off x="411480" y="519372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endParaRPr b="0" lang="en-US" sz="1250" spc="-1" strike="noStrike">
              <a:solidFill>
                <a:srgbClr val="000000"/>
              </a:solidFill>
              <a:latin typeface="Arial"/>
            </a:endParaRPr>
          </a:p>
        </p:txBody>
      </p:sp>
      <p:sp>
        <p:nvSpPr>
          <p:cNvPr id="21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13" name="Picture 3" descr="redo96_oapstn2_stations.png"/>
          <p:cNvPicPr/>
          <p:nvPr/>
        </p:nvPicPr>
        <p:blipFill>
          <a:blip r:embed="rId1"/>
          <a:stretch/>
        </p:blipFill>
        <p:spPr>
          <a:xfrm>
            <a:off x="1226880" y="1298520"/>
            <a:ext cx="9737640" cy="2531520"/>
          </a:xfrm>
          <a:prstGeom prst="rect">
            <a:avLst/>
          </a:prstGeom>
          <a:ln w="0">
            <a:noFill/>
          </a:ln>
        </p:spPr>
      </p:pic>
      <p:sp>
        <p:nvSpPr>
          <p:cNvPr id="214" name="TextBox 4"/>
          <p:cNvSpPr/>
          <p:nvPr/>
        </p:nvSpPr>
        <p:spPr>
          <a:xfrm>
            <a:off x="411480" y="38487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endParaRPr b="0" lang="en-US" sz="1000" spc="-1" strike="noStrike">
              <a:solidFill>
                <a:srgbClr val="000000"/>
              </a:solidFill>
              <a:latin typeface="Arial"/>
            </a:endParaRPr>
          </a:p>
        </p:txBody>
      </p:sp>
      <p:sp>
        <p:nvSpPr>
          <p:cNvPr id="215" name="TextBox 5"/>
          <p:cNvSpPr/>
          <p:nvPr/>
        </p:nvSpPr>
        <p:spPr>
          <a:xfrm>
            <a:off x="411480" y="427932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residual column is the absolute read against the engine:</a:t>
            </a:r>
            <a:r>
              <a:rPr b="0" lang="en-US" sz="1500" spc="-1" strike="noStrike">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endParaRPr b="0" lang="en-US" sz="1500" spc="-1" strike="noStrike">
              <a:solidFill>
                <a:srgbClr val="000000"/>
              </a:solidFill>
              <a:latin typeface="Arial"/>
            </a:endParaRPr>
          </a:p>
        </p:txBody>
      </p:sp>
      <p:sp>
        <p:nvSpPr>
          <p:cNvPr id="216" name="TextBox 6"/>
          <p:cNvSpPr/>
          <p:nvPr/>
        </p:nvSpPr>
        <p:spPr>
          <a:xfrm>
            <a:off x="411480" y="5199120"/>
            <a:ext cx="1136844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Pupil imaging: the DM's modes through the detector leg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endParaRPr b="0" lang="en-US" sz="1250" spc="-1" strike="noStrike">
              <a:solidFill>
                <a:srgbClr val="000000"/>
              </a:solidFill>
              <a:latin typeface="Arial"/>
            </a:endParaRPr>
          </a:p>
        </p:txBody>
      </p:sp>
      <p:sp>
        <p:nvSpPr>
          <p:cNvPr id="21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19" name="Picture 3" descr="pupilsim_redo_lens_gain.png"/>
          <p:cNvPicPr/>
          <p:nvPr/>
        </p:nvPicPr>
        <p:blipFill>
          <a:blip r:embed="rId1"/>
          <a:srcRect l="8739" t="0" r="8079" b="1762"/>
          <a:stretch/>
        </p:blipFill>
        <p:spPr>
          <a:xfrm>
            <a:off x="45720" y="1691640"/>
            <a:ext cx="6967440" cy="2742840"/>
          </a:xfrm>
          <a:prstGeom prst="rect">
            <a:avLst/>
          </a:prstGeom>
          <a:ln w="0">
            <a:noFill/>
          </a:ln>
        </p:spPr>
      </p:pic>
      <p:sp>
        <p:nvSpPr>
          <p:cNvPr id="220" name="TextBox 4"/>
          <p:cNvSpPr/>
          <p:nvPr/>
        </p:nvSpPr>
        <p:spPr>
          <a:xfrm>
            <a:off x="411480" y="5394960"/>
            <a:ext cx="6967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endParaRPr b="0" lang="en-US" sz="1000" spc="-1" strike="noStrike">
              <a:solidFill>
                <a:srgbClr val="000000"/>
              </a:solidFill>
              <a:latin typeface="Arial"/>
            </a:endParaRPr>
          </a:p>
        </p:txBody>
      </p:sp>
      <p:graphicFrame>
        <p:nvGraphicFramePr>
          <p:cNvPr id="221" name="Table 5"/>
          <p:cNvGraphicFramePr/>
          <p:nvPr/>
        </p:nvGraphicFramePr>
        <p:xfrm>
          <a:off x="7086600" y="1298520"/>
          <a:ext cx="4708800" cy="959760"/>
        </p:xfrm>
        <a:graphic>
          <a:graphicData uri="http://schemas.openxmlformats.org/drawingml/2006/table">
            <a:tbl>
              <a:tblPr/>
              <a:tblGrid>
                <a:gridCol w="1960920"/>
                <a:gridCol w="542520"/>
                <a:gridCol w="542520"/>
                <a:gridCol w="542520"/>
                <a:gridCol w="1120320"/>
              </a:tblGrid>
              <a:tr h="434160">
                <a:tc>
                  <a:txBody>
                    <a:bodyPr lIns="54720" rIns="54720" tIns="18000" bIns="18000" anchor="t">
                      <a:noAutofit/>
                    </a:bodyPr>
                    <a:p>
                      <a:pPr defTabSz="457200">
                        <a:lnSpc>
                          <a:spcPct val="100000"/>
                        </a:lnSpc>
                      </a:pPr>
                      <a:r>
                        <a:rPr b="1" lang="en-US" sz="1000" spc="-1" strike="noStrike">
                          <a:solidFill>
                            <a:srgbClr val="ffffff"/>
                          </a:solidFill>
                          <a:latin typeface="Arial"/>
                        </a:rPr>
                        <a:t>gain at the actuator Nyquist (2 mm)</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center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edge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worst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30 nm surface, error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lens rig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42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mirror rig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92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22" name="TextBox 6"/>
          <p:cNvSpPr/>
          <p:nvPr/>
        </p:nvSpPr>
        <p:spPr>
          <a:xfrm>
            <a:off x="7086600" y="2688480"/>
            <a:ext cx="4708800" cy="23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How:</a:t>
            </a:r>
            <a:r>
              <a:rPr b="0" lang="en-US" sz="1150" spc="-1" strike="noStrike">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endParaRPr b="0" lang="en-US" sz="1150" spc="-1" strike="noStrike">
              <a:solidFill>
                <a:srgbClr val="000000"/>
              </a:solidFill>
              <a:latin typeface="Arial"/>
            </a:endParaRPr>
          </a:p>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The camera is at the pupil image</a:t>
            </a:r>
            <a:r>
              <a:rPr b="0" lang="en-US" sz="1150" spc="-1" strike="noStrike">
                <a:solidFill>
                  <a:srgbClr val="282828"/>
                </a:solidFill>
                <a:latin typeface="Arial"/>
              </a:rPr>
              <a:t>, and the best detector move from here is </a:t>
            </a:r>
            <a:r>
              <a:rPr b="1" lang="en-US" sz="1150" spc="-1" strike="noStrike">
                <a:solidFill>
                  <a:srgbClr val="282828"/>
                </a:solidFill>
                <a:latin typeface="Arial"/>
              </a:rPr>
              <a:t>−0.00 mm</a:t>
            </a:r>
            <a:r>
              <a:rPr b="0" lang="en-US" sz="1150" spc="-1" strike="noStrike">
                <a:solidFill>
                  <a:srgbClr val="282828"/>
                </a:solidFill>
                <a:latin typeface="Arial"/>
              </a:rPr>
              <a:t>: there is nothing left to correct.  The band-edge quadratic phase is 0.000 rad rms on lenses and 0.013 on mirrors, so the gain at the actuator Nyquist is 1.0000 and 0.9994.</a:t>
            </a:r>
            <a:endParaRPr b="0" lang="en-US" sz="1150" spc="-1" strike="noStrike">
              <a:solidFill>
                <a:srgbClr val="000000"/>
              </a:solidFill>
              <a:latin typeface="Arial"/>
            </a:endParaRPr>
          </a:p>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The beam of record under-filled the DM</a:t>
            </a:r>
            <a:r>
              <a:rPr b="0" lang="en-US" sz="1150" spc="-1" strike="noStrike">
                <a:solidFill>
                  <a:srgbClr val="282828"/>
                </a:solidFill>
                <a:latin typeface="Arial"/>
              </a:rPr>
              <a:t> (77 / 82 mm of 96): the baffle is now opened and the aperture sits on the DM; runs from 2026-09-17 carry the full 96 mm.</a:t>
            </a:r>
            <a:endParaRPr b="0" lang="en-US" sz="1150" spc="-1" strike="noStrike">
              <a:solidFill>
                <a:srgbClr val="000000"/>
              </a:solidFill>
              <a:latin typeface="Arial"/>
            </a:endParaRPr>
          </a:p>
        </p:txBody>
      </p:sp>
      <p:sp>
        <p:nvSpPr>
          <p:cNvPr id="223" name="TextBox 7"/>
          <p:cNvSpPr/>
          <p:nvPr/>
        </p:nvSpPr>
        <p:spPr>
          <a:xfrm>
            <a:off x="7315200" y="5614560"/>
            <a:ext cx="44802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Scalar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endParaRPr b="0" lang="en-US" sz="1250" spc="-1" strike="noStrike">
              <a:solidFill>
                <a:srgbClr val="000000"/>
              </a:solidFill>
              <a:latin typeface="Arial"/>
            </a:endParaRPr>
          </a:p>
        </p:txBody>
      </p:sp>
      <p:sp>
        <p:nvSpPr>
          <p:cNvPr id="22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26" name="Picture 3" descr="stations193_oap_stations_S.png"/>
          <p:cNvPicPr/>
          <p:nvPr/>
        </p:nvPicPr>
        <p:blipFill>
          <a:blip r:embed="rId1"/>
          <a:stretch/>
        </p:blipFill>
        <p:spPr>
          <a:xfrm>
            <a:off x="2493000" y="1298520"/>
            <a:ext cx="7205040" cy="2018520"/>
          </a:xfrm>
          <a:prstGeom prst="rect">
            <a:avLst/>
          </a:prstGeom>
          <a:ln w="0">
            <a:noFill/>
          </a:ln>
        </p:spPr>
      </p:pic>
      <p:sp>
        <p:nvSpPr>
          <p:cNvPr id="227" name="TextBox 4"/>
          <p:cNvSpPr/>
          <p:nvPr/>
        </p:nvSpPr>
        <p:spPr>
          <a:xfrm>
            <a:off x="411480" y="333540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endParaRPr b="0" lang="en-US" sz="1000" spc="-1" strike="noStrike">
              <a:solidFill>
                <a:srgbClr val="000000"/>
              </a:solidFill>
              <a:latin typeface="Arial"/>
            </a:endParaRPr>
          </a:p>
        </p:txBody>
      </p:sp>
      <p:sp>
        <p:nvSpPr>
          <p:cNvPr id="228" name="TextBox 5"/>
          <p:cNvSpPr/>
          <p:nvPr/>
        </p:nvSpPr>
        <p:spPr>
          <a:xfrm>
            <a:off x="411480" y="4096440"/>
            <a:ext cx="11368440" cy="1232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reference wave</a:t>
            </a:r>
            <a:r>
              <a:rPr b="0" lang="en-US" sz="1500" spc="-1" strike="noStrike">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endParaRPr b="0" lang="en-US" sz="1500" spc="-1" strike="noStrike">
              <a:solidFill>
                <a:srgbClr val="000000"/>
              </a:solidFill>
              <a:latin typeface="Arial"/>
            </a:endParaRPr>
          </a:p>
        </p:txBody>
      </p:sp>
      <p:sp>
        <p:nvSpPr>
          <p:cNvPr id="229" name="TextBox 6"/>
          <p:cNvSpPr/>
          <p:nvPr/>
        </p:nvSpPr>
        <p:spPr>
          <a:xfrm>
            <a:off x="411480" y="575928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residual column is the raw pixel map against the engine's field, before any calibration; the performance rows and the servo use the calibrated estimate.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 to the two cameras, both channel decks traced by the engine</a:t>
            </a:r>
            <a:endParaRPr b="0" lang="en-US" sz="1250" spc="-1" strike="noStrike">
              <a:solidFill>
                <a:srgbClr val="000000"/>
              </a:solidFill>
              <a:latin typeface="Arial"/>
            </a:endParaRPr>
          </a:p>
        </p:txBody>
      </p:sp>
      <p:sp>
        <p:nvSpPr>
          <p:cNvPr id="23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32" name="Picture 3" descr="crop_zwfs_vlayout_tail.png"/>
          <p:cNvPicPr/>
          <p:nvPr/>
        </p:nvPicPr>
        <p:blipFill>
          <a:blip r:embed="rId1"/>
          <a:stretch/>
        </p:blipFill>
        <p:spPr>
          <a:xfrm>
            <a:off x="3601080" y="1298520"/>
            <a:ext cx="4988880" cy="3445920"/>
          </a:xfrm>
          <a:prstGeom prst="rect">
            <a:avLst/>
          </a:prstGeom>
          <a:ln w="0">
            <a:noFill/>
          </a:ln>
        </p:spPr>
      </p:pic>
      <p:sp>
        <p:nvSpPr>
          <p:cNvPr id="233" name="TextBox 4"/>
          <p:cNvSpPr/>
          <p:nvPr/>
        </p:nvSpPr>
        <p:spPr>
          <a:xfrm>
            <a:off x="411480" y="47631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endParaRPr b="0" lang="en-US" sz="1000" spc="-1" strike="noStrike">
              <a:solidFill>
                <a:srgbClr val="000000"/>
              </a:solidFill>
              <a:latin typeface="Arial"/>
            </a:endParaRPr>
          </a:p>
        </p:txBody>
      </p:sp>
      <p:sp>
        <p:nvSpPr>
          <p:cNvPr id="234" name="TextBox 5"/>
          <p:cNvSpPr/>
          <p:nvPr/>
        </p:nvSpPr>
        <p:spPr>
          <a:xfrm>
            <a:off x="411480" y="5193720"/>
            <a:ext cx="1136844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same polarization camera as the interferometer's snapshot form would replace the cube and one camera:</a:t>
            </a:r>
            <a:r>
              <a:rPr b="0" lang="en-US" sz="1500" spc="-1" strike="noStrike">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endParaRPr b="0" lang="en-US" sz="1500" spc="-1" strike="noStrike">
              <a:solidFill>
                <a:srgbClr val="000000"/>
              </a:solidFill>
              <a:latin typeface="Arial"/>
            </a:endParaRPr>
          </a:p>
        </p:txBody>
      </p:sp>
      <p:sp>
        <p:nvSpPr>
          <p:cNvPr id="235" name="TextBox 6"/>
          <p:cNvSpPr/>
          <p:nvPr/>
        </p:nvSpPr>
        <p:spPr>
          <a:xfrm>
            <a:off x="411480" y="63612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endParaRPr b="0" lang="en-US" sz="1250" spc="-1" strike="noStrike">
              <a:solidFill>
                <a:srgbClr val="000000"/>
              </a:solidFill>
              <a:latin typeface="Arial"/>
            </a:endParaRPr>
          </a:p>
        </p:txBody>
      </p:sp>
      <p:sp>
        <p:nvSpPr>
          <p:cNvPr id="23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38" name="Picture 3" descr="stations193_oap_stations_V.png"/>
          <p:cNvPicPr/>
          <p:nvPr/>
        </p:nvPicPr>
        <p:blipFill>
          <a:blip r:embed="rId1"/>
          <a:stretch/>
        </p:blipFill>
        <p:spPr>
          <a:xfrm>
            <a:off x="2198520" y="1298520"/>
            <a:ext cx="7794360" cy="2183400"/>
          </a:xfrm>
          <a:prstGeom prst="rect">
            <a:avLst/>
          </a:prstGeom>
          <a:ln w="0">
            <a:noFill/>
          </a:ln>
        </p:spPr>
      </p:pic>
      <p:sp>
        <p:nvSpPr>
          <p:cNvPr id="239"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endParaRPr b="0" lang="en-US" sz="1000" spc="-1" strike="noStrike">
              <a:solidFill>
                <a:srgbClr val="000000"/>
              </a:solidFill>
              <a:latin typeface="Arial"/>
            </a:endParaRPr>
          </a:p>
        </p:txBody>
      </p:sp>
      <p:sp>
        <p:nvSpPr>
          <p:cNvPr id="240"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 the flat the two images are complementary</a:t>
            </a:r>
            <a:r>
              <a:rPr b="0" lang="en-US" sz="1500" spc="-1" strike="noStrike">
                <a:solidFill>
                  <a:srgbClr val="282828"/>
                </a:solidFill>
                <a:latin typeface="Arial"/>
              </a:rPr>
              <a:t> (dark center on A, bright on B: the dimple's sign); on the working surface each carries the surface's structure, and their per-pixel combination gives the phase with no branch choice and no stepping.</a:t>
            </a:r>
            <a:endParaRPr b="0" lang="en-US" sz="1500" spc="-1" strike="noStrike">
              <a:solidFill>
                <a:srgbClr val="000000"/>
              </a:solidFill>
              <a:latin typeface="Arial"/>
            </a:endParaRPr>
          </a:p>
        </p:txBody>
      </p:sp>
      <p:sp>
        <p:nvSpPr>
          <p:cNvPr id="241" name="TextBox 6"/>
          <p:cNvSpPr/>
          <p:nvPr/>
        </p:nvSpPr>
        <p:spPr>
          <a:xfrm>
            <a:off x="411480" y="501624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focuser to the camera, with the pinhole substrate at the internal focus</a:t>
            </a:r>
            <a:endParaRPr b="0" lang="en-US" sz="1250" spc="-1" strike="noStrike">
              <a:solidFill>
                <a:srgbClr val="000000"/>
              </a:solidFill>
              <a:latin typeface="Arial"/>
            </a:endParaRPr>
          </a:p>
        </p:txBody>
      </p:sp>
      <p:sp>
        <p:nvSpPr>
          <p:cNvPr id="24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44" name="Picture 3" descr="crop_pdi_layout_tail.png"/>
          <p:cNvPicPr/>
          <p:nvPr/>
        </p:nvPicPr>
        <p:blipFill>
          <a:blip r:embed="rId1"/>
          <a:stretch/>
        </p:blipFill>
        <p:spPr>
          <a:xfrm>
            <a:off x="3485160" y="1298520"/>
            <a:ext cx="5220720" cy="3811680"/>
          </a:xfrm>
          <a:prstGeom prst="rect">
            <a:avLst/>
          </a:prstGeom>
          <a:ln w="0">
            <a:noFill/>
          </a:ln>
        </p:spPr>
      </p:pic>
      <p:sp>
        <p:nvSpPr>
          <p:cNvPr id="245" name="TextBox 4"/>
          <p:cNvSpPr/>
          <p:nvPr/>
        </p:nvSpPr>
        <p:spPr>
          <a:xfrm>
            <a:off x="411480" y="5128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endParaRPr b="0" lang="en-US" sz="1000" spc="-1" strike="noStrike">
              <a:solidFill>
                <a:srgbClr val="000000"/>
              </a:solidFill>
              <a:latin typeface="Arial"/>
            </a:endParaRPr>
          </a:p>
        </p:txBody>
      </p:sp>
      <p:sp>
        <p:nvSpPr>
          <p:cNvPr id="246"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Stepped pinhole,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endParaRPr b="0" lang="en-US" sz="1250" spc="-1" strike="noStrike">
              <a:solidFill>
                <a:srgbClr val="000000"/>
              </a:solidFill>
              <a:latin typeface="Arial"/>
            </a:endParaRPr>
          </a:p>
        </p:txBody>
      </p:sp>
      <p:sp>
        <p:nvSpPr>
          <p:cNvPr id="24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49" name="Picture 3" descr="stations193_oap_stations_P.png"/>
          <p:cNvPicPr/>
          <p:nvPr/>
        </p:nvPicPr>
        <p:blipFill>
          <a:blip r:embed="rId1"/>
          <a:stretch/>
        </p:blipFill>
        <p:spPr>
          <a:xfrm>
            <a:off x="2198520" y="1298520"/>
            <a:ext cx="7794360" cy="2183400"/>
          </a:xfrm>
          <a:prstGeom prst="rect">
            <a:avLst/>
          </a:prstGeom>
          <a:ln w="0">
            <a:noFill/>
          </a:ln>
        </p:spPr>
      </p:pic>
      <p:sp>
        <p:nvSpPr>
          <p:cNvPr id="250"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endParaRPr b="0" lang="en-US" sz="1000" spc="-1" strike="noStrike">
              <a:solidFill>
                <a:srgbClr val="000000"/>
              </a:solidFill>
              <a:latin typeface="Arial"/>
            </a:endParaRPr>
          </a:p>
        </p:txBody>
      </p:sp>
      <p:sp>
        <p:nvSpPr>
          <p:cNvPr id="251"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shutter frame measures the reference by itself</a:t>
            </a:r>
            <a:r>
              <a:rPr b="0" lang="en-US" sz="1500" spc="-1" strike="noStrike">
                <a:solidFill>
                  <a:srgbClr val="282828"/>
                </a:solidFill>
                <a:latin typeface="Arial"/>
              </a:rPr>
              <a:t>, state by state; that is what lets this reading keep its calibration to 480 nm of surface where the dimple's self-reference collapses at 60.</a:t>
            </a:r>
            <a:endParaRPr b="0" lang="en-US" sz="1500" spc="-1" strike="noStrike">
              <a:solidFill>
                <a:srgbClr val="000000"/>
              </a:solidFill>
              <a:latin typeface="Arial"/>
            </a:endParaRPr>
          </a:p>
        </p:txBody>
      </p:sp>
      <p:sp>
        <p:nvSpPr>
          <p:cNvPr id="252" name="TextBox 6"/>
          <p:cNvSpPr/>
          <p:nvPr/>
        </p:nvSpPr>
        <p:spPr>
          <a:xfrm>
            <a:off x="411480" y="47685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0.73 nm (gain 0.981) is the raw map's error with the flat's calibration, run stations193_oap on the mirror rig; through the matrix on the surface the pinhole reads 0.9935 / 4 pm, the same as the vector dimple.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second half: the photon price of working off null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endParaRPr b="0" lang="en-US" sz="1250" spc="-1" strike="noStrike">
              <a:solidFill>
                <a:srgbClr val="000000"/>
              </a:solidFill>
              <a:latin typeface="Arial"/>
            </a:endParaRPr>
          </a:p>
        </p:txBody>
      </p:sp>
      <p:sp>
        <p:nvSpPr>
          <p:cNvPr id="25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55" name="Table 3"/>
          <p:cNvGraphicFramePr/>
          <p:nvPr/>
        </p:nvGraphicFramePr>
        <p:xfrm>
          <a:off x="411480" y="1298520"/>
          <a:ext cx="11368440" cy="3657240"/>
        </p:xfrm>
        <a:graphic>
          <a:graphicData uri="http://schemas.openxmlformats.org/drawingml/2006/table">
            <a:tbl>
              <a:tblPr/>
              <a:tblGrid>
                <a:gridCol w="2034720"/>
                <a:gridCol w="7275240"/>
                <a:gridCol w="2058120"/>
              </a:tblGrid>
              <a:tr h="65700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the grid sites, matrix re-measured at 60 / 120 / 160 nm: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per measurement for 1 pm at 30 / 60 / 120 / 160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0.94 / 50,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1.2e14, 5.3e14, 4.6e15, 7.5e15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6,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4.6e13, 1.4e14, 2.4e15, 4.5e15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 / 16,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1.5e14, 3.0e14, 3.0e15, 7.3e15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1.001 / 2, 0.996 / 2, 0.996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 8.6e14, 5.9e14, 6.6e14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0.989 / 2, 0.995 / 2, 0.995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 5.3e14, 4.9e14, 4.4e14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either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2 pm to 60 nm; between 60 and 120 nm the raw four-step reading wraps (the base past λ/2 of surface reads 91 nm rms whatever it is) on lens and mirror rigs alike; unwrapping restores it (next slides)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56" name="TextBox 4"/>
          <p:cNvSpPr/>
          <p:nvPr/>
        </p:nvSpPr>
        <p:spPr>
          <a:xfrm>
            <a:off x="411480" y="510228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What this says:</a:t>
            </a:r>
            <a:r>
              <a:rPr b="0" lang="en-US" sz="1500" spc="-1" strike="noStrike">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endParaRPr b="0" lang="en-US" sz="1500" spc="-1" strike="noStrike">
              <a:solidFill>
                <a:srgbClr val="000000"/>
              </a:solidFill>
              <a:latin typeface="Arial"/>
            </a:endParaRPr>
          </a:p>
        </p:txBody>
      </p:sp>
      <p:sp>
        <p:nvSpPr>
          <p:cNvPr id="257" name="TextBox 5"/>
          <p:cNvSpPr/>
          <p:nvPr/>
        </p:nvSpPr>
        <p:spPr>
          <a:xfrm>
            <a:off x="411480" y="602208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Reflective front end design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Fed at its focus and solved at the 22.5° splitter: every part clears by 33 mm, the focus lands on the mask seat without adjustment, and the residual with a flat mirror is 0.029 nm</a:t>
            </a:r>
            <a:endParaRPr b="0" lang="en-US" sz="1250" spc="-1" strike="noStrike">
              <a:solidFill>
                <a:srgbClr val="000000"/>
              </a:solidFill>
              <a:latin typeface="Arial"/>
            </a:endParaRPr>
          </a:p>
        </p:txBody>
      </p:sp>
      <p:sp>
        <p:nvSpPr>
          <p:cNvPr id="25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60" name="Picture 3" descr="crop_lay96_oap_train.png"/>
          <p:cNvPicPr/>
          <p:nvPr/>
        </p:nvPicPr>
        <p:blipFill>
          <a:blip r:embed="rId1"/>
          <a:stretch/>
        </p:blipFill>
        <p:spPr>
          <a:xfrm>
            <a:off x="2012400" y="1298520"/>
            <a:ext cx="2604600" cy="2384280"/>
          </a:xfrm>
          <a:prstGeom prst="rect">
            <a:avLst/>
          </a:prstGeom>
          <a:ln w="0">
            <a:noFill/>
          </a:ln>
        </p:spPr>
      </p:pic>
      <p:sp>
        <p:nvSpPr>
          <p:cNvPr id="261" name="TextBox 4"/>
          <p:cNvSpPr/>
          <p:nvPr/>
        </p:nvSpPr>
        <p:spPr>
          <a:xfrm>
            <a:off x="411480" y="370116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endParaRPr b="0" lang="en-US" sz="1000" spc="-1" strike="noStrike">
              <a:solidFill>
                <a:srgbClr val="000000"/>
              </a:solidFill>
              <a:latin typeface="Arial"/>
            </a:endParaRPr>
          </a:p>
        </p:txBody>
      </p:sp>
      <p:graphicFrame>
        <p:nvGraphicFramePr>
          <p:cNvPr id="262" name="Table 5"/>
          <p:cNvGraphicFramePr/>
          <p:nvPr/>
        </p:nvGraphicFramePr>
        <p:xfrm>
          <a:off x="6400800" y="1298520"/>
          <a:ext cx="5394600" cy="2138760"/>
        </p:xfrm>
        <a:graphic>
          <a:graphicData uri="http://schemas.openxmlformats.org/drawingml/2006/table">
            <a:tbl>
              <a:tblPr/>
              <a:tblGrid>
                <a:gridCol w="1854360"/>
                <a:gridCol w="3540240"/>
              </a:tblGrid>
              <a:tr h="26280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collimation after the collimator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 µrad residual (the source at the parabola's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blur at the mask seat, best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0.000 λF/D at zero trim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residual with a flat mirror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0.029 nm with no adjustment (lens rig 0.13 nm after adjustment)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clearance, worst part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+33.4 mm over 8 parts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rays lost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63" name="TextBox 6"/>
          <p:cNvSpPr/>
          <p:nvPr/>
        </p:nvSpPr>
        <p:spPr>
          <a:xfrm>
            <a:off x="6400800" y="3536280"/>
            <a:ext cx="539460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rule a parabola enforces and a lens hides:</a:t>
            </a:r>
            <a:r>
              <a:rPr b="0" lang="en-US" sz="1200" spc="-1" strike="noStrike">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Coatings:</a:t>
            </a:r>
            <a:r>
              <a:rPr b="0" lang="en-US" sz="1200" spc="-1" strike="noStrike">
                <a:solidFill>
                  <a:srgbClr val="282828"/>
                </a:solidFill>
                <a:latin typeface="Arial"/>
              </a:rPr>
              <a:t> bare and protected aluminum give the same rows; the retardance variation they add is 0.5 mrad, a floor.</a:t>
            </a:r>
            <a:endParaRPr b="0" lang="en-US" sz="1200" spc="-1" strike="noStrike">
              <a:solidFill>
                <a:srgbClr val="000000"/>
              </a:solidFill>
              <a:latin typeface="Arial"/>
            </a:endParaRPr>
          </a:p>
        </p:txBody>
      </p:sp>
      <p:sp>
        <p:nvSpPr>
          <p:cNvPr id="264" name="TextBox 7"/>
          <p:cNvSpPr/>
          <p:nvPr/>
        </p:nvSpPr>
        <p:spPr>
          <a:xfrm>
            <a:off x="6400800" y="543852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Measuring the full complex amplitude, for two-mirror control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approach but the one-frame Zernike readings returns the pupil field's amplitude as well as its phase from frames it already takes; no separate camera is needed</a:t>
            </a:r>
            <a:endParaRPr b="0" lang="en-US" sz="1250" spc="-1" strike="noStrike">
              <a:solidFill>
                <a:srgbClr val="000000"/>
              </a:solidFill>
              <a:latin typeface="Arial"/>
            </a:endParaRPr>
          </a:p>
        </p:txBody>
      </p:sp>
      <p:sp>
        <p:nvSpPr>
          <p:cNvPr id="26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67" name="Table 3"/>
          <p:cNvGraphicFramePr/>
          <p:nvPr/>
        </p:nvGraphicFramePr>
        <p:xfrm>
          <a:off x="411480" y="1298520"/>
          <a:ext cx="5806080" cy="2811600"/>
        </p:xfrm>
        <a:graphic>
          <a:graphicData uri="http://schemas.openxmlformats.org/drawingml/2006/table">
            <a:tbl>
              <a:tblPr/>
              <a:tblGrid>
                <a:gridCol w="908640"/>
                <a:gridCol w="1514520"/>
                <a:gridCol w="33825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amplitude from its own frames?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solve assumes the flat's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clear frame is the pupil intensity; the depths give the field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 with one clear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pair alone is ambiguous; the pair plus the clear frame is exact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stepped solve is the field against a known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fringe modulation is the test amplitude times the reference's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68" name="TextBox 4"/>
          <p:cNvSpPr/>
          <p:nvPr/>
        </p:nvSpPr>
        <p:spPr>
          <a:xfrm>
            <a:off x="6400800" y="1298520"/>
            <a:ext cx="5394600" cy="222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vector pair alone cannot:</a:t>
            </a:r>
            <a:r>
              <a:rPr b="0" lang="en-US" sz="1500" spc="-1" strike="noStrike">
                <a:solidFill>
                  <a:srgbClr val="282828"/>
                </a:solidFill>
                <a:latin typeface="Arial"/>
              </a:rPr>
              <a:t> its two images fix the field only up to a mirror image about the reference wave, and at gauge-level phases (a 100 nm poke is 1.9 rad) the true field crosses that line.  Solving both from the pair diverges.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pair plus the state's clear frame reads both exactly:</a:t>
            </a:r>
            <a:r>
              <a:rPr b="0" lang="en-US" sz="1500" spc="-1" strike="noStrike">
                <a:solidFill>
                  <a:srgbClr val="282828"/>
                </a:solidFill>
                <a:latin typeface="Arial"/>
              </a:rPr>
              <a:t> through a 5% and a 20% dip in pupil amplitude the phase comes back at 0.02 and 0.13 pm, where the phase-only solve misreads by 237 and 952 pm; the hold rows are unchanged to the digit.  Three frames.</a:t>
            </a:r>
            <a:endParaRPr b="0" lang="en-US" sz="1500" spc="-1" strike="noStrike">
              <a:solidFill>
                <a:srgbClr val="000000"/>
              </a:solidFill>
              <a:latin typeface="Arial"/>
            </a:endParaRPr>
          </a:p>
        </p:txBody>
      </p:sp>
      <p:sp>
        <p:nvSpPr>
          <p:cNvPr id="269" name="TextBox 5"/>
          <p:cNvSpPr/>
          <p:nvPr/>
        </p:nvSpPr>
        <p:spPr>
          <a:xfrm>
            <a:off x="6492240" y="48006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an193_clear; the runner's mask.v_clear reading and its amplitude-dip check.  On orbit with starlight, the field's amplitude is what the second mirror's control needs.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every mode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Nothing is realigned: the mask seat translates, the reference arm is shuttered, the quarter-wave plate goes in or out, and the P/SRI arm sits behind a flip-in plate</a:t>
            </a:r>
            <a:endParaRPr b="0" lang="en-US" sz="1250" spc="-1" strike="noStrike">
              <a:solidFill>
                <a:srgbClr val="000000"/>
              </a:solidFill>
              <a:latin typeface="Arial"/>
            </a:endParaRPr>
          </a:p>
        </p:txBody>
      </p:sp>
      <p:sp>
        <p:nvSpPr>
          <p:cNvPr id="27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72" name="Picture 3" descr="gauge_one_bench.png"/>
          <p:cNvPicPr/>
          <p:nvPr/>
        </p:nvPicPr>
        <p:blipFill>
          <a:blip r:embed="rId1"/>
          <a:stretch/>
        </p:blipFill>
        <p:spPr>
          <a:xfrm>
            <a:off x="2829600" y="1298520"/>
            <a:ext cx="6532200" cy="3628800"/>
          </a:xfrm>
          <a:prstGeom prst="rect">
            <a:avLst/>
          </a:prstGeom>
          <a:ln w="0">
            <a:noFill/>
          </a:ln>
        </p:spPr>
      </p:pic>
      <p:sp>
        <p:nvSpPr>
          <p:cNvPr id="273" name="TextBox 4"/>
          <p:cNvSpPr/>
          <p:nvPr/>
        </p:nvSpPr>
        <p:spPr>
          <a:xfrm>
            <a:off x="411480" y="494604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endParaRPr b="0" lang="en-US" sz="1000" spc="-1" strike="noStrike">
              <a:solidFill>
                <a:srgbClr val="000000"/>
              </a:solidFill>
              <a:latin typeface="Arial"/>
            </a:endParaRPr>
          </a:p>
        </p:txBody>
      </p:sp>
      <p:sp>
        <p:nvSpPr>
          <p:cNvPr id="274" name="TextBox 5"/>
          <p:cNvSpPr/>
          <p:nvPr/>
        </p:nvSpPr>
        <p:spPr>
          <a:xfrm>
            <a:off x="411480" y="53766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capture beyond one wave with a second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Unwrapping works while neighboring pixels differ by less than half a wave; a figure of more than a wave with actuator-scale structure needs a coarse ruler</a:t>
            </a:r>
            <a:endParaRPr b="0" lang="en-US" sz="1250" spc="-1" strike="noStrike">
              <a:solidFill>
                <a:srgbClr val="000000"/>
              </a:solidFill>
              <a:latin typeface="Arial"/>
            </a:endParaRPr>
          </a:p>
        </p:txBody>
      </p:sp>
      <p:sp>
        <p:nvSpPr>
          <p:cNvPr id="27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77" name="TextBox 3"/>
          <p:cNvSpPr/>
          <p:nvPr/>
        </p:nvSpPr>
        <p:spPr>
          <a:xfrm>
            <a:off x="411480" y="1298520"/>
            <a:ext cx="5806080" cy="3214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Where unwrapping stops:</a:t>
            </a:r>
            <a:r>
              <a:rPr b="0" lang="en-US" sz="1500" spc="-1" strike="noStrike">
                <a:solidFill>
                  <a:srgbClr val="282828"/>
                </a:solidFill>
                <a:latin typeface="Arial"/>
              </a:rPr>
              <a:t> at 4 pixels per actuator a 100-200 nm rms actuator pattern is 0.7-1.4 rad per pixel and unwraps; quilting, print-through or a stuck actuator at more than a wave does 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second color makes a synthetic wavelength:</a:t>
            </a:r>
            <a:r>
              <a:rPr b="0" lang="en-US" sz="1500" spc="-1" strike="noStrike">
                <a:solidFill>
                  <a:srgbClr val="282828"/>
                </a:solidFill>
                <a:latin typeface="Arial"/>
              </a:rPr>
              <a:t> 632.8 + 700 nm gives 6.6 µm, an unambiguous surface range of 1.6 µm (double pass); 632.8 + 780 nm gives 3.35 µm and 0.84 µm.  The coarse pair captures, the single color holds; the coarse solve is 5-10× noisier.</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machinery exists:</a:t>
            </a:r>
            <a:r>
              <a:rPr b="0" lang="en-US" sz="1500" spc="-1" strike="noStrike">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endParaRPr b="0" lang="en-US" sz="1500" spc="-1" strike="noStrike">
              <a:solidFill>
                <a:srgbClr val="000000"/>
              </a:solidFill>
              <a:latin typeface="Arial"/>
            </a:endParaRPr>
          </a:p>
        </p:txBody>
      </p:sp>
      <p:graphicFrame>
        <p:nvGraphicFramePr>
          <p:cNvPr id="278" name="Table 4"/>
          <p:cNvGraphicFramePr/>
          <p:nvPr/>
        </p:nvGraphicFramePr>
        <p:xfrm>
          <a:off x="6400800" y="1298520"/>
          <a:ext cx="5394600" cy="788400"/>
        </p:xfrm>
        <a:graphic>
          <a:graphicData uri="http://schemas.openxmlformats.org/drawingml/2006/table">
            <a:tbl>
              <a:tblPr/>
              <a:tblGrid>
                <a:gridCol w="1070640"/>
                <a:gridCol w="1803600"/>
                <a:gridCol w="1713600"/>
                <a:gridCol w="8064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color pair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synthetic wavelength</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unambiguous surface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noise cost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+ 700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6.6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+ 780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3.35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0.84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79" name="TextBox 5"/>
          <p:cNvSpPr/>
          <p:nvPr/>
        </p:nvSpPr>
        <p:spPr>
          <a:xfrm>
            <a:off x="6400800" y="223344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two-color interferometer is the classic form; the same trick applies to the dimple and the pinhole through their color stage.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other approaches worth a look</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Eight candidates, none modeled here, each with one sentence on what it would buy</a:t>
            </a:r>
            <a:endParaRPr b="0" lang="en-US" sz="1250" spc="-1" strike="noStrike">
              <a:solidFill>
                <a:srgbClr val="000000"/>
              </a:solidFill>
              <a:latin typeface="Arial"/>
            </a:endParaRPr>
          </a:p>
        </p:txBody>
      </p:sp>
      <p:sp>
        <p:nvSpPr>
          <p:cNvPr id="28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82" name="TextBox 3"/>
          <p:cNvSpPr/>
          <p:nvPr/>
        </p:nvSpPr>
        <p:spPr>
          <a:xfrm>
            <a:off x="411480" y="1298520"/>
            <a:ext cx="11368440" cy="336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model-based large-figure solve:</a:t>
            </a:r>
            <a:r>
              <a:rPr b="0" lang="en-US" sz="1500" spc="-1" strike="noStrike">
                <a:solidFill>
                  <a:srgbClr val="282828"/>
                </a:solidFill>
                <a:latin typeface="Arial"/>
              </a:rPr>
              <a:t> the mirror's influence functions as the basis of a nonlinear fit to the sensor's frames; the estimator already carries the basis.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Shack-Hartmann or modulated pyramid as the capture stage:</a:t>
            </a:r>
            <a:r>
              <a:rPr b="0" lang="en-US" sz="1500" spc="-1" strike="noStrike">
                <a:solidFill>
                  <a:srgbClr val="282828"/>
                </a:solidFill>
                <a:latin typeface="Arial"/>
              </a:rPr>
              <a:t> many waves of range, no wrap, far from picometers; hands off to the gauge inside its range.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Redesign the lenses as multi-element assemblies.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Phase diversity (two defocused pupil images):</a:t>
            </a:r>
            <a:r>
              <a:rPr b="0" lang="en-US" sz="1500" spc="-1" strike="noStrike">
                <a:solidFill>
                  <a:srgbClr val="282828"/>
                </a:solidFill>
                <a:latin typeface="Arial"/>
              </a:rPr>
              <a:t> wide range, common path, iterative; a capture candidate with the existing camera and one translation stage.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White-light scanning in the interferometer:</a:t>
            </a:r>
            <a:r>
              <a:rPr b="0" lang="en-US" sz="1500" spc="-1" strike="noStrike">
                <a:solidFill>
                  <a:srgbClr val="282828"/>
                </a:solidFill>
                <a:latin typeface="Arial"/>
              </a:rPr>
              <a:t> an absolute surface with no wrap, slow; a one-time capture tool.</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Vector Zernike with a polarization camera:</a:t>
            </a:r>
            <a:r>
              <a:rPr b="0" lang="en-US" sz="1500" spc="-1" strike="noStrike">
                <a:solidFill>
                  <a:srgbClr val="282828"/>
                </a:solidFill>
                <a:latin typeface="Arial"/>
              </a:rPr>
              <a:t> one camera instead of the cube and two, at a quarter of the pixels per image.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Heterodyne or lock-in detection:</a:t>
            </a:r>
            <a:r>
              <a:rPr b="0" lang="en-US" sz="1500" spc="-1" strike="noStrike">
                <a:solidFill>
                  <a:srgbClr val="282828"/>
                </a:solidFill>
                <a:latin typeface="Arial"/>
              </a:rPr>
              <a:t> immunity to slow drift and 1/f electronics, for a frequency-shifted reference; the two-arm instruments can carry it, the common-path sensors cannot.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Direct actuator metrology (capacitive, optical):</a:t>
            </a:r>
            <a:r>
              <a:rPr b="0" lang="en-US" sz="1500" spc="-1" strike="noStrike">
                <a:solidFill>
                  <a:srgbClr val="282828"/>
                </a:solidFill>
                <a:latin typeface="Arial"/>
              </a:rPr>
              <a:t> a coarse reference the optical gauge is calibrated against.</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from this model to as-built performance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model today has ideal optics, a perfect camera, photon noise, and mirror and camera drift; five additions, in the order they are likely to matter</a:t>
            </a:r>
            <a:endParaRPr b="0" lang="en-US" sz="1250" spc="-1" strike="noStrike">
              <a:solidFill>
                <a:srgbClr val="000000"/>
              </a:solidFill>
              <a:latin typeface="Arial"/>
            </a:endParaRPr>
          </a:p>
        </p:txBody>
      </p:sp>
      <p:sp>
        <p:nvSpPr>
          <p:cNvPr id="28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85" name="TextBox 3"/>
          <p:cNvSpPr/>
          <p:nvPr/>
        </p:nvSpPr>
        <p:spPr>
          <a:xfrm>
            <a:off x="411480" y="1298520"/>
            <a:ext cx="11368440" cy="359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camera sets the measurement time, not the laser:</a:t>
            </a:r>
            <a:r>
              <a:rPr b="0" lang="en-US" sz="1500" spc="-1" strike="noStrike">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Optical surface errors:</a:t>
            </a:r>
            <a:r>
              <a:rPr b="0" lang="en-US" sz="1500" spc="-1" strike="noStrike">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Alignment and stability:</a:t>
            </a:r>
            <a:r>
              <a:rPr b="0" lang="en-US" sz="1500" spc="-1" strike="noStrike">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More drift in the loop:</a:t>
            </a:r>
            <a:r>
              <a:rPr b="0" lang="en-US" sz="1500" spc="-1" strike="noStrike">
                <a:solidFill>
                  <a:srgbClr val="282828"/>
                </a:solidFill>
                <a:latin typeface="Arial"/>
              </a:rPr>
              <a:t> actuator hysteresis and creep, command quantization (14-16 bits: 0.1-0.5 nm steps as a floor), influence-function error, vibration within a stepped scan.</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error budget in the JPL form:</a:t>
            </a:r>
            <a:r>
              <a:rPr b="0" lang="en-US" sz="1500" spc="-1" strike="noStrike">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endParaRPr b="0" lang="en-US" sz="1500" spc="-1" strike="noStrike">
              <a:solidFill>
                <a:srgbClr val="000000"/>
              </a:solidFill>
              <a:latin typeface="Arial"/>
            </a:endParaRPr>
          </a:p>
        </p:txBody>
      </p:sp>
      <p:sp>
        <p:nvSpPr>
          <p:cNvPr id="286" name="TextBox 4"/>
          <p:cNvSpPr/>
          <p:nvPr/>
        </p:nvSpPr>
        <p:spPr>
          <a:xfrm>
            <a:off x="411480" y="57506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telescope-level version of this (an allocation table rolled through the sensitivity model, then the closed-loop predictor) is being planned separately; it is a later add to this 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How every configuration was analyzed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repeatable path, ten steps, the same for all four approaches: a new sensor is a new reading class in the shared runner plus its gate, then steps 4 to 10 unchanged</a:t>
            </a:r>
            <a:endParaRPr b="0" lang="en-US" sz="1250" spc="-1" strike="noStrike">
              <a:solidFill>
                <a:srgbClr val="000000"/>
              </a:solidFill>
              <a:latin typeface="Arial"/>
            </a:endParaRPr>
          </a:p>
        </p:txBody>
      </p:sp>
      <p:sp>
        <p:nvSpPr>
          <p:cNvPr id="28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89" name="Table 3"/>
          <p:cNvGraphicFramePr/>
          <p:nvPr/>
        </p:nvGraphicFramePr>
        <p:xfrm>
          <a:off x="411480" y="1298520"/>
          <a:ext cx="5806080" cy="3188520"/>
        </p:xfrm>
        <a:graphic>
          <a:graphicData uri="http://schemas.openxmlformats.org/drawingml/2006/table">
            <a:tbl>
              <a:tblPr/>
              <a:tblGrid>
                <a:gridCol w="436680"/>
                <a:gridCol w="2963160"/>
                <a:gridCol w="2405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gate or output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parameter sheet and one runner per approach; batch wrappers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number has a run tag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build the bench from the sheet, trace it; clearance of end bodies and node parts; detector-leg focus; sampling budget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part clears by 25 mm; 6 pixels across the mask feature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gates before any number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mask round trip, reference-wave surrogate, working-state amplitude, the reading on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calibration: the response matrix measured through the sensor, on the 30 nm working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piston null carried; stencil-site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on the working surface: 10 nm on one actuator; 1 nm on 47 sites; dense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floor, SNR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graphicFrame>
        <p:nvGraphicFramePr>
          <p:cNvPr id="290" name="Table 4"/>
          <p:cNvGraphicFramePr/>
          <p:nvPr/>
        </p:nvGraphicFramePr>
        <p:xfrm>
          <a:off x="6400800" y="1298520"/>
          <a:ext cx="5394600" cy="2777040"/>
        </p:xfrm>
        <a:graphic>
          <a:graphicData uri="http://schemas.openxmlformats.org/drawingml/2006/table">
            <a:tbl>
              <a:tblPr/>
              <a:tblGrid>
                <a:gridCol w="410400"/>
                <a:gridCol w="3846600"/>
                <a:gridCol w="11376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step</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what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gate or output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6</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capture range: the aging ladder to 10%; the matrix re-measured at 60 to 160 nm with its photon cost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range in nm; photons per rung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7</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noise fit over 1e8 to 1e14 per measurement, flat and on-surface matrix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for 1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closed loop in the shared loop code: noise, walk, ramp; noiseless step; within-scan drift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for 3 pm; fixed error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descent: the start ladder with unwrapping and recalibration on and off</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largest start brought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systematics one at a time, uncalibrated and through the matrix; layout drawn from the emitted deck; parts from the sheet; report numbers first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one line per term on the systematics slide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91" name="TextBox 5"/>
          <p:cNvSpPr/>
          <p:nvPr/>
        </p:nvSpPr>
        <p:spPr>
          <a:xfrm>
            <a:off x="6400800" y="422208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Improving the pupil image: the options, assessed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imager (tail) geometry is the whole story: the seed field-lens station images the DM flat; the detector move is second-order once the tail is right; no flattener can fix the tuned bowl; true collimation is worth doing for itself</a:t>
            </a:r>
            <a:endParaRPr b="0" lang="en-US" sz="1250" spc="-1" strike="noStrike">
              <a:solidFill>
                <a:srgbClr val="000000"/>
              </a:solidFill>
              <a:latin typeface="Arial"/>
            </a:endParaRPr>
          </a:p>
        </p:txBody>
      </p:sp>
      <p:sp>
        <p:nvSpPr>
          <p:cNvPr id="29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94" name="Table 3"/>
          <p:cNvGraphicFramePr/>
          <p:nvPr/>
        </p:nvGraphicFramePr>
        <p:xfrm>
          <a:off x="411480" y="1298520"/>
          <a:ext cx="11368440" cy="2903040"/>
        </p:xfrm>
        <a:graphic>
          <a:graphicData uri="http://schemas.openxmlformats.org/drawingml/2006/table">
            <a:tbl>
              <a:tblPr/>
              <a:tblGrid>
                <a:gridCol w="2271600"/>
                <a:gridCol w="2079000"/>
                <a:gridCol w="945360"/>
                <a:gridCol w="2325600"/>
                <a:gridCol w="1347480"/>
                <a:gridCol w="1526400"/>
                <a:gridCol w="87264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lens rig variant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zone image vs the detector, mm (on axis / mean / edge)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astigmatism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Nyquist gain, as built / worst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with the detector at the image mean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30 nm surface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distortion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tuned tail (field lens 39.8 mm past the focus, conic −2.59)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 / +4.3 /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0.979 / 0.954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+4.3 mm: 0.993 worst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 → 0.4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seed tail (field lens 10.8 mm past the focus, conic −2.11)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0.5 / −0.7 /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0.08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0.9992 / 0.9986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0.7 mm: 0.9999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0.24 → 0.06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tuned tail, spherical 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 / +1.5 /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0.996 / 0.992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 mm: 0.994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0.54 → 0.34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0.30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true collimation, tuned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 / +3.9 / +5.1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0.982 / 0.965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+3.9 mm: 0.996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 → 0.3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true collimation, seed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0.5 / −0.8 / −1.1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0.9991 / 0.9980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0.8 mm: 0.9999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0.26 → 0.08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0.035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mirror rig, as built (seed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0.4 / −0.6 / −1.3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0.9993 / 0.9974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0.6 mm: 0.9994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0.23 → 0.09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0.72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95" name="TextBox 4"/>
          <p:cNvSpPr/>
          <p:nvPr/>
        </p:nvSpPr>
        <p:spPr>
          <a:xfrm>
            <a:off x="411480" y="4348080"/>
            <a:ext cx="11368440" cy="1537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null tuner bought its 0.13 nm flat-mirror null with the pupil image:</a:t>
            </a:r>
            <a:r>
              <a:rPr b="0" lang="en-US" sz="1500" spc="-1" strike="noStrike">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flattener behind the tuned tail is not an optic:</a:t>
            </a:r>
            <a:r>
              <a:rPr b="0" lang="en-US" sz="1500" spc="-1" strike="noStrike">
                <a:solidFill>
                  <a:srgbClr val="282828"/>
                </a:solidFill>
                <a:latin typeface="Arial"/>
              </a:rPr>
              <a:t> its bowl is a 5 mm-radius surface in image space.  </a:t>
            </a:r>
            <a:r>
              <a:rPr b="1" lang="en-US" sz="1500" spc="-1" strike="noStrike">
                <a:solidFill>
                  <a:srgbClr val="282828"/>
                </a:solidFill>
                <a:latin typeface="Arial"/>
              </a:rPr>
              <a:t>True collimation</a:t>
            </a:r>
            <a:r>
              <a:rPr b="0" lang="en-US" sz="1500" spc="-1" strike="noStrike">
                <a:solidFill>
                  <a:srgbClr val="282828"/>
                </a:solidFill>
                <a:latin typeface="Arial"/>
              </a:rPr>
              <a:t> (a source 14 mm inside the hyperbolic collimator's focus, the case assessed here, is what the bench corrects) halves the distortion and is needed for any re-tune and for the physical-optics chain.</a:t>
            </a:r>
            <a:endParaRPr b="0" lang="en-US" sz="1500" spc="-1" strike="noStrike">
              <a:solidFill>
                <a:srgbClr val="000000"/>
              </a:solidFill>
              <a:latin typeface="Arial"/>
            </a:endParaRPr>
          </a:p>
        </p:txBody>
      </p:sp>
      <p:sp>
        <p:nvSpPr>
          <p:cNvPr id="296" name="TextBox 5"/>
          <p:cNvSpPr/>
          <p:nvPr/>
        </p:nvSpPr>
        <p:spPr>
          <a:xfrm>
            <a:off x="411480" y="61509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interferometer's three phase-shift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four frames are the same in the model; the forms differ in what they get wrong</a:t>
            </a:r>
            <a:endParaRPr b="0" lang="en-US" sz="1250" spc="-1" strike="noStrike">
              <a:solidFill>
                <a:srgbClr val="000000"/>
              </a:solidFill>
              <a:latin typeface="Arial"/>
            </a:endParaRPr>
          </a:p>
        </p:txBody>
      </p:sp>
      <p:sp>
        <p:nvSpPr>
          <p:cNvPr id="29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99" name="Table 3"/>
          <p:cNvGraphicFramePr/>
          <p:nvPr/>
        </p:nvGraphicFramePr>
        <p:xfrm>
          <a:off x="411480" y="1298520"/>
          <a:ext cx="11368440" cy="2817000"/>
        </p:xfrm>
        <a:graphic>
          <a:graphicData uri="http://schemas.openxmlformats.org/drawingml/2006/table">
            <a:tbl>
              <a:tblPr/>
              <a:tblGrid>
                <a:gridCol w="1671480"/>
                <a:gridCol w="1257120"/>
                <a:gridCol w="1523160"/>
                <a:gridCol w="69159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 the four steps are made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gets wrong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priced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piezo four-step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flat stepped in time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miscalibration; camera and mirror drift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error 2% / 5%: gain 0.974 / 0.954, floors 5 / 9 pm; in the servo common mode (5.4e12 vs 5.5e12); camera walk 1e-3 within a scan: +13% light; mirror walk within a scan: 1.6e13 vs 1.7-2.0e13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polarization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four analyzer channels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systematics, fixed by design; no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hybrid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snapshot for the change, piezo for the absolute 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each half removes the other's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recommended form; its value is the absolute calibration more than drift immunity: the four-step already tolerates all three sequential terms in 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00" name="TextBox 4"/>
          <p:cNvSpPr/>
          <p:nvPr/>
        </p:nvSpPr>
        <p:spPr>
          <a:xfrm>
            <a:off x="411480" y="42624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lens_deck_se2, lens_deck_se5, loop_lens_se2, loop_lens_cam, loop_lens_intra, tg_psi_dm, tg_psi_dm_v2.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Zernike readings that lost, and the fold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frame is not enough: the linear reading imprints error under a slow drift, and the exact one-frame reading diverges once actuators sit past the quarter-wave fold</a:t>
            </a:r>
            <a:endParaRPr b="0" lang="en-US" sz="1250" spc="-1" strike="noStrike">
              <a:solidFill>
                <a:srgbClr val="000000"/>
              </a:solidFill>
              <a:latin typeface="Arial"/>
            </a:endParaRPr>
          </a:p>
        </p:txBody>
      </p:sp>
      <p:sp>
        <p:nvSpPr>
          <p:cNvPr id="30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03" name="TextBox 3"/>
          <p:cNvSpPr/>
          <p:nvPr/>
        </p:nvSpPr>
        <p:spPr>
          <a:xfrm>
            <a:off x="411480" y="1298520"/>
            <a:ext cx="580608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Linear, one frame:</a:t>
            </a:r>
            <a:r>
              <a:rPr b="0" lang="en-US" sz="1200" spc="-1" strike="noStrike">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Exact, one frame with a sign prior:</a:t>
            </a:r>
            <a:r>
              <a:rPr b="0" lang="en-US" sz="1200" spc="-1" strike="noStrike">
                <a:solidFill>
                  <a:srgbClr val="282828"/>
                </a:solidFill>
                <a:latin typeface="Arial"/>
              </a:rPr>
              <a:t> a 1 nm step grows to 99 nm in 60 cycles, 10 nm to 178 nm; the actuators whose footprint lies past the fold read with the wrong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fold:</a:t>
            </a:r>
            <a:r>
              <a:rPr b="0" lang="en-US" sz="1200" spc="-1" strike="noStrike">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endParaRPr b="0" lang="en-US" sz="1200" spc="-1" strike="noStrike">
              <a:solidFill>
                <a:srgbClr val="000000"/>
              </a:solidFill>
              <a:latin typeface="Arial"/>
            </a:endParaRPr>
          </a:p>
        </p:txBody>
      </p:sp>
      <p:pic>
        <p:nvPicPr>
          <p:cNvPr id="304" name="Picture 4" descr="crop_zwfs_loop193_left.png"/>
          <p:cNvPicPr/>
          <p:nvPr/>
        </p:nvPicPr>
        <p:blipFill>
          <a:blip r:embed="rId1"/>
          <a:stretch/>
        </p:blipFill>
        <p:spPr>
          <a:xfrm>
            <a:off x="7932240" y="1298520"/>
            <a:ext cx="2331360" cy="1982880"/>
          </a:xfrm>
          <a:prstGeom prst="rect">
            <a:avLst/>
          </a:prstGeom>
          <a:ln w="0">
            <a:noFill/>
          </a:ln>
        </p:spPr>
      </p:pic>
      <p:sp>
        <p:nvSpPr>
          <p:cNvPr id="305"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stepped Zernike servo: residual per cycle at four light levels, with the noiseless 1 nm step decaying to zero.</a:t>
            </a:r>
            <a:endParaRPr b="0" lang="en-US" sz="1000" spc="-1" strike="noStrike">
              <a:solidFill>
                <a:srgbClr val="000000"/>
              </a:solidFill>
              <a:latin typeface="Arial"/>
            </a:endParaRPr>
          </a:p>
        </p:txBody>
      </p:sp>
      <p:sp>
        <p:nvSpPr>
          <p:cNvPr id="306"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loop193, fold_diag, matbase385.</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point-diffraction trades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diameter of record is 2.0 λF/D; the P/SRI's traced reference arm moves with the state by 0.05% of the figure and costs twice the light</a:t>
            </a:r>
            <a:endParaRPr b="0" lang="en-US" sz="1250" spc="-1" strike="noStrike">
              <a:solidFill>
                <a:srgbClr val="000000"/>
              </a:solidFill>
              <a:latin typeface="Arial"/>
            </a:endParaRPr>
          </a:p>
        </p:txBody>
      </p:sp>
      <p:sp>
        <p:nvSpPr>
          <p:cNvPr id="30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09" name="Table 3"/>
          <p:cNvGraphicFramePr/>
          <p:nvPr/>
        </p:nvGraphicFramePr>
        <p:xfrm>
          <a:off x="411480" y="1298520"/>
          <a:ext cx="5806080" cy="3274200"/>
        </p:xfrm>
        <a:graphic>
          <a:graphicData uri="http://schemas.openxmlformats.org/drawingml/2006/table">
            <a:tbl>
              <a:tblPr/>
              <a:tblGrid>
                <a:gridCol w="2152800"/>
                <a:gridCol w="1043640"/>
                <a:gridCol w="2609280"/>
              </a:tblGrid>
              <a:tr h="46836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5.27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2.64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surround transmission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throughput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pixels across at the mask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4.0 (below the 6 the sampling rule asks)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0.9937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range,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120 nm and beyond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photons for 1 pm on the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3 pm under the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below 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10"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range the small pinhole buys, the shutter frame gives free</a:t>
            </a:r>
            <a:r>
              <a:rPr b="0" lang="en-US" sz="1200" spc="-1" strike="noStrike">
                <a:solidFill>
                  <a:srgbClr val="282828"/>
                </a:solidFill>
                <a:latin typeface="Arial"/>
              </a:rPr>
              <a:t> at the large one's throughput: 1.02 / 1.06 / 1.13 at 120 / 240 / 480 nm.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P/SRI</a:t>
            </a:r>
            <a:r>
              <a:rPr b="0" lang="en-US" sz="1200" spc="-1" strike="noStrike">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Five frames beat four:</a:t>
            </a:r>
            <a:r>
              <a:rPr b="0" lang="en-US" sz="1200" spc="-1" strike="noStrike">
                <a:solidFill>
                  <a:srgbClr val="282828"/>
                </a:solidFill>
                <a:latin typeface="Arial"/>
              </a:rPr>
              <a:t> a 2% step error reads 4.9 pm (pinhole) and 2.2 pm (P/SRI) with the Schwider-Hariharan scan against 421 and 251 pm with four-step least squares.</a:t>
            </a:r>
            <a:endParaRPr b="0" lang="en-US" sz="1200" spc="-1" strike="noStrike">
              <a:solidFill>
                <a:srgbClr val="000000"/>
              </a:solidFill>
              <a:latin typeface="Arial"/>
            </a:endParaRPr>
          </a:p>
        </p:txBody>
      </p:sp>
      <p:sp>
        <p:nvSpPr>
          <p:cNvPr id="311"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pin20_1024, pin10_2048, pin20_loop, pin10_loop, pfdeck, pfdeck_frz, pdi193se_sh5, pdi193se_ls; layouts psri_layout.png and psri_render.png in pdi_dm96.</a:t>
            </a:r>
            <a:endParaRPr b="0" lang="en-US" sz="1050" spc="-1" strike="noStrike">
              <a:solidFill>
                <a:srgbClr val="000000"/>
              </a:solidFill>
              <a:latin typeface="Arial"/>
            </a:endParaRPr>
          </a:p>
        </p:txBody>
      </p:sp>
      <p:sp>
        <p:nvSpPr>
          <p:cNvPr id="312" name="TextBox 6"/>
          <p:cNvSpPr/>
          <p:nvPr/>
        </p:nvSpPr>
        <p:spPr>
          <a:xfrm>
            <a:off x="6400800" y="445860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Drift within a measurement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DM that drifts during a stepped scan helps the stepped readings; a camera that drifts during the scan hurts them; the simultaneous readings see neither</a:t>
            </a:r>
            <a:endParaRPr b="0" lang="en-US" sz="1250" spc="-1" strike="noStrike">
              <a:solidFill>
                <a:srgbClr val="000000"/>
              </a:solidFill>
              <a:latin typeface="Arial"/>
            </a:endParaRPr>
          </a:p>
        </p:txBody>
      </p:sp>
      <p:sp>
        <p:nvSpPr>
          <p:cNvPr id="31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15" name="Table 3"/>
          <p:cNvGraphicFramePr/>
          <p:nvPr/>
        </p:nvGraphicFramePr>
        <p:xfrm>
          <a:off x="411480" y="1298520"/>
          <a:ext cx="5806080" cy="2231280"/>
        </p:xfrm>
        <a:graphic>
          <a:graphicData uri="http://schemas.openxmlformats.org/drawingml/2006/table">
            <a:tbl>
              <a:tblPr/>
              <a:tblGrid>
                <a:gridCol w="3208680"/>
                <a:gridCol w="534600"/>
                <a:gridCol w="534600"/>
                <a:gridCol w="458280"/>
                <a:gridCol w="534600"/>
                <a:gridCol w="5346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hold error at 1e15 photons per cycle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linear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stepped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vector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P/SRI</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still during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1.71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mirror still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6.70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7.30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camera scale drifting 1e-3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16" name="TextBox 4"/>
          <p:cNvSpPr/>
          <p:nvPr/>
        </p:nvSpPr>
        <p:spPr>
          <a:xfrm>
            <a:off x="6400800" y="1298520"/>
            <a:ext cx="539460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Why the mirror's drift helps:</a:t>
            </a:r>
            <a:r>
              <a:rPr b="0" lang="en-US" sz="1200" spc="-1" strike="noStrike">
                <a:solidFill>
                  <a:srgbClr val="282828"/>
                </a:solidFill>
                <a:latin typeface="Arial"/>
              </a:rPr>
              <a:t> a scan reads the surface at its midpoint, a free half-step of prediction; 26-32% less hold error for the stepped readings.  The camera's drift is an additive bias, the opposite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P/SRI's reference arm walking</a:t>
            </a:r>
            <a:r>
              <a:rPr b="0" lang="en-US" sz="1200" spc="-1" strike="noStrike">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paper's camera number</a:t>
            </a:r>
            <a:r>
              <a:rPr b="0" lang="en-US" sz="1200" spc="-1" strike="noStrike">
                <a:solidFill>
                  <a:srgbClr val="282828"/>
                </a:solidFill>
                <a:latin typeface="Arial"/>
              </a:rPr>
              <a:t> (0.13 electrons per pixel per cycle) is invisible to every reading: an electron is 1e-4 of a lit pixel's shot noise at 1e13 photons.</a:t>
            </a:r>
            <a:endParaRPr b="0" lang="en-US" sz="1200" spc="-1" strike="noStrike">
              <a:solidFill>
                <a:srgbClr val="000000"/>
              </a:solidFill>
              <a:latin typeface="Arial"/>
            </a:endParaRPr>
          </a:p>
        </p:txBody>
      </p:sp>
      <p:sp>
        <p:nvSpPr>
          <p:cNvPr id="317"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intra193_0, intra193, pcam193, pcam193r, pcam193ri, rw193_1e3/1e2/1e1, loop_lens_intra, loop_lens_cam.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vector sensor's polarization terms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metasurface's retardance error, the arm's polarization aberration, and the analyzer, each from the engine's polarized traces of this bench</a:t>
            </a:r>
            <a:endParaRPr b="0" lang="en-US" sz="1250" spc="-1" strike="noStrike">
              <a:solidFill>
                <a:srgbClr val="000000"/>
              </a:solidFill>
              <a:latin typeface="Arial"/>
            </a:endParaRPr>
          </a:p>
        </p:txBody>
      </p:sp>
      <p:sp>
        <p:nvSpPr>
          <p:cNvPr id="31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20" name="Table 3"/>
          <p:cNvGraphicFramePr/>
          <p:nvPr/>
        </p:nvGraphicFramePr>
        <p:xfrm>
          <a:off x="411480" y="1298520"/>
          <a:ext cx="5806080" cy="3377160"/>
        </p:xfrm>
        <a:graphic>
          <a:graphicData uri="http://schemas.openxmlformats.org/drawingml/2006/table">
            <a:tbl>
              <a:tblPr/>
              <a:tblGrid>
                <a:gridCol w="1924200"/>
                <a:gridCol w="1824840"/>
                <a:gridCol w="205704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on 100 nm pokes (12 nm rms)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through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0.02 / 0.05 / 0.10 / 0.20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153 / 380 / 750 / 1461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 at 0.10 and 0.20: the ideal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laser at 45° / 0° / 90° to the fold plane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9.0 / 17.2 / 11.2 pm (ideal 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through 0.1 rad of channel phase;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design scan: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59 / 178 / 597 / 1877 pm at 0.01 / 0.03 / 0.1 / 0.3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cube extinction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plate λ/300; 1° azimuth; λ/100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165; 263; 496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0.9932 / 4; 0.9932 / 4; 0.9928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21"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arm:</a:t>
            </a:r>
            <a:r>
              <a:rPr b="0" lang="en-US" sz="1200" spc="-1" strike="noStrike">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analyzer:</a:t>
            </a:r>
            <a:r>
              <a:rPr b="0" lang="en-US" sz="1200" spc="-1" strike="noStrike">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A three-number fit on the flat's two images</a:t>
            </a:r>
            <a:r>
              <a:rPr b="0" lang="en-US" sz="1200" spc="-1" strike="noStrike">
                <a:solidFill>
                  <a:srgbClr val="282828"/>
                </a:solidFill>
                <a:latin typeface="Arial"/>
              </a:rPr>
              <a:t> recovers the metasurface's constants to five digits (0.048 pm).</a:t>
            </a:r>
            <a:endParaRPr b="0" lang="en-US" sz="1200" spc="-1" strike="noStrike">
              <a:solidFill>
                <a:srgbClr val="000000"/>
              </a:solidFill>
              <a:latin typeface="Arial"/>
            </a:endParaRPr>
          </a:p>
        </p:txBody>
      </p:sp>
      <p:sp>
        <p:nvSpPr>
          <p:cNvPr id="322"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v2g, v2loop, v3arm, v3s, v3loop, an193_cube/q300/q100/az1; zwfs_dm96 README V2-V4.</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sensor model, sampling and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early Zernike model was out of focus by 4.9 m at the pupil image; corrected, every gate closes; the sampling rule and the color result follow from the corrected model</a:t>
            </a:r>
            <a:endParaRPr b="0" lang="en-US" sz="1250" spc="-1" strike="noStrike">
              <a:solidFill>
                <a:srgbClr val="000000"/>
              </a:solidFill>
              <a:latin typeface="Arial"/>
            </a:endParaRPr>
          </a:p>
        </p:txBody>
      </p:sp>
      <p:sp>
        <p:nvSpPr>
          <p:cNvPr id="32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25" name="TextBox 3"/>
          <p:cNvSpPr/>
          <p:nvPr/>
        </p:nvSpPr>
        <p:spPr>
          <a:xfrm>
            <a:off x="411480" y="1298520"/>
            <a:ext cx="580608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correction:</a:t>
            </a:r>
            <a:r>
              <a:rPr b="0" lang="en-US" sz="1200" spc="-1" strike="noStrike">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Sampling:</a:t>
            </a:r>
            <a:r>
              <a:rPr b="0" lang="en-US" sz="1200" spc="-1" strike="noStrike">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Color:</a:t>
            </a:r>
            <a:r>
              <a:rPr b="0" lang="en-US" sz="1200" spc="-1" strike="noStrike">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endParaRPr b="0" lang="en-US" sz="1200" spc="-1" strike="noStrike">
              <a:solidFill>
                <a:srgbClr val="000000"/>
              </a:solidFill>
              <a:latin typeface="Arial"/>
            </a:endParaRPr>
          </a:p>
        </p:txBody>
      </p:sp>
      <p:pic>
        <p:nvPicPr>
          <p:cNvPr id="326" name="Picture 4" descr="zwfs_s7iter.png"/>
          <p:cNvPicPr/>
          <p:nvPr/>
        </p:nvPicPr>
        <p:blipFill>
          <a:blip r:embed="rId1"/>
          <a:stretch/>
        </p:blipFill>
        <p:spPr>
          <a:xfrm>
            <a:off x="6838560" y="1298520"/>
            <a:ext cx="4519440" cy="1982880"/>
          </a:xfrm>
          <a:prstGeom prst="rect">
            <a:avLst/>
          </a:prstGeom>
          <a:ln w="0">
            <a:noFill/>
          </a:ln>
        </p:spPr>
      </p:pic>
      <p:sp>
        <p:nvSpPr>
          <p:cNvPr id="327"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model correction: the runner's figure of the iterated reference-wave solve on the corrected model.</a:t>
            </a:r>
            <a:endParaRPr b="0" lang="en-US" sz="1000" spc="-1" strike="noStrike">
              <a:solidFill>
                <a:srgbClr val="000000"/>
              </a:solidFill>
              <a:latin typeface="Arial"/>
            </a:endParaRPr>
          </a:p>
        </p:txBody>
      </p:sp>
      <p:sp>
        <p:nvSpPr>
          <p:cNvPr id="328"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rec193full, m2048, m2048_lat, ng385_lat; zwfs_dm96 README S7-S9.</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clearance scan behind the 22.5° choice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endParaRPr b="0" lang="en-US" sz="1250" spc="-1" strike="noStrike">
              <a:solidFill>
                <a:srgbClr val="000000"/>
              </a:solidFill>
              <a:latin typeface="Arial"/>
            </a:endParaRPr>
          </a:p>
        </p:txBody>
      </p:sp>
      <p:sp>
        <p:nvSpPr>
          <p:cNvPr id="33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31" name="Table 3"/>
          <p:cNvGraphicFramePr/>
          <p:nvPr/>
        </p:nvGraphicFramePr>
        <p:xfrm>
          <a:off x="411480" y="1298520"/>
          <a:ext cx="5806080" cy="2154240"/>
        </p:xfrm>
        <a:graphic>
          <a:graphicData uri="http://schemas.openxmlformats.org/drawingml/2006/table">
            <a:tbl>
              <a:tblPr/>
              <a:tblGrid>
                <a:gridCol w="727200"/>
                <a:gridCol w="957960"/>
                <a:gridCol w="41205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splitter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worst 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others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eight parts in another beam: reference plate, analyzer, compensator, L2, polarizer,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 analyzer −11, L2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22.5°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+55, analyzer +65, L2 +100, L1 +153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30°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+178, analyzer +196, L2 +257, L1 +350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32" name="TextBox 4"/>
          <p:cNvSpPr/>
          <p:nvPr/>
        </p:nvSpPr>
        <p:spPr>
          <a:xfrm>
            <a:off x="411480" y="3599280"/>
            <a:ext cx="580608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moves:</a:t>
            </a:r>
            <a:r>
              <a:rPr b="0" lang="en-US" sz="1200" spc="-1" strike="noStrike">
                <a:solidFill>
                  <a:srgbClr val="282828"/>
                </a:solidFill>
                <a:latin typeface="Arial"/>
              </a:rPr>
              <a:t> the output plate and analyzer from 17 and 27 mm behind the splitter to 160 and 170 mm, just ahead of the focuser at 207 mm; nothing else, so the focused detector leg is untouched.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it costs the sensors: nothing.</a:t>
            </a:r>
            <a:r>
              <a:rPr b="0" lang="en-US" sz="1200" spc="-1" strike="noStrike">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endParaRPr b="0" lang="en-US" sz="1200" spc="-1" strike="noStrike">
              <a:solidFill>
                <a:srgbClr val="000000"/>
              </a:solidFill>
              <a:latin typeface="Arial"/>
            </a:endParaRPr>
          </a:p>
        </p:txBody>
      </p:sp>
      <p:pic>
        <p:nvPicPr>
          <p:cNvPr id="333" name="Picture 5" descr="crop_bench_bs30_node.png"/>
          <p:cNvPicPr/>
          <p:nvPr/>
        </p:nvPicPr>
        <p:blipFill>
          <a:blip r:embed="rId1"/>
          <a:stretch/>
        </p:blipFill>
        <p:spPr>
          <a:xfrm>
            <a:off x="7420320" y="1298520"/>
            <a:ext cx="3355560" cy="1965240"/>
          </a:xfrm>
          <a:prstGeom prst="rect">
            <a:avLst/>
          </a:prstGeom>
          <a:ln w="0">
            <a:noFill/>
          </a:ln>
        </p:spPr>
      </p:pic>
      <p:sp>
        <p:nvSpPr>
          <p:cNvPr id="334" name="TextBox 6"/>
          <p:cNvSpPr/>
          <p:nvPr/>
        </p:nvSpPr>
        <p:spPr>
          <a:xfrm>
            <a:off x="6400800" y="328212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30°: the compensator clears by 57 mm, the rest by 178 mm or more.</a:t>
            </a:r>
            <a:endParaRPr b="0" lang="en-US" sz="1000" spc="-1" strike="noStrike">
              <a:solidFill>
                <a:srgbClr val="000000"/>
              </a:solidFill>
              <a:latin typeface="Arial"/>
            </a:endParaRPr>
          </a:p>
        </p:txBody>
      </p:sp>
      <p:pic>
        <p:nvPicPr>
          <p:cNvPr id="335" name="Picture 7" descr="crop_bench_bs7_node.png"/>
          <p:cNvPicPr/>
          <p:nvPr/>
        </p:nvPicPr>
        <p:blipFill>
          <a:blip r:embed="rId2"/>
          <a:stretch/>
        </p:blipFill>
        <p:spPr>
          <a:xfrm>
            <a:off x="7443720" y="3547800"/>
            <a:ext cx="3308760" cy="1965240"/>
          </a:xfrm>
          <a:prstGeom prst="rect">
            <a:avLst/>
          </a:prstGeom>
          <a:ln w="0">
            <a:noFill/>
          </a:ln>
        </p:spPr>
      </p:pic>
      <p:sp>
        <p:nvSpPr>
          <p:cNvPr id="336" name="TextBox 8"/>
          <p:cNvSpPr/>
          <p:nvPr/>
        </p:nvSpPr>
        <p:spPr>
          <a:xfrm>
            <a:off x="6400800" y="553176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record's node at 7°: eight parts sit in another beam.</a:t>
            </a:r>
            <a:endParaRPr b="0" lang="en-US" sz="1000" spc="-1" strike="noStrike">
              <a:solidFill>
                <a:srgbClr val="000000"/>
              </a:solidFill>
              <a:latin typeface="Arial"/>
            </a:endParaRPr>
          </a:p>
        </p:txBody>
      </p:sp>
      <p:sp>
        <p:nvSpPr>
          <p:cNvPr id="337" name="TextBox 9"/>
          <p:cNvSpPr/>
          <p:nvPr/>
        </p:nvSpPr>
        <p:spPr>
          <a:xfrm>
            <a:off x="6400800" y="579744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the Zernike-sensor literature offers, in priority order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Twelve papers read; the first import — re-computing the reference wave — is built and measured here (the S and V readings)</a:t>
            </a:r>
            <a:endParaRPr b="0" lang="en-US" sz="1250" spc="-1" strike="noStrike">
              <a:solidFill>
                <a:srgbClr val="000000"/>
              </a:solidFill>
              <a:latin typeface="Arial"/>
            </a:endParaRPr>
          </a:p>
        </p:txBody>
      </p:sp>
      <p:sp>
        <p:nvSpPr>
          <p:cNvPr id="33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0" name="Table 3"/>
          <p:cNvGraphicFramePr/>
          <p:nvPr/>
        </p:nvGraphicFramePr>
        <p:xfrm>
          <a:off x="411480" y="1298520"/>
          <a:ext cx="11368440" cy="3091320"/>
        </p:xfrm>
        <a:graphic>
          <a:graphicData uri="http://schemas.openxmlformats.org/drawingml/2006/table">
            <a:tbl>
              <a:tblPr/>
              <a:tblGrid>
                <a:gridCol w="218880"/>
                <a:gridCol w="2691000"/>
                <a:gridCol w="84582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paper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gives this model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Ruane, Wallace, Steeves et al. 2020, JATIS 6, 045005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Doelman, Fagginger Auer, Escuti, Snik 2019, Opt. Lett. 44, 17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Vector Zernike: ±π/2 on opposite circular polarizations gives two pupil images, an exact phase-and-amplitude solution, an iterated b, achromatic to 100 % bandwidth; the leakage terms are written down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N'Diaye, Vigan, Dohlen et al. 2016, A&amp;A 592, A79 (ZELDA II)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Second-order reconstruction with b from the mask model; 1.06 λ/D at π/2; range −0.14 to +0.36 λ; the sensitivity factor drifts 10 % day to day on SPHERE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Chambouleyron, Cissé, Salama, Haffert, Wallace et al. 2024, SPIE 13097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phase-shifted pair (±π/2) yields cos φ and sin φ; iterative reconstructors reach about 1 rad rms; the bench limits were polarization crosstalk and defocus between the two pupils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Haffert 2024, A&amp;A 683, A113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Iterative nonlinear reconstructors reach machine precision below 0.25 rad rms; phase sorting extends to 0.75 rad; adding wavelengths to 1.4 rad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Darcis, Haffert, Chambouleyron, Doelman et al. 2025, A&amp;A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Multi-wavelength gradient descent through the forward model: dynamic range for the scalar sensor, photon robustness across a wider band, two-wavelength unwrapping of petal errors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1" name="TextBox 4"/>
          <p:cNvSpPr/>
          <p:nvPr/>
        </p:nvSpPr>
        <p:spPr>
          <a:xfrm>
            <a:off x="411480" y="45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Priority = payoff against this campaign's measured weak results.  Synopses and links: macos/REPORT_zwfs_lit_scan.md.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Demonstrations, segmented mirrors, and the in-house precedent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Picometers by alternating DM shapes and averaging; segment piston by model iteration, underestimated below 50 % Strehl</a:t>
            </a:r>
            <a:endParaRPr b="0" lang="en-US" sz="1250" spc="-1" strike="noStrike">
              <a:solidFill>
                <a:srgbClr val="000000"/>
              </a:solidFill>
              <a:latin typeface="Arial"/>
            </a:endParaRPr>
          </a:p>
        </p:txBody>
      </p:sp>
      <p:sp>
        <p:nvSpPr>
          <p:cNvPr id="34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4" name="Table 3"/>
          <p:cNvGraphicFramePr/>
          <p:nvPr/>
        </p:nvGraphicFramePr>
        <p:xfrm>
          <a:off x="411480" y="1298520"/>
          <a:ext cx="11368440" cy="3091320"/>
        </p:xfrm>
        <a:graphic>
          <a:graphicData uri="http://schemas.openxmlformats.org/drawingml/2006/table">
            <a:tbl>
              <a:tblPr/>
              <a:tblGrid>
                <a:gridCol w="291240"/>
                <a:gridCol w="3729960"/>
                <a:gridCol w="7346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paper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gives this model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Steeves, Wallace, Kettenbeil, Jewell 2020, Optica 7, 1267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 pm repeatability in 4.3 s by alternating flat and waffle DM shapes and averaging the differences; a reconstruction robust at the highest spatial frequencies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Wallace, Rao, Jensen-Clem, Serabyn 2011, SPIE 8126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All-reflective phase-shifting Zernike interferometer: a dynamic, arbitrary core phase shift read in four steps gives phase and amplitude; low sensitivity to vibration, polarization and wavelength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Moore and Redding 2018, SPIE 10698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spcBef>
                          <a:spcPts val="1191"/>
                        </a:spcBef>
                        <a:spcAft>
                          <a:spcPts val="992"/>
                        </a:spcAft>
                      </a:pPr>
                      <a:r>
                        <a:rPr b="0" lang="en-US" sz="1100" spc="-1" strike="noStrike">
                          <a:solidFill>
                            <a:srgbClr val="282828"/>
                          </a:solidFill>
                          <a:latin typeface="Arial"/>
                        </a:rPr>
                        <a:t>Nonlinear polychromatic physical-optics reconstruction for picometer differential metrology on LUVOIR; the in-house precedent for the iterated nonlinear solve (row 5 on the previous slide; this deck's exact one-frame Zernike reading).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Keck vector-Zernike segment control 2024 (arXiv 2404.08728); Wallace et al. 2022 (arXiv 2205.02241)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Segment piston by model-based iteration; 11 nm rms piston uncertainty; underestimation 2 to 4× below 50 % Strehl; fabricated shifts 0.30π and 0.68π instead of ±0.5π</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HiCAT mid-order Zernike sensor 2024 (arXiv 2409.03411)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Per-segment piston, tip and tilt by interaction matrix; a minimal step of 125 ± 31 pm at SNR 4; 14-bit DM quantization reads as steps in the response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Shi et al. 2015, SPIE 9605 (Roman low-order sensor)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reflective dimple on the focal-plane mask senses Z2 to Z11 from the rejected starlight: the spatially filtered form of the same sensor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5" name="TextBox 4"/>
          <p:cNvSpPr/>
          <p:nvPr/>
        </p:nvSpPr>
        <p:spPr>
          <a:xfrm>
            <a:off x="411480" y="45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Also read: PIAA-ZWFS (2026, arXiv 2606.28136), lossless pupil apodization that closes the gap to the fundamental sensitivity limit by 10× — a design lever, not a model change.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path per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runner stages and knobs each approach went through, in the order they ran</a:t>
            </a:r>
            <a:endParaRPr b="0" lang="en-US" sz="1250" spc="-1" strike="noStrike">
              <a:solidFill>
                <a:srgbClr val="000000"/>
              </a:solidFill>
              <a:latin typeface="Arial"/>
            </a:endParaRPr>
          </a:p>
        </p:txBody>
      </p:sp>
      <p:sp>
        <p:nvSpPr>
          <p:cNvPr id="34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8" name="Table 3"/>
          <p:cNvGraphicFramePr/>
          <p:nvPr/>
        </p:nvGraphicFramePr>
        <p:xfrm>
          <a:off x="411480" y="1298520"/>
          <a:ext cx="11368440" cy="4217400"/>
        </p:xfrm>
        <a:graphic>
          <a:graphicData uri="http://schemas.openxmlformats.org/drawingml/2006/table">
            <a:tbl>
              <a:tblPr/>
              <a:tblGrid>
                <a:gridCol w="1453680"/>
                <a:gridCol w="3250440"/>
                <a:gridCol w="3223440"/>
                <a:gridCol w="3440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interferometer (tg96_run)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Zernike, scalar and vector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point-diffraction (pdi_run over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build + gates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A clearance, A2 sampling, B build both arms; the detector leg's focus from tg96_tail; the wrapped phase difference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bench: the symmetric mask sandwich (the S7 correction), the mask gauge factory, gates G1 to G4, G8, G9, the mask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pinhole gauge in the same seat; G5 (pinhole at full transmission equals the stepped Zernike); the P/SRI's two decks, G6, G7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calibration +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deck: matrix on the 30 nm surface; single, 52-site grid, dense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matrix on the surface (record mode, stencil fix); the same three rows; readings L, I, I+, S, V</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through the shared runner; readings P (five-frame scan, shutter frame), PF (traced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capture range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aging 30 to 480 nm; re-measured to 160;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ladder with the capture-range print; base_rms rungs; noise stage per rung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knobs; the shutter frame's 480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S5 form and the loop's noise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N(1 pm) flat and on-surface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2.0 vs 1.0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loop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PZT step error; camera and DM within-scan walks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noise, walk, ramp, step; camera drift forms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within-scan drift; reference-arm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descent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60 to 300 nm starts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start ladder: self-referenced readings blind past 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recalibration: 100 nm with the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systematics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three phase-shift forms; coatings; alignment (D4); OAP seat trim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V2 metasurface, V3 arm maps, V4 analyzer, V5 clear frame; color; sampling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schemes; camera drift; reference motion and walk; pinhole 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layout +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view_rx recipe: train, node, detector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zwfs_vlayout: both channel decks; the bench clearance tool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pdi_vfig_util: pinhole and P/SRI layouts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9" name="TextBox 4"/>
          <p:cNvSpPr/>
          <p:nvPr/>
        </p:nvSpPr>
        <p:spPr>
          <a:xfrm>
            <a:off x="411480" y="566244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Directories tg_psi_dm96_oap, zwfs_dm96, pdi_dm96 and the shared dm_gauge_lib under MACOS_resources/mmacos/templates/40_benches; each README's "run it yourself" reproduces its column.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Provenance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number in this deck has a run tag in a committed run directory of the shared model; the three lane reports carry the full tables</a:t>
            </a:r>
            <a:endParaRPr b="0" lang="en-US" sz="1250" spc="-1" strike="noStrike">
              <a:solidFill>
                <a:srgbClr val="000000"/>
              </a:solidFill>
              <a:latin typeface="Arial"/>
            </a:endParaRPr>
          </a:p>
        </p:txBody>
      </p:sp>
      <p:sp>
        <p:nvSpPr>
          <p:cNvPr id="35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52" name="TextBox 3"/>
          <p:cNvSpPr/>
          <p:nvPr/>
        </p:nvSpPr>
        <p:spPr>
          <a:xfrm>
            <a:off x="411480" y="1298520"/>
            <a:ext cx="11368440" cy="5195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Interferometer</a:t>
            </a:r>
            <a:r>
              <a:rPr b="0" lang="en-US" sz="1500" spc="-1" strike="noStrike">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Zernike sensors</a:t>
            </a:r>
            <a:r>
              <a:rPr b="0" lang="en-US" sz="1500" spc="-1" strike="noStrike">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Point-diffraction</a:t>
            </a:r>
            <a:r>
              <a:rPr b="0" lang="en-US" sz="1500" spc="-1" strike="noStrike">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Plan and rulings:</a:t>
            </a:r>
            <a:r>
              <a:rPr b="0" lang="en-US" sz="1500" spc="-1" strike="noStrike">
                <a:solidFill>
                  <a:srgbClr val="282828"/>
                </a:solidFill>
                <a:latin typeface="Arial"/>
              </a:rPr>
              <a:t> macos/BRIEF_gauge_deck.md sections 5-11.  Raw material with every figure's pixel size: demo_session/deck_gauges_material.md.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Engine:</a:t>
            </a:r>
            <a:r>
              <a:rPr b="0" lang="en-US" sz="1500" spc="-1" strike="noStrike">
                <a:solidFill>
                  <a:srgbClr val="282828"/>
                </a:solidFill>
                <a:latin typeface="Arial"/>
              </a:rPr>
              <a:t> MACOS on dev-candidate; mmacos fast suite 481 pass, 0 fail (2026-09-14); the polarization physics (Jones pupils, coatings, retarders, the metasurface's leak) from the engine's own polarized traces.</a:t>
            </a:r>
            <a:endParaRPr b="0" lang="en-US" sz="1500" spc="-1" strike="noStrike">
              <a:solidFill>
                <a:srgbClr val="000000"/>
              </a:solidFill>
              <a:latin typeface="Arial"/>
            </a:endParaRPr>
          </a:p>
        </p:txBody>
      </p:sp>
      <p:sp>
        <p:nvSpPr>
          <p:cNvPr id="353" name="TextBox 4"/>
          <p:cNvSpPr/>
          <p:nvPr/>
        </p:nvSpPr>
        <p:spPr>
          <a:xfrm>
            <a:off x="411480" y="72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Model sizes: 1024 grid with 193 rays for most rows, 2048 with 385 for the compliant sampling; one engine MATLAB at a time on the box, 11-20 GB.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15</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2026-10-08T07:30:27Z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