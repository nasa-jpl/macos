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DM Surface Gauge Comparison</a:t>
            </a:r>
          </a:p>
          <a:p>
            <a:pPr>
              <a:spcAft>
                <a:spcPts val="1400"/>
              </a:spcAft>
            </a:pPr>
            <a:r>
              <a:rPr sz="2200" b="0">
                <a:solidFill>
                  <a:srgbClr val="282828"/>
                </a:solidFill>
                <a:latin typeface="Arial"/>
              </a:rPr>
              <a:t>Four ways to measure a 96×96 deformable mirror's surface to picometers on one optical bench — a phase-shifting interferometer, a Zernike sensor, its polarized version, and a point-diffraction sensor — scored on the same mirror, the same light, and the same three jobs: measure the surface, capture its shape after launch, and hold the surface to &lt;&lt;10 pm in a servo.</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October 2026.  For the JPL HWO WFS&amp;C discussion group, 2026-10-08.</a:t>
            </a:r>
          </a:p>
          <a:p>
            <a:pPr>
              <a:spcAft>
                <a:spcPts val="800"/>
              </a:spcAft>
            </a:pPr>
            <a:r>
              <a:rPr sz="1500" b="0">
                <a:solidFill>
                  <a:srgbClr val="6E6E6E"/>
                </a:solidFill>
                <a:latin typeface="Arial"/>
              </a:rPr>
              <a:t>DRAFT — pending review.  Every number here comes from a committed run of one shared, parameterized model (MACOS, mmacos); the run tags are on the provenance slide.</a:t>
            </a:r>
          </a:p>
        </p:txBody>
      </p:sp>
      <p:sp>
        <p:nvSpPr>
          <p:cNvPr id="3" name="TextBox 2"/>
          <p:cNvSpPr txBox="1"/>
          <p:nvPr/>
        </p:nvSpPr>
        <p:spPr>
          <a:xfrm>
            <a:off x="822960" y="5486400"/>
            <a:ext cx="10545775" cy="914400"/>
          </a:xfrm>
          <a:prstGeom prst="rect">
            <a:avLst/>
          </a:prstGeom>
          <a:noFill/>
        </p:spPr>
        <p:txBody>
          <a:bodyPr wrap="squar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optical bench to demo 4 surface gauges, in mirror and lens forms</a:t>
            </a:r>
          </a:p>
          <a:p>
            <a:pPr>
              <a:spcAft>
                <a:spcPts val="0"/>
              </a:spcAft>
            </a:pPr>
            <a:r>
              <a:rPr sz="1250" b="0">
                <a:solidFill>
                  <a:srgbClr val="6E6E6E"/>
                </a:solidFill>
                <a:latin typeface="Arial"/>
              </a:rPr>
              <a:t>Comparing accuracy, precision, repeatability and hold, for interferometers, scalar and vector Zernike WF sensors, and a point-diffraction sensor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1960245"/>
        </p:xfrm>
        <a:graphic>
          <a:graphicData uri="http://schemas.openxmlformats.org/drawingml/2006/table">
            <a:tbl>
              <a:tblPr firstRow="1" bandRow="1">
                <a:tableStyleId>{5C22544A-7EE6-4342-B048-85BDC9FD1C3A}</a:tableStyleId>
              </a:tblPr>
              <a:tblGrid>
                <a:gridCol w="2884116"/>
                <a:gridCol w="6157978"/>
                <a:gridCol w="1163320"/>
                <a:gridCol w="1163320"/>
              </a:tblGrid>
              <a:tr h="280035">
                <a:tc>
                  <a:txBody>
                    <a:bodyPr wrap="square"/>
                    <a:lstStyle/>
                    <a:p>
                      <a:r>
                        <a:rPr sz="1100" b="1">
                          <a:solidFill>
                            <a:srgbClr val="FFFFFF"/>
                          </a:solidFill>
                          <a:latin typeface="Arial"/>
                        </a:rPr>
                        <a:t>the claim (interferometer, both rigs)</a:t>
                      </a:r>
                    </a:p>
                  </a:txBody>
                  <a:tcPr marL="54864" marR="54864" marT="18288" marB="18288">
                    <a:solidFill>
                      <a:srgbClr val="1F4E79"/>
                    </a:solidFill>
                  </a:tcPr>
                </a:tc>
                <a:tc>
                  <a:txBody>
                    <a:bodyPr wrap="square"/>
                    <a:lstStyle/>
                    <a:p>
                      <a:r>
                        <a:rPr sz="1100" b="1">
                          <a:solidFill>
                            <a:srgbClr val="FFFFFF"/>
                          </a:solidFill>
                          <a:latin typeface="Arial"/>
                        </a:rPr>
                        <a:t>what it means here</a:t>
                      </a:r>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mirror rig</a:t>
                      </a:r>
                    </a:p>
                  </a:txBody>
                  <a:tcPr marL="54864" marR="54864" marT="18288" marB="18288">
                    <a:solidFill>
                      <a:srgbClr val="1F4E79"/>
                    </a:solidFill>
                  </a:tcPr>
                </a:tc>
              </a:tr>
              <a:tr h="280035">
                <a:tc>
                  <a:txBody>
                    <a:bodyPr wrap="square"/>
                    <a:lstStyle/>
                    <a:p>
                      <a:r>
                        <a:rPr sz="1100" b="0">
                          <a:solidFill>
                            <a:srgbClr val="282828"/>
                          </a:solidFill>
                          <a:latin typeface="Arial"/>
                        </a:rPr>
                        <a:t>accuracy</a:t>
                      </a:r>
                    </a:p>
                  </a:txBody>
                  <a:tcPr marL="54864" marR="54864" marT="18288" marB="18288">
                    <a:solidFill>
                      <a:srgbClr val="FFFFFF"/>
                    </a:solidFill>
                  </a:tcPr>
                </a:tc>
                <a:tc>
                  <a:txBody>
                    <a:bodyPr wrap="square"/>
                    <a:lstStyle/>
                    <a:p>
                      <a:r>
                        <a:rPr sz="1100" b="0">
                          <a:solidFill>
                            <a:srgbClr val="282828"/>
                          </a:solidFill>
                          <a:latin typeface="Arial"/>
                        </a:rPr>
                        <a:t>the imaging's error in reading a 30 nm working surface, piston and tilt removed</a:t>
                      </a:r>
                    </a:p>
                  </a:txBody>
                  <a:tcPr marL="54864" marR="54864" marT="18288" marB="18288">
                    <a:solidFill>
                      <a:srgbClr val="FFFFFF"/>
                    </a:solidFill>
                  </a:tcPr>
                </a:tc>
                <a:tc>
                  <a:txBody>
                    <a:bodyPr wrap="square"/>
                    <a:lstStyle/>
                    <a:p>
                      <a:r>
                        <a:rPr sz="1100" b="0">
                          <a:solidFill>
                            <a:srgbClr val="282828"/>
                          </a:solidFill>
                          <a:latin typeface="Arial"/>
                        </a:rPr>
                        <a:t>0.13 % (42 pm)</a:t>
                      </a:r>
                    </a:p>
                  </a:txBody>
                  <a:tcPr marL="54864" marR="54864" marT="18288" marB="18288">
                    <a:solidFill>
                      <a:srgbClr val="FFFFFF"/>
                    </a:solidFill>
                  </a:tcPr>
                </a:tc>
                <a:tc>
                  <a:txBody>
                    <a:bodyPr wrap="square"/>
                    <a:lstStyle/>
                    <a:p>
                      <a:r>
                        <a:rPr sz="1100" b="0">
                          <a:solidFill>
                            <a:srgbClr val="282828"/>
                          </a:solidFill>
                          <a:latin typeface="Arial"/>
                        </a:rPr>
                        <a:t>0.29 % (92 pm)</a:t>
                      </a:r>
                    </a:p>
                  </a:txBody>
                  <a:tcPr marL="54864" marR="54864" marT="18288" marB="18288">
                    <a:solidFill>
                      <a:srgbClr val="FFFFFF"/>
                    </a:solidFill>
                  </a:tcPr>
                </a:tc>
              </a:tr>
              <a:tr h="280035">
                <a:tc>
                  <a:txBody>
                    <a:bodyPr wrap="square"/>
                    <a:lstStyle/>
                    <a:p/>
                  </a:txBody>
                  <a:tcPr marL="54864" marR="54864" marT="18288" marB="18288">
                    <a:solidFill>
                      <a:srgbClr val="ECF1F6"/>
                    </a:solidFill>
                  </a:tcPr>
                </a:tc>
                <a:tc>
                  <a:txBody>
                    <a:bodyPr wrap="square"/>
                    <a:lstStyle/>
                    <a:p>
                      <a:r>
                        <a:rPr sz="1100" b="0">
                          <a:solidFill>
                            <a:srgbClr val="282828"/>
                          </a:solidFill>
                          <a:latin typeface="Arial"/>
                        </a:rPr>
                        <a:t>the same, in the top spatial band (at the actuator Nyquist)</a:t>
                      </a:r>
                    </a:p>
                  </a:txBody>
                  <a:tcPr marL="54864" marR="54864" marT="18288" marB="18288">
                    <a:solidFill>
                      <a:srgbClr val="ECF1F6"/>
                    </a:solidFill>
                  </a:tcPr>
                </a:tc>
                <a:tc>
                  <a:txBody>
                    <a:bodyPr wrap="square"/>
                    <a:lstStyle/>
                    <a:p>
                      <a:r>
                        <a:rPr sz="1100" b="0">
                          <a:solidFill>
                            <a:srgbClr val="282828"/>
                          </a:solidFill>
                          <a:latin typeface="Arial"/>
                        </a:rPr>
                        <a:t>0.5 %</a:t>
                      </a:r>
                    </a:p>
                  </a:txBody>
                  <a:tcPr marL="54864" marR="54864" marT="18288" marB="18288">
                    <a:solidFill>
                      <a:srgbClr val="ECF1F6"/>
                    </a:solidFill>
                  </a:tcPr>
                </a:tc>
                <a:tc>
                  <a:txBody>
                    <a:bodyPr wrap="square"/>
                    <a:lstStyle/>
                    <a:p>
                      <a:r>
                        <a:rPr sz="1100" b="0">
                          <a:solidFill>
                            <a:srgbClr val="282828"/>
                          </a:solidFill>
                          <a:latin typeface="Arial"/>
                        </a:rPr>
                        <a:t>0.9 %</a:t>
                      </a:r>
                    </a:p>
                  </a:txBody>
                  <a:tcPr marL="54864" marR="54864" marT="18288" marB="18288">
                    <a:solidFill>
                      <a:srgbClr val="ECF1F6"/>
                    </a:solidFill>
                  </a:tcPr>
                </a:tc>
              </a:tr>
              <a:tr h="280035">
                <a:tc>
                  <a:txBody>
                    <a:bodyPr wrap="square"/>
                    <a:lstStyle/>
                    <a:p>
                      <a:r>
                        <a:rPr sz="1100" b="0">
                          <a:solidFill>
                            <a:srgbClr val="282828"/>
                          </a:solidFill>
                          <a:latin typeface="Arial"/>
                        </a:rPr>
                        <a:t>precision</a:t>
                      </a:r>
                    </a:p>
                  </a:txBody>
                  <a:tcPr marL="54864" marR="54864" marT="18288" marB="18288">
                    <a:solidFill>
                      <a:srgbClr val="FFFFFF"/>
                    </a:solidFill>
                  </a:tcPr>
                </a:tc>
                <a:tc>
                  <a:txBody>
                    <a:bodyPr wrap="square"/>
                    <a:lstStyle/>
                    <a:p>
                      <a:r>
                        <a:rPr sz="1100" b="0">
                          <a:solidFill>
                            <a:srgbClr val="282828"/>
                          </a:solidFill>
                          <a:latin typeface="Arial"/>
                        </a:rPr>
                        <a:t>one measurement, photon-limited, at 1e14 / 1e15 photons</a:t>
                      </a:r>
                    </a:p>
                  </a:txBody>
                  <a:tcPr marL="54864" marR="54864" marT="18288" marB="18288">
                    <a:solidFill>
                      <a:srgbClr val="FFFFFF"/>
                    </a:solidFill>
                  </a:tcPr>
                </a:tc>
                <a:tc>
                  <a:txBody>
                    <a:bodyPr wrap="square"/>
                    <a:lstStyle/>
                    <a:p>
                      <a:r>
                        <a:rPr sz="1100" b="0">
                          <a:solidFill>
                            <a:srgbClr val="282828"/>
                          </a:solidFill>
                          <a:latin typeface="Arial"/>
                        </a:rPr>
                        <a:t>2.3 / 0.7 pm</a:t>
                      </a:r>
                    </a:p>
                  </a:txBody>
                  <a:tcPr marL="54864" marR="54864" marT="18288" marB="18288">
                    <a:solidFill>
                      <a:srgbClr val="FFFFFF"/>
                    </a:solidFill>
                  </a:tcPr>
                </a:tc>
                <a:tc>
                  <a:txBody>
                    <a:bodyPr wrap="square"/>
                    <a:lstStyle/>
                    <a:p>
                      <a:r>
                        <a:rPr sz="1100" b="0">
                          <a:solidFill>
                            <a:srgbClr val="282828"/>
                          </a:solidFill>
                          <a:latin typeface="Arial"/>
                        </a:rPr>
                        <a:t>2.1 / 0.7 pm</a:t>
                      </a:r>
                    </a:p>
                  </a:txBody>
                  <a:tcPr marL="54864" marR="54864" marT="18288" marB="18288">
                    <a:solidFill>
                      <a:srgbClr val="FFFFFF"/>
                    </a:solidFill>
                  </a:tcPr>
                </a:tc>
              </a:tr>
              <a:tr h="280035">
                <a:tc>
                  <a:txBody>
                    <a:bodyPr wrap="square"/>
                    <a:lstStyle/>
                    <a:p>
                      <a:r>
                        <a:rPr sz="1100" b="0">
                          <a:solidFill>
                            <a:srgbClr val="282828"/>
                          </a:solidFill>
                          <a:latin typeface="Arial"/>
                        </a:rPr>
                        <a:t>repeatability</a:t>
                      </a:r>
                    </a:p>
                  </a:txBody>
                  <a:tcPr marL="54864" marR="54864" marT="18288" marB="18288">
                    <a:solidFill>
                      <a:srgbClr val="ECF1F6"/>
                    </a:solidFill>
                  </a:tcPr>
                </a:tc>
                <a:tc>
                  <a:txBody>
                    <a:bodyPr wrap="square"/>
                    <a:lstStyle/>
                    <a:p>
                      <a:r>
                        <a:rPr sz="1100" b="0">
                          <a:solidFill>
                            <a:srgbClr val="282828"/>
                          </a:solidFill>
                          <a:latin typeface="Arial"/>
                        </a:rPr>
                        <a:t>the same surface held in a servo, rms over 30 cycles, same photons</a:t>
                      </a:r>
                    </a:p>
                  </a:txBody>
                  <a:tcPr marL="54864" marR="54864" marT="18288" marB="18288">
                    <a:solidFill>
                      <a:srgbClr val="ECF1F6"/>
                    </a:solidFill>
                  </a:tcPr>
                </a:tc>
                <a:tc>
                  <a:txBody>
                    <a:bodyPr wrap="square"/>
                    <a:lstStyle/>
                    <a:p>
                      <a:r>
                        <a:rPr sz="1100" b="0">
                          <a:solidFill>
                            <a:srgbClr val="282828"/>
                          </a:solidFill>
                          <a:latin typeface="Arial"/>
                        </a:rPr>
                        <a:t>1.4 / 0.5 pm</a:t>
                      </a:r>
                    </a:p>
                  </a:txBody>
                  <a:tcPr marL="54864" marR="54864" marT="18288" marB="18288">
                    <a:solidFill>
                      <a:srgbClr val="ECF1F6"/>
                    </a:solidFill>
                  </a:tcPr>
                </a:tc>
                <a:tc>
                  <a:txBody>
                    <a:bodyPr wrap="square"/>
                    <a:lstStyle/>
                    <a:p>
                      <a:r>
                        <a:rPr sz="1100" b="0">
                          <a:solidFill>
                            <a:srgbClr val="282828"/>
                          </a:solidFill>
                          <a:latin typeface="Arial"/>
                        </a:rPr>
                        <a:t>1.3 / 0.4 pm</a:t>
                      </a:r>
                    </a:p>
                  </a:txBody>
                  <a:tcPr marL="54864" marR="54864" marT="18288" marB="18288">
                    <a:solidFill>
                      <a:srgbClr val="ECF1F6"/>
                    </a:solidFill>
                  </a:tcPr>
                </a:tc>
              </a:tr>
              <a:tr h="280035">
                <a:tc>
                  <a:txBody>
                    <a:bodyPr wrap="square"/>
                    <a:lstStyle/>
                    <a:p>
                      <a:r>
                        <a:rPr sz="1100" b="0">
                          <a:solidFill>
                            <a:srgbClr val="282828"/>
                          </a:solidFill>
                          <a:latin typeface="Arial"/>
                        </a:rPr>
                        <a:t>hold</a:t>
                      </a:r>
                    </a:p>
                  </a:txBody>
                  <a:tcPr marL="54864" marR="54864" marT="18288" marB="18288">
                    <a:solidFill>
                      <a:srgbClr val="FFFFFF"/>
                    </a:solidFill>
                  </a:tcPr>
                </a:tc>
                <a:tc>
                  <a:txBody>
                    <a:bodyPr wrap="square"/>
                    <a:lstStyle/>
                    <a:p>
                      <a:r>
                        <a:rPr sz="1100" b="0">
                          <a:solidFill>
                            <a:srgbClr val="282828"/>
                          </a:solidFill>
                          <a:latin typeface="Arial"/>
                        </a:rPr>
                        <a:t>photons per cycle to keep the surface inside 3 pm</a:t>
                      </a:r>
                    </a:p>
                  </a:txBody>
                  <a:tcPr marL="54864" marR="54864" marT="18288" marB="18288">
                    <a:solidFill>
                      <a:srgbClr val="FFFFFF"/>
                    </a:solidFill>
                  </a:tcPr>
                </a:tc>
                <a:tc>
                  <a:txBody>
                    <a:bodyPr wrap="square"/>
                    <a:lstStyle/>
                    <a:p>
                      <a:r>
                        <a:rPr sz="1100" b="0">
                          <a:solidFill>
                            <a:srgbClr val="282828"/>
                          </a:solidFill>
                          <a:latin typeface="Arial"/>
                        </a:rPr>
                        <a:t>2.3e13</a:t>
                      </a:r>
                    </a:p>
                  </a:txBody>
                  <a:tcPr marL="54864" marR="54864" marT="18288" marB="18288">
                    <a:solidFill>
                      <a:srgbClr val="FFFFFF"/>
                    </a:solidFill>
                  </a:tcPr>
                </a:tc>
                <a:tc>
                  <a:txBody>
                    <a:bodyPr wrap="square"/>
                    <a:lstStyle/>
                    <a:p>
                      <a:r>
                        <a:rPr sz="1100" b="0">
                          <a:solidFill>
                            <a:srgbClr val="282828"/>
                          </a:solidFill>
                          <a:latin typeface="Arial"/>
                        </a:rPr>
                        <a:t>2.0e13</a:t>
                      </a:r>
                    </a:p>
                  </a:txBody>
                  <a:tcPr marL="54864" marR="54864" marT="18288" marB="18288">
                    <a:solidFill>
                      <a:srgbClr val="FFFFFF"/>
                    </a:solidFill>
                  </a:tcPr>
                </a:tc>
              </a:tr>
              <a:tr h="280035">
                <a:tc>
                  <a:txBody>
                    <a:bodyPr wrap="square"/>
                    <a:lstStyle/>
                    <a:p/>
                  </a:txBody>
                  <a:tcPr marL="54864" marR="54864" marT="18288" marB="18288">
                    <a:solidFill>
                      <a:srgbClr val="ECF1F6"/>
                    </a:solidFill>
                  </a:tcPr>
                </a:tc>
                <a:tc>
                  <a:txBody>
                    <a:bodyPr wrap="square"/>
                    <a:lstStyle/>
                    <a:p>
                      <a:r>
                        <a:rPr sz="1100" b="0">
                          <a:solidFill>
                            <a:srgbClr val="282828"/>
                          </a:solidFill>
                          <a:latin typeface="Arial"/>
                        </a:rPr>
                        <a:t>the same under a 2 pm per actuator per cycle random walk</a:t>
                      </a:r>
                    </a:p>
                  </a:txBody>
                  <a:tcPr marL="54864" marR="54864" marT="18288" marB="18288">
                    <a:solidFill>
                      <a:srgbClr val="ECF1F6"/>
                    </a:solidFill>
                  </a:tcPr>
                </a:tc>
                <a:tc>
                  <a:txBody>
                    <a:bodyPr wrap="square"/>
                    <a:lstStyle/>
                    <a:p>
                      <a:r>
                        <a:rPr sz="1100" b="0">
                          <a:solidFill>
                            <a:srgbClr val="282828"/>
                          </a:solidFill>
                          <a:latin typeface="Arial"/>
                        </a:rPr>
                        <a:t>7.1e13</a:t>
                      </a:r>
                    </a:p>
                  </a:txBody>
                  <a:tcPr marL="54864" marR="54864" marT="18288" marB="18288">
                    <a:solidFill>
                      <a:srgbClr val="ECF1F6"/>
                    </a:solidFill>
                  </a:tcPr>
                </a:tc>
                <a:tc>
                  <a:txBody>
                    <a:bodyPr wrap="square"/>
                    <a:lstStyle/>
                    <a:p>
                      <a:r>
                        <a:rPr sz="1100" b="0">
                          <a:solidFill>
                            <a:srgbClr val="282828"/>
                          </a:solidFill>
                          <a:latin typeface="Arial"/>
                        </a:rPr>
                        <a:t>6.6e13</a:t>
                      </a:r>
                    </a:p>
                  </a:txBody>
                  <a:tcPr marL="54864" marR="54864" marT="18288" marB="18288">
                    <a:solidFill>
                      <a:srgbClr val="ECF1F6"/>
                    </a:solidFill>
                  </a:tcPr>
                </a:tc>
              </a:tr>
            </a:tbl>
          </a:graphicData>
        </a:graphic>
      </p:graphicFrame>
      <p:sp>
        <p:nvSpPr>
          <p:cNvPr id="5" name="TextBox 4"/>
          <p:cNvSpPr txBox="1"/>
          <p:nvPr/>
        </p:nvSpPr>
        <p:spPr>
          <a:xfrm>
            <a:off x="411480" y="340499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Picometer measurement is photon-limited, not bench-limited.</a:t>
            </a:r>
            <a:r>
              <a:rPr sz="1500" b="0">
                <a:solidFill>
                  <a:srgbClr val="282828"/>
                </a:solidFill>
                <a:latin typeface="Arial"/>
              </a:rPr>
              <a:t>  One measurement at 1e15 photons — 0.31 mJ, about 1.3 s of a 1 mW laser — repeats to 0.7 pm, and a servo fed at that rate holds under half a picometer.  Both front ends agree to within 10 %.  For scale, </a:t>
            </a:r>
            <a:r>
              <a:rPr sz="1500" b="1">
                <a:solidFill>
                  <a:srgbClr val="282828"/>
                </a:solidFill>
                <a:latin typeface="Arial"/>
              </a:rPr>
              <a:t>Steeves et al. (2020, Optica 7, 1267) demonstrate 1.6 pm in 4.3 s on a real interferometer</a:t>
            </a:r>
            <a:r>
              <a:rPr sz="1500" b="0">
                <a:solidFill>
                  <a:srgbClr val="282828"/>
                </a:solidFill>
                <a:latin typeface="Arial"/>
              </a:rPr>
              <a:t>: ours is photon-limited only, carrying no vibration, thermal drift or detector systematics, so it is the floor this design allows rather than a prediction of the built bench — and agreeing within a factor of two is the check that the model is in the right regime.</a:t>
            </a:r>
          </a:p>
          <a:p>
            <a:pPr>
              <a:spcAft>
                <a:spcPts val="600"/>
              </a:spcAft>
            </a:pPr>
            <a:r>
              <a:rPr sz="1500" b="0">
                <a:solidFill>
                  <a:srgbClr val="282828"/>
                </a:solidFill>
                <a:latin typeface="Arial"/>
              </a:rPr>
              <a:t>•  </a:t>
            </a:r>
            <a:r>
              <a:rPr sz="1500" b="1">
                <a:solidFill>
                  <a:srgbClr val="282828"/>
                </a:solidFill>
                <a:latin typeface="Arial"/>
              </a:rPr>
              <a:t>Accuracy is systematic and proportional</a:t>
            </a:r>
            <a:r>
              <a:rPr sz="1500" b="0">
                <a:solidFill>
                  <a:srgbClr val="282828"/>
                </a:solidFill>
                <a:latin typeface="Arial"/>
              </a:rPr>
              <a:t> — a fraction of the figure read, so 30 nm costs tens of picometers and a 200 nm capture figure costs hundreds.  It holds because the response matrix is measured on the surface, not assumed geometric.</a:t>
            </a:r>
          </a:p>
          <a:p>
            <a:pPr>
              <a:spcAft>
                <a:spcPts val="600"/>
              </a:spcAft>
            </a:pPr>
            <a:r>
              <a:rPr sz="1500" b="0">
                <a:solidFill>
                  <a:srgbClr val="282828"/>
                </a:solidFill>
                <a:latin typeface="Arial"/>
              </a:rPr>
              <a:t>•  </a:t>
            </a:r>
            <a:r>
              <a:rPr sz="1500" b="1">
                <a:solidFill>
                  <a:srgbClr val="282828"/>
                </a:solidFill>
                <a:latin typeface="Arial"/>
              </a:rPr>
              <a:t>One disturbance is not photon-limited:</a:t>
            </a:r>
            <a:r>
              <a:rPr sz="1500" b="0">
                <a:solidFill>
                  <a:srgbClr val="282828"/>
                </a:solidFill>
                <a:latin typeface="Arial"/>
              </a:rPr>
              <a:t> under a 5 pm per cycle thermal ramp the loop lags at about 10 pm however many photons it is given — a cadence and thermal-control requirement, not a sensing one.</a:t>
            </a:r>
          </a:p>
        </p:txBody>
      </p:sp>
      <p:sp>
        <p:nvSpPr>
          <p:cNvPr id="6" name="TextBox 5"/>
          <p:cNvSpPr txBox="1"/>
          <p:nvPr/>
        </p:nvSpPr>
        <p:spPr>
          <a:xfrm>
            <a:off x="457200" y="5760720"/>
            <a:ext cx="11365992" cy="274320"/>
          </a:xfrm>
          <a:prstGeom prst="rect">
            <a:avLst/>
          </a:prstGeom>
          <a:noFill/>
        </p:spPr>
        <p:txBody>
          <a:bodyPr wrap="square">
            <a:spAutoFit/>
          </a:bodyPr>
          <a:lstStyle/>
          <a:p>
            <a:pPr>
              <a:spcAft>
                <a:spcPts val="600"/>
              </a:spcAft>
            </a:pPr>
            <a:r>
              <a:rPr sz="1050" b="0">
                <a:solidFill>
                  <a:srgbClr val="6E6E6E"/>
                </a:solidFill>
                <a:latin typeface="Arial"/>
              </a:rPr>
              <a:t>The table is the interferometer's, the one gauge scored on both front ends; the three sensors, scored on the mirror rig, read within 1 % and 2 pm of it on the same surface (the side-by-side slide).  A 10 nm single-actuator change, what the servo corrects, reads against truth to 1.5 pm at gain 1.001 on lenses and 1.8 pm at 0.993 on mirrors.  Run tags are on the provenance slide and on each slide that derives a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three jobs, and how each is scored</a:t>
            </a:r>
          </a:p>
          <a:p>
            <a:pPr>
              <a:spcAft>
                <a:spcPts val="0"/>
              </a:spcAft>
            </a:pPr>
            <a:r>
              <a:rPr sz="1250" b="0">
                <a:solidFill>
                  <a:srgbClr val="6E6E6E"/>
                </a:solidFill>
                <a:latin typeface="Arial"/>
              </a:rPr>
              <a:t>Measure the mirror's surface to picometers; capture its post-launch shape, 100-200 nm of wavefront, into the servo's reach; hold it there in a servo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a:t>
            </a:r>
            <a:r>
              <a:rPr sz="1400" b="1">
                <a:solidFill>
                  <a:srgbClr val="282828"/>
                </a:solidFill>
                <a:latin typeface="Arial"/>
              </a:rPr>
              <a:t>The DM:</a:t>
            </a:r>
            <a:r>
              <a:rPr sz="1400" b="0">
                <a:solidFill>
                  <a:srgbClr val="282828"/>
                </a:solidFill>
                <a:latin typeface="Arial"/>
              </a:rPr>
              <a:t> 96×96 actuators on a 1 mm pitch, 96 mm across.  On orbit its surface must stay constant to well under 10 pm, measured often and held by a closed loop.  Every test runs on a random 30 nm rms working surface, not a flat: the gauge never operates at null.</a:t>
            </a:r>
          </a:p>
          <a:p>
            <a:pPr>
              <a:spcAft>
                <a:spcPts val="600"/>
              </a:spcAft>
            </a:pPr>
            <a:r>
              <a:rPr sz="1400" b="0">
                <a:solidFill>
                  <a:srgbClr val="282828"/>
                </a:solidFill>
                <a:latin typeface="Arial"/>
              </a:rPr>
              <a:t>•  </a:t>
            </a:r>
            <a:r>
              <a:rPr sz="1400" b="1">
                <a:solidFill>
                  <a:srgbClr val="282828"/>
                </a:solidFill>
                <a:latin typeface="Arial"/>
              </a:rPr>
              <a:t>Job 1, measure:</a:t>
            </a:r>
            <a:r>
              <a:rPr sz="1400" b="0">
                <a:solidFill>
                  <a:srgbClr val="282828"/>
                </a:solidFill>
                <a:latin typeface="Arial"/>
              </a:rPr>
              <a:t> read a change of 10 nm on one actuator, of 1 nm on 47 actuators, and a dense random 10 nm pattern, on the 30 nm surface with the response matrix measured on it; and keep that accuracy as the surface moves away from the calibration (capture range).</a:t>
            </a:r>
          </a:p>
          <a:p>
            <a:pPr>
              <a:spcAft>
                <a:spcPts val="600"/>
              </a:spcAft>
            </a:pPr>
            <a:r>
              <a:rPr sz="1400" b="0">
                <a:solidFill>
                  <a:srgbClr val="282828"/>
                </a:solidFill>
                <a:latin typeface="Arial"/>
              </a:rPr>
              <a:t>•  </a:t>
            </a:r>
            <a:r>
              <a:rPr sz="1400" b="1">
                <a:solidFill>
                  <a:srgbClr val="282828"/>
                </a:solidFill>
                <a:latin typeface="Arial"/>
              </a:rPr>
              <a:t>Job 2, capture:</a:t>
            </a:r>
            <a:r>
              <a:rPr sz="1400" b="0">
                <a:solidFill>
                  <a:srgbClr val="282828"/>
                </a:solidFill>
                <a:latin typeface="Arial"/>
              </a:rPr>
              <a:t> bring a large starting surface, 100-200 nm of wavefront, down to the servo's floor; every phase reading wraps at ±158 nm of surface (±π at 632.8 nm, double pass), so this is a wrapping problem before it is a noise problem.</a:t>
            </a:r>
          </a:p>
          <a:p>
            <a:pPr>
              <a:spcAft>
                <a:spcPts val="600"/>
              </a:spcAft>
            </a:pPr>
            <a:r>
              <a:rPr sz="1400" b="0">
                <a:solidFill>
                  <a:srgbClr val="282828"/>
                </a:solidFill>
                <a:latin typeface="Arial"/>
              </a:rPr>
              <a:t>•  </a:t>
            </a:r>
            <a:r>
              <a:rPr sz="1400" b="1">
                <a:solidFill>
                  <a:srgbClr val="282828"/>
                </a:solidFill>
                <a:latin typeface="Arial"/>
              </a:rPr>
              <a:t>Job 3, hold:</a:t>
            </a:r>
            <a:r>
              <a:rPr sz="1400" b="0">
                <a:solidFill>
                  <a:srgbClr val="282828"/>
                </a:solidFill>
                <a:latin typeface="Arial"/>
              </a:rPr>
              <a:t> the servo at picometers on the 30 nm rms working surface, its set point: the light per cycle that holds changes about it to 3 pm rms under a 2 pm per-cycle random walk, and whether the reading leaves a fixed error.</a:t>
            </a:r>
          </a:p>
        </p:txBody>
      </p:sp>
      <p:graphicFrame>
        <p:nvGraphicFramePr>
          <p:cNvPr id="5" name="Table 4"/>
          <p:cNvGraphicFramePr>
            <a:graphicFrameLocks noGrp="1"/>
          </p:cNvGraphicFramePr>
          <p:nvPr/>
        </p:nvGraphicFramePr>
        <p:xfrm>
          <a:off x="6400800" y="1298448"/>
          <a:ext cx="5394959" cy="2788920"/>
        </p:xfrm>
        <a:graphic>
          <a:graphicData uri="http://schemas.openxmlformats.org/drawingml/2006/table">
            <a:tbl>
              <a:tblPr firstRow="1" bandRow="1">
                <a:tableStyleId>{5C22544A-7EE6-4342-B048-85BDC9FD1C3A}</a:tableStyleId>
              </a:tblPr>
              <a:tblGrid>
                <a:gridCol w="844109"/>
                <a:gridCol w="4550850"/>
              </a:tblGrid>
              <a:tr h="262890">
                <a:tc>
                  <a:txBody>
                    <a:bodyPr wrap="square"/>
                    <a:lstStyle/>
                    <a:p>
                      <a:r>
                        <a:rPr sz="1000" b="1">
                          <a:solidFill>
                            <a:srgbClr val="FFFFFF"/>
                          </a:solidFill>
                          <a:latin typeface="Arial"/>
                        </a:rPr>
                        <a:t>score</a:t>
                      </a:r>
                    </a:p>
                  </a:txBody>
                  <a:tcPr marL="54864" marR="54864" marT="18288" marB="18288">
                    <a:solidFill>
                      <a:srgbClr val="1F4E79"/>
                    </a:solidFill>
                  </a:tcPr>
                </a:tc>
                <a:tc>
                  <a:txBody>
                    <a:bodyPr wrap="square"/>
                    <a:lstStyle/>
                    <a:p>
                      <a:r>
                        <a:rPr sz="1000" b="1">
                          <a:solidFill>
                            <a:srgbClr val="FFFFFF"/>
                          </a:solidFill>
                          <a:latin typeface="Arial"/>
                        </a:rPr>
                        <a:t>meaning</a:t>
                      </a:r>
                    </a:p>
                  </a:txBody>
                  <a:tcPr marL="54864" marR="54864" marT="18288" marB="18288">
                    <a:solidFill>
                      <a:srgbClr val="1F4E79"/>
                    </a:solidFill>
                  </a:tcPr>
                </a:tc>
              </a:tr>
              <a:tr h="434340">
                <a:tc>
                  <a:txBody>
                    <a:bodyPr wrap="square"/>
                    <a:lstStyle/>
                    <a:p>
                      <a:r>
                        <a:rPr sz="1000" b="0">
                          <a:solidFill>
                            <a:srgbClr val="282828"/>
                          </a:solidFill>
                          <a:latin typeface="Arial"/>
                        </a:rPr>
                        <a:t>gain</a:t>
                      </a:r>
                    </a:p>
                  </a:txBody>
                  <a:tcPr marL="54864" marR="54864" marT="18288" marB="18288">
                    <a:solidFill>
                      <a:srgbClr val="FFFFFF"/>
                    </a:solidFill>
                  </a:tcPr>
                </a:tc>
                <a:tc>
                  <a:txBody>
                    <a:bodyPr wrap="square"/>
                    <a:lstStyle/>
                    <a:p>
                      <a:r>
                        <a:rPr sz="1000" b="0">
                          <a:solidFill>
                            <a:srgbClr val="282828"/>
                          </a:solidFill>
                          <a:latin typeface="Arial"/>
                        </a:rPr>
                        <a:t>recovered change ÷ true change; 1.0 is perfect; quoted after calibration</a:t>
                      </a:r>
                    </a:p>
                  </a:txBody>
                  <a:tcPr marL="54864" marR="54864" marT="18288" marB="18288">
                    <a:solidFill>
                      <a:srgbClr val="FFFFFF"/>
                    </a:solidFill>
                  </a:tcPr>
                </a:tc>
              </a:tr>
              <a:tr h="262890">
                <a:tc>
                  <a:txBody>
                    <a:bodyPr wrap="square"/>
                    <a:lstStyle/>
                    <a:p>
                      <a:r>
                        <a:rPr sz="1000" b="0">
                          <a:solidFill>
                            <a:srgbClr val="282828"/>
                          </a:solidFill>
                          <a:latin typeface="Arial"/>
                        </a:rPr>
                        <a:t>floor</a:t>
                      </a:r>
                    </a:p>
                  </a:txBody>
                  <a:tcPr marL="54864" marR="54864" marT="18288" marB="18288">
                    <a:solidFill>
                      <a:srgbClr val="ECF1F6"/>
                    </a:solidFill>
                  </a:tcPr>
                </a:tc>
                <a:tc>
                  <a:txBody>
                    <a:bodyPr wrap="square"/>
                    <a:lstStyle/>
                    <a:p>
                      <a:r>
                        <a:rPr sz="1000" b="0">
                          <a:solidFill>
                            <a:srgbClr val="282828"/>
                          </a:solidFill>
                          <a:latin typeface="Arial"/>
                        </a:rPr>
                        <a:t>rms of the actuators that were not changed, in picometers</a:t>
                      </a:r>
                    </a:p>
                  </a:txBody>
                  <a:tcPr marL="54864" marR="54864" marT="18288" marB="18288">
                    <a:solidFill>
                      <a:srgbClr val="ECF1F6"/>
                    </a:solidFill>
                  </a:tcPr>
                </a:tc>
              </a:tr>
              <a:tr h="262890">
                <a:tc>
                  <a:txBody>
                    <a:bodyPr wrap="square"/>
                    <a:lstStyle/>
                    <a:p>
                      <a:r>
                        <a:rPr sz="1000" b="0">
                          <a:solidFill>
                            <a:srgbClr val="282828"/>
                          </a:solidFill>
                          <a:latin typeface="Arial"/>
                        </a:rPr>
                        <a:t>SNR</a:t>
                      </a:r>
                    </a:p>
                  </a:txBody>
                  <a:tcPr marL="54864" marR="54864" marT="18288" marB="18288">
                    <a:solidFill>
                      <a:srgbClr val="FFFFFF"/>
                    </a:solidFill>
                  </a:tcPr>
                </a:tc>
                <a:tc>
                  <a:txBody>
                    <a:bodyPr wrap="square"/>
                    <a:lstStyle/>
                    <a:p>
                      <a:r>
                        <a:rPr sz="1000" b="0">
                          <a:solidFill>
                            <a:srgbClr val="282828"/>
                          </a:solidFill>
                          <a:latin typeface="Arial"/>
                        </a:rPr>
                        <a:t>recovered change ÷ floor; above 5 counts as detected</a:t>
                      </a:r>
                    </a:p>
                  </a:txBody>
                  <a:tcPr marL="54864" marR="54864" marT="18288" marB="18288">
                    <a:solidFill>
                      <a:srgbClr val="FFFFFF"/>
                    </a:solidFill>
                  </a:tcPr>
                </a:tc>
              </a:tr>
              <a:tr h="434340">
                <a:tc>
                  <a:txBody>
                    <a:bodyPr wrap="square"/>
                    <a:lstStyle/>
                    <a:p>
                      <a:r>
                        <a:rPr sz="1000" b="0">
                          <a:solidFill>
                            <a:srgbClr val="282828"/>
                          </a:solidFill>
                          <a:latin typeface="Arial"/>
                        </a:rPr>
                        <a:t>photons per measurement</a:t>
                      </a:r>
                    </a:p>
                  </a:txBody>
                  <a:tcPr marL="54864" marR="54864" marT="18288" marB="18288">
                    <a:solidFill>
                      <a:srgbClr val="ECF1F6"/>
                    </a:solidFill>
                  </a:tcPr>
                </a:tc>
                <a:tc>
                  <a:txBody>
                    <a:bodyPr wrap="square"/>
                    <a:lstStyle/>
                    <a:p>
                      <a:r>
                        <a:rPr sz="1000" b="0">
                          <a:solidFill>
                            <a:srgbClr val="282828"/>
                          </a:solidFill>
                          <a:latin typeface="Arial"/>
                        </a:rPr>
                        <a:t>all frames of one measurement summed; 1e14 photons at 633 nm = 31 µJ = 0.13 s of a 1 mW laser at 25% throughput</a:t>
                      </a:r>
                    </a:p>
                  </a:txBody>
                  <a:tcPr marL="54864" marR="54864" marT="18288" marB="18288">
                    <a:solidFill>
                      <a:srgbClr val="ECF1F6"/>
                    </a:solidFill>
                  </a:tcPr>
                </a:tc>
              </a:tr>
              <a:tr h="434340">
                <a:tc>
                  <a:txBody>
                    <a:bodyPr wrap="square"/>
                    <a:lstStyle/>
                    <a:p>
                      <a:r>
                        <a:rPr sz="1000" b="0">
                          <a:solidFill>
                            <a:srgbClr val="282828"/>
                          </a:solidFill>
                          <a:latin typeface="Arial"/>
                        </a:rPr>
                        <a:t>capture range to 10%</a:t>
                      </a:r>
                    </a:p>
                  </a:txBody>
                  <a:tcPr marL="54864" marR="54864" marT="18288" marB="18288">
                    <a:solidFill>
                      <a:srgbClr val="FFFFFF"/>
                    </a:solidFill>
                  </a:tcPr>
                </a:tc>
                <a:tc>
                  <a:txBody>
                    <a:bodyPr wrap="square"/>
                    <a:lstStyle/>
                    <a:p>
                      <a:r>
                        <a:rPr sz="1000" b="0">
                          <a:solidFill>
                            <a:srgbClr val="282828"/>
                          </a:solidFill>
                          <a:latin typeface="Arial"/>
                        </a:rPr>
                        <a:t>the largest working surface at which a 10 nm change on the 47 sites reads within 10%, the matrix left as calibrated at 30 nm</a:t>
                      </a:r>
                    </a:p>
                  </a:txBody>
                  <a:tcPr marL="54864" marR="54864" marT="18288" marB="18288">
                    <a:solidFill>
                      <a:srgbClr val="FFFFFF"/>
                    </a:solidFill>
                  </a:tcPr>
                </a:tc>
              </a:tr>
              <a:tr h="262890">
                <a:tc>
                  <a:txBody>
                    <a:bodyPr wrap="square"/>
                    <a:lstStyle/>
                    <a:p>
                      <a:r>
                        <a:rPr sz="1000" b="0">
                          <a:solidFill>
                            <a:srgbClr val="282828"/>
                          </a:solidFill>
                          <a:latin typeface="Arial"/>
                        </a:rPr>
                        <a:t>capture</a:t>
                      </a:r>
                    </a:p>
                  </a:txBody>
                  <a:tcPr marL="54864" marR="54864" marT="18288" marB="18288">
                    <a:solidFill>
                      <a:srgbClr val="ECF1F6"/>
                    </a:solidFill>
                  </a:tcPr>
                </a:tc>
                <a:tc>
                  <a:txBody>
                    <a:bodyPr wrap="square"/>
                    <a:lstStyle/>
                    <a:p>
                      <a:r>
                        <a:rPr sz="1000" b="0">
                          <a:solidFill>
                            <a:srgbClr val="282828"/>
                          </a:solidFill>
                          <a:latin typeface="Arial"/>
                        </a:rPr>
                        <a:t>the largest starting surface the servo brings to 3 pm</a:t>
                      </a:r>
                    </a:p>
                  </a:txBody>
                  <a:tcPr marL="54864" marR="54864" marT="18288" marB="18288">
                    <a:solidFill>
                      <a:srgbClr val="ECF1F6"/>
                    </a:solidFill>
                  </a:tcPr>
                </a:tc>
              </a:tr>
              <a:tr h="434340">
                <a:tc>
                  <a:txBody>
                    <a:bodyPr wrap="square"/>
                    <a:lstStyle/>
                    <a:p>
                      <a:r>
                        <a:rPr sz="1000" b="0">
                          <a:solidFill>
                            <a:srgbClr val="282828"/>
                          </a:solidFill>
                          <a:latin typeface="Arial"/>
                        </a:rPr>
                        <a:t>hold, one number</a:t>
                      </a:r>
                    </a:p>
                  </a:txBody>
                  <a:tcPr marL="54864" marR="54864" marT="18288" marB="18288">
                    <a:solidFill>
                      <a:srgbClr val="FFFFFF"/>
                    </a:solidFill>
                  </a:tcPr>
                </a:tc>
                <a:tc>
                  <a:txBody>
                    <a:bodyPr wrap="square"/>
                    <a:lstStyle/>
                    <a:p>
                      <a:r>
                        <a:rPr sz="1000" b="0">
                          <a:solidFill>
                            <a:srgbClr val="282828"/>
                          </a:solidFill>
                          <a:latin typeface="Arial"/>
                        </a:rPr>
                        <a:t>photons per cycle that hold 3 pm rms in a 60-cycle loop at gain 0.5</a:t>
                      </a:r>
                    </a:p>
                  </a:txBody>
                  <a:tcPr marL="54864" marR="54864" marT="18288" marB="18288">
                    <a:solidFill>
                      <a:srgbClr val="FFFFFF"/>
                    </a:solidFill>
                  </a:tcPr>
                </a:tc>
              </a:tr>
            </a:tbl>
          </a:graphicData>
        </a:graphic>
      </p:graphicFrame>
      <p:sp>
        <p:nvSpPr>
          <p:cNvPr id="6" name="TextBox 5"/>
          <p:cNvSpPr txBox="1"/>
          <p:nvPr/>
        </p:nvSpPr>
        <p:spPr>
          <a:xfrm>
            <a:off x="6400800" y="4233672"/>
            <a:ext cx="5394960" cy="274320"/>
          </a:xfrm>
          <a:prstGeom prst="rect">
            <a:avLst/>
          </a:prstGeom>
          <a:noFill/>
        </p:spPr>
        <p:txBody>
          <a:bodyPr wrap="square">
            <a:spAutoFit/>
          </a:bodyPr>
          <a:lstStyle/>
          <a:p>
            <a:pPr>
              <a:spcAft>
                <a:spcPts val="600"/>
              </a:spcAft>
            </a:pPr>
            <a:r>
              <a:rPr sz="1050" b="0">
                <a:solidFill>
                  <a:srgbClr val="6E6E6E"/>
                </a:solidFill>
                <a:latin typeface="Arial"/>
              </a:rPr>
              <a:t>Measuring a change costs two measurements.  The 96×96 at 385 detector pixels per pupil is the flight-like sampling; most rows here are at 193 pixels, which the sampling study showed reads the same numbers.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two forms, four ways of sensing</a:t>
            </a:r>
          </a:p>
          <a:p>
            <a:pPr>
              <a:spcAft>
                <a:spcPts val="0"/>
              </a:spcAft>
            </a:pPr>
            <a:r>
              <a:rPr sz="1250" b="0">
                <a:solidFill>
                  <a:srgbClr val="6E6E6E"/>
                </a:solidFill>
                <a:latin typeface="Arial"/>
              </a:rPr>
              <a:t>Everything shares the front end: a filtered HeNe, a collimator, a plate splitter at 22.5°, a 700 mm leg to the mirror, a focuser to an internal focus, a field lens to a camera at the pupil image; the collimator and focuser are lenses or off-axis parabolas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train.png"/>
          <p:cNvPicPr>
            <a:picLocks noChangeAspect="1"/>
          </p:cNvPicPr>
          <p:nvPr/>
        </p:nvPicPr>
        <p:blipFill>
          <a:blip r:embed="rId2"/>
          <a:stretch>
            <a:fillRect/>
          </a:stretch>
        </p:blipFill>
        <p:spPr>
          <a:xfrm>
            <a:off x="1657732" y="1298448"/>
            <a:ext cx="3313935" cy="1653032"/>
          </a:xfrm>
          <a:prstGeom prst="rect">
            <a:avLst/>
          </a:prstGeom>
        </p:spPr>
      </p:pic>
      <p:sp>
        <p:nvSpPr>
          <p:cNvPr id="5" name="TextBox 4"/>
          <p:cNvSpPr txBox="1"/>
          <p:nvPr/>
        </p:nvSpPr>
        <p:spPr>
          <a:xfrm>
            <a:off x="411480" y="2969768"/>
            <a:ext cx="5806440" cy="724408"/>
          </a:xfrm>
          <a:prstGeom prst="rect">
            <a:avLst/>
          </a:prstGeom>
          <a:noFill/>
        </p:spPr>
        <p:txBody>
          <a:bodyPr wrap="square">
            <a:spAutoFit/>
          </a:bodyPr>
          <a:lstStyle/>
          <a:p>
            <a:pPr algn="ctr">
              <a:spcAft>
                <a:spcPts val="0"/>
              </a:spcAft>
            </a:pPr>
            <a:r>
              <a:rPr sz="1000" b="0">
                <a:solidFill>
                  <a:srgbClr val="6E6E6E"/>
                </a:solidFill>
                <a:latin typeface="Arial"/>
              </a:rPr>
              <a:t>The lens rig as traced by the engine, from above: source at left, collimator L1, the 22.5° splitter, the 96 mm mirror on its 700 mm leg (blue), the reference arm and its flat (orange, the interferometer only), the focuser L2 toward the internal focus.  The mask seat at that focus is where the four sensing methods differ.</a:t>
            </a:r>
          </a:p>
        </p:txBody>
      </p:sp>
      <p:pic>
        <p:nvPicPr>
          <p:cNvPr id="6" name="Picture 5" descr="crop_lay96_oap_train.png"/>
          <p:cNvPicPr>
            <a:picLocks noChangeAspect="1"/>
          </p:cNvPicPr>
          <p:nvPr/>
        </p:nvPicPr>
        <p:blipFill>
          <a:blip r:embed="rId3"/>
          <a:stretch>
            <a:fillRect/>
          </a:stretch>
        </p:blipFill>
        <p:spPr>
          <a:xfrm>
            <a:off x="8195414" y="1298448"/>
            <a:ext cx="1805731" cy="1653032"/>
          </a:xfrm>
          <a:prstGeom prst="rect">
            <a:avLst/>
          </a:prstGeom>
        </p:spPr>
      </p:pic>
      <p:sp>
        <p:nvSpPr>
          <p:cNvPr id="7" name="TextBox 6"/>
          <p:cNvSpPr txBox="1"/>
          <p:nvPr/>
        </p:nvSpPr>
        <p:spPr>
          <a:xfrm>
            <a:off x="6400800" y="2969768"/>
            <a:ext cx="5394960" cy="724408"/>
          </a:xfrm>
          <a:prstGeom prst="rect">
            <a:avLst/>
          </a:prstGeom>
          <a:noFill/>
        </p:spPr>
        <p:txBody>
          <a:bodyPr wrap="square">
            <a:spAutoFit/>
          </a:bodyPr>
          <a:lstStyle/>
          <a:p>
            <a:pPr algn="ctr">
              <a:spcAft>
                <a:spcPts val="0"/>
              </a:spcAft>
            </a:pPr>
            <a:r>
              <a:rPr sz="1000" b="0">
                <a:solidFill>
                  <a:srgbClr val="6E6E6E"/>
                </a:solidFill>
                <a:latin typeface="Arial"/>
              </a:rPr>
              <a:t>The reflective rig, redesigned on the same splitter: the source and input polarizer in the diverging leg, OAP1 collimating at a 20° fold, the same node, OAP2 focusing at 25° toward the mask seat.  Both drawings are the tools' own renders to scale; parts and thicknesses are on the next slides.</a:t>
            </a:r>
          </a:p>
        </p:txBody>
      </p:sp>
      <p:graphicFrame>
        <p:nvGraphicFramePr>
          <p:cNvPr id="8" name="Table 7"/>
          <p:cNvGraphicFramePr>
            <a:graphicFrameLocks noGrp="1"/>
          </p:cNvGraphicFramePr>
          <p:nvPr/>
        </p:nvGraphicFramePr>
        <p:xfrm>
          <a:off x="411480" y="3730752"/>
          <a:ext cx="11368735" cy="2628900"/>
        </p:xfrm>
        <a:graphic>
          <a:graphicData uri="http://schemas.openxmlformats.org/drawingml/2006/table">
            <a:tbl>
              <a:tblPr firstRow="1" bandRow="1">
                <a:tableStyleId>{5C22544A-7EE6-4342-B048-85BDC9FD1C3A}</a:tableStyleId>
              </a:tblPr>
              <a:tblGrid>
                <a:gridCol w="1235964"/>
                <a:gridCol w="3635559"/>
                <a:gridCol w="649721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lenses (L1, L2: 103 mm singlets)</a:t>
                      </a:r>
                    </a:p>
                  </a:txBody>
                  <a:tcPr marL="54864" marR="54864" marT="18288" marB="18288">
                    <a:solidFill>
                      <a:srgbClr val="1F4E79"/>
                    </a:solidFill>
                  </a:tcPr>
                </a:tc>
                <a:tc>
                  <a:txBody>
                    <a:bodyPr wrap="square"/>
                    <a:lstStyle/>
                    <a:p>
                      <a:r>
                        <a:rPr sz="1100" b="1">
                          <a:solidFill>
                            <a:srgbClr val="FFFFFF"/>
                          </a:solidFill>
                          <a:latin typeface="Arial"/>
                        </a:rPr>
                        <a:t>off-axis parabolas (OAP1 20°, OAP2 25°)</a:t>
                      </a:r>
                    </a:p>
                  </a:txBody>
                  <a:tcPr marL="54864" marR="54864" marT="18288" marB="18288">
                    <a:solidFill>
                      <a:srgbClr val="1F4E79"/>
                    </a:solidFill>
                  </a:tcPr>
                </a:tc>
              </a:tr>
              <a:tr h="657225">
                <a:tc>
                  <a:txBody>
                    <a:bodyPr wrap="square"/>
                    <a:lstStyle/>
                    <a:p>
                      <a:r>
                        <a:rPr sz="1100" b="0">
                          <a:solidFill>
                            <a:srgbClr val="282828"/>
                          </a:solidFill>
                          <a:latin typeface="Arial"/>
                        </a:rPr>
                        <a:t>for</a:t>
                      </a:r>
                    </a:p>
                  </a:txBody>
                  <a:tcPr marL="54864" marR="54864" marT="18288" marB="18288">
                    <a:solidFill>
                      <a:srgbClr val="FFFFFF"/>
                    </a:solidFill>
                  </a:tcPr>
                </a:tc>
                <a:tc>
                  <a:txBody>
                    <a:bodyPr wrap="square"/>
                    <a:lstStyle/>
                    <a:p>
                      <a:r>
                        <a:rPr sz="1100" b="0">
                          <a:solidFill>
                            <a:srgbClr val="282828"/>
                          </a:solidFill>
                          <a:latin typeface="Arial"/>
                        </a:rPr>
                        <a:t>on axis, no polarization from folds; inexpensive parts</a:t>
                      </a:r>
                    </a:p>
                  </a:txBody>
                  <a:tcPr marL="54864" marR="54864" marT="18288" marB="18288">
                    <a:solidFill>
                      <a:srgbClr val="FFFFFF"/>
                    </a:solidFill>
                  </a:tcPr>
                </a:tc>
                <a:tc>
                  <a:txBody>
                    <a:bodyPr wrap="square"/>
                    <a:lstStyle/>
                    <a:p>
                      <a:r>
                        <a:rPr sz="1100" b="0">
                          <a:solidFill>
                            <a:srgbClr val="282828"/>
                          </a:solidFill>
                          <a:latin typeface="Arial"/>
                        </a:rPr>
                        <a:t>no glass in the beam: works at any color (a second color for capture is free), no ghosts; the focus lands on the mask without adjustment, and the residual with a flat mirror is 0.029 nm against the lens rig's 0.13; every part clears by 33 mm</a:t>
                      </a:r>
                    </a:p>
                  </a:txBody>
                  <a:tcPr marL="54864" marR="54864" marT="18288" marB="18288">
                    <a:solidFill>
                      <a:srgbClr val="FFFFFF"/>
                    </a:solidFill>
                  </a:tcPr>
                </a:tc>
              </a:tr>
              <a:tr h="1034415">
                <a:tc>
                  <a:txBody>
                    <a:bodyPr wrap="square"/>
                    <a:lstStyle/>
                    <a:p>
                      <a:r>
                        <a:rPr sz="1100" b="0">
                          <a:solidFill>
                            <a:srgbClr val="282828"/>
                          </a:solidFill>
                          <a:latin typeface="Arial"/>
                        </a:rPr>
                        <a:t>against</a:t>
                      </a:r>
                    </a:p>
                  </a:txBody>
                  <a:tcPr marL="54864" marR="54864" marT="18288" marB="18288">
                    <a:solidFill>
                      <a:srgbClr val="ECF1F6"/>
                    </a:solidFill>
                  </a:tcPr>
                </a:tc>
                <a:tc>
                  <a:txBody>
                    <a:bodyPr wrap="square"/>
                    <a:lstStyle/>
                    <a:p>
                      <a:r>
                        <a:rPr sz="1100" b="0">
                          <a:solidFill>
                            <a:srgbClr val="282828"/>
                          </a:solidFill>
                          <a:latin typeface="Arial"/>
                        </a:rPr>
                        <a:t>one color at a time; each plate in the converging beam adds aberration (0.03 wave per 2 mm); the detector leg reaches its best focus only after a numerical adjustment; faces need anti-reflection coating</a:t>
                      </a:r>
                    </a:p>
                  </a:txBody>
                  <a:tcPr marL="54864" marR="54864" marT="18288" marB="18288">
                    <a:solidFill>
                      <a:srgbClr val="ECF1F6"/>
                    </a:solidFill>
                  </a:tcPr>
                </a:tc>
                <a:tc>
                  <a:txBody>
                    <a:bodyPr wrap="square"/>
                    <a:lstStyle/>
                    <a:p>
                      <a:r>
                        <a:rPr sz="1100" b="0">
                          <a:solidFill>
                            <a:srgbClr val="282828"/>
                          </a:solidFill>
                          <a:latin typeface="Arial"/>
                        </a:rPr>
                        <a:t>the metal folds polarize: the vector reading needs its two channels calibrated (634 pm raw, 0.054 pm calibrated; a quarter-wave overcoat halves the raw error); 10 µrad of mirror tilt moves the null 95-103 nm; the raw four-step reading wraps between 60 and 120 nm of surface on both rigs (a base past λ/2 reads 91 nm whatever it is); both capture with unwrapping</a:t>
                      </a:r>
                    </a:p>
                  </a:txBody>
                  <a:tcPr marL="54864" marR="54864" marT="18288" marB="18288">
                    <a:solidFill>
                      <a:srgbClr val="ECF1F6"/>
                    </a:solidFill>
                  </a:tcPr>
                </a:tc>
              </a:tr>
              <a:tr h="657225">
                <a:tc>
                  <a:txBody>
                    <a:bodyPr wrap="square"/>
                    <a:lstStyle/>
                    <a:p>
                      <a:r>
                        <a:rPr sz="1100" b="0">
                          <a:solidFill>
                            <a:srgbClr val="282828"/>
                          </a:solidFill>
                          <a:latin typeface="Arial"/>
                        </a:rPr>
                        <a:t>where it stands</a:t>
                      </a:r>
                    </a:p>
                  </a:txBody>
                  <a:tcPr marL="54864" marR="54864" marT="18288" marB="18288">
                    <a:solidFill>
                      <a:srgbClr val="FFFFFF"/>
                    </a:solidFill>
                  </a:tcPr>
                </a:tc>
                <a:tc>
                  <a:txBody>
                    <a:bodyPr wrap="square"/>
                    <a:lstStyle/>
                    <a:p>
                      <a:r>
                        <a:rPr sz="1100" b="0">
                          <a:solidFill>
                            <a:srgbClr val="282828"/>
                          </a:solidFill>
                          <a:latin typeface="Arial"/>
                        </a:rPr>
                        <a:t>reads 1.004 / 1.4 pm on a 10 nm change; holds 3 pm from 2.3e13 photons per cycle; captures from 200 nm to 3.1 pm in 60 cycles</a:t>
                      </a:r>
                    </a:p>
                  </a:txBody>
                  <a:tcPr marL="54864" marR="54864" marT="18288" marB="18288">
                    <a:solidFill>
                      <a:srgbClr val="FFFFFF"/>
                    </a:solidFill>
                  </a:tcPr>
                </a:tc>
                <a:tc>
                  <a:txBody>
                    <a:bodyPr wrap="square"/>
                    <a:lstStyle/>
                    <a:p>
                      <a:r>
                        <a:rPr sz="1100" b="0">
                          <a:solidFill>
                            <a:srgbClr val="282828"/>
                          </a:solidFill>
                          <a:latin typeface="Arial"/>
                        </a:rPr>
                        <a:t>reads 0.986 / 2.3 pm; holds 3 pm from 2.0e13; captures from 200 nm in 24 cycles; the pinhole and the calibrated vector pair pass</a:t>
                      </a:r>
                    </a:p>
                  </a:txBody>
                  <a:tcPr marL="54864" marR="54864" marT="18288" marB="18288">
                    <a:solidFill>
                      <a:srgbClr val="FFFFFF"/>
                    </a:solidFill>
                  </a:tcPr>
                </a:tc>
              </a:tr>
            </a:tbl>
          </a:graphicData>
        </a:graphic>
      </p:graphicFrame>
      <p:sp>
        <p:nvSpPr>
          <p:cNvPr id="9" name="TextBox 8"/>
          <p:cNvSpPr txBox="1"/>
          <p:nvPr/>
        </p:nvSpPr>
        <p:spPr>
          <a:xfrm>
            <a:off x="411480" y="6364224"/>
            <a:ext cx="11368735" cy="274320"/>
          </a:xfrm>
          <a:prstGeom prst="rect">
            <a:avLst/>
          </a:prstGeom>
          <a:noFill/>
        </p:spPr>
        <p:txBody>
          <a:bodyPr wrap="square">
            <a:spAutoFit/>
          </a:bodyPr>
          <a:lstStyle/>
          <a:p>
            <a:pPr>
              <a:spcAft>
                <a:spcPts val="600"/>
              </a:spcAft>
            </a:pPr>
            <a:r>
              <a:rPr sz="1050" b="0">
                <a:solidFill>
                  <a:srgbClr val="6E6E6E"/>
                </a:solidFill>
                <a:latin typeface="Arial"/>
              </a:rPr>
              <a:t>The reference arm (a 103 mm flat on a piezo, 564 mm leg) is the interferometer's; shuttered, the same bench is every other sensor.  Run tags bench_bs22, oapdraw3, redo96_lens, redo96_oap, redo96_lensloop, redo96_oaploop, capt96_oap, capt96_lens, redo96_oapsens; the priced comparison is on the lenses-versus-mirrors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front end</a:t>
            </a:r>
          </a:p>
          <a:p>
            <a:pPr>
              <a:spcAft>
                <a:spcPts val="0"/>
              </a:spcAft>
            </a:pPr>
            <a:r>
              <a:rPr sz="1250" b="0">
                <a:solidFill>
                  <a:srgbClr val="6E6E6E"/>
                </a:solidFill>
                <a:latin typeface="Arial"/>
              </a:rPr>
              <a:t>The source, the collimator and the splitter node, from the parameter sheet; the substrates are now decided (10 mm splitter and compensator, 2 mm fused-silica plates under every polarizing element, a 2 mm mask plate, 4 mm lens edges) and go into every deck from 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937635"/>
        </p:xfrm>
        <a:graphic>
          <a:graphicData uri="http://schemas.openxmlformats.org/drawingml/2006/table">
            <a:tbl>
              <a:tblPr firstRow="1" bandRow="1">
                <a:tableStyleId>{5C22544A-7EE6-4342-B048-85BDC9FD1C3A}</a:tableStyleId>
              </a:tblPr>
              <a:tblGrid>
                <a:gridCol w="1962404"/>
                <a:gridCol w="5301770"/>
                <a:gridCol w="1561480"/>
                <a:gridCol w="509524"/>
                <a:gridCol w="2033555"/>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laser, spatially filtered</a:t>
                      </a:r>
                    </a:p>
                  </a:txBody>
                  <a:tcPr marL="54864" marR="54864" marT="18288" marB="18288">
                    <a:solidFill>
                      <a:srgbClr val="FFFFFF"/>
                    </a:solidFill>
                  </a:tcPr>
                </a:tc>
                <a:tc>
                  <a:txBody>
                    <a:bodyPr wrap="square"/>
                    <a:lstStyle/>
                    <a:p>
                      <a:r>
                        <a:rPr sz="1100" b="0">
                          <a:solidFill>
                            <a:srgbClr val="282828"/>
                          </a:solidFill>
                          <a:latin typeface="Arial"/>
                        </a:rPr>
                        <a:t>HeNe 632.8 nm, 1 mW class; the source cone is baffled to 59 mm radius, overfilling the mirror by 11 mm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source; 1e14 photons per measurement is 0.13 s</a:t>
                      </a:r>
                    </a:p>
                  </a:txBody>
                  <a:tcPr marL="54864" marR="54864" marT="18288" marB="18288">
                    <a:solidFill>
                      <a:srgbClr val="FFFFFF"/>
                    </a:solidFill>
                  </a:tcPr>
                </a:tc>
              </a:tr>
              <a:tr h="657225">
                <a:tc>
                  <a:txBody>
                    <a:bodyPr wrap="square"/>
                    <a:lstStyle/>
                    <a:p>
                      <a:r>
                        <a:rPr sz="1100" b="0">
                          <a:solidFill>
                            <a:srgbClr val="282828"/>
                          </a:solidFill>
                          <a:latin typeface="Arial"/>
                        </a:rPr>
                        <a:t>collimator: L1 or OAP1</a:t>
                      </a:r>
                    </a:p>
                  </a:txBody>
                  <a:tcPr marL="54864" marR="54864" marT="18288" marB="18288">
                    <a:solidFill>
                      <a:srgbClr val="ECF1F6"/>
                    </a:solidFill>
                  </a:tcPr>
                </a:tc>
                <a:tc>
                  <a:txBody>
                    <a:bodyPr wrap="square"/>
                    <a:lstStyle/>
                    <a:p>
                      <a:r>
                        <a:rPr sz="1100" b="0">
                          <a:solidFill>
                            <a:srgbClr val="282828"/>
                          </a:solidFill>
                          <a:latin typeface="Arial"/>
                        </a:rPr>
                        <a:t>L1: f 857 mm, 103 mm, plano-convex conic (R 427.3, conic −0.583), 5 mm center.  OAP1: parent f 757 mm (R −1514), 551 mm off-axis, 20° fold, 113 mm</a:t>
                      </a:r>
                    </a:p>
                  </a:txBody>
                  <a:tcPr marL="54864" marR="54864" marT="18288" marB="18288">
                    <a:solidFill>
                      <a:srgbClr val="ECF1F6"/>
                    </a:solidFill>
                  </a:tcPr>
                </a:tc>
                <a:tc>
                  <a:txBody>
                    <a:bodyPr wrap="square"/>
                    <a:lstStyle/>
                    <a:p>
                      <a:r>
                        <a:rPr sz="1100" b="0">
                          <a:solidFill>
                            <a:srgbClr val="282828"/>
                          </a:solidFill>
                          <a:latin typeface="Arial"/>
                        </a:rPr>
                        <a:t>L1 anti-reflection; OAP1 protected aluminum</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collimates onto the mirror</a:t>
                      </a:r>
                    </a:p>
                  </a:txBody>
                  <a:tcPr marL="54864" marR="54864" marT="18288" marB="18288">
                    <a:solidFill>
                      <a:srgbClr val="ECF1F6"/>
                    </a:solidFill>
                  </a:tcPr>
                </a:tc>
              </a:tr>
              <a:tr h="468630">
                <a:tc>
                  <a:txBody>
                    <a:bodyPr wrap="square"/>
                    <a:lstStyle/>
                    <a:p>
                      <a:r>
                        <a:rPr sz="1100" b="0">
                          <a:solidFill>
                            <a:srgbClr val="282828"/>
                          </a:solidFill>
                          <a:latin typeface="Arial"/>
                        </a:rPr>
                        <a:t>plate splitter</a:t>
                      </a:r>
                    </a:p>
                  </a:txBody>
                  <a:tcPr marL="54864" marR="54864" marT="18288" marB="18288">
                    <a:solidFill>
                      <a:srgbClr val="FFFFFF"/>
                    </a:solidFill>
                  </a:tcPr>
                </a:tc>
                <a:tc>
                  <a:txBody>
                    <a:bodyPr wrap="square"/>
                    <a:lstStyle/>
                    <a:p>
                      <a:r>
                        <a:rPr sz="1100" b="0">
                          <a:solidFill>
                            <a:srgbClr val="282828"/>
                          </a:solidFill>
                          <a:latin typeface="Arial"/>
                        </a:rPr>
                        <a:t>103 mm, 22.5°, 50/50, 10 mm thick; the glass shifts the transmitted beam 1.39 mm and takes the flat null 0.13 → 20 nm</a:t>
                      </a:r>
                    </a:p>
                  </a:txBody>
                  <a:tcPr marL="54864" marR="54864" marT="18288" marB="18288">
                    <a:solidFill>
                      <a:srgbClr val="FFFFFF"/>
                    </a:solidFill>
                  </a:tcPr>
                </a:tc>
                <a:tc>
                  <a:txBody>
                    <a:bodyPr wrap="square"/>
                    <a:lstStyle/>
                    <a:p>
                      <a:r>
                        <a:rPr sz="1100" b="0">
                          <a:solidFill>
                            <a:srgbClr val="282828"/>
                          </a:solidFill>
                          <a:latin typeface="Arial"/>
                        </a:rPr>
                        <a:t>50/50 front coating, AR back</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splits to the mirror and the reference arm</a:t>
                      </a:r>
                    </a:p>
                  </a:txBody>
                  <a:tcPr marL="54864" marR="54864" marT="18288" marB="18288">
                    <a:solidFill>
                      <a:srgbClr val="FFFFFF"/>
                    </a:solidFill>
                  </a:tcPr>
                </a:tc>
              </a:tr>
              <a:tr h="468630">
                <a:tc>
                  <a:txBody>
                    <a:bodyPr wrap="square"/>
                    <a:lstStyle/>
                    <a:p>
                      <a:r>
                        <a:rPr sz="1100" b="0">
                          <a:solidFill>
                            <a:srgbClr val="282828"/>
                          </a:solidFill>
                          <a:latin typeface="Arial"/>
                        </a:rPr>
                        <a:t>compensator plate</a:t>
                      </a:r>
                    </a:p>
                  </a:txBody>
                  <a:tcPr marL="54864" marR="54864" marT="18288" marB="18288">
                    <a:solidFill>
                      <a:srgbClr val="ECF1F6"/>
                    </a:solidFill>
                  </a:tcPr>
                </a:tc>
                <a:tc>
                  <a:txBody>
                    <a:bodyPr wrap="square"/>
                    <a:lstStyle/>
                    <a:p>
                      <a:r>
                        <a:rPr sz="1100" b="0">
                          <a:solidFill>
                            <a:srgbClr val="282828"/>
                          </a:solidFill>
                          <a:latin typeface="Arial"/>
                        </a:rPr>
                        <a:t>103 mm, matched to the splitter, in the mirror leg</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balances the glass path through the splitter</a:t>
                      </a:r>
                    </a:p>
                  </a:txBody>
                  <a:tcPr marL="54864" marR="54864" marT="18288" marB="18288">
                    <a:solidFill>
                      <a:srgbClr val="ECF1F6"/>
                    </a:solidFill>
                  </a:tcPr>
                </a:tc>
              </a:tr>
              <a:tr h="468630">
                <a:tc>
                  <a:txBody>
                    <a:bodyPr wrap="square"/>
                    <a:lstStyle/>
                    <a:p>
                      <a:r>
                        <a:rPr sz="1100" b="0">
                          <a:solidFill>
                            <a:srgbClr val="282828"/>
                          </a:solidFill>
                          <a:latin typeface="Arial"/>
                        </a:rPr>
                        <a:t>deformable mirror</a:t>
                      </a:r>
                    </a:p>
                  </a:txBody>
                  <a:tcPr marL="54864" marR="54864" marT="18288" marB="18288">
                    <a:solidFill>
                      <a:srgbClr val="FFFFFF"/>
                    </a:solidFill>
                  </a:tcPr>
                </a:tc>
                <a:tc>
                  <a:txBody>
                    <a:bodyPr wrap="square"/>
                    <a:lstStyle/>
                    <a:p>
                      <a:r>
                        <a:rPr sz="1100" b="0">
                          <a:solidFill>
                            <a:srgbClr val="282828"/>
                          </a:solidFill>
                          <a:latin typeface="Arial"/>
                        </a:rPr>
                        <a:t>96×96, 1 mm pitch, 96 mm, 700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test object; its surface is the measurand</a:t>
                      </a:r>
                    </a:p>
                  </a:txBody>
                  <a:tcPr marL="54864" marR="54864" marT="18288" marB="18288">
                    <a:solidFill>
                      <a:srgbClr val="FFFFFF"/>
                    </a:solidFill>
                  </a:tcPr>
                </a:tc>
              </a:tr>
              <a:tr h="657225">
                <a:tc>
                  <a:txBody>
                    <a:bodyPr wrap="square"/>
                    <a:lstStyle/>
                    <a:p>
                      <a:r>
                        <a:rPr sz="1100" b="0">
                          <a:solidFill>
                            <a:srgbClr val="282828"/>
                          </a:solidFill>
                          <a:latin typeface="Arial"/>
                        </a:rPr>
                        <a:t>aperture on the mirror</a:t>
                      </a:r>
                    </a:p>
                  </a:txBody>
                  <a:tcPr marL="54864" marR="54864" marT="18288" marB="18288">
                    <a:solidFill>
                      <a:srgbClr val="ECF1F6"/>
                    </a:solidFill>
                  </a:tcPr>
                </a:tc>
                <a:tc>
                  <a:txBody>
                    <a:bodyPr wrap="square"/>
                    <a:lstStyle/>
                    <a:p>
                      <a:r>
                        <a:rPr sz="1100" b="0">
                          <a:solidFill>
                            <a:srgbClr val="282828"/>
                          </a:solidFill>
                          <a:latin typeface="Arial"/>
                        </a:rPr>
                        <a:t>96 mm, at the actuator footprint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stop: it defines the pupil, so the baffle never does</a:t>
                      </a:r>
                    </a:p>
                  </a:txBody>
                  <a:tcPr marL="54864" marR="54864" marT="18288" marB="18288">
                    <a:solidFill>
                      <a:srgbClr val="ECF1F6"/>
                    </a:solidFill>
                  </a:tcPr>
                </a:tc>
              </a:tr>
              <a:tr h="468630">
                <a:tc>
                  <a:txBody>
                    <a:bodyPr wrap="square"/>
                    <a:lstStyle/>
                    <a:p>
                      <a:r>
                        <a:rPr sz="1100" b="0">
                          <a:solidFill>
                            <a:srgbClr val="282828"/>
                          </a:solidFill>
                          <a:latin typeface="Arial"/>
                        </a:rPr>
                        <a:t>mounts, bench</a:t>
                      </a:r>
                    </a:p>
                  </a:txBody>
                  <a:tcPr marL="54864" marR="54864" marT="18288" marB="18288">
                    <a:solidFill>
                      <a:srgbClr val="FFFFFF"/>
                    </a:solidFill>
                  </a:tcPr>
                </a:tc>
                <a:tc>
                  <a:txBody>
                    <a:bodyPr wrap="square"/>
                    <a:lstStyle/>
                    <a:p>
                      <a:r>
                        <a:rPr sz="1100" b="0">
                          <a:solidFill>
                            <a:srgbClr val="282828"/>
                          </a:solidFill>
                          <a:latin typeface="Arial"/>
                        </a:rPr>
                        <a:t>2 m × 1 m table; 103 mm mounts, 25 mm clearance</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the 22.5° layout clears every part</a:t>
                      </a:r>
                    </a:p>
                  </a:txBody>
                  <a:tcPr marL="54864" marR="54864" marT="18288" marB="18288">
                    <a:solidFill>
                      <a:srgbClr val="FFFFFF"/>
                    </a:solidFill>
                  </a:tcPr>
                </a:tc>
              </a:tr>
            </a:tbl>
          </a:graphicData>
        </a:graphic>
      </p:graphicFrame>
      <p:sp>
        <p:nvSpPr>
          <p:cNvPr id="5" name="TextBox 4"/>
          <p:cNvSpPr txBox="1"/>
          <p:nvPr/>
        </p:nvSpPr>
        <p:spPr>
          <a:xfrm>
            <a:off x="411480" y="5382387"/>
            <a:ext cx="11368735" cy="274320"/>
          </a:xfrm>
          <a:prstGeom prst="rect">
            <a:avLst/>
          </a:prstGeom>
          <a:noFill/>
        </p:spPr>
        <p:txBody>
          <a:bodyPr wrap="square">
            <a:spAutoFit/>
          </a:bodyPr>
          <a:lstStyle/>
          <a:p>
            <a:pPr>
              <a:spcAft>
                <a:spcPts val="600"/>
              </a:spcAft>
            </a:pPr>
            <a:r>
              <a:rPr sz="1050" b="0">
                <a:solidFill>
                  <a:srgbClr val="6E6E6E"/>
                </a:solidFill>
                <a:latin typeface="Arial"/>
              </a:rPr>
              <a:t>The two front ends are alternatives, not additions: a rig is all lenses or all mirrors, and the conjugates are identical either way.  One coating entry still needs a decision — the overcoat on the parabolas is modeled as a half wave of </a:t>
            </a:r>
            <a:r>
              <a:rPr sz="1050" b="0">
                <a:solidFill>
                  <a:srgbClr val="6E6E6E"/>
                </a:solidFill>
                <a:latin typeface="Arial"/>
              </a:rPr>
              <a:t>MgF</a:t>
            </a:r>
            <a:r>
              <a:rPr sz="1050" b="0" baseline="-25000">
                <a:solidFill>
                  <a:srgbClr val="6E6E6E"/>
                </a:solidFill>
                <a:latin typeface="Arial"/>
              </a:rPr>
              <a:t>2</a:t>
            </a:r>
            <a:r>
              <a:rPr sz="1050" b="0">
                <a:solidFill>
                  <a:srgbClr val="6E6E6E"/>
                </a:solidFill>
                <a:latin typeface="Arial"/>
              </a:rPr>
              <a:t>, and the polarization cost of an overcoat reverses sign across the quarter-wave condition, so a quarter wave AT 632.8 nm is the specification to order if the mirror rig is built.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Twyman-Green, four phase steps</a:t>
            </a:r>
          </a:p>
          <a:p>
            <a:pPr>
              <a:spcAft>
                <a:spcPts val="0"/>
              </a:spcAft>
            </a:pPr>
            <a:r>
              <a:rPr sz="1250" b="0">
                <a:solidFill>
                  <a:srgbClr val="6E6E6E"/>
                </a:solidFill>
                <a:latin typeface="Arial"/>
              </a:rPr>
              <a:t>Its best form is the hybrid: a polarization snapshot for every change measurement, a piezo four-step for the absolute calibration; the reference arm makes it the one gauge that captures a whole wave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test beam from the mirror interferes with the flat's beam; four frames at four phase steps give the phase at every pixel.  The snapshot form takes the four frames at once through polarization optics (no drift within a scan); the piezo form steps the flat in time (no polarization systematics).  Each removes the other's error.</a:t>
            </a:r>
          </a:p>
          <a:p>
            <a:pPr>
              <a:spcAft>
                <a:spcPts val="600"/>
              </a:spcAft>
            </a:pPr>
            <a:r>
              <a:rPr sz="1500" b="0">
                <a:solidFill>
                  <a:srgbClr val="282828"/>
                </a:solidFill>
                <a:latin typeface="Arial"/>
              </a:rPr>
              <a:t>•  </a:t>
            </a:r>
            <a:r>
              <a:rPr sz="1500" b="1">
                <a:solidFill>
                  <a:srgbClr val="282828"/>
                </a:solidFill>
                <a:latin typeface="Arial"/>
              </a:rPr>
              <a:t>On the 30 nm surface, matrix measured on it (lens rig; mirror rig in parentheses):</a:t>
            </a:r>
            <a:r>
              <a:rPr sz="1500" b="0">
                <a:solidFill>
                  <a:srgbClr val="282828"/>
                </a:solidFill>
                <a:latin typeface="Arial"/>
              </a:rPr>
              <a:t> 10 nm on one actuator 1.004 / 1.4 pm / SNR 7741 (0.986 / 2.3 pm / 6044); 1 nm on 120 sites 0.993 / 10 pm (0.981 / 4.4 pm); dense 10 nm 0.9995, 500 pm (0.977, 698 pm).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2.3e13 photons per cycle with noise only, 7.1e13 under a 2 pm per-cycle actuator walk (mirror rig 2.0e13 / 6.6e13); a noiseless 1 nm step settles to 0.015 pm (2.8 pm on the mirror rig), so no fixed error.</a:t>
            </a:r>
          </a:p>
        </p:txBody>
      </p:sp>
      <p:graphicFrame>
        <p:nvGraphicFramePr>
          <p:cNvPr id="5" name="Table 4"/>
          <p:cNvGraphicFramePr>
            <a:graphicFrameLocks noGrp="1"/>
          </p:cNvGraphicFramePr>
          <p:nvPr/>
        </p:nvGraphicFramePr>
        <p:xfrm>
          <a:off x="6400800" y="1298448"/>
          <a:ext cx="5394959" cy="1828800"/>
        </p:xfrm>
        <a:graphic>
          <a:graphicData uri="http://schemas.openxmlformats.org/drawingml/2006/table">
            <a:tbl>
              <a:tblPr firstRow="1" bandRow="1">
                <a:tableStyleId>{5C22544A-7EE6-4342-B048-85BDC9FD1C3A}</a:tableStyleId>
              </a:tblPr>
              <a:tblGrid>
                <a:gridCol w="2861415"/>
                <a:gridCol w="2533544"/>
              </a:tblGrid>
              <a:tr h="26289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262890">
                <a:tc>
                  <a:txBody>
                    <a:bodyPr wrap="square"/>
                    <a:lstStyle/>
                    <a:p>
                      <a:r>
                        <a:rPr sz="1000" b="0">
                          <a:solidFill>
                            <a:srgbClr val="282828"/>
                          </a:solidFill>
                          <a:latin typeface="Arial"/>
                        </a:rPr>
                        <a:t>reference flat on a piezo stage</a:t>
                      </a:r>
                    </a:p>
                  </a:txBody>
                  <a:tcPr marL="54864" marR="54864" marT="18288" marB="18288">
                    <a:solidFill>
                      <a:srgbClr val="FFFFFF"/>
                    </a:solidFill>
                  </a:tcPr>
                </a:tc>
                <a:tc>
                  <a:txBody>
                    <a:bodyPr wrap="square"/>
                    <a:lstStyle/>
                    <a:p>
                      <a:r>
                        <a:rPr sz="1000" b="0">
                          <a:solidFill>
                            <a:srgbClr val="282828"/>
                          </a:solidFill>
                          <a:latin typeface="Arial"/>
                        </a:rPr>
                        <a:t>103 mm, protected aluminum, 564 mm leg</a:t>
                      </a:r>
                    </a:p>
                  </a:txBody>
                  <a:tcPr marL="54864" marR="54864" marT="18288" marB="18288">
                    <a:solidFill>
                      <a:srgbClr val="FFFFFF"/>
                    </a:solidFill>
                  </a:tcPr>
                </a:tc>
              </a:tr>
              <a:tr h="262890">
                <a:tc>
                  <a:txBody>
                    <a:bodyPr wrap="square"/>
                    <a:lstStyle/>
                    <a:p>
                      <a:r>
                        <a:rPr sz="1000" b="0">
                          <a:solidFill>
                            <a:srgbClr val="282828"/>
                          </a:solidFill>
                          <a:latin typeface="Arial"/>
                        </a:rPr>
                        <a:t>compensator plate</a:t>
                      </a:r>
                    </a:p>
                  </a:txBody>
                  <a:tcPr marL="54864" marR="54864" marT="18288" marB="18288">
                    <a:solidFill>
                      <a:srgbClr val="ECF1F6"/>
                    </a:solidFill>
                  </a:tcPr>
                </a:tc>
                <a:tc>
                  <a:txBody>
                    <a:bodyPr wrap="square"/>
                    <a:lstStyle/>
                    <a:p>
                      <a:r>
                        <a:rPr sz="1000" b="0">
                          <a:solidFill>
                            <a:srgbClr val="282828"/>
                          </a:solidFill>
                          <a:latin typeface="Arial"/>
                        </a:rPr>
                        <a:t>matched to the splitter</a:t>
                      </a:r>
                    </a:p>
                  </a:txBody>
                  <a:tcPr marL="54864" marR="54864" marT="18288" marB="18288">
                    <a:solidFill>
                      <a:srgbClr val="ECF1F6"/>
                    </a:solidFill>
                  </a:tcPr>
                </a:tc>
              </a:tr>
              <a:tr h="605790">
                <a:tc>
                  <a:txBody>
                    <a:bodyPr wrap="square"/>
                    <a:lstStyle/>
                    <a:p>
                      <a:r>
                        <a:rPr sz="1000" b="0">
                          <a:solidFill>
                            <a:srgbClr val="282828"/>
                          </a:solidFill>
                          <a:latin typeface="Arial"/>
                        </a:rPr>
                        <a:t>snapshot form: input polarizer, two arm quarter-wave plates, output quarter-wave plate, analyzer</a:t>
                      </a:r>
                    </a:p>
                  </a:txBody>
                  <a:tcPr marL="54864" marR="54864" marT="18288" marB="18288">
                    <a:solidFill>
                      <a:srgbClr val="FFFFFF"/>
                    </a:solidFill>
                  </a:tcPr>
                </a:tc>
                <a:tc>
                  <a:txBody>
                    <a:bodyPr wrap="square"/>
                    <a:lstStyle/>
                    <a:p>
                      <a:r>
                        <a:rPr sz="1000" b="0">
                          <a:solidFill>
                            <a:srgbClr val="282828"/>
                          </a:solidFill>
                          <a:latin typeface="Arial"/>
                        </a:rPr>
                        <a:t>zero-order plates on 2-3 mm substrates (to be modeled); azimuths 45 / 0 / 45 / 0 / 0°</a:t>
                      </a:r>
                    </a:p>
                  </a:txBody>
                  <a:tcPr marL="54864" marR="54864" marT="18288" marB="18288">
                    <a:solidFill>
                      <a:srgbClr val="FFFFFF"/>
                    </a:solidFill>
                  </a:tcPr>
                </a:tc>
              </a:tr>
              <a:tr h="434340">
                <a:tc>
                  <a:txBody>
                    <a:bodyPr wrap="square"/>
                    <a:lstStyle/>
                    <a:p>
                      <a:r>
                        <a:rPr sz="1000" b="0">
                          <a:solidFill>
                            <a:srgbClr val="282828"/>
                          </a:solidFill>
                          <a:latin typeface="Arial"/>
                        </a:rPr>
                        <a:t>frames per measurement</a:t>
                      </a:r>
                    </a:p>
                  </a:txBody>
                  <a:tcPr marL="54864" marR="54864" marT="18288" marB="18288">
                    <a:solidFill>
                      <a:srgbClr val="ECF1F6"/>
                    </a:solidFill>
                  </a:tcPr>
                </a:tc>
                <a:tc>
                  <a:txBody>
                    <a:bodyPr wrap="square"/>
                    <a:lstStyle/>
                    <a:p>
                      <a:r>
                        <a:rPr sz="1000" b="0">
                          <a:solidFill>
                            <a:srgbClr val="282828"/>
                          </a:solidFill>
                          <a:latin typeface="Arial"/>
                        </a:rPr>
                        <a:t>4 (snapshot: at once; piezo: in sequence)</a:t>
                      </a:r>
                    </a:p>
                  </a:txBody>
                  <a:tcPr marL="54864" marR="54864" marT="18288" marB="18288">
                    <a:solidFill>
                      <a:srgbClr val="ECF1F6"/>
                    </a:solidFill>
                  </a:tcPr>
                </a:tc>
              </a:tr>
            </a:tbl>
          </a:graphicData>
        </a:graphic>
      </p:graphicFrame>
      <p:sp>
        <p:nvSpPr>
          <p:cNvPr id="6" name="TextBox 5"/>
          <p:cNvSpPr txBox="1"/>
          <p:nvPr/>
        </p:nvSpPr>
        <p:spPr>
          <a:xfrm>
            <a:off x="6400800" y="32735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the three phase-shift forms are priced in backup (lens_deck_se2).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pupil image quality</a:t>
            </a:r>
          </a:p>
          <a:p>
            <a:pPr>
              <a:spcAft>
                <a:spcPts val="0"/>
              </a:spcAft>
            </a:pPr>
            <a:r>
              <a:rPr sz="1250" b="0">
                <a:solidFill>
                  <a:srgbClr val="6E6E6E"/>
                </a:solidFill>
                <a:latin typeface="Arial"/>
              </a:rPr>
              <a:t>The camera sees the DM sharply on both front ends; against a single global mapping the image is distorted by a seventh of a pitch at the edge on lenses and more than a pitch on mirrors, which the measured response matrix absorbs and a geometric mapping would 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q96_lens_pupil.png"/>
          <p:cNvPicPr>
            <a:picLocks noChangeAspect="1"/>
          </p:cNvPicPr>
          <p:nvPr/>
        </p:nvPicPr>
        <p:blipFill>
          <a:blip r:embed="rId2"/>
          <a:srcRect l="7850" r="7850" b="4270"/>
          <a:stretch>
            <a:fillRect/>
          </a:stretch>
        </p:blipFill>
        <p:spPr>
          <a:xfrm>
            <a:off x="0" y="1298448"/>
            <a:ext cx="6400800" cy="3273552"/>
          </a:xfrm>
          <a:prstGeom prst="rect">
            <a:avLst/>
          </a:prstGeom>
        </p:spPr>
      </p:pic>
      <p:sp>
        <p:nvSpPr>
          <p:cNvPr id="5" name="TextBox 4"/>
          <p:cNvSpPr txBox="1"/>
          <p:nvPr/>
        </p:nvSpPr>
        <p:spPr>
          <a:xfrm>
            <a:off x="228600" y="4937760"/>
            <a:ext cx="5943600" cy="559307"/>
          </a:xfrm>
          <a:prstGeom prst="rect">
            <a:avLst/>
          </a:prstGeom>
          <a:noFill/>
        </p:spPr>
        <p:txBody>
          <a:bodyPr wrap="square">
            <a:spAutoFit/>
          </a:bodyPr>
          <a:lstStyle/>
          <a:p>
            <a:pPr algn="ctr">
              <a:spcAft>
                <a:spcPts val="0"/>
              </a:spcAft>
            </a:pPr>
            <a:r>
              <a:rPr sz="1000" b="0">
                <a:solidFill>
                  <a:srgbClr val="6E6E6E"/>
                </a:solidFill>
                <a:latin typeface="Arial"/>
              </a:rPr>
              <a:t>The DM's image at the camera on the lens rig, the DM as the stop: left, distortion against the global affine (arrows ×3, DM mm); right, the blur of each zone's image over the band of tilts the DM can make.  The runner's own figure.</a:t>
            </a:r>
          </a:p>
        </p:txBody>
      </p:sp>
      <p:graphicFrame>
        <p:nvGraphicFramePr>
          <p:cNvPr id="6" name="Table 5"/>
          <p:cNvGraphicFramePr>
            <a:graphicFrameLocks noGrp="1"/>
          </p:cNvGraphicFramePr>
          <p:nvPr/>
        </p:nvGraphicFramePr>
        <p:xfrm>
          <a:off x="6400800" y="1298448"/>
          <a:ext cx="5394958" cy="1657350"/>
        </p:xfrm>
        <a:graphic>
          <a:graphicData uri="http://schemas.openxmlformats.org/drawingml/2006/table">
            <a:tbl>
              <a:tblPr firstRow="1" bandRow="1">
                <a:tableStyleId>{5C22544A-7EE6-4342-B048-85BDC9FD1C3A}</a:tableStyleId>
              </a:tblPr>
              <a:tblGrid>
                <a:gridCol w="2873402"/>
                <a:gridCol w="1407380"/>
                <a:gridCol w="1114176"/>
              </a:tblGrid>
              <a:tr h="262890">
                <a:tc>
                  <a:txBody>
                    <a:bodyPr wrap="square"/>
                    <a:lstStyle/>
                    <a:p>
                      <a:r>
                        <a:rPr sz="1000" b="1">
                          <a:solidFill>
                            <a:srgbClr val="FFFFFF"/>
                          </a:solidFill>
                          <a:latin typeface="Arial"/>
                        </a:rPr>
                        <a:t>DM mm unless stated</a:t>
                      </a:r>
                    </a:p>
                  </a:txBody>
                  <a:tcPr marL="54864" marR="54864" marT="18288" marB="18288">
                    <a:solidFill>
                      <a:srgbClr val="1F4E79"/>
                    </a:solidFill>
                  </a:tcPr>
                </a:tc>
                <a:tc>
                  <a:txBody>
                    <a:bodyPr wrap="square"/>
                    <a:lstStyle/>
                    <a:p>
                      <a:r>
                        <a:rPr sz="1000" b="1">
                          <a:solidFill>
                            <a:srgbClr val="FFFFFF"/>
                          </a:solidFill>
                          <a:latin typeface="Arial"/>
                        </a:rPr>
                        <a:t>lens rig</a:t>
                      </a:r>
                    </a:p>
                  </a:txBody>
                  <a:tcPr marL="54864" marR="54864" marT="18288" marB="18288">
                    <a:solidFill>
                      <a:srgbClr val="1F4E79"/>
                    </a:solidFill>
                  </a:tcPr>
                </a:tc>
                <a:tc>
                  <a:txBody>
                    <a:bodyPr wrap="square"/>
                    <a:lstStyle/>
                    <a:p>
                      <a:r>
                        <a:rPr sz="1000" b="1">
                          <a:solidFill>
                            <a:srgbClr val="FFFFFF"/>
                          </a:solidFill>
                          <a:latin typeface="Arial"/>
                        </a:rPr>
                        <a:t>mirror rig</a:t>
                      </a:r>
                    </a:p>
                  </a:txBody>
                  <a:tcPr marL="54864" marR="54864" marT="18288" marB="18288">
                    <a:solidFill>
                      <a:srgbClr val="1F4E79"/>
                    </a:solidFill>
                  </a:tcPr>
                </a:tc>
              </a:tr>
              <a:tr h="262890">
                <a:tc>
                  <a:txBody>
                    <a:bodyPr wrap="square"/>
                    <a:lstStyle/>
                    <a:p>
                      <a:r>
                        <a:rPr sz="1000" b="0">
                          <a:solidFill>
                            <a:srgbClr val="282828"/>
                          </a:solidFill>
                          <a:latin typeface="Arial"/>
                        </a:rPr>
                        <a:t>distortion vs one affine: rms / edge</a:t>
                      </a:r>
                    </a:p>
                  </a:txBody>
                  <a:tcPr marL="54864" marR="54864" marT="18288" marB="18288">
                    <a:solidFill>
                      <a:srgbClr val="FFFFFF"/>
                    </a:solidFill>
                  </a:tcPr>
                </a:tc>
                <a:tc>
                  <a:txBody>
                    <a:bodyPr wrap="square"/>
                    <a:lstStyle/>
                    <a:p>
                      <a:r>
                        <a:rPr sz="1000" b="0">
                          <a:solidFill>
                            <a:srgbClr val="282828"/>
                          </a:solidFill>
                          <a:latin typeface="Arial"/>
                        </a:rPr>
                        <a:t>0.047 / 0.138</a:t>
                      </a:r>
                    </a:p>
                  </a:txBody>
                  <a:tcPr marL="54864" marR="54864" marT="18288" marB="18288">
                    <a:solidFill>
                      <a:srgbClr val="FFFFFF"/>
                    </a:solidFill>
                  </a:tcPr>
                </a:tc>
                <a:tc>
                  <a:txBody>
                    <a:bodyPr wrap="square"/>
                    <a:lstStyle/>
                    <a:p>
                      <a:r>
                        <a:rPr sz="1000" b="0">
                          <a:solidFill>
                            <a:srgbClr val="282828"/>
                          </a:solidFill>
                          <a:latin typeface="Arial"/>
                        </a:rPr>
                        <a:t>0.62 / 1.19</a:t>
                      </a:r>
                    </a:p>
                  </a:txBody>
                  <a:tcPr marL="54864" marR="54864" marT="18288" marB="18288">
                    <a:solidFill>
                      <a:srgbClr val="FFFFFF"/>
                    </a:solidFill>
                  </a:tcPr>
                </a:tc>
              </a:tr>
              <a:tr h="262890">
                <a:tc>
                  <a:txBody>
                    <a:bodyPr wrap="square"/>
                    <a:lstStyle/>
                    <a:p>
                      <a:r>
                        <a:rPr sz="1000" b="0">
                          <a:solidFill>
                            <a:srgbClr val="282828"/>
                          </a:solidFill>
                          <a:latin typeface="Arial"/>
                        </a:rPr>
                        <a:t>blur over the actuator band: rms / max</a:t>
                      </a:r>
                    </a:p>
                  </a:txBody>
                  <a:tcPr marL="54864" marR="54864" marT="18288" marB="18288">
                    <a:solidFill>
                      <a:srgbClr val="ECF1F6"/>
                    </a:solidFill>
                  </a:tcPr>
                </a:tc>
                <a:tc>
                  <a:txBody>
                    <a:bodyPr wrap="square"/>
                    <a:lstStyle/>
                    <a:p>
                      <a:r>
                        <a:rPr sz="1000" b="0">
                          <a:solidFill>
                            <a:srgbClr val="282828"/>
                          </a:solidFill>
                          <a:latin typeface="Arial"/>
                        </a:rPr>
                        <a:t>0.066 / 0.133</a:t>
                      </a:r>
                    </a:p>
                  </a:txBody>
                  <a:tcPr marL="54864" marR="54864" marT="18288" marB="18288">
                    <a:solidFill>
                      <a:srgbClr val="ECF1F6"/>
                    </a:solidFill>
                  </a:tcPr>
                </a:tc>
                <a:tc>
                  <a:txBody>
                    <a:bodyPr wrap="square"/>
                    <a:lstStyle/>
                    <a:p>
                      <a:r>
                        <a:rPr sz="1000" b="0">
                          <a:solidFill>
                            <a:srgbClr val="282828"/>
                          </a:solidFill>
                          <a:latin typeface="Arial"/>
                        </a:rPr>
                        <a:t>0.051 / 0.143</a:t>
                      </a:r>
                    </a:p>
                  </a:txBody>
                  <a:tcPr marL="54864" marR="54864" marT="18288" marB="18288">
                    <a:solidFill>
                      <a:srgbClr val="ECF1F6"/>
                    </a:solidFill>
                  </a:tcPr>
                </a:tc>
              </a:tr>
              <a:tr h="434340">
                <a:tc>
                  <a:txBody>
                    <a:bodyPr wrap="square"/>
                    <a:lstStyle/>
                    <a:p>
                      <a:r>
                        <a:rPr sz="1000" b="0">
                          <a:solidFill>
                            <a:srgbClr val="282828"/>
                          </a:solidFill>
                          <a:latin typeface="Arial"/>
                        </a:rPr>
                        <a:t>image surface: defocus / astig / tilt (mm of sag)</a:t>
                      </a:r>
                    </a:p>
                  </a:txBody>
                  <a:tcPr marL="54864" marR="54864" marT="18288" marB="18288">
                    <a:solidFill>
                      <a:srgbClr val="FFFFFF"/>
                    </a:solidFill>
                  </a:tcPr>
                </a:tc>
                <a:tc>
                  <a:txBody>
                    <a:bodyPr wrap="square"/>
                    <a:lstStyle/>
                    <a:p>
                      <a:r>
                        <a:rPr sz="1000" b="0">
                          <a:solidFill>
                            <a:srgbClr val="282828"/>
                          </a:solidFill>
                          <a:latin typeface="Arial"/>
                        </a:rPr>
                        <a:t>-0.0005 / -0.095 / 0.002</a:t>
                      </a:r>
                    </a:p>
                  </a:txBody>
                  <a:tcPr marL="54864" marR="54864" marT="18288" marB="18288">
                    <a:solidFill>
                      <a:srgbClr val="FFFFFF"/>
                    </a:solidFill>
                  </a:tcPr>
                </a:tc>
                <a:tc>
                  <a:txBody>
                    <a:bodyPr wrap="square"/>
                    <a:lstStyle/>
                    <a:p>
                      <a:r>
                        <a:rPr sz="1000" b="0">
                          <a:solidFill>
                            <a:srgbClr val="282828"/>
                          </a:solidFill>
                          <a:latin typeface="Arial"/>
                        </a:rPr>
                        <a:t>-0.45 / 0.14 / 0.42</a:t>
                      </a:r>
                    </a:p>
                  </a:txBody>
                  <a:tcPr marL="54864" marR="54864" marT="18288" marB="18288">
                    <a:solidFill>
                      <a:srgbClr val="FFFFFF"/>
                    </a:solidFill>
                  </a:tcPr>
                </a:tc>
              </a:tr>
              <a:tr h="434340">
                <a:tc>
                  <a:txBody>
                    <a:bodyPr wrap="square"/>
                    <a:lstStyle/>
                    <a:p>
                      <a:r>
                        <a:rPr sz="1000" b="0">
                          <a:solidFill>
                            <a:srgbClr val="282828"/>
                          </a:solidFill>
                          <a:latin typeface="Arial"/>
                        </a:rPr>
                        <a:t>focal spot on axis / at the actuator-band tilt</a:t>
                      </a:r>
                    </a:p>
                  </a:txBody>
                  <a:tcPr marL="54864" marR="54864" marT="18288" marB="18288">
                    <a:solidFill>
                      <a:srgbClr val="ECF1F6"/>
                    </a:solidFill>
                  </a:tcPr>
                </a:tc>
                <a:tc>
                  <a:txBody>
                    <a:bodyPr wrap="square"/>
                    <a:lstStyle/>
                    <a:p>
                      <a:r>
                        <a:rPr sz="1000" b="0">
                          <a:solidFill>
                            <a:srgbClr val="282828"/>
                          </a:solidFill>
                          <a:latin typeface="Arial"/>
                        </a:rPr>
                        <a:t>0.06 / 0.09 λF/D</a:t>
                      </a:r>
                    </a:p>
                  </a:txBody>
                  <a:tcPr marL="54864" marR="54864" marT="18288" marB="18288">
                    <a:solidFill>
                      <a:srgbClr val="ECF1F6"/>
                    </a:solidFill>
                  </a:tcPr>
                </a:tc>
                <a:tc>
                  <a:txBody>
                    <a:bodyPr wrap="square"/>
                    <a:lstStyle/>
                    <a:p>
                      <a:r>
                        <a:rPr sz="1000" b="0">
                          <a:solidFill>
                            <a:srgbClr val="282828"/>
                          </a:solidFill>
                          <a:latin typeface="Arial"/>
                        </a:rPr>
                        <a:t>0.03 / 2.2 λF/D</a:t>
                      </a:r>
                    </a:p>
                  </a:txBody>
                  <a:tcPr marL="54864" marR="54864" marT="18288" marB="18288">
                    <a:solidFill>
                      <a:srgbClr val="ECF1F6"/>
                    </a:solidFill>
                  </a:tcPr>
                </a:tc>
              </a:tr>
            </a:tbl>
          </a:graphicData>
        </a:graphic>
      </p:graphicFrame>
      <p:sp>
        <p:nvSpPr>
          <p:cNvPr id="7" name="TextBox 6"/>
          <p:cNvSpPr txBox="1"/>
          <p:nvPr/>
        </p:nvSpPr>
        <p:spPr>
          <a:xfrm>
            <a:off x="6400800" y="310210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Pupil image quality supports picometer measurement on both rigs.</a:t>
            </a:r>
            <a:r>
              <a:rPr sz="1200" b="0">
                <a:solidFill>
                  <a:srgbClr val="282828"/>
                </a:solidFill>
                <a:latin typeface="Arial"/>
              </a:rPr>
              <a:t>  Carried through to a reading it costs </a:t>
            </a:r>
            <a:r>
              <a:rPr sz="1200" b="1">
                <a:solidFill>
                  <a:srgbClr val="282828"/>
                </a:solidFill>
                <a:latin typeface="Arial"/>
              </a:rPr>
              <a:t>0.13 %</a:t>
            </a:r>
            <a:r>
              <a:rPr sz="1200" b="0">
                <a:solidFill>
                  <a:srgbClr val="282828"/>
                </a:solidFill>
                <a:latin typeface="Arial"/>
              </a:rPr>
              <a:t> of the figure on lenses and </a:t>
            </a:r>
            <a:r>
              <a:rPr sz="1200" b="1">
                <a:solidFill>
                  <a:srgbClr val="282828"/>
                </a:solidFill>
                <a:latin typeface="Arial"/>
              </a:rPr>
              <a:t>0.29 %</a:t>
            </a:r>
            <a:r>
              <a:rPr sz="1200" b="0">
                <a:solidFill>
                  <a:srgbClr val="282828"/>
                </a:solidFill>
                <a:latin typeface="Arial"/>
              </a:rPr>
              <a:t> on mirrors — 42 and 92 pm on a 30 nm working surface — and </a:t>
            </a:r>
            <a:r>
              <a:rPr sz="1200" b="1">
                <a:solidFill>
                  <a:srgbClr val="282828"/>
                </a:solidFill>
                <a:latin typeface="Arial"/>
              </a:rPr>
              <a:t>0.5 % / 0.9 %</a:t>
            </a:r>
            <a:r>
              <a:rPr sz="1200" b="0">
                <a:solidFill>
                  <a:srgbClr val="282828"/>
                </a:solidFill>
                <a:latin typeface="Arial"/>
              </a:rPr>
              <a:t> in the top spatial band, where it is worst.  That is the accuracy term; precision and repeatability are photon-limited and sub-picometer.  It holds because the response matrix is MEASURED on the surface: the mirror rig's image is distorted by more than an actuator pitch at the edge, which a geometric mapping would carry straight into the surface.</a:t>
            </a:r>
          </a:p>
          <a:p>
            <a:pPr>
              <a:spcAft>
                <a:spcPts val="600"/>
              </a:spcAft>
            </a:pPr>
            <a:r>
              <a:rPr sz="1200" b="0">
                <a:solidFill>
                  <a:srgbClr val="282828"/>
                </a:solidFill>
                <a:latin typeface="Arial"/>
              </a:rPr>
              <a:t>•  </a:t>
            </a:r>
            <a:r>
              <a:rPr sz="1200" b="1">
                <a:solidFill>
                  <a:srgbClr val="282828"/>
                </a:solidFill>
                <a:latin typeface="Arial"/>
              </a:rPr>
              <a:t>Method:</a:t>
            </a:r>
            <a:r>
              <a:rPr sz="1200" b="0">
                <a:solidFill>
                  <a:srgbClr val="282828"/>
                </a:solidFill>
                <a:latin typeface="Arial"/>
              </a:rPr>
              <a:t> the DM declared the stop, the field a tilt about it; two traces a small field step apart cross at each zone's image at the camera; scored in DM mm against the 1 mm pitch.</a:t>
            </a:r>
          </a:p>
          <a:p>
            <a:pPr>
              <a:spcAft>
                <a:spcPts val="600"/>
              </a:spcAft>
            </a:pPr>
            <a:r>
              <a:rPr sz="1200" b="0">
                <a:solidFill>
                  <a:srgbClr val="282828"/>
                </a:solidFill>
                <a:latin typeface="Arial"/>
              </a:rPr>
              <a:t>•  </a:t>
            </a:r>
            <a:r>
              <a:rPr sz="1200" b="1">
                <a:solidFill>
                  <a:srgbClr val="282828"/>
                </a:solidFill>
                <a:latin typeface="Arial"/>
              </a:rPr>
              <a:t>The lens rig images the DM flat</a:t>
            </a:r>
            <a:r>
              <a:rPr sz="1200" b="0">
                <a:solidFill>
                  <a:srgbClr val="282828"/>
                </a:solidFill>
                <a:latin typeface="Arial"/>
              </a:rPr>
              <a:t> (0.5 µm of defocus across the pupil) and holds its mapping to a seventh of an actuator pitch.  </a:t>
            </a:r>
            <a:r>
              <a:rPr sz="1200" b="1">
                <a:solidFill>
                  <a:srgbClr val="282828"/>
                </a:solidFill>
                <a:latin typeface="Arial"/>
              </a:rPr>
              <a:t>The mirror rig trades mapping for the front end</a:t>
            </a:r>
            <a:r>
              <a:rPr sz="1200" b="0">
                <a:solidFill>
                  <a:srgbClr val="282828"/>
                </a:solidFill>
                <a:latin typeface="Arial"/>
              </a:rPr>
              <a:t>: the OAP pair distorts the image by more than a pitch at the edge, which the measured matrix absorbs and the numbers above already include.</a:t>
            </a:r>
          </a:p>
          <a:p>
            <a:pPr>
              <a:spcAft>
                <a:spcPts val="600"/>
              </a:spcAft>
            </a:pPr>
            <a:r>
              <a:rPr sz="1200" b="0">
                <a:solidFill>
                  <a:srgbClr val="282828"/>
                </a:solidFill>
                <a:latin typeface="Arial"/>
              </a:rPr>
              <a:t>•  </a:t>
            </a:r>
            <a:r>
              <a:rPr sz="1200" b="1">
                <a:solidFill>
                  <a:srgbClr val="282828"/>
                </a:solidFill>
                <a:latin typeface="Arial"/>
              </a:rPr>
              <a:t>The mirror rig's focus is perfect on axis and coma-limited off it</a:t>
            </a:r>
            <a:r>
              <a:rPr sz="1200" b="0">
                <a:solidFill>
                  <a:srgbClr val="282828"/>
                </a:solidFill>
                <a:latin typeface="Arial"/>
              </a:rPr>
              <a:t> (2.2 λF/D at the actuator-band tilt); not a pupil-image cost, a number to know for any off-axis reading at the seat.</a:t>
            </a:r>
          </a:p>
        </p:txBody>
      </p:sp>
      <p:sp>
        <p:nvSpPr>
          <p:cNvPr id="8" name="TextBox 7"/>
          <p:cNvSpPr txBox="1"/>
          <p:nvPr/>
        </p:nvSpPr>
        <p:spPr>
          <a:xfrm>
            <a:off x="548640" y="5742432"/>
            <a:ext cx="5394960" cy="274320"/>
          </a:xfrm>
          <a:prstGeom prst="rect">
            <a:avLst/>
          </a:prstGeom>
          <a:noFill/>
        </p:spPr>
        <p:txBody>
          <a:bodyPr wrap="square">
            <a:spAutoFit/>
          </a:bodyPr>
          <a:lstStyle/>
          <a:p>
            <a:pPr>
              <a:spcAft>
                <a:spcPts val="600"/>
              </a:spcAft>
            </a:pPr>
            <a:r>
              <a:rPr sz="1050" b="0">
                <a:solidFill>
                  <a:srgbClr val="6E6E6E"/>
                </a:solidFill>
                <a:latin typeface="Arial"/>
              </a:rPr>
              <a:t>Run tags pupilq96_lens, pupilq96_oap (tg96_pupilq, model 512, on the emitted redo decks, 2026-09-18); tg_psi_dm96_oap/REPORT_bench_realism.md section 6.  Requested by Fang Shi.  λF/D = 2.83 µm on the 96 mm beam, which the DM's aperture defines.  Blur is quoted over the actuator band, edge zones included.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Zernike sensor: a quarter-wave dimple at the focus</a:t>
            </a:r>
          </a:p>
          <a:p>
            <a:pPr>
              <a:spcAft>
                <a:spcPts val="0"/>
              </a:spcAft>
            </a:pPr>
            <a:r>
              <a:rPr sz="1250" b="0">
                <a:solidFill>
                  <a:srgbClr val="6E6E6E"/>
                </a:solidFill>
                <a:latin typeface="Arial"/>
              </a:rPr>
              <a:t>The beam interferes with its own core: no reference arm; the best reading steps the dimple's depth through four frames and inverts pixel by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a 5.3 µm etched dimple (2.0 λF/D) delays the center of the focal spot a quarter wave; that light spreads back over the pupil and acts as the reference.  Three etch depths plus a clear frame make the four-frame stepped reading, which has no branch fold.</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0.993 / 5 pm / SNR 1987; 1 nm on 120 sites 0.995 / 4 pm; dense 10 nm 0.978, 0.75 nm.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2.6e12 photons per cycle noise only, 7.5e12 under the 2 pm walk; no fixed error (a noiseless step goes to 0.000 pm).</a:t>
            </a:r>
          </a:p>
        </p:txBody>
      </p:sp>
      <p:pic>
        <p:nvPicPr>
          <p:cNvPr id="5" name="Picture 4" descr="zwfs_mask385_mask.png"/>
          <p:cNvPicPr>
            <a:picLocks noChangeAspect="1"/>
          </p:cNvPicPr>
          <p:nvPr/>
        </p:nvPicPr>
        <p:blipFill>
          <a:blip r:embed="rId2"/>
          <a:stretch>
            <a:fillRect/>
          </a:stretch>
        </p:blipFill>
        <p:spPr>
          <a:xfrm>
            <a:off x="6490331" y="1298448"/>
            <a:ext cx="5215897" cy="2183892"/>
          </a:xfrm>
          <a:prstGeom prst="rect">
            <a:avLst/>
          </a:prstGeom>
        </p:spPr>
      </p:pic>
      <p:sp>
        <p:nvSpPr>
          <p:cNvPr id="6" name="TextBox 5"/>
          <p:cNvSpPr txBox="1"/>
          <p:nvPr/>
        </p:nvSpPr>
        <p:spPr>
          <a:xfrm>
            <a:off x="6400800" y="3500628"/>
            <a:ext cx="5394960" cy="559307"/>
          </a:xfrm>
          <a:prstGeom prst="rect">
            <a:avLst/>
          </a:prstGeom>
          <a:noFill/>
        </p:spPr>
        <p:txBody>
          <a:bodyPr wrap="square">
            <a:spAutoFit/>
          </a:bodyPr>
          <a:lstStyle/>
          <a:p>
            <a:pPr algn="ctr">
              <a:spcAft>
                <a:spcPts val="0"/>
              </a:spcAft>
            </a:pPr>
            <a:r>
              <a:rPr sz="1000" b="0">
                <a:solidFill>
                  <a:srgbClr val="6E6E6E"/>
                </a:solidFill>
                <a:latin typeface="Arial"/>
              </a:rPr>
              <a:t>The flat mirror's focal spot (log scale) with the dimple's footprint on its core, and the mask's phase, at the model's sampling: 3.96 pixels per λF/D, the dimple 7.9 pixels across.  It encloses 70.7% of the focused light.</a:t>
            </a:r>
          </a:p>
        </p:txBody>
      </p:sp>
      <p:sp>
        <p:nvSpPr>
          <p:cNvPr id="7" name="TextBox 6"/>
          <p:cNvSpPr txBox="1"/>
          <p:nvPr/>
        </p:nvSpPr>
        <p:spPr>
          <a:xfrm>
            <a:off x="6400800" y="4096512"/>
            <a:ext cx="5394960" cy="274320"/>
          </a:xfrm>
          <a:prstGeom prst="rect">
            <a:avLst/>
          </a:prstGeom>
          <a:noFill/>
        </p:spPr>
        <p:txBody>
          <a:bodyPr wrap="square">
            <a:spAutoFit/>
          </a:bodyPr>
          <a:lstStyle/>
          <a:p>
            <a:pPr>
              <a:spcAft>
                <a:spcPts val="600"/>
              </a:spcAft>
            </a:pPr>
            <a:r>
              <a:rPr sz="1050" b="0">
                <a:solidFill>
                  <a:srgbClr val="6E6E6E"/>
                </a:solidFill>
                <a:latin typeface="Arial"/>
              </a:rPr>
              <a:t>Added to the front end: one fused-silica plate, 2-3 mm thick, with a 3×3 array of etched spots (one in the beam at a time; the 346 nm etch is a quarter wave at 632.8 nm), on a translation stage.  Nothing else.  The plate's thickness in the F/4.2 beam is 0.03 wave of spherical aberration and a 0.7 mm focus shift the tail absorbs (to be modeled).  Run tags matbase, matbase385, loop193.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polarized dimple</a:t>
            </a:r>
          </a:p>
          <a:p>
            <a:pPr>
              <a:spcAft>
                <a:spcPts val="0"/>
              </a:spcAft>
            </a:pPr>
            <a:r>
              <a:rPr sz="1250" b="0">
                <a:solidFill>
                  <a:srgbClr val="6E6E6E"/>
                </a:solidFill>
                <a:latin typeface="Arial"/>
              </a:rPr>
              <a:t>A geometric-phase metasurface in the same seat delays the two circular polarizations by +90° and −90°; a quarter-wave plate and a polarizing cube send the two images to two cameras, both frames at once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two images are the sensor with its dimple sign flipped; per pixel they give the cosine and sine of the phase together, so the inversion is exact with no branch choice and no stepping.  Two simultaneous frames per measurement.</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1.008 / 2 pm / SNR 6364; 1 nm on 120 sites 1.001 / 4 pm; dense 10 nm 1.0035, 0.44 nm — the best line in the comparison.</a:t>
            </a:r>
          </a:p>
          <a:p>
            <a:pPr>
              <a:spcAft>
                <a:spcPts val="600"/>
              </a:spcAft>
            </a:pPr>
            <a:r>
              <a:rPr sz="1500" b="0">
                <a:solidFill>
                  <a:srgbClr val="282828"/>
                </a:solidFill>
                <a:latin typeface="Arial"/>
              </a:rPr>
              <a:t>•  </a:t>
            </a:r>
            <a:r>
              <a:rPr sz="1500" b="1">
                <a:solidFill>
                  <a:srgbClr val="282828"/>
                </a:solidFill>
                <a:latin typeface="Arial"/>
              </a:rPr>
              <a:t>Servo (mirror rig):</a:t>
            </a:r>
            <a:r>
              <a:rPr sz="1500" b="0">
                <a:solidFill>
                  <a:srgbClr val="282828"/>
                </a:solidFill>
                <a:latin typeface="Arial"/>
              </a:rPr>
              <a:t> 3 pm from 2.2e12 photons per cycle noise only, 6.8e12 under the 2 pm walk; no fixed error.</a:t>
            </a:r>
          </a:p>
        </p:txBody>
      </p:sp>
      <p:graphicFrame>
        <p:nvGraphicFramePr>
          <p:cNvPr id="5" name="Table 4"/>
          <p:cNvGraphicFramePr>
            <a:graphicFrameLocks noGrp="1"/>
          </p:cNvGraphicFramePr>
          <p:nvPr/>
        </p:nvGraphicFramePr>
        <p:xfrm>
          <a:off x="6400800" y="1298448"/>
          <a:ext cx="5394960" cy="3120390"/>
        </p:xfrm>
        <a:graphic>
          <a:graphicData uri="http://schemas.openxmlformats.org/drawingml/2006/table">
            <a:tbl>
              <a:tblPr firstRow="1" bandRow="1">
                <a:tableStyleId>{5C22544A-7EE6-4342-B048-85BDC9FD1C3A}</a:tableStyleId>
              </a:tblPr>
              <a:tblGrid>
                <a:gridCol w="670560"/>
                <a:gridCol w="4724400"/>
              </a:tblGrid>
              <a:tr h="60579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metasurface</a:t>
                      </a:r>
                    </a:p>
                  </a:txBody>
                  <a:tcPr marL="54864" marR="54864" marT="18288" marB="18288">
                    <a:solidFill>
                      <a:srgbClr val="FFFFFF"/>
                    </a:solidFill>
                  </a:tcPr>
                </a:tc>
                <a:tc>
                  <a:txBody>
                    <a:bodyPr wrap="square"/>
                    <a:lstStyle/>
                    <a:p>
                      <a:r>
                        <a:rPr sz="1000" b="0">
                          <a:solidFill>
                            <a:srgbClr val="282828"/>
                          </a:solidFill>
                          <a:latin typeface="Arial"/>
                        </a:rPr>
                        <a:t>geometric-phase (half-wave) dimple in the etched plate's seat: +90° on one circular state, −90° on the other</a:t>
                      </a:r>
                    </a:p>
                  </a:txBody>
                  <a:tcPr marL="54864" marR="54864" marT="18288" marB="18288">
                    <a:solidFill>
                      <a:srgbClr val="FFFFFF"/>
                    </a:solidFill>
                  </a:tcPr>
                </a:tc>
              </a:tr>
              <a:tr h="605790">
                <a:tc>
                  <a:txBody>
                    <a:bodyPr wrap="square"/>
                    <a:lstStyle/>
                    <a:p>
                      <a:r>
                        <a:rPr sz="1000" b="0">
                          <a:solidFill>
                            <a:srgbClr val="282828"/>
                          </a:solidFill>
                          <a:latin typeface="Arial"/>
                        </a:rPr>
                        <a:t>quarter-wave plate</a:t>
                      </a:r>
                    </a:p>
                  </a:txBody>
                  <a:tcPr marL="54864" marR="54864" marT="18288" marB="18288">
                    <a:solidFill>
                      <a:srgbClr val="ECF1F6"/>
                    </a:solidFill>
                  </a:tcPr>
                </a:tc>
                <a:tc>
                  <a:txBody>
                    <a:bodyPr wrap="square"/>
                    <a:lstStyle/>
                    <a:p>
                      <a:r>
                        <a:rPr sz="1000" b="0">
                          <a:solidFill>
                            <a:srgbClr val="282828"/>
                          </a:solidFill>
                          <a:latin typeface="Arial"/>
                        </a:rPr>
                        <a:t>zero order on a 2 mm substrate (0.05 wave of spherical aberration in the F/3.6 leg, to be modeled), fast axis at 45° between the cube's s and p; spec λ/300</a:t>
                      </a:r>
                    </a:p>
                  </a:txBody>
                  <a:tcPr marL="54864" marR="54864" marT="18288" marB="18288">
                    <a:solidFill>
                      <a:srgbClr val="ECF1F6"/>
                    </a:solidFill>
                  </a:tcPr>
                </a:tc>
              </a:tr>
              <a:tr h="434340">
                <a:tc>
                  <a:txBody>
                    <a:bodyPr wrap="square"/>
                    <a:lstStyle/>
                    <a:p>
                      <a:r>
                        <a:rPr sz="1000" b="0">
                          <a:solidFill>
                            <a:srgbClr val="282828"/>
                          </a:solidFill>
                          <a:latin typeface="Arial"/>
                        </a:rPr>
                        <a:t>polarizing cube</a:t>
                      </a:r>
                    </a:p>
                  </a:txBody>
                  <a:tcPr marL="54864" marR="54864" marT="18288" marB="18288">
                    <a:solidFill>
                      <a:srgbClr val="FFFFFF"/>
                    </a:solidFill>
                  </a:tcPr>
                </a:tc>
                <a:tc>
                  <a:txBody>
                    <a:bodyPr wrap="square"/>
                    <a:lstStyle/>
                    <a:p>
                      <a:r>
                        <a:rPr sz="1000" b="0">
                          <a:solidFill>
                            <a:srgbClr val="282828"/>
                          </a:solidFill>
                          <a:latin typeface="Arial"/>
                        </a:rPr>
                        <a:t>12.7 mm cemented MacNeille, behind the field lens</a:t>
                      </a:r>
                    </a:p>
                  </a:txBody>
                  <a:tcPr marL="54864" marR="54864" marT="18288" marB="18288">
                    <a:solidFill>
                      <a:srgbClr val="FFFFFF"/>
                    </a:solidFill>
                  </a:tcPr>
                </a:tc>
              </a:tr>
              <a:tr h="434340">
                <a:tc>
                  <a:txBody>
                    <a:bodyPr wrap="square"/>
                    <a:lstStyle/>
                    <a:p>
                      <a:r>
                        <a:rPr sz="1000" b="0">
                          <a:solidFill>
                            <a:srgbClr val="282828"/>
                          </a:solidFill>
                          <a:latin typeface="Arial"/>
                        </a:rPr>
                        <a:t>cameras</a:t>
                      </a:r>
                    </a:p>
                  </a:txBody>
                  <a:tcPr marL="54864" marR="54864" marT="18288" marB="18288">
                    <a:solidFill>
                      <a:srgbClr val="ECF1F6"/>
                    </a:solidFill>
                  </a:tcPr>
                </a:tc>
                <a:tc>
                  <a:txBody>
                    <a:bodyPr wrap="square"/>
                    <a:lstStyle/>
                    <a:p>
                      <a:r>
                        <a:rPr sz="1000" b="0">
                          <a:solidFill>
                            <a:srgbClr val="282828"/>
                          </a:solidFill>
                          <a:latin typeface="Arial"/>
                        </a:rPr>
                        <a:t>two, both 20.7 mm behind the cube at the 7.5 mm pupil image; a 6.5 µm sCMOS (13 mm sensor) binned 3 to 385</a:t>
                      </a:r>
                    </a:p>
                  </a:txBody>
                  <a:tcPr marL="54864" marR="54864" marT="18288" marB="18288">
                    <a:solidFill>
                      <a:srgbClr val="ECF1F6"/>
                    </a:solidFill>
                  </a:tcPr>
                </a:tc>
              </a:tr>
              <a:tr h="605790">
                <a:tc>
                  <a:txBody>
                    <a:bodyPr wrap="square"/>
                    <a:lstStyle/>
                    <a:p>
                      <a:r>
                        <a:rPr sz="1000" b="0">
                          <a:solidFill>
                            <a:srgbClr val="282828"/>
                          </a:solidFill>
                          <a:latin typeface="Arial"/>
                        </a:rPr>
                        <a:t>frames per measurement</a:t>
                      </a:r>
                    </a:p>
                  </a:txBody>
                  <a:tcPr marL="54864" marR="54864" marT="18288" marB="18288">
                    <a:solidFill>
                      <a:srgbClr val="FFFFFF"/>
                    </a:solidFill>
                  </a:tcPr>
                </a:tc>
                <a:tc>
                  <a:txBody>
                    <a:bodyPr wrap="square"/>
                    <a:lstStyle/>
                    <a:p>
                      <a:r>
                        <a:rPr sz="1000" b="0">
                          <a:solidFill>
                            <a:srgbClr val="282828"/>
                          </a:solidFill>
                          <a:latin typeface="Arial"/>
                        </a:rPr>
                        <a:t>2, simultaneous</a:t>
                      </a:r>
                    </a:p>
                  </a:txBody>
                  <a:tcPr marL="54864" marR="54864" marT="18288" marB="18288">
                    <a:solidFill>
                      <a:srgbClr val="FFFFFF"/>
                    </a:solidFill>
                  </a:tcPr>
                </a:tc>
              </a:tr>
            </a:tbl>
          </a:graphicData>
        </a:graphic>
      </p:graphicFrame>
      <p:sp>
        <p:nvSpPr>
          <p:cNvPr id="6" name="TextBox 5"/>
          <p:cNvSpPr txBox="1"/>
          <p:nvPr/>
        </p:nvSpPr>
        <p:spPr>
          <a:xfrm>
            <a:off x="6400800" y="4565142"/>
            <a:ext cx="5394960" cy="274320"/>
          </a:xfrm>
          <a:prstGeom prst="rect">
            <a:avLst/>
          </a:prstGeom>
          <a:noFill/>
        </p:spPr>
        <p:txBody>
          <a:bodyPr wrap="square">
            <a:spAutoFit/>
          </a:bodyPr>
          <a:lstStyle/>
          <a:p>
            <a:pPr>
              <a:spcAft>
                <a:spcPts val="600"/>
              </a:spcAft>
            </a:pPr>
            <a:r>
              <a:rPr sz="1050" b="0">
                <a:solidFill>
                  <a:srgbClr val="6E6E6E"/>
                </a:solidFill>
                <a:latin typeface="Arial"/>
              </a:rPr>
              <a:t>Two cameras rather than one: the 7.5 mm pupil image 32 mm behind the field lens would need a 17° split for side-by-side images, past a calcite prism's limit.  Run tags v193base, vloop193.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a stepped pinhole with a shutter frame</a:t>
            </a:r>
          </a:p>
          <a:p>
            <a:pPr>
              <a:spcAft>
                <a:spcPts val="0"/>
              </a:spcAft>
            </a:pPr>
            <a:r>
              <a:rPr sz="1250" b="0">
                <a:solidFill>
                  <a:srgbClr val="6E6E6E"/>
                </a:solidFill>
                <a:latin typeface="Arial"/>
              </a:rPr>
              <a:t>The best common-path form: a 5.3 µm pinhole with an attenuated surround at the focus, five phase steps of the substrate, plus one pinhole-only frame per state that keeps the calibration honest far from null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pinhole passes the core of the focal spot as the reference; the surround, attenuated to 0.72 in amplitude, passes the rest.  The substrate steps the surround's phase through five frames (the Schwider-Hariharan scan, insensitive to step error); a sixth frame with the surround shuttered measures the reference by itself.</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0.995 / 3 pm / SNR 3845; 1 nm on 120 sites 0.998 / 3 pm; dense 10 nm 0.994, 313 pm.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2.3e12 photons per cycle noise only, 7.0e12 under the walk; no fixed error.  The shutter frame is what lets it read to 480 nm of surface (next slides).</a:t>
            </a:r>
          </a:p>
          <a:p>
            <a:pPr>
              <a:spcAft>
                <a:spcPts val="600"/>
              </a:spcAft>
            </a:pPr>
            <a:r>
              <a:rPr sz="1500" b="0">
                <a:solidFill>
                  <a:srgbClr val="282828"/>
                </a:solidFill>
                <a:latin typeface="Arial"/>
              </a:rPr>
              <a:t>•  </a:t>
            </a:r>
            <a:r>
              <a:rPr sz="1500" b="1">
                <a:solidFill>
                  <a:srgbClr val="282828"/>
                </a:solidFill>
                <a:latin typeface="Arial"/>
              </a:rPr>
              <a:t>Not yet modeled: how the phase is stepped.</a:t>
            </a:r>
            <a:r>
              <a:rPr sz="1500" b="0">
                <a:solidFill>
                  <a:srgbClr val="282828"/>
                </a:solidFill>
                <a:latin typeface="Arial"/>
              </a:rPr>
              <a:t>  These results step the surround's phase by an ideal increment ("magic"), with a step-error knob only.  The photonic phase shifter of the two-arm form, and the stage or etched steps of this one, have no device physics yet: coupling, loss, drift.</a:t>
            </a:r>
          </a:p>
        </p:txBody>
      </p:sp>
      <p:graphicFrame>
        <p:nvGraphicFramePr>
          <p:cNvPr id="5" name="Table 4"/>
          <p:cNvGraphicFramePr>
            <a:graphicFrameLocks noGrp="1"/>
          </p:cNvGraphicFramePr>
          <p:nvPr/>
        </p:nvGraphicFramePr>
        <p:xfrm>
          <a:off x="6400800" y="1298448"/>
          <a:ext cx="5394959" cy="2000250"/>
        </p:xfrm>
        <a:graphic>
          <a:graphicData uri="http://schemas.openxmlformats.org/drawingml/2006/table">
            <a:tbl>
              <a:tblPr firstRow="1" bandRow="1">
                <a:tableStyleId>{5C22544A-7EE6-4342-B048-85BDC9FD1C3A}</a:tableStyleId>
              </a:tblPr>
              <a:tblGrid>
                <a:gridCol w="1141241"/>
                <a:gridCol w="4253718"/>
              </a:tblGrid>
              <a:tr h="43434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pinhole substrate</a:t>
                      </a:r>
                    </a:p>
                  </a:txBody>
                  <a:tcPr marL="54864" marR="54864" marT="18288" marB="18288">
                    <a:solidFill>
                      <a:srgbClr val="FFFFFF"/>
                    </a:solidFill>
                  </a:tcPr>
                </a:tc>
                <a:tc>
                  <a:txBody>
                    <a:bodyPr wrap="square"/>
                    <a:lstStyle/>
                    <a:p>
                      <a:r>
                        <a:rPr sz="1000" b="0">
                          <a:solidFill>
                            <a:srgbClr val="282828"/>
                          </a:solidFill>
                          <a:latin typeface="Arial"/>
                        </a:rPr>
                        <a:t>fused silica, 2-3 mm, in the mask seat; pinhole 5.27 µm (2.0 λF/D at F/4.2), clear</a:t>
                      </a:r>
                    </a:p>
                  </a:txBody>
                  <a:tcPr marL="54864" marR="54864" marT="18288" marB="18288">
                    <a:solidFill>
                      <a:srgbClr val="FFFFFF"/>
                    </a:solidFill>
                  </a:tcPr>
                </a:tc>
              </a:tr>
              <a:tr h="434340">
                <a:tc>
                  <a:txBody>
                    <a:bodyPr wrap="square"/>
                    <a:lstStyle/>
                    <a:p>
                      <a:r>
                        <a:rPr sz="1000" b="0">
                          <a:solidFill>
                            <a:srgbClr val="282828"/>
                          </a:solidFill>
                          <a:latin typeface="Arial"/>
                        </a:rPr>
                        <a:t>surround</a:t>
                      </a:r>
                    </a:p>
                  </a:txBody>
                  <a:tcPr marL="54864" marR="54864" marT="18288" marB="18288">
                    <a:solidFill>
                      <a:srgbClr val="ECF1F6"/>
                    </a:solidFill>
                  </a:tcPr>
                </a:tc>
                <a:tc>
                  <a:txBody>
                    <a:bodyPr wrap="square"/>
                    <a:lstStyle/>
                    <a:p>
                      <a:r>
                        <a:rPr sz="1000" b="0">
                          <a:solidFill>
                            <a:srgbClr val="282828"/>
                          </a:solidFill>
                          <a:latin typeface="Arial"/>
                        </a:rPr>
                        <a:t>attenuated to 0.72 in amplitude (0.52 in power), phase-stepped on a stage</a:t>
                      </a:r>
                    </a:p>
                  </a:txBody>
                  <a:tcPr marL="54864" marR="54864" marT="18288" marB="18288">
                    <a:solidFill>
                      <a:srgbClr val="ECF1F6"/>
                    </a:solidFill>
                  </a:tcPr>
                </a:tc>
              </a:tr>
              <a:tr h="262890">
                <a:tc>
                  <a:txBody>
                    <a:bodyPr wrap="square"/>
                    <a:lstStyle/>
                    <a:p>
                      <a:r>
                        <a:rPr sz="1000" b="0">
                          <a:solidFill>
                            <a:srgbClr val="282828"/>
                          </a:solidFill>
                          <a:latin typeface="Arial"/>
                        </a:rPr>
                        <a:t>shutter</a:t>
                      </a:r>
                    </a:p>
                  </a:txBody>
                  <a:tcPr marL="54864" marR="54864" marT="18288" marB="18288">
                    <a:solidFill>
                      <a:srgbClr val="FFFFFF"/>
                    </a:solidFill>
                  </a:tcPr>
                </a:tc>
                <a:tc>
                  <a:txBody>
                    <a:bodyPr wrap="square"/>
                    <a:lstStyle/>
                    <a:p>
                      <a:r>
                        <a:rPr sz="1000" b="0">
                          <a:solidFill>
                            <a:srgbClr val="282828"/>
                          </a:solidFill>
                          <a:latin typeface="Arial"/>
                        </a:rPr>
                        <a:t>over the surround: one pinhole-only frame per state</a:t>
                      </a:r>
                    </a:p>
                  </a:txBody>
                  <a:tcPr marL="54864" marR="54864" marT="18288" marB="18288">
                    <a:solidFill>
                      <a:srgbClr val="FFFFFF"/>
                    </a:solidFill>
                  </a:tcPr>
                </a:tc>
              </a:tr>
              <a:tr h="434340">
                <a:tc>
                  <a:txBody>
                    <a:bodyPr wrap="square"/>
                    <a:lstStyle/>
                    <a:p>
                      <a:r>
                        <a:rPr sz="1000" b="0">
                          <a:solidFill>
                            <a:srgbClr val="282828"/>
                          </a:solidFill>
                          <a:latin typeface="Arial"/>
                        </a:rPr>
                        <a:t>frames per measurement</a:t>
                      </a:r>
                    </a:p>
                  </a:txBody>
                  <a:tcPr marL="54864" marR="54864" marT="18288" marB="18288">
                    <a:solidFill>
                      <a:srgbClr val="ECF1F6"/>
                    </a:solidFill>
                  </a:tcPr>
                </a:tc>
                <a:tc>
                  <a:txBody>
                    <a:bodyPr wrap="square"/>
                    <a:lstStyle/>
                    <a:p>
                      <a:r>
                        <a:rPr sz="1000" b="0">
                          <a:solidFill>
                            <a:srgbClr val="282828"/>
                          </a:solidFill>
                          <a:latin typeface="Arial"/>
                        </a:rPr>
                        <a:t>6: the five-step scan plus the shutter frame</a:t>
                      </a:r>
                    </a:p>
                  </a:txBody>
                  <a:tcPr marL="54864" marR="54864" marT="18288" marB="18288">
                    <a:solidFill>
                      <a:srgbClr val="ECF1F6"/>
                    </a:solidFill>
                  </a:tcPr>
                </a:tc>
              </a:tr>
            </a:tbl>
          </a:graphicData>
        </a:graphic>
      </p:graphicFrame>
      <p:sp>
        <p:nvSpPr>
          <p:cNvPr id="6" name="TextBox 5"/>
          <p:cNvSpPr txBox="1"/>
          <p:nvPr/>
        </p:nvSpPr>
        <p:spPr>
          <a:xfrm>
            <a:off x="6400800" y="3445002"/>
            <a:ext cx="5394960" cy="274320"/>
          </a:xfrm>
          <a:prstGeom prst="rect">
            <a:avLst/>
          </a:prstGeom>
          <a:noFill/>
        </p:spPr>
        <p:txBody>
          <a:bodyPr wrap="square">
            <a:spAutoFit/>
          </a:bodyPr>
          <a:lstStyle/>
          <a:p>
            <a:pPr>
              <a:spcAft>
                <a:spcPts val="600"/>
              </a:spcAft>
            </a:pPr>
            <a:r>
              <a:rPr sz="1050" b="0">
                <a:solidFill>
                  <a:srgbClr val="6E6E6E"/>
                </a:solidFill>
                <a:latin typeface="Arial"/>
              </a:rPr>
              <a:t>The P/SRI is this sensor's two-arm form and differs from it in more than the phase shifter: a 60/40 pickoff, a reference lens, a 3.7 µm pinhole feeding a single-mode waveguide with a thermo-optic shifter, a recombiner and its own camera — a non-common-path reference where the stepped pinhole's reference shares the plate and the leg.  It pays 6× the photons at null and nothing off null; a capture instrument here, its trade in backup.  Run tags pdi193fbase, ploop193, pdi193state.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Each gauge reading the 30 nm working surface, station by station</a:t>
            </a:r>
          </a:p>
          <a:p>
            <a:pPr>
              <a:spcAft>
                <a:spcPts val="0"/>
              </a:spcAft>
            </a:pPr>
            <a:r>
              <a:rPr sz="1250" b="0">
                <a:solidFill>
                  <a:srgbClr val="6E6E6E"/>
                </a:solidFill>
                <a:latin typeface="Arial"/>
              </a:rPr>
              <a:t>The same mirror command through the four trains: what the camera sees, and what comes back; the last column is the raw map against the engine's own field, before any calibration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stations_row2_I.png"/>
          <p:cNvPicPr>
            <a:picLocks noChangeAspect="1"/>
          </p:cNvPicPr>
          <p:nvPr/>
        </p:nvPicPr>
        <p:blipFill>
          <a:blip r:embed="rId2"/>
          <a:stretch>
            <a:fillRect/>
          </a:stretch>
        </p:blipFill>
        <p:spPr>
          <a:xfrm>
            <a:off x="5696712" y="1133856"/>
            <a:ext cx="6144768" cy="1225296"/>
          </a:xfrm>
          <a:prstGeom prst="rect">
            <a:avLst/>
          </a:prstGeom>
        </p:spPr>
      </p:pic>
      <p:sp>
        <p:nvSpPr>
          <p:cNvPr id="5" name="TextBox 4"/>
          <p:cNvSpPr txBox="1"/>
          <p:nvPr/>
        </p:nvSpPr>
        <p:spPr>
          <a:xfrm>
            <a:off x="411480" y="1179576"/>
            <a:ext cx="4206240" cy="724408"/>
          </a:xfrm>
          <a:prstGeom prst="rect">
            <a:avLst/>
          </a:prstGeom>
          <a:noFill/>
        </p:spPr>
        <p:txBody>
          <a:bodyPr wrap="square">
            <a:spAutoFit/>
          </a:bodyPr>
          <a:lstStyle/>
          <a:p>
            <a:pPr algn="l">
              <a:spcAft>
                <a:spcPts val="0"/>
              </a:spcAft>
            </a:pPr>
            <a:r>
              <a:rPr sz="1000" b="0">
                <a:solidFill>
                  <a:srgbClr val="6E6E6E"/>
                </a:solidFill>
                <a:latin typeface="Arial"/>
              </a:rPr>
              <a:t>Interferometer (hybrid, mirror rig): the command; the test and reference arms at the camera; two of the four phase-stepped frames; the recovered surface; the raw map minus the engine's field, 463 pm (1.5 %).</a:t>
            </a:r>
          </a:p>
        </p:txBody>
      </p:sp>
      <p:pic>
        <p:nvPicPr>
          <p:cNvPr id="6" name="Picture 5" descr="crop_stations_row2_S.png"/>
          <p:cNvPicPr>
            <a:picLocks noChangeAspect="1"/>
          </p:cNvPicPr>
          <p:nvPr/>
        </p:nvPicPr>
        <p:blipFill>
          <a:blip r:embed="rId3"/>
          <a:stretch>
            <a:fillRect/>
          </a:stretch>
        </p:blipFill>
        <p:spPr>
          <a:xfrm>
            <a:off x="5422392" y="2432304"/>
            <a:ext cx="6419088" cy="1051560"/>
          </a:xfrm>
          <a:prstGeom prst="rect">
            <a:avLst/>
          </a:prstGeom>
        </p:spPr>
      </p:pic>
      <p:sp>
        <p:nvSpPr>
          <p:cNvPr id="7" name="TextBox 6"/>
          <p:cNvSpPr txBox="1"/>
          <p:nvPr/>
        </p:nvSpPr>
        <p:spPr>
          <a:xfrm>
            <a:off x="411480" y="2478024"/>
            <a:ext cx="4206240" cy="889508"/>
          </a:xfrm>
          <a:prstGeom prst="rect">
            <a:avLst/>
          </a:prstGeom>
          <a:noFill/>
        </p:spPr>
        <p:txBody>
          <a:bodyPr wrap="square">
            <a:spAutoFit/>
          </a:bodyPr>
          <a:lstStyle/>
          <a:p>
            <a:pPr algn="l">
              <a:spcAft>
                <a:spcPts val="0"/>
              </a:spcAft>
            </a:pPr>
            <a:r>
              <a:rPr sz="1000" b="0">
                <a:solidFill>
                  <a:srgbClr val="6E6E6E"/>
                </a:solidFill>
                <a:latin typeface="Arial"/>
              </a:rPr>
              <a:t>Stepped Zernike: the focal spot with the dimple's footprint; the dimple's phase; the reference wave the dimple makes from the beam; the clear frame and the first depth frame; the recovered surface; raw map minus the engine, 4.8 nm (the beam-made reference, which the matrix measured on the surface absorbs).</a:t>
            </a:r>
          </a:p>
        </p:txBody>
      </p:sp>
      <p:pic>
        <p:nvPicPr>
          <p:cNvPr id="8" name="Picture 7" descr="crop_stations_row2_V.png"/>
          <p:cNvPicPr>
            <a:picLocks noChangeAspect="1"/>
          </p:cNvPicPr>
          <p:nvPr/>
        </p:nvPicPr>
        <p:blipFill>
          <a:blip r:embed="rId4"/>
          <a:stretch>
            <a:fillRect/>
          </a:stretch>
        </p:blipFill>
        <p:spPr>
          <a:xfrm>
            <a:off x="5422392" y="3557016"/>
            <a:ext cx="6419088" cy="1051560"/>
          </a:xfrm>
          <a:prstGeom prst="rect">
            <a:avLst/>
          </a:prstGeom>
        </p:spPr>
      </p:pic>
      <p:sp>
        <p:nvSpPr>
          <p:cNvPr id="9" name="TextBox 8"/>
          <p:cNvSpPr txBox="1"/>
          <p:nvPr/>
        </p:nvSpPr>
        <p:spPr>
          <a:xfrm>
            <a:off x="411480" y="3602736"/>
            <a:ext cx="4206240" cy="559307"/>
          </a:xfrm>
          <a:prstGeom prst="rect">
            <a:avLst/>
          </a:prstGeom>
          <a:noFill/>
        </p:spPr>
        <p:txBody>
          <a:bodyPr wrap="square">
            <a:spAutoFit/>
          </a:bodyPr>
          <a:lstStyle/>
          <a:p>
            <a:pPr algn="l">
              <a:spcAft>
                <a:spcPts val="0"/>
              </a:spcAft>
            </a:pPr>
            <a:r>
              <a:rPr sz="1000" b="0">
                <a:solidFill>
                  <a:srgbClr val="6E6E6E"/>
                </a:solidFill>
                <a:latin typeface="Arial"/>
              </a:rPr>
              <a:t>Vector Zernike: the metasurface (+90° on one circular state, −90° on the other); camera A and camera B, both frames at once; the pixel-by-pixel solve; raw map minus the engine, 25 pm.</a:t>
            </a:r>
          </a:p>
        </p:txBody>
      </p:sp>
      <p:pic>
        <p:nvPicPr>
          <p:cNvPr id="10" name="Picture 9" descr="crop_stations_row2_P.png"/>
          <p:cNvPicPr>
            <a:picLocks noChangeAspect="1"/>
          </p:cNvPicPr>
          <p:nvPr/>
        </p:nvPicPr>
        <p:blipFill>
          <a:blip r:embed="rId5"/>
          <a:stretch>
            <a:fillRect/>
          </a:stretch>
        </p:blipFill>
        <p:spPr>
          <a:xfrm>
            <a:off x="5422392" y="4681728"/>
            <a:ext cx="6419088" cy="1051560"/>
          </a:xfrm>
          <a:prstGeom prst="rect">
            <a:avLst/>
          </a:prstGeom>
        </p:spPr>
      </p:pic>
      <p:sp>
        <p:nvSpPr>
          <p:cNvPr id="11" name="TextBox 10"/>
          <p:cNvSpPr txBox="1"/>
          <p:nvPr/>
        </p:nvSpPr>
        <p:spPr>
          <a:xfrm>
            <a:off x="411480" y="4727448"/>
            <a:ext cx="4206240" cy="724408"/>
          </a:xfrm>
          <a:prstGeom prst="rect">
            <a:avLst/>
          </a:prstGeom>
          <a:noFill/>
        </p:spPr>
        <p:txBody>
          <a:bodyPr wrap="square">
            <a:spAutoFit/>
          </a:bodyPr>
          <a:lstStyle/>
          <a:p>
            <a:pPr algn="l">
              <a:spcAft>
                <a:spcPts val="0"/>
              </a:spcAft>
            </a:pPr>
            <a:r>
              <a:rPr sz="1000" b="0">
                <a:solidFill>
                  <a:srgbClr val="6E6E6E"/>
                </a:solidFill>
                <a:latin typeface="Arial"/>
              </a:rPr>
              <a:t>Stepped pinhole: the pinhole plate (clear pinhole, the surround at 0.72); the first step frame and the shutter frame (the pinhole's light alone); the recovered surface; raw map minus the engine, 184 pm.</a:t>
            </a:r>
          </a:p>
        </p:txBody>
      </p:sp>
      <p:sp>
        <p:nvSpPr>
          <p:cNvPr id="12" name="TextBox 11"/>
          <p:cNvSpPr txBox="1"/>
          <p:nvPr/>
        </p:nvSpPr>
        <p:spPr>
          <a:xfrm>
            <a:off x="411480" y="5943600"/>
            <a:ext cx="11338560" cy="274320"/>
          </a:xfrm>
          <a:prstGeom prst="rect">
            <a:avLst/>
          </a:prstGeom>
          <a:noFill/>
        </p:spPr>
        <p:txBody>
          <a:bodyPr wrap="square">
            <a:spAutoFit/>
          </a:bodyPr>
          <a:lstStyle/>
          <a:p>
            <a:pPr>
              <a:spcAft>
                <a:spcPts val="600"/>
              </a:spcAft>
            </a:pPr>
            <a:r>
              <a:rPr sz="1050" b="0">
                <a:solidFill>
                  <a:srgbClr val="6E6E6E"/>
                </a:solidFill>
                <a:latin typeface="Arial"/>
              </a:rPr>
              <a:t>Row 2 of each gauge's station-by-station figure (the full figures, with the flat mirror as row 1, are in the backup).  Run tags redo96_oapstn (interferometer) and stations193 (the three sensors, 193 pixels per pupil).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Performance side by side</a:t>
            </a:r>
          </a:p>
          <a:p>
            <a:pPr>
              <a:spcAft>
                <a:spcPts val="0"/>
              </a:spcAft>
            </a:pPr>
            <a:r>
              <a:rPr sz="1250" b="0">
                <a:solidFill>
                  <a:srgbClr val="6E6E6E"/>
                </a:solidFill>
                <a:latin typeface="Arial"/>
              </a:rPr>
              <a:t>Every reading on the same 30 nm working surface, the response matrix measured on it: the four best readings are within 1% of each other and within 2 pm on the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520315"/>
        </p:xfrm>
        <a:graphic>
          <a:graphicData uri="http://schemas.openxmlformats.org/drawingml/2006/table">
            <a:tbl>
              <a:tblPr firstRow="1" bandRow="1">
                <a:tableStyleId>{5C22544A-7EE6-4342-B048-85BDC9FD1C3A}</a:tableStyleId>
              </a:tblPr>
              <a:tblGrid>
                <a:gridCol w="2674996"/>
                <a:gridCol w="3427339"/>
                <a:gridCol w="2591402"/>
                <a:gridCol w="2674996"/>
              </a:tblGrid>
              <a:tr h="280035">
                <a:tc>
                  <a:txBody>
                    <a:bodyPr wrap="square"/>
                    <a:lstStyle/>
                    <a:p>
                      <a:r>
                        <a:rPr sz="1100" b="1">
                          <a:solidFill>
                            <a:srgbClr val="FFFFFF"/>
                          </a:solidFill>
                          <a:latin typeface="Arial"/>
                        </a:rPr>
                        <a:t>reading (frames per measurement)</a:t>
                      </a:r>
                    </a:p>
                  </a:txBody>
                  <a:tcPr marL="54864" marR="54864" marT="18288" marB="18288">
                    <a:solidFill>
                      <a:srgbClr val="1F4E79"/>
                    </a:solidFill>
                  </a:tcPr>
                </a:tc>
                <a:tc>
                  <a:txBody>
                    <a:bodyPr wrap="square"/>
                    <a:lstStyle/>
                    <a:p>
                      <a:r>
                        <a:rPr sz="1100" b="1">
                          <a:solidFill>
                            <a:srgbClr val="FFFFFF"/>
                          </a:solidFill>
                          <a:latin typeface="Arial"/>
                        </a:rPr>
                        <a:t>10 nm on one actuator: gain / floor / SNR</a:t>
                      </a:r>
                    </a:p>
                  </a:txBody>
                  <a:tcPr marL="54864" marR="54864" marT="18288" marB="18288">
                    <a:solidFill>
                      <a:srgbClr val="1F4E79"/>
                    </a:solidFill>
                  </a:tcPr>
                </a:tc>
                <a:tc>
                  <a:txBody>
                    <a:bodyPr wrap="square"/>
                    <a:lstStyle/>
                    <a:p>
                      <a:r>
                        <a:rPr sz="1100" b="1">
                          <a:solidFill>
                            <a:srgbClr val="FFFFFF"/>
                          </a:solidFill>
                          <a:latin typeface="Arial"/>
                        </a:rPr>
                        <a:t>1 nm on 120 sites: gain / floor</a:t>
                      </a:r>
                    </a:p>
                  </a:txBody>
                  <a:tcPr marL="54864" marR="54864" marT="18288" marB="18288">
                    <a:solidFill>
                      <a:srgbClr val="1F4E79"/>
                    </a:solidFill>
                  </a:tcPr>
                </a:tc>
                <a:tc>
                  <a:txBody>
                    <a:bodyPr wrap="square"/>
                    <a:lstStyle/>
                    <a:p>
                      <a:r>
                        <a:rPr sz="1100" b="1">
                          <a:solidFill>
                            <a:srgbClr val="FFFFFF"/>
                          </a:solidFill>
                          <a:latin typeface="Arial"/>
                        </a:rPr>
                        <a:t>dense random 10 nm: gain / error</a:t>
                      </a:r>
                    </a:p>
                  </a:txBody>
                  <a:tcPr marL="54864" marR="54864" marT="18288" marB="18288">
                    <a:solidFill>
                      <a:srgbClr val="1F4E79"/>
                    </a:solidFill>
                  </a:tcPr>
                </a:tc>
              </a:tr>
              <a:tr h="280035">
                <a:tc>
                  <a:txBody>
                    <a:bodyPr wrap="square"/>
                    <a:lstStyle/>
                    <a:p>
                      <a:r>
                        <a:rPr sz="1100" b="0">
                          <a:solidFill>
                            <a:srgbClr val="282828"/>
                          </a:solidFill>
                          <a:latin typeface="Arial"/>
                        </a:rPr>
                        <a:t>interferometer, lens rig (4)</a:t>
                      </a:r>
                    </a:p>
                  </a:txBody>
                  <a:tcPr marL="54864" marR="54864" marT="18288" marB="18288">
                    <a:solidFill>
                      <a:srgbClr val="FFFFFF"/>
                    </a:solidFill>
                  </a:tcPr>
                </a:tc>
                <a:tc>
                  <a:txBody>
                    <a:bodyPr wrap="square"/>
                    <a:lstStyle/>
                    <a:p>
                      <a:r>
                        <a:rPr sz="1100" b="0">
                          <a:solidFill>
                            <a:srgbClr val="282828"/>
                          </a:solidFill>
                          <a:latin typeface="Arial"/>
                        </a:rPr>
                        <a:t>1.004 / 1.4 pm / 7741</a:t>
                      </a:r>
                    </a:p>
                  </a:txBody>
                  <a:tcPr marL="54864" marR="54864" marT="18288" marB="18288">
                    <a:solidFill>
                      <a:srgbClr val="FFFFFF"/>
                    </a:solidFill>
                  </a:tcPr>
                </a:tc>
                <a:tc>
                  <a:txBody>
                    <a:bodyPr wrap="square"/>
                    <a:lstStyle/>
                    <a:p>
                      <a:r>
                        <a:rPr sz="1100" b="0">
                          <a:solidFill>
                            <a:srgbClr val="282828"/>
                          </a:solidFill>
                          <a:latin typeface="Arial"/>
                        </a:rPr>
                        <a:t>0.993 / 10 pm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r>
              <a:tr h="280035">
                <a:tc>
                  <a:txBody>
                    <a:bodyPr wrap="square"/>
                    <a:lstStyle/>
                    <a:p>
                      <a:r>
                        <a:rPr sz="1100" b="0">
                          <a:solidFill>
                            <a:srgbClr val="282828"/>
                          </a:solidFill>
                          <a:latin typeface="Arial"/>
                        </a:rPr>
                        <a:t>interferometer, mirror rig (4)</a:t>
                      </a:r>
                    </a:p>
                  </a:txBody>
                  <a:tcPr marL="54864" marR="54864" marT="18288" marB="18288">
                    <a:solidFill>
                      <a:srgbClr val="ECF1F6"/>
                    </a:solidFill>
                  </a:tcPr>
                </a:tc>
                <a:tc>
                  <a:txBody>
                    <a:bodyPr wrap="square"/>
                    <a:lstStyle/>
                    <a:p>
                      <a:r>
                        <a:rPr sz="1100" b="0">
                          <a:solidFill>
                            <a:srgbClr val="282828"/>
                          </a:solidFill>
                          <a:latin typeface="Arial"/>
                        </a:rPr>
                        <a:t>0.986 / 2.3 pm / 6044</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c>
                  <a:txBody>
                    <a:bodyPr wrap="square"/>
                    <a:lstStyle/>
                    <a:p>
                      <a:r>
                        <a:rPr sz="1100" b="0">
                          <a:solidFill>
                            <a:srgbClr val="282828"/>
                          </a:solidFill>
                          <a:latin typeface="Arial"/>
                        </a:rPr>
                        <a:t>0.977 / 698 pm</a:t>
                      </a:r>
                    </a:p>
                  </a:txBody>
                  <a:tcPr marL="54864" marR="54864" marT="18288" marB="18288">
                    <a:solidFill>
                      <a:srgbClr val="ECF1F6"/>
                    </a:solidFill>
                  </a:tcPr>
                </a:tc>
              </a:tr>
              <a:tr h="280035">
                <a:tc>
                  <a:txBody>
                    <a:bodyPr wrap="square"/>
                    <a:lstStyle/>
                    <a:p>
                      <a:r>
                        <a:rPr sz="1100" b="0">
                          <a:solidFill>
                            <a:srgbClr val="282828"/>
                          </a:solidFill>
                          <a:latin typeface="Arial"/>
                        </a:rPr>
                        <a:t>Zernike, linear one frame (1)</a:t>
                      </a:r>
                    </a:p>
                  </a:txBody>
                  <a:tcPr marL="54864" marR="54864" marT="18288" marB="18288">
                    <a:solidFill>
                      <a:srgbClr val="FFFFFF"/>
                    </a:solidFill>
                  </a:tcPr>
                </a:tc>
                <a:tc>
                  <a:txBody>
                    <a:bodyPr wrap="square"/>
                    <a:lstStyle/>
                    <a:p>
                      <a:r>
                        <a:rPr sz="1100" b="0">
                          <a:solidFill>
                            <a:srgbClr val="282828"/>
                          </a:solidFill>
                          <a:latin typeface="Arial"/>
                        </a:rPr>
                        <a:t>1.04 / 21 pm / 492</a:t>
                      </a:r>
                    </a:p>
                  </a:txBody>
                  <a:tcPr marL="54864" marR="54864" marT="18288" marB="18288">
                    <a:solidFill>
                      <a:srgbClr val="FFFFFF"/>
                    </a:solidFill>
                  </a:tcPr>
                </a:tc>
                <a:tc>
                  <a:txBody>
                    <a:bodyPr wrap="square"/>
                    <a:lstStyle/>
                    <a:p>
                      <a:r>
                        <a:rPr sz="1100" b="0">
                          <a:solidFill>
                            <a:srgbClr val="282828"/>
                          </a:solidFill>
                          <a:latin typeface="Arial"/>
                        </a:rPr>
                        <a:t>1.05 / 22 pm</a:t>
                      </a:r>
                    </a:p>
                  </a:txBody>
                  <a:tcPr marL="54864" marR="54864" marT="18288" marB="18288">
                    <a:solidFill>
                      <a:srgbClr val="FFFFFF"/>
                    </a:solidFill>
                  </a:tcPr>
                </a:tc>
                <a:tc>
                  <a:txBody>
                    <a:bodyPr wrap="square"/>
                    <a:lstStyle/>
                    <a:p>
                      <a:r>
                        <a:rPr sz="1100" b="0">
                          <a:solidFill>
                            <a:srgbClr val="282828"/>
                          </a:solidFill>
                          <a:latin typeface="Arial"/>
                        </a:rPr>
                        <a:t>1.04 / 4.7 nm</a:t>
                      </a:r>
                    </a:p>
                  </a:txBody>
                  <a:tcPr marL="54864" marR="54864" marT="18288" marB="18288">
                    <a:solidFill>
                      <a:srgbClr val="FFFFFF"/>
                    </a:solidFill>
                  </a:tcPr>
                </a:tc>
              </a:tr>
              <a:tr h="280035">
                <a:tc>
                  <a:txBody>
                    <a:bodyPr wrap="square"/>
                    <a:lstStyle/>
                    <a:p>
                      <a:r>
                        <a:rPr sz="1100" b="0">
                          <a:solidFill>
                            <a:srgbClr val="282828"/>
                          </a:solidFill>
                          <a:latin typeface="Arial"/>
                        </a:rPr>
                        <a:t>Zernike, exact one frame (1)</a:t>
                      </a:r>
                    </a:p>
                  </a:txBody>
                  <a:tcPr marL="54864" marR="54864" marT="18288" marB="18288">
                    <a:solidFill>
                      <a:srgbClr val="ECF1F6"/>
                    </a:solidFill>
                  </a:tcPr>
                </a:tc>
                <a:tc>
                  <a:txBody>
                    <a:bodyPr wrap="square"/>
                    <a:lstStyle/>
                    <a:p>
                      <a:r>
                        <a:rPr sz="1100" b="0">
                          <a:solidFill>
                            <a:srgbClr val="282828"/>
                          </a:solidFill>
                          <a:latin typeface="Arial"/>
                        </a:rPr>
                        <a:t>0.78 / 74 pm</a:t>
                      </a:r>
                    </a:p>
                  </a:txBody>
                  <a:tcPr marL="54864" marR="54864" marT="18288" marB="18288">
                    <a:solidFill>
                      <a:srgbClr val="ECF1F6"/>
                    </a:solidFill>
                  </a:tcPr>
                </a:tc>
                <a:tc>
                  <a:txBody>
                    <a:bodyPr wrap="square"/>
                    <a:lstStyle/>
                    <a:p>
                      <a:r>
                        <a:rPr sz="1100" b="0">
                          <a:solidFill>
                            <a:srgbClr val="282828"/>
                          </a:solidFill>
                          <a:latin typeface="Arial"/>
                        </a:rPr>
                        <a:t>0.90 / 35 pm</a:t>
                      </a:r>
                    </a:p>
                  </a:txBody>
                  <a:tcPr marL="54864" marR="54864" marT="18288" marB="18288">
                    <a:solidFill>
                      <a:srgbClr val="ECF1F6"/>
                    </a:solidFill>
                  </a:tcPr>
                </a:tc>
                <a:tc>
                  <a:txBody>
                    <a:bodyPr wrap="square"/>
                    <a:lstStyle/>
                    <a:p>
                      <a:r>
                        <a:rPr sz="1100" b="0">
                          <a:solidFill>
                            <a:srgbClr val="282828"/>
                          </a:solidFill>
                          <a:latin typeface="Arial"/>
                        </a:rPr>
                        <a:t>0.86 / 5.2 nm</a:t>
                      </a:r>
                    </a:p>
                  </a:txBody>
                  <a:tcPr marL="54864" marR="54864" marT="18288" marB="18288">
                    <a:solidFill>
                      <a:srgbClr val="ECF1F6"/>
                    </a:solidFill>
                  </a:tcPr>
                </a:tc>
              </a:tr>
              <a:tr h="280035">
                <a:tc>
                  <a:txBody>
                    <a:bodyPr wrap="square"/>
                    <a:lstStyle/>
                    <a:p>
                      <a:r>
                        <a:rPr sz="1100" b="0">
                          <a:solidFill>
                            <a:srgbClr val="282828"/>
                          </a:solidFill>
                          <a:latin typeface="Arial"/>
                        </a:rPr>
                        <a:t>Zernike, stepped (4)</a:t>
                      </a:r>
                    </a:p>
                  </a:txBody>
                  <a:tcPr marL="54864" marR="54864" marT="18288" marB="18288">
                    <a:solidFill>
                      <a:srgbClr val="FFFFFF"/>
                    </a:solidFill>
                  </a:tcPr>
                </a:tc>
                <a:tc>
                  <a:txBody>
                    <a:bodyPr wrap="square"/>
                    <a:lstStyle/>
                    <a:p>
                      <a:r>
                        <a:rPr sz="1100" b="0">
                          <a:solidFill>
                            <a:srgbClr val="282828"/>
                          </a:solidFill>
                          <a:latin typeface="Arial"/>
                        </a:rPr>
                        <a:t>0.993 / 5 pm / 1987</a:t>
                      </a:r>
                    </a:p>
                  </a:txBody>
                  <a:tcPr marL="54864" marR="54864" marT="18288" marB="18288">
                    <a:solidFill>
                      <a:srgbClr val="FFFFFF"/>
                    </a:solidFill>
                  </a:tcPr>
                </a:tc>
                <a:tc>
                  <a:txBody>
                    <a:bodyPr wrap="square"/>
                    <a:lstStyle/>
                    <a:p>
                      <a:r>
                        <a:rPr sz="1100" b="0">
                          <a:solidFill>
                            <a:srgbClr val="282828"/>
                          </a:solidFill>
                          <a:latin typeface="Arial"/>
                        </a:rPr>
                        <a:t>0.995 / 4 pm</a:t>
                      </a:r>
                    </a:p>
                  </a:txBody>
                  <a:tcPr marL="54864" marR="54864" marT="18288" marB="18288">
                    <a:solidFill>
                      <a:srgbClr val="FFFFFF"/>
                    </a:solidFill>
                  </a:tcPr>
                </a:tc>
                <a:tc>
                  <a:txBody>
                    <a:bodyPr wrap="square"/>
                    <a:lstStyle/>
                    <a:p>
                      <a:r>
                        <a:rPr sz="1100" b="0">
                          <a:solidFill>
                            <a:srgbClr val="282828"/>
                          </a:solidFill>
                          <a:latin typeface="Arial"/>
                        </a:rPr>
                        <a:t>0.978 / 0.75 nm</a:t>
                      </a:r>
                    </a:p>
                  </a:txBody>
                  <a:tcPr marL="54864" marR="54864" marT="18288" marB="18288">
                    <a:solidFill>
                      <a:srgbClr val="FFFFFF"/>
                    </a:solidFill>
                  </a:tcPr>
                </a:tc>
              </a:tr>
              <a:tr h="280035">
                <a:tc>
                  <a:txBody>
                    <a:bodyPr wrap="square"/>
                    <a:lstStyle/>
                    <a:p>
                      <a:r>
                        <a:rPr sz="1100" b="0">
                          <a:solidFill>
                            <a:srgbClr val="282828"/>
                          </a:solidFill>
                          <a:latin typeface="Arial"/>
                        </a:rPr>
                        <a:t>vector Zernike (2)</a:t>
                      </a:r>
                    </a:p>
                  </a:txBody>
                  <a:tcPr marL="54864" marR="54864" marT="18288" marB="18288">
                    <a:solidFill>
                      <a:srgbClr val="ECF1F6"/>
                    </a:solidFill>
                  </a:tcPr>
                </a:tc>
                <a:tc>
                  <a:txBody>
                    <a:bodyPr wrap="square"/>
                    <a:lstStyle/>
                    <a:p>
                      <a:r>
                        <a:rPr sz="1100" b="0">
                          <a:solidFill>
                            <a:srgbClr val="282828"/>
                          </a:solidFill>
                          <a:latin typeface="Arial"/>
                        </a:rPr>
                        <a:t>1.008 / 2 pm / 6364</a:t>
                      </a:r>
                    </a:p>
                  </a:txBody>
                  <a:tcPr marL="54864" marR="54864" marT="18288" marB="18288">
                    <a:solidFill>
                      <a:srgbClr val="ECF1F6"/>
                    </a:solidFill>
                  </a:tcPr>
                </a:tc>
                <a:tc>
                  <a:txBody>
                    <a:bodyPr wrap="square"/>
                    <a:lstStyle/>
                    <a:p>
                      <a:r>
                        <a:rPr sz="1100" b="0">
                          <a:solidFill>
                            <a:srgbClr val="282828"/>
                          </a:solidFill>
                          <a:latin typeface="Arial"/>
                        </a:rPr>
                        <a:t>1.001 / 4 pm</a:t>
                      </a:r>
                    </a:p>
                  </a:txBody>
                  <a:tcPr marL="54864" marR="54864" marT="18288" marB="18288">
                    <a:solidFill>
                      <a:srgbClr val="ECF1F6"/>
                    </a:solidFill>
                  </a:tcPr>
                </a:tc>
                <a:tc>
                  <a:txBody>
                    <a:bodyPr wrap="square"/>
                    <a:lstStyle/>
                    <a:p>
                      <a:r>
                        <a:rPr sz="1100" b="0">
                          <a:solidFill>
                            <a:srgbClr val="282828"/>
                          </a:solidFill>
                          <a:latin typeface="Arial"/>
                        </a:rPr>
                        <a:t>1.0035 / 0.44 nm</a:t>
                      </a:r>
                    </a:p>
                  </a:txBody>
                  <a:tcPr marL="54864" marR="54864" marT="18288" marB="18288">
                    <a:solidFill>
                      <a:srgbClr val="ECF1F6"/>
                    </a:solidFill>
                  </a:tcPr>
                </a:tc>
              </a:tr>
              <a:tr h="280035">
                <a:tc>
                  <a:txBody>
                    <a:bodyPr wrap="square"/>
                    <a:lstStyle/>
                    <a:p>
                      <a:r>
                        <a:rPr sz="1100" b="0">
                          <a:solidFill>
                            <a:srgbClr val="282828"/>
                          </a:solidFill>
                          <a:latin typeface="Arial"/>
                        </a:rPr>
                        <a:t>stepped pinhole (6)</a:t>
                      </a:r>
                    </a:p>
                  </a:txBody>
                  <a:tcPr marL="54864" marR="54864" marT="18288" marB="18288">
                    <a:solidFill>
                      <a:srgbClr val="FFFFFF"/>
                    </a:solidFill>
                  </a:tcPr>
                </a:tc>
                <a:tc>
                  <a:txBody>
                    <a:bodyPr wrap="square"/>
                    <a:lstStyle/>
                    <a:p>
                      <a:r>
                        <a:rPr sz="1100" b="0">
                          <a:solidFill>
                            <a:srgbClr val="282828"/>
                          </a:solidFill>
                          <a:latin typeface="Arial"/>
                        </a:rPr>
                        <a:t>0.995 / 3 pm / 3845</a:t>
                      </a:r>
                    </a:p>
                  </a:txBody>
                  <a:tcPr marL="54864" marR="54864" marT="18288" marB="18288">
                    <a:solidFill>
                      <a:srgbClr val="FFFFFF"/>
                    </a:solidFill>
                  </a:tcPr>
                </a:tc>
                <a:tc>
                  <a:txBody>
                    <a:bodyPr wrap="square"/>
                    <a:lstStyle/>
                    <a:p>
                      <a:r>
                        <a:rPr sz="1100" b="0">
                          <a:solidFill>
                            <a:srgbClr val="282828"/>
                          </a:solidFill>
                          <a:latin typeface="Arial"/>
                        </a:rPr>
                        <a:t>0.998 / 3 pm</a:t>
                      </a:r>
                    </a:p>
                  </a:txBody>
                  <a:tcPr marL="54864" marR="54864" marT="18288" marB="18288">
                    <a:solidFill>
                      <a:srgbClr val="FFFFFF"/>
                    </a:solidFill>
                  </a:tcPr>
                </a:tc>
                <a:tc>
                  <a:txBody>
                    <a:bodyPr wrap="square"/>
                    <a:lstStyle/>
                    <a:p>
                      <a:r>
                        <a:rPr sz="1100" b="0">
                          <a:solidFill>
                            <a:srgbClr val="282828"/>
                          </a:solidFill>
                          <a:latin typeface="Arial"/>
                        </a:rPr>
                        <a:t>0.994 / 313 pm</a:t>
                      </a:r>
                    </a:p>
                  </a:txBody>
                  <a:tcPr marL="54864" marR="54864" marT="18288" marB="18288">
                    <a:solidFill>
                      <a:srgbClr val="FFFFFF"/>
                    </a:solidFill>
                  </a:tcPr>
                </a:tc>
              </a:tr>
              <a:tr h="280035">
                <a:tc>
                  <a:txBody>
                    <a:bodyPr wrap="square"/>
                    <a:lstStyle/>
                    <a:p>
                      <a:r>
                        <a:rPr sz="1100" b="0">
                          <a:solidFill>
                            <a:srgbClr val="282828"/>
                          </a:solidFill>
                          <a:latin typeface="Arial"/>
                        </a:rPr>
                        <a:t>P/SRI, reference arm traced (4)</a:t>
                      </a:r>
                    </a:p>
                  </a:txBody>
                  <a:tcPr marL="54864" marR="54864" marT="18288" marB="18288">
                    <a:solidFill>
                      <a:srgbClr val="ECF1F6"/>
                    </a:solidFill>
                  </a:tcPr>
                </a:tc>
                <a:tc>
                  <a:txBody>
                    <a:bodyPr wrap="square"/>
                    <a:lstStyle/>
                    <a:p>
                      <a:r>
                        <a:rPr sz="1100" b="0">
                          <a:solidFill>
                            <a:srgbClr val="282828"/>
                          </a:solidFill>
                          <a:latin typeface="Arial"/>
                        </a:rPr>
                        <a:t>0.9935 / 2 pm / 4895</a:t>
                      </a:r>
                    </a:p>
                  </a:txBody>
                  <a:tcPr marL="54864" marR="54864" marT="18288" marB="18288">
                    <a:solidFill>
                      <a:srgbClr val="ECF1F6"/>
                    </a:solidFill>
                  </a:tcPr>
                </a:tc>
                <a:tc>
                  <a:txBody>
                    <a:bodyPr wrap="square"/>
                    <a:lstStyle/>
                    <a:p>
                      <a:r>
                        <a:rPr sz="1100" b="0">
                          <a:solidFill>
                            <a:srgbClr val="282828"/>
                          </a:solidFill>
                          <a:latin typeface="Arial"/>
                        </a:rPr>
                        <a:t>0.9924 / 1 pm</a:t>
                      </a:r>
                    </a:p>
                  </a:txBody>
                  <a:tcPr marL="54864" marR="54864" marT="18288" marB="18288">
                    <a:solidFill>
                      <a:srgbClr val="ECF1F6"/>
                    </a:solidFill>
                  </a:tcPr>
                </a:tc>
                <a:tc>
                  <a:txBody>
                    <a:bodyPr wrap="square"/>
                    <a:lstStyle/>
                    <a:p>
                      <a:r>
                        <a:rPr sz="1100" b="0">
                          <a:solidFill>
                            <a:srgbClr val="282828"/>
                          </a:solidFill>
                          <a:latin typeface="Arial"/>
                        </a:rPr>
                        <a:t>0.9926 / 144 pm</a:t>
                      </a:r>
                    </a:p>
                  </a:txBody>
                  <a:tcPr marL="54864" marR="54864" marT="18288" marB="18288">
                    <a:solidFill>
                      <a:srgbClr val="ECF1F6"/>
                    </a:solidFill>
                  </a:tcPr>
                </a:tc>
              </a:tr>
            </a:tbl>
          </a:graphicData>
        </a:graphic>
      </p:graphicFrame>
      <p:sp>
        <p:nvSpPr>
          <p:cNvPr id="5" name="TextBox 4"/>
          <p:cNvSpPr txBox="1"/>
          <p:nvPr/>
        </p:nvSpPr>
        <p:spPr>
          <a:xfrm>
            <a:off x="411480" y="3965066"/>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one-frame Zernike readings lose:</a:t>
            </a:r>
            <a:r>
              <a:rPr sz="1500" b="0">
                <a:solidFill>
                  <a:srgbClr val="282828"/>
                </a:solidFill>
                <a:latin typeface="Arial"/>
              </a:rPr>
              <a:t> the linear one is biased 4-5% and floors at 21 pm; the exact one-frame reading misreads the sign past the quarter-wave fold (7.8% of pixels on this surface) and diverges in a servo.</a:t>
            </a:r>
          </a:p>
          <a:p>
            <a:pPr>
              <a:spcAft>
                <a:spcPts val="600"/>
              </a:spcAft>
            </a:pPr>
            <a:r>
              <a:rPr sz="1500" b="0">
                <a:solidFill>
                  <a:srgbClr val="282828"/>
                </a:solidFill>
                <a:latin typeface="Arial"/>
              </a:rPr>
              <a:t>•  </a:t>
            </a:r>
            <a:r>
              <a:rPr sz="1500" b="1">
                <a:solidFill>
                  <a:srgbClr val="282828"/>
                </a:solidFill>
                <a:latin typeface="Arial"/>
              </a:rPr>
              <a:t>The dense-pattern error is 0.3-0.75 nm for every reading, the interferometer's included;</a:t>
            </a:r>
            <a:r>
              <a:rPr sz="1500" b="0">
                <a:solidFill>
                  <a:srgbClr val="282828"/>
                </a:solidFill>
                <a:latin typeface="Arial"/>
              </a:rPr>
              <a:t> the single-actuator and grid rows, which the servo uses, are at 1-10 pm.</a:t>
            </a:r>
          </a:p>
        </p:txBody>
      </p:sp>
      <p:sp>
        <p:nvSpPr>
          <p:cNvPr id="6" name="TextBox 5"/>
          <p:cNvSpPr txBox="1"/>
          <p:nvPr/>
        </p:nvSpPr>
        <p:spPr>
          <a:xfrm>
            <a:off x="411480" y="5272659"/>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(interferometer, 385 px), redo96_oapsens (the three sensors on the mirror rig, 385 px); the one-frame Zernike readings and the P/SRI at 193 px (matbase, pfdeck).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how far from null each reading works</a:t>
            </a:r>
          </a:p>
          <a:p>
            <a:pPr>
              <a:spcAft>
                <a:spcPts val="0"/>
              </a:spcAft>
            </a:pPr>
            <a:r>
              <a:rPr sz="1250" b="0">
                <a:solidFill>
                  <a:srgbClr val="6E6E6E"/>
                </a:solidFill>
                <a:latin typeface="Arial"/>
              </a:rPr>
              <a:t>With the calibration left as measured at 30 nm, the self-referenced sensors hold 10% accuracy only to 36-70 nm of surface; the externally referenced ones, and the pinhole with its shutter frame, hold to 480 nm and beyond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554730"/>
        </p:xfrm>
        <a:graphic>
          <a:graphicData uri="http://schemas.openxmlformats.org/drawingml/2006/table">
            <a:tbl>
              <a:tblPr firstRow="1" bandRow="1">
                <a:tableStyleId>{5C22544A-7EE6-4342-B048-85BDC9FD1C3A}</a:tableStyleId>
              </a:tblPr>
              <a:tblGrid>
                <a:gridCol w="2977661"/>
                <a:gridCol w="2828778"/>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range to 10%, calibration aging from 30 nm</a:t>
                      </a:r>
                    </a:p>
                  </a:txBody>
                  <a:tcPr marL="54864" marR="54864" marT="18288" marB="18288">
                    <a:solidFill>
                      <a:srgbClr val="1F4E79"/>
                    </a:solidFill>
                  </a:tcPr>
                </a:tc>
              </a:tr>
              <a:tr h="280035">
                <a:tc>
                  <a:txBody>
                    <a:bodyPr wrap="square"/>
                    <a:lstStyle/>
                    <a:p>
                      <a:r>
                        <a:rPr sz="1100" b="0">
                          <a:solidFill>
                            <a:srgbClr val="282828"/>
                          </a:solidFill>
                          <a:latin typeface="Arial"/>
                        </a:rPr>
                        <a:t>Zernike exact one frame</a:t>
                      </a:r>
                    </a:p>
                  </a:txBody>
                  <a:tcPr marL="54864" marR="54864" marT="18288" marB="18288">
                    <a:solidFill>
                      <a:srgbClr val="FFFFFF"/>
                    </a:solidFill>
                  </a:tcPr>
                </a:tc>
                <a:tc>
                  <a:txBody>
                    <a:bodyPr wrap="square"/>
                    <a:lstStyle/>
                    <a:p>
                      <a:r>
                        <a:rPr sz="1100" b="0">
                          <a:solidFill>
                            <a:srgbClr val="282828"/>
                          </a:solidFill>
                          <a:latin typeface="Arial"/>
                        </a:rPr>
                        <a:t>36 nm</a:t>
                      </a:r>
                    </a:p>
                  </a:txBody>
                  <a:tcPr marL="54864" marR="54864" marT="18288" marB="18288">
                    <a:solidFill>
                      <a:srgbClr val="FFFFFF"/>
                    </a:solidFill>
                  </a:tcPr>
                </a:tc>
              </a:tr>
              <a:tr h="280035">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42 nm</a:t>
                      </a:r>
                    </a:p>
                  </a:txBody>
                  <a:tcPr marL="54864" marR="54864" marT="18288" marB="18288">
                    <a:solidFill>
                      <a:srgbClr val="ECF1F6"/>
                    </a:solidFill>
                  </a:tcPr>
                </a:tc>
              </a:tr>
              <a:tr h="280035">
                <a:tc>
                  <a:txBody>
                    <a:bodyPr wrap="square"/>
                    <a:lstStyle/>
                    <a:p>
                      <a:r>
                        <a:rPr sz="1100" b="0">
                          <a:solidFill>
                            <a:srgbClr val="282828"/>
                          </a:solidFill>
                          <a:latin typeface="Arial"/>
                        </a:rPr>
                        <a:t>Zernike linear</a:t>
                      </a:r>
                    </a:p>
                  </a:txBody>
                  <a:tcPr marL="54864" marR="54864" marT="18288" marB="18288">
                    <a:solidFill>
                      <a:srgbClr val="FFFFFF"/>
                    </a:solidFill>
                  </a:tcPr>
                </a:tc>
                <a:tc>
                  <a:txBody>
                    <a:bodyPr wrap="square"/>
                    <a:lstStyle/>
                    <a:p>
                      <a:r>
                        <a:rPr sz="1100" b="0">
                          <a:solidFill>
                            <a:srgbClr val="282828"/>
                          </a:solidFill>
                          <a:latin typeface="Arial"/>
                        </a:rPr>
                        <a:t>44 nm</a:t>
                      </a:r>
                    </a:p>
                  </a:txBody>
                  <a:tcPr marL="54864" marR="54864" marT="18288" marB="18288">
                    <a:solidFill>
                      <a:srgbClr val="FFFFFF"/>
                    </a:solidFill>
                  </a:tcPr>
                </a:tc>
              </a:tr>
              <a:tr h="280035">
                <a:tc>
                  <a:txBody>
                    <a:bodyPr wrap="square"/>
                    <a:lstStyle/>
                    <a:p>
                      <a:r>
                        <a:rPr sz="1100" b="0">
                          <a:solidFill>
                            <a:srgbClr val="282828"/>
                          </a:solidFill>
                          <a:latin typeface="Arial"/>
                        </a:rPr>
                        <a:t>pinhole, no shutter frame</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r>
              <a:tr h="280035">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70 nm</a:t>
                      </a:r>
                    </a:p>
                  </a:txBody>
                  <a:tcPr marL="54864" marR="54864" marT="18288" marB="18288">
                    <a:solidFill>
                      <a:srgbClr val="FFFFFF"/>
                    </a:solidFill>
                  </a:tcPr>
                </a:tc>
              </a:tr>
              <a:tr h="468630">
                <a:tc>
                  <a:txBody>
                    <a:bodyPr wrap="square"/>
                    <a:lstStyle/>
                    <a:p>
                      <a:r>
                        <a:rPr sz="1100" b="0">
                          <a:solidFill>
                            <a:srgbClr val="282828"/>
                          </a:solidFill>
                          <a:latin typeface="Arial"/>
                        </a:rPr>
                        <a:t>pinhole with a shutter frame</a:t>
                      </a:r>
                    </a:p>
                  </a:txBody>
                  <a:tcPr marL="54864" marR="54864" marT="18288" marB="18288">
                    <a:solidFill>
                      <a:srgbClr val="ECF1F6"/>
                    </a:solidFill>
                  </a:tcPr>
                </a:tc>
                <a:tc>
                  <a:txBody>
                    <a:bodyPr wrap="square"/>
                    <a:lstStyle/>
                    <a:p>
                      <a:r>
                        <a:rPr sz="1100" b="0">
                          <a:solidFill>
                            <a:srgbClr val="282828"/>
                          </a:solidFill>
                          <a:latin typeface="Arial"/>
                        </a:rPr>
                        <a:t>480 nm and beyond (1.02 / 1.06 / 1.13 at 120 / 240 / 480)</a:t>
                      </a:r>
                    </a:p>
                  </a:txBody>
                  <a:tcPr marL="54864" marR="54864" marT="18288" marB="18288">
                    <a:solidFill>
                      <a:srgbClr val="ECF1F6"/>
                    </a:solidFill>
                  </a:tcPr>
                </a:tc>
              </a:tr>
              <a:tr h="280035">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480 nm and beyond (within 1% at 100)</a:t>
                      </a:r>
                    </a:p>
                  </a:txBody>
                  <a:tcPr marL="54864" marR="54864" marT="18288" marB="18288">
                    <a:solidFill>
                      <a:srgbClr val="FFFFFF"/>
                    </a:solidFill>
                  </a:tcPr>
                </a:tc>
              </a:tr>
              <a:tr h="468630">
                <a:tc>
                  <a:txBody>
                    <a:bodyPr wrap="square"/>
                    <a:lstStyle/>
                    <a:p>
                      <a:r>
                        <a:rPr sz="1100" b="0">
                          <a:solidFill>
                            <a:srgbClr val="282828"/>
                          </a:solidFill>
                          <a:latin typeface="Arial"/>
                        </a:rPr>
                        <a:t>interferometer, both rigs</a:t>
                      </a:r>
                    </a:p>
                  </a:txBody>
                  <a:tcPr marL="54864" marR="54864" marT="18288" marB="18288">
                    <a:solidFill>
                      <a:srgbClr val="ECF1F6"/>
                    </a:solidFill>
                  </a:tcPr>
                </a:tc>
                <a:tc>
                  <a:txBody>
                    <a:bodyPr wrap="square"/>
                    <a:lstStyle/>
                    <a:p>
                      <a:r>
                        <a:rPr sz="1100" b="0">
                          <a:solidFill>
                            <a:srgbClr val="282828"/>
                          </a:solidFill>
                          <a:latin typeface="Arial"/>
                        </a:rPr>
                        <a:t>480 nm and beyond, single site and grid</a:t>
                      </a:r>
                    </a:p>
                  </a:txBody>
                  <a:tcPr marL="54864" marR="54864" marT="18288" marB="18288">
                    <a:solidFill>
                      <a:srgbClr val="ECF1F6"/>
                    </a:solidFill>
                  </a:tcPr>
                </a:tc>
              </a:tr>
              <a:tr h="468630">
                <a:tc>
                  <a:txBody>
                    <a:bodyPr wrap="square"/>
                    <a:lstStyle/>
                    <a:p>
                      <a:r>
                        <a:rPr sz="1100" b="0">
                          <a:solidFill>
                            <a:srgbClr val="282828"/>
                          </a:solidFill>
                          <a:latin typeface="Arial"/>
                        </a:rPr>
                        <a:t>Zernike stepped / vector / pinhole on the mirror rig, 385 px</a:t>
                      </a:r>
                    </a:p>
                  </a:txBody>
                  <a:tcPr marL="54864" marR="54864" marT="18288" marB="18288">
                    <a:solidFill>
                      <a:srgbClr val="FFFFFF"/>
                    </a:solidFill>
                  </a:tcPr>
                </a:tc>
                <a:tc>
                  <a:txBody>
                    <a:bodyPr wrap="square"/>
                    <a:lstStyle/>
                    <a:p>
                      <a:r>
                        <a:rPr sz="1100" b="0">
                          <a:solidFill>
                            <a:srgbClr val="282828"/>
                          </a:solidFill>
                          <a:latin typeface="Arial"/>
                        </a:rPr>
                        <a:t>35 / 51 / 42 nm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Why the sensors age:</a:t>
            </a:r>
            <a:r>
              <a:rPr sz="1500" b="0">
                <a:solidFill>
                  <a:srgbClr val="282828"/>
                </a:solidFill>
                <a:latin typeface="Arial"/>
              </a:rPr>
              <a:t> their reference is made from the beam's own core, and the core changes with the surface.  Past 100 nm rms (2 rad of phase) the core collapses and the reading goes blind.</a:t>
            </a:r>
          </a:p>
          <a:p>
            <a:pPr>
              <a:spcAft>
                <a:spcPts val="600"/>
              </a:spcAft>
            </a:pPr>
            <a:r>
              <a:rPr sz="1500" b="0">
                <a:solidFill>
                  <a:srgbClr val="282828"/>
                </a:solidFill>
                <a:latin typeface="Arial"/>
              </a:rPr>
              <a:t>•  </a:t>
            </a:r>
            <a:r>
              <a:rPr sz="1500" b="1">
                <a:solidFill>
                  <a:srgbClr val="282828"/>
                </a:solidFill>
                <a:latin typeface="Arial"/>
              </a:rPr>
              <a:t>The shutter frame fixes the pinhole's version of this:</a:t>
            </a:r>
            <a:r>
              <a:rPr sz="1500" b="0">
                <a:solidFill>
                  <a:srgbClr val="282828"/>
                </a:solidFill>
                <a:latin typeface="Arial"/>
              </a:rPr>
              <a:t> measuring the reference by itself each state removes the surface dependence, for one more frame.</a:t>
            </a:r>
          </a:p>
          <a:p>
            <a:pPr>
              <a:spcAft>
                <a:spcPts val="600"/>
              </a:spcAft>
            </a:pPr>
            <a:r>
              <a:rPr sz="1500" b="0">
                <a:solidFill>
                  <a:srgbClr val="282828"/>
                </a:solidFill>
                <a:latin typeface="Arial"/>
              </a:rPr>
              <a:t>•  </a:t>
            </a:r>
            <a:r>
              <a:rPr sz="1500" b="1">
                <a:solidFill>
                  <a:srgbClr val="282828"/>
                </a:solidFill>
                <a:latin typeface="Arial"/>
              </a:rPr>
              <a:t>Re-measuring the matrix on the surface restores every reading's gain</a:t>
            </a:r>
            <a:r>
              <a:rPr sz="1500" b="0">
                <a:solidFill>
                  <a:srgbClr val="282828"/>
                </a:solidFill>
                <a:latin typeface="Arial"/>
              </a:rPr>
              <a:t> to within 5% at 60-160 nm — at a photon price (next slide).</a:t>
            </a:r>
          </a:p>
        </p:txBody>
      </p:sp>
      <p:sp>
        <p:nvSpPr>
          <p:cNvPr id="6" name="TextBox 5"/>
          <p:cNvSpPr txBox="1"/>
          <p:nvPr/>
        </p:nvSpPr>
        <p:spPr>
          <a:xfrm>
            <a:off x="6355080" y="4343400"/>
            <a:ext cx="5394960" cy="274320"/>
          </a:xfrm>
          <a:prstGeom prst="rect">
            <a:avLst/>
          </a:prstGeom>
          <a:noFill/>
        </p:spPr>
        <p:txBody>
          <a:bodyPr wrap="square">
            <a:spAutoFit/>
          </a:bodyPr>
          <a:lstStyle/>
          <a:p>
            <a:pPr>
              <a:spcAft>
                <a:spcPts val="600"/>
              </a:spcAft>
            </a:pPr>
            <a:r>
              <a:rPr sz="1050" b="0">
                <a:solidFill>
                  <a:srgbClr val="6E6E6E"/>
                </a:solidFill>
                <a:latin typeface="Arial"/>
              </a:rPr>
              <a:t>Run tags cap385, cap385p, pdi193state, lens_deck, oap_deck, oapsens385 (the mirror rig at 385 px, the Mac); 385 pixels per pupil, 47 sites (52 for the interferometer).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Photons for 1 pm</a:t>
            </a:r>
          </a:p>
          <a:p>
            <a:pPr>
              <a:spcAft>
                <a:spcPts val="0"/>
              </a:spcAft>
            </a:pPr>
            <a:r>
              <a:rPr sz="1250" b="0">
                <a:solidFill>
                  <a:srgbClr val="6E6E6E"/>
                </a:solidFill>
                <a:latin typeface="Arial"/>
              </a:rPr>
              <a:t>On the 30 nm working surface the vector Zernike needs 4.6e13 photons per measurement, the stepped Zernike 1.2e14, the pinhole 1.5e14, the interferometer 7e14 (mirror rig) to 1e15 (lens rig); a matrix measured on the flat costs the sensors less, the vector pair's cost barely moves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2811780"/>
        </p:xfrm>
        <a:graphic>
          <a:graphicData uri="http://schemas.openxmlformats.org/drawingml/2006/table">
            <a:tbl>
              <a:tblPr firstRow="1" bandRow="1">
                <a:tableStyleId>{5C22544A-7EE6-4342-B048-85BDC9FD1C3A}</a:tableStyleId>
              </a:tblPr>
              <a:tblGrid>
                <a:gridCol w="1741931"/>
                <a:gridCol w="2322576"/>
                <a:gridCol w="1741931"/>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photons for 1 pm, matrix on the flat</a:t>
                      </a:r>
                    </a:p>
                  </a:txBody>
                  <a:tcPr marL="54864" marR="54864" marT="18288" marB="18288">
                    <a:solidFill>
                      <a:srgbClr val="1F4E79"/>
                    </a:solidFill>
                  </a:tcPr>
                </a:tc>
                <a:tc>
                  <a:txBody>
                    <a:bodyPr wrap="square"/>
                    <a:lstStyle/>
                    <a:p>
                      <a:r>
                        <a:rPr sz="1100" b="1">
                          <a:solidFill>
                            <a:srgbClr val="FFFFFF"/>
                          </a:solidFill>
                          <a:latin typeface="Arial"/>
                        </a:rPr>
                        <a:t>matrix on the 30 nm surface</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4.3e13</a:t>
                      </a:r>
                    </a:p>
                  </a:txBody>
                  <a:tcPr marL="54864" marR="54864" marT="18288" marB="18288">
                    <a:solidFill>
                      <a:srgbClr val="FFFFFF"/>
                    </a:solidFill>
                  </a:tcPr>
                </a:tc>
                <a:tc>
                  <a:txBody>
                    <a:bodyPr wrap="square"/>
                    <a:lstStyle/>
                    <a:p>
                      <a:r>
                        <a:rPr sz="1100" b="0">
                          <a:solidFill>
                            <a:srgbClr val="282828"/>
                          </a:solidFill>
                          <a:latin typeface="Arial"/>
                        </a:rPr>
                        <a:t>4.6e13</a:t>
                      </a:r>
                    </a:p>
                  </a:txBody>
                  <a:tcPr marL="54864" marR="54864" marT="18288" marB="18288">
                    <a:solidFill>
                      <a:srgbClr val="FFFFFF"/>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ECF1F6"/>
                    </a:solidFill>
                  </a:tcPr>
                </a:tc>
                <a:tc>
                  <a:txBody>
                    <a:bodyPr wrap="square"/>
                    <a:lstStyle/>
                    <a:p>
                      <a:r>
                        <a:rPr sz="1100" b="0">
                          <a:solidFill>
                            <a:srgbClr val="282828"/>
                          </a:solidFill>
                          <a:latin typeface="Arial"/>
                        </a:rPr>
                        <a:t>6.1e13</a:t>
                      </a:r>
                    </a:p>
                  </a:txBody>
                  <a:tcPr marL="54864" marR="54864" marT="18288" marB="18288">
                    <a:solidFill>
                      <a:srgbClr val="ECF1F6"/>
                    </a:solidFill>
                  </a:tcPr>
                </a:tc>
                <a:tc>
                  <a:txBody>
                    <a:bodyPr wrap="square"/>
                    <a:lstStyle/>
                    <a:p>
                      <a:r>
                        <a:rPr sz="1100" b="0">
                          <a:solidFill>
                            <a:srgbClr val="282828"/>
                          </a:solidFill>
                          <a:latin typeface="Arial"/>
                        </a:rPr>
                        <a:t>1.2e14</a:t>
                      </a:r>
                    </a:p>
                  </a:txBody>
                  <a:tcPr marL="54864" marR="54864" marT="18288" marB="18288">
                    <a:solidFill>
                      <a:srgbClr val="ECF1F6"/>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FFFFFF"/>
                    </a:solidFill>
                  </a:tcPr>
                </a:tc>
                <a:tc>
                  <a:txBody>
                    <a:bodyPr wrap="square"/>
                    <a:lstStyle/>
                    <a:p>
                      <a:r>
                        <a:rPr sz="1100" b="0">
                          <a:solidFill>
                            <a:srgbClr val="282828"/>
                          </a:solidFill>
                          <a:latin typeface="Arial"/>
                        </a:rPr>
                        <a:t>1.3e14</a:t>
                      </a:r>
                    </a:p>
                  </a:txBody>
                  <a:tcPr marL="54864" marR="54864" marT="18288" marB="18288">
                    <a:solidFill>
                      <a:srgbClr val="FFFFFF"/>
                    </a:solidFill>
                  </a:tcPr>
                </a:tc>
                <a:tc>
                  <a:txBody>
                    <a:bodyPr wrap="square"/>
                    <a:lstStyle/>
                    <a:p>
                      <a:r>
                        <a:rPr sz="1100" b="0">
                          <a:solidFill>
                            <a:srgbClr val="282828"/>
                          </a:solidFill>
                          <a:latin typeface="Arial"/>
                        </a:rPr>
                        <a:t>1.5e14</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9.9e14</a:t>
                      </a:r>
                    </a:p>
                  </a:txBody>
                  <a:tcPr marL="54864" marR="54864" marT="18288" marB="18288">
                    <a:solidFill>
                      <a:srgbClr val="FFFFFF"/>
                    </a:solidFill>
                  </a:tcPr>
                </a:tc>
              </a:tr>
            </a:tbl>
          </a:graphicData>
        </a:graphic>
      </p:graphicFrame>
      <p:pic>
        <p:nvPicPr>
          <p:cNvPr id="5" name="Picture 4" descr="zwfs_redo96_noise.png"/>
          <p:cNvPicPr>
            <a:picLocks noChangeAspect="1"/>
          </p:cNvPicPr>
          <p:nvPr/>
        </p:nvPicPr>
        <p:blipFill>
          <a:blip r:embed="rId2"/>
          <a:stretch>
            <a:fillRect/>
          </a:stretch>
        </p:blipFill>
        <p:spPr>
          <a:xfrm>
            <a:off x="6501384" y="1298448"/>
            <a:ext cx="4928616" cy="3895344"/>
          </a:xfrm>
          <a:prstGeom prst="rect">
            <a:avLst/>
          </a:prstGeom>
        </p:spPr>
      </p:pic>
      <p:sp>
        <p:nvSpPr>
          <p:cNvPr id="6" name="TextBox 5"/>
          <p:cNvSpPr txBox="1"/>
          <p:nvPr/>
        </p:nvSpPr>
        <p:spPr>
          <a:xfrm>
            <a:off x="6428232" y="5212080"/>
            <a:ext cx="4928616" cy="394208"/>
          </a:xfrm>
          <a:prstGeom prst="rect">
            <a:avLst/>
          </a:prstGeom>
          <a:noFill/>
        </p:spPr>
        <p:txBody>
          <a:bodyPr wrap="square">
            <a:spAutoFit/>
          </a:bodyPr>
          <a:lstStyle/>
          <a:p>
            <a:pPr algn="ctr">
              <a:spcAft>
                <a:spcPts val="0"/>
              </a:spcAft>
            </a:pPr>
            <a:r>
              <a:rPr sz="1000" b="0">
                <a:solidFill>
                  <a:srgbClr val="6E6E6E"/>
                </a:solidFill>
                <a:latin typeface="Arial"/>
              </a:rPr>
              <a:t>Noise on a single-actuator estimate against photons per measurement, per reading, with the 1 pm line: the runner's own figure.</a:t>
            </a:r>
          </a:p>
        </p:txBody>
      </p:sp>
      <p:sp>
        <p:nvSpPr>
          <p:cNvPr id="7" name="TextBox 6"/>
          <p:cNvSpPr txBox="1"/>
          <p:nvPr/>
        </p:nvSpPr>
        <p:spPr>
          <a:xfrm>
            <a:off x="6428232" y="5641848"/>
            <a:ext cx="5394960" cy="274320"/>
          </a:xfrm>
          <a:prstGeom prst="rect">
            <a:avLst/>
          </a:prstGeom>
          <a:noFill/>
        </p:spPr>
        <p:txBody>
          <a:bodyPr wrap="square">
            <a:spAutoFit/>
          </a:bodyPr>
          <a:lstStyle/>
          <a:p>
            <a:pPr>
              <a:spcAft>
                <a:spcPts val="600"/>
              </a:spcAft>
            </a:pPr>
            <a:r>
              <a:rPr sz="1050" b="0">
                <a:solidFill>
                  <a:srgbClr val="6E6E6E"/>
                </a:solidFill>
                <a:latin typeface="Arial"/>
              </a:rPr>
              <a:t>One measurement at 1e14 photons is 31 µJ: 0.13 s of a 1 mW laser at 25% throughput.  The camera's well depth, not the laser, sets the time (future-work slide).  The interferometer's single-shot cost on larger surfaces: 5.3-4.4e14 at 60-160 nm on the mirror rig, 8.6-6.6e14 on the lens rig.  Run tags redo96_sensnoisef (flat matrix), redo96_sensnoise (on the surface), redo96_oapph, redo96_lensph; 6 noise realizations per point.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servo: holding 3 pm</a:t>
            </a:r>
          </a:p>
          <a:p>
            <a:pPr>
              <a:spcAft>
                <a:spcPts val="0"/>
              </a:spcAft>
            </a:pPr>
            <a:r>
              <a:rPr sz="1250" b="0">
                <a:solidFill>
                  <a:srgbClr val="6E6E6E"/>
                </a:solidFill>
                <a:latin typeface="Arial"/>
              </a:rPr>
              <a:t>In closed loop at gain 0.5 the vector Zernike holds 3 pm from 2.2e12 photons per cycle, the pinhole from 3.1e12, the stepped Zernike from 3.5e12, and the interferometer from 2.0e13 on the mirror rig and 2.3e13 on the lens rig; the sensors carry no fixed error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2811780"/>
        </p:xfrm>
        <a:graphic>
          <a:graphicData uri="http://schemas.openxmlformats.org/drawingml/2006/table">
            <a:tbl>
              <a:tblPr firstRow="1" bandRow="1">
                <a:tableStyleId>{5C22544A-7EE6-4342-B048-85BDC9FD1C3A}</a:tableStyleId>
              </a:tblPr>
              <a:tblGrid>
                <a:gridCol w="1096320"/>
                <a:gridCol w="649671"/>
                <a:gridCol w="1299343"/>
                <a:gridCol w="1339947"/>
                <a:gridCol w="1421156"/>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3 pm, noise only</a:t>
                      </a:r>
                    </a:p>
                  </a:txBody>
                  <a:tcPr marL="54864" marR="54864" marT="18288" marB="18288">
                    <a:solidFill>
                      <a:srgbClr val="1F4E79"/>
                    </a:solidFill>
                  </a:tcPr>
                </a:tc>
                <a:tc>
                  <a:txBody>
                    <a:bodyPr wrap="square"/>
                    <a:lstStyle/>
                    <a:p>
                      <a:r>
                        <a:rPr sz="1100" b="1">
                          <a:solidFill>
                            <a:srgbClr val="FFFFFF"/>
                          </a:solidFill>
                          <a:latin typeface="Arial"/>
                        </a:rPr>
                        <a:t>3 pm under a 2 pm per-cycle walk</a:t>
                      </a:r>
                    </a:p>
                  </a:txBody>
                  <a:tcPr marL="54864" marR="54864" marT="18288" marB="18288">
                    <a:solidFill>
                      <a:srgbClr val="1F4E79"/>
                    </a:solidFill>
                  </a:tcPr>
                </a:tc>
                <a:tc>
                  <a:txBody>
                    <a:bodyPr wrap="square"/>
                    <a:lstStyle/>
                    <a:p>
                      <a:r>
                        <a:rPr sz="1100" b="1">
                          <a:solidFill>
                            <a:srgbClr val="FFFFFF"/>
                          </a:solidFill>
                          <a:latin typeface="Arial"/>
                        </a:rPr>
                        <a:t>floor under a 5 pm per-cycle ramp</a:t>
                      </a:r>
                    </a:p>
                  </a:txBody>
                  <a:tcPr marL="54864" marR="54864" marT="18288" marB="18288">
                    <a:solidFill>
                      <a:srgbClr val="1F4E79"/>
                    </a:solidFill>
                  </a:tcPr>
                </a:tc>
                <a:tc>
                  <a:txBody>
                    <a:bodyPr wrap="square"/>
                    <a:lstStyle/>
                    <a:p>
                      <a:r>
                        <a:rPr sz="1100" b="1">
                          <a:solidFill>
                            <a:srgbClr val="FFFFFF"/>
                          </a:solidFill>
                          <a:latin typeface="Arial"/>
                        </a:rPr>
                        <a:t>noiseless 1 nm step after 60 cycles</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2.2e12</a:t>
                      </a:r>
                    </a:p>
                  </a:txBody>
                  <a:tcPr marL="54864" marR="54864" marT="18288" marB="18288">
                    <a:solidFill>
                      <a:srgbClr val="FFFFFF"/>
                    </a:solidFill>
                  </a:tcPr>
                </a:tc>
                <a:tc>
                  <a:txBody>
                    <a:bodyPr wrap="square"/>
                    <a:lstStyle/>
                    <a:p>
                      <a:r>
                        <a:rPr sz="1100" b="0">
                          <a:solidFill>
                            <a:srgbClr val="282828"/>
                          </a:solidFill>
                          <a:latin typeface="Arial"/>
                        </a:rPr>
                        <a:t>6.8e12</a:t>
                      </a:r>
                    </a:p>
                  </a:txBody>
                  <a:tcPr marL="54864" marR="54864" marT="18288" marB="18288">
                    <a:solidFill>
                      <a:srgbClr val="FFFFFF"/>
                    </a:solidFill>
                  </a:tcPr>
                </a:tc>
                <a:tc>
                  <a:txBody>
                    <a:bodyPr wrap="square"/>
                    <a:lstStyle/>
                    <a:p>
                      <a:r>
                        <a:rPr sz="1100" b="0">
                          <a:solidFill>
                            <a:srgbClr val="282828"/>
                          </a:solidFill>
                          <a:latin typeface="Arial"/>
                        </a:rPr>
                        <a:t>9.8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ECF1F6"/>
                    </a:solidFill>
                  </a:tcPr>
                </a:tc>
                <a:tc>
                  <a:txBody>
                    <a:bodyPr wrap="square"/>
                    <a:lstStyle/>
                    <a:p>
                      <a:r>
                        <a:rPr sz="1100" b="0">
                          <a:solidFill>
                            <a:srgbClr val="282828"/>
                          </a:solidFill>
                          <a:latin typeface="Arial"/>
                        </a:rPr>
                        <a:t>3.1e12</a:t>
                      </a:r>
                    </a:p>
                  </a:txBody>
                  <a:tcPr marL="54864" marR="54864" marT="18288" marB="18288">
                    <a:solidFill>
                      <a:srgbClr val="ECF1F6"/>
                    </a:solidFill>
                  </a:tcPr>
                </a:tc>
                <a:tc>
                  <a:txBody>
                    <a:bodyPr wrap="square"/>
                    <a:lstStyle/>
                    <a:p>
                      <a:r>
                        <a:rPr sz="1100" b="0">
                          <a:solidFill>
                            <a:srgbClr val="282828"/>
                          </a:solidFill>
                          <a:latin typeface="Arial"/>
                        </a:rPr>
                        <a:t>8.4e12</a:t>
                      </a:r>
                    </a:p>
                  </a:txBody>
                  <a:tcPr marL="54864" marR="54864" marT="18288" marB="18288">
                    <a:solidFill>
                      <a:srgbClr val="ECF1F6"/>
                    </a:solidFill>
                  </a:tcPr>
                </a:tc>
                <a:tc>
                  <a:txBody>
                    <a:bodyPr wrap="square"/>
                    <a:lstStyle/>
                    <a:p>
                      <a:r>
                        <a:rPr sz="1100" b="0">
                          <a:solidFill>
                            <a:srgbClr val="282828"/>
                          </a:solidFill>
                          <a:latin typeface="Arial"/>
                        </a:rPr>
                        <a:t>9.9 pm</a:t>
                      </a:r>
                    </a:p>
                  </a:txBody>
                  <a:tcPr marL="54864" marR="54864" marT="18288" marB="18288">
                    <a:solidFill>
                      <a:srgbClr val="ECF1F6"/>
                    </a:solidFill>
                  </a:tcPr>
                </a:tc>
                <a:tc>
                  <a:txBody>
                    <a:bodyPr wrap="square"/>
                    <a:lstStyle/>
                    <a:p>
                      <a:r>
                        <a:rPr sz="1100" b="0">
                          <a:solidFill>
                            <a:srgbClr val="282828"/>
                          </a:solidFill>
                          <a:latin typeface="Arial"/>
                        </a:rPr>
                        <a:t>0.000 pm</a:t>
                      </a:r>
                    </a:p>
                  </a:txBody>
                  <a:tcPr marL="54864" marR="54864" marT="18288" marB="18288">
                    <a:solidFill>
                      <a:srgbClr val="ECF1F6"/>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FFFFFF"/>
                    </a:solidFill>
                  </a:tcPr>
                </a:tc>
                <a:tc>
                  <a:txBody>
                    <a:bodyPr wrap="square"/>
                    <a:lstStyle/>
                    <a:p>
                      <a:r>
                        <a:rPr sz="1100" b="0">
                          <a:solidFill>
                            <a:srgbClr val="282828"/>
                          </a:solidFill>
                          <a:latin typeface="Arial"/>
                        </a:rPr>
                        <a:t>3.5e12</a:t>
                      </a:r>
                    </a:p>
                  </a:txBody>
                  <a:tcPr marL="54864" marR="54864" marT="18288" marB="18288">
                    <a:solidFill>
                      <a:srgbClr val="FFFFFF"/>
                    </a:solidFill>
                  </a:tcPr>
                </a:tc>
                <a:tc>
                  <a:txBody>
                    <a:bodyPr wrap="square"/>
                    <a:lstStyle/>
                    <a:p>
                      <a:r>
                        <a:rPr sz="1100" b="0">
                          <a:solidFill>
                            <a:srgbClr val="282828"/>
                          </a:solidFill>
                          <a:latin typeface="Arial"/>
                        </a:rPr>
                        <a:t>9.1e12</a:t>
                      </a:r>
                    </a:p>
                  </a:txBody>
                  <a:tcPr marL="54864" marR="54864" marT="18288" marB="18288">
                    <a:solidFill>
                      <a:srgbClr val="FFFFFF"/>
                    </a:solidFill>
                  </a:tcPr>
                </a:tc>
                <a:tc>
                  <a:txBody>
                    <a:bodyPr wrap="square"/>
                    <a:lstStyle/>
                    <a:p>
                      <a:r>
                        <a:rPr sz="1100" b="0">
                          <a:solidFill>
                            <a:srgbClr val="282828"/>
                          </a:solidFill>
                          <a:latin typeface="Arial"/>
                        </a:rPr>
                        <a:t>10.5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c>
                  <a:txBody>
                    <a:bodyPr wrap="square"/>
                    <a:lstStyle/>
                    <a:p>
                      <a:r>
                        <a:rPr sz="1100" b="0">
                          <a:solidFill>
                            <a:srgbClr val="282828"/>
                          </a:solidFill>
                          <a:latin typeface="Arial"/>
                        </a:rPr>
                        <a:t>6.6e13</a:t>
                      </a:r>
                    </a:p>
                  </a:txBody>
                  <a:tcPr marL="54864" marR="54864" marT="18288" marB="18288">
                    <a:solidFill>
                      <a:srgbClr val="ECF1F6"/>
                    </a:solidFill>
                  </a:tcPr>
                </a:tc>
                <a:tc>
                  <a:txBody>
                    <a:bodyPr wrap="square"/>
                    <a:lstStyle/>
                    <a:p>
                      <a:r>
                        <a:rPr sz="1100" b="0">
                          <a:solidFill>
                            <a:srgbClr val="282828"/>
                          </a:solidFill>
                          <a:latin typeface="Arial"/>
                        </a:rPr>
                        <a:t>11.5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2.3e13</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10.2 pm</a:t>
                      </a:r>
                    </a:p>
                  </a:txBody>
                  <a:tcPr marL="54864" marR="54864" marT="18288" marB="18288">
                    <a:solidFill>
                      <a:srgbClr val="FFFFFF"/>
                    </a:solidFill>
                  </a:tcPr>
                </a:tc>
                <a:tc>
                  <a:txBody>
                    <a:bodyPr wrap="square"/>
                    <a:lstStyle/>
                    <a:p>
                      <a:r>
                        <a:rPr sz="1100" b="0">
                          <a:solidFill>
                            <a:srgbClr val="282828"/>
                          </a:solidFill>
                          <a:latin typeface="Arial"/>
                        </a:rPr>
                        <a:t>0.015 pm</a:t>
                      </a:r>
                    </a:p>
                  </a:txBody>
                  <a:tcPr marL="54864" marR="54864" marT="18288" marB="18288">
                    <a:solidFill>
                      <a:srgbClr val="FFFFFF"/>
                    </a:solidFill>
                  </a:tcPr>
                </a:tc>
              </a:tr>
            </a:tbl>
          </a:graphicData>
        </a:graphic>
      </p:graphicFrame>
      <p:pic>
        <p:nvPicPr>
          <p:cNvPr id="5" name="Picture 4" descr="crop_zwfs_redo96_loop_right.png"/>
          <p:cNvPicPr>
            <a:picLocks noChangeAspect="1"/>
          </p:cNvPicPr>
          <p:nvPr/>
        </p:nvPicPr>
        <p:blipFill>
          <a:blip r:embed="rId2"/>
          <a:stretch>
            <a:fillRect/>
          </a:stretch>
        </p:blipFill>
        <p:spPr>
          <a:xfrm>
            <a:off x="7086600" y="1271016"/>
            <a:ext cx="4005072" cy="3374136"/>
          </a:xfrm>
          <a:prstGeom prst="rect">
            <a:avLst/>
          </a:prstGeom>
        </p:spPr>
      </p:pic>
      <p:sp>
        <p:nvSpPr>
          <p:cNvPr id="6" name="TextBox 5"/>
          <p:cNvSpPr txBox="1"/>
          <p:nvPr/>
        </p:nvSpPr>
        <p:spPr>
          <a:xfrm>
            <a:off x="6400800" y="4700016"/>
            <a:ext cx="4005072" cy="724408"/>
          </a:xfrm>
          <a:prstGeom prst="rect">
            <a:avLst/>
          </a:prstGeom>
          <a:noFill/>
        </p:spPr>
        <p:txBody>
          <a:bodyPr wrap="square">
            <a:spAutoFit/>
          </a:bodyPr>
          <a:lstStyle/>
          <a:p>
            <a:pPr algn="ctr">
              <a:spcAft>
                <a:spcPts val="0"/>
              </a:spcAft>
            </a:pPr>
            <a:r>
              <a:rPr sz="1000" b="0">
                <a:solidFill>
                  <a:srgbClr val="6E6E6E"/>
                </a:solidFill>
                <a:latin typeface="Arial"/>
              </a:rPr>
              <a:t>Steady-state hold error against photons per cycle for the stepped Zernike (green), the vector pair (purple) and the pinhole (red), with no drift, a 2 pm walk, and a 5 pm ramp: the runner's own figure.</a:t>
            </a:r>
          </a:p>
        </p:txBody>
      </p:sp>
      <p:sp>
        <p:nvSpPr>
          <p:cNvPr id="7" name="TextBox 6"/>
          <p:cNvSpPr txBox="1"/>
          <p:nvPr/>
        </p:nvSpPr>
        <p:spPr>
          <a:xfrm>
            <a:off x="6400800" y="5193792"/>
            <a:ext cx="5394960" cy="274320"/>
          </a:xfrm>
          <a:prstGeom prst="rect">
            <a:avLst/>
          </a:prstGeom>
          <a:noFill/>
        </p:spPr>
        <p:txBody>
          <a:bodyPr wrap="square">
            <a:spAutoFit/>
          </a:bodyPr>
          <a:lstStyle/>
          <a:p>
            <a:pPr>
              <a:spcAft>
                <a:spcPts val="600"/>
              </a:spcAft>
            </a:pPr>
            <a:r>
              <a:rPr sz="1050" b="0">
                <a:solidFill>
                  <a:srgbClr val="6E6E6E"/>
                </a:solidFill>
                <a:latin typeface="Arial"/>
              </a:rPr>
              <a:t>7.5e12 photons per cycle is 2.4 µJ, 9 ms of a 1 mW laser.  The ramp floor of 10 pm is the loop's lag (rate ÷ gain), the same for every reading with no fixed error, and it is low-order: 9.1-9.7 of its 10 pm sits below 4 cycles per aperture, so a faster or higher-gain low-order loop removes it while light buys nothing.  Both drift floors are the textbook formulas, reproduced by the engine to 1%.  The step response contracts by 0.49-0.51 per cycle for the vector pair and the pinhole, 0.66 for the stepped Zernike.  Run tags redo96_sensloop2 (the sensors, mirror rig), redo96_lensloop, redo96_oaploop (the interferometer).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Capturing the initial figure</a:t>
            </a:r>
          </a:p>
          <a:p>
            <a:pPr>
              <a:spcAft>
                <a:spcPts val="0"/>
              </a:spcAft>
            </a:pPr>
            <a:r>
              <a:rPr sz="1250" b="0">
                <a:solidFill>
                  <a:srgbClr val="6E6E6E"/>
                </a:solidFill>
                <a:latin typeface="Arial"/>
              </a:rPr>
              <a:t>From a 100 nm rms surface (200 nm of wavefront) only the externally referenced readings converge: the interferometer with unwrapping alone (the mirror rig to 3 pm in 19-24 cycles, the lens rig to 3.1 pm at cycle 60); the pinhole and the P/SRI with unwrapping and a matrix re-measured every 10 cycles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4126230"/>
        </p:xfrm>
        <a:graphic>
          <a:graphicData uri="http://schemas.openxmlformats.org/drawingml/2006/table">
            <a:tbl>
              <a:tblPr firstRow="1" bandRow="1">
                <a:tableStyleId>{5C22544A-7EE6-4342-B048-85BDC9FD1C3A}</a:tableStyleId>
              </a:tblPr>
              <a:tblGrid>
                <a:gridCol w="1090712"/>
                <a:gridCol w="930313"/>
                <a:gridCol w="3785413"/>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largest start brought to 3 pm</a:t>
                      </a:r>
                    </a:p>
                  </a:txBody>
                  <a:tcPr marL="54864" marR="54864" marT="18288" marB="18288">
                    <a:solidFill>
                      <a:srgbClr val="1F4E79"/>
                    </a:solidFill>
                  </a:tcPr>
                </a:tc>
                <a:tc>
                  <a:txBody>
                    <a:bodyPr wrap="square"/>
                    <a:lstStyle/>
                    <a:p>
                      <a:r>
                        <a:rPr sz="1100" b="1">
                          <a:solidFill>
                            <a:srgbClr val="FFFFFF"/>
                          </a:solidFill>
                          <a:latin typeface="Arial"/>
                        </a:rPr>
                        <a:t>what it takes</a:t>
                      </a:r>
                    </a:p>
                  </a:txBody>
                  <a:tcPr marL="54864" marR="54864" marT="18288" marB="18288">
                    <a:solidFill>
                      <a:srgbClr val="1F4E79"/>
                    </a:solidFill>
                  </a:tcPr>
                </a:tc>
              </a:tr>
              <a:tr h="468630">
                <a:tc>
                  <a:txBody>
                    <a:bodyPr wrap="square"/>
                    <a:lstStyle/>
                    <a:p>
                      <a:r>
                        <a:rPr sz="1100" b="0">
                          <a:solidFill>
                            <a:srgbClr val="282828"/>
                          </a:solidFill>
                          <a:latin typeface="Arial"/>
                        </a:rPr>
                        <a:t>Zernike stepped, linear</a:t>
                      </a:r>
                    </a:p>
                  </a:txBody>
                  <a:tcPr marL="54864" marR="54864" marT="18288" marB="18288">
                    <a:solidFill>
                      <a:srgbClr val="FFFFFF"/>
                    </a:solidFill>
                  </a:tcPr>
                </a:tc>
                <a:tc>
                  <a:txBody>
                    <a:bodyPr wrap="square"/>
                    <a:lstStyle/>
                    <a:p>
                      <a:r>
                        <a:rPr sz="1100" b="0">
                          <a:solidFill>
                            <a:srgbClr val="282828"/>
                          </a:solidFill>
                          <a:latin typeface="Arial"/>
                        </a:rPr>
                        <a:t>30 nm</a:t>
                      </a:r>
                    </a:p>
                  </a:txBody>
                  <a:tcPr marL="54864" marR="54864" marT="18288" marB="18288">
                    <a:solidFill>
                      <a:srgbClr val="FFFFFF"/>
                    </a:solidFill>
                  </a:tcPr>
                </a:tc>
                <a:tc>
                  <a:txBody>
                    <a:bodyPr wrap="square"/>
                    <a:lstStyle/>
                    <a:p>
                      <a:r>
                        <a:rPr sz="1100" b="0">
                          <a:solidFill>
                            <a:srgbClr val="282828"/>
                          </a:solidFill>
                          <a:latin typeface="Arial"/>
                        </a:rPr>
                        <a:t>reading alone; unwrapping changes nothing</a:t>
                      </a:r>
                    </a:p>
                  </a:txBody>
                  <a:tcPr marL="54864" marR="54864" marT="18288" marB="18288">
                    <a:solidFill>
                      <a:srgbClr val="FFFFFF"/>
                    </a:solidFill>
                  </a:tcPr>
                </a:tc>
              </a:tr>
              <a:tr h="280035">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60 nm</a:t>
                      </a:r>
                    </a:p>
                  </a:txBody>
                  <a:tcPr marL="54864" marR="54864" marT="18288" marB="18288">
                    <a:solidFill>
                      <a:srgbClr val="ECF1F6"/>
                    </a:solidFill>
                  </a:tcPr>
                </a:tc>
                <a:tc>
                  <a:txBody>
                    <a:bodyPr wrap="square"/>
                    <a:lstStyle/>
                    <a:p>
                      <a:r>
                        <a:rPr sz="1100" b="0">
                          <a:solidFill>
                            <a:srgbClr val="282828"/>
                          </a:solidFill>
                          <a:latin typeface="Arial"/>
                        </a:rPr>
                        <a:t>reading alone</a:t>
                      </a:r>
                    </a:p>
                  </a:txBody>
                  <a:tcPr marL="54864" marR="54864" marT="18288" marB="18288">
                    <a:solidFill>
                      <a:srgbClr val="ECF1F6"/>
                    </a:solidFill>
                  </a:tcPr>
                </a:tc>
              </a:tr>
              <a:tr h="468630">
                <a:tc>
                  <a:txBody>
                    <a:bodyPr wrap="square"/>
                    <a:lstStyle/>
                    <a:p>
                      <a:r>
                        <a:rPr sz="1100" b="0">
                          <a:solidFill>
                            <a:srgbClr val="282828"/>
                          </a:solidFill>
                          <a:latin typeface="Arial"/>
                        </a:rPr>
                        <a:t>stepped pinhole, no shutter</a:t>
                      </a:r>
                    </a:p>
                  </a:txBody>
                  <a:tcPr marL="54864" marR="54864" marT="18288" marB="18288">
                    <a:solidFill>
                      <a:srgbClr val="FFFFFF"/>
                    </a:solidFill>
                  </a:tcPr>
                </a:tc>
                <a:tc>
                  <a:txBody>
                    <a:bodyPr wrap="square"/>
                    <a:lstStyle/>
                    <a:p>
                      <a:r>
                        <a:rPr sz="1100" b="0">
                          <a:solidFill>
                            <a:srgbClr val="282828"/>
                          </a:solidFill>
                          <a:latin typeface="Arial"/>
                        </a:rPr>
                        <a:t>60 nm</a:t>
                      </a:r>
                    </a:p>
                  </a:txBody>
                  <a:tcPr marL="54864" marR="54864" marT="18288" marB="18288">
                    <a:solidFill>
                      <a:srgbClr val="FFFFFF"/>
                    </a:solidFill>
                  </a:tcPr>
                </a:tc>
                <a:tc>
                  <a:txBody>
                    <a:bodyPr wrap="square"/>
                    <a:lstStyle/>
                    <a:p>
                      <a:r>
                        <a:rPr sz="1100" b="0">
                          <a:solidFill>
                            <a:srgbClr val="282828"/>
                          </a:solidFill>
                          <a:latin typeface="Arial"/>
                        </a:rPr>
                        <a:t>reading alone</a:t>
                      </a:r>
                    </a:p>
                  </a:txBody>
                  <a:tcPr marL="54864" marR="54864" marT="18288" marB="18288">
                    <a:solidFill>
                      <a:srgbClr val="FFFFFF"/>
                    </a:solidFill>
                  </a:tcPr>
                </a:tc>
              </a:tr>
              <a:tr h="657225">
                <a:tc>
                  <a:txBody>
                    <a:bodyPr wrap="square"/>
                    <a:lstStyle/>
                    <a:p>
                      <a:r>
                        <a:rPr sz="1100" b="0">
                          <a:solidFill>
                            <a:srgbClr val="282828"/>
                          </a:solidFill>
                          <a:latin typeface="Arial"/>
                        </a:rPr>
                        <a:t>stepped pinhole with shutter frame</a:t>
                      </a:r>
                    </a:p>
                  </a:txBody>
                  <a:tcPr marL="54864" marR="54864" marT="18288" marB="18288">
                    <a:solidFill>
                      <a:srgbClr val="ECF1F6"/>
                    </a:solidFill>
                  </a:tcPr>
                </a:tc>
                <a:tc>
                  <a:txBody>
                    <a:bodyPr wrap="square"/>
                    <a:lstStyle/>
                    <a:p>
                      <a:r>
                        <a:rPr sz="1100" b="0">
                          <a:solidFill>
                            <a:srgbClr val="282828"/>
                          </a:solidFill>
                          <a:latin typeface="Arial"/>
                        </a:rPr>
                        <a:t>100 nm (200 nm WFE)</a:t>
                      </a:r>
                    </a:p>
                  </a:txBody>
                  <a:tcPr marL="54864" marR="54864" marT="18288" marB="18288">
                    <a:solidFill>
                      <a:srgbClr val="ECF1F6"/>
                    </a:solidFill>
                  </a:tcPr>
                </a:tc>
                <a:tc>
                  <a:txBody>
                    <a:bodyPr wrap="square"/>
                    <a:lstStyle/>
                    <a:p>
                      <a:r>
                        <a:rPr sz="1100" b="0">
                          <a:solidFill>
                            <a:srgbClr val="282828"/>
                          </a:solidFill>
                          <a:latin typeface="Arial"/>
                        </a:rPr>
                        <a:t>unwrap + re-measure every 10: 0.21 pm at 1e15, 2.1 pm at 1e13, 3 pm by cycle 26</a:t>
                      </a:r>
                    </a:p>
                  </a:txBody>
                  <a:tcPr marL="54864" marR="54864" marT="18288" marB="18288">
                    <a:solidFill>
                      <a:srgbClr val="ECF1F6"/>
                    </a:solidFill>
                  </a:tcPr>
                </a:tc>
              </a:tr>
              <a:tr h="468630">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100 nm</a:t>
                      </a:r>
                    </a:p>
                  </a:txBody>
                  <a:tcPr marL="54864" marR="54864" marT="18288" marB="18288">
                    <a:solidFill>
                      <a:srgbClr val="FFFFFF"/>
                    </a:solidFill>
                  </a:tcPr>
                </a:tc>
                <a:tc>
                  <a:txBody>
                    <a:bodyPr wrap="square"/>
                    <a:lstStyle/>
                    <a:p>
                      <a:r>
                        <a:rPr sz="1100" b="0">
                          <a:solidFill>
                            <a:srgbClr val="282828"/>
                          </a:solidFill>
                          <a:latin typeface="Arial"/>
                        </a:rPr>
                        <a:t>unwrap + re-measure: 0.25 pm; ceiling between 100 and 150</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200 nm (400 nm WFE)</a:t>
                      </a:r>
                    </a:p>
                  </a:txBody>
                  <a:tcPr marL="54864" marR="54864" marT="18288" marB="18288">
                    <a:solidFill>
                      <a:srgbClr val="ECF1F6"/>
                    </a:solidFill>
                  </a:tcPr>
                </a:tc>
                <a:tc>
                  <a:txBody>
                    <a:bodyPr wrap="square"/>
                    <a:lstStyle/>
                    <a:p>
                      <a:r>
                        <a:rPr sz="1100" b="0">
                          <a:solidFill>
                            <a:srgbClr val="282828"/>
                          </a:solidFill>
                          <a:latin typeface="Arial"/>
                        </a:rPr>
                        <a:t>unwrap alone: 3 pm in 19 / 24 cycles from 100 / 200 nm, contraction 0.52</a:t>
                      </a:r>
                    </a:p>
                  </a:txBody>
                  <a:tcPr marL="54864" marR="54864" marT="18288" marB="18288">
                    <a:solidFill>
                      <a:srgbClr val="ECF1F6"/>
                    </a:solidFill>
                  </a:tcPr>
                </a:tc>
              </a:tr>
              <a:tr h="657225">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200 nm (400 nm WFE)</a:t>
                      </a:r>
                    </a:p>
                  </a:txBody>
                  <a:tcPr marL="54864" marR="54864" marT="18288" marB="18288">
                    <a:solidFill>
                      <a:srgbClr val="FFFFFF"/>
                    </a:solidFill>
                  </a:tcPr>
                </a:tc>
                <a:tc>
                  <a:txBody>
                    <a:bodyPr wrap="square"/>
                    <a:lstStyle/>
                    <a:p>
                      <a:r>
                        <a:rPr sz="1100" b="0">
                          <a:solidFill>
                            <a:srgbClr val="282828"/>
                          </a:solidFill>
                          <a:latin typeface="Arial"/>
                        </a:rPr>
                        <a:t>unwrap alone: 3.1 pm at cycle 60 from 30, 100 and 200 nm alike, contraction 0.50-0.69; not under 3 pm within 60 cycles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wrap is not the limit for the self-referenced sensors:</a:t>
            </a:r>
            <a:r>
              <a:rPr sz="1500" b="0">
                <a:solidFill>
                  <a:srgbClr val="282828"/>
                </a:solidFill>
                <a:latin typeface="Arial"/>
              </a:rPr>
              <a:t> past 60 nm their differential comes back at 24-28 nm whatever the truth, with zero residues — the focal reference has collapsed, the reading is blind, not folded.</a:t>
            </a:r>
          </a:p>
          <a:p>
            <a:pPr>
              <a:spcAft>
                <a:spcPts val="600"/>
              </a:spcAft>
            </a:pPr>
            <a:r>
              <a:rPr sz="1500" b="0">
                <a:solidFill>
                  <a:srgbClr val="282828"/>
                </a:solidFill>
                <a:latin typeface="Arial"/>
              </a:rPr>
              <a:t>•  </a:t>
            </a:r>
            <a:r>
              <a:rPr sz="1500" b="1">
                <a:solidFill>
                  <a:srgbClr val="282828"/>
                </a:solidFill>
                <a:latin typeface="Arial"/>
              </a:rPr>
              <a:t>Unwrapping alone is not enough for the pinhole or the P/SRI:</a:t>
            </a:r>
            <a:r>
              <a:rPr sz="1500" b="0">
                <a:solidFill>
                  <a:srgbClr val="282828"/>
                </a:solidFill>
                <a:latin typeface="Arial"/>
              </a:rPr>
              <a:t> the calibration measured at the start is wrong by the time the surface has moved; re-measuring it every 10 cycles (3 times in the descent) closes the loop.  Cadence is not the constraint; the cycle count is.</a:t>
            </a:r>
          </a:p>
          <a:p>
            <a:pPr>
              <a:spcAft>
                <a:spcPts val="600"/>
              </a:spcAft>
            </a:pPr>
            <a:r>
              <a:rPr sz="1500" b="0">
                <a:solidFill>
                  <a:srgbClr val="282828"/>
                </a:solidFill>
                <a:latin typeface="Arial"/>
              </a:rPr>
              <a:t>•  </a:t>
            </a:r>
            <a:r>
              <a:rPr sz="1500" b="1">
                <a:solidFill>
                  <a:srgbClr val="282828"/>
                </a:solidFill>
                <a:latin typeface="Arial"/>
              </a:rPr>
              <a:t>The interferometer needs no recalibration</a:t>
            </a:r>
            <a:r>
              <a:rPr sz="1500" b="0">
                <a:solidFill>
                  <a:srgbClr val="282828"/>
                </a:solidFill>
                <a:latin typeface="Arial"/>
              </a:rPr>
              <a:t> because its reference is the flat, not the beam.</a:t>
            </a:r>
          </a:p>
        </p:txBody>
      </p:sp>
      <p:sp>
        <p:nvSpPr>
          <p:cNvPr id="6" name="TextBox 5"/>
          <p:cNvSpPr txBox="1"/>
          <p:nvPr/>
        </p:nvSpPr>
        <p:spPr>
          <a:xfrm>
            <a:off x="6419088" y="4553712"/>
            <a:ext cx="5394960" cy="274320"/>
          </a:xfrm>
          <a:prstGeom prst="rect">
            <a:avLst/>
          </a:prstGeom>
          <a:noFill/>
        </p:spPr>
        <p:txBody>
          <a:bodyPr wrap="square">
            <a:spAutoFit/>
          </a:bodyPr>
          <a:lstStyle/>
          <a:p>
            <a:pPr>
              <a:spcAft>
                <a:spcPts val="600"/>
              </a:spcAft>
            </a:pPr>
            <a:r>
              <a:rPr sz="1050" b="0">
                <a:solidFill>
                  <a:srgbClr val="6E6E6E"/>
                </a:solidFill>
                <a:latin typeface="Arial"/>
              </a:rPr>
              <a:t>1e13 and 1e15 photons per cycle give the same convergence: capture is reference-limited, not light-limited.  Run tags capt96_oap and capt96_lens (the interferometer on the two built rigs, the control set inside the DM aperture: mirror rig 2.98 pm at cycle 60 from 100 and 200 nm, the 30 nm control at 2.97 pm; lens rig 3.08 / 3.06 / 3.12 pm); the sensor rows are the campaign's capture runs cap_nouw, cap_uw, cap_state_uw_recal, descent193, not yet repeated on the built bench.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Lenses or off-axis mirrors: the two front ends</a:t>
            </a:r>
          </a:p>
          <a:p>
            <a:pPr>
              <a:spcAft>
                <a:spcPts val="0"/>
              </a:spcAft>
            </a:pPr>
            <a:r>
              <a:rPr sz="1250" b="0">
                <a:solidFill>
                  <a:srgbClr val="6E6E6E"/>
                </a:solidFill>
                <a:latin typeface="Arial"/>
              </a:rPr>
              <a:t>Both rigs hold 3 pm at the same photon cost within 15 % and the mirror rig reads 1 pm for 30 % fewer photons; it is achromatic, puts no glass in the beam, captures faster, and is where the sensors were scored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360420"/>
        </p:xfrm>
        <a:graphic>
          <a:graphicData uri="http://schemas.openxmlformats.org/drawingml/2006/table">
            <a:tbl>
              <a:tblPr firstRow="1" bandRow="1">
                <a:tableStyleId>{5C22544A-7EE6-4342-B048-85BDC9FD1C3A}</a:tableStyleId>
              </a:tblPr>
              <a:tblGrid>
                <a:gridCol w="4625899"/>
                <a:gridCol w="2979392"/>
                <a:gridCol w="3763443"/>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off-axis mirror rig (protected aluminum)</a:t>
                      </a:r>
                    </a:p>
                  </a:txBody>
                  <a:tcPr marL="54864" marR="54864" marT="18288" marB="18288">
                    <a:solidFill>
                      <a:srgbClr val="1F4E79"/>
                    </a:solidFill>
                  </a:tcPr>
                </a:tc>
              </a:tr>
              <a:tr h="280035">
                <a:tc>
                  <a:txBody>
                    <a:bodyPr wrap="square"/>
                    <a:lstStyle/>
                    <a:p>
                      <a:r>
                        <a:rPr sz="1100" b="0">
                          <a:solidFill>
                            <a:srgbClr val="282828"/>
                          </a:solidFill>
                          <a:latin typeface="Arial"/>
                        </a:rPr>
                        <a:t>interferometer, 10 nm on one actuator</a:t>
                      </a:r>
                    </a:p>
                  </a:txBody>
                  <a:tcPr marL="54864" marR="54864" marT="18288" marB="18288">
                    <a:solidFill>
                      <a:srgbClr val="FFFFFF"/>
                    </a:solidFill>
                  </a:tcPr>
                </a:tc>
                <a:tc>
                  <a:txBody>
                    <a:bodyPr wrap="square"/>
                    <a:lstStyle/>
                    <a:p>
                      <a:r>
                        <a:rPr sz="1100" b="0">
                          <a:solidFill>
                            <a:srgbClr val="282828"/>
                          </a:solidFill>
                          <a:latin typeface="Arial"/>
                        </a:rPr>
                        <a:t>1.004 / 1.4 pm / SNR 7741</a:t>
                      </a:r>
                    </a:p>
                  </a:txBody>
                  <a:tcPr marL="54864" marR="54864" marT="18288" marB="18288">
                    <a:solidFill>
                      <a:srgbClr val="FFFFFF"/>
                    </a:solidFill>
                  </a:tcPr>
                </a:tc>
                <a:tc>
                  <a:txBody>
                    <a:bodyPr wrap="square"/>
                    <a:lstStyle/>
                    <a:p>
                      <a:r>
                        <a:rPr sz="1100" b="0">
                          <a:solidFill>
                            <a:srgbClr val="282828"/>
                          </a:solidFill>
                          <a:latin typeface="Arial"/>
                        </a:rPr>
                        <a:t>0.986 / 2.3 pm / 6044</a:t>
                      </a:r>
                    </a:p>
                  </a:txBody>
                  <a:tcPr marL="54864" marR="54864" marT="18288" marB="18288">
                    <a:solidFill>
                      <a:srgbClr val="FFFFFF"/>
                    </a:solidFill>
                  </a:tcPr>
                </a:tc>
              </a:tr>
              <a:tr h="280035">
                <a:tc>
                  <a:txBody>
                    <a:bodyPr wrap="square"/>
                    <a:lstStyle/>
                    <a:p>
                      <a:r>
                        <a:rPr sz="1100" b="0">
                          <a:solidFill>
                            <a:srgbClr val="282828"/>
                          </a:solidFill>
                          <a:latin typeface="Arial"/>
                        </a:rPr>
                        <a:t>interferometer, 1 nm on 120 sites</a:t>
                      </a:r>
                    </a:p>
                  </a:txBody>
                  <a:tcPr marL="54864" marR="54864" marT="18288" marB="18288">
                    <a:solidFill>
                      <a:srgbClr val="ECF1F6"/>
                    </a:solidFill>
                  </a:tcPr>
                </a:tc>
                <a:tc>
                  <a:txBody>
                    <a:bodyPr wrap="square"/>
                    <a:lstStyle/>
                    <a:p>
                      <a:r>
                        <a:rPr sz="1100" b="0">
                          <a:solidFill>
                            <a:srgbClr val="282828"/>
                          </a:solidFill>
                          <a:latin typeface="Arial"/>
                        </a:rPr>
                        <a:t>0.993 / 10 pm</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r>
              <a:tr h="280035">
                <a:tc>
                  <a:txBody>
                    <a:bodyPr wrap="square"/>
                    <a:lstStyle/>
                    <a:p>
                      <a:r>
                        <a:rPr sz="1100" b="0">
                          <a:solidFill>
                            <a:srgbClr val="282828"/>
                          </a:solidFill>
                          <a:latin typeface="Arial"/>
                        </a:rPr>
                        <a:t>interferometer, dense random 10 nm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c>
                  <a:txBody>
                    <a:bodyPr wrap="square"/>
                    <a:lstStyle/>
                    <a:p>
                      <a:r>
                        <a:rPr sz="1100" b="0">
                          <a:solidFill>
                            <a:srgbClr val="282828"/>
                          </a:solidFill>
                          <a:latin typeface="Arial"/>
                        </a:rPr>
                        <a:t>0.977 / 698 pm</a:t>
                      </a:r>
                    </a:p>
                  </a:txBody>
                  <a:tcPr marL="54864" marR="54864" marT="18288" marB="18288">
                    <a:solidFill>
                      <a:srgbClr val="FFFFFF"/>
                    </a:solidFill>
                  </a:tcPr>
                </a:tc>
              </a:tr>
              <a:tr h="280035">
                <a:tc>
                  <a:txBody>
                    <a:bodyPr wrap="square"/>
                    <a:lstStyle/>
                    <a:p>
                      <a:r>
                        <a:rPr sz="1100" b="0">
                          <a:solidFill>
                            <a:srgbClr val="282828"/>
                          </a:solidFill>
                          <a:latin typeface="Arial"/>
                        </a:rPr>
                        <a:t>interferometer, photons for 1 pm on the 30 nm surface</a:t>
                      </a:r>
                    </a:p>
                  </a:txBody>
                  <a:tcPr marL="54864" marR="54864" marT="18288" marB="18288">
                    <a:solidFill>
                      <a:srgbClr val="ECF1F6"/>
                    </a:solidFill>
                  </a:tcPr>
                </a:tc>
                <a:tc>
                  <a:txBody>
                    <a:bodyPr wrap="square"/>
                    <a:lstStyle/>
                    <a:p>
                      <a:r>
                        <a:rPr sz="1100" b="0">
                          <a:solidFill>
                            <a:srgbClr val="282828"/>
                          </a:solidFill>
                          <a:latin typeface="Arial"/>
                        </a:rPr>
                        <a:t>9.9e14</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280035">
                <a:tc>
                  <a:txBody>
                    <a:bodyPr wrap="square"/>
                    <a:lstStyle/>
                    <a:p>
                      <a:r>
                        <a:rPr sz="1100" b="0">
                          <a:solidFill>
                            <a:srgbClr val="282828"/>
                          </a:solidFill>
                          <a:latin typeface="Arial"/>
                        </a:rPr>
                        <a:t>interferometer servo: 3 pm noise only / under the 2 pm walk</a:t>
                      </a:r>
                    </a:p>
                  </a:txBody>
                  <a:tcPr marL="54864" marR="54864" marT="18288" marB="18288">
                    <a:solidFill>
                      <a:srgbClr val="FFFFFF"/>
                    </a:solidFill>
                  </a:tcPr>
                </a:tc>
                <a:tc>
                  <a:txBody>
                    <a:bodyPr wrap="square"/>
                    <a:lstStyle/>
                    <a:p>
                      <a:r>
                        <a:rPr sz="1100" b="0">
                          <a:solidFill>
                            <a:srgbClr val="282828"/>
                          </a:solidFill>
                          <a:latin typeface="Arial"/>
                        </a:rPr>
                        <a:t>2.3e13 / 7.1e13</a:t>
                      </a:r>
                    </a:p>
                  </a:txBody>
                  <a:tcPr marL="54864" marR="54864" marT="18288" marB="18288">
                    <a:solidFill>
                      <a:srgbClr val="FFFFFF"/>
                    </a:solidFill>
                  </a:tcPr>
                </a:tc>
                <a:tc>
                  <a:txBody>
                    <a:bodyPr wrap="square"/>
                    <a:lstStyle/>
                    <a:p>
                      <a:r>
                        <a:rPr sz="1100" b="0">
                          <a:solidFill>
                            <a:srgbClr val="282828"/>
                          </a:solidFill>
                          <a:latin typeface="Arial"/>
                        </a:rPr>
                        <a:t>2.0e13 / 6.6e13</a:t>
                      </a:r>
                    </a:p>
                  </a:txBody>
                  <a:tcPr marL="54864" marR="54864" marT="18288" marB="18288">
                    <a:solidFill>
                      <a:srgbClr val="FFFFFF"/>
                    </a:solidFill>
                  </a:tcPr>
                </a:tc>
              </a:tr>
              <a:tr h="280035">
                <a:tc>
                  <a:txBody>
                    <a:bodyPr wrap="square"/>
                    <a:lstStyle/>
                    <a:p>
                      <a:r>
                        <a:rPr sz="1100" b="0">
                          <a:solidFill>
                            <a:srgbClr val="282828"/>
                          </a:solidFill>
                          <a:latin typeface="Arial"/>
                        </a:rPr>
                        <a:t>noiseless 1 nm step, residual at cycle 60</a:t>
                      </a:r>
                    </a:p>
                  </a:txBody>
                  <a:tcPr marL="54864" marR="54864" marT="18288" marB="18288">
                    <a:solidFill>
                      <a:srgbClr val="ECF1F6"/>
                    </a:solidFill>
                  </a:tcPr>
                </a:tc>
                <a:tc>
                  <a:txBody>
                    <a:bodyPr wrap="square"/>
                    <a:lstStyle/>
                    <a:p>
                      <a:r>
                        <a:rPr sz="1100" b="0">
                          <a:solidFill>
                            <a:srgbClr val="282828"/>
                          </a:solidFill>
                          <a:latin typeface="Arial"/>
                        </a:rPr>
                        <a:t>0.015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280035">
                <a:tc>
                  <a:txBody>
                    <a:bodyPr wrap="square"/>
                    <a:lstStyle/>
                    <a:p>
                      <a:r>
                        <a:rPr sz="1100" b="0">
                          <a:solidFill>
                            <a:srgbClr val="282828"/>
                          </a:solidFill>
                          <a:latin typeface="Arial"/>
                        </a:rPr>
                        <a:t>capture with unwrapping</a:t>
                      </a:r>
                    </a:p>
                  </a:txBody>
                  <a:tcPr marL="54864" marR="54864" marT="18288" marB="18288">
                    <a:solidFill>
                      <a:srgbClr val="FFFFFF"/>
                    </a:solidFill>
                  </a:tcPr>
                </a:tc>
                <a:tc>
                  <a:txBody>
                    <a:bodyPr wrap="square"/>
                    <a:lstStyle/>
                    <a:p>
                      <a:r>
                        <a:rPr sz="1100" b="0">
                          <a:solidFill>
                            <a:srgbClr val="282828"/>
                          </a:solidFill>
                          <a:latin typeface="Arial"/>
                        </a:rPr>
                        <a:t>3.1 pm at cycle 60 from 100 and 200 nm</a:t>
                      </a:r>
                    </a:p>
                  </a:txBody>
                  <a:tcPr marL="54864" marR="54864" marT="18288" marB="18288">
                    <a:solidFill>
                      <a:srgbClr val="FFFFFF"/>
                    </a:solidFill>
                  </a:tcPr>
                </a:tc>
                <a:tc>
                  <a:txBody>
                    <a:bodyPr wrap="square"/>
                    <a:lstStyle/>
                    <a:p>
                      <a:r>
                        <a:rPr sz="1100" b="0">
                          <a:solidFill>
                            <a:srgbClr val="282828"/>
                          </a:solidFill>
                          <a:latin typeface="Arial"/>
                        </a:rPr>
                        <a:t>3 pm from 100 nm in 19 cycles, from 200 nm in 24</a:t>
                      </a:r>
                    </a:p>
                  </a:txBody>
                  <a:tcPr marL="54864" marR="54864" marT="18288" marB="18288">
                    <a:solidFill>
                      <a:srgbClr val="FFFFFF"/>
                    </a:solidFill>
                  </a:tcPr>
                </a:tc>
              </a:tr>
              <a:tr h="280035">
                <a:tc>
                  <a:txBody>
                    <a:bodyPr wrap="square"/>
                    <a:lstStyle/>
                    <a:p>
                      <a:r>
                        <a:rPr sz="1100" b="0">
                          <a:solidFill>
                            <a:srgbClr val="282828"/>
                          </a:solidFill>
                          <a:latin typeface="Arial"/>
                        </a:rPr>
                        <a:t>flat-mirror null with the substrates in</a:t>
                      </a:r>
                    </a:p>
                  </a:txBody>
                  <a:tcPr marL="54864" marR="54864" marT="18288" marB="18288">
                    <a:solidFill>
                      <a:srgbClr val="ECF1F6"/>
                    </a:solidFill>
                  </a:tcPr>
                </a:tc>
                <a:tc>
                  <a:txBody>
                    <a:bodyPr wrap="square"/>
                    <a:lstStyle/>
                    <a:p>
                      <a:r>
                        <a:rPr sz="1100" b="0">
                          <a:solidFill>
                            <a:srgbClr val="282828"/>
                          </a:solidFill>
                          <a:latin typeface="Arial"/>
                        </a:rPr>
                        <a:t>59 nm</a:t>
                      </a:r>
                    </a:p>
                  </a:txBody>
                  <a:tcPr marL="54864" marR="54864" marT="18288" marB="18288">
                    <a:solidFill>
                      <a:srgbClr val="ECF1F6"/>
                    </a:solidFill>
                  </a:tcPr>
                </a:tc>
                <a:tc>
                  <a:txBody>
                    <a:bodyPr wrap="square"/>
                    <a:lstStyle/>
                    <a:p>
                      <a:r>
                        <a:rPr sz="1100" b="0">
                          <a:solidFill>
                            <a:srgbClr val="282828"/>
                          </a:solidFill>
                          <a:latin typeface="Arial"/>
                        </a:rPr>
                        <a:t>26.5 nm</a:t>
                      </a:r>
                    </a:p>
                  </a:txBody>
                  <a:tcPr marL="54864" marR="54864" marT="18288" marB="18288">
                    <a:solidFill>
                      <a:srgbClr val="ECF1F6"/>
                    </a:solidFill>
                  </a:tcPr>
                </a:tc>
              </a:tr>
              <a:tr h="280035">
                <a:tc>
                  <a:txBody>
                    <a:bodyPr wrap="square"/>
                    <a:lstStyle/>
                    <a:p>
                      <a:r>
                        <a:rPr sz="1100" b="0">
                          <a:solidFill>
                            <a:srgbClr val="282828"/>
                          </a:solidFill>
                          <a:latin typeface="Arial"/>
                        </a:rPr>
                        <a:t>sensors, 10 nm on one actuator (stepped / vector / pinhole)</a:t>
                      </a:r>
                    </a:p>
                  </a:txBody>
                  <a:tcPr marL="54864" marR="54864" marT="18288" marB="18288">
                    <a:solidFill>
                      <a:srgbClr val="FFFFFF"/>
                    </a:solidFill>
                  </a:tcPr>
                </a:tc>
                <a:tc>
                  <a:txBody>
                    <a:bodyPr wrap="square"/>
                    <a:lstStyle/>
                    <a:p>
                      <a:r>
                        <a:rPr sz="1100" b="0">
                          <a:solidFill>
                            <a:srgbClr val="282828"/>
                          </a:solidFill>
                          <a:latin typeface="Arial"/>
                        </a:rPr>
                        <a:t>not run on the lens rig</a:t>
                      </a:r>
                    </a:p>
                  </a:txBody>
                  <a:tcPr marL="54864" marR="54864" marT="18288" marB="18288">
                    <a:solidFill>
                      <a:srgbClr val="FFFFFF"/>
                    </a:solidFill>
                  </a:tcPr>
                </a:tc>
                <a:tc>
                  <a:txBody>
                    <a:bodyPr wrap="square"/>
                    <a:lstStyle/>
                    <a:p>
                      <a:r>
                        <a:rPr sz="1100" b="0">
                          <a:solidFill>
                            <a:srgbClr val="282828"/>
                          </a:solidFill>
                          <a:latin typeface="Arial"/>
                        </a:rPr>
                        <a:t>0.993 / 5, 1.008 / 2, 0.995 / 3 pm</a:t>
                      </a:r>
                    </a:p>
                  </a:txBody>
                  <a:tcPr marL="54864" marR="54864" marT="18288" marB="18288">
                    <a:solidFill>
                      <a:srgbClr val="FFFFFF"/>
                    </a:solidFill>
                  </a:tcPr>
                </a:tc>
              </a:tr>
              <a:tr h="280035">
                <a:tc>
                  <a:txBody>
                    <a:bodyPr wrap="square"/>
                    <a:lstStyle/>
                    <a:p>
                      <a:r>
                        <a:rPr sz="1100" b="0">
                          <a:solidFill>
                            <a:srgbClr val="282828"/>
                          </a:solidFill>
                          <a:latin typeface="Arial"/>
                        </a:rPr>
                        <a:t>sensors' capture range to 10% (stepped / vector / pinhole)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35 / 51 / 42 nm</a:t>
                      </a:r>
                    </a:p>
                  </a:txBody>
                  <a:tcPr marL="54864" marR="54864" marT="18288" marB="18288">
                    <a:solidFill>
                      <a:srgbClr val="ECF1F6"/>
                    </a:solidFill>
                  </a:tcPr>
                </a:tc>
              </a:tr>
              <a:tr h="280035">
                <a:tc>
                  <a:txBody>
                    <a:bodyPr wrap="square"/>
                    <a:lstStyle/>
                    <a:p>
                      <a:r>
                        <a:rPr sz="1100" b="0">
                          <a:solidFill>
                            <a:srgbClr val="282828"/>
                          </a:solidFill>
                          <a:latin typeface="Arial"/>
                        </a:rPr>
                        <a:t>alignment: 10 µrad tilt of a mirror</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(D4 not yet run on this bench)</a:t>
                      </a:r>
                    </a:p>
                  </a:txBody>
                  <a:tcPr marL="54864" marR="54864" marT="18288" marB="18288">
                    <a:solidFill>
                      <a:srgbClr val="FFFFFF"/>
                    </a:solidFill>
                  </a:tcPr>
                </a:tc>
              </a:tr>
            </a:tbl>
          </a:graphicData>
        </a:graphic>
      </p:graphicFrame>
      <p:sp>
        <p:nvSpPr>
          <p:cNvPr id="5" name="TextBox 4"/>
          <p:cNvSpPr txBox="1"/>
          <p:nvPr/>
        </p:nvSpPr>
        <p:spPr>
          <a:xfrm>
            <a:off x="411480" y="48051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pair's raw error on the mirror rig is channel amplitude imbalance from the metal folds</a:t>
            </a:r>
            <a:r>
              <a:rPr sz="1500" b="0">
                <a:solidFill>
                  <a:srgbClr val="282828"/>
                </a:solidFill>
                <a:latin typeface="Arial"/>
              </a:rPr>
              <a:t> (1.08 between its two circular channels on bare aluminum; a quarter-wave overcoat halves the error), not channel phase; the calibrated reading passes its gate.</a:t>
            </a:r>
          </a:p>
          <a:p>
            <a:pPr>
              <a:spcAft>
                <a:spcPts val="600"/>
              </a:spcAft>
            </a:pPr>
            <a:r>
              <a:rPr sz="1500" b="0">
                <a:solidFill>
                  <a:srgbClr val="282828"/>
                </a:solidFill>
                <a:latin typeface="Arial"/>
              </a:rPr>
              <a:t>•  </a:t>
            </a:r>
            <a:r>
              <a:rPr sz="1500" b="1">
                <a:solidFill>
                  <a:srgbClr val="282828"/>
                </a:solidFill>
                <a:latin typeface="Arial"/>
              </a:rPr>
              <a:t>Both rigs wrap between 60 and 120 nm of surface</a:t>
            </a:r>
            <a:r>
              <a:rPr sz="1500" b="0">
                <a:solidFill>
                  <a:srgbClr val="282828"/>
                </a:solidFill>
                <a:latin typeface="Arial"/>
              </a:rPr>
              <a:t> (a base the four-step cannot follow reads λ/2 ÷ √12 = 91 nm rms); the capture range is set by the unwrapping, not by the front end.</a:t>
            </a:r>
          </a:p>
        </p:txBody>
      </p:sp>
      <p:sp>
        <p:nvSpPr>
          <p:cNvPr id="6" name="TextBox 5"/>
          <p:cNvSpPr txBox="1"/>
          <p:nvPr/>
        </p:nvSpPr>
        <p:spPr>
          <a:xfrm>
            <a:off x="411480" y="6360414"/>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capt96_oap, redo96_oapsens.  The two cells not run (the sensors on the lens rig; the 10 µrad tilt on this bench) are listed on the provenance slide.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can spoil each reading, priced</a:t>
            </a:r>
          </a:p>
          <a:p>
            <a:pPr>
              <a:spcAft>
                <a:spcPts val="0"/>
              </a:spcAft>
            </a:pPr>
            <a:r>
              <a:rPr sz="1250" b="0">
                <a:solidFill>
                  <a:srgbClr val="6E6E6E"/>
                </a:solidFill>
                <a:latin typeface="Arial"/>
              </a:rPr>
              <a:t>Every systematic we could model is either calibrated by the response matrix measured through the sensor, or shown small; one line per approach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777740"/>
        </p:xfrm>
        <a:graphic>
          <a:graphicData uri="http://schemas.openxmlformats.org/drawingml/2006/table">
            <a:tbl>
              <a:tblPr firstRow="1" bandRow="1">
                <a:tableStyleId>{5C22544A-7EE6-4342-B048-85BDC9FD1C3A}</a:tableStyleId>
              </a:tblPr>
              <a:tblGrid>
                <a:gridCol w="1889760"/>
                <a:gridCol w="2203445"/>
                <a:gridCol w="3824849"/>
                <a:gridCol w="3450679"/>
              </a:tblGrid>
              <a:tr h="280035">
                <a:tc>
                  <a:txBody>
                    <a:bodyPr wrap="square"/>
                    <a:lstStyle/>
                    <a:p>
                      <a:r>
                        <a:rPr sz="1100" b="1">
                          <a:solidFill>
                            <a:srgbClr val="FFFFFF"/>
                          </a:solidFill>
                          <a:latin typeface="Arial"/>
                        </a:rPr>
                        <a:t>approach</a:t>
                      </a:r>
                    </a:p>
                  </a:txBody>
                  <a:tcPr marL="54864" marR="54864" marT="18288" marB="18288">
                    <a:solidFill>
                      <a:srgbClr val="1F4E79"/>
                    </a:solidFill>
                  </a:tcPr>
                </a:tc>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size</a:t>
                      </a:r>
                    </a:p>
                  </a:txBody>
                  <a:tcPr marL="54864" marR="54864" marT="18288" marB="18288">
                    <a:solidFill>
                      <a:srgbClr val="1F4E79"/>
                    </a:solidFill>
                  </a:tcPr>
                </a:tc>
                <a:tc>
                  <a:txBody>
                    <a:bodyPr wrap="square"/>
                    <a:lstStyle/>
                    <a:p>
                      <a:r>
                        <a:rPr sz="1100" b="1">
                          <a:solidFill>
                            <a:srgbClr val="FFFFFF"/>
                          </a:solidFill>
                          <a:latin typeface="Arial"/>
                        </a:rPr>
                        <a:t>after the matrix measured on the surface</a:t>
                      </a:r>
                    </a:p>
                  </a:txBody>
                  <a:tcPr marL="54864" marR="54864" marT="18288" marB="18288">
                    <a:solidFill>
                      <a:srgbClr val="1F4E79"/>
                    </a:solidFill>
                  </a:tcPr>
                </a:tc>
              </a:tr>
              <a:tr h="280035">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piezo step error 2% / 5%</a:t>
                      </a:r>
                    </a:p>
                  </a:txBody>
                  <a:tcPr marL="54864" marR="54864" marT="18288" marB="18288">
                    <a:solidFill>
                      <a:srgbClr val="FFFFFF"/>
                    </a:solidFill>
                  </a:tcPr>
                </a:tc>
                <a:tc>
                  <a:txBody>
                    <a:bodyPr wrap="square"/>
                    <a:lstStyle/>
                    <a:p>
                      <a:r>
                        <a:rPr sz="1100" b="0">
                          <a:solidFill>
                            <a:srgbClr val="282828"/>
                          </a:solidFill>
                          <a:latin typeface="Arial"/>
                        </a:rPr>
                        <a:t>gain 0.974 / 0.954; floor 2 → 5 / 9 pm</a:t>
                      </a:r>
                    </a:p>
                  </a:txBody>
                  <a:tcPr marL="54864" marR="54864" marT="18288" marB="18288">
                    <a:solidFill>
                      <a:srgbClr val="FFFFFF"/>
                    </a:solidFill>
                  </a:tcPr>
                </a:tc>
                <a:tc>
                  <a:txBody>
                    <a:bodyPr wrap="square"/>
                    <a:lstStyle/>
                    <a:p>
                      <a:r>
                        <a:rPr sz="1100" b="0">
                          <a:solidFill>
                            <a:srgbClr val="282828"/>
                          </a:solidFill>
                          <a:latin typeface="Arial"/>
                        </a:rPr>
                        <a:t>common mode in the servo: 5.4e12 vs 5.5e12</a:t>
                      </a:r>
                    </a:p>
                  </a:txBody>
                  <a:tcPr marL="54864" marR="54864" marT="18288" marB="18288">
                    <a:solidFill>
                      <a:srgbClr val="FFFFFF"/>
                    </a:solidFill>
                  </a:tcPr>
                </a:tc>
              </a:tr>
              <a:tr h="468630">
                <a:tc>
                  <a:txBody>
                    <a:bodyPr wrap="square"/>
                    <a:lstStyle/>
                    <a:p>
                      <a:r>
                        <a:rPr sz="1100" b="0">
                          <a:solidFill>
                            <a:srgbClr val="282828"/>
                          </a:solidFill>
                          <a:latin typeface="Arial"/>
                        </a:rPr>
                        <a:t>interferometer</a:t>
                      </a:r>
                    </a:p>
                  </a:txBody>
                  <a:tcPr marL="54864" marR="54864" marT="18288" marB="18288">
                    <a:solidFill>
                      <a:srgbClr val="ECF1F6"/>
                    </a:solidFill>
                  </a:tcPr>
                </a:tc>
                <a:tc>
                  <a:txBody>
                    <a:bodyPr wrap="square"/>
                    <a:lstStyle/>
                    <a:p>
                      <a:r>
                        <a:rPr sz="1100" b="0">
                          <a:solidFill>
                            <a:srgbClr val="282828"/>
                          </a:solidFill>
                          <a:latin typeface="Arial"/>
                        </a:rPr>
                        <a:t>camera 1/f walk, 1e-3 of signal within a scan</a:t>
                      </a:r>
                    </a:p>
                  </a:txBody>
                  <a:tcPr marL="54864" marR="54864" marT="18288" marB="18288">
                    <a:solidFill>
                      <a:srgbClr val="ECF1F6"/>
                    </a:solidFill>
                  </a:tcPr>
                </a:tc>
                <a:tc>
                  <a:txBody>
                    <a:bodyPr wrap="square"/>
                    <a:lstStyle/>
                    <a:p>
                      <a:r>
                        <a:rPr sz="1100" b="0">
                          <a:solidFill>
                            <a:srgbClr val="282828"/>
                          </a:solidFill>
                          <a:latin typeface="Arial"/>
                        </a:rPr>
                        <a:t>+13% light for 3 pm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interferometer, snapshot</a:t>
                      </a:r>
                    </a:p>
                  </a:txBody>
                  <a:tcPr marL="54864" marR="54864" marT="18288" marB="18288">
                    <a:solidFill>
                      <a:srgbClr val="FFFFFF"/>
                    </a:solidFill>
                  </a:tcPr>
                </a:tc>
                <a:tc>
                  <a:txBody>
                    <a:bodyPr wrap="square"/>
                    <a:lstStyle/>
                    <a:p>
                      <a:r>
                        <a:rPr sz="1100" b="0">
                          <a:solidFill>
                            <a:srgbClr val="282828"/>
                          </a:solidFill>
                          <a:latin typeface="Arial"/>
                        </a:rPr>
                        <a:t>splitter diattenuation (plate); cube R_p</a:t>
                      </a:r>
                    </a:p>
                  </a:txBody>
                  <a:tcPr marL="54864" marR="54864" marT="18288" marB="18288">
                    <a:solidFill>
                      <a:srgbClr val="FFFFFF"/>
                    </a:solidFill>
                  </a:tcPr>
                </a:tc>
                <a:tc>
                  <a:txBody>
                    <a:bodyPr wrap="square"/>
                    <a:lstStyle/>
                    <a:p>
                      <a:r>
                        <a:rPr sz="1100" b="0">
                          <a:solidFill>
                            <a:srgbClr val="282828"/>
                          </a:solidFill>
                          <a:latin typeface="Arial"/>
                        </a:rPr>
                        <a:t>at the built 22.5°: arm rotation 1.56°, gain +0.9% (11.7% at 45°); 2.1% (cube, naive stack)</a:t>
                      </a:r>
                    </a:p>
                  </a:txBody>
                  <a:tcPr marL="54864" marR="54864" marT="18288" marB="18288">
                    <a:solidFill>
                      <a:srgbClr val="FFFFFF"/>
                    </a:solidFill>
                  </a:tcPr>
                </a:tc>
                <a:tc>
                  <a:txBody>
                    <a:bodyPr wrap="square"/>
                    <a:lstStyle/>
                    <a:p>
                      <a:r>
                        <a:rPr sz="1100" b="0">
                          <a:solidFill>
                            <a:srgbClr val="282828"/>
                          </a:solidFill>
                          <a:latin typeface="Arial"/>
                        </a:rPr>
                        <a:t>residual after a measured matrix 1.4e-3 (lens), 5.5e-4 (mirrors); symmetric stack 0</a:t>
                      </a:r>
                    </a:p>
                  </a:txBody>
                  <a:tcPr marL="54864" marR="54864" marT="18288" marB="18288">
                    <a:solidFill>
                      <a:srgbClr val="FFFFFF"/>
                    </a:solidFill>
                  </a:tcPr>
                </a:tc>
              </a:tr>
              <a:tr h="468630">
                <a:tc>
                  <a:txBody>
                    <a:bodyPr wrap="square"/>
                    <a:lstStyle/>
                    <a:p>
                      <a:r>
                        <a:rPr sz="1100" b="0">
                          <a:solidFill>
                            <a:srgbClr val="282828"/>
                          </a:solidFill>
                          <a:latin typeface="Arial"/>
                        </a:rPr>
                        <a:t>Zernike</a:t>
                      </a:r>
                    </a:p>
                  </a:txBody>
                  <a:tcPr marL="54864" marR="54864" marT="18288" marB="18288">
                    <a:solidFill>
                      <a:srgbClr val="ECF1F6"/>
                    </a:solidFill>
                  </a:tcPr>
                </a:tc>
                <a:tc>
                  <a:txBody>
                    <a:bodyPr wrap="square"/>
                    <a:lstStyle/>
                    <a:p>
                      <a:r>
                        <a:rPr sz="1100" b="0">
                          <a:solidFill>
                            <a:srgbClr val="282828"/>
                          </a:solidFill>
                          <a:latin typeface="Arial"/>
                        </a:rPr>
                        <a:t>model out of focus (the early model); sampling; color</a:t>
                      </a:r>
                    </a:p>
                  </a:txBody>
                  <a:tcPr marL="54864" marR="54864" marT="18288" marB="18288">
                    <a:solidFill>
                      <a:srgbClr val="ECF1F6"/>
                    </a:solidFill>
                  </a:tcPr>
                </a:tc>
                <a:tc>
                  <a:txBody>
                    <a:bodyPr wrap="square"/>
                    <a:lstStyle/>
                    <a:p>
                      <a:r>
                        <a:rPr sz="1100" b="0">
                          <a:solidFill>
                            <a:srgbClr val="282828"/>
                          </a:solidFill>
                          <a:latin typeface="Arial"/>
                        </a:rPr>
                        <a:t>floor 744 → 67 pm on correction; dimple needs 6 pixels; one etch reads five colors within 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metasurface retardance error 0.1 rad</a:t>
                      </a:r>
                    </a:p>
                  </a:txBody>
                  <a:tcPr marL="54864" marR="54864" marT="18288" marB="18288">
                    <a:solidFill>
                      <a:srgbClr val="FFFFFF"/>
                    </a:solidFill>
                  </a:tcPr>
                </a:tc>
                <a:tc>
                  <a:txBody>
                    <a:bodyPr wrap="square"/>
                    <a:lstStyle/>
                    <a:p>
                      <a:r>
                        <a:rPr sz="1100" b="0">
                          <a:solidFill>
                            <a:srgbClr val="282828"/>
                          </a:solidFill>
                          <a:latin typeface="Arial"/>
                        </a:rPr>
                        <a:t>750 pm on a 12 nm figure</a:t>
                      </a:r>
                    </a:p>
                  </a:txBody>
                  <a:tcPr marL="54864" marR="54864" marT="18288" marB="18288">
                    <a:solidFill>
                      <a:srgbClr val="FFFFFF"/>
                    </a:solidFill>
                  </a:tcPr>
                </a:tc>
                <a:tc>
                  <a:txBody>
                    <a:bodyPr wrap="square"/>
                    <a:lstStyle/>
                    <a:p>
                      <a:r>
                        <a:rPr sz="1100" b="0">
                          <a:solidFill>
                            <a:srgbClr val="282828"/>
                          </a:solidFill>
                          <a:latin typeface="Arial"/>
                        </a:rPr>
                        <a:t>rows 0.9934 / 4 pm, the ideal numbers</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the arm's polarization (six tilted glass faces)</a:t>
                      </a:r>
                    </a:p>
                  </a:txBody>
                  <a:tcPr marL="54864" marR="54864" marT="18288" marB="18288">
                    <a:solidFill>
                      <a:srgbClr val="ECF1F6"/>
                    </a:solidFill>
                  </a:tcPr>
                </a:tc>
                <a:tc>
                  <a:txBody>
                    <a:bodyPr wrap="square"/>
                    <a:lstStyle/>
                    <a:p>
                      <a:r>
                        <a:rPr sz="1100" b="0">
                          <a:solidFill>
                            <a:srgbClr val="282828"/>
                          </a:solidFill>
                          <a:latin typeface="Arial"/>
                        </a:rPr>
                        <a:t>9 pm on 12 nm; 6 nm per rad of channel phase</a:t>
                      </a:r>
                    </a:p>
                  </a:txBody>
                  <a:tcPr marL="54864" marR="54864" marT="18288" marB="18288">
                    <a:solidFill>
                      <a:srgbClr val="ECF1F6"/>
                    </a:solidFill>
                  </a:tcPr>
                </a:tc>
                <a:tc>
                  <a:txBody>
                    <a:bodyPr wrap="square"/>
                    <a:lstStyle/>
                    <a:p>
                      <a:r>
                        <a:rPr sz="1100" b="0">
                          <a:solidFill>
                            <a:srgbClr val="282828"/>
                          </a:solidFill>
                          <a:latin typeface="Arial"/>
                        </a:rPr>
                        <a:t>nothing to 0.1 rad; 10% gain loss at 0.3</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the analyzer: cube extinction; plate error λ/300</a:t>
                      </a:r>
                    </a:p>
                  </a:txBody>
                  <a:tcPr marL="54864" marR="54864" marT="18288" marB="18288">
                    <a:solidFill>
                      <a:srgbClr val="FFFFFF"/>
                    </a:solidFill>
                  </a:tcPr>
                </a:tc>
                <a:tc>
                  <a:txBody>
                    <a:bodyPr wrap="square"/>
                    <a:lstStyle/>
                    <a:p>
                      <a:r>
                        <a:rPr sz="1100" b="0">
                          <a:solidFill>
                            <a:srgbClr val="282828"/>
                          </a:solidFill>
                          <a:latin typeface="Arial"/>
                        </a:rPr>
                        <a:t>3.5 pm; 165 pm (1.4% of the figure)</a:t>
                      </a:r>
                    </a:p>
                  </a:txBody>
                  <a:tcPr marL="54864" marR="54864" marT="18288" marB="18288">
                    <a:solidFill>
                      <a:srgbClr val="FFFFFF"/>
                    </a:solidFill>
                  </a:tcPr>
                </a:tc>
                <a:tc>
                  <a:txBody>
                    <a:bodyPr wrap="square"/>
                    <a:lstStyle/>
                    <a:p>
                      <a:r>
                        <a:rPr sz="1100" b="0">
                          <a:solidFill>
                            <a:srgbClr val="282828"/>
                          </a:solidFill>
                          <a:latin typeface="Arial"/>
                        </a:rPr>
                        <a:t>gain within 0.7%, floors within 4 pm</a:t>
                      </a:r>
                    </a:p>
                  </a:txBody>
                  <a:tcPr marL="54864" marR="54864" marT="18288" marB="18288">
                    <a:solidFill>
                      <a:srgbClr val="FFFFFF"/>
                    </a:solidFill>
                  </a:tcPr>
                </a:tc>
              </a:tr>
              <a:tr h="468630">
                <a:tc>
                  <a:txBody>
                    <a:bodyPr wrap="square"/>
                    <a:lstStyle/>
                    <a:p>
                      <a:r>
                        <a:rPr sz="1100" b="0">
                          <a:solidFill>
                            <a:srgbClr val="282828"/>
                          </a:solidFill>
                          <a:latin typeface="Arial"/>
                        </a:rPr>
                        <a:t>pinhole</a:t>
                      </a:r>
                    </a:p>
                  </a:txBody>
                  <a:tcPr marL="54864" marR="54864" marT="18288" marB="18288">
                    <a:solidFill>
                      <a:srgbClr val="ECF1F6"/>
                    </a:solidFill>
                  </a:tcPr>
                </a:tc>
                <a:tc>
                  <a:txBody>
                    <a:bodyPr wrap="square"/>
                    <a:lstStyle/>
                    <a:p>
                      <a:r>
                        <a:rPr sz="1100" b="0">
                          <a:solidFill>
                            <a:srgbClr val="282828"/>
                          </a:solidFill>
                          <a:latin typeface="Arial"/>
                        </a:rPr>
                        <a:t>2% step error</a:t>
                      </a:r>
                    </a:p>
                  </a:txBody>
                  <a:tcPr marL="54864" marR="54864" marT="18288" marB="18288">
                    <a:solidFill>
                      <a:srgbClr val="ECF1F6"/>
                    </a:solidFill>
                  </a:tcPr>
                </a:tc>
                <a:tc>
                  <a:txBody>
                    <a:bodyPr wrap="square"/>
                    <a:lstStyle/>
                    <a:p>
                      <a:r>
                        <a:rPr sz="1100" b="0">
                          <a:solidFill>
                            <a:srgbClr val="282828"/>
                          </a:solidFill>
                          <a:latin typeface="Arial"/>
                        </a:rPr>
                        <a:t>4.9 pm with the five-frame scan (421 pm with four-step least squares)</a:t>
                      </a:r>
                    </a:p>
                  </a:txBody>
                  <a:tcPr marL="54864" marR="54864" marT="18288" marB="18288">
                    <a:solidFill>
                      <a:srgbClr val="ECF1F6"/>
                    </a:solidFill>
                  </a:tcPr>
                </a:tc>
                <a:tc>
                  <a:txBody>
                    <a:bodyPr wrap="square"/>
                    <a:lstStyle/>
                    <a:p>
                      <a:r>
                        <a:rPr sz="1100" b="0">
                          <a:solidFill>
                            <a:srgbClr val="282828"/>
                          </a:solidFill>
                          <a:latin typeface="Arial"/>
                        </a:rPr>
                        <a:t>differential rows error-free to the digit</a:t>
                      </a:r>
                    </a:p>
                  </a:txBody>
                  <a:tcPr marL="54864" marR="54864" marT="18288" marB="18288">
                    <a:solidFill>
                      <a:srgbClr val="ECF1F6"/>
                    </a:solidFill>
                  </a:tcPr>
                </a:tc>
              </a:tr>
              <a:tr h="468630">
                <a:tc>
                  <a:txBody>
                    <a:bodyPr wrap="square"/>
                    <a:lstStyle/>
                    <a:p>
                      <a:r>
                        <a:rPr sz="1100" b="0">
                          <a:solidFill>
                            <a:srgbClr val="282828"/>
                          </a:solidFill>
                          <a:latin typeface="Arial"/>
                        </a:rPr>
                        <a:t>pinhole, P/SRI</a:t>
                      </a:r>
                    </a:p>
                  </a:txBody>
                  <a:tcPr marL="54864" marR="54864" marT="18288" marB="18288">
                    <a:solidFill>
                      <a:srgbClr val="FFFFFF"/>
                    </a:solidFill>
                  </a:tcPr>
                </a:tc>
                <a:tc>
                  <a:txBody>
                    <a:bodyPr wrap="square"/>
                    <a:lstStyle/>
                    <a:p>
                      <a:r>
                        <a:rPr sz="1100" b="0">
                          <a:solidFill>
                            <a:srgbClr val="282828"/>
                          </a:solidFill>
                          <a:latin typeface="Arial"/>
                        </a:rPr>
                        <a:t>camera bias drifting within a scan</a:t>
                      </a:r>
                    </a:p>
                  </a:txBody>
                  <a:tcPr marL="54864" marR="54864" marT="18288" marB="18288">
                    <a:solidFill>
                      <a:srgbClr val="FFFFFF"/>
                    </a:solidFill>
                  </a:tcPr>
                </a:tc>
                <a:tc>
                  <a:txBody>
                    <a:bodyPr wrap="square"/>
                    <a:lstStyle/>
                    <a:p>
                      <a:r>
                        <a:rPr sz="1100" b="0">
                          <a:solidFill>
                            <a:srgbClr val="282828"/>
                          </a:solidFill>
                          <a:latin typeface="Arial"/>
                        </a:rPr>
                        <a:t>5.3 / 10.7 pm at 1e15 (the linear Zernike: 10.8 nm)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P/SRI</a:t>
                      </a:r>
                    </a:p>
                  </a:txBody>
                  <a:tcPr marL="54864" marR="54864" marT="18288" marB="18288">
                    <a:solidFill>
                      <a:srgbClr val="ECF1F6"/>
                    </a:solidFill>
                  </a:tcPr>
                </a:tc>
                <a:tc>
                  <a:txBody>
                    <a:bodyPr wrap="square"/>
                    <a:lstStyle/>
                    <a:p>
                      <a:r>
                        <a:rPr sz="1100" b="0">
                          <a:solidFill>
                            <a:srgbClr val="282828"/>
                          </a:solidFill>
                          <a:latin typeface="Arial"/>
                        </a:rPr>
                        <a:t>its own reference arm walking</a:t>
                      </a:r>
                    </a:p>
                  </a:txBody>
                  <a:tcPr marL="54864" marR="54864" marT="18288" marB="18288">
                    <a:solidFill>
                      <a:srgbClr val="ECF1F6"/>
                    </a:solidFill>
                  </a:tcPr>
                </a:tc>
                <a:tc>
                  <a:txBody>
                    <a:bodyPr wrap="square"/>
                    <a:lstStyle/>
                    <a:p>
                      <a:r>
                        <a:rPr sz="1100" b="0">
                          <a:solidFill>
                            <a:srgbClr val="282828"/>
                          </a:solidFill>
                          <a:latin typeface="Arial"/>
                        </a:rPr>
                        <a:t>4% more light over a hundredfold range of walk</a:t>
                      </a:r>
                    </a:p>
                  </a:txBody>
                  <a:tcPr marL="54864" marR="54864" marT="18288" marB="18288">
                    <a:solidFill>
                      <a:srgbClr val="ECF1F6"/>
                    </a:solidFill>
                  </a:tcPr>
                </a:tc>
                <a:tc>
                  <a:txBody>
                    <a:bodyPr wrap="square"/>
                    <a:lstStyle/>
                    <a:p>
                      <a:r>
                        <a:rPr sz="1100" b="0">
                          <a:solidFill>
                            <a:srgbClr val="282828"/>
                          </a:solidFill>
                          <a:latin typeface="Arial"/>
                        </a:rPr>
                        <a:t>a path change is piston, the mode the estimator nulls</a:t>
                      </a:r>
                    </a:p>
                  </a:txBody>
                  <a:tcPr marL="54864" marR="54864" marT="18288" marB="18288">
                    <a:solidFill>
                      <a:srgbClr val="ECF1F6"/>
                    </a:solidFill>
                  </a:tcPr>
                </a:tc>
              </a:tr>
            </a:tbl>
          </a:graphicData>
        </a:graphic>
      </p:graphicFrame>
      <p:sp>
        <p:nvSpPr>
          <p:cNvPr id="5" name="TextBox 4"/>
          <p:cNvSpPr txBox="1"/>
          <p:nvPr/>
        </p:nvSpPr>
        <p:spPr>
          <a:xfrm>
            <a:off x="411480" y="6222492"/>
            <a:ext cx="11368735" cy="274320"/>
          </a:xfrm>
          <a:prstGeom prst="rect">
            <a:avLst/>
          </a:prstGeom>
          <a:noFill/>
        </p:spPr>
        <p:txBody>
          <a:bodyPr wrap="square">
            <a:spAutoFit/>
          </a:bodyPr>
          <a:lstStyle/>
          <a:p>
            <a:pPr>
              <a:spcAft>
                <a:spcPts val="600"/>
              </a:spcAft>
            </a:pPr>
            <a:r>
              <a:rPr sz="1050" b="0">
                <a:solidFill>
                  <a:srgbClr val="6E6E6E"/>
                </a:solidFill>
                <a:latin typeface="Arial"/>
              </a:rPr>
              <a:t>Nothing is left open on the vector sensor's line.  Run tags lens_deck_se2/se5, loop_lens_cam, tg_psi_dm, tg_psi_dm_v2, v2g, v3arm, an193, pdi193se_sh5, pcam193ri, rw193.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Recommendation</a:t>
            </a:r>
          </a:p>
          <a:p>
            <a:pPr>
              <a:spcAft>
                <a:spcPts val="0"/>
              </a:spcAft>
            </a:pPr>
            <a:r>
              <a:rPr sz="1250" b="0">
                <a:solidFill>
                  <a:srgbClr val="6E6E6E"/>
                </a:solidFill>
                <a:latin typeface="Arial"/>
              </a:rPr>
              <a:t>Hold with the vector Zernike sensor; capture with the interferometer, or with the stepped pinhole's shutter frame if a second arm is not wanted; build on lenses; build one bench that switches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Hold:</a:t>
            </a:r>
            <a:r>
              <a:rPr sz="1500" b="0">
                <a:solidFill>
                  <a:srgbClr val="282828"/>
                </a:solidFill>
                <a:latin typeface="Arial"/>
              </a:rPr>
              <a:t> the polarized dimple is the best reading on every line — 3 pm from 2.2e12 photons per cycle, two frames taken at once, no stepping, no fold, no fixed error, and every systematic we modeled calibrated by the matrix measured through it.  The stepped scalar dimple is the fallback with no polarization optics, at 1.6× the light.</a:t>
            </a:r>
          </a:p>
          <a:p>
            <a:pPr>
              <a:spcAft>
                <a:spcPts val="600"/>
              </a:spcAft>
            </a:pPr>
            <a:r>
              <a:rPr sz="1500" b="0">
                <a:solidFill>
                  <a:srgbClr val="282828"/>
                </a:solidFill>
                <a:latin typeface="Arial"/>
              </a:rPr>
              <a:t>•  </a:t>
            </a:r>
            <a:r>
              <a:rPr sz="1500" b="1">
                <a:solidFill>
                  <a:srgbClr val="282828"/>
                </a:solidFill>
                <a:latin typeface="Arial"/>
              </a:rPr>
              <a:t>Capture:</a:t>
            </a:r>
            <a:r>
              <a:rPr sz="1500" b="0">
                <a:solidFill>
                  <a:srgbClr val="282828"/>
                </a:solidFill>
                <a:latin typeface="Arial"/>
              </a:rPr>
              <a:t> the interferometer takes 200-400 nm of wavefront to 3 pm in 19-24 cycles on the mirror rig with unwrapping alone (3.1 pm at cycle 60 on the lens rig).  In the common path, the stepped pinhole with a shutter frame captures 200 nm of wavefront with unwrapping and three recalibrations.  A second color is the sensors' own route (future work).</a:t>
            </a:r>
          </a:p>
          <a:p>
            <a:pPr>
              <a:spcAft>
                <a:spcPts val="600"/>
              </a:spcAft>
            </a:pPr>
            <a:r>
              <a:rPr sz="1500" b="0">
                <a:solidFill>
                  <a:srgbClr val="282828"/>
                </a:solidFill>
                <a:latin typeface="Arial"/>
              </a:rPr>
              <a:t>•  </a:t>
            </a:r>
            <a:r>
              <a:rPr sz="1500" b="1">
                <a:solidFill>
                  <a:srgbClr val="282828"/>
                </a:solidFill>
                <a:latin typeface="Arial"/>
              </a:rPr>
              <a:t>Front end:</a:t>
            </a:r>
            <a:r>
              <a:rPr sz="1500" b="0">
                <a:solidFill>
                  <a:srgbClr val="282828"/>
                </a:solidFill>
                <a:latin typeface="Arial"/>
              </a:rPr>
              <a:t> either builds.  The mirror rig matches the lens rig on the rows and the servo (interferometer 2.0e13 vs 2.3e13 photons per cycle noise only, 6.6e13 vs 7.1e13 under the walk), reads 1 pm for 30 % fewer photons (7.0e14 vs 9.9e14) and captures from 200 nm in 24 cycles where the lens rig stops at 3.1 pm; its sensors pass once calibrated; it buys any color and no glass in the beam, and costs alignment tolerance (10 µrad = 100 nm of null) and a polarization calibration of the vector reading.  The measured trade is on the table for a ruling.</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bench:</a:t>
            </a:r>
            <a:r>
              <a:rPr sz="1500" b="0">
                <a:solidFill>
                  <a:srgbClr val="282828"/>
                </a:solidFill>
                <a:latin typeface="Arial"/>
              </a:rPr>
              <a:t> one layout with the reference arm shuttered, the mask seat translated, the quarter-wave plate in or out, and the P/SRI arm behind a flip-in plate (the one-bench slide).  Capture with the interferometer, hand off inside the sensor's 60 nm reach, hold with the sensor at a tenth of the light.</a:t>
            </a:r>
          </a:p>
          <a:p>
            <a:pPr>
              <a:spcAft>
                <a:spcPts val="600"/>
              </a:spcAft>
            </a:pPr>
            <a:r>
              <a:rPr sz="1500" b="0">
                <a:solidFill>
                  <a:srgbClr val="282828"/>
                </a:solidFill>
                <a:latin typeface="Arial"/>
              </a:rPr>
              <a:t>•  </a:t>
            </a:r>
            <a:r>
              <a:rPr sz="1500" b="1">
                <a:solidFill>
                  <a:srgbClr val="282828"/>
                </a:solidFill>
                <a:latin typeface="Arial"/>
              </a:rPr>
              <a:t>What the numbers do not decide:</a:t>
            </a:r>
            <a:r>
              <a:rPr sz="1500" b="0">
                <a:solidFill>
                  <a:srgbClr val="282828"/>
                </a:solidFill>
                <a:latin typeface="Arial"/>
              </a:rPr>
              <a:t> the pinhole and the vector dimple read the working surface alike (0.995 / 3 and 1.008 / 2 pm); the dimple wins the servo by 1.4×, the pinhole wins capture range for one extra frame.  A bench that carries both costs one substrate.</a:t>
            </a:r>
          </a:p>
        </p:txBody>
      </p:sp>
      <p:sp>
        <p:nvSpPr>
          <p:cNvPr id="6" name="TextBox 5"/>
          <p:cNvSpPr txBox="1"/>
          <p:nvPr/>
        </p:nvSpPr>
        <p:spPr>
          <a:xfrm>
            <a:off x="6400800" y="4572000"/>
            <a:ext cx="5394960" cy="274320"/>
          </a:xfrm>
          <a:prstGeom prst="rect">
            <a:avLst/>
          </a:prstGeom>
          <a:noFill/>
        </p:spPr>
        <p:txBody>
          <a:bodyPr wrap="square">
            <a:spAutoFit/>
          </a:bodyPr>
          <a:lstStyle/>
          <a:p>
            <a:pPr>
              <a:spcAft>
                <a:spcPts val="600"/>
              </a:spcAft>
            </a:pPr>
            <a:r>
              <a:rPr sz="1050" b="0">
                <a:solidFill>
                  <a:srgbClr val="6E6E6E"/>
                </a:solidFill>
                <a:latin typeface="Arial"/>
              </a:rPr>
              <a:t>Draft stance approved 2026-09-13; the wording is for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modes, from launch to hold</a:t>
            </a:r>
          </a:p>
          <a:p>
            <a:pPr>
              <a:spcAft>
                <a:spcPts val="0"/>
              </a:spcAft>
            </a:pPr>
            <a:r>
              <a:rPr sz="1250" b="0">
                <a:solidFill>
                  <a:srgbClr val="6E6E6E"/>
                </a:solidFill>
                <a:latin typeface="Arial"/>
              </a:rPr>
              <a:t>Four operating modes and what carries the surface between them: the ground flat, the loop's own phase retrieval, capture, and the servo hold, with recalibration events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modes_flow.png"/>
          <p:cNvPicPr>
            <a:picLocks noChangeAspect="1"/>
          </p:cNvPicPr>
          <p:nvPr/>
        </p:nvPicPr>
        <p:blipFill>
          <a:blip r:embed="rId2"/>
          <a:stretch>
            <a:fillRect/>
          </a:stretch>
        </p:blipFill>
        <p:spPr>
          <a:xfrm>
            <a:off x="2516428" y="1298448"/>
            <a:ext cx="7158837" cy="3977131"/>
          </a:xfrm>
          <a:prstGeom prst="rect">
            <a:avLst/>
          </a:prstGeom>
        </p:spPr>
      </p:pic>
      <p:sp>
        <p:nvSpPr>
          <p:cNvPr id="5" name="TextBox 4"/>
          <p:cNvSpPr txBox="1"/>
          <p:nvPr/>
        </p:nvSpPr>
        <p:spPr>
          <a:xfrm>
            <a:off x="411480" y="5293867"/>
            <a:ext cx="11368735" cy="229107"/>
          </a:xfrm>
          <a:prstGeom prst="rect">
            <a:avLst/>
          </a:prstGeom>
          <a:noFill/>
        </p:spPr>
        <p:txBody>
          <a:bodyPr wrap="square">
            <a:spAutoFit/>
          </a:bodyPr>
          <a:lstStyle/>
          <a:p>
            <a:pPr algn="ctr">
              <a:spcAft>
                <a:spcPts val="0"/>
              </a:spcAft>
            </a:pPr>
            <a:r>
              <a:rPr sz="1000" b="0">
                <a:solidFill>
                  <a:srgbClr val="6E6E6E"/>
                </a:solidFill>
                <a:latin typeface="Arial"/>
              </a:rPr>
              <a:t>The operating modes as a flow: ground flat, image-based phase retrieval, capture, closed-loop hold; the readings' capture limits under the capture box; recalibration events above.</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The loop's own focal-plane phase retrieval wraps at half a wave of high-spatial-frequency wavefront, one wave before the gauges do; its reach sets what capture must cover.  Drawn by gauge_modes_flow.m.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comes next, and how to run it</a:t>
            </a:r>
          </a:p>
          <a:p>
            <a:pPr>
              <a:spcAft>
                <a:spcPts val="0"/>
              </a:spcAft>
            </a:pPr>
            <a:r>
              <a:rPr sz="1250" b="0">
                <a:solidFill>
                  <a:srgbClr val="6E6E6E"/>
                </a:solidFill>
                <a:latin typeface="Arial"/>
              </a:rPr>
              <a:t>Three threads of future work, and one command line per gauge; every number in the deck is reproduced by the runners in the public repositories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Capture beyond one wave with a second color:</a:t>
            </a:r>
            <a:r>
              <a:rPr sz="1200" b="0">
                <a:solidFill>
                  <a:srgbClr val="282828"/>
                </a:solidFill>
                <a:latin typeface="Arial"/>
              </a:rPr>
              <a:t> 632.8 + 700 nm gives a 6.6 µm synthetic wavelength and 1.6 µm of unambiguous surface at 10× the noise; the coarse pair captures, the single color holds.  The runner already traces one mask at five colors (Backup).</a:t>
            </a:r>
          </a:p>
          <a:p>
            <a:pPr>
              <a:spcAft>
                <a:spcPts val="600"/>
              </a:spcAft>
            </a:pPr>
            <a:r>
              <a:rPr sz="1200" b="0">
                <a:solidFill>
                  <a:srgbClr val="282828"/>
                </a:solidFill>
                <a:latin typeface="Arial"/>
              </a:rPr>
              <a:t>•  </a:t>
            </a:r>
            <a:r>
              <a:rPr sz="1200" b="1">
                <a:solidFill>
                  <a:srgbClr val="282828"/>
                </a:solidFill>
                <a:latin typeface="Arial"/>
              </a:rPr>
              <a:t>From this model to as-built performance:</a:t>
            </a:r>
            <a:r>
              <a:rPr sz="1200" b="0">
                <a:solidFill>
                  <a:srgbClr val="282828"/>
                </a:solidFill>
                <a:latin typeface="Arial"/>
              </a:rPr>
              <a:t> the camera's well depth sets the measurement time (1e14 photons is 1600 frames at 60 ke per pixel); surface, alignment, stability and polarization errors priced per reading (Backup).</a:t>
            </a:r>
          </a:p>
          <a:p>
            <a:pPr>
              <a:spcAft>
                <a:spcPts val="600"/>
              </a:spcAft>
            </a:pPr>
            <a:r>
              <a:rPr sz="1200" b="0">
                <a:solidFill>
                  <a:srgbClr val="282828"/>
                </a:solidFill>
                <a:latin typeface="Arial"/>
              </a:rPr>
              <a:t>•  </a:t>
            </a:r>
            <a:r>
              <a:rPr sz="1200" b="1">
                <a:solidFill>
                  <a:srgbClr val="282828"/>
                </a:solidFill>
                <a:latin typeface="Arial"/>
              </a:rPr>
              <a:t>Other approaches worth a look:</a:t>
            </a:r>
            <a:r>
              <a:rPr sz="1200" b="0">
                <a:solidFill>
                  <a:srgbClr val="282828"/>
                </a:solidFill>
                <a:latin typeface="Arial"/>
              </a:rPr>
              <a:t> a modeled large-figure solve, phase diversity, white-light scanning, heterodyne detection, direct-sequence metrology (Backup).</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Interferometer</a:t>
            </a:r>
            <a:r>
              <a:rPr sz="1200" b="0">
                <a:solidFill>
                  <a:srgbClr val="282828"/>
                </a:solidFill>
                <a:latin typeface="Arial"/>
              </a:rPr>
              <a:t> (tg_psi_dm96_oap): tg96_run (lens rig); tg96_run('bench.optics','oap') (mirror rig).</a:t>
            </a:r>
          </a:p>
          <a:p>
            <a:pPr>
              <a:spcAft>
                <a:spcPts val="600"/>
              </a:spcAft>
            </a:pPr>
            <a:r>
              <a:rPr sz="1200" b="0">
                <a:solidFill>
                  <a:srgbClr val="282828"/>
                </a:solidFill>
                <a:latin typeface="Arial"/>
              </a:rPr>
              <a:t>•  </a:t>
            </a:r>
            <a:r>
              <a:rPr sz="1200" b="1">
                <a:solidFill>
                  <a:srgbClr val="282828"/>
                </a:solidFill>
                <a:latin typeface="Arial"/>
              </a:rPr>
              <a:t>Zernike sensors</a:t>
            </a:r>
            <a:r>
              <a:rPr sz="1200" b="0">
                <a:solidFill>
                  <a:srgbClr val="282828"/>
                </a:solidFill>
                <a:latin typeface="Arial"/>
              </a:rPr>
              <a:t> (zwfs_dm96): zwfs_run (bench, battery, figures); zwfs_run('bench.optics','oap','readings',{'S','V','P'},'stages',{'bench','battery','noise','loop'}) for the mirror rig.</a:t>
            </a:r>
          </a:p>
          <a:p>
            <a:pPr>
              <a:spcAft>
                <a:spcPts val="600"/>
              </a:spcAft>
            </a:pPr>
            <a:r>
              <a:rPr sz="1200" b="0">
                <a:solidFill>
                  <a:srgbClr val="282828"/>
                </a:solidFill>
                <a:latin typeface="Arial"/>
              </a:rPr>
              <a:t>•  </a:t>
            </a:r>
            <a:r>
              <a:rPr sz="1200" b="1">
                <a:solidFill>
                  <a:srgbClr val="282828"/>
                </a:solidFill>
                <a:latin typeface="Arial"/>
              </a:rPr>
              <a:t>Point-diffraction</a:t>
            </a:r>
            <a:r>
              <a:rPr sz="1200" b="0">
                <a:solidFill>
                  <a:srgbClr val="282828"/>
                </a:solidFill>
                <a:latin typeface="Arial"/>
              </a:rPr>
              <a:t> (pdi_dm96): P = pdi_params; out = pdi_run(P);.</a:t>
            </a:r>
          </a:p>
          <a:p>
            <a:pPr>
              <a:spcAft>
                <a:spcPts val="600"/>
              </a:spcAft>
            </a:pPr>
            <a:r>
              <a:rPr sz="1200" b="0">
                <a:solidFill>
                  <a:srgbClr val="282828"/>
                </a:solidFill>
                <a:latin typeface="Arial"/>
              </a:rPr>
              <a:t>•  </a:t>
            </a:r>
            <a:r>
              <a:rPr sz="1200" b="1">
                <a:solidFill>
                  <a:srgbClr val="282828"/>
                </a:solidFill>
                <a:latin typeface="Arial"/>
              </a:rPr>
              <a:t>Where:</a:t>
            </a:r>
            <a:r>
              <a:rPr sz="1200" b="0">
                <a:solidFill>
                  <a:srgbClr val="282828"/>
                </a:solidFill>
                <a:latin typeface="Arial"/>
              </a:rPr>
              <a:t> MACOS_resources/mmacos/templates/40_benches/{tg_psi_dm96_oap, zwfs_dm96, pdi_dm96} and the shared dm_gauge_lib, branch dev-candidate; each directory's README carries the full command list and the run-tag index.  A model-1024 run needs about 11 GB.</a:t>
            </a:r>
          </a:p>
        </p:txBody>
      </p:sp>
      <p:sp>
        <p:nvSpPr>
          <p:cNvPr id="6" name="TextBox 5"/>
          <p:cNvSpPr txBox="1"/>
          <p:nvPr/>
        </p:nvSpPr>
        <p:spPr>
          <a:xfrm>
            <a:off x="6400800" y="3877056"/>
            <a:ext cx="5394960" cy="274320"/>
          </a:xfrm>
          <a:prstGeom prst="rect">
            <a:avLst/>
          </a:prstGeom>
          <a:noFill/>
        </p:spPr>
        <p:txBody>
          <a:bodyPr wrap="square">
            <a:spAutoFit/>
          </a:bodyPr>
          <a:lstStyle/>
          <a:p>
            <a:pPr>
              <a:spcAft>
                <a:spcPts val="600"/>
              </a:spcAft>
            </a:pPr>
            <a:r>
              <a:rPr sz="1050" b="0">
                <a:solidFill>
                  <a:srgbClr val="6E6E6E"/>
                </a:solidFill>
                <a:latin typeface="Arial"/>
              </a:rPr>
              <a:t>Every stage asserts its own gates (the mask round trip, the reference-wave surrogate, the fold, the pinhole, the analyzer); tDmgLoop 15/15; the mmacos fast suite 551/0 (2026-10-06).  All code and documentation is public: nasa-jpl/macos and nasa-jpl/MACOS_resources on github.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splitter angle: three options</a:t>
            </a:r>
          </a:p>
          <a:p>
            <a:pPr>
              <a:spcAft>
                <a:spcPts val="0"/>
              </a:spcAft>
            </a:pPr>
            <a:r>
              <a:rPr sz="1250" b="0">
                <a:solidFill>
                  <a:srgbClr val="6E6E6E"/>
                </a:solidFill>
                <a:latin typeface="Arial"/>
              </a:rPr>
              <a:t>7° cannot be built; 22.5° clears every part and is the choice; 30° adds margin at the price of a wider bench and more plate polarization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ench_three_nodes.png"/>
          <p:cNvPicPr>
            <a:picLocks noChangeAspect="1"/>
          </p:cNvPicPr>
          <p:nvPr/>
        </p:nvPicPr>
        <p:blipFill>
          <a:blip r:embed="rId2"/>
          <a:stretch>
            <a:fillRect/>
          </a:stretch>
        </p:blipFill>
        <p:spPr>
          <a:xfrm>
            <a:off x="2390317" y="1298448"/>
            <a:ext cx="7411060" cy="1434592"/>
          </a:xfrm>
          <a:prstGeom prst="rect">
            <a:avLst/>
          </a:prstGeom>
        </p:spPr>
      </p:pic>
      <p:sp>
        <p:nvSpPr>
          <p:cNvPr id="5" name="TextBox 4"/>
          <p:cNvSpPr txBox="1"/>
          <p:nvPr/>
        </p:nvSpPr>
        <p:spPr>
          <a:xfrm>
            <a:off x="411480" y="275132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node at 7° (left: eight parts in another beam), 22.5° (middle, the choice: every part clears, the compensator by 16 mm) and 30° (right: the compensator by 57 mm); the output plate and analyzer moved to 160 mm behind the splitter in the last two.  The three panels are the tool's own node drawings, placed side by side.</a:t>
            </a:r>
          </a:p>
        </p:txBody>
      </p:sp>
      <p:graphicFrame>
        <p:nvGraphicFramePr>
          <p:cNvPr id="6" name="Table 5"/>
          <p:cNvGraphicFramePr>
            <a:graphicFrameLocks noGrp="1"/>
          </p:cNvGraphicFramePr>
          <p:nvPr/>
        </p:nvGraphicFramePr>
        <p:xfrm>
          <a:off x="411480" y="3182112"/>
          <a:ext cx="11368734" cy="3183255"/>
        </p:xfrm>
        <a:graphic>
          <a:graphicData uri="http://schemas.openxmlformats.org/drawingml/2006/table">
            <a:tbl>
              <a:tblPr firstRow="1" bandRow="1">
                <a:tableStyleId>{5C22544A-7EE6-4342-B048-85BDC9FD1C3A}</a:tableStyleId>
              </a:tblPr>
              <a:tblGrid>
                <a:gridCol w="3410620"/>
                <a:gridCol w="2273747"/>
                <a:gridCol w="3284301"/>
                <a:gridCol w="2400066"/>
              </a:tblGrid>
              <a:tr h="280035">
                <a:tc>
                  <a:txBody>
                    <a:bodyPr wrap="square"/>
                    <a:lstStyle/>
                    <a:p>
                      <a:r>
                        <a:rPr sz="1100" b="1">
                          <a:solidFill>
                            <a:srgbClr val="FFFFFF"/>
                          </a:solidFill>
                          <a:latin typeface="Arial"/>
                        </a:rPr>
                        <a:t>impact</a:t>
                      </a:r>
                    </a:p>
                  </a:txBody>
                  <a:tcPr marL="54864" marR="54864" marT="18288" marB="18288">
                    <a:solidFill>
                      <a:srgbClr val="1F4E79"/>
                    </a:solidFill>
                  </a:tcPr>
                </a:tc>
                <a:tc>
                  <a:txBody>
                    <a:bodyPr wrap="square"/>
                    <a:lstStyle/>
                    <a:p>
                      <a:r>
                        <a:rPr sz="1100" b="1">
                          <a:solidFill>
                            <a:srgbClr val="FFFFFF"/>
                          </a:solidFill>
                          <a:latin typeface="Arial"/>
                        </a:rPr>
                        <a:t>7° (record)</a:t>
                      </a:r>
                    </a:p>
                  </a:txBody>
                  <a:tcPr marL="54864" marR="54864" marT="18288" marB="18288">
                    <a:solidFill>
                      <a:srgbClr val="1F4E79"/>
                    </a:solidFill>
                  </a:tcPr>
                </a:tc>
                <a:tc>
                  <a:txBody>
                    <a:bodyPr wrap="square"/>
                    <a:lstStyle/>
                    <a:p>
                      <a:r>
                        <a:rPr sz="1100" b="1">
                          <a:solidFill>
                            <a:srgbClr val="FFFFFF"/>
                          </a:solidFill>
                          <a:latin typeface="Arial"/>
                        </a:rPr>
                        <a:t>22.5° (choice)</a:t>
                      </a:r>
                    </a:p>
                  </a:txBody>
                  <a:tcPr marL="54864" marR="54864" marT="18288" marB="18288">
                    <a:solidFill>
                      <a:srgbClr val="1F4E79"/>
                    </a:solidFill>
                  </a:tcPr>
                </a:tc>
                <a:tc>
                  <a:txBody>
                    <a:bodyPr wrap="square"/>
                    <a:lstStyle/>
                    <a:p>
                      <a:r>
                        <a:rPr sz="1100" b="1">
                          <a:solidFill>
                            <a:srgbClr val="FFFFFF"/>
                          </a:solidFill>
                          <a:latin typeface="Arial"/>
                        </a:rPr>
                        <a:t>30°</a:t>
                      </a:r>
                    </a:p>
                  </a:txBody>
                  <a:tcPr marL="54864" marR="54864" marT="18288" marB="18288">
                    <a:solidFill>
                      <a:srgbClr val="1F4E79"/>
                    </a:solidFill>
                  </a:tcPr>
                </a:tc>
              </a:tr>
              <a:tr h="468630">
                <a:tc>
                  <a:txBody>
                    <a:bodyPr wrap="square"/>
                    <a:lstStyle/>
                    <a:p>
                      <a:r>
                        <a:rPr sz="1100" b="0">
                          <a:solidFill>
                            <a:srgbClr val="282828"/>
                          </a:solidFill>
                          <a:latin typeface="Arial"/>
                        </a:rPr>
                        <a:t>node clearance, worst part</a:t>
                      </a:r>
                    </a:p>
                  </a:txBody>
                  <a:tcPr marL="54864" marR="54864" marT="18288" marB="18288">
                    <a:solidFill>
                      <a:srgbClr val="FFFFFF"/>
                    </a:solidFill>
                  </a:tcPr>
                </a:tc>
                <a:tc>
                  <a:txBody>
                    <a:bodyPr wrap="square"/>
                    <a:lstStyle/>
                    <a:p>
                      <a:r>
                        <a:rPr sz="1100" b="0">
                          <a:solidFill>
                            <a:srgbClr val="282828"/>
                          </a:solidFill>
                          <a:latin typeface="Arial"/>
                        </a:rPr>
                        <a:t>−109 mm: not buildable</a:t>
                      </a:r>
                    </a:p>
                  </a:txBody>
                  <a:tcPr marL="54864" marR="54864" marT="18288" marB="18288">
                    <a:solidFill>
                      <a:srgbClr val="FFFFFF"/>
                    </a:solidFill>
                  </a:tcPr>
                </a:tc>
                <a:tc>
                  <a:txBody>
                    <a:bodyPr wrap="square"/>
                    <a:lstStyle/>
                    <a:p>
                      <a:r>
                        <a:rPr sz="1100" b="0">
                          <a:solidFill>
                            <a:srgbClr val="282828"/>
                          </a:solidFill>
                          <a:latin typeface="Arial"/>
                        </a:rPr>
                        <a:t>compensator +16 mm; output optics +55 / +65; L2 +100</a:t>
                      </a:r>
                    </a:p>
                  </a:txBody>
                  <a:tcPr marL="54864" marR="54864" marT="18288" marB="18288">
                    <a:solidFill>
                      <a:srgbClr val="FFFFFF"/>
                    </a:solidFill>
                  </a:tcPr>
                </a:tc>
                <a:tc>
                  <a:txBody>
                    <a:bodyPr wrap="square"/>
                    <a:lstStyle/>
                    <a:p>
                      <a:r>
                        <a:rPr sz="1100" b="0">
                          <a:solidFill>
                            <a:srgbClr val="282828"/>
                          </a:solidFill>
                          <a:latin typeface="Arial"/>
                        </a:rPr>
                        <a:t>compensator +57; the rest +178 or more</a:t>
                      </a:r>
                    </a:p>
                  </a:txBody>
                  <a:tcPr marL="54864" marR="54864" marT="18288" marB="18288">
                    <a:solidFill>
                      <a:srgbClr val="FFFFFF"/>
                    </a:solidFill>
                  </a:tcPr>
                </a:tc>
              </a:tr>
              <a:tr h="468630">
                <a:tc>
                  <a:txBody>
                    <a:bodyPr wrap="square"/>
                    <a:lstStyle/>
                    <a:p>
                      <a:r>
                        <a:rPr sz="1100" b="0">
                          <a:solidFill>
                            <a:srgbClr val="282828"/>
                          </a:solidFill>
                          <a:latin typeface="Arial"/>
                        </a:rPr>
                        <a:t>bench shape</a:t>
                      </a:r>
                    </a:p>
                  </a:txBody>
                  <a:tcPr marL="54864" marR="54864" marT="18288" marB="18288">
                    <a:solidFill>
                      <a:srgbClr val="ECF1F6"/>
                    </a:solidFill>
                  </a:tcPr>
                </a:tc>
                <a:tc>
                  <a:txBody>
                    <a:bodyPr wrap="square"/>
                    <a:lstStyle/>
                    <a:p>
                      <a:r>
                        <a:rPr sz="1100" b="0">
                          <a:solidFill>
                            <a:srgbClr val="282828"/>
                          </a:solidFill>
                          <a:latin typeface="Arial"/>
                        </a:rPr>
                        <a:t>all four legs within 14° of one line</a:t>
                      </a:r>
                    </a:p>
                  </a:txBody>
                  <a:tcPr marL="54864" marR="54864" marT="18288" marB="18288">
                    <a:solidFill>
                      <a:srgbClr val="ECF1F6"/>
                    </a:solidFill>
                  </a:tcPr>
                </a:tc>
                <a:tc>
                  <a:txBody>
                    <a:bodyPr wrap="square"/>
                    <a:lstStyle/>
                    <a:p>
                      <a:r>
                        <a:rPr sz="1100" b="0">
                          <a:solidFill>
                            <a:srgbClr val="282828"/>
                          </a:solidFill>
                          <a:latin typeface="Arial"/>
                        </a:rPr>
                        <a:t>mirror leg at 45° to the source leg</a:t>
                      </a:r>
                    </a:p>
                  </a:txBody>
                  <a:tcPr marL="54864" marR="54864" marT="18288" marB="18288">
                    <a:solidFill>
                      <a:srgbClr val="ECF1F6"/>
                    </a:solidFill>
                  </a:tcPr>
                </a:tc>
                <a:tc>
                  <a:txBody>
                    <a:bodyPr wrap="square"/>
                    <a:lstStyle/>
                    <a:p>
                      <a:r>
                        <a:rPr sz="1100" b="0">
                          <a:solidFill>
                            <a:srgbClr val="282828"/>
                          </a:solidFill>
                          <a:latin typeface="Arial"/>
                        </a:rPr>
                        <a:t>mirror leg at 60°</a:t>
                      </a:r>
                    </a:p>
                  </a:txBody>
                  <a:tcPr marL="54864" marR="54864" marT="18288" marB="18288">
                    <a:solidFill>
                      <a:srgbClr val="ECF1F6"/>
                    </a:solidFill>
                  </a:tcPr>
                </a:tc>
              </a:tr>
              <a:tr h="468630">
                <a:tc>
                  <a:txBody>
                    <a:bodyPr wrap="square"/>
                    <a:lstStyle/>
                    <a:p>
                      <a:r>
                        <a:rPr sz="1100" b="0">
                          <a:solidFill>
                            <a:srgbClr val="282828"/>
                          </a:solidFill>
                          <a:latin typeface="Arial"/>
                        </a:rPr>
                        <a:t>plate's polarization (mean diattenuation, uniform)</a:t>
                      </a:r>
                    </a:p>
                  </a:txBody>
                  <a:tcPr marL="54864" marR="54864" marT="18288" marB="18288">
                    <a:solidFill>
                      <a:srgbClr val="FFFFFF"/>
                    </a:solidFill>
                  </a:tcPr>
                </a:tc>
                <a:tc>
                  <a:txBody>
                    <a:bodyPr wrap="square"/>
                    <a:lstStyle/>
                    <a:p>
                      <a:r>
                        <a:rPr sz="1100" b="0">
                          <a:solidFill>
                            <a:srgbClr val="282828"/>
                          </a:solidFill>
                          <a:latin typeface="Arial"/>
                        </a:rPr>
                        <a:t>0.5%</a:t>
                      </a:r>
                    </a:p>
                  </a:txBody>
                  <a:tcPr marL="54864" marR="54864" marT="18288" marB="18288">
                    <a:solidFill>
                      <a:srgbClr val="FFFFFF"/>
                    </a:solidFill>
                  </a:tcPr>
                </a:tc>
                <a:tc>
                  <a:txBody>
                    <a:bodyPr wrap="square"/>
                    <a:lstStyle/>
                    <a:p>
                      <a:r>
                        <a:rPr sz="1100" b="0">
                          <a:solidFill>
                            <a:srgbClr val="282828"/>
                          </a:solidFill>
                          <a:latin typeface="Arial"/>
                        </a:rPr>
                        <a:t>5.5%</a:t>
                      </a:r>
                    </a:p>
                  </a:txBody>
                  <a:tcPr marL="54864" marR="54864" marT="18288" marB="18288">
                    <a:solidFill>
                      <a:srgbClr val="FFFFFF"/>
                    </a:solidFill>
                  </a:tcPr>
                </a:tc>
                <a:tc>
                  <a:txBody>
                    <a:bodyPr wrap="square"/>
                    <a:lstStyle/>
                    <a:p>
                      <a:r>
                        <a:rPr sz="1100" b="0">
                          <a:solidFill>
                            <a:srgbClr val="282828"/>
                          </a:solidFill>
                          <a:latin typeface="Arial"/>
                        </a:rPr>
                        <a:t>10%</a:t>
                      </a:r>
                    </a:p>
                  </a:txBody>
                  <a:tcPr marL="54864" marR="54864" marT="18288" marB="18288">
                    <a:solidFill>
                      <a:srgbClr val="FFFFFF"/>
                    </a:solidFill>
                  </a:tcPr>
                </a:tc>
              </a:tr>
              <a:tr h="468630">
                <a:tc>
                  <a:txBody>
                    <a:bodyPr wrap="square"/>
                    <a:lstStyle/>
                    <a:p>
                      <a:r>
                        <a:rPr sz="1100" b="0">
                          <a:solidFill>
                            <a:srgbClr val="282828"/>
                          </a:solidFill>
                          <a:latin typeface="Arial"/>
                        </a:rPr>
                        <a:t>pupil-varying part (the lenses; what the sensors feel)</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r>
              <a:tr h="468630">
                <a:tc>
                  <a:txBody>
                    <a:bodyPr wrap="square"/>
                    <a:lstStyle/>
                    <a:p>
                      <a:r>
                        <a:rPr sz="1100" b="0">
                          <a:solidFill>
                            <a:srgbClr val="282828"/>
                          </a:solidFill>
                          <a:latin typeface="Arial"/>
                        </a:rPr>
                        <a:t>vector sensor, channel phase difference / 100 nm pokes</a:t>
                      </a:r>
                    </a:p>
                  </a:txBody>
                  <a:tcPr marL="54864" marR="54864" marT="18288" marB="18288">
                    <a:solidFill>
                      <a:srgbClr val="FFFFFF"/>
                    </a:solidFill>
                  </a:tcPr>
                </a:tc>
                <a:tc>
                  <a:txBody>
                    <a:bodyPr wrap="square"/>
                    <a:lstStyle/>
                    <a:p>
                      <a:r>
                        <a:rPr sz="1100" b="0">
                          <a:solidFill>
                            <a:srgbClr val="282828"/>
                          </a:solidFill>
                          <a:latin typeface="Arial"/>
                        </a:rPr>
                        <a:t>1.63 mrad / 9.0 pm</a:t>
                      </a:r>
                    </a:p>
                  </a:txBody>
                  <a:tcPr marL="54864" marR="54864" marT="18288" marB="18288">
                    <a:solidFill>
                      <a:srgbClr val="FFFFFF"/>
                    </a:solidFill>
                  </a:tcPr>
                </a:tc>
                <a:tc>
                  <a:txBody>
                    <a:bodyPr wrap="square"/>
                    <a:lstStyle/>
                    <a:p>
                      <a:r>
                        <a:rPr sz="1100" b="0">
                          <a:solidFill>
                            <a:srgbClr val="282828"/>
                          </a:solidFill>
                          <a:latin typeface="Arial"/>
                        </a:rPr>
                        <a:t>1.66 mrad / 8.8 pm</a:t>
                      </a:r>
                    </a:p>
                  </a:txBody>
                  <a:tcPr marL="54864" marR="54864" marT="18288" marB="18288">
                    <a:solidFill>
                      <a:srgbClr val="FFFFFF"/>
                    </a:solidFill>
                  </a:tcPr>
                </a:tc>
                <a:tc>
                  <a:txBody>
                    <a:bodyPr wrap="square"/>
                    <a:lstStyle/>
                    <a:p>
                      <a:r>
                        <a:rPr sz="1100" b="0">
                          <a:solidFill>
                            <a:srgbClr val="282828"/>
                          </a:solidFill>
                          <a:latin typeface="Arial"/>
                        </a:rPr>
                        <a:t>1.69 mrad / 9.1 pm</a:t>
                      </a:r>
                    </a:p>
                  </a:txBody>
                  <a:tcPr marL="54864" marR="54864" marT="18288" marB="18288">
                    <a:solidFill>
                      <a:srgbClr val="FFFFFF"/>
                    </a:solidFill>
                  </a:tcPr>
                </a:tc>
              </a:tr>
              <a:tr h="280035">
                <a:tc>
                  <a:txBody>
                    <a:bodyPr wrap="square"/>
                    <a:lstStyle/>
                    <a:p>
                      <a:r>
                        <a:rPr sz="1100" b="0">
                          <a:solidFill>
                            <a:srgbClr val="282828"/>
                          </a:solidFill>
                          <a:latin typeface="Arial"/>
                        </a:rPr>
                        <a:t>transmitted beam shift in the 2.6 mm plate</a:t>
                      </a:r>
                    </a:p>
                  </a:txBody>
                  <a:tcPr marL="54864" marR="54864" marT="18288" marB="18288">
                    <a:solidFill>
                      <a:srgbClr val="ECF1F6"/>
                    </a:solidFill>
                  </a:tcPr>
                </a:tc>
                <a:tc>
                  <a:txBody>
                    <a:bodyPr wrap="square"/>
                    <a:lstStyle/>
                    <a:p>
                      <a:r>
                        <a:rPr sz="1100" b="0">
                          <a:solidFill>
                            <a:srgbClr val="282828"/>
                          </a:solidFill>
                          <a:latin typeface="Arial"/>
                        </a:rPr>
                        <a:t>0.1 mm</a:t>
                      </a:r>
                    </a:p>
                  </a:txBody>
                  <a:tcPr marL="54864" marR="54864" marT="18288" marB="18288">
                    <a:solidFill>
                      <a:srgbClr val="ECF1F6"/>
                    </a:solidFill>
                  </a:tcPr>
                </a:tc>
                <a:tc>
                  <a:txBody>
                    <a:bodyPr wrap="square"/>
                    <a:lstStyle/>
                    <a:p>
                      <a:r>
                        <a:rPr sz="1100" b="0">
                          <a:solidFill>
                            <a:srgbClr val="282828"/>
                          </a:solidFill>
                          <a:latin typeface="Arial"/>
                        </a:rPr>
                        <a:t>0.36 mm (1.4 at 10 mm)</a:t>
                      </a:r>
                    </a:p>
                  </a:txBody>
                  <a:tcPr marL="54864" marR="54864" marT="18288" marB="18288">
                    <a:solidFill>
                      <a:srgbClr val="ECF1F6"/>
                    </a:solidFill>
                  </a:tcPr>
                </a:tc>
                <a:tc>
                  <a:txBody>
                    <a:bodyPr wrap="square"/>
                    <a:lstStyle/>
                    <a:p>
                      <a:r>
                        <a:rPr sz="1100" b="0">
                          <a:solidFill>
                            <a:srgbClr val="282828"/>
                          </a:solidFill>
                          <a:latin typeface="Arial"/>
                        </a:rPr>
                        <a:t>0.50 mm</a:t>
                      </a:r>
                    </a:p>
                  </a:txBody>
                  <a:tcPr marL="54864" marR="54864" marT="18288" marB="18288">
                    <a:solidFill>
                      <a:srgbClr val="ECF1F6"/>
                    </a:solidFill>
                  </a:tcPr>
                </a:tc>
              </a:tr>
              <a:tr h="280035">
                <a:tc>
                  <a:txBody>
                    <a:bodyPr wrap="square"/>
                    <a:lstStyle/>
                    <a:p>
                      <a:r>
                        <a:rPr sz="1100" b="0">
                          <a:solidFill>
                            <a:srgbClr val="282828"/>
                          </a:solidFill>
                          <a:latin typeface="Arial"/>
                        </a:rPr>
                        <a:t>interferometer snapshot form</a:t>
                      </a:r>
                    </a:p>
                  </a:txBody>
                  <a:tcPr marL="54864" marR="54864" marT="18288" marB="18288">
                    <a:solidFill>
                      <a:srgbClr val="FFFFFF"/>
                    </a:solidFill>
                  </a:tcPr>
                </a:tc>
                <a:tc>
                  <a:txBody>
                    <a:bodyPr wrap="square"/>
                    <a:lstStyle/>
                    <a:p>
                      <a:r>
                        <a:rPr sz="1100" b="0">
                          <a:solidFill>
                            <a:srgbClr val="282828"/>
                          </a:solidFill>
                          <a:latin typeface="Arial"/>
                        </a:rPr>
                        <a:t>the small-angle case</a:t>
                      </a:r>
                    </a:p>
                  </a:txBody>
                  <a:tcPr marL="54864" marR="54864" marT="18288" marB="18288">
                    <a:solidFill>
                      <a:srgbClr val="FFFFFF"/>
                    </a:solidFill>
                  </a:tcPr>
                </a:tc>
                <a:tc>
                  <a:txBody>
                    <a:bodyPr wrap="square"/>
                    <a:lstStyle/>
                    <a:p>
                      <a:r>
                        <a:rPr sz="1100" b="0">
                          <a:solidFill>
                            <a:srgbClr val="282828"/>
                          </a:solidFill>
                          <a:latin typeface="Arial"/>
                        </a:rPr>
                        <a:t>its plate systematics re-run at this angle</a:t>
                      </a:r>
                    </a:p>
                  </a:txBody>
                  <a:tcPr marL="54864" marR="54864" marT="18288" marB="18288">
                    <a:solidFill>
                      <a:srgbClr val="FFFFFF"/>
                    </a:solidFill>
                  </a:tcPr>
                </a:tc>
                <a:tc>
                  <a:txBody>
                    <a:bodyPr wrap="square"/>
                    <a:lstStyle/>
                    <a:p>
                      <a:r>
                        <a:rPr sz="1100" b="0">
                          <a:solidFill>
                            <a:srgbClr val="282828"/>
                          </a:solidFill>
                          <a:latin typeface="Arial"/>
                        </a:rPr>
                        <a:t>larger</a:t>
                      </a:r>
                    </a:p>
                  </a:txBody>
                  <a:tcPr marL="54864" marR="54864" marT="18288" marB="18288">
                    <a:solidFill>
                      <a:srgbClr val="FFFFFF"/>
                    </a:solidFill>
                  </a:tcPr>
                </a:tc>
              </a:tr>
            </a:tbl>
          </a:graphicData>
        </a:graphic>
      </p:graphicFrame>
      <p:sp>
        <p:nvSpPr>
          <p:cNvPr id="7" name="TextBox 6"/>
          <p:cNvSpPr txBox="1"/>
          <p:nvPr/>
        </p:nvSpPr>
        <p:spPr>
          <a:xfrm>
            <a:off x="411480" y="6400800"/>
            <a:ext cx="11368735" cy="274320"/>
          </a:xfrm>
          <a:prstGeom prst="rect">
            <a:avLst/>
          </a:prstGeom>
          <a:noFill/>
        </p:spPr>
        <p:txBody>
          <a:bodyPr wrap="square">
            <a:spAutoFit/>
          </a:bodyPr>
          <a:lstStyle/>
          <a:p>
            <a:pPr>
              <a:spcAft>
                <a:spcPts val="600"/>
              </a:spcAft>
            </a:pPr>
            <a:r>
              <a:rPr sz="1050" b="0">
                <a:solidFill>
                  <a:srgbClr val="6E6E6E"/>
                </a:solidFill>
                <a:latin typeface="Arial"/>
              </a:rPr>
              <a:t>The sensors reproduce their rows at every angle; the interferometer's snapshot form is the one thing the angle changes, through the plate's polarization, and the cube form is built for 45°.  Run tags bs22_dev, bs30_dev; the panels at 7° and 30° are on the backup clearance slide.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detector leg</a:t>
            </a:r>
          </a:p>
          <a:p>
            <a:pPr>
              <a:spcAft>
                <a:spcPts val="0"/>
              </a:spcAft>
            </a:pPr>
            <a:r>
              <a:rPr sz="1250" b="0">
                <a:solidFill>
                  <a:srgbClr val="6E6E6E"/>
                </a:solidFill>
                <a:latin typeface="Arial"/>
              </a:rPr>
              <a:t>From the focuser to the camera: focused once and shared by every configuration, so only the mask seat's contents and what follows the field lens change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154555"/>
        </p:xfrm>
        <a:graphic>
          <a:graphicData uri="http://schemas.openxmlformats.org/drawingml/2006/table">
            <a:tbl>
              <a:tblPr firstRow="1" bandRow="1">
                <a:tableStyleId>{5C22544A-7EE6-4342-B048-85BDC9FD1C3A}</a:tableStyleId>
              </a:tblPr>
              <a:tblGrid>
                <a:gridCol w="1526540"/>
                <a:gridCol w="5300957"/>
                <a:gridCol w="1605219"/>
                <a:gridCol w="509524"/>
                <a:gridCol w="2426494"/>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focuser: L2 or OAP2</a:t>
                      </a:r>
                    </a:p>
                  </a:txBody>
                  <a:tcPr marL="54864" marR="54864" marT="18288" marB="18288">
                    <a:solidFill>
                      <a:srgbClr val="FFFFFF"/>
                    </a:solidFill>
                  </a:tcPr>
                </a:tc>
                <a:tc>
                  <a:txBody>
                    <a:bodyPr wrap="square"/>
                    <a:lstStyle/>
                    <a:p>
                      <a:r>
                        <a:rPr sz="1100" b="0">
                          <a:solidFill>
                            <a:srgbClr val="282828"/>
                          </a:solidFill>
                          <a:latin typeface="Arial"/>
                        </a:rPr>
                        <a:t>L2: f 429 mm, 103 mm, plano-convex conic (conic −0.582), 8 mm center.  OAP2: parent f 352 mm (R −704), 328 mm off-axis, 25° fold, 113 mm</a:t>
                      </a:r>
                    </a:p>
                  </a:txBody>
                  <a:tcPr marL="54864" marR="54864" marT="18288" marB="18288">
                    <a:solidFill>
                      <a:srgbClr val="FFFFFF"/>
                    </a:solidFill>
                  </a:tcPr>
                </a:tc>
                <a:tc>
                  <a:txBody>
                    <a:bodyPr wrap="square"/>
                    <a:lstStyle/>
                    <a:p>
                      <a:r>
                        <a:rPr sz="1100" b="0">
                          <a:solidFill>
                            <a:srgbClr val="282828"/>
                          </a:solidFill>
                          <a:latin typeface="Arial"/>
                        </a:rPr>
                        <a:t>L2 anti-reflection; OAP2 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internal focus at F/4.2 where the masks sit</a:t>
                      </a:r>
                    </a:p>
                  </a:txBody>
                  <a:tcPr marL="54864" marR="54864" marT="18288" marB="18288">
                    <a:solidFill>
                      <a:srgbClr val="FFFFFF"/>
                    </a:solidFill>
                  </a:tcPr>
                </a:tc>
              </a:tr>
              <a:tr h="468630">
                <a:tc>
                  <a:txBody>
                    <a:bodyPr wrap="square"/>
                    <a:lstStyle/>
                    <a:p>
                      <a:r>
                        <a:rPr sz="1100" b="0">
                          <a:solidFill>
                            <a:srgbClr val="282828"/>
                          </a:solidFill>
                          <a:latin typeface="Arial"/>
                        </a:rPr>
                        <a:t>mask seat</a:t>
                      </a:r>
                    </a:p>
                  </a:txBody>
                  <a:tcPr marL="54864" marR="54864" marT="18288" marB="18288">
                    <a:solidFill>
                      <a:srgbClr val="ECF1F6"/>
                    </a:solidFill>
                  </a:tcPr>
                </a:tc>
                <a:tc>
                  <a:txBody>
                    <a:bodyPr wrap="square"/>
                    <a:lstStyle/>
                    <a:p>
                      <a:r>
                        <a:rPr sz="1100" b="0">
                          <a:solidFill>
                            <a:srgbClr val="282828"/>
                          </a:solidFill>
                          <a:latin typeface="Arial"/>
                        </a:rPr>
                        <a:t>translation stage at the internal focus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selects the sensor: clear window, dimple, metasurface, pinhole</a:t>
                      </a:r>
                    </a:p>
                  </a:txBody>
                  <a:tcPr marL="54864" marR="54864" marT="18288" marB="18288">
                    <a:solidFill>
                      <a:srgbClr val="ECF1F6"/>
                    </a:solidFill>
                  </a:tcPr>
                </a:tc>
              </a:tr>
              <a:tr h="468630">
                <a:tc>
                  <a:txBody>
                    <a:bodyPr wrap="square"/>
                    <a:lstStyle/>
                    <a:p>
                      <a:r>
                        <a:rPr sz="1100" b="0">
                          <a:solidFill>
                            <a:srgbClr val="282828"/>
                          </a:solidFill>
                          <a:latin typeface="Arial"/>
                        </a:rPr>
                        <a:t>field lens</a:t>
                      </a:r>
                    </a:p>
                  </a:txBody>
                  <a:tcPr marL="54864" marR="54864" marT="18288" marB="18288">
                    <a:solidFill>
                      <a:srgbClr val="FFFFFF"/>
                    </a:solidFill>
                  </a:tcPr>
                </a:tc>
                <a:tc>
                  <a:txBody>
                    <a:bodyPr wrap="square"/>
                    <a:lstStyle/>
                    <a:p>
                      <a:r>
                        <a:rPr sz="1100" b="0">
                          <a:solidFill>
                            <a:srgbClr val="282828"/>
                          </a:solidFill>
                          <a:latin typeface="Arial"/>
                        </a:rPr>
                        <a:t>f 43 mm, 21 mm, a conic: −2.11 at the seed station 10.8 mm past the focus, or −7.77 tuned — over the 2.4 mm of it the beam uses, 0.20 µm apart</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reimages the DM: 9.8 mm across on the 96 mm beam, 38 mm behind it</a:t>
                      </a:r>
                    </a:p>
                  </a:txBody>
                  <a:tcPr marL="54864" marR="54864" marT="18288" marB="18288">
                    <a:solidFill>
                      <a:srgbClr val="FFFFFF"/>
                    </a:solidFill>
                  </a:tcPr>
                </a:tc>
              </a:tr>
              <a:tr h="468630">
                <a:tc>
                  <a:txBody>
                    <a:bodyPr wrap="square"/>
                    <a:lstStyle/>
                    <a:p>
                      <a:r>
                        <a:rPr sz="1100" b="0">
                          <a:solidFill>
                            <a:srgbClr val="282828"/>
                          </a:solidFill>
                          <a:latin typeface="Arial"/>
                        </a:rPr>
                        <a:t>camera A</a:t>
                      </a:r>
                    </a:p>
                  </a:txBody>
                  <a:tcPr marL="54864" marR="54864" marT="18288" marB="18288">
                    <a:solidFill>
                      <a:srgbClr val="ECF1F6"/>
                    </a:solidFill>
                  </a:tcPr>
                </a:tc>
                <a:tc>
                  <a:txBody>
                    <a:bodyPr wrap="square"/>
                    <a:lstStyle/>
                    <a:p>
                      <a:r>
                        <a:rPr sz="1100" b="0">
                          <a:solidFill>
                            <a:srgbClr val="282828"/>
                          </a:solidFill>
                          <a:latin typeface="Arial"/>
                        </a:rPr>
                        <a:t>sCMOS 2048×2048, 6.5 µm binned 4 to 377 px across the 9.8 mm image; or 24 µm pixels unbinned (408)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every configuration's pupil image</a:t>
                      </a:r>
                    </a:p>
                  </a:txBody>
                  <a:tcPr marL="54864" marR="54864" marT="18288" marB="18288">
                    <a:solidFill>
                      <a:srgbClr val="ECF1F6"/>
                    </a:solidFill>
                  </a:tcPr>
                </a:tc>
              </a:tr>
            </a:tbl>
          </a:graphicData>
        </a:graphic>
      </p:graphicFrame>
      <p:sp>
        <p:nvSpPr>
          <p:cNvPr id="5" name="TextBox 4"/>
          <p:cNvSpPr txBox="1"/>
          <p:nvPr/>
        </p:nvSpPr>
        <p:spPr>
          <a:xfrm>
            <a:off x="411480" y="3599307"/>
            <a:ext cx="11368735" cy="274320"/>
          </a:xfrm>
          <a:prstGeom prst="rect">
            <a:avLst/>
          </a:prstGeom>
          <a:noFill/>
        </p:spPr>
        <p:txBody>
          <a:bodyPr wrap="square">
            <a:spAutoFit/>
          </a:bodyPr>
          <a:lstStyle/>
          <a:p>
            <a:pPr>
              <a:spcAft>
                <a:spcPts val="600"/>
              </a:spcAft>
            </a:pPr>
            <a:r>
              <a:rPr sz="1050" b="0">
                <a:solidFill>
                  <a:srgbClr val="6E6E6E"/>
                </a:solidFill>
                <a:latin typeface="Arial"/>
              </a:rPr>
              <a:t>The field lens's conic is the one part still open: the seed station images the mirror flat, the tuned station reads it 2.3x better, and the two differ by 0.20 µm over the 2.4 mm the beam uses.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interferometer</a:t>
            </a:r>
          </a:p>
          <a:p>
            <a:pPr>
              <a:spcAft>
                <a:spcPts val="0"/>
              </a:spcAft>
            </a:pPr>
            <a:r>
              <a:rPr sz="1250" b="0">
                <a:solidFill>
                  <a:srgbClr val="6E6E6E"/>
                </a:solidFill>
                <a:latin typeface="Arial"/>
              </a:rPr>
              <a:t>What the reference arm and the two phase-shift forms add to the common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4977765"/>
        </p:xfrm>
        <a:graphic>
          <a:graphicData uri="http://schemas.openxmlformats.org/drawingml/2006/table">
            <a:tbl>
              <a:tblPr firstRow="1" bandRow="1">
                <a:tableStyleId>{5C22544A-7EE6-4342-B048-85BDC9FD1C3A}</a:tableStyleId>
              </a:tblPr>
              <a:tblGrid>
                <a:gridCol w="1090676"/>
                <a:gridCol w="1930802"/>
                <a:gridCol w="2844300"/>
                <a:gridCol w="2398268"/>
                <a:gridCol w="509524"/>
                <a:gridCol w="2595164"/>
              </a:tblGrid>
              <a:tr h="280035">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 / 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all</a:t>
                      </a:r>
                    </a:p>
                  </a:txBody>
                  <a:tcPr marL="54864" marR="54864" marT="18288" marB="18288">
                    <a:solidFill>
                      <a:srgbClr val="FFFFFF"/>
                    </a:solidFill>
                  </a:tcPr>
                </a:tc>
                <a:tc>
                  <a:txBody>
                    <a:bodyPr wrap="square"/>
                    <a:lstStyle/>
                    <a:p>
                      <a:r>
                        <a:rPr sz="1100" b="0">
                          <a:solidFill>
                            <a:srgbClr val="282828"/>
                          </a:solidFill>
                          <a:latin typeface="Arial"/>
                        </a:rPr>
                        <a:t>reference flat</a:t>
                      </a:r>
                    </a:p>
                  </a:txBody>
                  <a:tcPr marL="54864" marR="54864" marT="18288" marB="18288">
                    <a:solidFill>
                      <a:srgbClr val="FFFFFF"/>
                    </a:solidFill>
                  </a:tcPr>
                </a:tc>
                <a:tc>
                  <a:txBody>
                    <a:bodyPr wrap="square"/>
                    <a:lstStyle/>
                    <a:p>
                      <a:r>
                        <a:rPr sz="1100" b="0">
                          <a:solidFill>
                            <a:srgbClr val="282828"/>
                          </a:solidFill>
                          <a:latin typeface="Arial"/>
                        </a:rPr>
                        <a:t>103 mm, λ/20; 564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external reference: the arm that makes this the one gauge to capture a whole wave</a:t>
                      </a:r>
                    </a:p>
                  </a:txBody>
                  <a:tcPr marL="54864" marR="54864" marT="18288" marB="18288">
                    <a:solidFill>
                      <a:srgbClr val="FFFFFF"/>
                    </a:solidFill>
                  </a:tcPr>
                </a:tc>
              </a:tr>
              <a:tr h="845820">
                <a:tc>
                  <a:txBody>
                    <a:bodyPr wrap="square"/>
                    <a:lstStyle/>
                    <a:p>
                      <a:r>
                        <a:rPr sz="1100" b="0">
                          <a:solidFill>
                            <a:srgbClr val="282828"/>
                          </a:solidFill>
                          <a:latin typeface="Arial"/>
                        </a:rPr>
                        <a:t>piezo form</a:t>
                      </a:r>
                    </a:p>
                  </a:txBody>
                  <a:tcPr marL="54864" marR="54864" marT="18288" marB="18288">
                    <a:solidFill>
                      <a:srgbClr val="ECF1F6"/>
                    </a:solidFill>
                  </a:tcPr>
                </a:tc>
                <a:tc>
                  <a:txBody>
                    <a:bodyPr wrap="square"/>
                    <a:lstStyle/>
                    <a:p>
                      <a:r>
                        <a:rPr sz="1100" b="0">
                          <a:solidFill>
                            <a:srgbClr val="282828"/>
                          </a:solidFill>
                          <a:latin typeface="Arial"/>
                        </a:rPr>
                        <a:t>closed-loop piezo stage under the flat</a:t>
                      </a:r>
                    </a:p>
                  </a:txBody>
                  <a:tcPr marL="54864" marR="54864" marT="18288" marB="18288">
                    <a:solidFill>
                      <a:srgbClr val="ECF1F6"/>
                    </a:solidFill>
                  </a:tcPr>
                </a:tc>
                <a:tc>
                  <a:txBody>
                    <a:bodyPr wrap="square"/>
                    <a:lstStyle/>
                    <a:p>
                      <a:r>
                        <a:rPr sz="1100" b="0">
                          <a:solidFill>
                            <a:srgbClr val="282828"/>
                          </a:solidFill>
                          <a:latin typeface="Arial"/>
                        </a:rPr>
                        <a:t>stroke over one wave (633 nm) in four steps of λ/8 of surface; closed-loop, since the step error is read directly as phase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steps the reference phase; a 2% step error is priced in the servo, and the stepping is what exposes it to within-scan drift</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input polarizer; one quarter-wave plate in each arm, double-passed; output quarter-wave plate</a:t>
                      </a:r>
                    </a:p>
                  </a:txBody>
                  <a:tcPr marL="54864" marR="54864" marT="18288" marB="18288">
                    <a:solidFill>
                      <a:srgbClr val="FFFFFF"/>
                    </a:solidFill>
                  </a:tcPr>
                </a:tc>
                <a:tc>
                  <a:txBody>
                    <a:bodyPr wrap="square"/>
                    <a:lstStyle/>
                    <a:p>
                      <a:r>
                        <a:rPr sz="1100" b="0">
                          <a:solidFill>
                            <a:srgbClr val="282828"/>
                          </a:solidFill>
                          <a:latin typeface="Arial"/>
                        </a:rPr>
                        <a:t>103 mm zero-order plates on 2-3 mm substrates; azimuths 45 / 0 / 45 / 0°</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4</a:t>
                      </a:r>
                    </a:p>
                  </a:txBody>
                  <a:tcPr marL="54864" marR="54864" marT="18288" marB="18288">
                    <a:solidFill>
                      <a:srgbClr val="FFFFFF"/>
                    </a:solidFill>
                  </a:tcPr>
                </a:tc>
                <a:tc>
                  <a:txBody>
                    <a:bodyPr wrap="square"/>
                    <a:lstStyle/>
                    <a:p>
                      <a:r>
                        <a:rPr sz="1100" b="0">
                          <a:solidFill>
                            <a:srgbClr val="282828"/>
                          </a:solidFill>
                          <a:latin typeface="Arial"/>
                        </a:rPr>
                        <a:t>codes the four channels in polarization</a:t>
                      </a:r>
                    </a:p>
                  </a:txBody>
                  <a:tcPr marL="54864" marR="54864" marT="18288" marB="18288">
                    <a:solidFill>
                      <a:srgbClr val="FFFFFF"/>
                    </a:solidFill>
                  </a:tcPr>
                </a:tc>
              </a:tr>
              <a:tr h="845820">
                <a:tc>
                  <a:txBody>
                    <a:bodyPr wrap="square"/>
                    <a:lstStyle/>
                    <a:p>
                      <a:r>
                        <a:rPr sz="1100" b="0">
                          <a:solidFill>
                            <a:srgbClr val="282828"/>
                          </a:solidFill>
                          <a:latin typeface="Arial"/>
                        </a:rPr>
                        <a:t>piezo</a:t>
                      </a:r>
                    </a:p>
                  </a:txBody>
                  <a:tcPr marL="54864" marR="54864" marT="18288" marB="18288">
                    <a:solidFill>
                      <a:srgbClr val="ECF1F6"/>
                    </a:solidFill>
                  </a:tcPr>
                </a:tc>
                <a:tc>
                  <a:txBody>
                    <a:bodyPr wrap="square"/>
                    <a:lstStyle/>
                    <a:p>
                      <a:r>
                        <a:rPr sz="1100" b="0">
                          <a:solidFill>
                            <a:srgbClr val="282828"/>
                          </a:solidFill>
                          <a:latin typeface="Arial"/>
                        </a:rPr>
                        <a:t>analyzer</a:t>
                      </a:r>
                    </a:p>
                  </a:txBody>
                  <a:tcPr marL="54864" marR="54864" marT="18288" marB="18288">
                    <a:solidFill>
                      <a:srgbClr val="ECF1F6"/>
                    </a:solidFill>
                  </a:tcPr>
                </a:tc>
                <a:tc>
                  <a:txBody>
                    <a:bodyPr wrap="square"/>
                    <a:lstStyle/>
                    <a:p>
                      <a:r>
                        <a:rPr sz="1100" b="0">
                          <a:solidFill>
                            <a:srgbClr val="282828"/>
                          </a:solidFill>
                          <a:latin typeface="Arial"/>
                        </a:rPr>
                        <a:t>103 mm polarizer on a 2 mm substrate, 160 mm behind the splitter with the output plate</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sets the interference to be read; in the snapshot form the camera's own micro-polarizer array does this job four ways at once</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polarization camera, replacing camera A</a:t>
                      </a:r>
                    </a:p>
                  </a:txBody>
                  <a:tcPr marL="54864" marR="54864" marT="18288" marB="18288">
                    <a:solidFill>
                      <a:srgbClr val="FFFFFF"/>
                    </a:solidFill>
                  </a:tcPr>
                </a:tc>
                <a:tc>
                  <a:txBody>
                    <a:bodyPr wrap="square"/>
                    <a:lstStyle/>
                    <a:p>
                      <a:r>
                        <a:rPr sz="1100" b="0">
                          <a:solidFill>
                            <a:srgbClr val="282828"/>
                          </a:solidFill>
                          <a:latin typeface="Arial"/>
                        </a:rPr>
                        <a:t>micro-polarizer array 0 / 45 / 90 / 135° over a 2048×2048 sCMOS, 3.45 µm pixels in 2×2 super-pixels, 680 per orientation across the pupil</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four analyzer channels in one frame: no moving part, and immune to the drift within a scan that the piezo form pays for</a:t>
                      </a:r>
                    </a:p>
                  </a:txBody>
                  <a:tcPr marL="54864" marR="54864" marT="18288" marB="18288">
                    <a:solidFill>
                      <a:srgbClr val="FFFFFF"/>
                    </a:solidFill>
                  </a:tcPr>
                </a:tc>
              </a:tr>
              <a:tr h="657225">
                <a:tc>
                  <a:txBody>
                    <a:bodyPr wrap="square"/>
                    <a:lstStyle/>
                    <a:p>
                      <a:r>
                        <a:rPr sz="1100" b="0">
                          <a:solidFill>
                            <a:srgbClr val="282828"/>
                          </a:solidFill>
                          <a:latin typeface="Arial"/>
                        </a:rPr>
                        <a:t>cube (backup)</a:t>
                      </a:r>
                    </a:p>
                  </a:txBody>
                  <a:tcPr marL="54864" marR="54864" marT="18288" marB="18288">
                    <a:solidFill>
                      <a:srgbClr val="ECF1F6"/>
                    </a:solidFill>
                  </a:tcPr>
                </a:tc>
                <a:tc>
                  <a:txBody>
                    <a:bodyPr wrap="square"/>
                    <a:lstStyle/>
                    <a:p>
                      <a:r>
                        <a:rPr sz="1100" b="0">
                          <a:solidFill>
                            <a:srgbClr val="282828"/>
                          </a:solidFill>
                          <a:latin typeface="Arial"/>
                        </a:rPr>
                        <a:t>cemented polarizing cube in place of the plate and compensator</a:t>
                      </a:r>
                    </a:p>
                  </a:txBody>
                  <a:tcPr marL="54864" marR="54864" marT="18288" marB="18288">
                    <a:solidFill>
                      <a:srgbClr val="ECF1F6"/>
                    </a:solidFill>
                  </a:tcPr>
                </a:tc>
                <a:tc>
                  <a:txBody>
                    <a:bodyPr wrap="square"/>
                    <a:lstStyle/>
                    <a:p>
                      <a:r>
                        <a:rPr sz="1100" b="0">
                          <a:solidFill>
                            <a:srgbClr val="282828"/>
                          </a:solidFill>
                          <a:latin typeface="Arial"/>
                        </a:rPr>
                        <a:t>103 mm class MacNeille, symmetric stack</a:t>
                      </a:r>
                    </a:p>
                  </a:txBody>
                  <a:tcPr marL="54864" marR="54864" marT="18288" marB="18288">
                    <a:solidFill>
                      <a:srgbClr val="ECF1F6"/>
                    </a:solidFill>
                  </a:tcPr>
                </a:tc>
                <a:tc>
                  <a:txBody>
                    <a:bodyPr wrap="square"/>
                    <a:lstStyle/>
                    <a:p>
                      <a:r>
                        <a:rPr sz="1100" b="0">
                          <a:solidFill>
                            <a:srgbClr val="282828"/>
                          </a:solidFill>
                          <a:latin typeface="Arial"/>
                        </a:rPr>
                        <a:t>ZnS / cryolite on n 1.655 glass</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split as polarization physics; no compensator</a:t>
                      </a:r>
                    </a:p>
                  </a:txBody>
                  <a:tcPr marL="54864" marR="54864" marT="18288" marB="18288">
                    <a:solidFill>
                      <a:srgbClr val="ECF1F6"/>
                    </a:solidFill>
                  </a:tcPr>
                </a:tc>
              </a:tr>
            </a:tbl>
          </a:graphicData>
        </a:graphic>
      </p:graphicFrame>
      <p:sp>
        <p:nvSpPr>
          <p:cNvPr id="5" name="TextBox 4"/>
          <p:cNvSpPr txBox="1"/>
          <p:nvPr/>
        </p:nvSpPr>
        <p:spPr>
          <a:xfrm>
            <a:off x="411480" y="6422517"/>
            <a:ext cx="11368735" cy="274320"/>
          </a:xfrm>
          <a:prstGeom prst="rect">
            <a:avLst/>
          </a:prstGeom>
          <a:noFill/>
        </p:spPr>
        <p:txBody>
          <a:bodyPr wrap="square">
            <a:spAutoFit/>
          </a:bodyPr>
          <a:lstStyle/>
          <a:p>
            <a:pPr>
              <a:spcAft>
                <a:spcPts val="600"/>
              </a:spcAft>
            </a:pPr>
            <a:r>
              <a:rPr sz="1050" b="0">
                <a:solidFill>
                  <a:srgbClr val="6E6E6E"/>
                </a:solidFill>
                <a:latin typeface="Arial"/>
              </a:rPr>
              <a:t>The hybrid form uses the snapshot parts for every change measurement and the piezo for the absolute calibration; both live on the same bench.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sensors</a:t>
            </a:r>
          </a:p>
          <a:p>
            <a:pPr>
              <a:spcAft>
                <a:spcPts val="0"/>
              </a:spcAft>
            </a:pPr>
            <a:r>
              <a:rPr sz="1250" b="0">
                <a:solidFill>
                  <a:srgbClr val="6E6E6E"/>
                </a:solidFill>
                <a:latin typeface="Arial"/>
              </a:rPr>
              <a:t>What each focal-plane sensor adds to the common bench: one substrate on the mask seat, and the vector sensor's split behind the field lens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566160"/>
        </p:xfrm>
        <a:graphic>
          <a:graphicData uri="http://schemas.openxmlformats.org/drawingml/2006/table">
            <a:tbl>
              <a:tblPr firstRow="1" bandRow="1">
                <a:tableStyleId>{5C22544A-7EE6-4342-B048-85BDC9FD1C3A}</a:tableStyleId>
              </a:tblPr>
              <a:tblGrid>
                <a:gridCol w="1671828"/>
                <a:gridCol w="2188758"/>
                <a:gridCol w="2918345"/>
                <a:gridCol w="1026825"/>
                <a:gridCol w="509524"/>
                <a:gridCol w="3053453"/>
              </a:tblGrid>
              <a:tr h="280035">
                <a:tc>
                  <a:txBody>
                    <a:bodyPr wrap="square"/>
                    <a:lstStyle/>
                    <a:p>
                      <a:r>
                        <a:rPr sz="1100" b="1">
                          <a:solidFill>
                            <a:srgbClr val="FFFFFF"/>
                          </a:solidFill>
                          <a:latin typeface="Arial"/>
                        </a:rPr>
                        <a:t>sensor</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Zernike</a:t>
                      </a:r>
                    </a:p>
                  </a:txBody>
                  <a:tcPr marL="54864" marR="54864" marT="18288" marB="18288">
                    <a:solidFill>
                      <a:srgbClr val="FFFFFF"/>
                    </a:solidFill>
                  </a:tcPr>
                </a:tc>
                <a:tc>
                  <a:txBody>
                    <a:bodyPr wrap="square"/>
                    <a:lstStyle/>
                    <a:p>
                      <a:r>
                        <a:rPr sz="1100" b="0">
                          <a:solidFill>
                            <a:srgbClr val="282828"/>
                          </a:solidFill>
                          <a:latin typeface="Arial"/>
                        </a:rPr>
                        <a:t>etched mask plate</a:t>
                      </a:r>
                    </a:p>
                  </a:txBody>
                  <a:tcPr marL="54864" marR="54864" marT="18288" marB="18288">
                    <a:solidFill>
                      <a:srgbClr val="FFFFFF"/>
                    </a:solidFill>
                  </a:tcPr>
                </a:tc>
                <a:tc>
                  <a:txBody>
                    <a:bodyPr wrap="square"/>
                    <a:lstStyle/>
                    <a:p>
                      <a:r>
                        <a:rPr sz="1100" b="0">
                          <a:solidFill>
                            <a:srgbClr val="282828"/>
                          </a:solidFill>
                          <a:latin typeface="Arial"/>
                        </a:rPr>
                        <a:t>fused silica, 2-3 mm; a 3×3 array of dimples 346 nm deep (a quarter wave), the chosen 5.3 µm (2.0 λF/D)</a:t>
                      </a:r>
                    </a:p>
                  </a:txBody>
                  <a:tcPr marL="54864" marR="54864" marT="18288" marB="18288">
                    <a:solidFill>
                      <a:srgbClr val="FFFFFF"/>
                    </a:solidFill>
                  </a:tcPr>
                </a:tc>
                <a:tc>
                  <a:txBody>
                    <a:bodyPr wrap="square"/>
                    <a:lstStyle/>
                    <a:p>
                      <a:r>
                        <a:rPr sz="1100" b="0">
                          <a:solidFill>
                            <a:srgbClr val="282828"/>
                          </a:solidFill>
                          <a:latin typeface="Arial"/>
                        </a:rPr>
                        <a:t>bare fused silica</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reference from the beam's own core; stepped by translating between depths</a:t>
                      </a:r>
                    </a:p>
                  </a:txBody>
                  <a:tcPr marL="54864" marR="54864" marT="18288" marB="18288">
                    <a:solidFill>
                      <a:srgbClr val="FFFFFF"/>
                    </a:solidFill>
                  </a:tcPr>
                </a:tc>
              </a:tr>
              <a:tr h="657225">
                <a:tc>
                  <a:txBody>
                    <a:bodyPr wrap="square"/>
                    <a:lstStyle/>
                    <a:p>
                      <a:r>
                        <a:rPr sz="1100" b="0">
                          <a:solidFill>
                            <a:srgbClr val="282828"/>
                          </a:solidFill>
                          <a:latin typeface="Arial"/>
                        </a:rPr>
                        <a:t>vector</a:t>
                      </a:r>
                    </a:p>
                  </a:txBody>
                  <a:tcPr marL="54864" marR="54864" marT="18288" marB="18288">
                    <a:solidFill>
                      <a:srgbClr val="ECF1F6"/>
                    </a:solidFill>
                  </a:tcPr>
                </a:tc>
                <a:tc>
                  <a:txBody>
                    <a:bodyPr wrap="square"/>
                    <a:lstStyle/>
                    <a:p>
                      <a:r>
                        <a:rPr sz="1100" b="0">
                          <a:solidFill>
                            <a:srgbClr val="282828"/>
                          </a:solidFill>
                          <a:latin typeface="Arial"/>
                        </a:rPr>
                        <a:t>geometric-phase metasurface</a:t>
                      </a:r>
                    </a:p>
                  </a:txBody>
                  <a:tcPr marL="54864" marR="54864" marT="18288" marB="18288">
                    <a:solidFill>
                      <a:srgbClr val="ECF1F6"/>
                    </a:solidFill>
                  </a:tcPr>
                </a:tc>
                <a:tc>
                  <a:txBody>
                    <a:bodyPr wrap="square"/>
                    <a:lstStyle/>
                    <a:p>
                      <a:r>
                        <a:rPr sz="1100" b="0">
                          <a:solidFill>
                            <a:srgbClr val="282828"/>
                          </a:solidFill>
                          <a:latin typeface="Arial"/>
                        </a:rPr>
                        <a:t>in the mask seat: a half-wave dimple pattern, +90° on one circular state and −90° on the other</a:t>
                      </a:r>
                    </a:p>
                  </a:txBody>
                  <a:tcPr marL="54864" marR="54864" marT="18288" marB="18288">
                    <a:solidFill>
                      <a:srgbClr val="ECF1F6"/>
                    </a:solidFill>
                  </a:tcPr>
                </a:tc>
                <a:tc>
                  <a:txBody>
                    <a:bodyPr wrap="square"/>
                    <a:lstStyle/>
                    <a:p>
                      <a:r>
                        <a:rPr sz="1100" b="0">
                          <a:solidFill>
                            <a:srgbClr val="282828"/>
                          </a:solidFill>
                          <a:latin typeface="Arial"/>
                        </a:rPr>
                        <a:t>dielectric metasurface on fused silica</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two images with opposite dimple sign</a:t>
                      </a:r>
                    </a:p>
                  </a:txBody>
                  <a:tcPr marL="54864" marR="54864" marT="18288" marB="18288">
                    <a:solidFill>
                      <a:srgbClr val="ECF1F6"/>
                    </a:solidFill>
                  </a:tcPr>
                </a:tc>
              </a:tr>
              <a:tr h="657225">
                <a:tc>
                  <a:txBody>
                    <a:bodyPr wrap="square"/>
                    <a:lstStyle/>
                    <a:p>
                      <a:r>
                        <a:rPr sz="1100" b="0">
                          <a:solidFill>
                            <a:srgbClr val="282828"/>
                          </a:solidFill>
                          <a:latin typeface="Arial"/>
                        </a:rPr>
                        <a:t>vector, split form</a:t>
                      </a:r>
                    </a:p>
                  </a:txBody>
                  <a:tcPr marL="54864" marR="54864" marT="18288" marB="18288">
                    <a:solidFill>
                      <a:srgbClr val="FFFFFF"/>
                    </a:solidFill>
                  </a:tcPr>
                </a:tc>
                <a:tc>
                  <a:txBody>
                    <a:bodyPr wrap="square"/>
                    <a:lstStyle/>
                    <a:p>
                      <a:r>
                        <a:rPr sz="1100" b="0">
                          <a:solidFill>
                            <a:srgbClr val="282828"/>
                          </a:solidFill>
                          <a:latin typeface="Arial"/>
                        </a:rPr>
                        <a:t>quarter-wave plate; polarizing cube; camera B</a:t>
                      </a:r>
                    </a:p>
                  </a:txBody>
                  <a:tcPr marL="54864" marR="54864" marT="18288" marB="18288">
                    <a:solidFill>
                      <a:srgbClr val="FFFFFF"/>
                    </a:solidFill>
                  </a:tcPr>
                </a:tc>
                <a:tc>
                  <a:txBody>
                    <a:bodyPr wrap="square"/>
                    <a:lstStyle/>
                    <a:p>
                      <a:r>
                        <a:rPr sz="1100" b="0">
                          <a:solidFill>
                            <a:srgbClr val="282828"/>
                          </a:solidFill>
                          <a:latin typeface="Arial"/>
                        </a:rPr>
                        <a:t>zero-order plate at λ/300 on a 2 mm substrate; 12.7 mm cemented MacNeille cube; a second sCMOS like camera A</a:t>
                      </a:r>
                    </a:p>
                  </a:txBody>
                  <a:tcPr marL="54864" marR="54864" marT="18288" marB="18288">
                    <a:solidFill>
                      <a:srgbClr val="FFFFFF"/>
                    </a:solidFill>
                  </a:tcPr>
                </a:tc>
                <a:tc>
                  <a:txBody>
                    <a:bodyPr wrap="square"/>
                    <a:lstStyle/>
                    <a:p>
                      <a:r>
                        <a:rPr sz="1100" b="0">
                          <a:solidFill>
                            <a:srgbClr val="282828"/>
                          </a:solidFill>
                          <a:latin typeface="Arial"/>
                        </a:rPr>
                        <a:t>AR; ZnS / cryolite</a:t>
                      </a:r>
                    </a:p>
                  </a:txBody>
                  <a:tcPr marL="54864" marR="54864" marT="18288" marB="18288">
                    <a:solidFill>
                      <a:srgbClr val="FFFFFF"/>
                    </a:solidFill>
                  </a:tcPr>
                </a:tc>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separates the two circular states onto two cameras, both frames at once</a:t>
                      </a:r>
                    </a:p>
                  </a:txBody>
                  <a:tcPr marL="54864" marR="54864" marT="18288" marB="18288">
                    <a:solidFill>
                      <a:srgbClr val="FFFFFF"/>
                    </a:solidFill>
                  </a:tcPr>
                </a:tc>
              </a:tr>
              <a:tr h="657225">
                <a:tc>
                  <a:txBody>
                    <a:bodyPr wrap="square"/>
                    <a:lstStyle/>
                    <a:p>
                      <a:r>
                        <a:rPr sz="1100" b="0">
                          <a:solidFill>
                            <a:srgbClr val="282828"/>
                          </a:solidFill>
                          <a:latin typeface="Arial"/>
                        </a:rPr>
                        <a:t>vector, snapshot form</a:t>
                      </a:r>
                    </a:p>
                  </a:txBody>
                  <a:tcPr marL="54864" marR="54864" marT="18288" marB="18288">
                    <a:solidFill>
                      <a:srgbClr val="ECF1F6"/>
                    </a:solidFill>
                  </a:tcPr>
                </a:tc>
                <a:tc>
                  <a:txBody>
                    <a:bodyPr wrap="square"/>
                    <a:lstStyle/>
                    <a:p>
                      <a:r>
                        <a:rPr sz="1100" b="0">
                          <a:solidFill>
                            <a:srgbClr val="282828"/>
                          </a:solidFill>
                          <a:latin typeface="Arial"/>
                        </a:rPr>
                        <a:t>quarter-wave plate; the interferometer's polarization camera in place of camera A</a:t>
                      </a:r>
                    </a:p>
                  </a:txBody>
                  <a:tcPr marL="54864" marR="54864" marT="18288" marB="18288">
                    <a:solidFill>
                      <a:srgbClr val="ECF1F6"/>
                    </a:solidFill>
                  </a:tcPr>
                </a:tc>
                <a:tc>
                  <a:txBody>
                    <a:bodyPr wrap="square"/>
                    <a:lstStyle/>
                    <a:p>
                      <a:r>
                        <a:rPr sz="1100" b="0">
                          <a:solidFill>
                            <a:srgbClr val="282828"/>
                          </a:solidFill>
                          <a:latin typeface="Arial"/>
                        </a:rPr>
                        <a:t>the same zero-order plate; the micro-polarizer array already on the bench for the snapshot interferometer</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the same two states read on one camera: one detector, no split leg to align, at a quarter of the pixels per state</a:t>
                      </a:r>
                    </a:p>
                  </a:txBody>
                  <a:tcPr marL="54864" marR="54864" marT="18288" marB="18288">
                    <a:solidFill>
                      <a:srgbClr val="ECF1F6"/>
                    </a:solidFill>
                  </a:tcPr>
                </a:tc>
              </a:tr>
              <a:tr h="657225">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pinhole plate on a phase-stepping stage; shutter</a:t>
                      </a:r>
                    </a:p>
                  </a:txBody>
                  <a:tcPr marL="54864" marR="54864" marT="18288" marB="18288">
                    <a:solidFill>
                      <a:srgbClr val="FFFFFF"/>
                    </a:solidFill>
                  </a:tcPr>
                </a:tc>
                <a:tc>
                  <a:txBody>
                    <a:bodyPr wrap="square"/>
                    <a:lstStyle/>
                    <a:p>
                      <a:r>
                        <a:rPr sz="1100" b="0">
                          <a:solidFill>
                            <a:srgbClr val="282828"/>
                          </a:solidFill>
                          <a:latin typeface="Arial"/>
                        </a:rPr>
                        <a:t>fused silica, 2-3 mm; 5.27 µm pinhole, surround attenuated to 0.72 in amplitude; steps of an eighth wave</a:t>
                      </a:r>
                    </a:p>
                  </a:txBody>
                  <a:tcPr marL="54864" marR="54864" marT="18288" marB="18288">
                    <a:solidFill>
                      <a:srgbClr val="FFFFFF"/>
                    </a:solidFill>
                  </a:tcPr>
                </a:tc>
                <a:tc>
                  <a:txBody>
                    <a:bodyPr wrap="square"/>
                    <a:lstStyle/>
                    <a:p>
                      <a:r>
                        <a:rPr sz="1100" b="0">
                          <a:solidFill>
                            <a:srgbClr val="282828"/>
                          </a:solidFill>
                          <a:latin typeface="Arial"/>
                        </a:rPr>
                        <a:t>metal-film attenuator</a:t>
                      </a:r>
                    </a:p>
                  </a:txBody>
                  <a:tcPr marL="54864" marR="54864" marT="18288" marB="18288">
                    <a:solidFill>
                      <a:srgbClr val="FFFFFF"/>
                    </a:solidFill>
                  </a:tcPr>
                </a:tc>
                <a:tc>
                  <a:txBody>
                    <a:bodyPr wrap="square"/>
                    <a:lstStyle/>
                    <a:p>
                      <a:r>
                        <a:rPr sz="1100" b="0">
                          <a:solidFill>
                            <a:srgbClr val="282828"/>
                          </a:solidFill>
                          <a:latin typeface="Arial"/>
                        </a:rPr>
                        <a:t>2</a:t>
                      </a:r>
                    </a:p>
                  </a:txBody>
                  <a:tcPr marL="54864" marR="54864" marT="18288" marB="18288">
                    <a:solidFill>
                      <a:srgbClr val="FFFFFF"/>
                    </a:solidFill>
                  </a:tcPr>
                </a:tc>
                <a:tc>
                  <a:txBody>
                    <a:bodyPr wrap="square"/>
                    <a:lstStyle/>
                    <a:p>
                      <a:r>
                        <a:rPr sz="1100" b="0">
                          <a:solidFill>
                            <a:srgbClr val="282828"/>
                          </a:solidFill>
                          <a:latin typeface="Arial"/>
                        </a:rPr>
                        <a:t>the reference from the core through the pinhole; the shutter frame reads the reference alone</a:t>
                      </a:r>
                    </a:p>
                  </a:txBody>
                  <a:tcPr marL="54864" marR="54864" marT="18288" marB="18288">
                    <a:solidFill>
                      <a:srgbClr val="FFFFFF"/>
                    </a:solidFill>
                  </a:tcPr>
                </a:tc>
              </a:tr>
            </a:tbl>
          </a:graphicData>
        </a:graphic>
      </p:graphicFrame>
      <p:sp>
        <p:nvSpPr>
          <p:cNvPr id="5" name="TextBox 4"/>
          <p:cNvSpPr txBox="1"/>
          <p:nvPr/>
        </p:nvSpPr>
        <p:spPr>
          <a:xfrm>
            <a:off x="292608" y="5742432"/>
            <a:ext cx="11368735" cy="274320"/>
          </a:xfrm>
          <a:prstGeom prst="rect">
            <a:avLst/>
          </a:prstGeom>
          <a:noFill/>
        </p:spPr>
        <p:txBody>
          <a:bodyPr wrap="square">
            <a:spAutoFit/>
          </a:bodyPr>
          <a:lstStyle/>
          <a:p>
            <a:pPr>
              <a:spcAft>
                <a:spcPts val="600"/>
              </a:spcAft>
            </a:pPr>
            <a:r>
              <a:rPr sz="1050" b="0">
                <a:solidFill>
                  <a:srgbClr val="6E6E6E"/>
                </a:solidFill>
                <a:latin typeface="Arial"/>
              </a:rPr>
              <a:t>The vector sensor is the one configuration with a choice of readout: the split form buys full pixel count per state, the snapshot form reuses the interferometer's camera.  The Zernike, vector and pinhole plates share one substrate on the seat; full parts tables are in each lane's README.  The P/SRI's nine parts are on its backup slide.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the node at 22.5°</a:t>
            </a:r>
          </a:p>
          <a:p>
            <a:pPr>
              <a:spcAft>
                <a:spcPts val="0"/>
              </a:spcAft>
            </a:pPr>
            <a:r>
              <a:rPr sz="1250" b="0">
                <a:solidFill>
                  <a:srgbClr val="6E6E6E"/>
                </a:solidFill>
                <a:latin typeface="Arial"/>
              </a:rPr>
              <a:t>Every part clears every beam it is not in; the output plate and analyzer sit 160 mm behind the splitter, ahead of the focuser; the four snapshot channels come from a polarization camera, not a rotating analyzer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node.png"/>
          <p:cNvPicPr>
            <a:picLocks noChangeAspect="1"/>
          </p:cNvPicPr>
          <p:nvPr/>
        </p:nvPicPr>
        <p:blipFill>
          <a:blip r:embed="rId2"/>
          <a:stretch>
            <a:fillRect/>
          </a:stretch>
        </p:blipFill>
        <p:spPr>
          <a:xfrm>
            <a:off x="3309591" y="1298448"/>
            <a:ext cx="5572512" cy="3281172"/>
          </a:xfrm>
          <a:prstGeom prst="rect">
            <a:avLst/>
          </a:prstGeom>
        </p:spPr>
      </p:pic>
      <p:sp>
        <p:nvSpPr>
          <p:cNvPr id="5" name="TextBox 4"/>
          <p:cNvSpPr txBox="1"/>
          <p:nvPr/>
        </p:nvSpPr>
        <p:spPr>
          <a:xfrm>
            <a:off x="411480" y="4597908"/>
            <a:ext cx="11368735" cy="559307"/>
          </a:xfrm>
          <a:prstGeom prst="rect">
            <a:avLst/>
          </a:prstGeom>
          <a:noFill/>
        </p:spPr>
        <p:txBody>
          <a:bodyPr wrap="square">
            <a:spAutoFit/>
          </a:bodyPr>
          <a:lstStyle/>
          <a:p>
            <a:pPr algn="ctr">
              <a:spcAft>
                <a:spcPts val="0"/>
              </a:spcAft>
            </a:pPr>
            <a:r>
              <a:rPr sz="1000" b="0">
                <a:solidFill>
                  <a:srgbClr val="6E6E6E"/>
                </a:solidFill>
                <a:latin typeface="Arial"/>
              </a:rPr>
              <a:t>The splitter node from above, as traced at 22.5°, ±320 mm about the splitter: L1 and the input polarizer, the splitter, the compensator on the mirror leg, the output quarter-wave plate and analyzer just ahead of the focuser L2; test arm blue, reference arm orange.  The two "QWP" labels at the node mark builder placements; the physical plates sit at the mirror and the flat.</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050" b="0">
                <a:solidFill>
                  <a:srgbClr val="6E6E6E"/>
                </a:solidFill>
                <a:latin typeface="Arial"/>
              </a:rPr>
              <a:t>The analyzer's four orientations are taken at once by a polarization camera (a micro-polarizer array at 0 / 45 / 90 / 135° on the pixels); the model rotates an ideal analyzer between its four frames, the same measurement.  A rotating stage would make the snapshot a sequential scan.  The plates here are drawn as ideal surfaces; the next model round gives each a 2-3 mm substrate, which in these collimated legs adds path only.  Drawn by dmg_bench_clearance.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station by station</a:t>
            </a:r>
          </a:p>
          <a:p>
            <a:pPr>
              <a:spcAft>
                <a:spcPts val="0"/>
              </a:spcAft>
            </a:pPr>
            <a:r>
              <a:rPr sz="1250" b="0">
                <a:solidFill>
                  <a:srgbClr val="6E6E6E"/>
                </a:solidFill>
                <a:latin typeface="Arial"/>
              </a:rPr>
              <a:t>The key signals along the train for the flat mirror and for the 30 nm working surface, on the redesigned mirror rig: the absolute map is within 1.5% of the engine's field, the differential rows within 1.8 pm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do96_oapstn_stations.png"/>
          <p:cNvPicPr>
            <a:picLocks noChangeAspect="1"/>
          </p:cNvPicPr>
          <p:nvPr/>
        </p:nvPicPr>
        <p:blipFill>
          <a:blip r:embed="rId2"/>
          <a:stretch>
            <a:fillRect/>
          </a:stretch>
        </p:blipFill>
        <p:spPr>
          <a:xfrm>
            <a:off x="2028583" y="1298448"/>
            <a:ext cx="8134528" cy="2531872"/>
          </a:xfrm>
          <a:prstGeom prst="rect">
            <a:avLst/>
          </a:prstGeom>
        </p:spPr>
      </p:pic>
      <p:sp>
        <p:nvSpPr>
          <p:cNvPr id="5" name="TextBox 4"/>
          <p:cNvSpPr txBox="1"/>
          <p:nvPr/>
        </p:nvSpPr>
        <p:spPr>
          <a:xfrm>
            <a:off x="411480" y="3848608"/>
            <a:ext cx="11368735" cy="394208"/>
          </a:xfrm>
          <a:prstGeom prst="rect">
            <a:avLst/>
          </a:prstGeom>
          <a:noFill/>
        </p:spPr>
        <p:txBody>
          <a:bodyPr wrap="square">
            <a:spAutoFit/>
          </a:bodyPr>
          <a:lstStyle/>
          <a:p>
            <a:pPr algn="ctr">
              <a:spcAft>
                <a:spcPts val="0"/>
              </a:spcAft>
            </a:pPr>
            <a:r>
              <a:rPr sz="1000" b="0">
                <a:solidFill>
                  <a:srgbClr val="6E6E6E"/>
                </a:solidFill>
                <a:latin typeface="Arial"/>
              </a:rPr>
              <a:t>Two rows (the flat mirror, the 30 nm rms working surface) by seven stations: the mirror command, the test-arm field at the camera, the reference-arm field, two of the four phase-stepped frames (0 and π/2), the surface recovered from the four-step, and the recovered map minus the engine's own field.  The runner's own figure from the servo run.</a:t>
            </a:r>
          </a:p>
        </p:txBody>
      </p:sp>
      <p:sp>
        <p:nvSpPr>
          <p:cNvPr id="6" name="TextBox 5"/>
          <p:cNvSpPr txBox="1"/>
          <p:nvPr/>
        </p:nvSpPr>
        <p:spPr>
          <a:xfrm>
            <a:off x="411480" y="42793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residual column is the absolute read against the engine:</a:t>
            </a:r>
            <a:r>
              <a:rPr sz="1500" b="0">
                <a:solidFill>
                  <a:srgbClr val="282828"/>
                </a:solidFill>
                <a:latin typeface="Arial"/>
              </a:rPr>
              <a:t> 0.00 pm on the flat, 463 pm on the 30 nm surface (1.5% of the figure); the differential rows the servo uses read the same surface's changes to 1.8 pm, which is why the matrix is measured on the surface.</a:t>
            </a:r>
          </a:p>
        </p:txBody>
      </p:sp>
      <p:sp>
        <p:nvSpPr>
          <p:cNvPr id="7" name="TextBox 6"/>
          <p:cNvSpPr txBox="1"/>
          <p:nvPr/>
        </p:nvSpPr>
        <p:spPr>
          <a:xfrm>
            <a:off x="411480" y="5199126"/>
            <a:ext cx="11368735" cy="274320"/>
          </a:xfrm>
          <a:prstGeom prst="rect">
            <a:avLst/>
          </a:prstGeom>
          <a:noFill/>
        </p:spPr>
        <p:txBody>
          <a:bodyPr wrap="square">
            <a:spAutoFit/>
          </a:bodyPr>
          <a:lstStyle/>
          <a:p>
            <a:pPr>
              <a:spcAft>
                <a:spcPts val="600"/>
              </a:spcAft>
            </a:pPr>
            <a:r>
              <a:rPr sz="1050" b="0">
                <a:solidFill>
                  <a:srgbClr val="6E6E6E"/>
                </a:solidFill>
                <a:latin typeface="Arial"/>
              </a:rPr>
              <a:t>Run tag redo96_oapstn (the mirror rig).  The lens rig's figure exists but its absolute residual reads 51 nm against the engine — a fold of the phase, not an imaging error (its differential rows read the same as the mirror rig's); under investigation, so it is not shown.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question: must the pupil imaging be simulated, and how?</a:t>
            </a:r>
          </a:p>
          <a:p>
            <a:pPr>
              <a:spcAft>
                <a:spcPts val="0"/>
              </a:spcAft>
            </a:pPr>
            <a:r>
              <a:rPr sz="1250" b="0">
                <a:solidFill>
                  <a:srgbClr val="6E6E6E"/>
                </a:solidFill>
                <a:latin typeface="Arial"/>
              </a:rPr>
              <a:t>Is it possible or even necessary to simulate the effect of the pupil imaging geometry on the pupil images of the DM?  Convolve the pupil image with the complex amplitude?  (Dave, 2026-09-16)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800" b="0">
                <a:solidFill>
                  <a:srgbClr val="282828"/>
                </a:solidFill>
                <a:latin typeface="Arial"/>
              </a:rPr>
              <a:t>•  </a:t>
            </a:r>
            <a:r>
              <a:rPr sz="1800" b="1">
                <a:solidFill>
                  <a:srgbClr val="282828"/>
                </a:solidFill>
                <a:latin typeface="Arial"/>
              </a:rPr>
              <a:t>The right model is coherent imaging:</a:t>
            </a:r>
            <a:r>
              <a:rPr sz="1800" b="0">
                <a:solidFill>
                  <a:srgbClr val="282828"/>
                </a:solidFill>
                <a:latin typeface="Arial"/>
              </a:rPr>
              <a:t> the field at the camera is the field at the DM convolved with the complex point-spread function of the detector leg; equivalently, the leg's transfer function at a DM spatial frequency is the aperture function at the matching focal-plane position, phase included.  A convolution of the intensity image would be wrong; a convolution of complex amplitudes is the Fourier statement of the same thing.</a:t>
            </a:r>
          </a:p>
          <a:p>
            <a:pPr>
              <a:spcAft>
                <a:spcPts val="600"/>
              </a:spcAft>
            </a:pPr>
            <a:r>
              <a:rPr sz="1800" b="0">
                <a:solidFill>
                  <a:srgbClr val="282828"/>
                </a:solidFill>
                <a:latin typeface="Arial"/>
              </a:rPr>
              <a:t>•  </a:t>
            </a:r>
            <a:r>
              <a:rPr sz="1800" b="1">
                <a:solidFill>
                  <a:srgbClr val="282828"/>
                </a:solidFill>
                <a:latin typeface="Arial"/>
              </a:rPr>
              <a:t>For the mask sensors it is already in the runner:</a:t>
            </a:r>
            <a:r>
              <a:rPr sz="1800" b="0">
                <a:solidFill>
                  <a:srgbClr val="282828"/>
                </a:solidFill>
                <a:latin typeface="Arial"/>
              </a:rPr>
              <a:t> the mask sandwich propagates the field to the seat, applies the mask, and propagates back to the pupil image, mask shape and all.</a:t>
            </a:r>
          </a:p>
          <a:p>
            <a:pPr>
              <a:spcAft>
                <a:spcPts val="600"/>
              </a:spcAft>
            </a:pPr>
            <a:r>
              <a:rPr sz="1800" b="0">
                <a:solidFill>
                  <a:srgbClr val="282828"/>
                </a:solidFill>
                <a:latin typeface="Arial"/>
              </a:rPr>
              <a:t>•  </a:t>
            </a:r>
            <a:r>
              <a:rPr sz="1800" b="1">
                <a:solidFill>
                  <a:srgbClr val="282828"/>
                </a:solidFill>
                <a:latin typeface="Arial"/>
              </a:rPr>
              <a:t>For the interferometer the aperture at the focus is wide</a:t>
            </a:r>
            <a:r>
              <a:rPr sz="1800" b="0">
                <a:solidFill>
                  <a:srgbClr val="282828"/>
                </a:solidFill>
                <a:latin typeface="Arial"/>
              </a:rPr>
              <a:t> (the field lens, 21 mm at F/4.2: a coherent resolution of 13 µm at the DM against a 1 mm pitch), so the leg's resolution is not the question.  What is: the phase of the transfer function over the actuator band, set by how far each zone's image lies from the camera plane.  That is simulated on the next slide.</a:t>
            </a:r>
          </a:p>
          <a:p>
            <a:pPr>
              <a:spcAft>
                <a:spcPts val="600"/>
              </a:spcAft>
            </a:pPr>
            <a:r>
              <a:rPr sz="1800" b="0">
                <a:solidFill>
                  <a:srgbClr val="282828"/>
                </a:solidFill>
                <a:latin typeface="Arial"/>
              </a:rPr>
              <a:t>•  </a:t>
            </a:r>
            <a:r>
              <a:rPr sz="1800" b="1">
                <a:solidFill>
                  <a:srgbClr val="282828"/>
                </a:solidFill>
                <a:latin typeface="Arial"/>
              </a:rPr>
              <a:t>When a small field stop sits at the focus</a:t>
            </a:r>
            <a:r>
              <a:rPr sz="1800" b="0">
                <a:solidFill>
                  <a:srgbClr val="282828"/>
                </a:solidFill>
                <a:latin typeface="Arial"/>
              </a:rPr>
              <a:t> (a spatial filter of a few λ/D), the pupil image is low-pass filtered and actuator responses blur; then one aperture element at the seat through the existing sandwich answers it in one run.</a:t>
            </a:r>
          </a:p>
        </p:txBody>
      </p:sp>
      <p:sp>
        <p:nvSpPr>
          <p:cNvPr id="5" name="TextBox 4"/>
          <p:cNvSpPr txBox="1"/>
          <p:nvPr/>
        </p:nvSpPr>
        <p:spPr>
          <a:xfrm>
            <a:off x="411480" y="5660136"/>
            <a:ext cx="11368735" cy="274320"/>
          </a:xfrm>
          <a:prstGeom prst="rect">
            <a:avLst/>
          </a:prstGeom>
          <a:noFill/>
        </p:spPr>
        <p:txBody>
          <a:bodyPr wrap="square">
            <a:spAutoFit/>
          </a:bodyPr>
          <a:lstStyle/>
          <a:p>
            <a:pPr>
              <a:spcAft>
                <a:spcPts val="600"/>
              </a:spcAft>
            </a:pPr>
            <a:r>
              <a:rPr sz="1050" b="0">
                <a:solidFill>
                  <a:srgbClr val="6E6E6E"/>
                </a:solidFill>
                <a:latin typeface="Arial"/>
              </a:rPr>
              <a:t>The answer as given on 2026-09-16, before the simulation; the next slide supersedes its "not needed" with numbers.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Pupil imaging: the DM's modes through the detector leg</a:t>
            </a:r>
          </a:p>
          <a:p>
            <a:pPr>
              <a:spcAft>
                <a:spcPts val="0"/>
              </a:spcAft>
            </a:pPr>
            <a:r>
              <a:rPr sz="1250" b="0">
                <a:solidFill>
                  <a:srgbClr val="6E6E6E"/>
                </a:solidFill>
                <a:latin typeface="Arial"/>
              </a:rPr>
              <a:t>The leg's point-spread function, zone by zone from the rays, applied to the DM's field and read out as the interferometer reads: every mode the DM can make is observable, and the camera sits at the pupil image on both rigs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sim_redo_lens_gain.png"/>
          <p:cNvPicPr>
            <a:picLocks noChangeAspect="1"/>
          </p:cNvPicPr>
          <p:nvPr/>
        </p:nvPicPr>
        <p:blipFill>
          <a:blip r:embed="rId2"/>
          <a:srcRect l="8740" r="8080" b="1760"/>
          <a:stretch>
            <a:fillRect/>
          </a:stretch>
        </p:blipFill>
        <p:spPr>
          <a:xfrm>
            <a:off x="45720" y="1691640"/>
            <a:ext cx="6967728" cy="2743200"/>
          </a:xfrm>
          <a:prstGeom prst="rect">
            <a:avLst/>
          </a:prstGeom>
        </p:spPr>
      </p:pic>
      <p:sp>
        <p:nvSpPr>
          <p:cNvPr id="5" name="TextBox 4"/>
          <p:cNvSpPr txBox="1"/>
          <p:nvPr/>
        </p:nvSpPr>
        <p:spPr>
          <a:xfrm>
            <a:off x="411480" y="5394960"/>
            <a:ext cx="6967728" cy="559307"/>
          </a:xfrm>
          <a:prstGeom prst="rect">
            <a:avLst/>
          </a:prstGeom>
          <a:noFill/>
        </p:spPr>
        <p:txBody>
          <a:bodyPr wrap="square">
            <a:spAutoFit/>
          </a:bodyPr>
          <a:lstStyle/>
          <a:p>
            <a:pPr algn="ctr">
              <a:spcAft>
                <a:spcPts val="0"/>
              </a:spcAft>
            </a:pPr>
            <a:r>
              <a:rPr sz="1000" b="0">
                <a:solidFill>
                  <a:srgbClr val="6E6E6E"/>
                </a:solidFill>
                <a:latin typeface="Arial"/>
              </a:rPr>
              <a:t>Phase gain (recovered over true) versus pupil radius on the lens rig for DM sinusoids at 2, 4, 8 and 16 mm period, at the camera plane as built (left) and 4.3 mm downstream (middle); right, the amplitude cross-talk the four-step ignores.  The runner's own figure.</a:t>
            </a:r>
          </a:p>
        </p:txBody>
      </p:sp>
      <p:graphicFrame>
        <p:nvGraphicFramePr>
          <p:cNvPr id="6" name="Table 5"/>
          <p:cNvGraphicFramePr>
            <a:graphicFrameLocks noGrp="1"/>
          </p:cNvGraphicFramePr>
          <p:nvPr/>
        </p:nvGraphicFramePr>
        <p:xfrm>
          <a:off x="7086600" y="1298448"/>
          <a:ext cx="4709159" cy="960120"/>
        </p:xfrm>
        <a:graphic>
          <a:graphicData uri="http://schemas.openxmlformats.org/drawingml/2006/table">
            <a:tbl>
              <a:tblPr firstRow="1" bandRow="1">
                <a:tableStyleId>{5C22544A-7EE6-4342-B048-85BDC9FD1C3A}</a:tableStyleId>
              </a:tblPr>
              <a:tblGrid>
                <a:gridCol w="1960972"/>
                <a:gridCol w="542544"/>
                <a:gridCol w="542544"/>
                <a:gridCol w="542544"/>
                <a:gridCol w="1120555"/>
              </a:tblGrid>
              <a:tr h="434340">
                <a:tc>
                  <a:txBody>
                    <a:bodyPr wrap="square"/>
                    <a:lstStyle/>
                    <a:p>
                      <a:r>
                        <a:rPr sz="1000" b="1">
                          <a:solidFill>
                            <a:srgbClr val="FFFFFF"/>
                          </a:solidFill>
                          <a:latin typeface="Arial"/>
                        </a:rPr>
                        <a:t>gain at the actuator Nyquist (2 mm)</a:t>
                      </a:r>
                    </a:p>
                  </a:txBody>
                  <a:tcPr marL="54864" marR="54864" marT="18288" marB="18288">
                    <a:solidFill>
                      <a:srgbClr val="1F4E79"/>
                    </a:solidFill>
                  </a:tcPr>
                </a:tc>
                <a:tc>
                  <a:txBody>
                    <a:bodyPr wrap="square"/>
                    <a:lstStyle/>
                    <a:p>
                      <a:r>
                        <a:rPr sz="1000" b="1">
                          <a:solidFill>
                            <a:srgbClr val="FFFFFF"/>
                          </a:solidFill>
                          <a:latin typeface="Arial"/>
                        </a:rPr>
                        <a:t>center</a:t>
                      </a:r>
                    </a:p>
                  </a:txBody>
                  <a:tcPr marL="54864" marR="54864" marT="18288" marB="18288">
                    <a:solidFill>
                      <a:srgbClr val="1F4E79"/>
                    </a:solidFill>
                  </a:tcPr>
                </a:tc>
                <a:tc>
                  <a:txBody>
                    <a:bodyPr wrap="square"/>
                    <a:lstStyle/>
                    <a:p>
                      <a:r>
                        <a:rPr sz="1000" b="1">
                          <a:solidFill>
                            <a:srgbClr val="FFFFFF"/>
                          </a:solidFill>
                          <a:latin typeface="Arial"/>
                        </a:rPr>
                        <a:t>edge</a:t>
                      </a:r>
                    </a:p>
                  </a:txBody>
                  <a:tcPr marL="54864" marR="54864" marT="18288" marB="18288">
                    <a:solidFill>
                      <a:srgbClr val="1F4E79"/>
                    </a:solidFill>
                  </a:tcPr>
                </a:tc>
                <a:tc>
                  <a:txBody>
                    <a:bodyPr wrap="square"/>
                    <a:lstStyle/>
                    <a:p>
                      <a:r>
                        <a:rPr sz="1000" b="1">
                          <a:solidFill>
                            <a:srgbClr val="FFFFFF"/>
                          </a:solidFill>
                          <a:latin typeface="Arial"/>
                        </a:rPr>
                        <a:t>worst</a:t>
                      </a:r>
                    </a:p>
                  </a:txBody>
                  <a:tcPr marL="54864" marR="54864" marT="18288" marB="18288">
                    <a:solidFill>
                      <a:srgbClr val="1F4E79"/>
                    </a:solidFill>
                  </a:tcPr>
                </a:tc>
                <a:tc>
                  <a:txBody>
                    <a:bodyPr wrap="square"/>
                    <a:lstStyle/>
                    <a:p>
                      <a:r>
                        <a:rPr sz="1000" b="1">
                          <a:solidFill>
                            <a:srgbClr val="FFFFFF"/>
                          </a:solidFill>
                          <a:latin typeface="Arial"/>
                        </a:rPr>
                        <a:t>30 nm surface, error</a:t>
                      </a:r>
                    </a:p>
                  </a:txBody>
                  <a:tcPr marL="54864" marR="54864" marT="18288" marB="18288">
                    <a:solidFill>
                      <a:srgbClr val="1F4E79"/>
                    </a:solidFill>
                  </a:tcPr>
                </a:tc>
              </a:tr>
              <a:tr h="262890">
                <a:tc>
                  <a:txBody>
                    <a:bodyPr wrap="square"/>
                    <a:lstStyle/>
                    <a:p>
                      <a:r>
                        <a:rPr sz="1000" b="0">
                          <a:solidFill>
                            <a:srgbClr val="282828"/>
                          </a:solidFill>
                          <a:latin typeface="Arial"/>
                        </a:rPr>
                        <a:t>lens rig</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42 pm</a:t>
                      </a:r>
                    </a:p>
                  </a:txBody>
                  <a:tcPr marL="54864" marR="54864" marT="18288" marB="18288">
                    <a:solidFill>
                      <a:srgbClr val="FFFFFF"/>
                    </a:solidFill>
                  </a:tcPr>
                </a:tc>
              </a:tr>
              <a:tr h="262890">
                <a:tc>
                  <a:txBody>
                    <a:bodyPr wrap="square"/>
                    <a:lstStyle/>
                    <a:p>
                      <a:r>
                        <a:rPr sz="1000" b="0">
                          <a:solidFill>
                            <a:srgbClr val="282828"/>
                          </a:solidFill>
                          <a:latin typeface="Arial"/>
                        </a:rPr>
                        <a:t>mirror rig</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92 pm</a:t>
                      </a:r>
                    </a:p>
                  </a:txBody>
                  <a:tcPr marL="54864" marR="54864" marT="18288" marB="18288">
                    <a:solidFill>
                      <a:srgbClr val="ECF1F6"/>
                    </a:solidFill>
                  </a:tcPr>
                </a:tc>
              </a:tr>
            </a:tbl>
          </a:graphicData>
        </a:graphic>
      </p:graphicFrame>
      <p:sp>
        <p:nvSpPr>
          <p:cNvPr id="7" name="TextBox 6"/>
          <p:cNvSpPr txBox="1"/>
          <p:nvPr/>
        </p:nvSpPr>
        <p:spPr>
          <a:xfrm>
            <a:off x="7086600" y="2688336"/>
            <a:ext cx="4709160" cy="274320"/>
          </a:xfrm>
          <a:prstGeom prst="rect">
            <a:avLst/>
          </a:prstGeom>
          <a:noFill/>
        </p:spPr>
        <p:txBody>
          <a:bodyPr wrap="square">
            <a:spAutoFit/>
          </a:bodyPr>
          <a:lstStyle/>
          <a:p>
            <a:pPr>
              <a:spcAft>
                <a:spcPts val="600"/>
              </a:spcAft>
            </a:pPr>
            <a:r>
              <a:rPr sz="1150" b="0">
                <a:solidFill>
                  <a:srgbClr val="282828"/>
                </a:solidFill>
                <a:latin typeface="Arial"/>
              </a:rPr>
              <a:t>•  </a:t>
            </a:r>
            <a:r>
              <a:rPr sz="1150" b="1">
                <a:solidFill>
                  <a:srgbClr val="282828"/>
                </a:solidFill>
                <a:latin typeface="Arial"/>
              </a:rPr>
              <a:t>How:</a:t>
            </a:r>
            <a:r>
              <a:rPr sz="1150" b="0">
                <a:solidFill>
                  <a:srgbClr val="282828"/>
                </a:solidFill>
                <a:latin typeface="Arial"/>
              </a:rPr>
              <a:t> the DM the stop; 41 tilts over the actuator band; each zone's image walk integrates to its wavefront (defocus and astigmatism to 0.3 nm), whose transform is the zone's complex PSF; the DM field filtered zone by zone, the reference arm through the same leg, angle of the product read as the surface.</a:t>
            </a:r>
          </a:p>
          <a:p>
            <a:pPr>
              <a:spcAft>
                <a:spcPts val="600"/>
              </a:spcAft>
            </a:pPr>
            <a:r>
              <a:rPr sz="1150" b="0">
                <a:solidFill>
                  <a:srgbClr val="282828"/>
                </a:solidFill>
                <a:latin typeface="Arial"/>
              </a:rPr>
              <a:t>•  </a:t>
            </a:r>
            <a:r>
              <a:rPr sz="1150" b="1">
                <a:solidFill>
                  <a:srgbClr val="282828"/>
                </a:solidFill>
                <a:latin typeface="Arial"/>
              </a:rPr>
              <a:t>The camera is at the pupil image</a:t>
            </a:r>
            <a:r>
              <a:rPr sz="1150" b="0">
                <a:solidFill>
                  <a:srgbClr val="282828"/>
                </a:solidFill>
                <a:latin typeface="Arial"/>
              </a:rPr>
              <a:t>, and the best detector move from here is </a:t>
            </a:r>
            <a:r>
              <a:rPr sz="1150" b="1">
                <a:solidFill>
                  <a:srgbClr val="282828"/>
                </a:solidFill>
                <a:latin typeface="Arial"/>
              </a:rPr>
              <a:t>−0.00 mm</a:t>
            </a:r>
            <a:r>
              <a:rPr sz="1150" b="0">
                <a:solidFill>
                  <a:srgbClr val="282828"/>
                </a:solidFill>
                <a:latin typeface="Arial"/>
              </a:rPr>
              <a:t>: there is nothing left to correct.  The band-edge quadratic phase is 0.000 rad rms on lenses and 0.013 on mirrors, so the gain at the actuator Nyquist is 1.0000 and 0.9994.</a:t>
            </a:r>
          </a:p>
          <a:p>
            <a:pPr>
              <a:spcAft>
                <a:spcPts val="600"/>
              </a:spcAft>
            </a:pPr>
            <a:r>
              <a:rPr sz="1150" b="0">
                <a:solidFill>
                  <a:srgbClr val="282828"/>
                </a:solidFill>
                <a:latin typeface="Arial"/>
              </a:rPr>
              <a:t>•  </a:t>
            </a:r>
            <a:r>
              <a:rPr sz="1150" b="1">
                <a:solidFill>
                  <a:srgbClr val="282828"/>
                </a:solidFill>
                <a:latin typeface="Arial"/>
              </a:rPr>
              <a:t>The beam of record under-filled the DM</a:t>
            </a:r>
            <a:r>
              <a:rPr sz="1150" b="0">
                <a:solidFill>
                  <a:srgbClr val="282828"/>
                </a:solidFill>
                <a:latin typeface="Arial"/>
              </a:rPr>
              <a:t> (77 / 82 mm of 96): the baffle is now opened and the aperture sits on the DM; runs from 2026-09-17 carry the full 96 mm.</a:t>
            </a:r>
          </a:p>
        </p:txBody>
      </p:sp>
      <p:sp>
        <p:nvSpPr>
          <p:cNvPr id="8" name="TextBox 7"/>
          <p:cNvSpPr txBox="1"/>
          <p:nvPr/>
        </p:nvSpPr>
        <p:spPr>
          <a:xfrm>
            <a:off x="7315200" y="5614416"/>
            <a:ext cx="4480560" cy="274320"/>
          </a:xfrm>
          <a:prstGeom prst="rect">
            <a:avLst/>
          </a:prstGeom>
          <a:noFill/>
        </p:spPr>
        <p:txBody>
          <a:bodyPr wrap="square">
            <a:spAutoFit/>
          </a:bodyPr>
          <a:lstStyle/>
          <a:p>
            <a:pPr>
              <a:spcAft>
                <a:spcPts val="600"/>
              </a:spcAft>
            </a:pPr>
            <a:r>
              <a:rPr sz="1050" b="0">
                <a:solidFill>
                  <a:srgbClr val="6E6E6E"/>
                </a:solidFill>
                <a:latin typeface="Arial"/>
              </a:rPr>
              <a:t>Run tags pupilsim_redo_lens, pupilsim_redo_oap (tg96_pupilsim on the emitted decks, 2026-09-17; run it yourself: tg96_pupil_batch.sh both); REPORT_bench_realism.md section 7.  The engine's own plane-to-plane check through reference surfaces is built and needs the station-to-station form (in progress).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Scalar Zernike sensor, station by station</a:t>
            </a:r>
          </a:p>
          <a:p>
            <a:pPr>
              <a:spcAft>
                <a:spcPts val="0"/>
              </a:spcAft>
            </a:pPr>
            <a:r>
              <a:rPr sz="1250" b="0">
                <a:solidFill>
                  <a:srgbClr val="6E6E6E"/>
                </a:solidFill>
                <a:latin typeface="Arial"/>
              </a:rPr>
              <a:t>The key signals along the train for the flat mirror and for the 30 nm working surface: the raw pixel map on the working surface is off by 4.8 nm because the sensor's reference is made from the beam, which is why the response matrix is measured on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stations_S.png"/>
          <p:cNvPicPr>
            <a:picLocks noChangeAspect="1"/>
          </p:cNvPicPr>
          <p:nvPr/>
        </p:nvPicPr>
        <p:blipFill>
          <a:blip r:embed="rId2"/>
          <a:stretch>
            <a:fillRect/>
          </a:stretch>
        </p:blipFill>
        <p:spPr>
          <a:xfrm>
            <a:off x="2167487" y="1298448"/>
            <a:ext cx="7856720"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at the mask (log scale) with the dimple's footprint; the dimple's phase; the reference wave the dimple makes at the detector; the clear frame and the first depth frame of the four; the surface recovered from the four frames; the raw map minus the engine's own field at the detector (0 on the flat, 4.8 nm rms on the working surface).  The runner's own figure, run stations193 at 193 pixels per pupil.</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reference wave</a:t>
            </a:r>
            <a:r>
              <a:rPr sz="1500" b="0">
                <a:solidFill>
                  <a:srgbClr val="282828"/>
                </a:solidFill>
                <a:latin typeface="Arial"/>
              </a:rPr>
              <a:t> (fourth column) is the core of the focal spot spread back over the pupil: on the working surface it has changed, so the raw four-frame map carries a 4.8 nm bias.  The matrix measured on the surface absorbs it, which is how the stepped reading reaches 5 pm on its rows.</a:t>
            </a:r>
          </a:p>
        </p:txBody>
      </p:sp>
      <p:sp>
        <p:nvSpPr>
          <p:cNvPr id="7" name="TextBox 6"/>
          <p:cNvSpPr txBox="1"/>
          <p:nvPr/>
        </p:nvSpPr>
        <p:spPr>
          <a:xfrm>
            <a:off x="411480" y="5016246"/>
            <a:ext cx="11368735" cy="274320"/>
          </a:xfrm>
          <a:prstGeom prst="rect">
            <a:avLst/>
          </a:prstGeom>
          <a:noFill/>
        </p:spPr>
        <p:txBody>
          <a:bodyPr wrap="square">
            <a:spAutoFit/>
          </a:bodyPr>
          <a:lstStyle/>
          <a:p>
            <a:pPr>
              <a:spcAft>
                <a:spcPts val="600"/>
              </a:spcAft>
            </a:pPr>
            <a:r>
              <a:rPr sz="1050" b="0">
                <a:solidFill>
                  <a:srgbClr val="6E6E6E"/>
                </a:solidFill>
                <a:latin typeface="Arial"/>
              </a:rPr>
              <a:t>The residual column is the raw pixel map against the engine's field, before any calibration; the performance rows and the servo use the calibrated estimate.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layout</a:t>
            </a:r>
          </a:p>
          <a:p>
            <a:pPr>
              <a:spcAft>
                <a:spcPts val="0"/>
              </a:spcAft>
            </a:pPr>
            <a:r>
              <a:rPr sz="1250" b="0">
                <a:solidFill>
                  <a:srgbClr val="6E6E6E"/>
                </a:solidFill>
                <a:latin typeface="Arial"/>
              </a:rPr>
              <a:t>The leg from the focus to the two cameras, both channel decks traced by the engine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vlayout_tail.png"/>
          <p:cNvPicPr>
            <a:picLocks noChangeAspect="1"/>
          </p:cNvPicPr>
          <p:nvPr/>
        </p:nvPicPr>
        <p:blipFill>
          <a:blip r:embed="rId2"/>
          <a:stretch>
            <a:fillRect/>
          </a:stretch>
        </p:blipFill>
        <p:spPr>
          <a:xfrm>
            <a:off x="3601256" y="1298448"/>
            <a:ext cx="4989182" cy="3446272"/>
          </a:xfrm>
          <a:prstGeom prst="rect">
            <a:avLst/>
          </a:prstGeom>
        </p:spPr>
      </p:pic>
      <p:sp>
        <p:nvSpPr>
          <p:cNvPr id="5" name="TextBox 4"/>
          <p:cNvSpPr txBox="1"/>
          <p:nvPr/>
        </p:nvSpPr>
        <p:spPr>
          <a:xfrm>
            <a:off x="411480" y="476300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vector sensor's tail from above: the focus with the metasurface, the field lens, the quarter-wave plate, the 12.7 mm polarizing cube, camera A on the transmitted port (purple) and camera B on the reflected port (orange), both at the pupil image.</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same polarization camera as the interferometer's snapshot form would replace the cube and one camera:</a:t>
            </a:r>
            <a:r>
              <a:rPr sz="1500" b="0">
                <a:solidFill>
                  <a:srgbClr val="282828"/>
                </a:solidFill>
                <a:latin typeface="Arial"/>
              </a:rPr>
              <a:t> behind the quarter-wave plate the two circular channels are the 0° and 90° pixels of the micro-polarizer array, so the two images land on one sensor, registered by construction.  The price is half the pixels per channel and the array's extinction in place of the cube's, a term the model already carries (the analyzer, on the systematics slide).</a:t>
            </a:r>
          </a:p>
        </p:txBody>
      </p:sp>
      <p:sp>
        <p:nvSpPr>
          <p:cNvPr id="7" name="TextBox 6"/>
          <p:cNvSpPr txBox="1"/>
          <p:nvPr/>
        </p:nvSpPr>
        <p:spPr>
          <a:xfrm>
            <a:off x="411480" y="6361175"/>
            <a:ext cx="11368735" cy="274320"/>
          </a:xfrm>
          <a:prstGeom prst="rect">
            <a:avLst/>
          </a:prstGeom>
          <a:noFill/>
        </p:spPr>
        <p:txBody>
          <a:bodyPr wrap="square">
            <a:spAutoFit/>
          </a:bodyPr>
          <a:lstStyle/>
          <a:p>
            <a:pPr>
              <a:spcAft>
                <a:spcPts val="600"/>
              </a:spcAft>
            </a:pPr>
            <a:r>
              <a:rPr sz="1050" b="0">
                <a:solidFill>
                  <a:srgbClr val="6E6E6E"/>
                </a:solidFill>
                <a:latin typeface="Arial"/>
              </a:rPr>
              <a:t>Drawn by zwfs_vlayout.m from the two emitted decks (the engine does not split rays); the whole train is on the front-end slide.  The metasurface and the plate are drawn as ideal surfaces and the cameras as planes; the next model round draws the substrates and the 13 mm sensors.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station by station</a:t>
            </a:r>
          </a:p>
          <a:p>
            <a:pPr>
              <a:spcAft>
                <a:spcPts val="0"/>
              </a:spcAft>
            </a:pPr>
            <a:r>
              <a:rPr sz="1250" b="0">
                <a:solidFill>
                  <a:srgbClr val="6E6E6E"/>
                </a:solidFill>
                <a:latin typeface="Arial"/>
              </a:rPr>
              <a:t>The two images taken at once, and a raw map within 25 pm of the engine's field on the 30 nm working surface: the pixel-by-pixel solve needs no calibration to read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stations_V.png"/>
          <p:cNvPicPr>
            <a:picLocks noChangeAspect="1"/>
          </p:cNvPicPr>
          <p:nvPr/>
        </p:nvPicPr>
        <p:blipFill>
          <a:blip r:embed="rId2"/>
          <a:stretch>
            <a:fillRect/>
          </a:stretch>
        </p:blipFill>
        <p:spPr>
          <a:xfrm>
            <a:off x="2167487" y="1298448"/>
            <a:ext cx="7856720"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metasurface's footprint; the metasurface's phase (+90° on one circular state, −90° on the other); the reference wave at the detector; camera A (the +φ image) and camera B (the −φ image); the surface recovered from the pair; the raw map minus the engine's field (0 on the flat, 25 pm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On the flat the two images are complementary</a:t>
            </a:r>
            <a:r>
              <a:rPr sz="1500" b="0">
                <a:solidFill>
                  <a:srgbClr val="282828"/>
                </a:solidFill>
                <a:latin typeface="Arial"/>
              </a:rPr>
              <a:t> (dark center on A, bright on B: the dimple's sign); on the working surface each carries the surface's structure, and their per-pixel combination gives the phase with no branch choice and no stepping.</a:t>
            </a:r>
          </a:p>
        </p:txBody>
      </p:sp>
      <p:sp>
        <p:nvSpPr>
          <p:cNvPr id="7" name="TextBox 6"/>
          <p:cNvSpPr txBox="1"/>
          <p:nvPr/>
        </p:nvSpPr>
        <p:spPr>
          <a:xfrm>
            <a:off x="411480" y="5016246"/>
            <a:ext cx="11368735" cy="274320"/>
          </a:xfrm>
          <a:prstGeom prst="rect">
            <a:avLst/>
          </a:prstGeom>
          <a:noFill/>
        </p:spPr>
        <p:txBody>
          <a:bodyPr wrap="square">
            <a:spAutoFit/>
          </a:bodyPr>
          <a:lstStyle/>
          <a:p>
            <a:pPr>
              <a:spcAft>
                <a:spcPts val="600"/>
              </a:spcAft>
            </a:pPr>
            <a:r>
              <a:rPr sz="1050" b="0">
                <a:solidFill>
                  <a:srgbClr val="6E6E6E"/>
                </a:solidFill>
                <a:latin typeface="Arial"/>
              </a:rPr>
              <a:t>The 25 pm is the raw absolute map's error on a 30 nm surface with the flat's calibration; on the same surface the calibrated reading is 0.9935 / 4 pm.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the layout</a:t>
            </a:r>
          </a:p>
          <a:p>
            <a:pPr>
              <a:spcAft>
                <a:spcPts val="0"/>
              </a:spcAft>
            </a:pPr>
            <a:r>
              <a:rPr sz="1250" b="0">
                <a:solidFill>
                  <a:srgbClr val="6E6E6E"/>
                </a:solidFill>
                <a:latin typeface="Arial"/>
              </a:rPr>
              <a:t>The leg from the focuser to the camera, with the pinhole substrate at the internal focus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pdi_layout_tail.png"/>
          <p:cNvPicPr>
            <a:picLocks noChangeAspect="1"/>
          </p:cNvPicPr>
          <p:nvPr/>
        </p:nvPicPr>
        <p:blipFill>
          <a:blip r:embed="rId2"/>
          <a:stretch>
            <a:fillRect/>
          </a:stretch>
        </p:blipFill>
        <p:spPr>
          <a:xfrm>
            <a:off x="3485248" y="1298448"/>
            <a:ext cx="5221198" cy="3812032"/>
          </a:xfrm>
          <a:prstGeom prst="rect">
            <a:avLst/>
          </a:prstGeom>
        </p:spPr>
      </p:pic>
      <p:sp>
        <p:nvSpPr>
          <p:cNvPr id="5" name="TextBox 4"/>
          <p:cNvSpPr txBox="1"/>
          <p:nvPr/>
        </p:nvSpPr>
        <p:spPr>
          <a:xfrm>
            <a:off x="411480" y="5128767"/>
            <a:ext cx="11368735" cy="394208"/>
          </a:xfrm>
          <a:prstGeom prst="rect">
            <a:avLst/>
          </a:prstGeom>
          <a:noFill/>
        </p:spPr>
        <p:txBody>
          <a:bodyPr wrap="square">
            <a:spAutoFit/>
          </a:bodyPr>
          <a:lstStyle/>
          <a:p>
            <a:pPr algn="ctr">
              <a:spcAft>
                <a:spcPts val="0"/>
              </a:spcAft>
            </a:pPr>
            <a:r>
              <a:rPr sz="1000" b="0">
                <a:solidFill>
                  <a:srgbClr val="6E6E6E"/>
                </a:solidFill>
                <a:latin typeface="Arial"/>
              </a:rPr>
              <a:t>The point-diffraction tail from above, as traced: the focuser, the pinhole substrate in the mask seat at the internal focus (2.0 λF/D across, the surround attenuated), the field lens, the camera at the pupil image.  Axes in bench millimeters.</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Drawn by pdi_run from the emitted deck (pdi_layout.png in pdi_dm96); the whole train is on the front-end slide.  The pinhole plate is drawn as a surface and the camera as a plane; the next model round draws the 2-3 mm substrate and the 13 mm sensor.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Stepped pinhole, station by station</a:t>
            </a:r>
          </a:p>
          <a:p>
            <a:pPr>
              <a:spcAft>
                <a:spcPts val="0"/>
              </a:spcAft>
            </a:pPr>
            <a:r>
              <a:rPr sz="1250" b="0">
                <a:solidFill>
                  <a:srgbClr val="6E6E6E"/>
                </a:solidFill>
                <a:latin typeface="Arial"/>
              </a:rPr>
              <a:t>The pinhole passes the core as the reference, the attenuated surround passes the rest; the first step frame and the shutter frame; a raw map within 0.18 nm of the engine's field on the working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stations_P.png"/>
          <p:cNvPicPr>
            <a:picLocks noChangeAspect="1"/>
          </p:cNvPicPr>
          <p:nvPr/>
        </p:nvPicPr>
        <p:blipFill>
          <a:blip r:embed="rId2"/>
          <a:stretch>
            <a:fillRect/>
          </a:stretch>
        </p:blipFill>
        <p:spPr>
          <a:xfrm>
            <a:off x="2162193" y="1298448"/>
            <a:ext cx="7867309"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pinhole's footprint; the pinhole plate's transmission (the clear pinhole, the surround at 0.72); the reference wave at the detector; the first frame of the five-step scan and the shutter frame (the surround closed, the pinhole's light alone); the surface recovered from the scan; the raw map minus the engine's field (0 on the flat, 0.18 nm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shutter frame measures the reference by itself</a:t>
            </a:r>
            <a:r>
              <a:rPr sz="1500" b="0">
                <a:solidFill>
                  <a:srgbClr val="282828"/>
                </a:solidFill>
                <a:latin typeface="Arial"/>
              </a:rPr>
              <a:t>, state by state; that is what lets this reading keep its calibration to 480 nm of surface where the dimple's self-reference collapses at 60.</a:t>
            </a:r>
          </a:p>
        </p:txBody>
      </p:sp>
      <p:sp>
        <p:nvSpPr>
          <p:cNvPr id="7" name="TextBox 6"/>
          <p:cNvSpPr txBox="1"/>
          <p:nvPr/>
        </p:nvSpPr>
        <p:spPr>
          <a:xfrm>
            <a:off x="411480" y="4768596"/>
            <a:ext cx="11368735" cy="274320"/>
          </a:xfrm>
          <a:prstGeom prst="rect">
            <a:avLst/>
          </a:prstGeom>
          <a:noFill/>
        </p:spPr>
        <p:txBody>
          <a:bodyPr wrap="square">
            <a:spAutoFit/>
          </a:bodyPr>
          <a:lstStyle/>
          <a:p>
            <a:pPr>
              <a:spcAft>
                <a:spcPts val="600"/>
              </a:spcAft>
            </a:pPr>
            <a:r>
              <a:rPr sz="1050" b="0">
                <a:solidFill>
                  <a:srgbClr val="6E6E6E"/>
                </a:solidFill>
                <a:latin typeface="Arial"/>
              </a:rPr>
              <a:t>The 0.18 nm is the raw map's error with the flat's calibration; through the matrix on the surface the pinhole reads 0.9935 / 4 pm, the same as the vector dimple.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second half: the photon price of working off null</a:t>
            </a:r>
          </a:p>
          <a:p>
            <a:pPr>
              <a:spcAft>
                <a:spcPts val="0"/>
              </a:spcAft>
            </a:pPr>
            <a:r>
              <a:rPr sz="1250" b="0">
                <a:solidFill>
                  <a:srgbClr val="6E6E6E"/>
                </a:solidFill>
                <a:latin typeface="Arial"/>
              </a:rPr>
              <a:t>The matrix re-measured on the surface holds the gain to 1-6 %; the light for 1 pm then rises 30-100× for the self-referenced sensors between 30 and 160 nm (vector 4.6e13 → 4.5e15) and falls for the interferometer (7.0e14 → 4.4e14), whose reference does not move with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657600"/>
        </p:xfrm>
        <a:graphic>
          <a:graphicData uri="http://schemas.openxmlformats.org/drawingml/2006/table">
            <a:tbl>
              <a:tblPr firstRow="1" bandRow="1">
                <a:tableStyleId>{5C22544A-7EE6-4342-B048-85BDC9FD1C3A}</a:tableStyleId>
              </a:tblPr>
              <a:tblGrid>
                <a:gridCol w="2035048"/>
                <a:gridCol w="7275307"/>
                <a:gridCol w="2058379"/>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1 nm on the grid sites, matrix re-measured at 60 / 120 / 160 nm: gain / floor</a:t>
                      </a:r>
                    </a:p>
                  </a:txBody>
                  <a:tcPr marL="54864" marR="54864" marT="18288" marB="18288">
                    <a:solidFill>
                      <a:srgbClr val="1F4E79"/>
                    </a:solidFill>
                  </a:tcPr>
                </a:tc>
                <a:tc>
                  <a:txBody>
                    <a:bodyPr wrap="square"/>
                    <a:lstStyle/>
                    <a:p>
                      <a:r>
                        <a:rPr sz="1100" b="1">
                          <a:solidFill>
                            <a:srgbClr val="FFFFFF"/>
                          </a:solidFill>
                          <a:latin typeface="Arial"/>
                        </a:rPr>
                        <a:t>photons per measurement for 1 pm at 30 / 60 / 120 / 160 nm</a:t>
                      </a:r>
                    </a:p>
                  </a:txBody>
                  <a:tcPr marL="54864" marR="54864" marT="18288" marB="18288">
                    <a:solidFill>
                      <a:srgbClr val="1F4E79"/>
                    </a:solidFill>
                  </a:tcPr>
                </a:tc>
              </a:tr>
              <a:tr h="468630">
                <a:tc>
                  <a:txBody>
                    <a:bodyPr wrap="square"/>
                    <a:lstStyle/>
                    <a:p>
                      <a:r>
                        <a:rPr sz="1100" b="0">
                          <a:solidFill>
                            <a:srgbClr val="282828"/>
                          </a:solidFill>
                          <a:latin typeface="Arial"/>
                        </a:rPr>
                        <a:t>stepped Zernike</a:t>
                      </a:r>
                    </a:p>
                  </a:txBody>
                  <a:tcPr marL="54864" marR="54864" marT="18288" marB="18288">
                    <a:solidFill>
                      <a:srgbClr val="FFFFFF"/>
                    </a:solidFill>
                  </a:tcPr>
                </a:tc>
                <a:tc>
                  <a:txBody>
                    <a:bodyPr wrap="square"/>
                    <a:lstStyle/>
                    <a:p>
                      <a:r>
                        <a:rPr sz="1100" b="0">
                          <a:solidFill>
                            <a:srgbClr val="282828"/>
                          </a:solidFill>
                          <a:latin typeface="Arial"/>
                        </a:rPr>
                        <a:t>0.94 / 50, 0.99 / 26, 0.99 / 26 pm</a:t>
                      </a:r>
                    </a:p>
                  </a:txBody>
                  <a:tcPr marL="54864" marR="54864" marT="18288" marB="18288">
                    <a:solidFill>
                      <a:srgbClr val="FFFFFF"/>
                    </a:solidFill>
                  </a:tcPr>
                </a:tc>
                <a:tc>
                  <a:txBody>
                    <a:bodyPr wrap="square"/>
                    <a:lstStyle/>
                    <a:p>
                      <a:r>
                        <a:rPr sz="1100" b="0">
                          <a:solidFill>
                            <a:srgbClr val="282828"/>
                          </a:solidFill>
                          <a:latin typeface="Arial"/>
                        </a:rPr>
                        <a:t>1.2e14, 5.3e14, 4.6e15, 7.5e15</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0.99 / 6, 0.99 / 26, 0.99 / 26 pm</a:t>
                      </a:r>
                    </a:p>
                  </a:txBody>
                  <a:tcPr marL="54864" marR="54864" marT="18288" marB="18288">
                    <a:solidFill>
                      <a:srgbClr val="ECF1F6"/>
                    </a:solidFill>
                  </a:tcPr>
                </a:tc>
                <a:tc>
                  <a:txBody>
                    <a:bodyPr wrap="square"/>
                    <a:lstStyle/>
                    <a:p>
                      <a:r>
                        <a:rPr sz="1100" b="0">
                          <a:solidFill>
                            <a:srgbClr val="282828"/>
                          </a:solidFill>
                          <a:latin typeface="Arial"/>
                        </a:rPr>
                        <a:t>4.6e13, 1.4e14, 2.4e15, 4.5e15</a:t>
                      </a:r>
                    </a:p>
                  </a:txBody>
                  <a:tcPr marL="54864" marR="54864" marT="18288" marB="18288">
                    <a:solidFill>
                      <a:srgbClr val="ECF1F6"/>
                    </a:solidFill>
                  </a:tcPr>
                </a:tc>
              </a:tr>
              <a:tr h="468630">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0.98 / 16, 0.99 / 26, 0.99 / 26 pm</a:t>
                      </a:r>
                    </a:p>
                  </a:txBody>
                  <a:tcPr marL="54864" marR="54864" marT="18288" marB="18288">
                    <a:solidFill>
                      <a:srgbClr val="FFFFFF"/>
                    </a:solidFill>
                  </a:tcPr>
                </a:tc>
                <a:tc>
                  <a:txBody>
                    <a:bodyPr wrap="square"/>
                    <a:lstStyle/>
                    <a:p>
                      <a:r>
                        <a:rPr sz="1100" b="0">
                          <a:solidFill>
                            <a:srgbClr val="282828"/>
                          </a:solidFill>
                          <a:latin typeface="Arial"/>
                        </a:rPr>
                        <a:t>1.5e14, 3.0e14, 3.0e15, 7.3e15</a:t>
                      </a:r>
                    </a:p>
                  </a:txBody>
                  <a:tcPr marL="54864" marR="54864" marT="18288" marB="18288">
                    <a:solidFill>
                      <a:srgbClr val="FFFFFF"/>
                    </a:solidFill>
                  </a:tcPr>
                </a:tc>
              </a:tr>
              <a:tr h="468630">
                <a:tc>
                  <a:txBody>
                    <a:bodyPr wrap="square"/>
                    <a:lstStyle/>
                    <a:p>
                      <a:r>
                        <a:rPr sz="1100" b="0">
                          <a:solidFill>
                            <a:srgbClr val="282828"/>
                          </a:solidFill>
                          <a:latin typeface="Arial"/>
                        </a:rPr>
                        <a:t>interferometer, lens rig</a:t>
                      </a:r>
                    </a:p>
                  </a:txBody>
                  <a:tcPr marL="54864" marR="54864" marT="18288" marB="18288">
                    <a:solidFill>
                      <a:srgbClr val="ECF1F6"/>
                    </a:solidFill>
                  </a:tcPr>
                </a:tc>
                <a:tc>
                  <a:txBody>
                    <a:bodyPr wrap="square"/>
                    <a:lstStyle/>
                    <a:p>
                      <a:r>
                        <a:rPr sz="1100" b="0">
                          <a:solidFill>
                            <a:srgbClr val="282828"/>
                          </a:solidFill>
                          <a:latin typeface="Arial"/>
                        </a:rPr>
                        <a:t>1.001 / 2, 0.996 / 2, 0.996 / 2 pm</a:t>
                      </a:r>
                    </a:p>
                  </a:txBody>
                  <a:tcPr marL="54864" marR="54864" marT="18288" marB="18288">
                    <a:solidFill>
                      <a:srgbClr val="ECF1F6"/>
                    </a:solidFill>
                  </a:tcPr>
                </a:tc>
                <a:tc>
                  <a:txBody>
                    <a:bodyPr wrap="square"/>
                    <a:lstStyle/>
                    <a:p>
                      <a:r>
                        <a:rPr sz="1100" b="0">
                          <a:solidFill>
                            <a:srgbClr val="282828"/>
                          </a:solidFill>
                          <a:latin typeface="Arial"/>
                        </a:rPr>
                        <a:t>9.9e14, 8.6e14, 5.9e14, 6.6e14</a:t>
                      </a:r>
                    </a:p>
                  </a:txBody>
                  <a:tcPr marL="54864" marR="54864" marT="18288" marB="18288">
                    <a:solidFill>
                      <a:srgbClr val="ECF1F6"/>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FFFFFF"/>
                    </a:solidFill>
                  </a:tcPr>
                </a:tc>
                <a:tc>
                  <a:txBody>
                    <a:bodyPr wrap="square"/>
                    <a:lstStyle/>
                    <a:p>
                      <a:r>
                        <a:rPr sz="1100" b="0">
                          <a:solidFill>
                            <a:srgbClr val="282828"/>
                          </a:solidFill>
                          <a:latin typeface="Arial"/>
                        </a:rPr>
                        <a:t>0.989 / 2, 0.995 / 2, 0.995 / 2 pm</a:t>
                      </a:r>
                    </a:p>
                  </a:txBody>
                  <a:tcPr marL="54864" marR="54864" marT="18288" marB="18288">
                    <a:solidFill>
                      <a:srgbClr val="FFFFFF"/>
                    </a:solidFill>
                  </a:tcPr>
                </a:tc>
                <a:tc>
                  <a:txBody>
                    <a:bodyPr wrap="square"/>
                    <a:lstStyle/>
                    <a:p>
                      <a:r>
                        <a:rPr sz="1100" b="0">
                          <a:solidFill>
                            <a:srgbClr val="282828"/>
                          </a:solidFill>
                          <a:latin typeface="Arial"/>
                        </a:rPr>
                        <a:t>7.0e14, 5.3e14, 4.9e14, 4.4e14</a:t>
                      </a:r>
                    </a:p>
                  </a:txBody>
                  <a:tcPr marL="54864" marR="54864" marT="18288" marB="18288">
                    <a:solidFill>
                      <a:srgbClr val="FFFFFF"/>
                    </a:solidFill>
                  </a:tcPr>
                </a:tc>
              </a:tr>
              <a:tr h="657225">
                <a:tc>
                  <a:txBody>
                    <a:bodyPr wrap="square"/>
                    <a:lstStyle/>
                    <a:p>
                      <a:r>
                        <a:rPr sz="1100" b="0">
                          <a:solidFill>
                            <a:srgbClr val="282828"/>
                          </a:solidFill>
                          <a:latin typeface="Arial"/>
                        </a:rPr>
                        <a:t>interferometer, either rig</a:t>
                      </a:r>
                    </a:p>
                  </a:txBody>
                  <a:tcPr marL="54864" marR="54864" marT="18288" marB="18288">
                    <a:solidFill>
                      <a:srgbClr val="ECF1F6"/>
                    </a:solidFill>
                  </a:tcPr>
                </a:tc>
                <a:tc>
                  <a:txBody>
                    <a:bodyPr wrap="square"/>
                    <a:lstStyle/>
                    <a:p>
                      <a:r>
                        <a:rPr sz="1100" b="0">
                          <a:solidFill>
                            <a:srgbClr val="282828"/>
                          </a:solidFill>
                          <a:latin typeface="Arial"/>
                        </a:rPr>
                        <a:t>0.99 / 2 pm to 60 nm; between 60 and 120 nm the raw four-step reading wraps (the base past λ/2 of surface reads 91 nm rms whatever it is) on lens and mirror rigs alike; unwrapping restores it (next slides)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bl>
          </a:graphicData>
        </a:graphic>
      </p:graphicFrame>
      <p:sp>
        <p:nvSpPr>
          <p:cNvPr id="5" name="TextBox 4"/>
          <p:cNvSpPr txBox="1"/>
          <p:nvPr/>
        </p:nvSpPr>
        <p:spPr>
          <a:xfrm>
            <a:off x="411480" y="510235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What this says:</a:t>
            </a:r>
            <a:r>
              <a:rPr sz="1500" b="0">
                <a:solidFill>
                  <a:srgbClr val="282828"/>
                </a:solidFill>
                <a:latin typeface="Arial"/>
              </a:rPr>
              <a:t> off null, a self-referenced sensor keeps its gain through recalibration but pays in light (4.5e15 photons is 1.4 mJ, 6 s of a 1 mW laser at 25 % throughput) and its floor rises to 26 pm; the interferometer pays nothing because its reference does not move with the surface.</a:t>
            </a:r>
          </a:p>
        </p:txBody>
      </p:sp>
      <p:sp>
        <p:nvSpPr>
          <p:cNvPr id="6" name="TextBox 5"/>
          <p:cNvSpPr txBox="1"/>
          <p:nvPr/>
        </p:nvSpPr>
        <p:spPr>
          <a:xfrm>
            <a:off x="411480" y="6022086"/>
            <a:ext cx="11368735" cy="274320"/>
          </a:xfrm>
          <a:prstGeom prst="rect">
            <a:avLst/>
          </a:prstGeom>
          <a:noFill/>
        </p:spPr>
        <p:txBody>
          <a:bodyPr wrap="square">
            <a:spAutoFit/>
          </a:bodyPr>
          <a:lstStyle/>
          <a:p>
            <a:pPr>
              <a:spcAft>
                <a:spcPts val="600"/>
              </a:spcAft>
            </a:pPr>
            <a:r>
              <a:rPr sz="1050" b="0">
                <a:solidFill>
                  <a:srgbClr val="6E6E6E"/>
                </a:solidFill>
                <a:latin typeface="Arial"/>
              </a:rPr>
              <a:t>All rows on the built bench.  Interferometer: redo96_lensph, redo96_oapph (the re-measured matrix on each surface, 1 nm on 112 sites).  Sensors, mirror rig at 193 px: redo96_senscap_b60/b120/b160 (1 nm on 77 grid sites, matrix re-measured on the surface), redo96_sensnoise and redo96_sensnoise_b60/b120/b160 (photons).  Photons are per measurement, all frames summed, 6 noise realizations per point.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reflective front end: the design</a:t>
            </a:r>
          </a:p>
          <a:p>
            <a:pPr>
              <a:spcAft>
                <a:spcPts val="0"/>
              </a:spcAft>
            </a:pPr>
            <a:r>
              <a:rPr sz="1250" b="0">
                <a:solidFill>
                  <a:srgbClr val="6E6E6E"/>
                </a:solidFill>
                <a:latin typeface="Arial"/>
              </a:rPr>
              <a:t>Fed at its focus and solved at the 22.5° splitter: every part clears by 33 mm, the focus lands on the mask seat without adjustment, and the residual with a flat mirror is 0.029 nm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lay96_oap_train.png"/>
          <p:cNvPicPr>
            <a:picLocks noChangeAspect="1"/>
          </p:cNvPicPr>
          <p:nvPr/>
        </p:nvPicPr>
        <p:blipFill>
          <a:blip r:embed="rId2"/>
          <a:stretch>
            <a:fillRect/>
          </a:stretch>
        </p:blipFill>
        <p:spPr>
          <a:xfrm>
            <a:off x="2012287" y="1298448"/>
            <a:ext cx="2604825" cy="2384552"/>
          </a:xfrm>
          <a:prstGeom prst="rect">
            <a:avLst/>
          </a:prstGeom>
        </p:spPr>
      </p:pic>
      <p:sp>
        <p:nvSpPr>
          <p:cNvPr id="5" name="TextBox 4"/>
          <p:cNvSpPr txBox="1"/>
          <p:nvPr/>
        </p:nvSpPr>
        <p:spPr>
          <a:xfrm>
            <a:off x="411480" y="3701287"/>
            <a:ext cx="5806440" cy="724408"/>
          </a:xfrm>
          <a:prstGeom prst="rect">
            <a:avLst/>
          </a:prstGeom>
          <a:noFill/>
        </p:spPr>
        <p:txBody>
          <a:bodyPr wrap="square">
            <a:spAutoFit/>
          </a:bodyPr>
          <a:lstStyle/>
          <a:p>
            <a:pPr algn="ctr">
              <a:spcAft>
                <a:spcPts val="0"/>
              </a:spcAft>
            </a:pPr>
            <a:r>
              <a:rPr sz="1000" b="0">
                <a:solidFill>
                  <a:srgbClr val="6E6E6E"/>
                </a:solidFill>
                <a:latin typeface="Arial"/>
              </a:rPr>
              <a:t>The redesigned reflective interferometer as traced by the engine, from above: the source and input polarizer in the diverging leg, OAP1 (collimator, 20° fold), the splitter at 22.5°, the 96 × 96 mirror on the test leg (blue), the reference flat on its piezo (orange), the output plate and analyzer, OAP2 (focuser, 25° fold) toward the mask seat.</a:t>
            </a:r>
          </a:p>
        </p:txBody>
      </p:sp>
      <p:graphicFrame>
        <p:nvGraphicFramePr>
          <p:cNvPr id="6" name="Table 5"/>
          <p:cNvGraphicFramePr>
            <a:graphicFrameLocks noGrp="1"/>
          </p:cNvGraphicFramePr>
          <p:nvPr/>
        </p:nvGraphicFramePr>
        <p:xfrm>
          <a:off x="6400800" y="1298448"/>
          <a:ext cx="5394959" cy="2091690"/>
        </p:xfrm>
        <a:graphic>
          <a:graphicData uri="http://schemas.openxmlformats.org/drawingml/2006/table">
            <a:tbl>
              <a:tblPr firstRow="1" bandRow="1">
                <a:tableStyleId>{5C22544A-7EE6-4342-B048-85BDC9FD1C3A}</a:tableStyleId>
              </a:tblPr>
              <a:tblGrid>
                <a:gridCol w="1854517"/>
                <a:gridCol w="3540442"/>
              </a:tblGrid>
              <a:tr h="262890">
                <a:tc>
                  <a:txBody>
                    <a:bodyPr wrap="square"/>
                    <a:lstStyle/>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collimation after the collimator</a:t>
                      </a:r>
                    </a:p>
                  </a:txBody>
                  <a:tcPr marL="54864" marR="54864" marT="18288" marB="18288">
                    <a:solidFill>
                      <a:srgbClr val="FFFFFF"/>
                    </a:solidFill>
                  </a:tcPr>
                </a:tc>
                <a:tc>
                  <a:txBody>
                    <a:bodyPr wrap="square"/>
                    <a:lstStyle/>
                    <a:p>
                      <a:r>
                        <a:rPr sz="1000" b="0">
                          <a:solidFill>
                            <a:srgbClr val="282828"/>
                          </a:solidFill>
                          <a:latin typeface="Arial"/>
                        </a:rPr>
                        <a:t>0.00 µrad residual (the source at the parabola's focus)</a:t>
                      </a:r>
                    </a:p>
                  </a:txBody>
                  <a:tcPr marL="54864" marR="54864" marT="18288" marB="18288">
                    <a:solidFill>
                      <a:srgbClr val="FFFFFF"/>
                    </a:solidFill>
                  </a:tcPr>
                </a:tc>
              </a:tr>
              <a:tr h="434340">
                <a:tc>
                  <a:txBody>
                    <a:bodyPr wrap="square"/>
                    <a:lstStyle/>
                    <a:p>
                      <a:r>
                        <a:rPr sz="1000" b="0">
                          <a:solidFill>
                            <a:srgbClr val="282828"/>
                          </a:solidFill>
                          <a:latin typeface="Arial"/>
                        </a:rPr>
                        <a:t>blur at the mask seat, best focus</a:t>
                      </a:r>
                    </a:p>
                  </a:txBody>
                  <a:tcPr marL="54864" marR="54864" marT="18288" marB="18288">
                    <a:solidFill>
                      <a:srgbClr val="ECF1F6"/>
                    </a:solidFill>
                  </a:tcPr>
                </a:tc>
                <a:tc>
                  <a:txBody>
                    <a:bodyPr wrap="square"/>
                    <a:lstStyle/>
                    <a:p>
                      <a:r>
                        <a:rPr sz="1000" b="0">
                          <a:solidFill>
                            <a:srgbClr val="282828"/>
                          </a:solidFill>
                          <a:latin typeface="Arial"/>
                        </a:rPr>
                        <a:t>0.000 λF/D at zero trim</a:t>
                      </a:r>
                    </a:p>
                  </a:txBody>
                  <a:tcPr marL="54864" marR="54864" marT="18288" marB="18288">
                    <a:solidFill>
                      <a:srgbClr val="ECF1F6"/>
                    </a:solidFill>
                  </a:tcPr>
                </a:tc>
              </a:tr>
              <a:tr h="434340">
                <a:tc>
                  <a:txBody>
                    <a:bodyPr wrap="square"/>
                    <a:lstStyle/>
                    <a:p>
                      <a:r>
                        <a:rPr sz="1000" b="0">
                          <a:solidFill>
                            <a:srgbClr val="282828"/>
                          </a:solidFill>
                          <a:latin typeface="Arial"/>
                        </a:rPr>
                        <a:t>residual with a flat mirror</a:t>
                      </a:r>
                    </a:p>
                  </a:txBody>
                  <a:tcPr marL="54864" marR="54864" marT="18288" marB="18288">
                    <a:solidFill>
                      <a:srgbClr val="FFFFFF"/>
                    </a:solidFill>
                  </a:tcPr>
                </a:tc>
                <a:tc>
                  <a:txBody>
                    <a:bodyPr wrap="square"/>
                    <a:lstStyle/>
                    <a:p>
                      <a:r>
                        <a:rPr sz="1000" b="0">
                          <a:solidFill>
                            <a:srgbClr val="282828"/>
                          </a:solidFill>
                          <a:latin typeface="Arial"/>
                        </a:rPr>
                        <a:t>0.029 nm with no adjustment (lens rig 0.13 nm after adjustment)</a:t>
                      </a:r>
                    </a:p>
                  </a:txBody>
                  <a:tcPr marL="54864" marR="54864" marT="18288" marB="18288">
                    <a:solidFill>
                      <a:srgbClr val="FFFFFF"/>
                    </a:solidFill>
                  </a:tcPr>
                </a:tc>
              </a:tr>
              <a:tr h="262890">
                <a:tc>
                  <a:txBody>
                    <a:bodyPr wrap="square"/>
                    <a:lstStyle/>
                    <a:p>
                      <a:r>
                        <a:rPr sz="1000" b="0">
                          <a:solidFill>
                            <a:srgbClr val="282828"/>
                          </a:solidFill>
                          <a:latin typeface="Arial"/>
                        </a:rPr>
                        <a:t>clearance, worst part</a:t>
                      </a:r>
                    </a:p>
                  </a:txBody>
                  <a:tcPr marL="54864" marR="54864" marT="18288" marB="18288">
                    <a:solidFill>
                      <a:srgbClr val="ECF1F6"/>
                    </a:solidFill>
                  </a:tcPr>
                </a:tc>
                <a:tc>
                  <a:txBody>
                    <a:bodyPr wrap="square"/>
                    <a:lstStyle/>
                    <a:p>
                      <a:r>
                        <a:rPr sz="1000" b="0">
                          <a:solidFill>
                            <a:srgbClr val="282828"/>
                          </a:solidFill>
                          <a:latin typeface="Arial"/>
                        </a:rPr>
                        <a:t>+33.4 mm over 8 parts</a:t>
                      </a:r>
                    </a:p>
                  </a:txBody>
                  <a:tcPr marL="54864" marR="54864" marT="18288" marB="18288">
                    <a:solidFill>
                      <a:srgbClr val="ECF1F6"/>
                    </a:solidFill>
                  </a:tcPr>
                </a:tc>
              </a:tr>
              <a:tr h="262890">
                <a:tc>
                  <a:txBody>
                    <a:bodyPr wrap="square"/>
                    <a:lstStyle/>
                    <a:p>
                      <a:r>
                        <a:rPr sz="1000" b="0">
                          <a:solidFill>
                            <a:srgbClr val="282828"/>
                          </a:solidFill>
                          <a:latin typeface="Arial"/>
                        </a:rPr>
                        <a:t>rays lost</a:t>
                      </a:r>
                    </a:p>
                  </a:txBody>
                  <a:tcPr marL="54864" marR="54864" marT="18288" marB="18288">
                    <a:solidFill>
                      <a:srgbClr val="FFFFFF"/>
                    </a:solidFill>
                  </a:tcPr>
                </a:tc>
                <a:tc>
                  <a:txBody>
                    <a:bodyPr wrap="square"/>
                    <a:lstStyle/>
                    <a:p>
                      <a:r>
                        <a:rPr sz="1000" b="0">
                          <a:solidFill>
                            <a:srgbClr val="282828"/>
                          </a:solidFill>
                          <a:latin typeface="Arial"/>
                        </a:rPr>
                        <a:t>0</a:t>
                      </a:r>
                    </a:p>
                  </a:txBody>
                  <a:tcPr marL="54864" marR="54864" marT="18288" marB="18288">
                    <a:solidFill>
                      <a:srgbClr val="FFFFFF"/>
                    </a:solidFill>
                  </a:tcPr>
                </a:tc>
              </a:tr>
            </a:tbl>
          </a:graphicData>
        </a:graphic>
      </p:graphicFrame>
      <p:sp>
        <p:nvSpPr>
          <p:cNvPr id="7" name="TextBox 6"/>
          <p:cNvSpPr txBox="1"/>
          <p:nvPr/>
        </p:nvSpPr>
        <p:spPr>
          <a:xfrm>
            <a:off x="6400800" y="353644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rule a parabola enforces and a lens hides:</a:t>
            </a:r>
            <a:r>
              <a:rPr sz="1200" b="0">
                <a:solidFill>
                  <a:srgbClr val="282828"/>
                </a:solidFill>
                <a:latin typeface="Arial"/>
              </a:rPr>
              <a:t> an off-axis collimator must be fed at its focus — a 25 mm conjugate error becomes coma at the fold, linear in the fold angle (in the model that had it: 926 µrad of residual, 1.1 λF/D of blur at the mask seat, 12.9 nm of flat-mirror residual); a lens absorbs the same error into its tuned figure.  Fed at the focus there is nothing left for a smaller fold angle to recover.</a:t>
            </a:r>
          </a:p>
          <a:p>
            <a:pPr>
              <a:spcAft>
                <a:spcPts val="600"/>
              </a:spcAft>
            </a:pPr>
            <a:r>
              <a:rPr sz="1200" b="0">
                <a:solidFill>
                  <a:srgbClr val="282828"/>
                </a:solidFill>
                <a:latin typeface="Arial"/>
              </a:rPr>
              <a:t>•  </a:t>
            </a:r>
            <a:r>
              <a:rPr sz="1200" b="1">
                <a:solidFill>
                  <a:srgbClr val="282828"/>
                </a:solidFill>
                <a:latin typeface="Arial"/>
              </a:rPr>
              <a:t>Coatings:</a:t>
            </a:r>
            <a:r>
              <a:rPr sz="1200" b="0">
                <a:solidFill>
                  <a:srgbClr val="282828"/>
                </a:solidFill>
                <a:latin typeface="Arial"/>
              </a:rPr>
              <a:t> bare and protected aluminum give the same rows; the retardance variation they add is 0.5 mrad, a floor.</a:t>
            </a:r>
          </a:p>
        </p:txBody>
      </p:sp>
      <p:sp>
        <p:nvSpPr>
          <p:cNvPr id="8" name="TextBox 7"/>
          <p:cNvSpPr txBox="1"/>
          <p:nvPr/>
        </p:nvSpPr>
        <p:spPr>
          <a:xfrm>
            <a:off x="6400800" y="5438394"/>
            <a:ext cx="5394960" cy="274320"/>
          </a:xfrm>
          <a:prstGeom prst="rect">
            <a:avLst/>
          </a:prstGeom>
          <a:noFill/>
        </p:spPr>
        <p:txBody>
          <a:bodyPr wrap="square">
            <a:spAutoFit/>
          </a:bodyPr>
          <a:lstStyle/>
          <a:p>
            <a:pPr>
              <a:spcAft>
                <a:spcPts val="600"/>
              </a:spcAft>
            </a:pPr>
            <a:r>
              <a:rPr sz="1050" b="0">
                <a:solidFill>
                  <a:srgbClr val="6E6E6E"/>
                </a:solidFill>
                <a:latin typeface="Arial"/>
              </a:rPr>
              <a:t>Off-axis parabolas: OAP1 parent f 757 mm, off-axis 551 mm, 20°; OAP2 parent f 352 mm, off-axis 328 mm, 25°; each on a tip/tilt mount.  Run tags oap22d, oapdraw3 (the layout), redo96_oap, redo96_oaploop, capt96_oap, redo96_oapsens (the rows).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Measuring the full complex amplitude, for two-mirror control</a:t>
            </a:r>
          </a:p>
          <a:p>
            <a:pPr>
              <a:spcAft>
                <a:spcPts val="0"/>
              </a:spcAft>
            </a:pPr>
            <a:r>
              <a:rPr sz="1250" b="0">
                <a:solidFill>
                  <a:srgbClr val="6E6E6E"/>
                </a:solidFill>
                <a:latin typeface="Arial"/>
              </a:rPr>
              <a:t>Every approach but the one-frame Zernike readings returns the pupil field's amplitude as well as its phase from frames it already takes; no separate camera is needed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811780"/>
        </p:xfrm>
        <a:graphic>
          <a:graphicData uri="http://schemas.openxmlformats.org/drawingml/2006/table">
            <a:tbl>
              <a:tblPr firstRow="1" bandRow="1">
                <a:tableStyleId>{5C22544A-7EE6-4342-B048-85BDC9FD1C3A}</a:tableStyleId>
              </a:tblPr>
              <a:tblGrid>
                <a:gridCol w="908834"/>
                <a:gridCol w="1514723"/>
                <a:gridCol w="3382882"/>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amplitude from its own frames?</a:t>
                      </a:r>
                    </a:p>
                  </a:txBody>
                  <a:tcPr marL="54864" marR="54864" marT="18288" marB="18288">
                    <a:solidFill>
                      <a:srgbClr val="1F4E79"/>
                    </a:solidFill>
                  </a:tcPr>
                </a:tc>
                <a:tc>
                  <a:txBody>
                    <a:bodyPr wrap="square"/>
                    <a:lstStyle/>
                    <a:p>
                      <a:r>
                        <a:rPr sz="1100" b="1">
                          <a:solidFill>
                            <a:srgbClr val="FFFFFF"/>
                          </a:solidFill>
                          <a:latin typeface="Arial"/>
                        </a:rPr>
                        <a:t>how</a:t>
                      </a:r>
                    </a:p>
                  </a:txBody>
                  <a:tcPr marL="54864" marR="54864" marT="18288" marB="18288">
                    <a:solidFill>
                      <a:srgbClr val="1F4E79"/>
                    </a:solidFill>
                  </a:tcPr>
                </a:tc>
              </a:tr>
              <a:tr h="468630">
                <a:tc>
                  <a:txBody>
                    <a:bodyPr wrap="square"/>
                    <a:lstStyle/>
                    <a:p>
                      <a:r>
                        <a:rPr sz="1100" b="0">
                          <a:solidFill>
                            <a:srgbClr val="282828"/>
                          </a:solidFill>
                          <a:latin typeface="Arial"/>
                        </a:rPr>
                        <a:t>Zernike, one frame</a:t>
                      </a:r>
                    </a:p>
                  </a:txBody>
                  <a:tcPr marL="54864" marR="54864" marT="18288" marB="18288">
                    <a:solidFill>
                      <a:srgbClr val="FFFFFF"/>
                    </a:solidFill>
                  </a:tcPr>
                </a:tc>
                <a:tc>
                  <a:txBody>
                    <a:bodyPr wrap="square"/>
                    <a:lstStyle/>
                    <a:p>
                      <a:r>
                        <a:rPr sz="1100" b="0">
                          <a:solidFill>
                            <a:srgbClr val="282828"/>
                          </a:solidFill>
                          <a:latin typeface="Arial"/>
                        </a:rPr>
                        <a:t>no</a:t>
                      </a:r>
                    </a:p>
                  </a:txBody>
                  <a:tcPr marL="54864" marR="54864" marT="18288" marB="18288">
                    <a:solidFill>
                      <a:srgbClr val="FFFFFF"/>
                    </a:solidFill>
                  </a:tcPr>
                </a:tc>
                <a:tc>
                  <a:txBody>
                    <a:bodyPr wrap="square"/>
                    <a:lstStyle/>
                    <a:p>
                      <a:r>
                        <a:rPr sz="1100" b="0">
                          <a:solidFill>
                            <a:srgbClr val="282828"/>
                          </a:solidFill>
                          <a:latin typeface="Arial"/>
                        </a:rPr>
                        <a:t>the solve assumes the flat's amplitude</a:t>
                      </a:r>
                    </a:p>
                  </a:txBody>
                  <a:tcPr marL="54864" marR="54864" marT="18288" marB="18288">
                    <a:solidFill>
                      <a:srgbClr val="FFFFFF"/>
                    </a:solidFill>
                  </a:tcPr>
                </a:tc>
              </a:tr>
              <a:tr h="468630">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its clear frame is the pupil intensity; the depths give the field</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yes, with one clear frame</a:t>
                      </a:r>
                    </a:p>
                  </a:txBody>
                  <a:tcPr marL="54864" marR="54864" marT="18288" marB="18288">
                    <a:solidFill>
                      <a:srgbClr val="FFFFFF"/>
                    </a:solidFill>
                  </a:tcPr>
                </a:tc>
                <a:tc>
                  <a:txBody>
                    <a:bodyPr wrap="square"/>
                    <a:lstStyle/>
                    <a:p>
                      <a:r>
                        <a:rPr sz="1100" b="0">
                          <a:solidFill>
                            <a:srgbClr val="282828"/>
                          </a:solidFill>
                          <a:latin typeface="Arial"/>
                        </a:rPr>
                        <a:t>the pair alone is ambiguous; the pair plus the clear frame is exact</a:t>
                      </a:r>
                    </a:p>
                  </a:txBody>
                  <a:tcPr marL="54864" marR="54864" marT="18288" marB="18288">
                    <a:solidFill>
                      <a:srgbClr val="FFFFFF"/>
                    </a:solidFill>
                  </a:tcPr>
                </a:tc>
              </a:tr>
              <a:tr h="468630">
                <a:tc>
                  <a:txBody>
                    <a:bodyPr wrap="square"/>
                    <a:lstStyle/>
                    <a:p>
                      <a:r>
                        <a:rPr sz="1100" b="0">
                          <a:solidFill>
                            <a:srgbClr val="282828"/>
                          </a:solidFill>
                          <a:latin typeface="Arial"/>
                        </a:rPr>
                        <a:t>pinhole, P/SRI</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the stepped solve is the field against a known reference</a:t>
                      </a:r>
                    </a:p>
                  </a:txBody>
                  <a:tcPr marL="54864" marR="54864" marT="18288" marB="18288">
                    <a:solidFill>
                      <a:srgbClr val="ECF1F6"/>
                    </a:solidFill>
                  </a:tcPr>
                </a:tc>
              </a:tr>
              <a:tr h="468630">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yes</a:t>
                      </a:r>
                    </a:p>
                  </a:txBody>
                  <a:tcPr marL="54864" marR="54864" marT="18288" marB="18288">
                    <a:solidFill>
                      <a:srgbClr val="FFFFFF"/>
                    </a:solidFill>
                  </a:tcPr>
                </a:tc>
                <a:tc>
                  <a:txBody>
                    <a:bodyPr wrap="square"/>
                    <a:lstStyle/>
                    <a:p>
                      <a:r>
                        <a:rPr sz="1100" b="0">
                          <a:solidFill>
                            <a:srgbClr val="282828"/>
                          </a:solidFill>
                          <a:latin typeface="Arial"/>
                        </a:rPr>
                        <a:t>fringe modulation is the test amplitude times the reference's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 alone cannot:</a:t>
            </a:r>
            <a:r>
              <a:rPr sz="1500" b="0">
                <a:solidFill>
                  <a:srgbClr val="282828"/>
                </a:solidFill>
                <a:latin typeface="Arial"/>
              </a:rPr>
              <a:t> its two images fix the field only up to a mirror image about the reference wave, and at gauge-level phases (a 100 nm poke is 1.9 rad) the true field crosses that line.  Solving both from the pair diverges.</a:t>
            </a:r>
          </a:p>
          <a:p>
            <a:pPr>
              <a:spcAft>
                <a:spcPts val="600"/>
              </a:spcAft>
            </a:pPr>
            <a:r>
              <a:rPr sz="1500" b="0">
                <a:solidFill>
                  <a:srgbClr val="282828"/>
                </a:solidFill>
                <a:latin typeface="Arial"/>
              </a:rPr>
              <a:t>•  </a:t>
            </a:r>
            <a:r>
              <a:rPr sz="1500" b="1">
                <a:solidFill>
                  <a:srgbClr val="282828"/>
                </a:solidFill>
                <a:latin typeface="Arial"/>
              </a:rPr>
              <a:t>The pair plus the state's clear frame reads both exactly:</a:t>
            </a:r>
            <a:r>
              <a:rPr sz="1500" b="0">
                <a:solidFill>
                  <a:srgbClr val="282828"/>
                </a:solidFill>
                <a:latin typeface="Arial"/>
              </a:rPr>
              <a:t> through a 5% and a 20% dip in pupil amplitude the phase comes back at 0.02 and 0.13 pm, where the phase-only solve misreads by 237 and 952 pm; the hold rows are unchanged to the digit.  Three frames.</a:t>
            </a:r>
          </a:p>
        </p:txBody>
      </p:sp>
      <p:sp>
        <p:nvSpPr>
          <p:cNvPr id="6" name="TextBox 5"/>
          <p:cNvSpPr txBox="1"/>
          <p:nvPr/>
        </p:nvSpPr>
        <p:spPr>
          <a:xfrm>
            <a:off x="6492240" y="4800600"/>
            <a:ext cx="5394960" cy="274320"/>
          </a:xfrm>
          <a:prstGeom prst="rect">
            <a:avLst/>
          </a:prstGeom>
          <a:noFill/>
        </p:spPr>
        <p:txBody>
          <a:bodyPr wrap="square">
            <a:spAutoFit/>
          </a:bodyPr>
          <a:lstStyle/>
          <a:p>
            <a:pPr>
              <a:spcAft>
                <a:spcPts val="600"/>
              </a:spcAft>
            </a:pPr>
            <a:r>
              <a:rPr sz="1050" b="0">
                <a:solidFill>
                  <a:srgbClr val="6E6E6E"/>
                </a:solidFill>
                <a:latin typeface="Arial"/>
              </a:rPr>
              <a:t>Run tag an193_clear; the runner's mask.v_clear reading and its amplitude-dip check.  On orbit with starlight, the field's amplitude is what the second mirror's control needs.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every mode</a:t>
            </a:r>
          </a:p>
          <a:p>
            <a:pPr>
              <a:spcAft>
                <a:spcPts val="0"/>
              </a:spcAft>
            </a:pPr>
            <a:r>
              <a:rPr sz="1250" b="0">
                <a:solidFill>
                  <a:srgbClr val="6E6E6E"/>
                </a:solidFill>
                <a:latin typeface="Arial"/>
              </a:rPr>
              <a:t>Nothing is realigned: the mask seat translates, the reference arm is shuttered, the quarter-wave plate goes in or out, and the P/SRI arm sits behind a flip-in plate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one_bench.png"/>
          <p:cNvPicPr>
            <a:picLocks noChangeAspect="1"/>
          </p:cNvPicPr>
          <p:nvPr/>
        </p:nvPicPr>
        <p:blipFill>
          <a:blip r:embed="rId2"/>
          <a:stretch>
            <a:fillRect/>
          </a:stretch>
        </p:blipFill>
        <p:spPr>
          <a:xfrm>
            <a:off x="2829610" y="1298448"/>
            <a:ext cx="6532473" cy="3629152"/>
          </a:xfrm>
          <a:prstGeom prst="rect">
            <a:avLst/>
          </a:prstGeom>
        </p:spPr>
      </p:pic>
      <p:sp>
        <p:nvSpPr>
          <p:cNvPr id="5" name="TextBox 4"/>
          <p:cNvSpPr txBox="1"/>
          <p:nvPr/>
        </p:nvSpPr>
        <p:spPr>
          <a:xfrm>
            <a:off x="411480" y="494588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switching schematic: the shared front end, the reference arm and its shutter, the mask seat with its four substrates, the vector tail with the plate and cube, and the P/SRI arm behind the flip-in pickoff.  Green: a switch; blue: a part that stays built.</a:t>
            </a:r>
          </a:p>
        </p:txBody>
      </p:sp>
      <p:sp>
        <p:nvSpPr>
          <p:cNvPr id="6" name="TextBox 5"/>
          <p:cNvSpPr txBox="1"/>
          <p:nvPr/>
        </p:nvSpPr>
        <p:spPr>
          <a:xfrm>
            <a:off x="411480" y="5376672"/>
            <a:ext cx="11368735" cy="274320"/>
          </a:xfrm>
          <a:prstGeom prst="rect">
            <a:avLst/>
          </a:prstGeom>
          <a:noFill/>
        </p:spPr>
        <p:txBody>
          <a:bodyPr wrap="square">
            <a:spAutoFit/>
          </a:bodyPr>
          <a:lstStyle/>
          <a:p>
            <a:pPr>
              <a:spcAft>
                <a:spcPts val="600"/>
              </a:spcAft>
            </a:pPr>
            <a:r>
              <a:rPr sz="1050" b="0">
                <a:solidFill>
                  <a:srgbClr val="6E6E6E"/>
                </a:solidFill>
                <a:latin typeface="Arial"/>
              </a:rPr>
              <a:t>The polarizing cube and camera B stay in every mode: with the laser p-polarized the cube transmits 98% to camera A.  The cemented-cube interferometer (backup) is the one form that does not switch in.  An engine-traced drawing of this bench is a follow-up; the schematic is gauge_one_bench.m.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capture beyond one wave with a second color</a:t>
            </a:r>
          </a:p>
          <a:p>
            <a:pPr>
              <a:spcAft>
                <a:spcPts val="0"/>
              </a:spcAft>
            </a:pPr>
            <a:r>
              <a:rPr sz="1250" b="0">
                <a:solidFill>
                  <a:srgbClr val="6E6E6E"/>
                </a:solidFill>
                <a:latin typeface="Arial"/>
              </a:rPr>
              <a:t>Unwrapping works while neighboring pixels differ by less than half a wave; a figure of more than a wave with actuator-scale structure needs a coarse ruler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Where unwrapping stops:</a:t>
            </a:r>
            <a:r>
              <a:rPr sz="1500" b="0">
                <a:solidFill>
                  <a:srgbClr val="282828"/>
                </a:solidFill>
                <a:latin typeface="Arial"/>
              </a:rPr>
              <a:t> at 4 pixels per actuator a 100-200 nm rms actuator pattern is 0.7-1.4 rad per pixel and unwraps; quilting, print-through or a stuck actuator at more than a wave does not.</a:t>
            </a:r>
          </a:p>
          <a:p>
            <a:pPr>
              <a:spcAft>
                <a:spcPts val="600"/>
              </a:spcAft>
            </a:pPr>
            <a:r>
              <a:rPr sz="1500" b="0">
                <a:solidFill>
                  <a:srgbClr val="282828"/>
                </a:solidFill>
                <a:latin typeface="Arial"/>
              </a:rPr>
              <a:t>•  </a:t>
            </a:r>
            <a:r>
              <a:rPr sz="1500" b="1">
                <a:solidFill>
                  <a:srgbClr val="282828"/>
                </a:solidFill>
                <a:latin typeface="Arial"/>
              </a:rPr>
              <a:t>A second color makes a synthetic wavelength:</a:t>
            </a:r>
            <a:r>
              <a:rPr sz="1500" b="0">
                <a:solidFill>
                  <a:srgbClr val="282828"/>
                </a:solidFill>
                <a:latin typeface="Arial"/>
              </a:rPr>
              <a:t> 632.8 + 700 nm gives 6.6 µm, an unambiguous surface range of 1.6 µm (double pass); 632.8 + 780 nm gives 3.35 µm and 0.84 µm.  The coarse pair captures, the single color holds; the coarse solve is 5-10× noisier.</a:t>
            </a:r>
          </a:p>
          <a:p>
            <a:pPr>
              <a:spcAft>
                <a:spcPts val="600"/>
              </a:spcAft>
            </a:pPr>
            <a:r>
              <a:rPr sz="1500" b="0">
                <a:solidFill>
                  <a:srgbClr val="282828"/>
                </a:solidFill>
                <a:latin typeface="Arial"/>
              </a:rPr>
              <a:t>•  </a:t>
            </a:r>
            <a:r>
              <a:rPr sz="1500" b="1">
                <a:solidFill>
                  <a:srgbClr val="282828"/>
                </a:solidFill>
                <a:latin typeface="Arial"/>
              </a:rPr>
              <a:t>The machinery exists:</a:t>
            </a:r>
            <a:r>
              <a:rPr sz="1500" b="0">
                <a:solidFill>
                  <a:srgbClr val="282828"/>
                </a:solidFill>
                <a:latin typeface="Arial"/>
              </a:rPr>
              <a:t> the runner already traces one physical mask at five colors (the dimple is 1.57 rad at 632.8 nm, 1.42 at 700); the measurement to add is the start ladder with a two-color coarse solve feeding the single-color loop, per reading.</a:t>
            </a:r>
          </a:p>
        </p:txBody>
      </p:sp>
      <p:graphicFrame>
        <p:nvGraphicFramePr>
          <p:cNvPr id="5" name="Table 4"/>
          <p:cNvGraphicFramePr>
            <a:graphicFrameLocks noGrp="1"/>
          </p:cNvGraphicFramePr>
          <p:nvPr/>
        </p:nvGraphicFramePr>
        <p:xfrm>
          <a:off x="6400800" y="1298448"/>
          <a:ext cx="5394959" cy="788670"/>
        </p:xfrm>
        <a:graphic>
          <a:graphicData uri="http://schemas.openxmlformats.org/drawingml/2006/table">
            <a:tbl>
              <a:tblPr firstRow="1" bandRow="1">
                <a:tableStyleId>{5C22544A-7EE6-4342-B048-85BDC9FD1C3A}</a:tableStyleId>
              </a:tblPr>
              <a:tblGrid>
                <a:gridCol w="1070864"/>
                <a:gridCol w="1803790"/>
                <a:gridCol w="1713601"/>
                <a:gridCol w="806704"/>
              </a:tblGrid>
              <a:tr h="262890">
                <a:tc>
                  <a:txBody>
                    <a:bodyPr wrap="square"/>
                    <a:lstStyle/>
                    <a:p>
                      <a:r>
                        <a:rPr sz="1000" b="1">
                          <a:solidFill>
                            <a:srgbClr val="FFFFFF"/>
                          </a:solidFill>
                          <a:latin typeface="Arial"/>
                        </a:rPr>
                        <a:t>color pair</a:t>
                      </a:r>
                    </a:p>
                  </a:txBody>
                  <a:tcPr marL="54864" marR="54864" marT="18288" marB="18288">
                    <a:solidFill>
                      <a:srgbClr val="1F4E79"/>
                    </a:solidFill>
                  </a:tcPr>
                </a:tc>
                <a:tc>
                  <a:txBody>
                    <a:bodyPr wrap="square"/>
                    <a:lstStyle/>
                    <a:p>
                      <a:r>
                        <a:rPr sz="1000" b="1">
                          <a:solidFill>
                            <a:srgbClr val="FFFFFF"/>
                          </a:solidFill>
                          <a:latin typeface="Arial"/>
                        </a:rPr>
                        <a:t>synthetic wavelength</a:t>
                      </a:r>
                    </a:p>
                  </a:txBody>
                  <a:tcPr marL="54864" marR="54864" marT="18288" marB="18288">
                    <a:solidFill>
                      <a:srgbClr val="1F4E79"/>
                    </a:solidFill>
                  </a:tcPr>
                </a:tc>
                <a:tc>
                  <a:txBody>
                    <a:bodyPr wrap="square"/>
                    <a:lstStyle/>
                    <a:p>
                      <a:r>
                        <a:rPr sz="1000" b="1">
                          <a:solidFill>
                            <a:srgbClr val="FFFFFF"/>
                          </a:solidFill>
                          <a:latin typeface="Arial"/>
                        </a:rPr>
                        <a:t>unambiguous surface</a:t>
                      </a:r>
                    </a:p>
                  </a:txBody>
                  <a:tcPr marL="54864" marR="54864" marT="18288" marB="18288">
                    <a:solidFill>
                      <a:srgbClr val="1F4E79"/>
                    </a:solidFill>
                  </a:tcPr>
                </a:tc>
                <a:tc>
                  <a:txBody>
                    <a:bodyPr wrap="square"/>
                    <a:lstStyle/>
                    <a:p>
                      <a:r>
                        <a:rPr sz="1000" b="1">
                          <a:solidFill>
                            <a:srgbClr val="FFFFFF"/>
                          </a:solidFill>
                          <a:latin typeface="Arial"/>
                        </a:rPr>
                        <a:t>noise cost</a:t>
                      </a:r>
                    </a:p>
                  </a:txBody>
                  <a:tcPr marL="54864" marR="54864" marT="18288" marB="18288">
                    <a:solidFill>
                      <a:srgbClr val="1F4E79"/>
                    </a:solidFill>
                  </a:tcPr>
                </a:tc>
              </a:tr>
              <a:tr h="262890">
                <a:tc>
                  <a:txBody>
                    <a:bodyPr wrap="square"/>
                    <a:lstStyle/>
                    <a:p>
                      <a:r>
                        <a:rPr sz="1000" b="0">
                          <a:solidFill>
                            <a:srgbClr val="282828"/>
                          </a:solidFill>
                          <a:latin typeface="Arial"/>
                        </a:rPr>
                        <a:t>632.8 + 700 nm</a:t>
                      </a:r>
                    </a:p>
                  </a:txBody>
                  <a:tcPr marL="54864" marR="54864" marT="18288" marB="18288">
                    <a:solidFill>
                      <a:srgbClr val="FFFFFF"/>
                    </a:solidFill>
                  </a:tcPr>
                </a:tc>
                <a:tc>
                  <a:txBody>
                    <a:bodyPr wrap="square"/>
                    <a:lstStyle/>
                    <a:p>
                      <a:r>
                        <a:rPr sz="1000" b="0">
                          <a:solidFill>
                            <a:srgbClr val="282828"/>
                          </a:solidFill>
                          <a:latin typeface="Arial"/>
                        </a:rPr>
                        <a:t>6.6 µm</a:t>
                      </a:r>
                    </a:p>
                  </a:txBody>
                  <a:tcPr marL="54864" marR="54864" marT="18288" marB="18288">
                    <a:solidFill>
                      <a:srgbClr val="FFFFFF"/>
                    </a:solidFill>
                  </a:tcPr>
                </a:tc>
                <a:tc>
                  <a:txBody>
                    <a:bodyPr wrap="square"/>
                    <a:lstStyle/>
                    <a:p>
                      <a:r>
                        <a:rPr sz="1000" b="0">
                          <a:solidFill>
                            <a:srgbClr val="282828"/>
                          </a:solidFill>
                          <a:latin typeface="Arial"/>
                        </a:rPr>
                        <a:t>1.6 µm</a:t>
                      </a:r>
                    </a:p>
                  </a:txBody>
                  <a:tcPr marL="54864" marR="54864" marT="18288" marB="18288">
                    <a:solidFill>
                      <a:srgbClr val="FFFFFF"/>
                    </a:solidFill>
                  </a:tcPr>
                </a:tc>
                <a:tc>
                  <a:txBody>
                    <a:bodyPr wrap="square"/>
                    <a:lstStyle/>
                    <a:p>
                      <a:r>
                        <a:rPr sz="1000" b="0">
                          <a:solidFill>
                            <a:srgbClr val="282828"/>
                          </a:solidFill>
                          <a:latin typeface="Arial"/>
                        </a:rPr>
                        <a:t>10×</a:t>
                      </a:r>
                    </a:p>
                  </a:txBody>
                  <a:tcPr marL="54864" marR="54864" marT="18288" marB="18288">
                    <a:solidFill>
                      <a:srgbClr val="FFFFFF"/>
                    </a:solidFill>
                  </a:tcPr>
                </a:tc>
              </a:tr>
              <a:tr h="262890">
                <a:tc>
                  <a:txBody>
                    <a:bodyPr wrap="square"/>
                    <a:lstStyle/>
                    <a:p>
                      <a:r>
                        <a:rPr sz="1000" b="0">
                          <a:solidFill>
                            <a:srgbClr val="282828"/>
                          </a:solidFill>
                          <a:latin typeface="Arial"/>
                        </a:rPr>
                        <a:t>632.8 + 780 nm</a:t>
                      </a:r>
                    </a:p>
                  </a:txBody>
                  <a:tcPr marL="54864" marR="54864" marT="18288" marB="18288">
                    <a:solidFill>
                      <a:srgbClr val="ECF1F6"/>
                    </a:solidFill>
                  </a:tcPr>
                </a:tc>
                <a:tc>
                  <a:txBody>
                    <a:bodyPr wrap="square"/>
                    <a:lstStyle/>
                    <a:p>
                      <a:r>
                        <a:rPr sz="1000" b="0">
                          <a:solidFill>
                            <a:srgbClr val="282828"/>
                          </a:solidFill>
                          <a:latin typeface="Arial"/>
                        </a:rPr>
                        <a:t>3.35 µm</a:t>
                      </a:r>
                    </a:p>
                  </a:txBody>
                  <a:tcPr marL="54864" marR="54864" marT="18288" marB="18288">
                    <a:solidFill>
                      <a:srgbClr val="ECF1F6"/>
                    </a:solidFill>
                  </a:tcPr>
                </a:tc>
                <a:tc>
                  <a:txBody>
                    <a:bodyPr wrap="square"/>
                    <a:lstStyle/>
                    <a:p>
                      <a:r>
                        <a:rPr sz="1000" b="0">
                          <a:solidFill>
                            <a:srgbClr val="282828"/>
                          </a:solidFill>
                          <a:latin typeface="Arial"/>
                        </a:rPr>
                        <a:t>0.84 µm</a:t>
                      </a:r>
                    </a:p>
                  </a:txBody>
                  <a:tcPr marL="54864" marR="54864" marT="18288" marB="18288">
                    <a:solidFill>
                      <a:srgbClr val="ECF1F6"/>
                    </a:solidFill>
                  </a:tcPr>
                </a:tc>
                <a:tc>
                  <a:txBody>
                    <a:bodyPr wrap="square"/>
                    <a:lstStyle/>
                    <a:p>
                      <a:r>
                        <a:rPr sz="1000" b="0">
                          <a:solidFill>
                            <a:srgbClr val="282828"/>
                          </a:solidFill>
                          <a:latin typeface="Arial"/>
                        </a:rPr>
                        <a:t>5×</a:t>
                      </a:r>
                    </a:p>
                  </a:txBody>
                  <a:tcPr marL="54864" marR="54864" marT="18288" marB="18288">
                    <a:solidFill>
                      <a:srgbClr val="ECF1F6"/>
                    </a:solidFill>
                  </a:tcPr>
                </a:tc>
              </a:tr>
            </a:tbl>
          </a:graphicData>
        </a:graphic>
      </p:graphicFrame>
      <p:sp>
        <p:nvSpPr>
          <p:cNvPr id="6" name="TextBox 5"/>
          <p:cNvSpPr txBox="1"/>
          <p:nvPr/>
        </p:nvSpPr>
        <p:spPr>
          <a:xfrm>
            <a:off x="6400800" y="2233422"/>
            <a:ext cx="5394960" cy="274320"/>
          </a:xfrm>
          <a:prstGeom prst="rect">
            <a:avLst/>
          </a:prstGeom>
          <a:noFill/>
        </p:spPr>
        <p:txBody>
          <a:bodyPr wrap="square">
            <a:spAutoFit/>
          </a:bodyPr>
          <a:lstStyle/>
          <a:p>
            <a:pPr>
              <a:spcAft>
                <a:spcPts val="600"/>
              </a:spcAft>
            </a:pPr>
            <a:r>
              <a:rPr sz="1050" b="0">
                <a:solidFill>
                  <a:srgbClr val="6E6E6E"/>
                </a:solidFill>
                <a:latin typeface="Arial"/>
              </a:rPr>
              <a:t>The two-color interferometer is the classic form; the same trick applies to the dimple and the pinhole through their color stage.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other approaches worth a look</a:t>
            </a:r>
          </a:p>
          <a:p>
            <a:pPr>
              <a:spcAft>
                <a:spcPts val="0"/>
              </a:spcAft>
            </a:pPr>
            <a:r>
              <a:rPr sz="1250" b="0">
                <a:solidFill>
                  <a:srgbClr val="6E6E6E"/>
                </a:solidFill>
                <a:latin typeface="Arial"/>
              </a:rPr>
              <a:t>Eight candidates, none modeled here, each with one sentence on what it would buy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A model-based large-figure solve:</a:t>
            </a:r>
            <a:r>
              <a:rPr sz="1500" b="0">
                <a:solidFill>
                  <a:srgbClr val="282828"/>
                </a:solidFill>
                <a:latin typeface="Arial"/>
              </a:rPr>
              <a:t> the mirror's influence functions as the basis of a nonlinear fit to the sensor's frames; the estimator already carries the basis.</a:t>
            </a:r>
          </a:p>
          <a:p>
            <a:pPr>
              <a:spcAft>
                <a:spcPts val="600"/>
              </a:spcAft>
            </a:pPr>
            <a:r>
              <a:rPr sz="1500" b="0">
                <a:solidFill>
                  <a:srgbClr val="282828"/>
                </a:solidFill>
                <a:latin typeface="Arial"/>
              </a:rPr>
              <a:t>•  </a:t>
            </a:r>
            <a:r>
              <a:rPr sz="1500" b="1">
                <a:solidFill>
                  <a:srgbClr val="282828"/>
                </a:solidFill>
                <a:latin typeface="Arial"/>
              </a:rPr>
              <a:t>Shack-Hartmann or modulated pyramid as the capture stage:</a:t>
            </a:r>
            <a:r>
              <a:rPr sz="1500" b="0">
                <a:solidFill>
                  <a:srgbClr val="282828"/>
                </a:solidFill>
                <a:latin typeface="Arial"/>
              </a:rPr>
              <a:t> many waves of range, no wrap, far from picometers; hands off to the gauge inside its range.</a:t>
            </a:r>
          </a:p>
          <a:p>
            <a:pPr>
              <a:spcAft>
                <a:spcPts val="600"/>
              </a:spcAft>
            </a:pPr>
            <a:r>
              <a:rPr sz="1500" b="0">
                <a:solidFill>
                  <a:srgbClr val="282828"/>
                </a:solidFill>
                <a:latin typeface="Arial"/>
              </a:rPr>
              <a:t>•  </a:t>
            </a:r>
            <a:r>
              <a:rPr sz="1500" b="1">
                <a:solidFill>
                  <a:srgbClr val="282828"/>
                </a:solidFill>
                <a:latin typeface="Arial"/>
              </a:rPr>
              <a:t>Redesign the lenses as multi-element assemblies.</a:t>
            </a:r>
          </a:p>
          <a:p>
            <a:pPr>
              <a:spcAft>
                <a:spcPts val="600"/>
              </a:spcAft>
            </a:pPr>
            <a:r>
              <a:rPr sz="1500" b="0">
                <a:solidFill>
                  <a:srgbClr val="282828"/>
                </a:solidFill>
                <a:latin typeface="Arial"/>
              </a:rPr>
              <a:t>•  </a:t>
            </a:r>
            <a:r>
              <a:rPr sz="1500" b="1">
                <a:solidFill>
                  <a:srgbClr val="282828"/>
                </a:solidFill>
                <a:latin typeface="Arial"/>
              </a:rPr>
              <a:t>Phase diversity (two defocused pupil images):</a:t>
            </a:r>
            <a:r>
              <a:rPr sz="1500" b="0">
                <a:solidFill>
                  <a:srgbClr val="282828"/>
                </a:solidFill>
                <a:latin typeface="Arial"/>
              </a:rPr>
              <a:t> wide range, common path, iterative; a capture candidate with the existing camera and one translation stage.</a:t>
            </a:r>
          </a:p>
          <a:p>
            <a:pPr>
              <a:spcAft>
                <a:spcPts val="600"/>
              </a:spcAft>
            </a:pPr>
            <a:r>
              <a:rPr sz="1500" b="0">
                <a:solidFill>
                  <a:srgbClr val="282828"/>
                </a:solidFill>
                <a:latin typeface="Arial"/>
              </a:rPr>
              <a:t>•  </a:t>
            </a:r>
            <a:r>
              <a:rPr sz="1500" b="1">
                <a:solidFill>
                  <a:srgbClr val="282828"/>
                </a:solidFill>
                <a:latin typeface="Arial"/>
              </a:rPr>
              <a:t>White-light scanning in the interferometer:</a:t>
            </a:r>
            <a:r>
              <a:rPr sz="1500" b="0">
                <a:solidFill>
                  <a:srgbClr val="282828"/>
                </a:solidFill>
                <a:latin typeface="Arial"/>
              </a:rPr>
              <a:t> an absolute surface with no wrap, slow; a one-time capture tool.</a:t>
            </a:r>
          </a:p>
          <a:p>
            <a:pPr>
              <a:spcAft>
                <a:spcPts val="600"/>
              </a:spcAft>
            </a:pPr>
            <a:r>
              <a:rPr sz="1500" b="0">
                <a:solidFill>
                  <a:srgbClr val="282828"/>
                </a:solidFill>
                <a:latin typeface="Arial"/>
              </a:rPr>
              <a:t>•  </a:t>
            </a:r>
            <a:r>
              <a:rPr sz="1500" b="1">
                <a:solidFill>
                  <a:srgbClr val="282828"/>
                </a:solidFill>
                <a:latin typeface="Arial"/>
              </a:rPr>
              <a:t>Vector Zernike with a polarization camera:</a:t>
            </a:r>
            <a:r>
              <a:rPr sz="1500" b="0">
                <a:solidFill>
                  <a:srgbClr val="282828"/>
                </a:solidFill>
                <a:latin typeface="Arial"/>
              </a:rPr>
              <a:t> one camera instead of the cube and two, at a quarter of the pixels per image.</a:t>
            </a:r>
          </a:p>
          <a:p>
            <a:pPr>
              <a:spcAft>
                <a:spcPts val="600"/>
              </a:spcAft>
            </a:pPr>
            <a:r>
              <a:rPr sz="1500" b="0">
                <a:solidFill>
                  <a:srgbClr val="282828"/>
                </a:solidFill>
                <a:latin typeface="Arial"/>
              </a:rPr>
              <a:t>•  </a:t>
            </a:r>
            <a:r>
              <a:rPr sz="1500" b="1">
                <a:solidFill>
                  <a:srgbClr val="282828"/>
                </a:solidFill>
                <a:latin typeface="Arial"/>
              </a:rPr>
              <a:t>Heterodyne or lock-in detection:</a:t>
            </a:r>
            <a:r>
              <a:rPr sz="1500" b="0">
                <a:solidFill>
                  <a:srgbClr val="282828"/>
                </a:solidFill>
                <a:latin typeface="Arial"/>
              </a:rPr>
              <a:t> immunity to slow drift and 1/f electronics, for a frequency-shifted reference; the two-arm instruments can carry it, the common-path sensors cannot.</a:t>
            </a:r>
          </a:p>
          <a:p>
            <a:pPr>
              <a:spcAft>
                <a:spcPts val="600"/>
              </a:spcAft>
            </a:pPr>
            <a:r>
              <a:rPr sz="1500" b="0">
                <a:solidFill>
                  <a:srgbClr val="282828"/>
                </a:solidFill>
                <a:latin typeface="Arial"/>
              </a:rPr>
              <a:t>•  </a:t>
            </a:r>
            <a:r>
              <a:rPr sz="1500" b="1">
                <a:solidFill>
                  <a:srgbClr val="282828"/>
                </a:solidFill>
                <a:latin typeface="Arial"/>
              </a:rPr>
              <a:t>Direct actuator metrology (capacitive, optical):</a:t>
            </a:r>
            <a:r>
              <a:rPr sz="1500" b="0">
                <a:solidFill>
                  <a:srgbClr val="282828"/>
                </a:solidFill>
                <a:latin typeface="Arial"/>
              </a:rPr>
              <a:t> a coarse reference the optical gauge is calibrated against.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from this model to as-built performance</a:t>
            </a:r>
          </a:p>
          <a:p>
            <a:pPr>
              <a:spcAft>
                <a:spcPts val="0"/>
              </a:spcAft>
            </a:pPr>
            <a:r>
              <a:rPr sz="1250" b="0">
                <a:solidFill>
                  <a:srgbClr val="6E6E6E"/>
                </a:solidFill>
                <a:latin typeface="Arial"/>
              </a:rPr>
              <a:t>The model today has ideal optics, a perfect camera, photon noise, and mirror and camera drift; five additions, in the order they are likely to matter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camera sets the measurement time, not the laser:</a:t>
            </a:r>
            <a:r>
              <a:rPr sz="1500" b="0">
                <a:solidFill>
                  <a:srgbClr val="282828"/>
                </a:solidFill>
                <a:latin typeface="Arial"/>
              </a:rPr>
              <a:t> 1e14 photons over 1e5 pupil pixels is 1e9 electrons per pixel; with a 1e5-electron well that is 1e4 co-added frames, 100 s at 100 frames per second, against 0.13 s of laser.  Price well depth, frame rate, read noise (as the square root of the frame count), bit depth, gain nonlinearity, pixel-response nonuniformity, persistence between the stepped frames.</a:t>
            </a:r>
          </a:p>
          <a:p>
            <a:pPr>
              <a:spcAft>
                <a:spcPts val="600"/>
              </a:spcAft>
            </a:pPr>
            <a:r>
              <a:rPr sz="1500" b="0">
                <a:solidFill>
                  <a:srgbClr val="282828"/>
                </a:solidFill>
                <a:latin typeface="Arial"/>
              </a:rPr>
              <a:t>•  </a:t>
            </a:r>
            <a:r>
              <a:rPr sz="1500" b="1">
                <a:solidFill>
                  <a:srgbClr val="282828"/>
                </a:solidFill>
                <a:latin typeface="Arial"/>
              </a:rPr>
              <a:t>Optical surface errors:</a:t>
            </a:r>
            <a:r>
              <a:rPr sz="1500" b="0">
                <a:solidFill>
                  <a:srgbClr val="282828"/>
                </a:solidFill>
                <a:latin typeface="Arial"/>
              </a:rPr>
              <a:t> every lens, mirror, plate and the mask substrate with a typical figure (λ/10 to λ/20, a 1/f² spectrum) on the element; the sensors' reference core sees the low orders (0.16 wave of defocus moved every number in the early model); the dimple's etch depth and the mask's flatness.</a:t>
            </a:r>
          </a:p>
          <a:p>
            <a:pPr>
              <a:spcAft>
                <a:spcPts val="600"/>
              </a:spcAft>
            </a:pPr>
            <a:r>
              <a:rPr sz="1500" b="0">
                <a:solidFill>
                  <a:srgbClr val="282828"/>
                </a:solidFill>
                <a:latin typeface="Arial"/>
              </a:rPr>
              <a:t>•  </a:t>
            </a:r>
            <a:r>
              <a:rPr sz="1500" b="1">
                <a:solidFill>
                  <a:srgbClr val="282828"/>
                </a:solidFill>
                <a:latin typeface="Arial"/>
              </a:rPr>
              <a:t>Alignment and stability:</a:t>
            </a:r>
            <a:r>
              <a:rPr sz="1500" b="0">
                <a:solidFill>
                  <a:srgbClr val="282828"/>
                </a:solidFill>
                <a:latin typeface="Arial"/>
              </a:rPr>
              <a:t> the sensitivities exist (10 µm, 10 µrad); add the mask's centering drift on the focal spot, the bench's thermal expansion, source pointing and wavelength drift, laser polarization angle, and the two-arm instruments' non-common-path air and mounts.</a:t>
            </a:r>
          </a:p>
          <a:p>
            <a:pPr>
              <a:spcAft>
                <a:spcPts val="600"/>
              </a:spcAft>
            </a:pPr>
            <a:r>
              <a:rPr sz="1500" b="0">
                <a:solidFill>
                  <a:srgbClr val="282828"/>
                </a:solidFill>
                <a:latin typeface="Arial"/>
              </a:rPr>
              <a:t>•  </a:t>
            </a:r>
            <a:r>
              <a:rPr sz="1500" b="1">
                <a:solidFill>
                  <a:srgbClr val="282828"/>
                </a:solidFill>
                <a:latin typeface="Arial"/>
              </a:rPr>
              <a:t>More drift in the loop:</a:t>
            </a:r>
            <a:r>
              <a:rPr sz="1500" b="0">
                <a:solidFill>
                  <a:srgbClr val="282828"/>
                </a:solidFill>
                <a:latin typeface="Arial"/>
              </a:rPr>
              <a:t> actuator hysteresis and creep, command quantization (14-16 bits: 0.1-0.5 nm steps as a floor), influence-function error, vibration within a stepped scan.</a:t>
            </a:r>
          </a:p>
          <a:p>
            <a:pPr>
              <a:spcAft>
                <a:spcPts val="600"/>
              </a:spcAft>
            </a:pPr>
            <a:r>
              <a:rPr sz="1500" b="0">
                <a:solidFill>
                  <a:srgbClr val="282828"/>
                </a:solidFill>
                <a:latin typeface="Arial"/>
              </a:rPr>
              <a:t>•  </a:t>
            </a:r>
            <a:r>
              <a:rPr sz="1500" b="1">
                <a:solidFill>
                  <a:srgbClr val="282828"/>
                </a:solidFill>
                <a:latin typeface="Arial"/>
              </a:rPr>
              <a:t>The error budget in the JPL form:</a:t>
            </a:r>
            <a:r>
              <a:rPr sz="1500" b="0">
                <a:solidFill>
                  <a:srgbClr val="282828"/>
                </a:solidFill>
                <a:latin typeface="Arial"/>
              </a:rPr>
              <a:t> per reading, fixed terms after calibration, drift terms weighted by the servo bandwidth, noise terms in quadrature, to a held error at a stated light and time.  This deck's comparison table is its first column.</a:t>
            </a:r>
          </a:p>
        </p:txBody>
      </p:sp>
      <p:sp>
        <p:nvSpPr>
          <p:cNvPr id="5" name="TextBox 4"/>
          <p:cNvSpPr txBox="1"/>
          <p:nvPr/>
        </p:nvSpPr>
        <p:spPr>
          <a:xfrm>
            <a:off x="411480" y="5750814"/>
            <a:ext cx="11368735" cy="274320"/>
          </a:xfrm>
          <a:prstGeom prst="rect">
            <a:avLst/>
          </a:prstGeom>
          <a:noFill/>
        </p:spPr>
        <p:txBody>
          <a:bodyPr wrap="square">
            <a:spAutoFit/>
          </a:bodyPr>
          <a:lstStyle/>
          <a:p>
            <a:pPr>
              <a:spcAft>
                <a:spcPts val="600"/>
              </a:spcAft>
            </a:pPr>
            <a:r>
              <a:rPr sz="1050" b="0">
                <a:solidFill>
                  <a:srgbClr val="6E6E6E"/>
                </a:solidFill>
                <a:latin typeface="Arial"/>
              </a:rPr>
              <a:t>The telescope-level version of this (an allocation table rolled through the sensitivity model, then the closed-loop predictor) is being planned separately; it is a later add to this deck.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every configuration was analyzed</a:t>
            </a:r>
          </a:p>
          <a:p>
            <a:pPr>
              <a:spcAft>
                <a:spcPts val="0"/>
              </a:spcAft>
            </a:pPr>
            <a:r>
              <a:rPr sz="1250" b="0">
                <a:solidFill>
                  <a:srgbClr val="6E6E6E"/>
                </a:solidFill>
                <a:latin typeface="Arial"/>
              </a:rPr>
              <a:t>One repeatable path, ten steps, the same for all four approaches: a new sensor is a new reading class in the shared runner plus its gate, then steps 4 to 10 unchanged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188970"/>
        </p:xfrm>
        <a:graphic>
          <a:graphicData uri="http://schemas.openxmlformats.org/drawingml/2006/table">
            <a:tbl>
              <a:tblPr firstRow="1" bandRow="1">
                <a:tableStyleId>{5C22544A-7EE6-4342-B048-85BDC9FD1C3A}</a:tableStyleId>
              </a:tblPr>
              <a:tblGrid>
                <a:gridCol w="436880"/>
                <a:gridCol w="2963389"/>
                <a:gridCol w="2406170"/>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what</a:t>
                      </a:r>
                    </a:p>
                  </a:txBody>
                  <a:tcPr marL="54864" marR="54864" marT="18288" marB="18288">
                    <a:solidFill>
                      <a:srgbClr val="1F4E79"/>
                    </a:solidFill>
                  </a:tcPr>
                </a:tc>
                <a:tc>
                  <a:txBody>
                    <a:bodyPr wrap="square"/>
                    <a:lstStyle/>
                    <a:p>
                      <a:r>
                        <a:rPr sz="1100" b="1">
                          <a:solidFill>
                            <a:srgbClr val="FFFFFF"/>
                          </a:solidFill>
                          <a:latin typeface="Arial"/>
                        </a:rPr>
                        <a:t>gate or output</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one parameter sheet and one runner per approach; batch wrappers</a:t>
                      </a:r>
                    </a:p>
                  </a:txBody>
                  <a:tcPr marL="54864" marR="54864" marT="18288" marB="18288">
                    <a:solidFill>
                      <a:srgbClr val="FFFFFF"/>
                    </a:solidFill>
                  </a:tcPr>
                </a:tc>
                <a:tc>
                  <a:txBody>
                    <a:bodyPr wrap="square"/>
                    <a:lstStyle/>
                    <a:p>
                      <a:r>
                        <a:rPr sz="1100" b="0">
                          <a:solidFill>
                            <a:srgbClr val="282828"/>
                          </a:solidFill>
                          <a:latin typeface="Arial"/>
                        </a:rPr>
                        <a:t>every number has a run tag</a:t>
                      </a:r>
                    </a:p>
                  </a:txBody>
                  <a:tcPr marL="54864" marR="54864" marT="18288" marB="18288">
                    <a:solidFill>
                      <a:srgbClr val="FFFFFF"/>
                    </a:solidFill>
                  </a:tcPr>
                </a:tc>
              </a:tr>
              <a:tr h="65722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build the bench from the sheet, trace it; clearance of end bodies and node parts; detector-leg focus; sampling budget</a:t>
                      </a:r>
                    </a:p>
                  </a:txBody>
                  <a:tcPr marL="54864" marR="54864" marT="18288" marB="18288">
                    <a:solidFill>
                      <a:srgbClr val="ECF1F6"/>
                    </a:solidFill>
                  </a:tcPr>
                </a:tc>
                <a:tc>
                  <a:txBody>
                    <a:bodyPr wrap="square"/>
                    <a:lstStyle/>
                    <a:p>
                      <a:r>
                        <a:rPr sz="1100" b="0">
                          <a:solidFill>
                            <a:srgbClr val="282828"/>
                          </a:solidFill>
                          <a:latin typeface="Arial"/>
                        </a:rPr>
                        <a:t>every part clears by 25 mm; 6 pixels across the mask feature</a:t>
                      </a:r>
                    </a:p>
                  </a:txBody>
                  <a:tcPr marL="54864" marR="54864" marT="18288" marB="18288">
                    <a:solidFill>
                      <a:srgbClr val="ECF1F6"/>
                    </a:solidFill>
                  </a:tcPr>
                </a:tc>
              </a:tr>
              <a:tr h="65722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model gates before any number</a:t>
                      </a:r>
                    </a:p>
                  </a:txBody>
                  <a:tcPr marL="54864" marR="54864" marT="18288" marB="18288">
                    <a:solidFill>
                      <a:srgbClr val="FFFFFF"/>
                    </a:solidFill>
                  </a:tcPr>
                </a:tc>
                <a:tc>
                  <a:txBody>
                    <a:bodyPr wrap="square"/>
                    <a:lstStyle/>
                    <a:p>
                      <a:r>
                        <a:rPr sz="1100" b="0">
                          <a:solidFill>
                            <a:srgbClr val="282828"/>
                          </a:solidFill>
                          <a:latin typeface="Arial"/>
                        </a:rPr>
                        <a:t>mask round trip, reference-wave surrogate, working-state amplitude, the reading on 100 nm pokes</a:t>
                      </a:r>
                    </a:p>
                  </a:txBody>
                  <a:tcPr marL="54864" marR="54864" marT="18288" marB="18288">
                    <a:solidFill>
                      <a:srgbClr val="FFFFFF"/>
                    </a:solidFill>
                  </a:tcPr>
                </a:tc>
              </a:tr>
              <a:tr h="65722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calibration: the response matrix measured through the sensor, on the 30 nm working surface</a:t>
                      </a:r>
                    </a:p>
                  </a:txBody>
                  <a:tcPr marL="54864" marR="54864" marT="18288" marB="18288">
                    <a:solidFill>
                      <a:srgbClr val="ECF1F6"/>
                    </a:solidFill>
                  </a:tcPr>
                </a:tc>
                <a:tc>
                  <a:txBody>
                    <a:bodyPr wrap="square"/>
                    <a:lstStyle/>
                    <a:p>
                      <a:r>
                        <a:rPr sz="1100" b="0">
                          <a:solidFill>
                            <a:srgbClr val="282828"/>
                          </a:solidFill>
                          <a:latin typeface="Arial"/>
                        </a:rPr>
                        <a:t>piston null carried; stencil-site fit</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rows on the working surface: 10 nm on one actuator; 1 nm on 47 sites; dense 10 nm</a:t>
                      </a:r>
                    </a:p>
                  </a:txBody>
                  <a:tcPr marL="54864" marR="54864" marT="18288" marB="18288">
                    <a:solidFill>
                      <a:srgbClr val="FFFFFF"/>
                    </a:solidFill>
                  </a:tcPr>
                </a:tc>
                <a:tc>
                  <a:txBody>
                    <a:bodyPr wrap="square"/>
                    <a:lstStyle/>
                    <a:p>
                      <a:r>
                        <a:rPr sz="1100" b="0">
                          <a:solidFill>
                            <a:srgbClr val="282828"/>
                          </a:solidFill>
                          <a:latin typeface="Arial"/>
                        </a:rPr>
                        <a:t>gain, floor, SNR</a:t>
                      </a:r>
                    </a:p>
                  </a:txBody>
                  <a:tcPr marL="54864" marR="54864" marT="18288" marB="18288">
                    <a:solidFill>
                      <a:srgbClr val="FFFFFF"/>
                    </a:solidFill>
                  </a:tcPr>
                </a:tc>
              </a:tr>
            </a:tbl>
          </a:graphicData>
        </a:graphic>
      </p:graphicFrame>
      <p:graphicFrame>
        <p:nvGraphicFramePr>
          <p:cNvPr id="5" name="Table 4"/>
          <p:cNvGraphicFramePr>
            <a:graphicFrameLocks noGrp="1"/>
          </p:cNvGraphicFramePr>
          <p:nvPr/>
        </p:nvGraphicFramePr>
        <p:xfrm>
          <a:off x="6400800" y="1298448"/>
          <a:ext cx="5394959" cy="2777490"/>
        </p:xfrm>
        <a:graphic>
          <a:graphicData uri="http://schemas.openxmlformats.org/drawingml/2006/table">
            <a:tbl>
              <a:tblPr firstRow="1" bandRow="1">
                <a:tableStyleId>{5C22544A-7EE6-4342-B048-85BDC9FD1C3A}</a:tableStyleId>
              </a:tblPr>
              <a:tblGrid>
                <a:gridCol w="410464"/>
                <a:gridCol w="3846730"/>
                <a:gridCol w="1137765"/>
              </a:tblGrid>
              <a:tr h="262890">
                <a:tc>
                  <a:txBody>
                    <a:bodyPr wrap="square"/>
                    <a:lstStyle/>
                    <a:p>
                      <a:r>
                        <a:rPr sz="1000" b="1">
                          <a:solidFill>
                            <a:srgbClr val="FFFFFF"/>
                          </a:solidFill>
                          <a:latin typeface="Arial"/>
                        </a:rPr>
                        <a:t>step</a:t>
                      </a:r>
                    </a:p>
                  </a:txBody>
                  <a:tcPr marL="54864" marR="54864" marT="18288" marB="18288">
                    <a:solidFill>
                      <a:srgbClr val="1F4E79"/>
                    </a:solidFill>
                  </a:tcPr>
                </a:tc>
                <a:tc>
                  <a:txBody>
                    <a:bodyPr wrap="square"/>
                    <a:lstStyle/>
                    <a:p>
                      <a:r>
                        <a:rPr sz="1000" b="1">
                          <a:solidFill>
                            <a:srgbClr val="FFFFFF"/>
                          </a:solidFill>
                          <a:latin typeface="Arial"/>
                        </a:rPr>
                        <a:t>what</a:t>
                      </a:r>
                    </a:p>
                  </a:txBody>
                  <a:tcPr marL="54864" marR="54864" marT="18288" marB="18288">
                    <a:solidFill>
                      <a:srgbClr val="1F4E79"/>
                    </a:solidFill>
                  </a:tcPr>
                </a:tc>
                <a:tc>
                  <a:txBody>
                    <a:bodyPr wrap="square"/>
                    <a:lstStyle/>
                    <a:p>
                      <a:r>
                        <a:rPr sz="1000" b="1">
                          <a:solidFill>
                            <a:srgbClr val="FFFFFF"/>
                          </a:solidFill>
                          <a:latin typeface="Arial"/>
                        </a:rPr>
                        <a:t>gate or output</a:t>
                      </a:r>
                    </a:p>
                  </a:txBody>
                  <a:tcPr marL="54864" marR="54864" marT="18288" marB="18288">
                    <a:solidFill>
                      <a:srgbClr val="1F4E79"/>
                    </a:solidFill>
                  </a:tcPr>
                </a:tc>
              </a:tr>
              <a:tr h="434340">
                <a:tc>
                  <a:txBody>
                    <a:bodyPr wrap="square"/>
                    <a:lstStyle/>
                    <a:p>
                      <a:r>
                        <a:rPr sz="1000" b="0">
                          <a:solidFill>
                            <a:srgbClr val="282828"/>
                          </a:solidFill>
                          <a:latin typeface="Arial"/>
                        </a:rPr>
                        <a:t>6</a:t>
                      </a:r>
                    </a:p>
                  </a:txBody>
                  <a:tcPr marL="54864" marR="54864" marT="18288" marB="18288">
                    <a:solidFill>
                      <a:srgbClr val="FFFFFF"/>
                    </a:solidFill>
                  </a:tcPr>
                </a:tc>
                <a:tc>
                  <a:txBody>
                    <a:bodyPr wrap="square"/>
                    <a:lstStyle/>
                    <a:p>
                      <a:r>
                        <a:rPr sz="1000" b="0">
                          <a:solidFill>
                            <a:srgbClr val="282828"/>
                          </a:solidFill>
                          <a:latin typeface="Arial"/>
                        </a:rPr>
                        <a:t>capture range: the aging ladder to 10%; the matrix re-measured at 60 to 160 nm with its photon cost</a:t>
                      </a:r>
                    </a:p>
                  </a:txBody>
                  <a:tcPr marL="54864" marR="54864" marT="18288" marB="18288">
                    <a:solidFill>
                      <a:srgbClr val="FFFFFF"/>
                    </a:solidFill>
                  </a:tcPr>
                </a:tc>
                <a:tc>
                  <a:txBody>
                    <a:bodyPr wrap="square"/>
                    <a:lstStyle/>
                    <a:p>
                      <a:r>
                        <a:rPr sz="1000" b="0">
                          <a:solidFill>
                            <a:srgbClr val="282828"/>
                          </a:solidFill>
                          <a:latin typeface="Arial"/>
                        </a:rPr>
                        <a:t>range in nm; photons per rung</a:t>
                      </a:r>
                    </a:p>
                  </a:txBody>
                  <a:tcPr marL="54864" marR="54864" marT="18288" marB="18288">
                    <a:solidFill>
                      <a:srgbClr val="FFFFFF"/>
                    </a:solidFill>
                  </a:tcPr>
                </a:tc>
              </a:tr>
              <a:tr h="434340">
                <a:tc>
                  <a:txBody>
                    <a:bodyPr wrap="square"/>
                    <a:lstStyle/>
                    <a:p>
                      <a:r>
                        <a:rPr sz="1000" b="0">
                          <a:solidFill>
                            <a:srgbClr val="282828"/>
                          </a:solidFill>
                          <a:latin typeface="Arial"/>
                        </a:rPr>
                        <a:t>7</a:t>
                      </a:r>
                    </a:p>
                  </a:txBody>
                  <a:tcPr marL="54864" marR="54864" marT="18288" marB="18288">
                    <a:solidFill>
                      <a:srgbClr val="ECF1F6"/>
                    </a:solidFill>
                  </a:tcPr>
                </a:tc>
                <a:tc>
                  <a:txBody>
                    <a:bodyPr wrap="square"/>
                    <a:lstStyle/>
                    <a:p>
                      <a:r>
                        <a:rPr sz="1000" b="0">
                          <a:solidFill>
                            <a:srgbClr val="282828"/>
                          </a:solidFill>
                          <a:latin typeface="Arial"/>
                        </a:rPr>
                        <a:t>photons: noise fit over 1e8 to 1e14 per measurement, flat and on-surface matrix</a:t>
                      </a:r>
                    </a:p>
                  </a:txBody>
                  <a:tcPr marL="54864" marR="54864" marT="18288" marB="18288">
                    <a:solidFill>
                      <a:srgbClr val="ECF1F6"/>
                    </a:solidFill>
                  </a:tcPr>
                </a:tc>
                <a:tc>
                  <a:txBody>
                    <a:bodyPr wrap="square"/>
                    <a:lstStyle/>
                    <a:p>
                      <a:r>
                        <a:rPr sz="1000" b="0">
                          <a:solidFill>
                            <a:srgbClr val="282828"/>
                          </a:solidFill>
                          <a:latin typeface="Arial"/>
                        </a:rPr>
                        <a:t>photons for 1 pm</a:t>
                      </a:r>
                    </a:p>
                  </a:txBody>
                  <a:tcPr marL="54864" marR="54864" marT="18288" marB="18288">
                    <a:solidFill>
                      <a:srgbClr val="ECF1F6"/>
                    </a:solidFill>
                  </a:tcPr>
                </a:tc>
              </a:tr>
              <a:tr h="605790">
                <a:tc>
                  <a:txBody>
                    <a:bodyPr wrap="square"/>
                    <a:lstStyle/>
                    <a:p>
                      <a:r>
                        <a:rPr sz="1000" b="0">
                          <a:solidFill>
                            <a:srgbClr val="282828"/>
                          </a:solidFill>
                          <a:latin typeface="Arial"/>
                        </a:rPr>
                        <a:t>8</a:t>
                      </a:r>
                    </a:p>
                  </a:txBody>
                  <a:tcPr marL="54864" marR="54864" marT="18288" marB="18288">
                    <a:solidFill>
                      <a:srgbClr val="FFFFFF"/>
                    </a:solidFill>
                  </a:tcPr>
                </a:tc>
                <a:tc>
                  <a:txBody>
                    <a:bodyPr wrap="square"/>
                    <a:lstStyle/>
                    <a:p>
                      <a:r>
                        <a:rPr sz="1000" b="0">
                          <a:solidFill>
                            <a:srgbClr val="282828"/>
                          </a:solidFill>
                          <a:latin typeface="Arial"/>
                        </a:rPr>
                        <a:t>closed loop in the shared loop code: noise, walk, ramp; noiseless step; within-scan drift</a:t>
                      </a:r>
                    </a:p>
                  </a:txBody>
                  <a:tcPr marL="54864" marR="54864" marT="18288" marB="18288">
                    <a:solidFill>
                      <a:srgbClr val="FFFFFF"/>
                    </a:solidFill>
                  </a:tcPr>
                </a:tc>
                <a:tc>
                  <a:txBody>
                    <a:bodyPr wrap="square"/>
                    <a:lstStyle/>
                    <a:p>
                      <a:r>
                        <a:rPr sz="1000" b="0">
                          <a:solidFill>
                            <a:srgbClr val="282828"/>
                          </a:solidFill>
                          <a:latin typeface="Arial"/>
                        </a:rPr>
                        <a:t>photons per cycle for 3 pm; fixed error</a:t>
                      </a:r>
                    </a:p>
                  </a:txBody>
                  <a:tcPr marL="54864" marR="54864" marT="18288" marB="18288">
                    <a:solidFill>
                      <a:srgbClr val="FFFFFF"/>
                    </a:solidFill>
                  </a:tcPr>
                </a:tc>
              </a:tr>
              <a:tr h="434340">
                <a:tc>
                  <a:txBody>
                    <a:bodyPr wrap="square"/>
                    <a:lstStyle/>
                    <a:p>
                      <a:r>
                        <a:rPr sz="1000" b="0">
                          <a:solidFill>
                            <a:srgbClr val="282828"/>
                          </a:solidFill>
                          <a:latin typeface="Arial"/>
                        </a:rPr>
                        <a:t>9</a:t>
                      </a:r>
                    </a:p>
                  </a:txBody>
                  <a:tcPr marL="54864" marR="54864" marT="18288" marB="18288">
                    <a:solidFill>
                      <a:srgbClr val="ECF1F6"/>
                    </a:solidFill>
                  </a:tcPr>
                </a:tc>
                <a:tc>
                  <a:txBody>
                    <a:bodyPr wrap="square"/>
                    <a:lstStyle/>
                    <a:p>
                      <a:r>
                        <a:rPr sz="1000" b="0">
                          <a:solidFill>
                            <a:srgbClr val="282828"/>
                          </a:solidFill>
                          <a:latin typeface="Arial"/>
                        </a:rPr>
                        <a:t>descent: the start ladder with unwrapping and recalibration on and off</a:t>
                      </a:r>
                    </a:p>
                  </a:txBody>
                  <a:tcPr marL="54864" marR="54864" marT="18288" marB="18288">
                    <a:solidFill>
                      <a:srgbClr val="ECF1F6"/>
                    </a:solidFill>
                  </a:tcPr>
                </a:tc>
                <a:tc>
                  <a:txBody>
                    <a:bodyPr wrap="square"/>
                    <a:lstStyle/>
                    <a:p>
                      <a:r>
                        <a:rPr sz="1000" b="0">
                          <a:solidFill>
                            <a:srgbClr val="282828"/>
                          </a:solidFill>
                          <a:latin typeface="Arial"/>
                        </a:rPr>
                        <a:t>largest start brought to 3 pm</a:t>
                      </a:r>
                    </a:p>
                  </a:txBody>
                  <a:tcPr marL="54864" marR="54864" marT="18288" marB="18288">
                    <a:solidFill>
                      <a:srgbClr val="ECF1F6"/>
                    </a:solidFill>
                  </a:tcPr>
                </a:tc>
              </a:tr>
              <a:tr h="605790">
                <a:tc>
                  <a:txBody>
                    <a:bodyPr wrap="square"/>
                    <a:lstStyle/>
                    <a:p>
                      <a:r>
                        <a:rPr sz="1000" b="0">
                          <a:solidFill>
                            <a:srgbClr val="282828"/>
                          </a:solidFill>
                          <a:latin typeface="Arial"/>
                        </a:rPr>
                        <a:t>10</a:t>
                      </a:r>
                    </a:p>
                  </a:txBody>
                  <a:tcPr marL="54864" marR="54864" marT="18288" marB="18288">
                    <a:solidFill>
                      <a:srgbClr val="FFFFFF"/>
                    </a:solidFill>
                  </a:tcPr>
                </a:tc>
                <a:tc>
                  <a:txBody>
                    <a:bodyPr wrap="square"/>
                    <a:lstStyle/>
                    <a:p>
                      <a:r>
                        <a:rPr sz="1000" b="0">
                          <a:solidFill>
                            <a:srgbClr val="282828"/>
                          </a:solidFill>
                          <a:latin typeface="Arial"/>
                        </a:rPr>
                        <a:t>systematics one at a time, uncalibrated and through the matrix; layout drawn from the emitted deck; parts from the sheet; report numbers first</a:t>
                      </a:r>
                    </a:p>
                  </a:txBody>
                  <a:tcPr marL="54864" marR="54864" marT="18288" marB="18288">
                    <a:solidFill>
                      <a:srgbClr val="FFFFFF"/>
                    </a:solidFill>
                  </a:tcPr>
                </a:tc>
                <a:tc>
                  <a:txBody>
                    <a:bodyPr wrap="square"/>
                    <a:lstStyle/>
                    <a:p>
                      <a:r>
                        <a:rPr sz="1000" b="0">
                          <a:solidFill>
                            <a:srgbClr val="282828"/>
                          </a:solidFill>
                          <a:latin typeface="Arial"/>
                        </a:rPr>
                        <a:t>one line per term on the systematics slide</a:t>
                      </a:r>
                    </a:p>
                  </a:txBody>
                  <a:tcPr marL="54864" marR="54864" marT="18288" marB="18288">
                    <a:solidFill>
                      <a:srgbClr val="FFFFFF"/>
                    </a:solidFill>
                  </a:tcPr>
                </a:tc>
              </a:tr>
            </a:tbl>
          </a:graphicData>
        </a:graphic>
      </p:graphicFrame>
      <p:sp>
        <p:nvSpPr>
          <p:cNvPr id="6" name="TextBox 5"/>
          <p:cNvSpPr txBox="1"/>
          <p:nvPr/>
        </p:nvSpPr>
        <p:spPr>
          <a:xfrm>
            <a:off x="6400800" y="4222242"/>
            <a:ext cx="5394960" cy="274320"/>
          </a:xfrm>
          <a:prstGeom prst="rect">
            <a:avLst/>
          </a:prstGeom>
          <a:noFill/>
        </p:spPr>
        <p:txBody>
          <a:bodyPr wrap="square">
            <a:spAutoFit/>
          </a:bodyPr>
          <a:lstStyle/>
          <a:p>
            <a:pPr>
              <a:spcAft>
                <a:spcPts val="600"/>
              </a:spcAft>
            </a:pPr>
            <a:r>
              <a:rPr sz="1050" b="0">
                <a:solidFill>
                  <a:srgbClr val="6E6E6E"/>
                </a:solidFill>
                <a:latin typeface="Arial"/>
              </a:rPr>
              <a:t>The scoring library (the loop, the unwrapper, the arm and analyzer maps, the clearance check) is shared by the three lanes; nothing is copied between them.  The path is recorded as reference memory so the next configuration follows it in a day.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sheet and one runner per approach, shared code underneath; every number here is reproduced by the commands below</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Interferometer</a:t>
            </a:r>
            <a:r>
              <a:rPr sz="1200" b="0">
                <a:solidFill>
                  <a:srgbClr val="282828"/>
                </a:solidFill>
                <a:latin typeface="Arial"/>
              </a:rPr>
              <a:t> (tg_psi_dm96_oap): tg96_run for the lens rig; tg96_run('bench.optics','oap','tag','oap') for the mirror rig; ./tg96_batch.sh lens_deck "'stages',{'bench','deck'},'battery.noise',true"; ./tg96_batch.sh loop_lens "'stages',{'bench','loop','figs'}".</a:t>
            </a:r>
          </a:p>
          <a:p>
            <a:pPr>
              <a:spcAft>
                <a:spcPts val="600"/>
              </a:spcAft>
            </a:pPr>
            <a:r>
              <a:rPr sz="1200" b="0">
                <a:solidFill>
                  <a:srgbClr val="282828"/>
                </a:solidFill>
                <a:latin typeface="Arial"/>
              </a:rPr>
              <a:t>•  </a:t>
            </a:r>
            <a:r>
              <a:rPr sz="1200" b="1">
                <a:solidFill>
                  <a:srgbClr val="282828"/>
                </a:solidFill>
                <a:latin typeface="Arial"/>
              </a:rPr>
              <a:t>Pupil image</a:t>
            </a:r>
            <a:r>
              <a:rPr sz="1200" b="0">
                <a:solidFill>
                  <a:srgbClr val="282828"/>
                </a:solidFill>
                <a:latin typeface="Arial"/>
              </a:rPr>
              <a:t> (tg_psi_dm96_oap): tg96_pupilq('rig','lens'), tg96_pupilsim('rig','oap'); both tools, both rigs: ./tg96_pupil_batch.sh both (knobs: P.pupil in tg96_params).</a:t>
            </a:r>
          </a:p>
          <a:p>
            <a:pPr>
              <a:spcAft>
                <a:spcPts val="600"/>
              </a:spcAft>
            </a:pPr>
            <a:r>
              <a:rPr sz="1200" b="0">
                <a:solidFill>
                  <a:srgbClr val="282828"/>
                </a:solidFill>
                <a:latin typeface="Arial"/>
              </a:rPr>
              <a:t>•  </a:t>
            </a:r>
            <a:r>
              <a:rPr sz="1200" b="1">
                <a:solidFill>
                  <a:srgbClr val="282828"/>
                </a:solidFill>
                <a:latin typeface="Arial"/>
              </a:rPr>
              <a:t>Zernike sensors</a:t>
            </a:r>
            <a:r>
              <a:rPr sz="1200" b="0">
                <a:solidFill>
                  <a:srgbClr val="282828"/>
                </a:solidFill>
                <a:latin typeface="Arial"/>
              </a:rPr>
              <a:t> (zwfs_dm96): out = zwfs_run; (bench + battery + figures); zwfs_run('tag','ng385','NGRID',385); zwfs_run('MODEL',2048,'NGRID',385,'param_file','macos_param_2048.txt'); ./zwfs_batch.sh loop193 "'stages',{'bench','loop','figs'}".</a:t>
            </a:r>
          </a:p>
          <a:p>
            <a:pPr>
              <a:spcAft>
                <a:spcPts val="600"/>
              </a:spcAft>
            </a:pPr>
            <a:r>
              <a:rPr sz="1200" b="0">
                <a:solidFill>
                  <a:srgbClr val="282828"/>
                </a:solidFill>
                <a:latin typeface="Arial"/>
              </a:rPr>
              <a:t>•  </a:t>
            </a:r>
            <a:r>
              <a:rPr sz="1200" b="1">
                <a:solidFill>
                  <a:srgbClr val="282828"/>
                </a:solidFill>
                <a:latin typeface="Arial"/>
              </a:rPr>
              <a:t>Point-diffraction</a:t>
            </a:r>
            <a:r>
              <a:rPr sz="1200" b="0">
                <a:solidFill>
                  <a:srgbClr val="282828"/>
                </a:solidFill>
                <a:latin typeface="Arial"/>
              </a:rPr>
              <a:t> (pdi_dm96): P = pdi_params; out = pdi_run(P);; pdi_run('pdi.DIA_LAMD',1.0,'stages',{'bench','battery','figs'}); ./pdi_batch.sh TAG "pdi_params, 'stages',{'bench','loop','figs'}".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other gauges on the mirror rig:</a:t>
            </a:r>
            <a:r>
              <a:rPr sz="1200" b="0">
                <a:solidFill>
                  <a:srgbClr val="282828"/>
                </a:solidFill>
                <a:latin typeface="Arial"/>
              </a:rPr>
              <a:t> zwfs_run('bench.optics','oap','bench.coat_oap','bareAl','readings',{'L','S','V','P','PF'},'stages',{'bench','battery','noise','loop'},'mask.v_arm','engine').</a:t>
            </a:r>
          </a:p>
          <a:p>
            <a:pPr>
              <a:spcAft>
                <a:spcPts val="600"/>
              </a:spcAft>
            </a:pPr>
            <a:r>
              <a:rPr sz="1200" b="0">
                <a:solidFill>
                  <a:srgbClr val="282828"/>
                </a:solidFill>
                <a:latin typeface="Arial"/>
              </a:rPr>
              <a:t>•  </a:t>
            </a:r>
            <a:r>
              <a:rPr sz="1200" b="1">
                <a:solidFill>
                  <a:srgbClr val="282828"/>
                </a:solidFill>
                <a:latin typeface="Arial"/>
              </a:rPr>
              <a:t>Where:</a:t>
            </a:r>
            <a:r>
              <a:rPr sz="1200" b="0">
                <a:solidFill>
                  <a:srgbClr val="282828"/>
                </a:solidFill>
                <a:latin typeface="Arial"/>
              </a:rPr>
              <a:t> MACOS_resources/mmacos/templates/40_benches/{tg_psi_dm96_oap, zwfs_dm96, pdi_dm96}, the shared scoring library dm_gauge_lib, branch dev-candidate.  A model-1024 run needs about 11 GB; the batch wrappers run one at a time.</a:t>
            </a:r>
          </a:p>
          <a:p>
            <a:pPr>
              <a:spcAft>
                <a:spcPts val="600"/>
              </a:spcAft>
            </a:pPr>
            <a:r>
              <a:rPr sz="1200" b="0">
                <a:solidFill>
                  <a:srgbClr val="282828"/>
                </a:solidFill>
                <a:latin typeface="Arial"/>
              </a:rPr>
              <a:t>•  </a:t>
            </a:r>
            <a:r>
              <a:rPr sz="1200" b="1">
                <a:solidFill>
                  <a:srgbClr val="282828"/>
                </a:solidFill>
                <a:latin typeface="Arial"/>
              </a:rPr>
              <a:t>Gates:</a:t>
            </a:r>
            <a:r>
              <a:rPr sz="1200" b="0">
                <a:solidFill>
                  <a:srgbClr val="282828"/>
                </a:solidFill>
                <a:latin typeface="Arial"/>
              </a:rPr>
              <a:t> every stage asserts its own gates (the mask round trip, the reference-wave surrogate, the fold, the pinhole, the analyzer); tDmgLoop 15/15; the mmacos fast suite 481/0.</a:t>
            </a:r>
          </a:p>
        </p:txBody>
      </p:sp>
      <p:sp>
        <p:nvSpPr>
          <p:cNvPr id="6" name="TextBox 5"/>
          <p:cNvSpPr txBox="1"/>
          <p:nvPr/>
        </p:nvSpPr>
        <p:spPr>
          <a:xfrm>
            <a:off x="6400800" y="3736848"/>
            <a:ext cx="5394960" cy="274320"/>
          </a:xfrm>
          <a:prstGeom prst="rect">
            <a:avLst/>
          </a:prstGeom>
          <a:noFill/>
        </p:spPr>
        <p:txBody>
          <a:bodyPr wrap="square">
            <a:spAutoFit/>
          </a:bodyPr>
          <a:lstStyle/>
          <a:p>
            <a:pPr>
              <a:spcAft>
                <a:spcPts val="600"/>
              </a:spcAft>
            </a:pPr>
            <a:r>
              <a:rPr sz="1050" b="0">
                <a:solidFill>
                  <a:srgbClr val="6E6E6E"/>
                </a:solidFill>
                <a:latin typeface="Arial"/>
              </a:rPr>
              <a:t>Each directory's README carries the full command list and the run-tag index. All code and documentation is available from the public nasa-jpl github macos and MACOS_resources repos.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Improving the pupil image: the options, assessed</a:t>
            </a:r>
          </a:p>
          <a:p>
            <a:pPr>
              <a:spcAft>
                <a:spcPts val="0"/>
              </a:spcAft>
            </a:pPr>
            <a:r>
              <a:rPr sz="1250" b="0">
                <a:solidFill>
                  <a:srgbClr val="6E6E6E"/>
                </a:solidFill>
                <a:latin typeface="Arial"/>
              </a:rPr>
              <a:t>The tail geometry is the whole story: the seed field-lens station images the DM flat; the detector move is second-order once the tail is right; no flattener can fix the tuned bowl; true collimation is worth doing for itself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903220"/>
        </p:xfrm>
        <a:graphic>
          <a:graphicData uri="http://schemas.openxmlformats.org/drawingml/2006/table">
            <a:tbl>
              <a:tblPr firstRow="1" bandRow="1">
                <a:tableStyleId>{5C22544A-7EE6-4342-B048-85BDC9FD1C3A}</a:tableStyleId>
              </a:tblPr>
              <a:tblGrid>
                <a:gridCol w="2271675"/>
                <a:gridCol w="2079160"/>
                <a:gridCol w="945388"/>
                <a:gridCol w="2325624"/>
                <a:gridCol w="1347603"/>
                <a:gridCol w="1526540"/>
                <a:gridCol w="872744"/>
              </a:tblGrid>
              <a:tr h="468630">
                <a:tc>
                  <a:txBody>
                    <a:bodyPr wrap="square"/>
                    <a:lstStyle/>
                    <a:p>
                      <a:r>
                        <a:rPr sz="1100" b="1">
                          <a:solidFill>
                            <a:srgbClr val="FFFFFF"/>
                          </a:solidFill>
                          <a:latin typeface="Arial"/>
                        </a:rPr>
                        <a:t>lens rig variant</a:t>
                      </a:r>
                    </a:p>
                  </a:txBody>
                  <a:tcPr marL="54864" marR="54864" marT="18288" marB="18288">
                    <a:solidFill>
                      <a:srgbClr val="1F4E79"/>
                    </a:solidFill>
                  </a:tcPr>
                </a:tc>
                <a:tc>
                  <a:txBody>
                    <a:bodyPr wrap="square"/>
                    <a:lstStyle/>
                    <a:p>
                      <a:r>
                        <a:rPr sz="1100" b="1">
                          <a:solidFill>
                            <a:srgbClr val="FFFFFF"/>
                          </a:solidFill>
                          <a:latin typeface="Arial"/>
                        </a:rPr>
                        <a:t>zone image vs the detector, mm (on axis / mean / edge)</a:t>
                      </a:r>
                    </a:p>
                  </a:txBody>
                  <a:tcPr marL="54864" marR="54864" marT="18288" marB="18288">
                    <a:solidFill>
                      <a:srgbClr val="1F4E79"/>
                    </a:solidFill>
                  </a:tcPr>
                </a:tc>
                <a:tc>
                  <a:txBody>
                    <a:bodyPr wrap="square"/>
                    <a:lstStyle/>
                    <a:p>
                      <a:r>
                        <a:rPr sz="1100" b="1">
                          <a:solidFill>
                            <a:srgbClr val="FFFFFF"/>
                          </a:solidFill>
                          <a:latin typeface="Arial"/>
                        </a:rPr>
                        <a:t>astigmatism</a:t>
                      </a:r>
                    </a:p>
                  </a:txBody>
                  <a:tcPr marL="54864" marR="54864" marT="18288" marB="18288">
                    <a:solidFill>
                      <a:srgbClr val="1F4E79"/>
                    </a:solidFill>
                  </a:tcPr>
                </a:tc>
                <a:tc>
                  <a:txBody>
                    <a:bodyPr wrap="square"/>
                    <a:lstStyle/>
                    <a:p>
                      <a:r>
                        <a:rPr sz="1100" b="1">
                          <a:solidFill>
                            <a:srgbClr val="FFFFFF"/>
                          </a:solidFill>
                          <a:latin typeface="Arial"/>
                        </a:rPr>
                        <a:t>Nyquist gain, as built / worst</a:t>
                      </a:r>
                    </a:p>
                  </a:txBody>
                  <a:tcPr marL="54864" marR="54864" marT="18288" marB="18288">
                    <a:solidFill>
                      <a:srgbClr val="1F4E79"/>
                    </a:solidFill>
                  </a:tcPr>
                </a:tc>
                <a:tc>
                  <a:txBody>
                    <a:bodyPr wrap="square"/>
                    <a:lstStyle/>
                    <a:p>
                      <a:r>
                        <a:rPr sz="1100" b="1">
                          <a:solidFill>
                            <a:srgbClr val="FFFFFF"/>
                          </a:solidFill>
                          <a:latin typeface="Arial"/>
                        </a:rPr>
                        <a:t>with the detector at the image mean</a:t>
                      </a:r>
                    </a:p>
                  </a:txBody>
                  <a:tcPr marL="54864" marR="54864" marT="18288" marB="18288">
                    <a:solidFill>
                      <a:srgbClr val="1F4E79"/>
                    </a:solidFill>
                  </a:tcPr>
                </a:tc>
                <a:tc>
                  <a:txBody>
                    <a:bodyPr wrap="square"/>
                    <a:lstStyle/>
                    <a:p>
                      <a:r>
                        <a:rPr sz="1100" b="1">
                          <a:solidFill>
                            <a:srgbClr val="FFFFFF"/>
                          </a:solidFill>
                          <a:latin typeface="Arial"/>
                        </a:rPr>
                        <a:t>30 nm surface error</a:t>
                      </a:r>
                    </a:p>
                  </a:txBody>
                  <a:tcPr marL="54864" marR="54864" marT="18288" marB="18288">
                    <a:solidFill>
                      <a:srgbClr val="1F4E79"/>
                    </a:solidFill>
                  </a:tcPr>
                </a:tc>
                <a:tc>
                  <a:txBody>
                    <a:bodyPr wrap="square"/>
                    <a:lstStyle/>
                    <a:p>
                      <a:r>
                        <a:rPr sz="1100" b="1">
                          <a:solidFill>
                            <a:srgbClr val="FFFFFF"/>
                          </a:solidFill>
                          <a:latin typeface="Arial"/>
                        </a:rPr>
                        <a:t>distortion</a:t>
                      </a:r>
                    </a:p>
                  </a:txBody>
                  <a:tcPr marL="54864" marR="54864" marT="18288" marB="18288">
                    <a:solidFill>
                      <a:srgbClr val="1F4E79"/>
                    </a:solidFill>
                  </a:tcPr>
                </a:tc>
              </a:tr>
              <a:tr h="468630">
                <a:tc>
                  <a:txBody>
                    <a:bodyPr wrap="square"/>
                    <a:lstStyle/>
                    <a:p>
                      <a:r>
                        <a:rPr sz="1100" b="0">
                          <a:solidFill>
                            <a:srgbClr val="282828"/>
                          </a:solidFill>
                          <a:latin typeface="Arial"/>
                        </a:rPr>
                        <a:t>tuned tail (field lens 39.8 mm past the focus, conic −2.59)</a:t>
                      </a:r>
                    </a:p>
                  </a:txBody>
                  <a:tcPr marL="54864" marR="54864" marT="18288" marB="18288">
                    <a:solidFill>
                      <a:srgbClr val="FFFFFF"/>
                    </a:solidFill>
                  </a:tcPr>
                </a:tc>
                <a:tc>
                  <a:txBody>
                    <a:bodyPr wrap="square"/>
                    <a:lstStyle/>
                    <a:p>
                      <a:r>
                        <a:rPr sz="1100" b="0">
                          <a:solidFill>
                            <a:srgbClr val="282828"/>
                          </a:solidFill>
                          <a:latin typeface="Arial"/>
                        </a:rPr>
                        <a:t>+2.6 / +4.3 / +6.0</a:t>
                      </a:r>
                    </a:p>
                  </a:txBody>
                  <a:tcPr marL="54864" marR="54864" marT="18288" marB="18288">
                    <a:solidFill>
                      <a:srgbClr val="FFFFFF"/>
                    </a:solidFill>
                  </a:tcPr>
                </a:tc>
                <a:tc>
                  <a:txBody>
                    <a:bodyPr wrap="square"/>
                    <a:lstStyle/>
                    <a:p>
                      <a:r>
                        <a:rPr sz="1100" b="0">
                          <a:solidFill>
                            <a:srgbClr val="282828"/>
                          </a:solidFill>
                          <a:latin typeface="Arial"/>
                        </a:rPr>
                        <a:t>1.05 mm</a:t>
                      </a:r>
                    </a:p>
                  </a:txBody>
                  <a:tcPr marL="54864" marR="54864" marT="18288" marB="18288">
                    <a:solidFill>
                      <a:srgbClr val="FFFFFF"/>
                    </a:solidFill>
                  </a:tcPr>
                </a:tc>
                <a:tc>
                  <a:txBody>
                    <a:bodyPr wrap="square"/>
                    <a:lstStyle/>
                    <a:p>
                      <a:r>
                        <a:rPr sz="1100" b="0">
                          <a:solidFill>
                            <a:srgbClr val="282828"/>
                          </a:solidFill>
                          <a:latin typeface="Arial"/>
                        </a:rPr>
                        <a:t>0.979 / 0.954</a:t>
                      </a:r>
                    </a:p>
                  </a:txBody>
                  <a:tcPr marL="54864" marR="54864" marT="18288" marB="18288">
                    <a:solidFill>
                      <a:srgbClr val="FFFFFF"/>
                    </a:solidFill>
                  </a:tcPr>
                </a:tc>
                <a:tc>
                  <a:txBody>
                    <a:bodyPr wrap="square"/>
                    <a:lstStyle/>
                    <a:p>
                      <a:r>
                        <a:rPr sz="1100" b="0">
                          <a:solidFill>
                            <a:srgbClr val="282828"/>
                          </a:solidFill>
                          <a:latin typeface="Arial"/>
                        </a:rPr>
                        <a:t>+4.3 mm: 0.993 worst</a:t>
                      </a:r>
                    </a:p>
                  </a:txBody>
                  <a:tcPr marL="54864" marR="54864" marT="18288" marB="18288">
                    <a:solidFill>
                      <a:srgbClr val="FFFFFF"/>
                    </a:solidFill>
                  </a:tcPr>
                </a:tc>
                <a:tc>
                  <a:txBody>
                    <a:bodyPr wrap="square"/>
                    <a:lstStyle/>
                    <a:p>
                      <a:r>
                        <a:rPr sz="1100" b="0">
                          <a:solidFill>
                            <a:srgbClr val="282828"/>
                          </a:solidFill>
                          <a:latin typeface="Arial"/>
                        </a:rPr>
                        <a:t>1.2 → 0.4 nm</a:t>
                      </a:r>
                    </a:p>
                  </a:txBody>
                  <a:tcPr marL="54864" marR="54864" marT="18288" marB="18288">
                    <a:solidFill>
                      <a:srgbClr val="FFFFFF"/>
                    </a:solidFill>
                  </a:tcPr>
                </a:tc>
                <a:tc>
                  <a:txBody>
                    <a:bodyPr wrap="square"/>
                    <a:lstStyle/>
                    <a:p>
                      <a:r>
                        <a:rPr sz="1100" b="0">
                          <a:solidFill>
                            <a:srgbClr val="282828"/>
                          </a:solidFill>
                          <a:latin typeface="Arial"/>
                        </a:rPr>
                        <a:t>0.27 mm</a:t>
                      </a:r>
                    </a:p>
                  </a:txBody>
                  <a:tcPr marL="54864" marR="54864" marT="18288" marB="18288">
                    <a:solidFill>
                      <a:srgbClr val="FFFFFF"/>
                    </a:solidFill>
                  </a:tcPr>
                </a:tc>
              </a:tr>
              <a:tr h="468630">
                <a:tc>
                  <a:txBody>
                    <a:bodyPr wrap="square"/>
                    <a:lstStyle/>
                    <a:p>
                      <a:r>
                        <a:rPr sz="1100" b="0">
                          <a:solidFill>
                            <a:srgbClr val="282828"/>
                          </a:solidFill>
                          <a:latin typeface="Arial"/>
                        </a:rPr>
                        <a:t>seed tail (field lens 10.8 mm past the focus, conic −2.11)</a:t>
                      </a:r>
                    </a:p>
                  </a:txBody>
                  <a:tcPr marL="54864" marR="54864" marT="18288" marB="18288">
                    <a:solidFill>
                      <a:srgbClr val="ECF1F6"/>
                    </a:solidFill>
                  </a:tcPr>
                </a:tc>
                <a:tc>
                  <a:txBody>
                    <a:bodyPr wrap="square"/>
                    <a:lstStyle/>
                    <a:p>
                      <a:r>
                        <a:rPr sz="1100" b="0">
                          <a:solidFill>
                            <a:srgbClr val="282828"/>
                          </a:solidFill>
                          <a:latin typeface="Arial"/>
                        </a:rPr>
                        <a:t>−0.5 / −0.7 / −1.0</a:t>
                      </a:r>
                    </a:p>
                  </a:txBody>
                  <a:tcPr marL="54864" marR="54864" marT="18288" marB="18288">
                    <a:solidFill>
                      <a:srgbClr val="ECF1F6"/>
                    </a:solidFill>
                  </a:tcPr>
                </a:tc>
                <a:tc>
                  <a:txBody>
                    <a:bodyPr wrap="square"/>
                    <a:lstStyle/>
                    <a:p>
                      <a:r>
                        <a:rPr sz="1100" b="0">
                          <a:solidFill>
                            <a:srgbClr val="282828"/>
                          </a:solidFill>
                          <a:latin typeface="Arial"/>
                        </a:rPr>
                        <a:t>0.08 mm</a:t>
                      </a:r>
                    </a:p>
                  </a:txBody>
                  <a:tcPr marL="54864" marR="54864" marT="18288" marB="18288">
                    <a:solidFill>
                      <a:srgbClr val="ECF1F6"/>
                    </a:solidFill>
                  </a:tcPr>
                </a:tc>
                <a:tc>
                  <a:txBody>
                    <a:bodyPr wrap="square"/>
                    <a:lstStyle/>
                    <a:p>
                      <a:r>
                        <a:rPr sz="1100" b="0">
                          <a:solidFill>
                            <a:srgbClr val="282828"/>
                          </a:solidFill>
                          <a:latin typeface="Arial"/>
                        </a:rPr>
                        <a:t>0.9992 / 0.9986</a:t>
                      </a:r>
                    </a:p>
                  </a:txBody>
                  <a:tcPr marL="54864" marR="54864" marT="18288" marB="18288">
                    <a:solidFill>
                      <a:srgbClr val="ECF1F6"/>
                    </a:solidFill>
                  </a:tcPr>
                </a:tc>
                <a:tc>
                  <a:txBody>
                    <a:bodyPr wrap="square"/>
                    <a:lstStyle/>
                    <a:p>
                      <a:r>
                        <a:rPr sz="1100" b="0">
                          <a:solidFill>
                            <a:srgbClr val="282828"/>
                          </a:solidFill>
                          <a:latin typeface="Arial"/>
                        </a:rPr>
                        <a:t>−0.7 mm: 0.9999</a:t>
                      </a:r>
                    </a:p>
                  </a:txBody>
                  <a:tcPr marL="54864" marR="54864" marT="18288" marB="18288">
                    <a:solidFill>
                      <a:srgbClr val="ECF1F6"/>
                    </a:solidFill>
                  </a:tcPr>
                </a:tc>
                <a:tc>
                  <a:txBody>
                    <a:bodyPr wrap="square"/>
                    <a:lstStyle/>
                    <a:p>
                      <a:r>
                        <a:rPr sz="1100" b="0">
                          <a:solidFill>
                            <a:srgbClr val="282828"/>
                          </a:solidFill>
                          <a:latin typeface="Arial"/>
                        </a:rPr>
                        <a:t>0.24 → 0.06 nm</a:t>
                      </a:r>
                    </a:p>
                  </a:txBody>
                  <a:tcPr marL="54864" marR="54864" marT="18288" marB="18288">
                    <a:solidFill>
                      <a:srgbClr val="ECF1F6"/>
                    </a:solidFill>
                  </a:tcPr>
                </a:tc>
                <a:tc>
                  <a:txBody>
                    <a:bodyPr wrap="square"/>
                    <a:lstStyle/>
                    <a:p>
                      <a:r>
                        <a:rPr sz="1100" b="0">
                          <a:solidFill>
                            <a:srgbClr val="282828"/>
                          </a:solidFill>
                          <a:latin typeface="Arial"/>
                        </a:rPr>
                        <a:t>0.003 mm</a:t>
                      </a:r>
                    </a:p>
                  </a:txBody>
                  <a:tcPr marL="54864" marR="54864" marT="18288" marB="18288">
                    <a:solidFill>
                      <a:srgbClr val="ECF1F6"/>
                    </a:solidFill>
                  </a:tcPr>
                </a:tc>
              </a:tr>
              <a:tr h="468630">
                <a:tc>
                  <a:txBody>
                    <a:bodyPr wrap="square"/>
                    <a:lstStyle/>
                    <a:p>
                      <a:r>
                        <a:rPr sz="1100" b="0">
                          <a:solidFill>
                            <a:srgbClr val="282828"/>
                          </a:solidFill>
                          <a:latin typeface="Arial"/>
                        </a:rPr>
                        <a:t>tuned tail, spherical field lens</a:t>
                      </a:r>
                    </a:p>
                  </a:txBody>
                  <a:tcPr marL="54864" marR="54864" marT="18288" marB="18288">
                    <a:solidFill>
                      <a:srgbClr val="FFFFFF"/>
                    </a:solidFill>
                  </a:tcPr>
                </a:tc>
                <a:tc>
                  <a:txBody>
                    <a:bodyPr wrap="square"/>
                    <a:lstStyle/>
                    <a:p>
                      <a:r>
                        <a:rPr sz="1100" b="0">
                          <a:solidFill>
                            <a:srgbClr val="282828"/>
                          </a:solidFill>
                          <a:latin typeface="Arial"/>
                        </a:rPr>
                        <a:t>+2.6 / +1.5 / +0.3</a:t>
                      </a:r>
                    </a:p>
                  </a:txBody>
                  <a:tcPr marL="54864" marR="54864" marT="18288" marB="18288">
                    <a:solidFill>
                      <a:srgbClr val="FFFFFF"/>
                    </a:solidFill>
                  </a:tcPr>
                </a:tc>
                <a:tc>
                  <a:txBody>
                    <a:bodyPr wrap="square"/>
                    <a:lstStyle/>
                    <a:p>
                      <a:r>
                        <a:rPr sz="1100" b="0">
                          <a:solidFill>
                            <a:srgbClr val="282828"/>
                          </a:solidFill>
                          <a:latin typeface="Arial"/>
                        </a:rPr>
                        <a:t>0.59 mm</a:t>
                      </a:r>
                    </a:p>
                  </a:txBody>
                  <a:tcPr marL="54864" marR="54864" marT="18288" marB="18288">
                    <a:solidFill>
                      <a:srgbClr val="FFFFFF"/>
                    </a:solidFill>
                  </a:tcPr>
                </a:tc>
                <a:tc>
                  <a:txBody>
                    <a:bodyPr wrap="square"/>
                    <a:lstStyle/>
                    <a:p>
                      <a:r>
                        <a:rPr sz="1100" b="0">
                          <a:solidFill>
                            <a:srgbClr val="282828"/>
                          </a:solidFill>
                          <a:latin typeface="Arial"/>
                        </a:rPr>
                        <a:t>0.996 / 0.992</a:t>
                      </a:r>
                    </a:p>
                  </a:txBody>
                  <a:tcPr marL="54864" marR="54864" marT="18288" marB="18288">
                    <a:solidFill>
                      <a:srgbClr val="FFFFFF"/>
                    </a:solidFill>
                  </a:tcPr>
                </a:tc>
                <a:tc>
                  <a:txBody>
                    <a:bodyPr wrap="square"/>
                    <a:lstStyle/>
                    <a:p>
                      <a:r>
                        <a:rPr sz="1100" b="0">
                          <a:solidFill>
                            <a:srgbClr val="282828"/>
                          </a:solidFill>
                          <a:latin typeface="Arial"/>
                        </a:rPr>
                        <a:t>+1.5 mm: 0.994</a:t>
                      </a:r>
                    </a:p>
                  </a:txBody>
                  <a:tcPr marL="54864" marR="54864" marT="18288" marB="18288">
                    <a:solidFill>
                      <a:srgbClr val="FFFFFF"/>
                    </a:solidFill>
                  </a:tcPr>
                </a:tc>
                <a:tc>
                  <a:txBody>
                    <a:bodyPr wrap="square"/>
                    <a:lstStyle/>
                    <a:p>
                      <a:r>
                        <a:rPr sz="1100" b="0">
                          <a:solidFill>
                            <a:srgbClr val="282828"/>
                          </a:solidFill>
                          <a:latin typeface="Arial"/>
                        </a:rPr>
                        <a:t>0.54 → 0.34 nm</a:t>
                      </a:r>
                    </a:p>
                  </a:txBody>
                  <a:tcPr marL="54864" marR="54864" marT="18288" marB="18288">
                    <a:solidFill>
                      <a:srgbClr val="FFFFFF"/>
                    </a:solidFill>
                  </a:tcPr>
                </a:tc>
                <a:tc>
                  <a:txBody>
                    <a:bodyPr wrap="square"/>
                    <a:lstStyle/>
                    <a:p>
                      <a:r>
                        <a:rPr sz="1100" b="0">
                          <a:solidFill>
                            <a:srgbClr val="282828"/>
                          </a:solidFill>
                          <a:latin typeface="Arial"/>
                        </a:rPr>
                        <a:t>0.30 mm</a:t>
                      </a:r>
                    </a:p>
                  </a:txBody>
                  <a:tcPr marL="54864" marR="54864" marT="18288" marB="18288">
                    <a:solidFill>
                      <a:srgbClr val="FFFFFF"/>
                    </a:solidFill>
                  </a:tcPr>
                </a:tc>
              </a:tr>
              <a:tr h="280035">
                <a:tc>
                  <a:txBody>
                    <a:bodyPr wrap="square"/>
                    <a:lstStyle/>
                    <a:p>
                      <a:r>
                        <a:rPr sz="1100" b="0">
                          <a:solidFill>
                            <a:srgbClr val="282828"/>
                          </a:solidFill>
                          <a:latin typeface="Arial"/>
                        </a:rPr>
                        <a:t>true collimation, tuned tail</a:t>
                      </a:r>
                    </a:p>
                  </a:txBody>
                  <a:tcPr marL="54864" marR="54864" marT="18288" marB="18288">
                    <a:solidFill>
                      <a:srgbClr val="ECF1F6"/>
                    </a:solidFill>
                  </a:tcPr>
                </a:tc>
                <a:tc>
                  <a:txBody>
                    <a:bodyPr wrap="square"/>
                    <a:lstStyle/>
                    <a:p>
                      <a:r>
                        <a:rPr sz="1100" b="0">
                          <a:solidFill>
                            <a:srgbClr val="282828"/>
                          </a:solidFill>
                          <a:latin typeface="Arial"/>
                        </a:rPr>
                        <a:t>+2.7 / +3.9 / +5.1</a:t>
                      </a:r>
                    </a:p>
                  </a:txBody>
                  <a:tcPr marL="54864" marR="54864" marT="18288" marB="18288">
                    <a:solidFill>
                      <a:srgbClr val="ECF1F6"/>
                    </a:solidFill>
                  </a:tcPr>
                </a:tc>
                <a:tc>
                  <a:txBody>
                    <a:bodyPr wrap="square"/>
                    <a:lstStyle/>
                    <a:p>
                      <a:r>
                        <a:rPr sz="1100" b="0">
                          <a:solidFill>
                            <a:srgbClr val="282828"/>
                          </a:solidFill>
                          <a:latin typeface="Arial"/>
                        </a:rPr>
                        <a:t>0.80 mm</a:t>
                      </a:r>
                    </a:p>
                  </a:txBody>
                  <a:tcPr marL="54864" marR="54864" marT="18288" marB="18288">
                    <a:solidFill>
                      <a:srgbClr val="ECF1F6"/>
                    </a:solidFill>
                  </a:tcPr>
                </a:tc>
                <a:tc>
                  <a:txBody>
                    <a:bodyPr wrap="square"/>
                    <a:lstStyle/>
                    <a:p>
                      <a:r>
                        <a:rPr sz="1100" b="0">
                          <a:solidFill>
                            <a:srgbClr val="282828"/>
                          </a:solidFill>
                          <a:latin typeface="Arial"/>
                        </a:rPr>
                        <a:t>0.982 / 0.965</a:t>
                      </a:r>
                    </a:p>
                  </a:txBody>
                  <a:tcPr marL="54864" marR="54864" marT="18288" marB="18288">
                    <a:solidFill>
                      <a:srgbClr val="ECF1F6"/>
                    </a:solidFill>
                  </a:tcPr>
                </a:tc>
                <a:tc>
                  <a:txBody>
                    <a:bodyPr wrap="square"/>
                    <a:lstStyle/>
                    <a:p>
                      <a:r>
                        <a:rPr sz="1100" b="0">
                          <a:solidFill>
                            <a:srgbClr val="282828"/>
                          </a:solidFill>
                          <a:latin typeface="Arial"/>
                        </a:rPr>
                        <a:t>+3.9 mm: 0.996</a:t>
                      </a:r>
                    </a:p>
                  </a:txBody>
                  <a:tcPr marL="54864" marR="54864" marT="18288" marB="18288">
                    <a:solidFill>
                      <a:srgbClr val="ECF1F6"/>
                    </a:solidFill>
                  </a:tcPr>
                </a:tc>
                <a:tc>
                  <a:txBody>
                    <a:bodyPr wrap="square"/>
                    <a:lstStyle/>
                    <a:p>
                      <a:r>
                        <a:rPr sz="1100" b="0">
                          <a:solidFill>
                            <a:srgbClr val="282828"/>
                          </a:solidFill>
                          <a:latin typeface="Arial"/>
                        </a:rPr>
                        <a:t>1.1 → 0.3 nm</a:t>
                      </a:r>
                    </a:p>
                  </a:txBody>
                  <a:tcPr marL="54864" marR="54864" marT="18288" marB="18288">
                    <a:solidFill>
                      <a:srgbClr val="ECF1F6"/>
                    </a:solidFill>
                  </a:tcPr>
                </a:tc>
                <a:tc>
                  <a:txBody>
                    <a:bodyPr wrap="square"/>
                    <a:lstStyle/>
                    <a:p>
                      <a:r>
                        <a:rPr sz="1100" b="0">
                          <a:solidFill>
                            <a:srgbClr val="282828"/>
                          </a:solidFill>
                          <a:latin typeface="Arial"/>
                        </a:rPr>
                        <a:t>0.13 mm</a:t>
                      </a:r>
                    </a:p>
                  </a:txBody>
                  <a:tcPr marL="54864" marR="54864" marT="18288" marB="18288">
                    <a:solidFill>
                      <a:srgbClr val="ECF1F6"/>
                    </a:solidFill>
                  </a:tcPr>
                </a:tc>
              </a:tr>
              <a:tr h="280035">
                <a:tc>
                  <a:txBody>
                    <a:bodyPr wrap="square"/>
                    <a:lstStyle/>
                    <a:p>
                      <a:r>
                        <a:rPr sz="1100" b="0">
                          <a:solidFill>
                            <a:srgbClr val="282828"/>
                          </a:solidFill>
                          <a:latin typeface="Arial"/>
                        </a:rPr>
                        <a:t>true collimation, seed tail</a:t>
                      </a:r>
                    </a:p>
                  </a:txBody>
                  <a:tcPr marL="54864" marR="54864" marT="18288" marB="18288">
                    <a:solidFill>
                      <a:srgbClr val="FFFFFF"/>
                    </a:solidFill>
                  </a:tcPr>
                </a:tc>
                <a:tc>
                  <a:txBody>
                    <a:bodyPr wrap="square"/>
                    <a:lstStyle/>
                    <a:p>
                      <a:r>
                        <a:rPr sz="1100" b="0">
                          <a:solidFill>
                            <a:srgbClr val="282828"/>
                          </a:solidFill>
                          <a:latin typeface="Arial"/>
                        </a:rPr>
                        <a:t>−0.5 / −0.8 / −1.1</a:t>
                      </a:r>
                    </a:p>
                  </a:txBody>
                  <a:tcPr marL="54864" marR="54864" marT="18288" marB="18288">
                    <a:solidFill>
                      <a:srgbClr val="FFFFFF"/>
                    </a:solidFill>
                  </a:tcPr>
                </a:tc>
                <a:tc>
                  <a:txBody>
                    <a:bodyPr wrap="square"/>
                    <a:lstStyle/>
                    <a:p>
                      <a:r>
                        <a:rPr sz="1100" b="0">
                          <a:solidFill>
                            <a:srgbClr val="282828"/>
                          </a:solidFill>
                          <a:latin typeface="Arial"/>
                        </a:rPr>
                        <a:t>0.11 mm</a:t>
                      </a:r>
                    </a:p>
                  </a:txBody>
                  <a:tcPr marL="54864" marR="54864" marT="18288" marB="18288">
                    <a:solidFill>
                      <a:srgbClr val="FFFFFF"/>
                    </a:solidFill>
                  </a:tcPr>
                </a:tc>
                <a:tc>
                  <a:txBody>
                    <a:bodyPr wrap="square"/>
                    <a:lstStyle/>
                    <a:p>
                      <a:r>
                        <a:rPr sz="1100" b="0">
                          <a:solidFill>
                            <a:srgbClr val="282828"/>
                          </a:solidFill>
                          <a:latin typeface="Arial"/>
                        </a:rPr>
                        <a:t>0.9991 / 0.9980</a:t>
                      </a:r>
                    </a:p>
                  </a:txBody>
                  <a:tcPr marL="54864" marR="54864" marT="18288" marB="18288">
                    <a:solidFill>
                      <a:srgbClr val="FFFFFF"/>
                    </a:solidFill>
                  </a:tcPr>
                </a:tc>
                <a:tc>
                  <a:txBody>
                    <a:bodyPr wrap="square"/>
                    <a:lstStyle/>
                    <a:p>
                      <a:r>
                        <a:rPr sz="1100" b="0">
                          <a:solidFill>
                            <a:srgbClr val="282828"/>
                          </a:solidFill>
                          <a:latin typeface="Arial"/>
                        </a:rPr>
                        <a:t>−0.8 mm: 0.9999</a:t>
                      </a:r>
                    </a:p>
                  </a:txBody>
                  <a:tcPr marL="54864" marR="54864" marT="18288" marB="18288">
                    <a:solidFill>
                      <a:srgbClr val="FFFFFF"/>
                    </a:solidFill>
                  </a:tcPr>
                </a:tc>
                <a:tc>
                  <a:txBody>
                    <a:bodyPr wrap="square"/>
                    <a:lstStyle/>
                    <a:p>
                      <a:r>
                        <a:rPr sz="1100" b="0">
                          <a:solidFill>
                            <a:srgbClr val="282828"/>
                          </a:solidFill>
                          <a:latin typeface="Arial"/>
                        </a:rPr>
                        <a:t>0.26 → 0.08 nm</a:t>
                      </a:r>
                    </a:p>
                  </a:txBody>
                  <a:tcPr marL="54864" marR="54864" marT="18288" marB="18288">
                    <a:solidFill>
                      <a:srgbClr val="FFFFFF"/>
                    </a:solidFill>
                  </a:tcPr>
                </a:tc>
                <a:tc>
                  <a:txBody>
                    <a:bodyPr wrap="square"/>
                    <a:lstStyle/>
                    <a:p>
                      <a:r>
                        <a:rPr sz="1100" b="0">
                          <a:solidFill>
                            <a:srgbClr val="282828"/>
                          </a:solidFill>
                          <a:latin typeface="Arial"/>
                        </a:rPr>
                        <a:t>0.035 mm</a:t>
                      </a:r>
                    </a:p>
                  </a:txBody>
                  <a:tcPr marL="54864" marR="54864" marT="18288" marB="18288">
                    <a:solidFill>
                      <a:srgbClr val="FFFFFF"/>
                    </a:solidFill>
                  </a:tcPr>
                </a:tc>
              </a:tr>
              <a:tr h="468630">
                <a:tc>
                  <a:txBody>
                    <a:bodyPr wrap="square"/>
                    <a:lstStyle/>
                    <a:p>
                      <a:r>
                        <a:rPr sz="1100" b="0">
                          <a:solidFill>
                            <a:srgbClr val="282828"/>
                          </a:solidFill>
                          <a:latin typeface="Arial"/>
                        </a:rPr>
                        <a:t>mirror rig, as built (seed tail)</a:t>
                      </a:r>
                    </a:p>
                  </a:txBody>
                  <a:tcPr marL="54864" marR="54864" marT="18288" marB="18288">
                    <a:solidFill>
                      <a:srgbClr val="ECF1F6"/>
                    </a:solidFill>
                  </a:tcPr>
                </a:tc>
                <a:tc>
                  <a:txBody>
                    <a:bodyPr wrap="square"/>
                    <a:lstStyle/>
                    <a:p>
                      <a:r>
                        <a:rPr sz="1100" b="0">
                          <a:solidFill>
                            <a:srgbClr val="282828"/>
                          </a:solidFill>
                          <a:latin typeface="Arial"/>
                        </a:rPr>
                        <a:t>−0.4 / −0.6 / −1.3</a:t>
                      </a:r>
                    </a:p>
                  </a:txBody>
                  <a:tcPr marL="54864" marR="54864" marT="18288" marB="18288">
                    <a:solidFill>
                      <a:srgbClr val="ECF1F6"/>
                    </a:solidFill>
                  </a:tcPr>
                </a:tc>
                <a:tc>
                  <a:txBody>
                    <a:bodyPr wrap="square"/>
                    <a:lstStyle/>
                    <a:p>
                      <a:r>
                        <a:rPr sz="1100" b="0">
                          <a:solidFill>
                            <a:srgbClr val="282828"/>
                          </a:solidFill>
                          <a:latin typeface="Arial"/>
                        </a:rPr>
                        <a:t>0.09 mm</a:t>
                      </a:r>
                    </a:p>
                  </a:txBody>
                  <a:tcPr marL="54864" marR="54864" marT="18288" marB="18288">
                    <a:solidFill>
                      <a:srgbClr val="ECF1F6"/>
                    </a:solidFill>
                  </a:tcPr>
                </a:tc>
                <a:tc>
                  <a:txBody>
                    <a:bodyPr wrap="square"/>
                    <a:lstStyle/>
                    <a:p>
                      <a:r>
                        <a:rPr sz="1100" b="0">
                          <a:solidFill>
                            <a:srgbClr val="282828"/>
                          </a:solidFill>
                          <a:latin typeface="Arial"/>
                        </a:rPr>
                        <a:t>0.9993 / 0.9974</a:t>
                      </a:r>
                    </a:p>
                  </a:txBody>
                  <a:tcPr marL="54864" marR="54864" marT="18288" marB="18288">
                    <a:solidFill>
                      <a:srgbClr val="ECF1F6"/>
                    </a:solidFill>
                  </a:tcPr>
                </a:tc>
                <a:tc>
                  <a:txBody>
                    <a:bodyPr wrap="square"/>
                    <a:lstStyle/>
                    <a:p>
                      <a:r>
                        <a:rPr sz="1100" b="0">
                          <a:solidFill>
                            <a:srgbClr val="282828"/>
                          </a:solidFill>
                          <a:latin typeface="Arial"/>
                        </a:rPr>
                        <a:t>−0.6 mm: 0.9994</a:t>
                      </a:r>
                    </a:p>
                  </a:txBody>
                  <a:tcPr marL="54864" marR="54864" marT="18288" marB="18288">
                    <a:solidFill>
                      <a:srgbClr val="ECF1F6"/>
                    </a:solidFill>
                  </a:tcPr>
                </a:tc>
                <a:tc>
                  <a:txBody>
                    <a:bodyPr wrap="square"/>
                    <a:lstStyle/>
                    <a:p>
                      <a:r>
                        <a:rPr sz="1100" b="0">
                          <a:solidFill>
                            <a:srgbClr val="282828"/>
                          </a:solidFill>
                          <a:latin typeface="Arial"/>
                        </a:rPr>
                        <a:t>0.23 → 0.09 nm</a:t>
                      </a:r>
                    </a:p>
                  </a:txBody>
                  <a:tcPr marL="54864" marR="54864" marT="18288" marB="18288">
                    <a:solidFill>
                      <a:srgbClr val="ECF1F6"/>
                    </a:solidFill>
                  </a:tcPr>
                </a:tc>
                <a:tc>
                  <a:txBody>
                    <a:bodyPr wrap="square"/>
                    <a:lstStyle/>
                    <a:p>
                      <a:r>
                        <a:rPr sz="1100" b="0">
                          <a:solidFill>
                            <a:srgbClr val="282828"/>
                          </a:solidFill>
                          <a:latin typeface="Arial"/>
                        </a:rPr>
                        <a:t>0.72 mm</a:t>
                      </a:r>
                    </a:p>
                  </a:txBody>
                  <a:tcPr marL="54864" marR="54864" marT="18288" marB="18288">
                    <a:solidFill>
                      <a:srgbClr val="ECF1F6"/>
                    </a:solidFill>
                  </a:tcPr>
                </a:tc>
              </a:tr>
            </a:tbl>
          </a:graphicData>
        </a:graphic>
      </p:graphicFrame>
      <p:sp>
        <p:nvSpPr>
          <p:cNvPr id="5" name="TextBox 4"/>
          <p:cNvSpPr txBox="1"/>
          <p:nvPr/>
        </p:nvSpPr>
        <p:spPr>
          <a:xfrm>
            <a:off x="411480" y="43479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null tuner bought its 0.13 nm flat-mirror null with the pupil image:</a:t>
            </a:r>
            <a:r>
              <a:rPr sz="1500" b="0">
                <a:solidFill>
                  <a:srgbClr val="282828"/>
                </a:solidFill>
                <a:latin typeface="Arial"/>
              </a:rPr>
              <a:t> it moved the field lens to its own focal length behind the focus, where the pupil rides 4.6 mm high on a 12 mm asphere.  At the seed station the pupil rides 1.2 mm high and the DM images flat.  The null it gives up (9 nm) is a fixed pattern the reference frame removes.</a:t>
            </a:r>
          </a:p>
          <a:p>
            <a:pPr>
              <a:spcAft>
                <a:spcPts val="600"/>
              </a:spcAft>
            </a:pPr>
            <a:r>
              <a:rPr sz="1500" b="0">
                <a:solidFill>
                  <a:srgbClr val="282828"/>
                </a:solidFill>
                <a:latin typeface="Arial"/>
              </a:rPr>
              <a:t>•  </a:t>
            </a:r>
            <a:r>
              <a:rPr sz="1500" b="1">
                <a:solidFill>
                  <a:srgbClr val="282828"/>
                </a:solidFill>
                <a:latin typeface="Arial"/>
              </a:rPr>
              <a:t>A flattener behind the tuned tail is not an optic:</a:t>
            </a:r>
            <a:r>
              <a:rPr sz="1500" b="0">
                <a:solidFill>
                  <a:srgbClr val="282828"/>
                </a:solidFill>
                <a:latin typeface="Arial"/>
              </a:rPr>
              <a:t> its bowl is a 5 mm-radius surface in image space.  </a:t>
            </a:r>
            <a:r>
              <a:rPr sz="1500" b="1">
                <a:solidFill>
                  <a:srgbClr val="282828"/>
                </a:solidFill>
                <a:latin typeface="Arial"/>
              </a:rPr>
              <a:t>True collimation</a:t>
            </a:r>
            <a:r>
              <a:rPr sz="1500" b="0">
                <a:solidFill>
                  <a:srgbClr val="282828"/>
                </a:solidFill>
                <a:latin typeface="Arial"/>
              </a:rPr>
              <a:t> (a source 14 mm inside the hyperbolic collimator's focus, the case assessed here, is what the bench corrects) halves the distortion and is needed for any re-tune and for the physical-optics chain.</a:t>
            </a:r>
          </a:p>
        </p:txBody>
      </p:sp>
      <p:sp>
        <p:nvSpPr>
          <p:cNvPr id="6" name="TextBox 5"/>
          <p:cNvSpPr txBox="1"/>
          <p:nvPr/>
        </p:nvSpPr>
        <p:spPr>
          <a:xfrm>
            <a:off x="411480" y="6150864"/>
            <a:ext cx="11368735" cy="274320"/>
          </a:xfrm>
          <a:prstGeom prst="rect">
            <a:avLst/>
          </a:prstGeom>
          <a:noFill/>
        </p:spPr>
        <p:txBody>
          <a:bodyPr wrap="square">
            <a:spAutoFit/>
          </a:bodyPr>
          <a:lstStyle/>
          <a:p>
            <a:pPr>
              <a:spcAft>
                <a:spcPts val="600"/>
              </a:spcAft>
            </a:pPr>
            <a:r>
              <a:rPr sz="1050" b="0">
                <a:solidFill>
                  <a:srgbClr val="6E6E6E"/>
                </a:solidFill>
                <a:latin typeface="Arial"/>
              </a:rPr>
              <a:t>Recommendation: lens rig, field lens held at the seed station, conic and trim re-tuned with the image surface in the objective, detector at the image mean; mirror rig, the 0.6 mm move; collimator fixed first; rows re-run on the corrected tail and the 96 mm beam together.  Run tag pupil_options (tg96_pupil_options); REPORT_bench_realism 7.1.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interferometer's three phase-shift forms</a:t>
            </a:r>
          </a:p>
          <a:p>
            <a:pPr>
              <a:spcAft>
                <a:spcPts val="0"/>
              </a:spcAft>
            </a:pPr>
            <a:r>
              <a:rPr sz="1250" b="0">
                <a:solidFill>
                  <a:srgbClr val="6E6E6E"/>
                </a:solidFill>
                <a:latin typeface="Arial"/>
              </a:rPr>
              <a:t>The four frames are the same in the model; the forms differ in what they get wrong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817495"/>
        </p:xfrm>
        <a:graphic>
          <a:graphicData uri="http://schemas.openxmlformats.org/drawingml/2006/table">
            <a:tbl>
              <a:tblPr firstRow="1" bandRow="1">
                <a:tableStyleId>{5C22544A-7EE6-4342-B048-85BDC9FD1C3A}</a:tableStyleId>
              </a:tblPr>
              <a:tblGrid>
                <a:gridCol w="1671828"/>
                <a:gridCol w="1257454"/>
                <a:gridCol w="1523454"/>
                <a:gridCol w="6915998"/>
              </a:tblGrid>
              <a:tr h="468630">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how the four steps are made</a:t>
                      </a:r>
                    </a:p>
                  </a:txBody>
                  <a:tcPr marL="54864" marR="54864" marT="18288" marB="18288">
                    <a:solidFill>
                      <a:srgbClr val="1F4E79"/>
                    </a:solidFill>
                  </a:tcPr>
                </a:tc>
                <a:tc>
                  <a:txBody>
                    <a:bodyPr wrap="square"/>
                    <a:lstStyle/>
                    <a:p>
                      <a:r>
                        <a:rPr sz="1100" b="1">
                          <a:solidFill>
                            <a:srgbClr val="FFFFFF"/>
                          </a:solidFill>
                          <a:latin typeface="Arial"/>
                        </a:rPr>
                        <a:t>what it gets wrong</a:t>
                      </a:r>
                    </a:p>
                  </a:txBody>
                  <a:tcPr marL="54864" marR="54864" marT="18288" marB="18288">
                    <a:solidFill>
                      <a:srgbClr val="1F4E79"/>
                    </a:solidFill>
                  </a:tcPr>
                </a:tc>
                <a:tc>
                  <a:txBody>
                    <a:bodyPr wrap="square"/>
                    <a:lstStyle/>
                    <a:p>
                      <a:r>
                        <a:rPr sz="1100" b="1">
                          <a:solidFill>
                            <a:srgbClr val="FFFFFF"/>
                          </a:solidFill>
                          <a:latin typeface="Arial"/>
                        </a:rPr>
                        <a:t>priced</a:t>
                      </a:r>
                    </a:p>
                  </a:txBody>
                  <a:tcPr marL="54864" marR="54864" marT="18288" marB="18288">
                    <a:solidFill>
                      <a:srgbClr val="1F4E79"/>
                    </a:solidFill>
                  </a:tcPr>
                </a:tc>
              </a:tr>
              <a:tr h="657225">
                <a:tc>
                  <a:txBody>
                    <a:bodyPr wrap="square"/>
                    <a:lstStyle/>
                    <a:p>
                      <a:r>
                        <a:rPr sz="1100" b="0">
                          <a:solidFill>
                            <a:srgbClr val="282828"/>
                          </a:solidFill>
                          <a:latin typeface="Arial"/>
                        </a:rPr>
                        <a:t>piezo four-step</a:t>
                      </a:r>
                    </a:p>
                  </a:txBody>
                  <a:tcPr marL="54864" marR="54864" marT="18288" marB="18288">
                    <a:solidFill>
                      <a:srgbClr val="FFFFFF"/>
                    </a:solidFill>
                  </a:tcPr>
                </a:tc>
                <a:tc>
                  <a:txBody>
                    <a:bodyPr wrap="square"/>
                    <a:lstStyle/>
                    <a:p>
                      <a:r>
                        <a:rPr sz="1100" b="0">
                          <a:solidFill>
                            <a:srgbClr val="282828"/>
                          </a:solidFill>
                          <a:latin typeface="Arial"/>
                        </a:rPr>
                        <a:t>the reference flat stepped in time</a:t>
                      </a:r>
                    </a:p>
                  </a:txBody>
                  <a:tcPr marL="54864" marR="54864" marT="18288" marB="18288">
                    <a:solidFill>
                      <a:srgbClr val="FFFFFF"/>
                    </a:solidFill>
                  </a:tcPr>
                </a:tc>
                <a:tc>
                  <a:txBody>
                    <a:bodyPr wrap="square"/>
                    <a:lstStyle/>
                    <a:p>
                      <a:r>
                        <a:rPr sz="1100" b="0">
                          <a:solidFill>
                            <a:srgbClr val="282828"/>
                          </a:solidFill>
                          <a:latin typeface="Arial"/>
                        </a:rPr>
                        <a:t>step miscalibration; camera and mirror drift within a scan</a:t>
                      </a:r>
                    </a:p>
                  </a:txBody>
                  <a:tcPr marL="54864" marR="54864" marT="18288" marB="18288">
                    <a:solidFill>
                      <a:srgbClr val="FFFFFF"/>
                    </a:solidFill>
                  </a:tcPr>
                </a:tc>
                <a:tc>
                  <a:txBody>
                    <a:bodyPr wrap="square"/>
                    <a:lstStyle/>
                    <a:p>
                      <a:r>
                        <a:rPr sz="1100" b="0">
                          <a:solidFill>
                            <a:srgbClr val="282828"/>
                          </a:solidFill>
                          <a:latin typeface="Arial"/>
                        </a:rPr>
                        <a:t>step error 2% / 5%: gain 0.974 / 0.954, floors 5 / 9 pm; in the servo common mode (5.4e12 vs 5.5e12); camera walk 1e-3 within a scan: +13% light; mirror walk within a scan: 1.6e13 vs 1.7-2.0e13</a:t>
                      </a:r>
                    </a:p>
                  </a:txBody>
                  <a:tcPr marL="54864" marR="54864" marT="18288" marB="18288">
                    <a:solidFill>
                      <a:srgbClr val="FFFFFF"/>
                    </a:solidFill>
                  </a:tcPr>
                </a:tc>
              </a:tr>
              <a:tr h="845820">
                <a:tc>
                  <a:txBody>
                    <a:bodyPr wrap="square"/>
                    <a:lstStyle/>
                    <a:p>
                      <a:r>
                        <a:rPr sz="1100" b="0">
                          <a:solidFill>
                            <a:srgbClr val="282828"/>
                          </a:solidFill>
                          <a:latin typeface="Arial"/>
                        </a:rPr>
                        <a:t>polarization snapshot</a:t>
                      </a:r>
                    </a:p>
                  </a:txBody>
                  <a:tcPr marL="54864" marR="54864" marT="18288" marB="18288">
                    <a:solidFill>
                      <a:srgbClr val="ECF1F6"/>
                    </a:solidFill>
                  </a:tcPr>
                </a:tc>
                <a:tc>
                  <a:txBody>
                    <a:bodyPr wrap="square"/>
                    <a:lstStyle/>
                    <a:p>
                      <a:r>
                        <a:rPr sz="1100" b="0">
                          <a:solidFill>
                            <a:srgbClr val="282828"/>
                          </a:solidFill>
                          <a:latin typeface="Arial"/>
                        </a:rPr>
                        <a:t>four analyzer channels at once</a:t>
                      </a:r>
                    </a:p>
                  </a:txBody>
                  <a:tcPr marL="54864" marR="54864" marT="18288" marB="18288">
                    <a:solidFill>
                      <a:srgbClr val="ECF1F6"/>
                    </a:solidFill>
                  </a:tcPr>
                </a:tc>
                <a:tc>
                  <a:txBody>
                    <a:bodyPr wrap="square"/>
                    <a:lstStyle/>
                    <a:p>
                      <a:r>
                        <a:rPr sz="1100" b="0">
                          <a:solidFill>
                            <a:srgbClr val="282828"/>
                          </a:solidFill>
                          <a:latin typeface="Arial"/>
                        </a:rPr>
                        <a:t>polarization systematics, fixed by design; no within-scan drift</a:t>
                      </a:r>
                    </a:p>
                  </a:txBody>
                  <a:tcPr marL="54864" marR="54864" marT="18288" marB="18288">
                    <a:solidFill>
                      <a:srgbClr val="ECF1F6"/>
                    </a:solidFill>
                  </a:tcPr>
                </a:tc>
                <a:tc>
                  <a:txBody>
                    <a:bodyPr wrap="square"/>
                    <a:lstStyle/>
                    <a:p>
                      <a:r>
                        <a:rPr sz="1100" b="0">
                          <a:solidFill>
                            <a:srgbClr val="282828"/>
                          </a:solidFill>
                          <a:latin typeface="Arial"/>
                        </a:rPr>
                        <a:t>plate rig at the record's 45°: the splitter's diattenuation rotates the test arm 7.5°, gain +11.7% (at the built 22.5°: 1.56°, +0.9%), nulled to 1.00000 by an analyzer sweep and a 3.8° plate clock; cube rig: R_p 2.1% for a naive stack, 0 for the symmetric one, 2.27× the delivered power</a:t>
                      </a:r>
                    </a:p>
                  </a:txBody>
                  <a:tcPr marL="54864" marR="54864" marT="18288" marB="18288">
                    <a:solidFill>
                      <a:srgbClr val="ECF1F6"/>
                    </a:solidFill>
                  </a:tcPr>
                </a:tc>
              </a:tr>
              <a:tr h="845820">
                <a:tc>
                  <a:txBody>
                    <a:bodyPr wrap="square"/>
                    <a:lstStyle/>
                    <a:p>
                      <a:r>
                        <a:rPr sz="1100" b="0">
                          <a:solidFill>
                            <a:srgbClr val="282828"/>
                          </a:solidFill>
                          <a:latin typeface="Arial"/>
                        </a:rPr>
                        <a:t>hybrid</a:t>
                      </a:r>
                    </a:p>
                  </a:txBody>
                  <a:tcPr marL="54864" marR="54864" marT="18288" marB="18288">
                    <a:solidFill>
                      <a:srgbClr val="FFFFFF"/>
                    </a:solidFill>
                  </a:tcPr>
                </a:tc>
                <a:tc>
                  <a:txBody>
                    <a:bodyPr wrap="square"/>
                    <a:lstStyle/>
                    <a:p>
                      <a:r>
                        <a:rPr sz="1100" b="0">
                          <a:solidFill>
                            <a:srgbClr val="282828"/>
                          </a:solidFill>
                          <a:latin typeface="Arial"/>
                        </a:rPr>
                        <a:t>snapshot for the change, piezo for the absolute step</a:t>
                      </a:r>
                    </a:p>
                  </a:txBody>
                  <a:tcPr marL="54864" marR="54864" marT="18288" marB="18288">
                    <a:solidFill>
                      <a:srgbClr val="FFFFFF"/>
                    </a:solidFill>
                  </a:tcPr>
                </a:tc>
                <a:tc>
                  <a:txBody>
                    <a:bodyPr wrap="square"/>
                    <a:lstStyle/>
                    <a:p>
                      <a:r>
                        <a:rPr sz="1100" b="0">
                          <a:solidFill>
                            <a:srgbClr val="282828"/>
                          </a:solidFill>
                          <a:latin typeface="Arial"/>
                        </a:rPr>
                        <a:t>each half removes the other's error</a:t>
                      </a:r>
                    </a:p>
                  </a:txBody>
                  <a:tcPr marL="54864" marR="54864" marT="18288" marB="18288">
                    <a:solidFill>
                      <a:srgbClr val="FFFFFF"/>
                    </a:solidFill>
                  </a:tcPr>
                </a:tc>
                <a:tc>
                  <a:txBody>
                    <a:bodyPr wrap="square"/>
                    <a:lstStyle/>
                    <a:p>
                      <a:r>
                        <a:rPr sz="1100" b="0">
                          <a:solidFill>
                            <a:srgbClr val="282828"/>
                          </a:solidFill>
                          <a:latin typeface="Arial"/>
                        </a:rPr>
                        <a:t>the recommended form; its value is the absolute calibration more than drift immunity: the four-step already tolerates all three sequential terms in hold</a:t>
                      </a:r>
                    </a:p>
                  </a:txBody>
                  <a:tcPr marL="54864" marR="54864" marT="18288" marB="18288">
                    <a:solidFill>
                      <a:srgbClr val="FFFFFF"/>
                    </a:solidFill>
                  </a:tcPr>
                </a:tc>
              </a:tr>
            </a:tbl>
          </a:graphicData>
        </a:graphic>
      </p:graphicFrame>
      <p:sp>
        <p:nvSpPr>
          <p:cNvPr id="5" name="TextBox 4"/>
          <p:cNvSpPr txBox="1"/>
          <p:nvPr/>
        </p:nvSpPr>
        <p:spPr>
          <a:xfrm>
            <a:off x="411480" y="4262247"/>
            <a:ext cx="11368735" cy="274320"/>
          </a:xfrm>
          <a:prstGeom prst="rect">
            <a:avLst/>
          </a:prstGeom>
          <a:noFill/>
        </p:spPr>
        <p:txBody>
          <a:bodyPr wrap="square">
            <a:spAutoFit/>
          </a:bodyPr>
          <a:lstStyle/>
          <a:p>
            <a:pPr>
              <a:spcAft>
                <a:spcPts val="600"/>
              </a:spcAft>
            </a:pPr>
            <a:r>
              <a:rPr sz="1050" b="0">
                <a:solidFill>
                  <a:srgbClr val="6E6E6E"/>
                </a:solidFill>
                <a:latin typeface="Arial"/>
              </a:rPr>
              <a:t>Run tags lens_deck_se2, lens_deck_se5, loop_lens_se2, loop_lens_cam, loop_lens_intra, tg_psi_dm, tg_psi_dm_v2.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Zernike readings that lost, and the fold</a:t>
            </a:r>
          </a:p>
          <a:p>
            <a:pPr>
              <a:spcAft>
                <a:spcPts val="0"/>
              </a:spcAft>
            </a:pPr>
            <a:r>
              <a:rPr sz="1250" b="0">
                <a:solidFill>
                  <a:srgbClr val="6E6E6E"/>
                </a:solidFill>
                <a:latin typeface="Arial"/>
              </a:rPr>
              <a:t>One frame is not enough: the linear reading imprints error under a slow drift, and the exact one-frame reading diverges once actuators sit past the quarter-wave fold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Linear, one frame:</a:t>
            </a:r>
            <a:r>
              <a:rPr sz="1200" b="0">
                <a:solidFill>
                  <a:srgbClr val="282828"/>
                </a:solidFill>
                <a:latin typeface="Arial"/>
              </a:rPr>
              <a:t> holds noise and walk like the stepped reading (2.1e12 / 7.3e12) but floors at 27.6 pm under the 5 pm ramp and is still creeping at cycle 60: a persistent low-order residual makes it imprint fine-scale error (26 pm above 12 cycles per aperture).</a:t>
            </a:r>
          </a:p>
          <a:p>
            <a:pPr>
              <a:spcAft>
                <a:spcPts val="600"/>
              </a:spcAft>
            </a:pPr>
            <a:r>
              <a:rPr sz="1200" b="0">
                <a:solidFill>
                  <a:srgbClr val="282828"/>
                </a:solidFill>
                <a:latin typeface="Arial"/>
              </a:rPr>
              <a:t>•  </a:t>
            </a:r>
            <a:r>
              <a:rPr sz="1200" b="1">
                <a:solidFill>
                  <a:srgbClr val="282828"/>
                </a:solidFill>
                <a:latin typeface="Arial"/>
              </a:rPr>
              <a:t>Exact, one frame with a sign prior:</a:t>
            </a:r>
            <a:r>
              <a:rPr sz="1200" b="0">
                <a:solidFill>
                  <a:srgbClr val="282828"/>
                </a:solidFill>
                <a:latin typeface="Arial"/>
              </a:rPr>
              <a:t> a 1 nm step grows to 99 nm in 60 cycles, 10 nm to 178 nm; the actuators whose footprint lies past the fold read with the wrong sign.</a:t>
            </a:r>
          </a:p>
          <a:p>
            <a:pPr>
              <a:spcAft>
                <a:spcPts val="600"/>
              </a:spcAft>
            </a:pPr>
            <a:r>
              <a:rPr sz="1200" b="0">
                <a:solidFill>
                  <a:srgbClr val="282828"/>
                </a:solidFill>
                <a:latin typeface="Arial"/>
              </a:rPr>
              <a:t>•  </a:t>
            </a:r>
            <a:r>
              <a:rPr sz="1200" b="1">
                <a:solidFill>
                  <a:srgbClr val="282828"/>
                </a:solidFill>
                <a:latin typeface="Arial"/>
              </a:rPr>
              <a:t>The fold:</a:t>
            </a:r>
            <a:r>
              <a:rPr sz="1200" b="0">
                <a:solidFill>
                  <a:srgbClr val="282828"/>
                </a:solidFill>
                <a:latin typeface="Arial"/>
              </a:rPr>
              <a:t> on the 30 nm surface 7.8% of pupil pixels sit past the quarter-wave fold (7.7 / 12.6 / 16.9 / 20.6% at 30 / 40 / 50 / 60 nm rms); a dense 10 nm change moves 3.3% of them across it.  The stepped reading and the vector pair have no fold.</a:t>
            </a:r>
          </a:p>
        </p:txBody>
      </p:sp>
      <p:pic>
        <p:nvPicPr>
          <p:cNvPr id="5" name="Picture 4" descr="crop_zwfs_loop193_left.png"/>
          <p:cNvPicPr>
            <a:picLocks noChangeAspect="1"/>
          </p:cNvPicPr>
          <p:nvPr/>
        </p:nvPicPr>
        <p:blipFill>
          <a:blip r:embed="rId2"/>
          <a:stretch>
            <a:fillRect/>
          </a:stretch>
        </p:blipFill>
        <p:spPr>
          <a:xfrm>
            <a:off x="7932362" y="1298448"/>
            <a:ext cx="2331835"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stepped Zernike servo: residual per cycle at four light levels, with the noiseless 1 nm step decaying to zero.</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loop193, fold_diag, matbase385.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point-diffraction trades</a:t>
            </a:r>
          </a:p>
          <a:p>
            <a:pPr>
              <a:spcAft>
                <a:spcPts val="0"/>
              </a:spcAft>
            </a:pPr>
            <a:r>
              <a:rPr sz="1250" b="0">
                <a:solidFill>
                  <a:srgbClr val="6E6E6E"/>
                </a:solidFill>
                <a:latin typeface="Arial"/>
              </a:rPr>
              <a:t>The pinhole diameter of record is 2.0 λF/D; the P/SRI's traced reference arm moves with the state by 0.05% of the figure and costs twice the light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3274695"/>
        </p:xfrm>
        <a:graphic>
          <a:graphicData uri="http://schemas.openxmlformats.org/drawingml/2006/table">
            <a:tbl>
              <a:tblPr firstRow="1" bandRow="1">
                <a:tableStyleId>{5C22544A-7EE6-4342-B048-85BDC9FD1C3A}</a:tableStyleId>
              </a:tblPr>
              <a:tblGrid>
                <a:gridCol w="2152949"/>
                <a:gridCol w="1043854"/>
                <a:gridCol w="2609635"/>
              </a:tblGrid>
              <a:tr h="468630">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2.0 λF/D pinhole</a:t>
                      </a:r>
                    </a:p>
                  </a:txBody>
                  <a:tcPr marL="54864" marR="54864" marT="18288" marB="18288">
                    <a:solidFill>
                      <a:srgbClr val="1F4E79"/>
                    </a:solidFill>
                  </a:tcPr>
                </a:tc>
                <a:tc>
                  <a:txBody>
                    <a:bodyPr wrap="square"/>
                    <a:lstStyle/>
                    <a:p>
                      <a:r>
                        <a:rPr sz="1100" b="1">
                          <a:solidFill>
                            <a:srgbClr val="FFFFFF"/>
                          </a:solidFill>
                          <a:latin typeface="Arial"/>
                        </a:rPr>
                        <a:t>1.0 λF/D pinhole</a:t>
                      </a:r>
                    </a:p>
                  </a:txBody>
                  <a:tcPr marL="54864" marR="54864" marT="18288" marB="18288">
                    <a:solidFill>
                      <a:srgbClr val="1F4E79"/>
                    </a:solidFill>
                  </a:tcPr>
                </a:tc>
              </a:tr>
              <a:tr h="280035">
                <a:tc>
                  <a:txBody>
                    <a:bodyPr wrap="square"/>
                    <a:lstStyle/>
                    <a:p>
                      <a:r>
                        <a:rPr sz="1100" b="0">
                          <a:solidFill>
                            <a:srgbClr val="282828"/>
                          </a:solidFill>
                          <a:latin typeface="Arial"/>
                        </a:rPr>
                        <a:t>diameter</a:t>
                      </a:r>
                    </a:p>
                  </a:txBody>
                  <a:tcPr marL="54864" marR="54864" marT="18288" marB="18288">
                    <a:solidFill>
                      <a:srgbClr val="FFFFFF"/>
                    </a:solidFill>
                  </a:tcPr>
                </a:tc>
                <a:tc>
                  <a:txBody>
                    <a:bodyPr wrap="square"/>
                    <a:lstStyle/>
                    <a:p>
                      <a:r>
                        <a:rPr sz="1100" b="0">
                          <a:solidFill>
                            <a:srgbClr val="282828"/>
                          </a:solidFill>
                          <a:latin typeface="Arial"/>
                        </a:rPr>
                        <a:t>5.27 µm</a:t>
                      </a:r>
                    </a:p>
                  </a:txBody>
                  <a:tcPr marL="54864" marR="54864" marT="18288" marB="18288">
                    <a:solidFill>
                      <a:srgbClr val="FFFFFF"/>
                    </a:solidFill>
                  </a:tcPr>
                </a:tc>
                <a:tc>
                  <a:txBody>
                    <a:bodyPr wrap="square"/>
                    <a:lstStyle/>
                    <a:p>
                      <a:r>
                        <a:rPr sz="1100" b="0">
                          <a:solidFill>
                            <a:srgbClr val="282828"/>
                          </a:solidFill>
                          <a:latin typeface="Arial"/>
                        </a:rPr>
                        <a:t>2.64 µm</a:t>
                      </a:r>
                    </a:p>
                  </a:txBody>
                  <a:tcPr marL="54864" marR="54864" marT="18288" marB="18288">
                    <a:solidFill>
                      <a:srgbClr val="FFFFFF"/>
                    </a:solidFill>
                  </a:tcPr>
                </a:tc>
              </a:tr>
              <a:tr h="468630">
                <a:tc>
                  <a:txBody>
                    <a:bodyPr wrap="square"/>
                    <a:lstStyle/>
                    <a:p>
                      <a:r>
                        <a:rPr sz="1100" b="0">
                          <a:solidFill>
                            <a:srgbClr val="282828"/>
                          </a:solidFill>
                          <a:latin typeface="Arial"/>
                        </a:rPr>
                        <a:t>surround transmission (amplitude)</a:t>
                      </a:r>
                    </a:p>
                  </a:txBody>
                  <a:tcPr marL="54864" marR="54864" marT="18288" marB="18288">
                    <a:solidFill>
                      <a:srgbClr val="ECF1F6"/>
                    </a:solidFill>
                  </a:tcPr>
                </a:tc>
                <a:tc>
                  <a:txBody>
                    <a:bodyPr wrap="square"/>
                    <a:lstStyle/>
                    <a:p>
                      <a:r>
                        <a:rPr sz="1100" b="0">
                          <a:solidFill>
                            <a:srgbClr val="282828"/>
                          </a:solidFill>
                          <a:latin typeface="Arial"/>
                        </a:rPr>
                        <a:t>0.72</a:t>
                      </a:r>
                    </a:p>
                  </a:txBody>
                  <a:tcPr marL="54864" marR="54864" marT="18288" marB="18288">
                    <a:solidFill>
                      <a:srgbClr val="ECF1F6"/>
                    </a:solidFill>
                  </a:tcPr>
                </a:tc>
                <a:tc>
                  <a:txBody>
                    <a:bodyPr wrap="square"/>
                    <a:lstStyle/>
                    <a:p>
                      <a:r>
                        <a:rPr sz="1100" b="0">
                          <a:solidFill>
                            <a:srgbClr val="282828"/>
                          </a:solidFill>
                          <a:latin typeface="Arial"/>
                        </a:rPr>
                        <a:t>0.28</a:t>
                      </a:r>
                    </a:p>
                  </a:txBody>
                  <a:tcPr marL="54864" marR="54864" marT="18288" marB="18288">
                    <a:solidFill>
                      <a:srgbClr val="ECF1F6"/>
                    </a:solidFill>
                  </a:tcPr>
                </a:tc>
              </a:tr>
              <a:tr h="280035">
                <a:tc>
                  <a:txBody>
                    <a:bodyPr wrap="square"/>
                    <a:lstStyle/>
                    <a:p>
                      <a:r>
                        <a:rPr sz="1100" b="0">
                          <a:solidFill>
                            <a:srgbClr val="282828"/>
                          </a:solidFill>
                          <a:latin typeface="Arial"/>
                        </a:rPr>
                        <a:t>throughput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0.29</a:t>
                      </a:r>
                    </a:p>
                  </a:txBody>
                  <a:tcPr marL="54864" marR="54864" marT="18288" marB="18288">
                    <a:solidFill>
                      <a:srgbClr val="FFFFFF"/>
                    </a:solidFill>
                  </a:tcPr>
                </a:tc>
              </a:tr>
              <a:tr h="468630">
                <a:tc>
                  <a:txBody>
                    <a:bodyPr wrap="square"/>
                    <a:lstStyle/>
                    <a:p>
                      <a:r>
                        <a:rPr sz="1100" b="0">
                          <a:solidFill>
                            <a:srgbClr val="282828"/>
                          </a:solidFill>
                          <a:latin typeface="Arial"/>
                        </a:rPr>
                        <a:t>pixels across at the mask</a:t>
                      </a:r>
                    </a:p>
                  </a:txBody>
                  <a:tcPr marL="54864" marR="54864" marT="18288" marB="18288">
                    <a:solidFill>
                      <a:srgbClr val="ECF1F6"/>
                    </a:solidFill>
                  </a:tcPr>
                </a:tc>
                <a:tc>
                  <a:txBody>
                    <a:bodyPr wrap="square"/>
                    <a:lstStyle/>
                    <a:p>
                      <a:r>
                        <a:rPr sz="1100" b="0">
                          <a:solidFill>
                            <a:srgbClr val="282828"/>
                          </a:solidFill>
                          <a:latin typeface="Arial"/>
                        </a:rPr>
                        <a:t>7.9</a:t>
                      </a:r>
                    </a:p>
                  </a:txBody>
                  <a:tcPr marL="54864" marR="54864" marT="18288" marB="18288">
                    <a:solidFill>
                      <a:srgbClr val="ECF1F6"/>
                    </a:solidFill>
                  </a:tcPr>
                </a:tc>
                <a:tc>
                  <a:txBody>
                    <a:bodyPr wrap="square"/>
                    <a:lstStyle/>
                    <a:p>
                      <a:r>
                        <a:rPr sz="1100" b="0">
                          <a:solidFill>
                            <a:srgbClr val="282828"/>
                          </a:solidFill>
                          <a:latin typeface="Arial"/>
                        </a:rPr>
                        <a:t>4.0 (below the 6 the sampling rule asks)</a:t>
                      </a:r>
                    </a:p>
                  </a:txBody>
                  <a:tcPr marL="54864" marR="54864" marT="18288" marB="18288">
                    <a:solidFill>
                      <a:srgbClr val="ECF1F6"/>
                    </a:solidFill>
                  </a:tcPr>
                </a:tc>
              </a:tr>
              <a:tr h="280035">
                <a:tc>
                  <a:txBody>
                    <a:bodyPr wrap="square"/>
                    <a:lstStyle/>
                    <a:p>
                      <a:r>
                        <a:rPr sz="1100" b="0">
                          <a:solidFill>
                            <a:srgbClr val="282828"/>
                          </a:solidFill>
                          <a:latin typeface="Arial"/>
                        </a:rPr>
                        <a:t>10 nm on one actuator</a:t>
                      </a:r>
                    </a:p>
                  </a:txBody>
                  <a:tcPr marL="54864" marR="54864" marT="18288" marB="18288">
                    <a:solidFill>
                      <a:srgbClr val="FFFFFF"/>
                    </a:solidFill>
                  </a:tcPr>
                </a:tc>
                <a:tc>
                  <a:txBody>
                    <a:bodyPr wrap="square"/>
                    <a:lstStyle/>
                    <a:p>
                      <a:r>
                        <a:rPr sz="1100" b="0">
                          <a:solidFill>
                            <a:srgbClr val="282828"/>
                          </a:solidFill>
                          <a:latin typeface="Arial"/>
                        </a:rPr>
                        <a:t>0.9935 / 4 pm</a:t>
                      </a:r>
                    </a:p>
                  </a:txBody>
                  <a:tcPr marL="54864" marR="54864" marT="18288" marB="18288">
                    <a:solidFill>
                      <a:srgbClr val="FFFFFF"/>
                    </a:solidFill>
                  </a:tcPr>
                </a:tc>
                <a:tc>
                  <a:txBody>
                    <a:bodyPr wrap="square"/>
                    <a:lstStyle/>
                    <a:p>
                      <a:r>
                        <a:rPr sz="1100" b="0">
                          <a:solidFill>
                            <a:srgbClr val="282828"/>
                          </a:solidFill>
                          <a:latin typeface="Arial"/>
                        </a:rPr>
                        <a:t>0.9937 / 4 pm</a:t>
                      </a:r>
                    </a:p>
                  </a:txBody>
                  <a:tcPr marL="54864" marR="54864" marT="18288" marB="18288">
                    <a:solidFill>
                      <a:srgbClr val="FFFFFF"/>
                    </a:solidFill>
                  </a:tcPr>
                </a:tc>
              </a:tr>
              <a:tr h="280035">
                <a:tc>
                  <a:txBody>
                    <a:bodyPr wrap="square"/>
                    <a:lstStyle/>
                    <a:p>
                      <a:r>
                        <a:rPr sz="1100" b="0">
                          <a:solidFill>
                            <a:srgbClr val="282828"/>
                          </a:solidFill>
                          <a:latin typeface="Arial"/>
                        </a:rPr>
                        <a:t>capture range, no shutter</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c>
                  <a:txBody>
                    <a:bodyPr wrap="square"/>
                    <a:lstStyle/>
                    <a:p>
                      <a:r>
                        <a:rPr sz="1100" b="0">
                          <a:solidFill>
                            <a:srgbClr val="282828"/>
                          </a:solidFill>
                          <a:latin typeface="Arial"/>
                        </a:rPr>
                        <a:t>120 nm and beyond</a:t>
                      </a:r>
                    </a:p>
                  </a:txBody>
                  <a:tcPr marL="54864" marR="54864" marT="18288" marB="18288">
                    <a:solidFill>
                      <a:srgbClr val="ECF1F6"/>
                    </a:solidFill>
                  </a:tcPr>
                </a:tc>
              </a:tr>
              <a:tr h="468630">
                <a:tc>
                  <a:txBody>
                    <a:bodyPr wrap="square"/>
                    <a:lstStyle/>
                    <a:p>
                      <a:r>
                        <a:rPr sz="1100" b="0">
                          <a:solidFill>
                            <a:srgbClr val="282828"/>
                          </a:solidFill>
                          <a:latin typeface="Arial"/>
                        </a:rPr>
                        <a:t>photons for 1 pm on the surface</a:t>
                      </a:r>
                    </a:p>
                  </a:txBody>
                  <a:tcPr marL="54864" marR="54864" marT="18288" marB="18288">
                    <a:solidFill>
                      <a:srgbClr val="FFFFFF"/>
                    </a:solidFill>
                  </a:tcPr>
                </a:tc>
                <a:tc>
                  <a:txBody>
                    <a:bodyPr wrap="square"/>
                    <a:lstStyle/>
                    <a:p>
                      <a:r>
                        <a:rPr sz="1100" b="0">
                          <a:solidFill>
                            <a:srgbClr val="282828"/>
                          </a:solidFill>
                          <a:latin typeface="Arial"/>
                        </a:rPr>
                        <a:t>9.8e13</a:t>
                      </a:r>
                    </a:p>
                  </a:txBody>
                  <a:tcPr marL="54864" marR="54864" marT="18288" marB="18288">
                    <a:solidFill>
                      <a:srgbClr val="FFFFFF"/>
                    </a:solidFill>
                  </a:tcPr>
                </a:tc>
                <a:tc>
                  <a:txBody>
                    <a:bodyPr wrap="square"/>
                    <a:lstStyle/>
                    <a:p>
                      <a:r>
                        <a:rPr sz="1100" b="0">
                          <a:solidFill>
                            <a:srgbClr val="282828"/>
                          </a:solidFill>
                          <a:latin typeface="Arial"/>
                        </a:rPr>
                        <a:t>2.1e14</a:t>
                      </a:r>
                    </a:p>
                  </a:txBody>
                  <a:tcPr marL="54864" marR="54864" marT="18288" marB="18288">
                    <a:solidFill>
                      <a:srgbClr val="FFFFFF"/>
                    </a:solidFill>
                  </a:tcPr>
                </a:tc>
              </a:tr>
              <a:tr h="280035">
                <a:tc>
                  <a:txBody>
                    <a:bodyPr wrap="square"/>
                    <a:lstStyle/>
                    <a:p>
                      <a:r>
                        <a:rPr sz="1100" b="0">
                          <a:solidFill>
                            <a:srgbClr val="282828"/>
                          </a:solidFill>
                          <a:latin typeface="Arial"/>
                        </a:rPr>
                        <a:t>3 pm under the walk</a:t>
                      </a:r>
                    </a:p>
                  </a:txBody>
                  <a:tcPr marL="54864" marR="54864" marT="18288" marB="18288">
                    <a:solidFill>
                      <a:srgbClr val="ECF1F6"/>
                    </a:solidFill>
                  </a:tcPr>
                </a:tc>
                <a:tc>
                  <a:txBody>
                    <a:bodyPr wrap="square"/>
                    <a:lstStyle/>
                    <a:p>
                      <a:r>
                        <a:rPr sz="1100" b="0">
                          <a:solidFill>
                            <a:srgbClr val="282828"/>
                          </a:solidFill>
                          <a:latin typeface="Arial"/>
                        </a:rPr>
                        <a:t>below 1e13</a:t>
                      </a:r>
                    </a:p>
                  </a:txBody>
                  <a:tcPr marL="54864" marR="54864" marT="18288" marB="18288">
                    <a:solidFill>
                      <a:srgbClr val="ECF1F6"/>
                    </a:solidFill>
                  </a:tcPr>
                </a:tc>
                <a:tc>
                  <a:txBody>
                    <a:bodyPr wrap="square"/>
                    <a:lstStyle/>
                    <a:p>
                      <a:r>
                        <a:rPr sz="1100" b="0">
                          <a:solidFill>
                            <a:srgbClr val="282828"/>
                          </a:solidFill>
                          <a:latin typeface="Arial"/>
                        </a:rPr>
                        <a:t>3.6e13</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range the small pinhole buys, the shutter frame gives free</a:t>
            </a:r>
            <a:r>
              <a:rPr sz="1200" b="0">
                <a:solidFill>
                  <a:srgbClr val="282828"/>
                </a:solidFill>
                <a:latin typeface="Arial"/>
              </a:rPr>
              <a:t> at the large one's throughput: 1.02 / 1.06 / 1.13 at 120 / 240 / 480 nm.</a:t>
            </a:r>
          </a:p>
          <a:p>
            <a:pPr>
              <a:spcAft>
                <a:spcPts val="600"/>
              </a:spcAft>
            </a:pPr>
            <a:r>
              <a:rPr sz="1200" b="0">
                <a:solidFill>
                  <a:srgbClr val="282828"/>
                </a:solidFill>
                <a:latin typeface="Arial"/>
              </a:rPr>
              <a:t>•  </a:t>
            </a:r>
            <a:r>
              <a:rPr sz="1200" b="1">
                <a:solidFill>
                  <a:srgbClr val="282828"/>
                </a:solidFill>
                <a:latin typeface="Arial"/>
              </a:rPr>
              <a:t>The P/SRI</a:t>
            </a:r>
            <a:r>
              <a:rPr sz="1200" b="0">
                <a:solidFill>
                  <a:srgbClr val="282828"/>
                </a:solidFill>
                <a:latin typeface="Arial"/>
              </a:rPr>
              <a:t> (pickoff plate 60/40, a 300 mm F/2.9 reference lens, a 3.7 µm pinhole feeding a single-mode waveguide with a thermo-optic phase shifter, a mirrored second lens, folds, a 21.9 mm compensator, a 50/50 recombiner): balanced to zero path difference in the trace.  Its reference moving with the state costs 5.9 pm absolute on a 13 nm figure and 12% on the dense floor; frozen, 0.000.</a:t>
            </a:r>
          </a:p>
          <a:p>
            <a:pPr>
              <a:spcAft>
                <a:spcPts val="600"/>
              </a:spcAft>
            </a:pPr>
            <a:r>
              <a:rPr sz="1200" b="0">
                <a:solidFill>
                  <a:srgbClr val="282828"/>
                </a:solidFill>
                <a:latin typeface="Arial"/>
              </a:rPr>
              <a:t>•  </a:t>
            </a:r>
            <a:r>
              <a:rPr sz="1200" b="1">
                <a:solidFill>
                  <a:srgbClr val="282828"/>
                </a:solidFill>
                <a:latin typeface="Arial"/>
              </a:rPr>
              <a:t>Five frames beat four:</a:t>
            </a:r>
            <a:r>
              <a:rPr sz="1200" b="0">
                <a:solidFill>
                  <a:srgbClr val="282828"/>
                </a:solidFill>
                <a:latin typeface="Arial"/>
              </a:rPr>
              <a:t> a 2% step error reads 4.9 pm (pinhole) and 2.2 pm (P/SRI) with the Schwider-Hariharan scan against 421 and 251 pm with four-step least squares.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pin20_1024, pin10_2048, pin20_loop, pin10_loop, pfdeck, pfdeck_frz, pdi193se_sh5, pdi193se_ls; layouts psri_layout.png and psri_render.png in pdi_dm96.</a:t>
            </a:r>
          </a:p>
        </p:txBody>
      </p:sp>
      <p:sp>
        <p:nvSpPr>
          <p:cNvPr id="7" name="TextBox 6"/>
          <p:cNvSpPr txBox="1"/>
          <p:nvPr/>
        </p:nvSpPr>
        <p:spPr>
          <a:xfrm>
            <a:off x="6400800" y="4458462"/>
            <a:ext cx="5394960" cy="274320"/>
          </a:xfrm>
          <a:prstGeom prst="rect">
            <a:avLst/>
          </a:prstGeom>
          <a:noFill/>
        </p:spPr>
        <p:txBody>
          <a:bodyPr wrap="square">
            <a:spAutoFit/>
          </a:bodyPr>
          <a:lstStyle/>
          <a:p>
            <a:pPr>
              <a:spcAft>
                <a:spcPts val="600"/>
              </a:spcAft>
            </a:pPr>
            <a:r>
              <a:rPr sz="1050" b="0">
                <a:solidFill>
                  <a:srgbClr val="6E6E6E"/>
                </a:solidFill>
                <a:latin typeface="Arial"/>
              </a:rPr>
              <a:t>P/SRI parts (9): a 60/40 pickoff plate; two f 300 mm F/2.9 lenses; a 3.7 µm pinhole into a single-mode waveguide with a thermo-optic phase shifter; two 150 mm protected-metal folds; a 50/50 recombiner; camera C (sCMOS).  Its photonic reference is modeled as the recollimated LP01 mode of a single-mode fiber (pickoff fraction, coupling and phase-step miscalibration priced); the waveguide's own loss, dispersion and thermal drift are not yet in these numbers.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Drift within a measurement</a:t>
            </a:r>
          </a:p>
          <a:p>
            <a:pPr>
              <a:spcAft>
                <a:spcPts val="0"/>
              </a:spcAft>
            </a:pPr>
            <a:r>
              <a:rPr sz="1250" b="0">
                <a:solidFill>
                  <a:srgbClr val="6E6E6E"/>
                </a:solidFill>
                <a:latin typeface="Arial"/>
              </a:rPr>
              <a:t>A mirror that drifts during a stepped scan helps the stepped readings; a camera that drifts during the scan hurts them; the simultaneous readings see neither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1680210"/>
        </p:xfrm>
        <a:graphic>
          <a:graphicData uri="http://schemas.openxmlformats.org/drawingml/2006/table">
            <a:tbl>
              <a:tblPr firstRow="1" bandRow="1">
                <a:tableStyleId>{5C22544A-7EE6-4342-B048-85BDC9FD1C3A}</a:tableStyleId>
              </a:tblPr>
              <a:tblGrid>
                <a:gridCol w="3208822"/>
                <a:gridCol w="534803"/>
                <a:gridCol w="534803"/>
                <a:gridCol w="458403"/>
                <a:gridCol w="534803"/>
                <a:gridCol w="534803"/>
              </a:tblGrid>
              <a:tr h="280035">
                <a:tc>
                  <a:txBody>
                    <a:bodyPr wrap="square"/>
                    <a:lstStyle/>
                    <a:p>
                      <a:r>
                        <a:rPr sz="1100" b="1">
                          <a:solidFill>
                            <a:srgbClr val="FFFFFF"/>
                          </a:solidFill>
                          <a:latin typeface="Arial"/>
                        </a:rPr>
                        <a:t>hold error at 1e15 photons per cycle</a:t>
                      </a:r>
                    </a:p>
                  </a:txBody>
                  <a:tcPr marL="54864" marR="54864" marT="18288" marB="18288">
                    <a:solidFill>
                      <a:srgbClr val="1F4E79"/>
                    </a:solidFill>
                  </a:tcPr>
                </a:tc>
                <a:tc>
                  <a:txBody>
                    <a:bodyPr wrap="square"/>
                    <a:lstStyle/>
                    <a:p>
                      <a:r>
                        <a:rPr sz="1100" b="1">
                          <a:solidFill>
                            <a:srgbClr val="FFFFFF"/>
                          </a:solidFill>
                          <a:latin typeface="Arial"/>
                        </a:rPr>
                        <a:t>linear</a:t>
                      </a:r>
                    </a:p>
                  </a:txBody>
                  <a:tcPr marL="54864" marR="54864" marT="18288" marB="18288">
                    <a:solidFill>
                      <a:srgbClr val="1F4E79"/>
                    </a:solidFill>
                  </a:tcPr>
                </a:tc>
                <a:tc>
                  <a:txBody>
                    <a:bodyPr wrap="square"/>
                    <a:lstStyle/>
                    <a:p>
                      <a:r>
                        <a:rPr sz="1100" b="1">
                          <a:solidFill>
                            <a:srgbClr val="FFFFFF"/>
                          </a:solidFill>
                          <a:latin typeface="Arial"/>
                        </a:rPr>
                        <a:t>stepped</a:t>
                      </a:r>
                    </a:p>
                  </a:txBody>
                  <a:tcPr marL="54864" marR="54864" marT="18288" marB="18288">
                    <a:solidFill>
                      <a:srgbClr val="1F4E79"/>
                    </a:solidFill>
                  </a:tcPr>
                </a:tc>
                <a:tc>
                  <a:txBody>
                    <a:bodyPr wrap="square"/>
                    <a:lstStyle/>
                    <a:p>
                      <a:r>
                        <a:rPr sz="1100" b="1">
                          <a:solidFill>
                            <a:srgbClr val="FFFFFF"/>
                          </a:solidFill>
                          <a:latin typeface="Arial"/>
                        </a:rPr>
                        <a:t>vector</a:t>
                      </a:r>
                    </a:p>
                  </a:txBody>
                  <a:tcPr marL="54864" marR="54864" marT="18288" marB="18288">
                    <a:solidFill>
                      <a:srgbClr val="1F4E79"/>
                    </a:solidFill>
                  </a:tcPr>
                </a:tc>
                <a:tc>
                  <a:txBody>
                    <a:bodyPr wrap="square"/>
                    <a:lstStyle/>
                    <a:p>
                      <a:r>
                        <a:rPr sz="1100" b="1">
                          <a:solidFill>
                            <a:srgbClr val="FFFFFF"/>
                          </a:solidFill>
                          <a:latin typeface="Arial"/>
                        </a:rPr>
                        <a:t>pinhole</a:t>
                      </a:r>
                    </a:p>
                  </a:txBody>
                  <a:tcPr marL="54864" marR="54864" marT="18288" marB="18288">
                    <a:solidFill>
                      <a:srgbClr val="1F4E79"/>
                    </a:solidFill>
                  </a:tcPr>
                </a:tc>
                <a:tc>
                  <a:txBody>
                    <a:bodyPr wrap="square"/>
                    <a:lstStyle/>
                    <a:p>
                      <a:r>
                        <a:rPr sz="1100" b="1">
                          <a:solidFill>
                            <a:srgbClr val="FFFFFF"/>
                          </a:solidFill>
                          <a:latin typeface="Arial"/>
                        </a:rPr>
                        <a:t>P/SRI</a:t>
                      </a:r>
                    </a:p>
                  </a:txBody>
                  <a:tcPr marL="54864" marR="54864" marT="18288" marB="18288">
                    <a:solidFill>
                      <a:srgbClr val="1F4E79"/>
                    </a:solidFill>
                  </a:tcPr>
                </a:tc>
              </a:tr>
              <a:tr h="280035">
                <a:tc>
                  <a:txBody>
                    <a:bodyPr wrap="square"/>
                    <a:lstStyle/>
                    <a:p>
                      <a:r>
                        <a:rPr sz="1100" b="0">
                          <a:solidFill>
                            <a:srgbClr val="282828"/>
                          </a:solidFill>
                          <a:latin typeface="Arial"/>
                        </a:rPr>
                        <a:t>2 pm walk, mirror still during a scan</a:t>
                      </a:r>
                    </a:p>
                  </a:txBody>
                  <a:tcPr marL="54864" marR="54864" marT="18288" marB="18288">
                    <a:solidFill>
                      <a:srgbClr val="FFFFFF"/>
                    </a:solidFill>
                  </a:tcPr>
                </a:tc>
                <a:tc>
                  <a:txBody>
                    <a:bodyPr wrap="square"/>
                    <a:lstStyle/>
                    <a:p>
                      <a:r>
                        <a:rPr sz="1100" b="0">
                          <a:solidFill>
                            <a:srgbClr val="282828"/>
                          </a:solidFill>
                          <a:latin typeface="Arial"/>
                        </a:rPr>
                        <a:t>2.38</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2.33 pm</a:t>
                      </a:r>
                    </a:p>
                  </a:txBody>
                  <a:tcPr marL="54864" marR="54864" marT="18288" marB="18288">
                    <a:solidFill>
                      <a:srgbClr val="FFFFFF"/>
                    </a:solidFill>
                  </a:tcPr>
                </a:tc>
              </a:tr>
              <a:tr h="280035">
                <a:tc>
                  <a:txBody>
                    <a:bodyPr wrap="square"/>
                    <a:lstStyle/>
                    <a:p>
                      <a:r>
                        <a:rPr sz="1100" b="0">
                          <a:solidFill>
                            <a:srgbClr val="282828"/>
                          </a:solidFill>
                          <a:latin typeface="Arial"/>
                        </a:rPr>
                        <a:t>2 pm walk, mirror drifting across the scan</a:t>
                      </a:r>
                    </a:p>
                  </a:txBody>
                  <a:tcPr marL="54864" marR="54864" marT="18288" marB="18288">
                    <a:solidFill>
                      <a:srgbClr val="ECF1F6"/>
                    </a:solidFill>
                  </a:tcPr>
                </a:tc>
                <a:tc>
                  <a:txBody>
                    <a:bodyPr wrap="square"/>
                    <a:lstStyle/>
                    <a:p>
                      <a:r>
                        <a:rPr sz="1100" b="0">
                          <a:solidFill>
                            <a:srgbClr val="282828"/>
                          </a:solidFill>
                          <a:latin typeface="Arial"/>
                        </a:rPr>
                        <a:t>2.38</a:t>
                      </a:r>
                    </a:p>
                  </a:txBody>
                  <a:tcPr marL="54864" marR="54864" marT="18288" marB="18288">
                    <a:solidFill>
                      <a:srgbClr val="ECF1F6"/>
                    </a:solidFill>
                  </a:tcPr>
                </a:tc>
                <a:tc>
                  <a:txBody>
                    <a:bodyPr wrap="square"/>
                    <a:lstStyle/>
                    <a:p>
                      <a:r>
                        <a:rPr sz="1100" b="0">
                          <a:solidFill>
                            <a:srgbClr val="282828"/>
                          </a:solidFill>
                          <a:latin typeface="Arial"/>
                        </a:rPr>
                        <a:t>1.57</a:t>
                      </a:r>
                    </a:p>
                  </a:txBody>
                  <a:tcPr marL="54864" marR="54864" marT="18288" marB="18288">
                    <a:solidFill>
                      <a:srgbClr val="ECF1F6"/>
                    </a:solidFill>
                  </a:tcPr>
                </a:tc>
                <a:tc>
                  <a:txBody>
                    <a:bodyPr wrap="square"/>
                    <a:lstStyle/>
                    <a:p>
                      <a:r>
                        <a:rPr sz="1100" b="0">
                          <a:solidFill>
                            <a:srgbClr val="282828"/>
                          </a:solidFill>
                          <a:latin typeface="Arial"/>
                        </a:rPr>
                        <a:t>2.32</a:t>
                      </a:r>
                    </a:p>
                  </a:txBody>
                  <a:tcPr marL="54864" marR="54864" marT="18288" marB="18288">
                    <a:solidFill>
                      <a:srgbClr val="ECF1F6"/>
                    </a:solidFill>
                  </a:tcPr>
                </a:tc>
                <a:tc>
                  <a:txBody>
                    <a:bodyPr wrap="square"/>
                    <a:lstStyle/>
                    <a:p>
                      <a:r>
                        <a:rPr sz="1100" b="0">
                          <a:solidFill>
                            <a:srgbClr val="282828"/>
                          </a:solidFill>
                          <a:latin typeface="Arial"/>
                        </a:rPr>
                        <a:t>1.58</a:t>
                      </a:r>
                    </a:p>
                  </a:txBody>
                  <a:tcPr marL="54864" marR="54864" marT="18288" marB="18288">
                    <a:solidFill>
                      <a:srgbClr val="ECF1F6"/>
                    </a:solidFill>
                  </a:tcPr>
                </a:tc>
                <a:tc>
                  <a:txBody>
                    <a:bodyPr wrap="square"/>
                    <a:lstStyle/>
                    <a:p>
                      <a:r>
                        <a:rPr sz="1100" b="0">
                          <a:solidFill>
                            <a:srgbClr val="282828"/>
                          </a:solidFill>
                          <a:latin typeface="Arial"/>
                        </a:rPr>
                        <a:t>1.71 pm</a:t>
                      </a:r>
                    </a:p>
                  </a:txBody>
                  <a:tcPr marL="54864" marR="54864" marT="18288" marB="18288">
                    <a:solidFill>
                      <a:srgbClr val="ECF1F6"/>
                    </a:solidFill>
                  </a:tcPr>
                </a:tc>
              </a:tr>
              <a:tr h="280035">
                <a:tc>
                  <a:txBody>
                    <a:bodyPr wrap="square"/>
                    <a:lstStyle/>
                    <a:p>
                      <a:r>
                        <a:rPr sz="1100" b="0">
                          <a:solidFill>
                            <a:srgbClr val="282828"/>
                          </a:solidFill>
                          <a:latin typeface="Arial"/>
                        </a:rPr>
                        <a:t>5 pm ramp, mirror still</a:t>
                      </a:r>
                    </a:p>
                  </a:txBody>
                  <a:tcPr marL="54864" marR="54864" marT="18288" marB="18288">
                    <a:solidFill>
                      <a:srgbClr val="FFFFFF"/>
                    </a:solidFill>
                  </a:tcPr>
                </a:tc>
                <a:tc>
                  <a:txBody>
                    <a:bodyPr wrap="square"/>
                    <a:lstStyle/>
                    <a:p>
                      <a:r>
                        <a:rPr sz="1100" b="0">
                          <a:solidFill>
                            <a:srgbClr val="282828"/>
                          </a:solidFill>
                          <a:latin typeface="Arial"/>
                        </a:rPr>
                        <a:t>27.6</a:t>
                      </a:r>
                    </a:p>
                  </a:txBody>
                  <a:tcPr marL="54864" marR="54864" marT="18288" marB="18288">
                    <a:solidFill>
                      <a:srgbClr val="FFFFFF"/>
                    </a:solidFill>
                  </a:tcPr>
                </a:tc>
                <a:tc>
                  <a:txBody>
                    <a:bodyPr wrap="square"/>
                    <a:lstStyle/>
                    <a:p>
                      <a:r>
                        <a:rPr sz="1100" b="0">
                          <a:solidFill>
                            <a:srgbClr val="282828"/>
                          </a:solidFill>
                          <a:latin typeface="Arial"/>
                        </a:rPr>
                        <a:t>10.05</a:t>
                      </a:r>
                    </a:p>
                  </a:txBody>
                  <a:tcPr marL="54864" marR="54864" marT="18288" marB="18288">
                    <a:solidFill>
                      <a:srgbClr val="FFFFFF"/>
                    </a:solidFill>
                  </a:tcPr>
                </a:tc>
                <a:tc>
                  <a:txBody>
                    <a:bodyPr wrap="square"/>
                    <a:lstStyle/>
                    <a:p>
                      <a:r>
                        <a:rPr sz="1100" b="0">
                          <a:solidFill>
                            <a:srgbClr val="282828"/>
                          </a:solidFill>
                          <a:latin typeface="Arial"/>
                        </a:rPr>
                        <a:t>9.87</a:t>
                      </a:r>
                    </a:p>
                  </a:txBody>
                  <a:tcPr marL="54864" marR="54864" marT="18288" marB="18288">
                    <a:solidFill>
                      <a:srgbClr val="FFFFFF"/>
                    </a:solidFill>
                  </a:tcPr>
                </a:tc>
                <a:tc>
                  <a:txBody>
                    <a:bodyPr wrap="square"/>
                    <a:lstStyle/>
                    <a:p>
                      <a:r>
                        <a:rPr sz="1100" b="0">
                          <a:solidFill>
                            <a:srgbClr val="282828"/>
                          </a:solidFill>
                          <a:latin typeface="Arial"/>
                        </a:rPr>
                        <a:t>9.86</a:t>
                      </a:r>
                    </a:p>
                  </a:txBody>
                  <a:tcPr marL="54864" marR="54864" marT="18288" marB="18288">
                    <a:solidFill>
                      <a:srgbClr val="FFFFFF"/>
                    </a:solidFill>
                  </a:tcPr>
                </a:tc>
                <a:tc>
                  <a:txBody>
                    <a:bodyPr wrap="square"/>
                    <a:lstStyle/>
                    <a:p>
                      <a:r>
                        <a:rPr sz="1100" b="0">
                          <a:solidFill>
                            <a:srgbClr val="282828"/>
                          </a:solidFill>
                          <a:latin typeface="Arial"/>
                        </a:rPr>
                        <a:t>9.88 pm</a:t>
                      </a:r>
                    </a:p>
                  </a:txBody>
                  <a:tcPr marL="54864" marR="54864" marT="18288" marB="18288">
                    <a:solidFill>
                      <a:srgbClr val="FFFFFF"/>
                    </a:solidFill>
                  </a:tcPr>
                </a:tc>
              </a:tr>
              <a:tr h="280035">
                <a:tc>
                  <a:txBody>
                    <a:bodyPr wrap="square"/>
                    <a:lstStyle/>
                    <a:p>
                      <a:r>
                        <a:rPr sz="1100" b="0">
                          <a:solidFill>
                            <a:srgbClr val="282828"/>
                          </a:solidFill>
                          <a:latin typeface="Arial"/>
                        </a:rPr>
                        <a:t>5 pm ramp, drifting across the scan</a:t>
                      </a:r>
                    </a:p>
                  </a:txBody>
                  <a:tcPr marL="54864" marR="54864" marT="18288" marB="18288">
                    <a:solidFill>
                      <a:srgbClr val="ECF1F6"/>
                    </a:solidFill>
                  </a:tcPr>
                </a:tc>
                <a:tc>
                  <a:txBody>
                    <a:bodyPr wrap="square"/>
                    <a:lstStyle/>
                    <a:p>
                      <a:r>
                        <a:rPr sz="1100" b="0">
                          <a:solidFill>
                            <a:srgbClr val="282828"/>
                          </a:solidFill>
                          <a:latin typeface="Arial"/>
                        </a:rPr>
                        <a:t>27.6</a:t>
                      </a:r>
                    </a:p>
                  </a:txBody>
                  <a:tcPr marL="54864" marR="54864" marT="18288" marB="18288">
                    <a:solidFill>
                      <a:srgbClr val="ECF1F6"/>
                    </a:solidFill>
                  </a:tcPr>
                </a:tc>
                <a:tc>
                  <a:txBody>
                    <a:bodyPr wrap="square"/>
                    <a:lstStyle/>
                    <a:p>
                      <a:r>
                        <a:rPr sz="1100" b="0">
                          <a:solidFill>
                            <a:srgbClr val="282828"/>
                          </a:solidFill>
                          <a:latin typeface="Arial"/>
                        </a:rPr>
                        <a:t>7.16</a:t>
                      </a:r>
                    </a:p>
                  </a:txBody>
                  <a:tcPr marL="54864" marR="54864" marT="18288" marB="18288">
                    <a:solidFill>
                      <a:srgbClr val="ECF1F6"/>
                    </a:solidFill>
                  </a:tcPr>
                </a:tc>
                <a:tc>
                  <a:txBody>
                    <a:bodyPr wrap="square"/>
                    <a:lstStyle/>
                    <a:p>
                      <a:r>
                        <a:rPr sz="1100" b="0">
                          <a:solidFill>
                            <a:srgbClr val="282828"/>
                          </a:solidFill>
                          <a:latin typeface="Arial"/>
                        </a:rPr>
                        <a:t>9.87</a:t>
                      </a:r>
                    </a:p>
                  </a:txBody>
                  <a:tcPr marL="54864" marR="54864" marT="18288" marB="18288">
                    <a:solidFill>
                      <a:srgbClr val="ECF1F6"/>
                    </a:solidFill>
                  </a:tcPr>
                </a:tc>
                <a:tc>
                  <a:txBody>
                    <a:bodyPr wrap="square"/>
                    <a:lstStyle/>
                    <a:p>
                      <a:r>
                        <a:rPr sz="1100" b="0">
                          <a:solidFill>
                            <a:srgbClr val="282828"/>
                          </a:solidFill>
                          <a:latin typeface="Arial"/>
                        </a:rPr>
                        <a:t>6.70</a:t>
                      </a:r>
                    </a:p>
                  </a:txBody>
                  <a:tcPr marL="54864" marR="54864" marT="18288" marB="18288">
                    <a:solidFill>
                      <a:srgbClr val="ECF1F6"/>
                    </a:solidFill>
                  </a:tcPr>
                </a:tc>
                <a:tc>
                  <a:txBody>
                    <a:bodyPr wrap="square"/>
                    <a:lstStyle/>
                    <a:p>
                      <a:r>
                        <a:rPr sz="1100" b="0">
                          <a:solidFill>
                            <a:srgbClr val="282828"/>
                          </a:solidFill>
                          <a:latin typeface="Arial"/>
                        </a:rPr>
                        <a:t>7.30 pm</a:t>
                      </a:r>
                    </a:p>
                  </a:txBody>
                  <a:tcPr marL="54864" marR="54864" marT="18288" marB="18288">
                    <a:solidFill>
                      <a:srgbClr val="ECF1F6"/>
                    </a:solidFill>
                  </a:tcPr>
                </a:tc>
              </a:tr>
              <a:tr h="280035">
                <a:tc>
                  <a:txBody>
                    <a:bodyPr wrap="square"/>
                    <a:lstStyle/>
                    <a:p>
                      <a:r>
                        <a:rPr sz="1100" b="0">
                          <a:solidFill>
                            <a:srgbClr val="282828"/>
                          </a:solidFill>
                          <a:latin typeface="Arial"/>
                        </a:rPr>
                        <a:t>camera scale drifting 1e-3 across the scan</a:t>
                      </a:r>
                    </a:p>
                  </a:txBody>
                  <a:tcPr marL="54864" marR="54864" marT="18288" marB="18288">
                    <a:solidFill>
                      <a:srgbClr val="FFFFFF"/>
                    </a:solidFill>
                  </a:tcPr>
                </a:tc>
                <a:tc>
                  <a:txBody>
                    <a:bodyPr wrap="square"/>
                    <a:lstStyle/>
                    <a:p>
                      <a:r>
                        <a:rPr sz="1100" b="0">
                          <a:solidFill>
                            <a:srgbClr val="282828"/>
                          </a:solidFill>
                          <a:latin typeface="Arial"/>
                        </a:rPr>
                        <a:t>10.8 nm</a:t>
                      </a:r>
                    </a:p>
                  </a:txBody>
                  <a:tcPr marL="54864" marR="54864" marT="18288" marB="18288">
                    <a:solidFill>
                      <a:srgbClr val="FFFFFF"/>
                    </a:solidFill>
                  </a:tcPr>
                </a:tc>
                <a:tc>
                  <a:txBody>
                    <a:bodyPr wrap="square"/>
                    <a:lstStyle/>
                    <a:p>
                      <a:r>
                        <a:rPr sz="1100" b="0">
                          <a:solidFill>
                            <a:srgbClr val="282828"/>
                          </a:solidFill>
                          <a:latin typeface="Arial"/>
                        </a:rPr>
                        <a:t>5.4</a:t>
                      </a:r>
                    </a:p>
                  </a:txBody>
                  <a:tcPr marL="54864" marR="54864" marT="18288" marB="18288">
                    <a:solidFill>
                      <a:srgbClr val="FFFFFF"/>
                    </a:solidFill>
                  </a:tcPr>
                </a:tc>
                <a:tc>
                  <a:txBody>
                    <a:bodyPr wrap="square"/>
                    <a:lstStyle/>
                    <a:p>
                      <a:r>
                        <a:rPr sz="1100" b="0">
                          <a:solidFill>
                            <a:srgbClr val="282828"/>
                          </a:solidFill>
                          <a:latin typeface="Arial"/>
                        </a:rPr>
                        <a:t>89 pm</a:t>
                      </a:r>
                    </a:p>
                  </a:txBody>
                  <a:tcPr marL="54864" marR="54864" marT="18288" marB="18288">
                    <a:solidFill>
                      <a:srgbClr val="FFFFFF"/>
                    </a:solidFill>
                  </a:tcPr>
                </a:tc>
                <a:tc>
                  <a:txBody>
                    <a:bodyPr wrap="square"/>
                    <a:lstStyle/>
                    <a:p>
                      <a:r>
                        <a:rPr sz="1100" b="0">
                          <a:solidFill>
                            <a:srgbClr val="282828"/>
                          </a:solidFill>
                          <a:latin typeface="Arial"/>
                        </a:rPr>
                        <a:t>5.3</a:t>
                      </a:r>
                    </a:p>
                  </a:txBody>
                  <a:tcPr marL="54864" marR="54864" marT="18288" marB="18288">
                    <a:solidFill>
                      <a:srgbClr val="FFFFFF"/>
                    </a:solidFill>
                  </a:tcPr>
                </a:tc>
                <a:tc>
                  <a:txBody>
                    <a:bodyPr wrap="square"/>
                    <a:lstStyle/>
                    <a:p>
                      <a:r>
                        <a:rPr sz="1100" b="0">
                          <a:solidFill>
                            <a:srgbClr val="282828"/>
                          </a:solidFill>
                          <a:latin typeface="Arial"/>
                        </a:rPr>
                        <a:t>10.7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the mirror's drift helps:</a:t>
            </a:r>
            <a:r>
              <a:rPr sz="1200" b="0">
                <a:solidFill>
                  <a:srgbClr val="282828"/>
                </a:solidFill>
                <a:latin typeface="Arial"/>
              </a:rPr>
              <a:t> a scan reads the surface at its midpoint, a free half-step of prediction; 26-32% less hold error for the stepped readings.  The camera's drift is an additive bias, the opposite sign.</a:t>
            </a:r>
          </a:p>
          <a:p>
            <a:pPr>
              <a:spcAft>
                <a:spcPts val="600"/>
              </a:spcAft>
            </a:pPr>
            <a:r>
              <a:rPr sz="1200" b="0">
                <a:solidFill>
                  <a:srgbClr val="282828"/>
                </a:solidFill>
                <a:latin typeface="Arial"/>
              </a:rPr>
              <a:t>•  </a:t>
            </a:r>
            <a:r>
              <a:rPr sz="1200" b="1">
                <a:solidFill>
                  <a:srgbClr val="282828"/>
                </a:solidFill>
                <a:latin typeface="Arial"/>
              </a:rPr>
              <a:t>The P/SRI's reference arm walking</a:t>
            </a:r>
            <a:r>
              <a:rPr sz="1200" b="0">
                <a:solidFill>
                  <a:srgbClr val="282828"/>
                </a:solidFill>
                <a:latin typeface="Arial"/>
              </a:rPr>
              <a:t> (a random path walk of 1e-3 to 1e-1 rad per cycle) costs 4% in light over that hundredfold range: a path change is piston, the one mode the actuator estimator nulls.  Not benign for absolute field work; a tilting reference is outside the model.</a:t>
            </a:r>
          </a:p>
          <a:p>
            <a:pPr>
              <a:spcAft>
                <a:spcPts val="600"/>
              </a:spcAft>
            </a:pPr>
            <a:r>
              <a:rPr sz="1200" b="0">
                <a:solidFill>
                  <a:srgbClr val="282828"/>
                </a:solidFill>
                <a:latin typeface="Arial"/>
              </a:rPr>
              <a:t>•  </a:t>
            </a:r>
            <a:r>
              <a:rPr sz="1200" b="1">
                <a:solidFill>
                  <a:srgbClr val="282828"/>
                </a:solidFill>
                <a:latin typeface="Arial"/>
              </a:rPr>
              <a:t>The paper's camera number</a:t>
            </a:r>
            <a:r>
              <a:rPr sz="1200" b="0">
                <a:solidFill>
                  <a:srgbClr val="282828"/>
                </a:solidFill>
                <a:latin typeface="Arial"/>
              </a:rPr>
              <a:t> (0.13 electrons per pixel per cycle) is invisible to every reading: an electron is 1e-4 of a lit pixel's shot noise at 1e13 photons.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intra193_0, intra193, pcam193, pcam193r, pcam193ri, rw193_1e3/1e2/1e1, loop_lens_intra, loop_lens_cam.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vector sensor's polarization terms</a:t>
            </a:r>
          </a:p>
          <a:p>
            <a:pPr>
              <a:spcAft>
                <a:spcPts val="0"/>
              </a:spcAft>
            </a:pPr>
            <a:r>
              <a:rPr sz="1250" b="0">
                <a:solidFill>
                  <a:srgbClr val="6E6E6E"/>
                </a:solidFill>
                <a:latin typeface="Arial"/>
              </a:rPr>
              <a:t>The metasurface's retardance error, the arm's polarization aberration, and the analyzer, each from the engine's polarized traces of this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377565"/>
        </p:xfrm>
        <a:graphic>
          <a:graphicData uri="http://schemas.openxmlformats.org/drawingml/2006/table">
            <a:tbl>
              <a:tblPr firstRow="1" bandRow="1">
                <a:tableStyleId>{5C22544A-7EE6-4342-B048-85BDC9FD1C3A}</a:tableStyleId>
              </a:tblPr>
              <a:tblGrid>
                <a:gridCol w="1924420"/>
                <a:gridCol w="1824881"/>
                <a:gridCol w="2057138"/>
              </a:tblGrid>
              <a:tr h="468630">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on 100 nm pokes (12 nm rms)</a:t>
                      </a:r>
                    </a:p>
                  </a:txBody>
                  <a:tcPr marL="54864" marR="54864" marT="18288" marB="18288">
                    <a:solidFill>
                      <a:srgbClr val="1F4E79"/>
                    </a:solidFill>
                  </a:tcPr>
                </a:tc>
                <a:tc>
                  <a:txBody>
                    <a:bodyPr wrap="square"/>
                    <a:lstStyle/>
                    <a:p>
                      <a:r>
                        <a:rPr sz="1100" b="1">
                          <a:solidFill>
                            <a:srgbClr val="FFFFFF"/>
                          </a:solidFill>
                          <a:latin typeface="Arial"/>
                        </a:rPr>
                        <a:t>through the matrix measured on the surface</a:t>
                      </a:r>
                    </a:p>
                  </a:txBody>
                  <a:tcPr marL="54864" marR="54864" marT="18288" marB="18288">
                    <a:solidFill>
                      <a:srgbClr val="1F4E79"/>
                    </a:solidFill>
                  </a:tcPr>
                </a:tc>
              </a:tr>
              <a:tr h="657225">
                <a:tc>
                  <a:txBody>
                    <a:bodyPr wrap="square"/>
                    <a:lstStyle/>
                    <a:p>
                      <a:r>
                        <a:rPr sz="1100" b="0">
                          <a:solidFill>
                            <a:srgbClr val="282828"/>
                          </a:solidFill>
                          <a:latin typeface="Arial"/>
                        </a:rPr>
                        <a:t>metasurface retardance error 0.02 / 0.05 / 0.10 / 0.20 rad</a:t>
                      </a:r>
                    </a:p>
                  </a:txBody>
                  <a:tcPr marL="54864" marR="54864" marT="18288" marB="18288">
                    <a:solidFill>
                      <a:srgbClr val="FFFFFF"/>
                    </a:solidFill>
                  </a:tcPr>
                </a:tc>
                <a:tc>
                  <a:txBody>
                    <a:bodyPr wrap="square"/>
                    <a:lstStyle/>
                    <a:p>
                      <a:r>
                        <a:rPr sz="1100" b="0">
                          <a:solidFill>
                            <a:srgbClr val="282828"/>
                          </a:solidFill>
                          <a:latin typeface="Arial"/>
                        </a:rPr>
                        <a:t>153 / 380 / 750 / 1461 pm</a:t>
                      </a:r>
                    </a:p>
                  </a:txBody>
                  <a:tcPr marL="54864" marR="54864" marT="18288" marB="18288">
                    <a:solidFill>
                      <a:srgbClr val="FFFFFF"/>
                    </a:solidFill>
                  </a:tcPr>
                </a:tc>
                <a:tc>
                  <a:txBody>
                    <a:bodyPr wrap="square"/>
                    <a:lstStyle/>
                    <a:p>
                      <a:r>
                        <a:rPr sz="1100" b="0">
                          <a:solidFill>
                            <a:srgbClr val="282828"/>
                          </a:solidFill>
                          <a:latin typeface="Arial"/>
                        </a:rPr>
                        <a:t>0.9934 / 4 pm at 0.10 and 0.20: the ideal rows</a:t>
                      </a:r>
                    </a:p>
                  </a:txBody>
                  <a:tcPr marL="54864" marR="54864" marT="18288" marB="18288">
                    <a:solidFill>
                      <a:srgbClr val="FFFFFF"/>
                    </a:solidFill>
                  </a:tcPr>
                </a:tc>
              </a:tr>
              <a:tr h="657225">
                <a:tc>
                  <a:txBody>
                    <a:bodyPr wrap="square"/>
                    <a:lstStyle/>
                    <a:p>
                      <a:r>
                        <a:rPr sz="1100" b="0">
                          <a:solidFill>
                            <a:srgbClr val="282828"/>
                          </a:solidFill>
                          <a:latin typeface="Arial"/>
                        </a:rPr>
                        <a:t>the arm, laser at 45° / 0° / 90° to the fold plane</a:t>
                      </a:r>
                    </a:p>
                  </a:txBody>
                  <a:tcPr marL="54864" marR="54864" marT="18288" marB="18288">
                    <a:solidFill>
                      <a:srgbClr val="ECF1F6"/>
                    </a:solidFill>
                  </a:tcPr>
                </a:tc>
                <a:tc>
                  <a:txBody>
                    <a:bodyPr wrap="square"/>
                    <a:lstStyle/>
                    <a:p>
                      <a:r>
                        <a:rPr sz="1100" b="0">
                          <a:solidFill>
                            <a:srgbClr val="282828"/>
                          </a:solidFill>
                          <a:latin typeface="Arial"/>
                        </a:rPr>
                        <a:t>9.0 / 17.2 / 11.2 pm (ideal 0.05)</a:t>
                      </a:r>
                    </a:p>
                  </a:txBody>
                  <a:tcPr marL="54864" marR="54864" marT="18288" marB="18288">
                    <a:solidFill>
                      <a:srgbClr val="ECF1F6"/>
                    </a:solidFill>
                  </a:tcPr>
                </a:tc>
                <a:tc>
                  <a:txBody>
                    <a:bodyPr wrap="square"/>
                    <a:lstStyle/>
                    <a:p>
                      <a:r>
                        <a:rPr sz="1100" b="0">
                          <a:solidFill>
                            <a:srgbClr val="282828"/>
                          </a:solidFill>
                          <a:latin typeface="Arial"/>
                        </a:rPr>
                        <a:t>nothing through 0.1 rad of channel phase; 10% gain loss at 0.3</a:t>
                      </a:r>
                    </a:p>
                  </a:txBody>
                  <a:tcPr marL="54864" marR="54864" marT="18288" marB="18288">
                    <a:solidFill>
                      <a:srgbClr val="ECF1F6"/>
                    </a:solidFill>
                  </a:tcPr>
                </a:tc>
              </a:tr>
              <a:tr h="657225">
                <a:tc>
                  <a:txBody>
                    <a:bodyPr wrap="square"/>
                    <a:lstStyle/>
                    <a:p>
                      <a:r>
                        <a:rPr sz="1100" b="0">
                          <a:solidFill>
                            <a:srgbClr val="282828"/>
                          </a:solidFill>
                          <a:latin typeface="Arial"/>
                        </a:rPr>
                        <a:t>the arm, design scan: 6 nm per rad of channel phase</a:t>
                      </a:r>
                    </a:p>
                  </a:txBody>
                  <a:tcPr marL="54864" marR="54864" marT="18288" marB="18288">
                    <a:solidFill>
                      <a:srgbClr val="FFFFFF"/>
                    </a:solidFill>
                  </a:tcPr>
                </a:tc>
                <a:tc>
                  <a:txBody>
                    <a:bodyPr wrap="square"/>
                    <a:lstStyle/>
                    <a:p>
                      <a:r>
                        <a:rPr sz="1100" b="0">
                          <a:solidFill>
                            <a:srgbClr val="282828"/>
                          </a:solidFill>
                          <a:latin typeface="Arial"/>
                        </a:rPr>
                        <a:t>59 / 178 / 597 / 1877 pm at 0.01 / 0.03 / 0.1 / 0.3 rad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analyzer: cube extinction alone</a:t>
                      </a:r>
                    </a:p>
                  </a:txBody>
                  <a:tcPr marL="54864" marR="54864" marT="18288" marB="18288">
                    <a:solidFill>
                      <a:srgbClr val="ECF1F6"/>
                    </a:solidFill>
                  </a:tcPr>
                </a:tc>
                <a:tc>
                  <a:txBody>
                    <a:bodyPr wrap="square"/>
                    <a:lstStyle/>
                    <a:p>
                      <a:r>
                        <a:rPr sz="1100" b="0">
                          <a:solidFill>
                            <a:srgbClr val="282828"/>
                          </a:solidFill>
                          <a:latin typeface="Arial"/>
                        </a:rPr>
                        <a:t>3.5 pm</a:t>
                      </a:r>
                    </a:p>
                  </a:txBody>
                  <a:tcPr marL="54864" marR="54864" marT="18288" marB="18288">
                    <a:solidFill>
                      <a:srgbClr val="ECF1F6"/>
                    </a:solidFill>
                  </a:tcPr>
                </a:tc>
                <a:tc>
                  <a:txBody>
                    <a:bodyPr wrap="square"/>
                    <a:lstStyle/>
                    <a:p>
                      <a:r>
                        <a:rPr sz="1100" b="0">
                          <a:solidFill>
                            <a:srgbClr val="282828"/>
                          </a:solidFill>
                          <a:latin typeface="Arial"/>
                        </a:rPr>
                        <a:t>0.9934 / 4 pm</a:t>
                      </a:r>
                    </a:p>
                  </a:txBody>
                  <a:tcPr marL="54864" marR="54864" marT="18288" marB="18288">
                    <a:solidFill>
                      <a:srgbClr val="ECF1F6"/>
                    </a:solidFill>
                  </a:tcPr>
                </a:tc>
              </a:tr>
              <a:tr h="468630">
                <a:tc>
                  <a:txBody>
                    <a:bodyPr wrap="square"/>
                    <a:lstStyle/>
                    <a:p>
                      <a:r>
                        <a:rPr sz="1100" b="0">
                          <a:solidFill>
                            <a:srgbClr val="282828"/>
                          </a:solidFill>
                          <a:latin typeface="Arial"/>
                        </a:rPr>
                        <a:t>analyzer: plate λ/300; 1° azimuth; λ/100</a:t>
                      </a:r>
                    </a:p>
                  </a:txBody>
                  <a:tcPr marL="54864" marR="54864" marT="18288" marB="18288">
                    <a:solidFill>
                      <a:srgbClr val="FFFFFF"/>
                    </a:solidFill>
                  </a:tcPr>
                </a:tc>
                <a:tc>
                  <a:txBody>
                    <a:bodyPr wrap="square"/>
                    <a:lstStyle/>
                    <a:p>
                      <a:r>
                        <a:rPr sz="1100" b="0">
                          <a:solidFill>
                            <a:srgbClr val="282828"/>
                          </a:solidFill>
                          <a:latin typeface="Arial"/>
                        </a:rPr>
                        <a:t>165; 263; 496 pm</a:t>
                      </a:r>
                    </a:p>
                  </a:txBody>
                  <a:tcPr marL="54864" marR="54864" marT="18288" marB="18288">
                    <a:solidFill>
                      <a:srgbClr val="FFFFFF"/>
                    </a:solidFill>
                  </a:tcPr>
                </a:tc>
                <a:tc>
                  <a:txBody>
                    <a:bodyPr wrap="square"/>
                    <a:lstStyle/>
                    <a:p>
                      <a:r>
                        <a:rPr sz="1100" b="0">
                          <a:solidFill>
                            <a:srgbClr val="282828"/>
                          </a:solidFill>
                          <a:latin typeface="Arial"/>
                        </a:rPr>
                        <a:t>0.9932 / 4; 0.9932 / 4; 0.9928 / 4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arm:</a:t>
            </a:r>
            <a:r>
              <a:rPr sz="1200" b="0">
                <a:solidFill>
                  <a:srgbClr val="282828"/>
                </a:solidFill>
                <a:latin typeface="Arial"/>
              </a:rPr>
              <a:t> six 7° glass faces give 5e-3 diattenuation and 0.9 mrad retardance; because the Jones matrix is real, the two circular channels differ in phase only, 1.6 mrad rms at the worst laser angle and 2e-5 along the fold plane's axis.  Rule: specify pupil-varying diattenuation, put the laser on the eigenaxis.</a:t>
            </a:r>
          </a:p>
          <a:p>
            <a:pPr>
              <a:spcAft>
                <a:spcPts val="600"/>
              </a:spcAft>
            </a:pPr>
            <a:r>
              <a:rPr sz="1200" b="0">
                <a:solidFill>
                  <a:srgbClr val="282828"/>
                </a:solidFill>
                <a:latin typeface="Arial"/>
              </a:rPr>
              <a:t>•  </a:t>
            </a:r>
            <a:r>
              <a:rPr sz="1200" b="1">
                <a:solidFill>
                  <a:srgbClr val="282828"/>
                </a:solidFill>
                <a:latin typeface="Arial"/>
              </a:rPr>
              <a:t>The analyzer:</a:t>
            </a:r>
            <a:r>
              <a:rPr sz="1200" b="0">
                <a:solidFill>
                  <a:srgbClr val="282828"/>
                </a:solidFill>
                <a:latin typeface="Arial"/>
              </a:rPr>
              <a:t> a plate retardance error δ couples the two images with amplitude δ/2, an azimuth error θ with amplitude θ, engine-exact, opposite signs in the two ports; the cube's finite extinction adds 4-6e-4 incoherently.  Spec a zero-order plate at λ/300, azimuth to 1°.</a:t>
            </a:r>
          </a:p>
          <a:p>
            <a:pPr>
              <a:spcAft>
                <a:spcPts val="600"/>
              </a:spcAft>
            </a:pPr>
            <a:r>
              <a:rPr sz="1200" b="0">
                <a:solidFill>
                  <a:srgbClr val="282828"/>
                </a:solidFill>
                <a:latin typeface="Arial"/>
              </a:rPr>
              <a:t>•  </a:t>
            </a:r>
            <a:r>
              <a:rPr sz="1200" b="1">
                <a:solidFill>
                  <a:srgbClr val="282828"/>
                </a:solidFill>
                <a:latin typeface="Arial"/>
              </a:rPr>
              <a:t>A three-number fit on the flat's two images</a:t>
            </a:r>
            <a:r>
              <a:rPr sz="1200" b="0">
                <a:solidFill>
                  <a:srgbClr val="282828"/>
                </a:solidFill>
                <a:latin typeface="Arial"/>
              </a:rPr>
              <a:t> recovers the metasurface's constants to five digits (0.048 pm).</a:t>
            </a:r>
          </a:p>
        </p:txBody>
      </p:sp>
      <p:sp>
        <p:nvSpPr>
          <p:cNvPr id="6" name="TextBox 5"/>
          <p:cNvSpPr txBox="1"/>
          <p:nvPr/>
        </p:nvSpPr>
        <p:spPr>
          <a:xfrm>
            <a:off x="6400800" y="3934967"/>
            <a:ext cx="5394960" cy="274320"/>
          </a:xfrm>
          <a:prstGeom prst="rect">
            <a:avLst/>
          </a:prstGeom>
          <a:noFill/>
        </p:spPr>
        <p:txBody>
          <a:bodyPr wrap="square">
            <a:spAutoFit/>
          </a:bodyPr>
          <a:lstStyle/>
          <a:p>
            <a:pPr>
              <a:spcAft>
                <a:spcPts val="600"/>
              </a:spcAft>
            </a:pPr>
            <a:r>
              <a:rPr sz="1050" b="0">
                <a:solidFill>
                  <a:srgbClr val="6E6E6E"/>
                </a:solidFill>
                <a:latin typeface="Arial"/>
              </a:rPr>
              <a:t>Run tags v2g, v2loop, v3arm, v3s, v3loop, an193_cube/q300/q100/az1; zwfs_dm96 README V2-V4.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sensor model, sampling and color</a:t>
            </a:r>
          </a:p>
          <a:p>
            <a:pPr>
              <a:spcAft>
                <a:spcPts val="0"/>
              </a:spcAft>
            </a:pPr>
            <a:r>
              <a:rPr sz="1250" b="0">
                <a:solidFill>
                  <a:srgbClr val="6E6E6E"/>
                </a:solidFill>
                <a:latin typeface="Arial"/>
              </a:rPr>
              <a:t>The early Zernike model was out of focus by 4.9 m at the pupil image; corrected, every gate closes; the sampling rule and the color result follow from the corrected model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correction:</a:t>
            </a:r>
            <a:r>
              <a:rPr sz="1200" b="0">
                <a:solidFill>
                  <a:srgbClr val="282828"/>
                </a:solidFill>
                <a:latin typeface="Arial"/>
              </a:rPr>
              <a:t> the mask's exit reference sphere carried 23.9 mm against the entrance sphere's 352.7 mm, a 4.86 m defocus of the pupil image.  Symmetric spheres take the unmasked round trip from 0.159 to 1.8e-15 and the pupil brightness modulation under a 30 nm surface from 29% to 4e-16; the single-actuator floor fell from 744 to 67 pm before any other change.</a:t>
            </a:r>
          </a:p>
          <a:p>
            <a:pPr>
              <a:spcAft>
                <a:spcPts val="600"/>
              </a:spcAft>
            </a:pPr>
            <a:r>
              <a:rPr sz="1200" b="0">
                <a:solidFill>
                  <a:srgbClr val="282828"/>
                </a:solidFill>
                <a:latin typeface="Arial"/>
              </a:rPr>
              <a:t>•  </a:t>
            </a:r>
            <a:r>
              <a:rPr sz="1200" b="1">
                <a:solidFill>
                  <a:srgbClr val="282828"/>
                </a:solidFill>
                <a:latin typeface="Arial"/>
              </a:rPr>
              <a:t>Sampling:</a:t>
            </a:r>
            <a:r>
              <a:rPr sz="1200" b="0">
                <a:solidFill>
                  <a:srgbClr val="282828"/>
                </a:solidFill>
                <a:latin typeface="Arial"/>
              </a:rPr>
              <a:t> mask pixels per λF/D = 0.74 × model ÷ rays; the dimple needs 6 pixels; 385 rays on a 2048 grid is the compliant run (7.9 pixels, 5 pixels per actuator), and a stencil-site fix in the actuator fit took the test actuator from 0.935 to 0.996.</a:t>
            </a:r>
          </a:p>
          <a:p>
            <a:pPr>
              <a:spcAft>
                <a:spcPts val="600"/>
              </a:spcAft>
            </a:pPr>
            <a:r>
              <a:rPr sz="1200" b="0">
                <a:solidFill>
                  <a:srgbClr val="282828"/>
                </a:solidFill>
                <a:latin typeface="Arial"/>
              </a:rPr>
              <a:t>•  </a:t>
            </a:r>
            <a:r>
              <a:rPr sz="1200" b="1">
                <a:solidFill>
                  <a:srgbClr val="282828"/>
                </a:solidFill>
                <a:latin typeface="Arial"/>
              </a:rPr>
              <a:t>Color:</a:t>
            </a:r>
            <a:r>
              <a:rPr sz="1200" b="0">
                <a:solidFill>
                  <a:srgbClr val="282828"/>
                </a:solidFill>
                <a:latin typeface="Arial"/>
              </a:rPr>
              <a:t> five colors through one 346 nm etch, dimple phase 2.10 to 1.27 rad; the combination's minimum transfer is 0.991 against 0.962 for the best single color — 3%, not 3×; the linear reading gets worse (480 nm reads negative).</a:t>
            </a:r>
          </a:p>
        </p:txBody>
      </p:sp>
      <p:pic>
        <p:nvPicPr>
          <p:cNvPr id="5" name="Picture 4" descr="zwfs_s7iter.png"/>
          <p:cNvPicPr>
            <a:picLocks noChangeAspect="1"/>
          </p:cNvPicPr>
          <p:nvPr/>
        </p:nvPicPr>
        <p:blipFill>
          <a:blip r:embed="rId2"/>
          <a:stretch>
            <a:fillRect/>
          </a:stretch>
        </p:blipFill>
        <p:spPr>
          <a:xfrm>
            <a:off x="6838416" y="1298448"/>
            <a:ext cx="4519726"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model correction: the runner's figure of the iterated reference-wave solve on the corrected model.</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rec193full, m2048, m2048_lat, ng385_lat; zwfs_dm96 README S7-S9.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clearance scan behind the 22.5° choice</a:t>
            </a:r>
          </a:p>
          <a:p>
            <a:pPr>
              <a:spcAft>
                <a:spcPts val="0"/>
              </a:spcAft>
            </a:pPr>
            <a:r>
              <a:rPr sz="1250" b="0">
                <a:solidFill>
                  <a:srgbClr val="6E6E6E"/>
                </a:solidFill>
                <a:latin typeface="Arial"/>
              </a:rPr>
              <a:t>The record's clearance solve cleared the mirror, flat and camera bodies at the leg ends and never looked at the node; two 103 mm beams 2θ apart clear a part at distance d only if d·sin 2θ exceeds about 111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154555"/>
        </p:xfrm>
        <a:graphic>
          <a:graphicData uri="http://schemas.openxmlformats.org/drawingml/2006/table">
            <a:tbl>
              <a:tblPr firstRow="1" bandRow="1">
                <a:tableStyleId>{5C22544A-7EE6-4342-B048-85BDC9FD1C3A}</a:tableStyleId>
              </a:tblPr>
              <a:tblGrid>
                <a:gridCol w="727456"/>
                <a:gridCol w="958298"/>
                <a:gridCol w="4120685"/>
              </a:tblGrid>
              <a:tr h="280035">
                <a:tc>
                  <a:txBody>
                    <a:bodyPr wrap="square"/>
                    <a:lstStyle/>
                    <a:p>
                      <a:r>
                        <a:rPr sz="1100" b="1">
                          <a:solidFill>
                            <a:srgbClr val="FFFFFF"/>
                          </a:solidFill>
                          <a:latin typeface="Arial"/>
                        </a:rPr>
                        <a:t>splitter</a:t>
                      </a:r>
                    </a:p>
                  </a:txBody>
                  <a:tcPr marL="54864" marR="54864" marT="18288" marB="18288">
                    <a:solidFill>
                      <a:srgbClr val="1F4E79"/>
                    </a:solidFill>
                  </a:tcPr>
                </a:tc>
                <a:tc>
                  <a:txBody>
                    <a:bodyPr wrap="square"/>
                    <a:lstStyle/>
                    <a:p>
                      <a:r>
                        <a:rPr sz="1100" b="1">
                          <a:solidFill>
                            <a:srgbClr val="FFFFFF"/>
                          </a:solidFill>
                          <a:latin typeface="Arial"/>
                        </a:rPr>
                        <a:t>worst part</a:t>
                      </a:r>
                    </a:p>
                  </a:txBody>
                  <a:tcPr marL="54864" marR="54864" marT="18288" marB="18288">
                    <a:solidFill>
                      <a:srgbClr val="1F4E79"/>
                    </a:solidFill>
                  </a:tcPr>
                </a:tc>
                <a:tc>
                  <a:txBody>
                    <a:bodyPr wrap="square"/>
                    <a:lstStyle/>
                    <a:p>
                      <a:r>
                        <a:rPr sz="1100" b="1">
                          <a:solidFill>
                            <a:srgbClr val="FFFFFF"/>
                          </a:solidFill>
                          <a:latin typeface="Arial"/>
                        </a:rPr>
                        <a:t>others</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output plate −109 mm</a:t>
                      </a:r>
                    </a:p>
                  </a:txBody>
                  <a:tcPr marL="54864" marR="54864" marT="18288" marB="18288">
                    <a:solidFill>
                      <a:srgbClr val="FFFFFF"/>
                    </a:solidFill>
                  </a:tcPr>
                </a:tc>
                <a:tc>
                  <a:txBody>
                    <a:bodyPr wrap="square"/>
                    <a:lstStyle/>
                    <a:p>
                      <a:r>
                        <a:rPr sz="1100" b="0">
                          <a:solidFill>
                            <a:srgbClr val="282828"/>
                          </a:solidFill>
                          <a:latin typeface="Arial"/>
                        </a:rPr>
                        <a:t>eight parts in another beam: reference plate, analyzer, compensator, L2, polarizer, L1</a:t>
                      </a:r>
                    </a:p>
                  </a:txBody>
                  <a:tcPr marL="54864" marR="54864" marT="18288" marB="18288">
                    <a:solidFill>
                      <a:srgbClr val="FFFFFF"/>
                    </a:solidFill>
                  </a:tcPr>
                </a:tc>
              </a:tr>
              <a:tr h="468630">
                <a:tc>
                  <a:txBody>
                    <a:bodyPr wrap="square"/>
                    <a:lstStyle/>
                    <a:p>
                      <a:r>
                        <a:rPr sz="1100" b="0">
                          <a:solidFill>
                            <a:srgbClr val="282828"/>
                          </a:solidFill>
                          <a:latin typeface="Arial"/>
                        </a:rPr>
                        <a:t>15°</a:t>
                      </a:r>
                    </a:p>
                  </a:txBody>
                  <a:tcPr marL="54864" marR="54864" marT="18288" marB="18288">
                    <a:solidFill>
                      <a:srgbClr val="ECF1F6"/>
                    </a:solidFill>
                  </a:tcPr>
                </a:tc>
                <a:tc>
                  <a:txBody>
                    <a:bodyPr wrap="square"/>
                    <a:lstStyle/>
                    <a:p>
                      <a:r>
                        <a:rPr sz="1100" b="0">
                          <a:solidFill>
                            <a:srgbClr val="282828"/>
                          </a:solidFill>
                          <a:latin typeface="Arial"/>
                        </a:rPr>
                        <a:t>compensator −27 mm</a:t>
                      </a:r>
                    </a:p>
                  </a:txBody>
                  <a:tcPr marL="54864" marR="54864" marT="18288" marB="18288">
                    <a:solidFill>
                      <a:srgbClr val="ECF1F6"/>
                    </a:solidFill>
                  </a:tcPr>
                </a:tc>
                <a:tc>
                  <a:txBody>
                    <a:bodyPr wrap="square"/>
                    <a:lstStyle/>
                    <a:p>
                      <a:r>
                        <a:rPr sz="1100" b="0">
                          <a:solidFill>
                            <a:srgbClr val="282828"/>
                          </a:solidFill>
                          <a:latin typeface="Arial"/>
                        </a:rPr>
                        <a:t>output plate −17, analyzer −11, L2 +10</a:t>
                      </a:r>
                    </a:p>
                  </a:txBody>
                  <a:tcPr marL="54864" marR="54864" marT="18288" marB="18288">
                    <a:solidFill>
                      <a:srgbClr val="ECF1F6"/>
                    </a:solidFill>
                  </a:tcPr>
                </a:tc>
              </a:tr>
              <a:tr h="468630">
                <a:tc>
                  <a:txBody>
                    <a:bodyPr wrap="square"/>
                    <a:lstStyle/>
                    <a:p>
                      <a:r>
                        <a:rPr sz="1100" b="0">
                          <a:solidFill>
                            <a:srgbClr val="282828"/>
                          </a:solidFill>
                          <a:latin typeface="Arial"/>
                        </a:rPr>
                        <a:t>22.5°</a:t>
                      </a:r>
                    </a:p>
                  </a:txBody>
                  <a:tcPr marL="54864" marR="54864" marT="18288" marB="18288">
                    <a:solidFill>
                      <a:srgbClr val="FFFFFF"/>
                    </a:solidFill>
                  </a:tcPr>
                </a:tc>
                <a:tc>
                  <a:txBody>
                    <a:bodyPr wrap="square"/>
                    <a:lstStyle/>
                    <a:p>
                      <a:r>
                        <a:rPr sz="1100" b="0">
                          <a:solidFill>
                            <a:srgbClr val="282828"/>
                          </a:solidFill>
                          <a:latin typeface="Arial"/>
                        </a:rPr>
                        <a:t>compensator +16 mm</a:t>
                      </a:r>
                    </a:p>
                  </a:txBody>
                  <a:tcPr marL="54864" marR="54864" marT="18288" marB="18288">
                    <a:solidFill>
                      <a:srgbClr val="FFFFFF"/>
                    </a:solidFill>
                  </a:tcPr>
                </a:tc>
                <a:tc>
                  <a:txBody>
                    <a:bodyPr wrap="square"/>
                    <a:lstStyle/>
                    <a:p>
                      <a:r>
                        <a:rPr sz="1100" b="0">
                          <a:solidFill>
                            <a:srgbClr val="282828"/>
                          </a:solidFill>
                          <a:latin typeface="Arial"/>
                        </a:rPr>
                        <a:t>output plate +55, analyzer +65, L2 +100, L1 +153</a:t>
                      </a:r>
                    </a:p>
                  </a:txBody>
                  <a:tcPr marL="54864" marR="54864" marT="18288" marB="18288">
                    <a:solidFill>
                      <a:srgbClr val="FFFFFF"/>
                    </a:solidFill>
                  </a:tcPr>
                </a:tc>
              </a:tr>
              <a:tr h="468630">
                <a:tc>
                  <a:txBody>
                    <a:bodyPr wrap="square"/>
                    <a:lstStyle/>
                    <a:p>
                      <a:r>
                        <a:rPr sz="1100" b="0">
                          <a:solidFill>
                            <a:srgbClr val="282828"/>
                          </a:solidFill>
                          <a:latin typeface="Arial"/>
                        </a:rPr>
                        <a:t>30°</a:t>
                      </a:r>
                    </a:p>
                  </a:txBody>
                  <a:tcPr marL="54864" marR="54864" marT="18288" marB="18288">
                    <a:solidFill>
                      <a:srgbClr val="ECF1F6"/>
                    </a:solidFill>
                  </a:tcPr>
                </a:tc>
                <a:tc>
                  <a:txBody>
                    <a:bodyPr wrap="square"/>
                    <a:lstStyle/>
                    <a:p>
                      <a:r>
                        <a:rPr sz="1100" b="0">
                          <a:solidFill>
                            <a:srgbClr val="282828"/>
                          </a:solidFill>
                          <a:latin typeface="Arial"/>
                        </a:rPr>
                        <a:t>compensator +57 mm</a:t>
                      </a:r>
                    </a:p>
                  </a:txBody>
                  <a:tcPr marL="54864" marR="54864" marT="18288" marB="18288">
                    <a:solidFill>
                      <a:srgbClr val="ECF1F6"/>
                    </a:solidFill>
                  </a:tcPr>
                </a:tc>
                <a:tc>
                  <a:txBody>
                    <a:bodyPr wrap="square"/>
                    <a:lstStyle/>
                    <a:p>
                      <a:r>
                        <a:rPr sz="1100" b="0">
                          <a:solidFill>
                            <a:srgbClr val="282828"/>
                          </a:solidFill>
                          <a:latin typeface="Arial"/>
                        </a:rPr>
                        <a:t>output plate +178, analyzer +196, L2 +257, L1 +350</a:t>
                      </a:r>
                    </a:p>
                  </a:txBody>
                  <a:tcPr marL="54864" marR="54864" marT="18288" marB="18288">
                    <a:solidFill>
                      <a:srgbClr val="ECF1F6"/>
                    </a:solidFill>
                  </a:tcPr>
                </a:tc>
              </a:tr>
            </a:tbl>
          </a:graphicData>
        </a:graphic>
      </p:graphicFrame>
      <p:sp>
        <p:nvSpPr>
          <p:cNvPr id="5" name="TextBox 4"/>
          <p:cNvSpPr txBox="1"/>
          <p:nvPr/>
        </p:nvSpPr>
        <p:spPr>
          <a:xfrm>
            <a:off x="411480" y="3599307"/>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What moves:</a:t>
            </a:r>
            <a:r>
              <a:rPr sz="1200" b="0">
                <a:solidFill>
                  <a:srgbClr val="282828"/>
                </a:solidFill>
                <a:latin typeface="Arial"/>
              </a:rPr>
              <a:t> the output plate and analyzer from 17 and 27 mm behind the splitter to 160 and 170 mm, just ahead of the focuser at 207 mm; nothing else, so the focused detector leg is untouched.</a:t>
            </a:r>
          </a:p>
          <a:p>
            <a:pPr>
              <a:spcAft>
                <a:spcPts val="600"/>
              </a:spcAft>
            </a:pPr>
            <a:r>
              <a:rPr sz="1200" b="0">
                <a:solidFill>
                  <a:srgbClr val="282828"/>
                </a:solidFill>
                <a:latin typeface="Arial"/>
              </a:rPr>
              <a:t>•  </a:t>
            </a:r>
            <a:r>
              <a:rPr sz="1200" b="1">
                <a:solidFill>
                  <a:srgbClr val="282828"/>
                </a:solidFill>
                <a:latin typeface="Arial"/>
              </a:rPr>
              <a:t>What it costs the sensors: nothing.</a:t>
            </a:r>
            <a:r>
              <a:rPr sz="1200" b="0">
                <a:solidFill>
                  <a:srgbClr val="282828"/>
                </a:solidFill>
                <a:latin typeface="Arial"/>
              </a:rPr>
              <a:t>  At 30° the Zernike rows reproduce (0.9943 / 5 pm against 0.9942 / 5), the mask gates pass, and the arm's channel phase difference is 1.69 mrad against 1.63; the plate's diattenuation rises to 10% but uniformly, a non-term with the laser on its eigenaxis.</a:t>
            </a:r>
          </a:p>
        </p:txBody>
      </p:sp>
      <p:pic>
        <p:nvPicPr>
          <p:cNvPr id="6" name="Picture 5" descr="crop_bench_bs30_node.png"/>
          <p:cNvPicPr>
            <a:picLocks noChangeAspect="1"/>
          </p:cNvPicPr>
          <p:nvPr/>
        </p:nvPicPr>
        <p:blipFill>
          <a:blip r:embed="rId2"/>
          <a:stretch>
            <a:fillRect/>
          </a:stretch>
        </p:blipFill>
        <p:spPr>
          <a:xfrm>
            <a:off x="7420327" y="1298448"/>
            <a:ext cx="3355904" cy="1965451"/>
          </a:xfrm>
          <a:prstGeom prst="rect">
            <a:avLst/>
          </a:prstGeom>
        </p:spPr>
      </p:pic>
      <p:sp>
        <p:nvSpPr>
          <p:cNvPr id="7" name="TextBox 6"/>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node at 30°: the compensator clears by 57 mm, the rest by 178 mm or more.</a:t>
            </a:r>
          </a:p>
        </p:txBody>
      </p:sp>
      <p:pic>
        <p:nvPicPr>
          <p:cNvPr id="8" name="Picture 7" descr="crop_bench_bs7_node.png"/>
          <p:cNvPicPr>
            <a:picLocks noChangeAspect="1"/>
          </p:cNvPicPr>
          <p:nvPr/>
        </p:nvPicPr>
        <p:blipFill>
          <a:blip r:embed="rId3"/>
          <a:stretch>
            <a:fillRect/>
          </a:stretch>
        </p:blipFill>
        <p:spPr>
          <a:xfrm>
            <a:off x="7443648" y="3547872"/>
            <a:ext cx="3309263" cy="1965451"/>
          </a:xfrm>
          <a:prstGeom prst="rect">
            <a:avLst/>
          </a:prstGeom>
        </p:spPr>
      </p:pic>
      <p:sp>
        <p:nvSpPr>
          <p:cNvPr id="9" name="TextBox 8"/>
          <p:cNvSpPr txBox="1"/>
          <p:nvPr/>
        </p:nvSpPr>
        <p:spPr>
          <a:xfrm>
            <a:off x="6400800" y="5531611"/>
            <a:ext cx="5394960" cy="229107"/>
          </a:xfrm>
          <a:prstGeom prst="rect">
            <a:avLst/>
          </a:prstGeom>
          <a:noFill/>
        </p:spPr>
        <p:txBody>
          <a:bodyPr wrap="square">
            <a:spAutoFit/>
          </a:bodyPr>
          <a:lstStyle/>
          <a:p>
            <a:pPr algn="ctr">
              <a:spcAft>
                <a:spcPts val="0"/>
              </a:spcAft>
            </a:pPr>
            <a:r>
              <a:rPr sz="1000" b="0">
                <a:solidFill>
                  <a:srgbClr val="6E6E6E"/>
                </a:solidFill>
                <a:latin typeface="Arial"/>
              </a:rPr>
              <a:t>The record's node at 7°: eight parts sit in another beam.</a:t>
            </a:r>
          </a:p>
        </p:txBody>
      </p:sp>
      <p:sp>
        <p:nvSpPr>
          <p:cNvPr id="10" name="TextBox 9"/>
          <p:cNvSpPr txBox="1"/>
          <p:nvPr/>
        </p:nvSpPr>
        <p:spPr>
          <a:xfrm>
            <a:off x="6400800" y="5797295"/>
            <a:ext cx="5394960" cy="274320"/>
          </a:xfrm>
          <a:prstGeom prst="rect">
            <a:avLst/>
          </a:prstGeom>
          <a:noFill/>
        </p:spPr>
        <p:txBody>
          <a:bodyPr wrap="square">
            <a:spAutoFit/>
          </a:bodyPr>
          <a:lstStyle/>
          <a:p>
            <a:pPr>
              <a:spcAft>
                <a:spcPts val="600"/>
              </a:spcAft>
            </a:pPr>
            <a:r>
              <a:rPr sz="1050" b="0">
                <a:solidFill>
                  <a:srgbClr val="6E6E6E"/>
                </a:solidFill>
                <a:latin typeface="Arial"/>
              </a:rPr>
              <a:t>Clearance = lateral distance of a beam's chief where it crosses the part's plane, minus the beam radius (51 mm) and the part's radius plus an 8 mm mount.  Tool dmg_bench_clearance; run tag bs30_dev.  The interferometer's snapshot form feels the angle through the plate's polarization; its numbers re-run at the chosen angle.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the Zernike-sensor literature offers, in priority order</a:t>
            </a:r>
          </a:p>
          <a:p>
            <a:pPr>
              <a:spcAft>
                <a:spcPts val="0"/>
              </a:spcAft>
            </a:pPr>
            <a:r>
              <a:rPr sz="1250" b="0">
                <a:solidFill>
                  <a:srgbClr val="6E6E6E"/>
                </a:solidFill>
                <a:latin typeface="Arial"/>
              </a:rPr>
              <a:t>Twelve papers read; the first import — re-computing the reference wave — is built and measured here (the S and V readings)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18948"/>
                <a:gridCol w="2691327"/>
                <a:gridCol w="845845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Ruane, Wallace, Steeves et al. 2020, JATIS 6, 045005</a:t>
                      </a:r>
                    </a:p>
                  </a:txBody>
                  <a:tcPr marL="54864" marR="54864" marT="18288" marB="18288">
                    <a:solidFill>
                      <a:srgbClr val="FFFFFF"/>
                    </a:solidFill>
                  </a:tcPr>
                </a:tc>
                <a:tc>
                  <a:txBody>
                    <a:bodyPr wrap="square"/>
                    <a:lstStyle/>
                    <a:p>
                      <a:r>
                        <a:rPr sz="1100" b="0">
                          <a:solidFill>
                            <a:srgbClr val="282828"/>
                          </a:solidFill>
                          <a:latin typeface="Arial"/>
                        </a:rPr>
                        <a:t>Exact per-pixel reconstruction from the pupil amplitude, the reference wave b and the masked image; a sensitivity factor per pixel; a four-term systematic budget; 1 pm reached at 4.4×10⁵ frames; no loss to 25 % bandwidth</a:t>
                      </a:r>
                    </a:p>
                  </a:txBody>
                  <a:tcPr marL="54864" marR="54864" marT="18288" marB="18288">
                    <a:solidFill>
                      <a:srgbClr val="FFFFFF"/>
                    </a:solidFill>
                  </a:tcPr>
                </a:tc>
              </a:tr>
              <a:tr h="468630">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Doelman, Fagginger Auer, Escuti, Snik 2019, Opt. Lett. 44, 17</a:t>
                      </a:r>
                    </a:p>
                  </a:txBody>
                  <a:tcPr marL="54864" marR="54864" marT="18288" marB="18288">
                    <a:solidFill>
                      <a:srgbClr val="ECF1F6"/>
                    </a:solidFill>
                  </a:tcPr>
                </a:tc>
                <a:tc>
                  <a:txBody>
                    <a:bodyPr wrap="square"/>
                    <a:lstStyle/>
                    <a:p>
                      <a:r>
                        <a:rPr sz="1100" b="0">
                          <a:solidFill>
                            <a:srgbClr val="282828"/>
                          </a:solidFill>
                          <a:latin typeface="Arial"/>
                        </a:rPr>
                        <a:t>Vector Zernike: ±π/2 on opposite circular polarizations gives two pupil images, an exact phase-and-amplitude solution, an iterated b, achromatic to 100 % bandwidth; the leakage terms are written down</a:t>
                      </a:r>
                    </a:p>
                  </a:txBody>
                  <a:tcPr marL="54864" marR="54864" marT="18288" marB="18288">
                    <a:solidFill>
                      <a:srgbClr val="ECF1F6"/>
                    </a:solidFill>
                  </a:tcPr>
                </a:tc>
              </a:tr>
              <a:tr h="468630">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N'Diaye, Vigan, Dohlen et al. 2016, A&amp;A 592, A79 (ZELDA II)</a:t>
                      </a:r>
                    </a:p>
                  </a:txBody>
                  <a:tcPr marL="54864" marR="54864" marT="18288" marB="18288">
                    <a:solidFill>
                      <a:srgbClr val="FFFFFF"/>
                    </a:solidFill>
                  </a:tcPr>
                </a:tc>
                <a:tc>
                  <a:txBody>
                    <a:bodyPr wrap="square"/>
                    <a:lstStyle/>
                    <a:p>
                      <a:r>
                        <a:rPr sz="1100" b="0">
                          <a:solidFill>
                            <a:srgbClr val="282828"/>
                          </a:solidFill>
                          <a:latin typeface="Arial"/>
                        </a:rPr>
                        <a:t>Second-order reconstruction with b from the mask model; 1.06 λ/D at π/2; range −0.14 to +0.36 λ; the sensitivity factor drifts 10 % day to day on SPHERE</a:t>
                      </a:r>
                    </a:p>
                  </a:txBody>
                  <a:tcPr marL="54864" marR="54864" marT="18288" marB="18288">
                    <a:solidFill>
                      <a:srgbClr val="FFFFFF"/>
                    </a:solidFill>
                  </a:tcPr>
                </a:tc>
              </a:tr>
              <a:tr h="468630">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Chambouleyron, Cissé, Salama, Haffert, Wallace et al. 2024, SPIE 13097</a:t>
                      </a:r>
                    </a:p>
                  </a:txBody>
                  <a:tcPr marL="54864" marR="54864" marT="18288" marB="18288">
                    <a:solidFill>
                      <a:srgbClr val="ECF1F6"/>
                    </a:solidFill>
                  </a:tcPr>
                </a:tc>
                <a:tc>
                  <a:txBody>
                    <a:bodyPr wrap="square"/>
                    <a:lstStyle/>
                    <a:p>
                      <a:r>
                        <a:rPr sz="1100" b="0">
                          <a:solidFill>
                            <a:srgbClr val="282828"/>
                          </a:solidFill>
                          <a:latin typeface="Arial"/>
                        </a:rPr>
                        <a:t>A phase-shifted pair (±π/2) yields cos φ and sin φ; iterative reconstructors reach about 1 rad rms; the bench limits were polarization crosstalk and defocus between the two pupils</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Haffert 2024, A&amp;A 683, A113</a:t>
                      </a:r>
                    </a:p>
                  </a:txBody>
                  <a:tcPr marL="54864" marR="54864" marT="18288" marB="18288">
                    <a:solidFill>
                      <a:srgbClr val="FFFFFF"/>
                    </a:solidFill>
                  </a:tcPr>
                </a:tc>
                <a:tc>
                  <a:txBody>
                    <a:bodyPr wrap="square"/>
                    <a:lstStyle/>
                    <a:p>
                      <a:r>
                        <a:rPr sz="1100" b="0">
                          <a:solidFill>
                            <a:srgbClr val="282828"/>
                          </a:solidFill>
                          <a:latin typeface="Arial"/>
                        </a:rPr>
                        <a:t>Iterative nonlinear reconstructors reach machine precision below 0.25 rad rms; phase sorting extends to 0.75 rad; adding wavelengths to 1.4 rad rms</a:t>
                      </a:r>
                    </a:p>
                  </a:txBody>
                  <a:tcPr marL="54864" marR="54864" marT="18288" marB="18288">
                    <a:solidFill>
                      <a:srgbClr val="FFFFFF"/>
                    </a:solidFill>
                  </a:tcPr>
                </a:tc>
              </a:tr>
              <a:tr h="468630">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Darcis, Haffert, Chambouleyron, Doelman et al. 2025, A&amp;A</a:t>
                      </a:r>
                    </a:p>
                  </a:txBody>
                  <a:tcPr marL="54864" marR="54864" marT="18288" marB="18288">
                    <a:solidFill>
                      <a:srgbClr val="ECF1F6"/>
                    </a:solidFill>
                  </a:tcPr>
                </a:tc>
                <a:tc>
                  <a:txBody>
                    <a:bodyPr wrap="square"/>
                    <a:lstStyle/>
                    <a:p>
                      <a:r>
                        <a:rPr sz="1100" b="0">
                          <a:solidFill>
                            <a:srgbClr val="282828"/>
                          </a:solidFill>
                          <a:latin typeface="Arial"/>
                        </a:rPr>
                        <a:t>Multi-wavelength gradient descent through the forward model: dynamic range for the scalar sensor, photon robustness across a wider band, two-wavelength unwrapping of petal errors</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Priority = payoff against this campaign's measured weak results.  Synopses and links: macos/REPORT_zwfs_lit_scan.md.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Demonstrations, segmented mirrors, and the in-house precedent</a:t>
            </a:r>
          </a:p>
          <a:p>
            <a:pPr>
              <a:spcAft>
                <a:spcPts val="0"/>
              </a:spcAft>
            </a:pPr>
            <a:r>
              <a:rPr sz="1250" b="0">
                <a:solidFill>
                  <a:srgbClr val="6E6E6E"/>
                </a:solidFill>
                <a:latin typeface="Arial"/>
              </a:rPr>
              <a:t>Picometers by alternating DM shapes and averaging; segment piston by model iteration, underestimated below 50 % Strehl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91592"/>
                <a:gridCol w="3730058"/>
                <a:gridCol w="7347084"/>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Steeves, Wallace, Kettenbeil, Jewell 2020, Optica 7, 1267</a:t>
                      </a:r>
                    </a:p>
                  </a:txBody>
                  <a:tcPr marL="54864" marR="54864" marT="18288" marB="18288">
                    <a:solidFill>
                      <a:srgbClr val="FFFFFF"/>
                    </a:solidFill>
                  </a:tcPr>
                </a:tc>
                <a:tc>
                  <a:txBody>
                    <a:bodyPr wrap="square"/>
                    <a:lstStyle/>
                    <a:p>
                      <a:r>
                        <a:rPr sz="1100" b="0">
                          <a:solidFill>
                            <a:srgbClr val="282828"/>
                          </a:solidFill>
                          <a:latin typeface="Arial"/>
                        </a:rPr>
                        <a:t>1.6 pm repeatability in 4.3 s by alternating flat and waffle DM shapes and averaging the differences; a reconstruction robust at the highest spatial frequencies</a:t>
                      </a:r>
                    </a:p>
                  </a:txBody>
                  <a:tcPr marL="54864" marR="54864" marT="18288" marB="18288">
                    <a:solidFill>
                      <a:srgbClr val="FFFFFF"/>
                    </a:solidFill>
                  </a:tcPr>
                </a:tc>
              </a:tr>
              <a:tr h="468630">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Wallace, Rao, Jensen-Clem, Serabyn 2011, SPIE 8126</a:t>
                      </a:r>
                    </a:p>
                  </a:txBody>
                  <a:tcPr marL="54864" marR="54864" marT="18288" marB="18288">
                    <a:solidFill>
                      <a:srgbClr val="ECF1F6"/>
                    </a:solidFill>
                  </a:tcPr>
                </a:tc>
                <a:tc>
                  <a:txBody>
                    <a:bodyPr wrap="square"/>
                    <a:lstStyle/>
                    <a:p>
                      <a:r>
                        <a:rPr sz="1100" b="0">
                          <a:solidFill>
                            <a:srgbClr val="282828"/>
                          </a:solidFill>
                          <a:latin typeface="Arial"/>
                        </a:rPr>
                        <a:t>All-reflective phase-shifting Zernike interferometer: a dynamic, arbitrary core phase shift read in four steps gives phase and amplitude; low sensitivity to vibration, polarization and wavelength</a:t>
                      </a:r>
                    </a:p>
                  </a:txBody>
                  <a:tcPr marL="54864" marR="54864" marT="18288" marB="18288">
                    <a:solidFill>
                      <a:srgbClr val="ECF1F6"/>
                    </a:solidFill>
                  </a:tcPr>
                </a:tc>
              </a:tr>
              <a:tr h="468630">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Moore and Redding 2018, SPIE 10698</a:t>
                      </a:r>
                    </a:p>
                  </a:txBody>
                  <a:tcPr marL="54864" marR="54864" marT="18288" marB="18288">
                    <a:solidFill>
                      <a:srgbClr val="FFFFFF"/>
                    </a:solidFill>
                  </a:tcPr>
                </a:tc>
                <a:tc>
                  <a:txBody>
                    <a:bodyPr wrap="square"/>
                    <a:lstStyle/>
                    <a:p>
                      <a:r>
                        <a:rPr sz="1100" b="0">
                          <a:solidFill>
                            <a:srgbClr val="282828"/>
                          </a:solidFill>
                          <a:latin typeface="Arial"/>
                        </a:rPr>
                        <a:t>Nonlinear polychromatic physical-optics reconstruction for picometer differential metrology on LUVOIR; the in-house precedent for the reconstructor above</a:t>
                      </a:r>
                    </a:p>
                  </a:txBody>
                  <a:tcPr marL="54864" marR="54864" marT="18288" marB="18288">
                    <a:solidFill>
                      <a:srgbClr val="FFFFFF"/>
                    </a:solidFill>
                  </a:tcPr>
                </a:tc>
              </a:tr>
              <a:tr h="468630">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Keck vector-Zernike segment control 2024 (arXiv 2404.08728); Wallace et al. 2022 (arXiv 2205.02241)</a:t>
                      </a:r>
                    </a:p>
                  </a:txBody>
                  <a:tcPr marL="54864" marR="54864" marT="18288" marB="18288">
                    <a:solidFill>
                      <a:srgbClr val="ECF1F6"/>
                    </a:solidFill>
                  </a:tcPr>
                </a:tc>
                <a:tc>
                  <a:txBody>
                    <a:bodyPr wrap="square"/>
                    <a:lstStyle/>
                    <a:p>
                      <a:r>
                        <a:rPr sz="1100" b="0">
                          <a:solidFill>
                            <a:srgbClr val="282828"/>
                          </a:solidFill>
                          <a:latin typeface="Arial"/>
                        </a:rPr>
                        <a:t>Segment piston by model-based iteration; 11 nm rms piston uncertainty; underestimation 2 to 4× below 50 % Strehl; fabricated shifts 0.30π and 0.68π instead of ±0.5π</a:t>
                      </a:r>
                    </a:p>
                  </a:txBody>
                  <a:tcPr marL="54864" marR="54864" marT="18288" marB="18288">
                    <a:solidFill>
                      <a:srgbClr val="ECF1F6"/>
                    </a:solidFill>
                  </a:tcPr>
                </a:tc>
              </a:tr>
              <a:tr h="468630">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HiCAT mid-order Zernike sensor 2024 (arXiv 2409.03411)</a:t>
                      </a:r>
                    </a:p>
                  </a:txBody>
                  <a:tcPr marL="54864" marR="54864" marT="18288" marB="18288">
                    <a:solidFill>
                      <a:srgbClr val="FFFFFF"/>
                    </a:solidFill>
                  </a:tcPr>
                </a:tc>
                <a:tc>
                  <a:txBody>
                    <a:bodyPr wrap="square"/>
                    <a:lstStyle/>
                    <a:p>
                      <a:r>
                        <a:rPr sz="1100" b="0">
                          <a:solidFill>
                            <a:srgbClr val="282828"/>
                          </a:solidFill>
                          <a:latin typeface="Arial"/>
                        </a:rPr>
                        <a:t>Per-segment piston, tip and tilt by interaction matrix; a minimal step of 125 ± 31 pm at SNR 4; 14-bit DM quantization reads as steps in the response</a:t>
                      </a:r>
                    </a:p>
                  </a:txBody>
                  <a:tcPr marL="54864" marR="54864" marT="18288" marB="18288">
                    <a:solidFill>
                      <a:srgbClr val="FFFFFF"/>
                    </a:solidFill>
                  </a:tcPr>
                </a:tc>
              </a:tr>
              <a:tr h="468630">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Shi et al. 2015, SPIE 9605 (Roman low-order sensor)</a:t>
                      </a:r>
                    </a:p>
                  </a:txBody>
                  <a:tcPr marL="54864" marR="54864" marT="18288" marB="18288">
                    <a:solidFill>
                      <a:srgbClr val="ECF1F6"/>
                    </a:solidFill>
                  </a:tcPr>
                </a:tc>
                <a:tc>
                  <a:txBody>
                    <a:bodyPr wrap="square"/>
                    <a:lstStyle/>
                    <a:p>
                      <a:r>
                        <a:rPr sz="1100" b="0">
                          <a:solidFill>
                            <a:srgbClr val="282828"/>
                          </a:solidFill>
                          <a:latin typeface="Arial"/>
                        </a:rPr>
                        <a:t>A reflective dimple on the focal-plane mask senses Z2 to Z11 from the rejected starlight: the spatially filtered form of the same sensor</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Also read: PIAA-ZWFS (2026, arXiv 2606.28136), lossless pupil apodization that closes the gap to the fundamental sensitivity limit by 10× — a design lever, not a model change.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path per configuration</a:t>
            </a:r>
          </a:p>
          <a:p>
            <a:pPr>
              <a:spcAft>
                <a:spcPts val="0"/>
              </a:spcAft>
            </a:pPr>
            <a:r>
              <a:rPr sz="1250" b="0">
                <a:solidFill>
                  <a:srgbClr val="6E6E6E"/>
                </a:solidFill>
                <a:latin typeface="Arial"/>
              </a:rPr>
              <a:t>The runner stages and knobs each approach went through, in the order they ran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217670"/>
        </p:xfrm>
        <a:graphic>
          <a:graphicData uri="http://schemas.openxmlformats.org/drawingml/2006/table">
            <a:tbl>
              <a:tblPr firstRow="1" bandRow="1">
                <a:tableStyleId>{5C22544A-7EE6-4342-B048-85BDC9FD1C3A}</a:tableStyleId>
              </a:tblPr>
              <a:tblGrid>
                <a:gridCol w="1453895"/>
                <a:gridCol w="3250766"/>
                <a:gridCol w="3223677"/>
                <a:gridCol w="3440395"/>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interferometer (tg96_run)</a:t>
                      </a:r>
                    </a:p>
                  </a:txBody>
                  <a:tcPr marL="54864" marR="54864" marT="18288" marB="18288">
                    <a:solidFill>
                      <a:srgbClr val="1F4E79"/>
                    </a:solidFill>
                  </a:tcPr>
                </a:tc>
                <a:tc>
                  <a:txBody>
                    <a:bodyPr wrap="square"/>
                    <a:lstStyle/>
                    <a:p>
                      <a:r>
                        <a:rPr sz="1100" b="1">
                          <a:solidFill>
                            <a:srgbClr val="FFFFFF"/>
                          </a:solidFill>
                          <a:latin typeface="Arial"/>
                        </a:rPr>
                        <a:t>Zernike, scalar and vector (zwfs_run)</a:t>
                      </a:r>
                    </a:p>
                  </a:txBody>
                  <a:tcPr marL="54864" marR="54864" marT="18288" marB="18288">
                    <a:solidFill>
                      <a:srgbClr val="1F4E79"/>
                    </a:solidFill>
                  </a:tcPr>
                </a:tc>
                <a:tc>
                  <a:txBody>
                    <a:bodyPr wrap="square"/>
                    <a:lstStyle/>
                    <a:p>
                      <a:r>
                        <a:rPr sz="1100" b="1">
                          <a:solidFill>
                            <a:srgbClr val="FFFFFF"/>
                          </a:solidFill>
                          <a:latin typeface="Arial"/>
                        </a:rPr>
                        <a:t>point-diffraction (pdi_run over zwfs_run)</a:t>
                      </a:r>
                    </a:p>
                  </a:txBody>
                  <a:tcPr marL="54864" marR="54864" marT="18288" marB="18288">
                    <a:solidFill>
                      <a:srgbClr val="1F4E79"/>
                    </a:solidFill>
                  </a:tcPr>
                </a:tc>
              </a:tr>
              <a:tr h="657225">
                <a:tc>
                  <a:txBody>
                    <a:bodyPr wrap="square"/>
                    <a:lstStyle/>
                    <a:p>
                      <a:r>
                        <a:rPr sz="1100" b="0">
                          <a:solidFill>
                            <a:srgbClr val="282828"/>
                          </a:solidFill>
                          <a:latin typeface="Arial"/>
                        </a:rPr>
                        <a:t>build + gates</a:t>
                      </a:r>
                    </a:p>
                  </a:txBody>
                  <a:tcPr marL="54864" marR="54864" marT="18288" marB="18288">
                    <a:solidFill>
                      <a:srgbClr val="FFFFFF"/>
                    </a:solidFill>
                  </a:tcPr>
                </a:tc>
                <a:tc>
                  <a:txBody>
                    <a:bodyPr wrap="square"/>
                    <a:lstStyle/>
                    <a:p>
                      <a:r>
                        <a:rPr sz="1100" b="0">
                          <a:solidFill>
                            <a:srgbClr val="282828"/>
                          </a:solidFill>
                          <a:latin typeface="Arial"/>
                        </a:rPr>
                        <a:t>stage A clearance, A2 sampling, B build both arms; the detector leg's focus from tg96_tail; the wrapped phase difference</a:t>
                      </a:r>
                    </a:p>
                  </a:txBody>
                  <a:tcPr marL="54864" marR="54864" marT="18288" marB="18288">
                    <a:solidFill>
                      <a:srgbClr val="FFFFFF"/>
                    </a:solidFill>
                  </a:tcPr>
                </a:tc>
                <a:tc>
                  <a:txBody>
                    <a:bodyPr wrap="square"/>
                    <a:lstStyle/>
                    <a:p>
                      <a:r>
                        <a:rPr sz="1100" b="0">
                          <a:solidFill>
                            <a:srgbClr val="282828"/>
                          </a:solidFill>
                          <a:latin typeface="Arial"/>
                        </a:rPr>
                        <a:t>bench: the symmetric mask sandwich (the S7 correction), the mask gauge factory, gates G1 to G4, G8, G9, the mask figure</a:t>
                      </a:r>
                    </a:p>
                  </a:txBody>
                  <a:tcPr marL="54864" marR="54864" marT="18288" marB="18288">
                    <a:solidFill>
                      <a:srgbClr val="FFFFFF"/>
                    </a:solidFill>
                  </a:tcPr>
                </a:tc>
                <a:tc>
                  <a:txBody>
                    <a:bodyPr wrap="square"/>
                    <a:lstStyle/>
                    <a:p>
                      <a:r>
                        <a:rPr sz="1100" b="0">
                          <a:solidFill>
                            <a:srgbClr val="282828"/>
                          </a:solidFill>
                          <a:latin typeface="Arial"/>
                        </a:rPr>
                        <a:t>the pinhole gauge in the same seat; G5 (pinhole at full transmission equals the stepped Zernike); the P/SRI's two decks, G6, G7</a:t>
                      </a:r>
                    </a:p>
                  </a:txBody>
                  <a:tcPr marL="54864" marR="54864" marT="18288" marB="18288">
                    <a:solidFill>
                      <a:srgbClr val="FFFFFF"/>
                    </a:solidFill>
                  </a:tcPr>
                </a:tc>
              </a:tr>
              <a:tr h="657225">
                <a:tc>
                  <a:txBody>
                    <a:bodyPr wrap="square"/>
                    <a:lstStyle/>
                    <a:p>
                      <a:r>
                        <a:rPr sz="1100" b="0">
                          <a:solidFill>
                            <a:srgbClr val="282828"/>
                          </a:solidFill>
                          <a:latin typeface="Arial"/>
                        </a:rPr>
                        <a:t>calibration + rows</a:t>
                      </a:r>
                    </a:p>
                  </a:txBody>
                  <a:tcPr marL="54864" marR="54864" marT="18288" marB="18288">
                    <a:solidFill>
                      <a:srgbClr val="ECF1F6"/>
                    </a:solidFill>
                  </a:tcPr>
                </a:tc>
                <a:tc>
                  <a:txBody>
                    <a:bodyPr wrap="square"/>
                    <a:lstStyle/>
                    <a:p>
                      <a:r>
                        <a:rPr sz="1100" b="0">
                          <a:solidFill>
                            <a:srgbClr val="282828"/>
                          </a:solidFill>
                          <a:latin typeface="Arial"/>
                        </a:rPr>
                        <a:t>stage deck: matrix on the 30 nm surface; single, 52-site grid, dense</a:t>
                      </a:r>
                    </a:p>
                  </a:txBody>
                  <a:tcPr marL="54864" marR="54864" marT="18288" marB="18288">
                    <a:solidFill>
                      <a:srgbClr val="ECF1F6"/>
                    </a:solidFill>
                  </a:tcPr>
                </a:tc>
                <a:tc>
                  <a:txBody>
                    <a:bodyPr wrap="square"/>
                    <a:lstStyle/>
                    <a:p>
                      <a:r>
                        <a:rPr sz="1100" b="0">
                          <a:solidFill>
                            <a:srgbClr val="282828"/>
                          </a:solidFill>
                          <a:latin typeface="Arial"/>
                        </a:rPr>
                        <a:t>battery: matrix on the surface (record mode, stencil fix); the same three rows; readings L, I, I+, S, V</a:t>
                      </a:r>
                    </a:p>
                  </a:txBody>
                  <a:tcPr marL="54864" marR="54864" marT="18288" marB="18288">
                    <a:solidFill>
                      <a:srgbClr val="ECF1F6"/>
                    </a:solidFill>
                  </a:tcPr>
                </a:tc>
                <a:tc>
                  <a:txBody>
                    <a:bodyPr wrap="square"/>
                    <a:lstStyle/>
                    <a:p>
                      <a:r>
                        <a:rPr sz="1100" b="0">
                          <a:solidFill>
                            <a:srgbClr val="282828"/>
                          </a:solidFill>
                          <a:latin typeface="Arial"/>
                        </a:rPr>
                        <a:t>battery through the shared runner; readings P (five-frame scan, shutter frame), PF (traced reference)</a:t>
                      </a:r>
                    </a:p>
                  </a:txBody>
                  <a:tcPr marL="54864" marR="54864" marT="18288" marB="18288">
                    <a:solidFill>
                      <a:srgbClr val="ECF1F6"/>
                    </a:solidFill>
                  </a:tcPr>
                </a:tc>
              </a:tr>
              <a:tr h="468630">
                <a:tc>
                  <a:txBody>
                    <a:bodyPr wrap="square"/>
                    <a:lstStyle/>
                    <a:p>
                      <a:r>
                        <a:rPr sz="1100" b="0">
                          <a:solidFill>
                            <a:srgbClr val="282828"/>
                          </a:solidFill>
                          <a:latin typeface="Arial"/>
                        </a:rPr>
                        <a:t>capture range</a:t>
                      </a:r>
                    </a:p>
                  </a:txBody>
                  <a:tcPr marL="54864" marR="54864" marT="18288" marB="18288">
                    <a:solidFill>
                      <a:srgbClr val="FFFFFF"/>
                    </a:solidFill>
                  </a:tcPr>
                </a:tc>
                <a:tc>
                  <a:txBody>
                    <a:bodyPr wrap="square"/>
                    <a:lstStyle/>
                    <a:p>
                      <a:r>
                        <a:rPr sz="1100" b="0">
                          <a:solidFill>
                            <a:srgbClr val="282828"/>
                          </a:solidFill>
                          <a:latin typeface="Arial"/>
                        </a:rPr>
                        <a:t>aging 30 to 480 nm; re-measured to 160; photons</a:t>
                      </a:r>
                    </a:p>
                  </a:txBody>
                  <a:tcPr marL="54864" marR="54864" marT="18288" marB="18288">
                    <a:solidFill>
                      <a:srgbClr val="FFFFFF"/>
                    </a:solidFill>
                  </a:tcPr>
                </a:tc>
                <a:tc>
                  <a:txBody>
                    <a:bodyPr wrap="square"/>
                    <a:lstStyle/>
                    <a:p>
                      <a:r>
                        <a:rPr sz="1100" b="0">
                          <a:solidFill>
                            <a:srgbClr val="282828"/>
                          </a:solidFill>
                          <a:latin typeface="Arial"/>
                        </a:rPr>
                        <a:t>the ladder with the capture-range print; base_rms rungs; noise stage per rung</a:t>
                      </a:r>
                    </a:p>
                  </a:txBody>
                  <a:tcPr marL="54864" marR="54864" marT="18288" marB="18288">
                    <a:solidFill>
                      <a:srgbClr val="FFFFFF"/>
                    </a:solidFill>
                  </a:tcPr>
                </a:tc>
                <a:tc>
                  <a:txBody>
                    <a:bodyPr wrap="square"/>
                    <a:lstStyle/>
                    <a:p>
                      <a:r>
                        <a:rPr sz="1100" b="0">
                          <a:solidFill>
                            <a:srgbClr val="282828"/>
                          </a:solidFill>
                          <a:latin typeface="Arial"/>
                        </a:rPr>
                        <a:t>the same knobs; the shutter frame's 480 nm</a:t>
                      </a:r>
                    </a:p>
                  </a:txBody>
                  <a:tcPr marL="54864" marR="54864" marT="18288" marB="18288">
                    <a:solidFill>
                      <a:srgbClr val="FFFFFF"/>
                    </a:solidFill>
                  </a:tcPr>
                </a:tc>
              </a:tr>
              <a:tr h="280035">
                <a:tc>
                  <a:txBody>
                    <a:bodyPr wrap="square"/>
                    <a:lstStyle/>
                    <a:p>
                      <a:r>
                        <a:rPr sz="1100" b="0">
                          <a:solidFill>
                            <a:srgbClr val="282828"/>
                          </a:solidFill>
                          <a:latin typeface="Arial"/>
                        </a:rPr>
                        <a:t>photons</a:t>
                      </a:r>
                    </a:p>
                  </a:txBody>
                  <a:tcPr marL="54864" marR="54864" marT="18288" marB="18288">
                    <a:solidFill>
                      <a:srgbClr val="ECF1F6"/>
                    </a:solidFill>
                  </a:tcPr>
                </a:tc>
                <a:tc>
                  <a:txBody>
                    <a:bodyPr wrap="square"/>
                    <a:lstStyle/>
                    <a:p>
                      <a:r>
                        <a:rPr sz="1100" b="0">
                          <a:solidFill>
                            <a:srgbClr val="282828"/>
                          </a:solidFill>
                          <a:latin typeface="Arial"/>
                        </a:rPr>
                        <a:t>S5 form and the loop's noise fit</a:t>
                      </a:r>
                    </a:p>
                  </a:txBody>
                  <a:tcPr marL="54864" marR="54864" marT="18288" marB="18288">
                    <a:solidFill>
                      <a:srgbClr val="ECF1F6"/>
                    </a:solidFill>
                  </a:tcPr>
                </a:tc>
                <a:tc>
                  <a:txBody>
                    <a:bodyPr wrap="square"/>
                    <a:lstStyle/>
                    <a:p>
                      <a:r>
                        <a:rPr sz="1100" b="0">
                          <a:solidFill>
                            <a:srgbClr val="282828"/>
                          </a:solidFill>
                          <a:latin typeface="Arial"/>
                        </a:rPr>
                        <a:t>noise stage: N(1 pm) flat and on-surface</a:t>
                      </a:r>
                    </a:p>
                  </a:txBody>
                  <a:tcPr marL="54864" marR="54864" marT="18288" marB="18288">
                    <a:solidFill>
                      <a:srgbClr val="ECF1F6"/>
                    </a:solidFill>
                  </a:tcPr>
                </a:tc>
                <a:tc>
                  <a:txBody>
                    <a:bodyPr wrap="square"/>
                    <a:lstStyle/>
                    <a:p>
                      <a:r>
                        <a:rPr sz="1100" b="0">
                          <a:solidFill>
                            <a:srgbClr val="282828"/>
                          </a:solidFill>
                          <a:latin typeface="Arial"/>
                        </a:rPr>
                        <a:t>noise stage; 2.0 vs 1.0 λF/D</a:t>
                      </a:r>
                    </a:p>
                  </a:txBody>
                  <a:tcPr marL="54864" marR="54864" marT="18288" marB="18288">
                    <a:solidFill>
                      <a:srgbClr val="ECF1F6"/>
                    </a:solidFill>
                  </a:tcPr>
                </a:tc>
              </a:tr>
              <a:tr h="468630">
                <a:tc>
                  <a:txBody>
                    <a:bodyPr wrap="square"/>
                    <a:lstStyle/>
                    <a:p>
                      <a:r>
                        <a:rPr sz="1100" b="0">
                          <a:solidFill>
                            <a:srgbClr val="282828"/>
                          </a:solidFill>
                          <a:latin typeface="Arial"/>
                        </a:rPr>
                        <a:t>loop</a:t>
                      </a:r>
                    </a:p>
                  </a:txBody>
                  <a:tcPr marL="54864" marR="54864" marT="18288" marB="18288">
                    <a:solidFill>
                      <a:srgbClr val="FFFFFF"/>
                    </a:solidFill>
                  </a:tcPr>
                </a:tc>
                <a:tc>
                  <a:txBody>
                    <a:bodyPr wrap="square"/>
                    <a:lstStyle/>
                    <a:p>
                      <a:r>
                        <a:rPr sz="1100" b="0">
                          <a:solidFill>
                            <a:srgbClr val="282828"/>
                          </a:solidFill>
                          <a:latin typeface="Arial"/>
                        </a:rPr>
                        <a:t>shared loop; PZT step error; camera and DM within-scan walks</a:t>
                      </a:r>
                    </a:p>
                  </a:txBody>
                  <a:tcPr marL="54864" marR="54864" marT="18288" marB="18288">
                    <a:solidFill>
                      <a:srgbClr val="FFFFFF"/>
                    </a:solidFill>
                  </a:tcPr>
                </a:tc>
                <a:tc>
                  <a:txBody>
                    <a:bodyPr wrap="square"/>
                    <a:lstStyle/>
                    <a:p>
                      <a:r>
                        <a:rPr sz="1100" b="0">
                          <a:solidFill>
                            <a:srgbClr val="282828"/>
                          </a:solidFill>
                          <a:latin typeface="Arial"/>
                        </a:rPr>
                        <a:t>shared loop: noise, walk, ramp, step; camera drift forms</a:t>
                      </a:r>
                    </a:p>
                  </a:txBody>
                  <a:tcPr marL="54864" marR="54864" marT="18288" marB="18288">
                    <a:solidFill>
                      <a:srgbClr val="FFFFFF"/>
                    </a:solidFill>
                  </a:tcPr>
                </a:tc>
                <a:tc>
                  <a:txBody>
                    <a:bodyPr wrap="square"/>
                    <a:lstStyle/>
                    <a:p>
                      <a:r>
                        <a:rPr sz="1100" b="0">
                          <a:solidFill>
                            <a:srgbClr val="282828"/>
                          </a:solidFill>
                          <a:latin typeface="Arial"/>
                        </a:rPr>
                        <a:t>shared loop; within-scan drift; reference-arm walk</a:t>
                      </a:r>
                    </a:p>
                  </a:txBody>
                  <a:tcPr marL="54864" marR="54864" marT="18288" marB="18288">
                    <a:solidFill>
                      <a:srgbClr val="FFFFFF"/>
                    </a:solidFill>
                  </a:tcPr>
                </a:tc>
              </a:tr>
              <a:tr h="468630">
                <a:tc>
                  <a:txBody>
                    <a:bodyPr wrap="square"/>
                    <a:lstStyle/>
                    <a:p>
                      <a:r>
                        <a:rPr sz="1100" b="0">
                          <a:solidFill>
                            <a:srgbClr val="282828"/>
                          </a:solidFill>
                          <a:latin typeface="Arial"/>
                        </a:rPr>
                        <a:t>descent</a:t>
                      </a:r>
                    </a:p>
                  </a:txBody>
                  <a:tcPr marL="54864" marR="54864" marT="18288" marB="18288">
                    <a:solidFill>
                      <a:srgbClr val="ECF1F6"/>
                    </a:solidFill>
                  </a:tcPr>
                </a:tc>
                <a:tc>
                  <a:txBody>
                    <a:bodyPr wrap="square"/>
                    <a:lstStyle/>
                    <a:p>
                      <a:r>
                        <a:rPr sz="1100" b="0">
                          <a:solidFill>
                            <a:srgbClr val="282828"/>
                          </a:solidFill>
                          <a:latin typeface="Arial"/>
                        </a:rPr>
                        <a:t>unwrap alone: 60 to 300 nm starts</a:t>
                      </a:r>
                    </a:p>
                  </a:txBody>
                  <a:tcPr marL="54864" marR="54864" marT="18288" marB="18288">
                    <a:solidFill>
                      <a:srgbClr val="ECF1F6"/>
                    </a:solidFill>
                  </a:tcPr>
                </a:tc>
                <a:tc>
                  <a:txBody>
                    <a:bodyPr wrap="square"/>
                    <a:lstStyle/>
                    <a:p>
                      <a:r>
                        <a:rPr sz="1100" b="0">
                          <a:solidFill>
                            <a:srgbClr val="282828"/>
                          </a:solidFill>
                          <a:latin typeface="Arial"/>
                        </a:rPr>
                        <a:t>the start ladder: self-referenced readings blind past 60 nm</a:t>
                      </a:r>
                    </a:p>
                  </a:txBody>
                  <a:tcPr marL="54864" marR="54864" marT="18288" marB="18288">
                    <a:solidFill>
                      <a:srgbClr val="ECF1F6"/>
                    </a:solidFill>
                  </a:tcPr>
                </a:tc>
                <a:tc>
                  <a:txBody>
                    <a:bodyPr wrap="square"/>
                    <a:lstStyle/>
                    <a:p>
                      <a:r>
                        <a:rPr sz="1100" b="0">
                          <a:solidFill>
                            <a:srgbClr val="282828"/>
                          </a:solidFill>
                          <a:latin typeface="Arial"/>
                        </a:rPr>
                        <a:t>unwrap + recalibration: 100 nm with the shutter frame</a:t>
                      </a:r>
                    </a:p>
                  </a:txBody>
                  <a:tcPr marL="54864" marR="54864" marT="18288" marB="18288">
                    <a:solidFill>
                      <a:srgbClr val="ECF1F6"/>
                    </a:solidFill>
                  </a:tcPr>
                </a:tc>
              </a:tr>
              <a:tr h="468630">
                <a:tc>
                  <a:txBody>
                    <a:bodyPr wrap="square"/>
                    <a:lstStyle/>
                    <a:p>
                      <a:r>
                        <a:rPr sz="1100" b="0">
                          <a:solidFill>
                            <a:srgbClr val="282828"/>
                          </a:solidFill>
                          <a:latin typeface="Arial"/>
                        </a:rPr>
                        <a:t>systematics</a:t>
                      </a:r>
                    </a:p>
                  </a:txBody>
                  <a:tcPr marL="54864" marR="54864" marT="18288" marB="18288">
                    <a:solidFill>
                      <a:srgbClr val="FFFFFF"/>
                    </a:solidFill>
                  </a:tcPr>
                </a:tc>
                <a:tc>
                  <a:txBody>
                    <a:bodyPr wrap="square"/>
                    <a:lstStyle/>
                    <a:p>
                      <a:r>
                        <a:rPr sz="1100" b="0">
                          <a:solidFill>
                            <a:srgbClr val="282828"/>
                          </a:solidFill>
                          <a:latin typeface="Arial"/>
                        </a:rPr>
                        <a:t>the three phase-shift forms; coatings; alignment (D4); OAP seat trim</a:t>
                      </a:r>
                    </a:p>
                  </a:txBody>
                  <a:tcPr marL="54864" marR="54864" marT="18288" marB="18288">
                    <a:solidFill>
                      <a:srgbClr val="FFFFFF"/>
                    </a:solidFill>
                  </a:tcPr>
                </a:tc>
                <a:tc>
                  <a:txBody>
                    <a:bodyPr wrap="square"/>
                    <a:lstStyle/>
                    <a:p>
                      <a:r>
                        <a:rPr sz="1100" b="0">
                          <a:solidFill>
                            <a:srgbClr val="282828"/>
                          </a:solidFill>
                          <a:latin typeface="Arial"/>
                        </a:rPr>
                        <a:t>V2 metasurface, V3 arm maps, V4 analyzer, V5 clear frame; color; sampling</a:t>
                      </a:r>
                    </a:p>
                  </a:txBody>
                  <a:tcPr marL="54864" marR="54864" marT="18288" marB="18288">
                    <a:solidFill>
                      <a:srgbClr val="FFFFFF"/>
                    </a:solidFill>
                  </a:tcPr>
                </a:tc>
                <a:tc>
                  <a:txBody>
                    <a:bodyPr wrap="square"/>
                    <a:lstStyle/>
                    <a:p>
                      <a:r>
                        <a:rPr sz="1100" b="0">
                          <a:solidFill>
                            <a:srgbClr val="282828"/>
                          </a:solidFill>
                          <a:latin typeface="Arial"/>
                        </a:rPr>
                        <a:t>step schemes; camera drift; reference motion and walk; pinhole diameter</a:t>
                      </a:r>
                    </a:p>
                  </a:txBody>
                  <a:tcPr marL="54864" marR="54864" marT="18288" marB="18288">
                    <a:solidFill>
                      <a:srgbClr val="FFFFFF"/>
                    </a:solidFill>
                  </a:tcPr>
                </a:tc>
              </a:tr>
              <a:tr h="468630">
                <a:tc>
                  <a:txBody>
                    <a:bodyPr wrap="square"/>
                    <a:lstStyle/>
                    <a:p>
                      <a:r>
                        <a:rPr sz="1100" b="0">
                          <a:solidFill>
                            <a:srgbClr val="282828"/>
                          </a:solidFill>
                          <a:latin typeface="Arial"/>
                        </a:rPr>
                        <a:t>layout + parts</a:t>
                      </a:r>
                    </a:p>
                  </a:txBody>
                  <a:tcPr marL="54864" marR="54864" marT="18288" marB="18288">
                    <a:solidFill>
                      <a:srgbClr val="ECF1F6"/>
                    </a:solidFill>
                  </a:tcPr>
                </a:tc>
                <a:tc>
                  <a:txBody>
                    <a:bodyPr wrap="square"/>
                    <a:lstStyle/>
                    <a:p>
                      <a:r>
                        <a:rPr sz="1100" b="0">
                          <a:solidFill>
                            <a:srgbClr val="282828"/>
                          </a:solidFill>
                          <a:latin typeface="Arial"/>
                        </a:rPr>
                        <a:t>the view_rx recipe: train, node, detector leg</a:t>
                      </a:r>
                    </a:p>
                  </a:txBody>
                  <a:tcPr marL="54864" marR="54864" marT="18288" marB="18288">
                    <a:solidFill>
                      <a:srgbClr val="ECF1F6"/>
                    </a:solidFill>
                  </a:tcPr>
                </a:tc>
                <a:tc>
                  <a:txBody>
                    <a:bodyPr wrap="square"/>
                    <a:lstStyle/>
                    <a:p>
                      <a:r>
                        <a:rPr sz="1100" b="0">
                          <a:solidFill>
                            <a:srgbClr val="282828"/>
                          </a:solidFill>
                          <a:latin typeface="Arial"/>
                        </a:rPr>
                        <a:t>zwfs_vlayout: both channel decks; the bench clearance tool</a:t>
                      </a:r>
                    </a:p>
                  </a:txBody>
                  <a:tcPr marL="54864" marR="54864" marT="18288" marB="18288">
                    <a:solidFill>
                      <a:srgbClr val="ECF1F6"/>
                    </a:solidFill>
                  </a:tcPr>
                </a:tc>
                <a:tc>
                  <a:txBody>
                    <a:bodyPr wrap="square"/>
                    <a:lstStyle/>
                    <a:p>
                      <a:r>
                        <a:rPr sz="1100" b="0">
                          <a:solidFill>
                            <a:srgbClr val="282828"/>
                          </a:solidFill>
                          <a:latin typeface="Arial"/>
                        </a:rPr>
                        <a:t>pdi_vfig_util: pinhole and P/SRI layouts</a:t>
                      </a:r>
                    </a:p>
                  </a:txBody>
                  <a:tcPr marL="54864" marR="54864" marT="18288" marB="18288">
                    <a:solidFill>
                      <a:srgbClr val="ECF1F6"/>
                    </a:solidFill>
                  </a:tcPr>
                </a:tc>
              </a:tr>
            </a:tbl>
          </a:graphicData>
        </a:graphic>
      </p:graphicFrame>
      <p:sp>
        <p:nvSpPr>
          <p:cNvPr id="5" name="TextBox 4"/>
          <p:cNvSpPr txBox="1"/>
          <p:nvPr/>
        </p:nvSpPr>
        <p:spPr>
          <a:xfrm>
            <a:off x="411480" y="5662422"/>
            <a:ext cx="11368735" cy="274320"/>
          </a:xfrm>
          <a:prstGeom prst="rect">
            <a:avLst/>
          </a:prstGeom>
          <a:noFill/>
        </p:spPr>
        <p:txBody>
          <a:bodyPr wrap="square">
            <a:spAutoFit/>
          </a:bodyPr>
          <a:lstStyle/>
          <a:p>
            <a:pPr>
              <a:spcAft>
                <a:spcPts val="600"/>
              </a:spcAft>
            </a:pPr>
            <a:r>
              <a:rPr sz="1050" b="0">
                <a:solidFill>
                  <a:srgbClr val="6E6E6E"/>
                </a:solidFill>
                <a:latin typeface="Arial"/>
              </a:rPr>
              <a:t>Directories tg_psi_dm96_oap, zwfs_dm96, pdi_dm96 and the shared dm_gauge_lib under MACOS_resources/mmacos/templates/40_benches; each README's "run it yourself" reproduces its column.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Provenance</a:t>
            </a:r>
          </a:p>
          <a:p>
            <a:pPr>
              <a:spcAft>
                <a:spcPts val="0"/>
              </a:spcAft>
            </a:pPr>
            <a:r>
              <a:rPr sz="1250" b="0">
                <a:solidFill>
                  <a:srgbClr val="6E6E6E"/>
                </a:solidFill>
                <a:latin typeface="Arial"/>
              </a:rPr>
              <a:t>Every number in this deck has a run tag in a committed run directory of the shared model; the three lane reports carry the full tables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Interferometer</a:t>
            </a:r>
            <a:r>
              <a:rPr sz="1500" b="0">
                <a:solidFill>
                  <a:srgbClr val="282828"/>
                </a:solidFill>
                <a:latin typeface="Arial"/>
              </a:rPr>
              <a:t> (tg_psi_dm96_oap/runs): lens_deck, lens_deck_se2, lens_deck_se5, loop_lens, loop_lens_cam, loop_lens_intra, loop_lens_se2, descent_lens, oap_deck, loop_oap, descent_oap, oap_bareAl, oap_coat, oap_jones, zoap (the 7° rigs); lens22, lens22g, lens22h, node22t, fold1-4, loss, loss_src, loss_a2, conj, zseat, zseat2, oap22d, oapdraw3, oap22d_tail, tailA, tailB, oapifo2, oapifol2, oapdesc2, oapuw2, lensuw2, thk22, sub22, aoi_lens22, aoi_oap22, gate3_win, gate3_lens, wrapoap, wraplens, stnoap, stnlens, pupilq_lens, pupilq_oap (the 22.5° bench and the redesigned reflective rig); pdi_dm96/runs/psriclear2 (the P/SRI bench through the clearance tool).  Reports REPORT_gauge_ifo.md (CCMac) with REPORT_oap.md, REPORT_bench_realism.md and REPORT_reflective.md (TO), and README.md.</a:t>
            </a:r>
          </a:p>
          <a:p>
            <a:pPr>
              <a:spcAft>
                <a:spcPts val="600"/>
              </a:spcAft>
            </a:pPr>
            <a:r>
              <a:rPr sz="1500" b="0">
                <a:solidFill>
                  <a:srgbClr val="282828"/>
                </a:solidFill>
                <a:latin typeface="Arial"/>
              </a:rPr>
              <a:t>•  </a:t>
            </a:r>
            <a:r>
              <a:rPr sz="1500" b="1">
                <a:solidFill>
                  <a:srgbClr val="282828"/>
                </a:solidFill>
                <a:latin typeface="Arial"/>
              </a:rPr>
              <a:t>Zernike sensors</a:t>
            </a:r>
            <a:r>
              <a:rPr sz="1500" b="0">
                <a:solidFill>
                  <a:srgbClr val="282828"/>
                </a:solidFill>
                <a:latin typeface="Arial"/>
              </a:rPr>
              <a:t> (zwfs_dm96/runs): matbase, matbase385, m2048, m2048_lat, cap385, cap385_b60-b160, noise193_b30-b160, rec193full, loop193, loop385, v193base, v193noise, vloop193, fold_diag, v2g, v2loop, v3arm, v3s, v3loop, an193_ref/cube/q300/q100/az1/bound/clear, stations193, gate22_193, sub22, thk22 (the 22.5° bench with substrates and thicknesses), oapsens22, oapsens22n, vqw22, vmap22, oaploop22, oapnoise22 (the sensors on the redesigned mirror rig).  README.md (CCL) and deck_zwfs.md.</a:t>
            </a:r>
          </a:p>
          <a:p>
            <a:pPr>
              <a:spcAft>
                <a:spcPts val="600"/>
              </a:spcAft>
            </a:pPr>
            <a:r>
              <a:rPr sz="1500" b="0">
                <a:solidFill>
                  <a:srgbClr val="282828"/>
                </a:solidFill>
                <a:latin typeface="Arial"/>
              </a:rPr>
              <a:t>•  </a:t>
            </a:r>
            <a:r>
              <a:rPr sz="1500" b="1">
                <a:solidFill>
                  <a:srgbClr val="282828"/>
                </a:solidFill>
                <a:latin typeface="Arial"/>
              </a:rPr>
              <a:t>Point-diffraction</a:t>
            </a:r>
            <a:r>
              <a:rPr sz="1500" b="0">
                <a:solidFill>
                  <a:srgbClr val="282828"/>
                </a:solidFill>
                <a:latin typeface="Arial"/>
              </a:rPr>
              <a:t> (pdi_dm96/runs, and the pre-split records in zwfs_dm96/runs): pdi193f, pdi193fbase, pdi193state, pdi193se_ls, pdi193se_sh5, ploop193, pcam193, pcam193r, pcam193ri, pfdeck, pfdeck_frz, pfdeck_loop, cap385p, cap385p_b60-b160, noise193p_b30-b160, cap_nouw, cap_uw, cap_uw_recal, cap_state_uw, cap_state_uw_recal, descent193, descent193s, descent193f, intra193_0, intra193, rw193_1e3/1e2/1e1, pin20_1024, pin20_loop, pin10_2048, pin10_loop.  Report REPORT_gauge_pdi.md (TO) and README.md.</a:t>
            </a:r>
          </a:p>
          <a:p>
            <a:pPr>
              <a:spcAft>
                <a:spcPts val="600"/>
              </a:spcAft>
            </a:pPr>
            <a:r>
              <a:rPr sz="1500" b="0">
                <a:solidFill>
                  <a:srgbClr val="282828"/>
                </a:solidFill>
                <a:latin typeface="Arial"/>
              </a:rPr>
              <a:t>•  </a:t>
            </a:r>
            <a:r>
              <a:rPr sz="1500" b="1">
                <a:solidFill>
                  <a:srgbClr val="282828"/>
                </a:solidFill>
                <a:latin typeface="Arial"/>
              </a:rPr>
              <a:t>Plan and rulings:</a:t>
            </a:r>
            <a:r>
              <a:rPr sz="1500" b="0">
                <a:solidFill>
                  <a:srgbClr val="282828"/>
                </a:solidFill>
                <a:latin typeface="Arial"/>
              </a:rPr>
              <a:t> macos/BRIEF_gauge_deck.md sections 5-11.  Raw material with every figure's pixel size: demo_session/deck_gauges_material.md.</a:t>
            </a:r>
          </a:p>
          <a:p>
            <a:pPr>
              <a:spcAft>
                <a:spcPts val="600"/>
              </a:spcAft>
            </a:pPr>
            <a:r>
              <a:rPr sz="1500" b="0">
                <a:solidFill>
                  <a:srgbClr val="282828"/>
                </a:solidFill>
                <a:latin typeface="Arial"/>
              </a:rPr>
              <a:t>•  </a:t>
            </a:r>
            <a:r>
              <a:rPr sz="1500" b="1">
                <a:solidFill>
                  <a:srgbClr val="282828"/>
                </a:solidFill>
                <a:latin typeface="Arial"/>
              </a:rPr>
              <a:t>Engine:</a:t>
            </a:r>
            <a:r>
              <a:rPr sz="1500" b="0">
                <a:solidFill>
                  <a:srgbClr val="282828"/>
                </a:solidFill>
                <a:latin typeface="Arial"/>
              </a:rPr>
              <a:t> MACOS on dev-candidate; mmacos fast suite 481 pass, 0 fail (2026-09-14); the polarization physics (Jones pupils, coatings, retarders, the metasurface's leak) from the engine's own polarized traces.</a:t>
            </a:r>
          </a:p>
        </p:txBody>
      </p:sp>
      <p:sp>
        <p:nvSpPr>
          <p:cNvPr id="5" name="TextBox 4"/>
          <p:cNvSpPr txBox="1"/>
          <p:nvPr/>
        </p:nvSpPr>
        <p:spPr>
          <a:xfrm>
            <a:off x="411480" y="7236714"/>
            <a:ext cx="11368735" cy="274320"/>
          </a:xfrm>
          <a:prstGeom prst="rect">
            <a:avLst/>
          </a:prstGeom>
          <a:noFill/>
        </p:spPr>
        <p:txBody>
          <a:bodyPr wrap="square">
            <a:spAutoFit/>
          </a:bodyPr>
          <a:lstStyle/>
          <a:p>
            <a:pPr>
              <a:spcAft>
                <a:spcPts val="600"/>
              </a:spcAft>
            </a:pPr>
            <a:r>
              <a:rPr sz="1050" b="0">
                <a:solidFill>
                  <a:srgbClr val="6E6E6E"/>
                </a:solidFill>
                <a:latin typeface="Arial"/>
              </a:rPr>
              <a:t>Model sizes: 1024 grid with 193 rays for most rows, 2048 with 385 for the compliant sampling; one engine MATLAB at a time on the box, 11-20 GB.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