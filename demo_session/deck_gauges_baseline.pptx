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3</a:t>
            </a:r>
            <a:r>
              <a:rPr sz="1500" b="0">
                <a:solidFill>
                  <a:srgbClr val="282828"/>
                </a:solidFill>
                <a:latin typeface="Arial"/>
              </a:rPr>
              <a:t> One optical bench to demo 4 surface gauges, in mirror and lens forms</a:t>
            </a:r>
          </a:p>
          <a:p>
            <a:pPr>
              <a:spcAft>
                <a:spcPts val="600"/>
              </a:spcAft>
            </a:pPr>
            <a:r>
              <a:rPr sz="1500" b="0">
                <a:solidFill>
                  <a:srgbClr val="282828"/>
                </a:solidFill>
                <a:latin typeface="Arial"/>
              </a:rPr>
              <a:t>•  </a:t>
            </a:r>
            <a:r>
              <a:rPr sz="1500" b="1">
                <a:solidFill>
                  <a:srgbClr val="282828"/>
                </a:solidFill>
                <a:latin typeface="Arial"/>
              </a:rPr>
              <a:t>4</a:t>
            </a:r>
            <a:r>
              <a:rPr sz="1500" b="0">
                <a:solidFill>
                  <a:srgbClr val="282828"/>
                </a:solidFill>
                <a:latin typeface="Arial"/>
              </a:rPr>
              <a:t> Introduction: the three jobs and how they are scored</a:t>
            </a:r>
          </a:p>
          <a:p>
            <a:pPr>
              <a:spcAft>
                <a:spcPts val="600"/>
              </a:spcAft>
            </a:pPr>
            <a:r>
              <a:rPr sz="1500" b="0">
                <a:solidFill>
                  <a:srgbClr val="282828"/>
                </a:solidFill>
                <a:latin typeface="Arial"/>
              </a:rPr>
              <a:t>•  </a:t>
            </a:r>
            <a:r>
              <a:rPr sz="1500" b="1">
                <a:solidFill>
                  <a:srgbClr val="282828"/>
                </a:solidFill>
                <a:latin typeface="Arial"/>
              </a:rPr>
              <a:t>5</a:t>
            </a:r>
            <a:r>
              <a:rPr sz="1500" b="0">
                <a:solidFill>
                  <a:srgbClr val="282828"/>
                </a:solidFill>
                <a:latin typeface="Arial"/>
              </a:rPr>
              <a:t> The bench layout</a:t>
            </a:r>
          </a:p>
          <a:p>
            <a:pPr>
              <a:spcAft>
                <a:spcPts val="600"/>
              </a:spcAft>
            </a:pPr>
            <a:r>
              <a:rPr sz="1500" b="0">
                <a:solidFill>
                  <a:srgbClr val="282828"/>
                </a:solidFill>
                <a:latin typeface="Arial"/>
              </a:rPr>
              <a:t>•  </a:t>
            </a:r>
            <a:r>
              <a:rPr sz="1500" b="1">
                <a:solidFill>
                  <a:srgbClr val="282828"/>
                </a:solidFill>
                <a:latin typeface="Arial"/>
              </a:rPr>
              <a:t>7</a:t>
            </a:r>
            <a:r>
              <a:rPr sz="1500" b="0">
                <a:solidFill>
                  <a:srgbClr val="282828"/>
                </a:solidFill>
                <a:latin typeface="Arial"/>
              </a:rPr>
              <a:t> Parts: the front end and the detector leg</a:t>
            </a:r>
          </a:p>
          <a:p>
            <a:pPr>
              <a:spcAft>
                <a:spcPts val="600"/>
              </a:spcAft>
            </a:pPr>
            <a:r>
              <a:rPr sz="1500" b="0">
                <a:solidFill>
                  <a:srgbClr val="282828"/>
                </a:solidFill>
                <a:latin typeface="Arial"/>
              </a:rPr>
              <a:t>•  </a:t>
            </a:r>
            <a:r>
              <a:rPr sz="1500" b="1">
                <a:solidFill>
                  <a:srgbClr val="282828"/>
                </a:solidFill>
                <a:latin typeface="Arial"/>
              </a:rPr>
              <a:t>9</a:t>
            </a:r>
            <a:r>
              <a:rPr sz="1500" b="0">
                <a:solidFill>
                  <a:srgbClr val="282828"/>
                </a:solidFill>
                <a:latin typeface="Arial"/>
              </a:rPr>
              <a:t> Parts: the interferometer and the sensors</a:t>
            </a:r>
          </a:p>
          <a:p>
            <a:pPr>
              <a:spcAft>
                <a:spcPts val="600"/>
              </a:spcAft>
            </a:pPr>
            <a:r>
              <a:rPr sz="1500" b="0">
                <a:solidFill>
                  <a:srgbClr val="282828"/>
                </a:solidFill>
                <a:latin typeface="Arial"/>
              </a:rPr>
              <a:t>•  </a:t>
            </a:r>
            <a:r>
              <a:rPr sz="1500" b="1">
                <a:solidFill>
                  <a:srgbClr val="282828"/>
                </a:solidFill>
                <a:latin typeface="Arial"/>
              </a:rPr>
              <a:t>11</a:t>
            </a:r>
            <a:r>
              <a:rPr sz="1500" b="0">
                <a:solidFill>
                  <a:srgbClr val="282828"/>
                </a:solidFill>
                <a:latin typeface="Arial"/>
              </a:rPr>
              <a:t> Twyman-Green interferometer</a:t>
            </a:r>
          </a:p>
          <a:p>
            <a:pPr>
              <a:spcAft>
                <a:spcPts val="600"/>
              </a:spcAft>
            </a:pPr>
            <a:r>
              <a:rPr sz="1500" b="0">
                <a:solidFill>
                  <a:srgbClr val="282828"/>
                </a:solidFill>
                <a:latin typeface="Arial"/>
              </a:rPr>
              <a:t>•  </a:t>
            </a:r>
            <a:r>
              <a:rPr sz="1500" b="1">
                <a:solidFill>
                  <a:srgbClr val="282828"/>
                </a:solidFill>
                <a:latin typeface="Arial"/>
              </a:rPr>
              <a:t>17</a:t>
            </a:r>
            <a:r>
              <a:rPr sz="1500" b="0">
                <a:solidFill>
                  <a:srgbClr val="282828"/>
                </a:solidFill>
                <a:latin typeface="Arial"/>
              </a:rPr>
              <a:t> Zernike sensor</a:t>
            </a:r>
          </a:p>
          <a:p>
            <a:pPr>
              <a:spcAft>
                <a:spcPts val="600"/>
              </a:spcAft>
            </a:pPr>
            <a:r>
              <a:rPr sz="1500" b="0">
                <a:solidFill>
                  <a:srgbClr val="282828"/>
                </a:solidFill>
                <a:latin typeface="Arial"/>
              </a:rPr>
              <a:t>•  </a:t>
            </a:r>
            <a:r>
              <a:rPr sz="1500" b="1">
                <a:solidFill>
                  <a:srgbClr val="282828"/>
                </a:solidFill>
                <a:latin typeface="Arial"/>
              </a:rPr>
              <a:t>19</a:t>
            </a:r>
            <a:r>
              <a:rPr sz="1500" b="0">
                <a:solidFill>
                  <a:srgbClr val="282828"/>
                </a:solidFill>
                <a:latin typeface="Arial"/>
              </a:rPr>
              <a:t> Vector Zernike sensor</a:t>
            </a:r>
          </a:p>
          <a:p>
            <a:pPr>
              <a:spcAft>
                <a:spcPts val="600"/>
              </a:spcAft>
            </a:pPr>
            <a:r>
              <a:rPr sz="1500" b="0">
                <a:solidFill>
                  <a:srgbClr val="282828"/>
                </a:solidFill>
                <a:latin typeface="Arial"/>
              </a:rPr>
              <a:t>•  </a:t>
            </a:r>
            <a:r>
              <a:rPr sz="1500" b="1">
                <a:solidFill>
                  <a:srgbClr val="282828"/>
                </a:solidFill>
                <a:latin typeface="Arial"/>
              </a:rPr>
              <a:t>22</a:t>
            </a:r>
            <a:r>
              <a:rPr sz="1500" b="0">
                <a:solidFill>
                  <a:srgbClr val="282828"/>
                </a:solidFill>
                <a:latin typeface="Arial"/>
              </a:rPr>
              <a:t> Point-diffraction sensor</a:t>
            </a:r>
          </a:p>
          <a:p>
            <a:pPr>
              <a:spcAft>
                <a:spcPts val="600"/>
              </a:spcAft>
            </a:pPr>
            <a:r>
              <a:rPr sz="1500" b="0">
                <a:solidFill>
                  <a:srgbClr val="282828"/>
                </a:solidFill>
                <a:latin typeface="Arial"/>
              </a:rPr>
              <a:t>•  </a:t>
            </a:r>
            <a:r>
              <a:rPr sz="1500" b="1">
                <a:solidFill>
                  <a:srgbClr val="282828"/>
                </a:solidFill>
                <a:latin typeface="Arial"/>
              </a:rPr>
              <a:t>25</a:t>
            </a:r>
            <a:r>
              <a:rPr sz="1500" b="0">
                <a:solidFill>
                  <a:srgbClr val="282828"/>
                </a:solidFill>
                <a:latin typeface="Arial"/>
              </a:rPr>
              <a:t> Performance: rows, capture, photons, servo</a:t>
            </a:r>
          </a:p>
          <a:p>
            <a:pPr>
              <a:spcAft>
                <a:spcPts val="600"/>
              </a:spcAft>
            </a:pPr>
            <a:r>
              <a:rPr sz="1500" b="0">
                <a:solidFill>
                  <a:srgbClr val="282828"/>
                </a:solidFill>
                <a:latin typeface="Arial"/>
              </a:rPr>
              <a:t>•  </a:t>
            </a:r>
            <a:r>
              <a:rPr sz="1500" b="1">
                <a:solidFill>
                  <a:srgbClr val="282828"/>
                </a:solidFill>
                <a:latin typeface="Arial"/>
              </a:rPr>
              <a:t>31</a:t>
            </a:r>
            <a:r>
              <a:rPr sz="1500" b="0">
                <a:solidFill>
                  <a:srgbClr val="282828"/>
                </a:solidFill>
                <a:latin typeface="Arial"/>
              </a:rPr>
              <a:t> Lenses versus off-axis parabolas</a:t>
            </a:r>
          </a:p>
          <a:p>
            <a:pPr>
              <a:spcAft>
                <a:spcPts val="600"/>
              </a:spcAft>
            </a:pPr>
            <a:r>
              <a:rPr sz="1500" b="0">
                <a:solidFill>
                  <a:srgbClr val="282828"/>
                </a:solidFill>
                <a:latin typeface="Arial"/>
              </a:rPr>
              <a:t>•  </a:t>
            </a:r>
            <a:r>
              <a:rPr sz="1500" b="1">
                <a:solidFill>
                  <a:srgbClr val="282828"/>
                </a:solidFill>
                <a:latin typeface="Arial"/>
              </a:rPr>
              <a:t>32</a:t>
            </a:r>
            <a:r>
              <a:rPr sz="1500" b="0">
                <a:solidFill>
                  <a:srgbClr val="282828"/>
                </a:solidFill>
                <a:latin typeface="Arial"/>
              </a:rPr>
              <a:t> The reflective front end</a:t>
            </a:r>
          </a:p>
          <a:p>
            <a:pPr>
              <a:spcAft>
                <a:spcPts val="600"/>
              </a:spcAft>
            </a:pPr>
            <a:r>
              <a:rPr sz="1500" b="0">
                <a:solidFill>
                  <a:srgbClr val="282828"/>
                </a:solidFill>
                <a:latin typeface="Arial"/>
              </a:rPr>
              <a:t>•  </a:t>
            </a:r>
            <a:r>
              <a:rPr sz="1500" b="1">
                <a:solidFill>
                  <a:srgbClr val="282828"/>
                </a:solidFill>
                <a:latin typeface="Arial"/>
              </a:rPr>
              <a:t>33</a:t>
            </a:r>
            <a:r>
              <a:rPr sz="1500" b="0">
                <a:solidFill>
                  <a:srgbClr val="282828"/>
                </a:solidFill>
                <a:latin typeface="Arial"/>
              </a:rPr>
              <a:t> Comparison and recommendation</a:t>
            </a:r>
          </a:p>
          <a:p>
            <a:pPr>
              <a:spcAft>
                <a:spcPts val="600"/>
              </a:spcAft>
            </a:pPr>
            <a:r>
              <a:rPr sz="1500" b="0">
                <a:solidFill>
                  <a:srgbClr val="282828"/>
                </a:solidFill>
                <a:latin typeface="Arial"/>
              </a:rPr>
              <a:t>•  </a:t>
            </a:r>
            <a:r>
              <a:rPr sz="1500" b="1">
                <a:solidFill>
                  <a:srgbClr val="282828"/>
                </a:solidFill>
                <a:latin typeface="Arial"/>
              </a:rPr>
              <a:t>36</a:t>
            </a:r>
            <a:r>
              <a:rPr sz="1500" b="0">
                <a:solidFill>
                  <a:srgbClr val="282828"/>
                </a:solidFill>
                <a:latin typeface="Arial"/>
              </a:rPr>
              <a:t> Measuring the complex amplitude</a:t>
            </a:r>
          </a:p>
          <a:p>
            <a:pPr>
              <a:spcAft>
                <a:spcPts val="600"/>
              </a:spcAft>
            </a:pPr>
            <a:r>
              <a:rPr sz="1500" b="0">
                <a:solidFill>
                  <a:srgbClr val="282828"/>
                </a:solidFill>
                <a:latin typeface="Arial"/>
              </a:rPr>
              <a:t>•  </a:t>
            </a:r>
            <a:r>
              <a:rPr sz="1500" b="1">
                <a:solidFill>
                  <a:srgbClr val="282828"/>
                </a:solidFill>
                <a:latin typeface="Arial"/>
              </a:rPr>
              <a:t>37</a:t>
            </a:r>
            <a:r>
              <a:rPr sz="1500" b="0">
                <a:solidFill>
                  <a:srgbClr val="282828"/>
                </a:solidFill>
                <a:latin typeface="Arial"/>
              </a:rPr>
              <a:t> Summary and future work</a:t>
            </a:r>
          </a:p>
          <a:p>
            <a:pPr>
              <a:spcAft>
                <a:spcPts val="600"/>
              </a:spcAft>
            </a:pPr>
            <a:r>
              <a:rPr sz="1500" b="0">
                <a:solidFill>
                  <a:srgbClr val="282828"/>
                </a:solidFill>
                <a:latin typeface="Arial"/>
              </a:rPr>
              <a:t>•  </a:t>
            </a:r>
            <a:r>
              <a:rPr sz="1500" b="1">
                <a:solidFill>
                  <a:srgbClr val="282828"/>
                </a:solidFill>
                <a:latin typeface="Arial"/>
              </a:rPr>
              <a:t>42</a:t>
            </a:r>
            <a:r>
              <a:rPr sz="1500" b="0">
                <a:solidFill>
                  <a:srgbClr val="282828"/>
                </a:solidFill>
                <a:latin typeface="Arial"/>
              </a:rPr>
              <a:t> Run it yourself</a:t>
            </a:r>
          </a:p>
          <a:p>
            <a:pPr>
              <a:spcAft>
                <a:spcPts val="600"/>
              </a:spcAft>
            </a:pPr>
            <a:r>
              <a:rPr sz="1500" b="0">
                <a:solidFill>
                  <a:srgbClr val="282828"/>
                </a:solidFill>
                <a:latin typeface="Arial"/>
              </a:rPr>
              <a:t>•  </a:t>
            </a:r>
            <a:r>
              <a:rPr sz="1500" b="1">
                <a:solidFill>
                  <a:srgbClr val="282828"/>
                </a:solidFill>
                <a:latin typeface="Arial"/>
              </a:rPr>
              <a:t>43</a:t>
            </a:r>
            <a:r>
              <a:rPr sz="1500" b="0">
                <a:solidFill>
                  <a:srgbClr val="282828"/>
                </a:solidFill>
                <a:latin typeface="Arial"/>
              </a:rPr>
              <a:t>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 photon noise only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06065"/>
        </p:xfrm>
        <a:graphic>
          <a:graphicData uri="http://schemas.openxmlformats.org/drawingml/2006/table">
            <a:tbl>
              <a:tblPr firstRow="1" bandRow="1">
                <a:tableStyleId>{5C22544A-7EE6-4342-B048-85BDC9FD1C3A}</a:tableStyleId>
              </a:tblPr>
              <a:tblGrid>
                <a:gridCol w="1450493"/>
                <a:gridCol w="6076392"/>
                <a:gridCol w="1920924"/>
                <a:gridCol w="1920924"/>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 the polarization snapshot / the hybrid's piezo four-step</a:t>
                      </a:r>
                    </a:p>
                  </a:txBody>
                  <a:tcPr marL="54864" marR="54864" marT="18288" marB="18288">
                    <a:solidFill>
                      <a:srgbClr val="ECF1F6"/>
                    </a:solidFill>
                  </a:tcPr>
                </a:tc>
                <a:tc>
                  <a:txBody>
                    <a:bodyPr wrap="square"/>
                    <a:lstStyle/>
                    <a:p>
                      <a:r>
                        <a:rPr sz="1100" b="0">
                          <a:solidFill>
                            <a:srgbClr val="282828"/>
                          </a:solidFill>
                          <a:latin typeface="Arial"/>
                        </a:rPr>
                        <a:t>1.3 % (392 pm), gain 0.993 / 0.01 pm, gain 1.0000</a:t>
                      </a:r>
                    </a:p>
                  </a:txBody>
                  <a:tcPr marL="54864" marR="54864" marT="18288" marB="18288">
                    <a:solidFill>
                      <a:srgbClr val="ECF1F6"/>
                    </a:solidFill>
                  </a:tcPr>
                </a:tc>
                <a:tc>
                  <a:txBody>
                    <a:bodyPr wrap="square"/>
                    <a:lstStyle/>
                    <a:p>
                      <a:r>
                        <a:rPr sz="1100" b="0">
                          <a:solidFill>
                            <a:srgbClr val="282828"/>
                          </a:solidFill>
                          <a:latin typeface="Arial"/>
                        </a:rPr>
                        <a:t>1.8 % (551 pm), gain 0.987 / 0.01 pm, gain 1.0000</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Picometer measurement is photon-limited, not bench-limited.</a:t>
            </a:r>
            <a:r>
              <a:rPr sz="1100" b="0">
                <a:solidFill>
                  <a:srgbClr val="282828"/>
                </a:solidFill>
                <a:latin typeface="Arial"/>
              </a:rPr>
              <a:t>  One measurement at 1e15 photons — 0.31 mJ, 1.3 s of a 1 mW laser — repeats to 0.7 pm, and a servo fed at that rate holds under half a picometer; both front ends agree within 10 %.  For scale, </a:t>
            </a:r>
            <a:r>
              <a:rPr sz="1100" b="1">
                <a:solidFill>
                  <a:srgbClr val="282828"/>
                </a:solidFill>
                <a:latin typeface="Arial"/>
              </a:rPr>
              <a:t>Steeves et al. (2020, Optica 7, 1267) demonstrate 1.6 pm in 4.3 s on a real interferometer</a:t>
            </a:r>
            <a:r>
              <a:rPr sz="1100" b="0">
                <a:solidFill>
                  <a:srgbClr val="282828"/>
                </a:solidFill>
                <a:latin typeface="Arial"/>
              </a:rPr>
              <a:t>: ours is photon-limited only (no vibration, thermal drift or detector systematics), the floor this design allows rather than a prediction of the built bench; agreeing within a factor of two says the model is in the right regime.</a:t>
            </a:r>
          </a:p>
          <a:p>
            <a:pPr>
              <a:spcAft>
                <a:spcPts val="600"/>
              </a:spcAft>
            </a:pPr>
            <a:r>
              <a:rPr sz="1100" b="0">
                <a:solidFill>
                  <a:srgbClr val="282828"/>
                </a:solidFill>
                <a:latin typeface="Arial"/>
              </a:rPr>
              <a:t>•  </a:t>
            </a:r>
            <a:r>
              <a:rPr sz="1100" b="1">
                <a:solidFill>
                  <a:srgbClr val="282828"/>
                </a:solidFill>
                <a:latin typeface="Arial"/>
              </a:rPr>
              <a:t>Accuracy is a gain: systematic and proportional to the figure read.</a:t>
            </a:r>
            <a:r>
              <a:rPr sz="1100" b="0">
                <a:solidFill>
                  <a:srgbClr val="282828"/>
                </a:solidFill>
                <a:latin typeface="Arial"/>
              </a:rPr>
              <a:t>  Raw, the four-step reads the 30 nm surface 0.7 % low on lenses (392 pm) and 1.3 % low on mirrors (551 pm); through the matrix measured on the surface a 10 nm change reads at gain 1.004 on lenses and 0.986 on mirrors, with floors of 1.4 and 2.3 pm.  The gain is the polarization snapshot's -- the hybrid's piezo four-step reads the same surface at gain 1.0000 against the engine, which is what its absolute-calibration leg is for -- and the matrix measured on the surface carries it; the pupil imaging is the smaller part (0.13 % / 0.29 %).</a:t>
            </a:r>
          </a:p>
          <a:p>
            <a:pPr>
              <a:spcAft>
                <a:spcPts val="600"/>
              </a:spcAft>
            </a:pPr>
            <a:r>
              <a:rPr sz="1100" b="0">
                <a:solidFill>
                  <a:srgbClr val="282828"/>
                </a:solidFill>
                <a:latin typeface="Arial"/>
              </a:rPr>
              <a:t>•  </a:t>
            </a:r>
            <a:r>
              <a:rPr sz="1100" b="1">
                <a:solidFill>
                  <a:srgbClr val="282828"/>
                </a:solidFill>
                <a:latin typeface="Arial"/>
              </a:rPr>
              <a:t>One disturbance is not photon-limited:</a:t>
            </a:r>
            <a:r>
              <a:rPr sz="11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6327648"/>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(the side-by-side slide).  The raw-map rows are the station figures' (runs redo96_lensstn2, redo96_oapstn2), the snapshot's sign set by a +50 nm push: the two rigs' polarization inputs run the fringe opposite ways, which the matrix carries and an absolute map does not.  Run tags are on the provenance slide and on each slide that derives a number.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 measured: on the 30 nm surface the snapshot's raw map reads the engine's field at gain 0.993 (lenses) / 0.987 (mirrors), the piezo four-step at gain 1.0000, 0.01 pm (station figures) -- the piezo leg sets the snapshot's gain, the snapshot then reads every change without drift.</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mirror rig: the snapshot's absolute map is within 1.8 % of the engine's field (gain 0.987), the piezo four-step's exact,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226862" y="1298448"/>
            <a:ext cx="9737969"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551 pm on the 30 nm surface (1.8 % of the figure, gain 0.987);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(redo96_lensstn2) reads 392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  The figure's mask is the test beam's support: the shared mask is taken from the interference frame and includes an annulus where only the wider reference beam arrives, which drew as a flat ring and diluted the rms values of the 09-17 figure (463 pm, 25.8 nm read) by the annulus area.  The eighth column is the hybrid's piezo four-step on the same frames' fields: 0.01 pm, gain 1.0000 on both rigs -- the snapshot's gain is a polarization term and the piezo leg is its calibration.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4251960" y="1024128"/>
            <a:ext cx="7589520" cy="1289304"/>
          </a:xfrm>
          <a:prstGeom prst="rect">
            <a:avLst/>
          </a:prstGeom>
        </p:spPr>
      </p:pic>
      <p:sp>
        <p:nvSpPr>
          <p:cNvPr id="5" name="TextBox 4"/>
          <p:cNvSpPr txBox="1"/>
          <p:nvPr/>
        </p:nvSpPr>
        <p:spPr>
          <a:xfrm>
            <a:off x="201168" y="1115568"/>
            <a:ext cx="3840480" cy="8895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31.5 nm rms; the snapshot's raw map minus the engine's field, 551 pm, gain 0.987; the piezo four-step's, 0.01 pm, gain 1.0000.</a:t>
            </a:r>
          </a:p>
        </p:txBody>
      </p:sp>
      <p:pic>
        <p:nvPicPr>
          <p:cNvPr id="6" name="Picture 5" descr="crop_stations_row2_S.png"/>
          <p:cNvPicPr>
            <a:picLocks noChangeAspect="1"/>
          </p:cNvPicPr>
          <p:nvPr/>
        </p:nvPicPr>
        <p:blipFill>
          <a:blip r:embed="rId3"/>
          <a:stretch>
            <a:fillRect/>
          </a:stretch>
        </p:blipFill>
        <p:spPr>
          <a:xfrm>
            <a:off x="4251960" y="2359152"/>
            <a:ext cx="7589520" cy="1325880"/>
          </a:xfrm>
          <a:prstGeom prst="rect">
            <a:avLst/>
          </a:prstGeom>
        </p:spPr>
      </p:pic>
      <p:sp>
        <p:nvSpPr>
          <p:cNvPr id="7" name="TextBox 6"/>
          <p:cNvSpPr txBox="1"/>
          <p:nvPr/>
        </p:nvSpPr>
        <p:spPr>
          <a:xfrm>
            <a:off x="201168" y="2450592"/>
            <a:ext cx="384048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tretch>
            <a:fillRect/>
          </a:stretch>
        </p:blipFill>
        <p:spPr>
          <a:xfrm>
            <a:off x="4251960" y="3730752"/>
            <a:ext cx="7589520" cy="1307592"/>
          </a:xfrm>
          <a:prstGeom prst="rect">
            <a:avLst/>
          </a:prstGeom>
        </p:spPr>
      </p:pic>
      <p:sp>
        <p:nvSpPr>
          <p:cNvPr id="9" name="TextBox 8"/>
          <p:cNvSpPr txBox="1"/>
          <p:nvPr/>
        </p:nvSpPr>
        <p:spPr>
          <a:xfrm>
            <a:off x="201168" y="3822191"/>
            <a:ext cx="3840480" cy="8895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tretch>
            <a:fillRect/>
          </a:stretch>
        </p:blipFill>
        <p:spPr>
          <a:xfrm>
            <a:off x="4251960" y="5084064"/>
            <a:ext cx="7589520" cy="1307592"/>
          </a:xfrm>
          <a:prstGeom prst="rect">
            <a:avLst/>
          </a:prstGeom>
        </p:spPr>
      </p:pic>
      <p:sp>
        <p:nvSpPr>
          <p:cNvPr id="11" name="TextBox 10"/>
          <p:cNvSpPr txBox="1"/>
          <p:nvPr/>
        </p:nvSpPr>
        <p:spPr>
          <a:xfrm>
            <a:off x="201168" y="5175504"/>
            <a:ext cx="3840480"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6455664"/>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the same DM command in all four (30 nm rms over the lattice, seed 7; each camera reads it at 31 nm rms).  The stepped Zernike's 7.1 nm is a gain error (0.78, the reference amplitude taken from the flat) that the matrix on the surface absorbs.  Runs redo96_oapstn2, stations193_oap; full figures in the backup.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