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13 Zernike sensor</a:t>
            </a:r>
          </a:p>
          <a:p>
            <a:pPr>
              <a:spcAft>
                <a:spcPts val="600"/>
              </a:spcAft>
            </a:pPr>
            <a:r>
              <a:rPr sz="1200" b="0">
                <a:solidFill>
                  <a:srgbClr val="282828"/>
                </a:solidFill>
                <a:latin typeface="Arial"/>
              </a:rPr>
              <a:t>•  15 Vector Zernike sensor</a:t>
            </a:r>
          </a:p>
          <a:p>
            <a:pPr>
              <a:spcAft>
                <a:spcPts val="600"/>
              </a:spcAft>
            </a:pPr>
            <a:r>
              <a:rPr sz="1200" b="0">
                <a:solidFill>
                  <a:srgbClr val="282828"/>
                </a:solidFill>
                <a:latin typeface="Arial"/>
              </a:rPr>
              <a:t>•  18 Point-diffraction sensor</a:t>
            </a:r>
          </a:p>
          <a:p>
            <a:pPr>
              <a:spcAft>
                <a:spcPts val="600"/>
              </a:spcAft>
            </a:pPr>
            <a:r>
              <a:rPr sz="1200" b="0">
                <a:solidFill>
                  <a:srgbClr val="282828"/>
                </a:solidFill>
                <a:latin typeface="Arial"/>
              </a:rPr>
              <a:t>•  21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27 Lenses versus off-axis parabolas</a:t>
            </a:r>
          </a:p>
          <a:p>
            <a:pPr>
              <a:spcAft>
                <a:spcPts val="600"/>
              </a:spcAft>
            </a:pPr>
            <a:r>
              <a:rPr sz="1200" b="0">
                <a:solidFill>
                  <a:srgbClr val="282828"/>
                </a:solidFill>
                <a:latin typeface="Arial"/>
              </a:rPr>
              <a:t>•  28 The reflective front end and its performance</a:t>
            </a:r>
          </a:p>
          <a:p>
            <a:pPr>
              <a:spcAft>
                <a:spcPts val="600"/>
              </a:spcAft>
            </a:pPr>
            <a:r>
              <a:rPr sz="1200" b="0">
                <a:solidFill>
                  <a:srgbClr val="282828"/>
                </a:solidFill>
                <a:latin typeface="Arial"/>
              </a:rPr>
              <a:t>•  30 Comparison and recommendation</a:t>
            </a:r>
          </a:p>
          <a:p>
            <a:pPr>
              <a:spcAft>
                <a:spcPts val="600"/>
              </a:spcAft>
            </a:pPr>
            <a:r>
              <a:rPr sz="1200" b="0">
                <a:solidFill>
                  <a:srgbClr val="282828"/>
                </a:solidFill>
                <a:latin typeface="Arial"/>
              </a:rPr>
              <a:t>•  33 Complex amplitude</a:t>
            </a:r>
          </a:p>
          <a:p>
            <a:pPr>
              <a:spcAft>
                <a:spcPts val="600"/>
              </a:spcAft>
            </a:pPr>
            <a:r>
              <a:rPr sz="1200" b="0">
                <a:solidFill>
                  <a:srgbClr val="282828"/>
                </a:solidFill>
                <a:latin typeface="Arial"/>
              </a:rPr>
              <a:t>•  34 Summary and future work</a:t>
            </a:r>
          </a:p>
          <a:p>
            <a:pPr>
              <a:spcAft>
                <a:spcPts val="600"/>
              </a:spcAft>
            </a:pPr>
            <a:r>
              <a:rPr sz="1200" b="0">
                <a:solidFill>
                  <a:srgbClr val="282828"/>
                </a:solidFill>
                <a:latin typeface="Arial"/>
              </a:rPr>
              <a:t>•  39 Run it yourself</a:t>
            </a:r>
          </a:p>
          <a:p>
            <a:pPr>
              <a:spcAft>
                <a:spcPts val="600"/>
              </a:spcAft>
            </a:pPr>
            <a:r>
              <a:rPr sz="1200" b="0">
                <a:solidFill>
                  <a:srgbClr val="282828"/>
                </a:solidFill>
                <a:latin typeface="Arial"/>
              </a:rPr>
              <a:t>•  40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4350344"/>
                <a:gridCol w="1889760"/>
                <a:gridCol w="2875651"/>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01560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tg_psi_dm96_oap/REPORT_reflective.md (TO, 2026-09-16).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