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3-8 The jobs; the bench and its parts</a:t>
            </a:r>
          </a:p>
          <a:p>
            <a:pPr>
              <a:spcAft>
                <a:spcPts val="600"/>
              </a:spcAft>
            </a:pPr>
            <a:r>
              <a:rPr sz="1200" b="0">
                <a:solidFill>
                  <a:srgbClr val="282828"/>
                </a:solidFill>
                <a:latin typeface="Arial"/>
              </a:rPr>
              <a:t>•  9-19 The four approaches: interferometer, Zernike, vector Zernike, pinhole</a:t>
            </a:r>
          </a:p>
          <a:p>
            <a:pPr>
              <a:spcAft>
                <a:spcPts val="600"/>
              </a:spcAft>
            </a:pPr>
            <a:r>
              <a:rPr sz="1200" b="0">
                <a:solidFill>
                  <a:srgbClr val="282828"/>
                </a:solidFill>
                <a:latin typeface="Arial"/>
              </a:rPr>
              <a:t>•  20-25 Performance on the working surface: rows, capture, photons, servo</a:t>
            </a:r>
          </a:p>
          <a:p>
            <a:pPr>
              <a:spcAft>
                <a:spcPts val="600"/>
              </a:spcAft>
            </a:pPr>
            <a:r>
              <a:rPr sz="1200" b="0">
                <a:solidFill>
                  <a:srgbClr val="282828"/>
                </a:solidFill>
                <a:latin typeface="Arial"/>
              </a:rPr>
              <a:t>•  26-28 Lenses or off-axis mirrors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29-30 Systematics; recommendation</a:t>
            </a:r>
          </a:p>
          <a:p>
            <a:pPr>
              <a:spcAft>
                <a:spcPts val="600"/>
              </a:spcAft>
            </a:pPr>
            <a:r>
              <a:rPr sz="1200" b="0">
                <a:solidFill>
                  <a:srgbClr val="282828"/>
                </a:solidFill>
                <a:latin typeface="Arial"/>
              </a:rPr>
              <a:t>•  31-33 Operating the gauge</a:t>
            </a:r>
          </a:p>
          <a:p>
            <a:pPr>
              <a:spcAft>
                <a:spcPts val="600"/>
              </a:spcAft>
            </a:pPr>
            <a:r>
              <a:rPr sz="1200" b="0">
                <a:solidFill>
                  <a:srgbClr val="282828"/>
                </a:solidFill>
                <a:latin typeface="Arial"/>
              </a:rPr>
              <a:t>•  34-36 Future work</a:t>
            </a:r>
          </a:p>
          <a:p>
            <a:pPr>
              <a:spcAft>
                <a:spcPts val="600"/>
              </a:spcAft>
            </a:pPr>
            <a:r>
              <a:rPr sz="1200" b="0">
                <a:solidFill>
                  <a:srgbClr val="282828"/>
                </a:solidFill>
                <a:latin typeface="Arial"/>
              </a:rPr>
              <a:t>•  37-38 Method; run it yourself</a:t>
            </a:r>
          </a:p>
          <a:p>
            <a:pPr>
              <a:spcAft>
                <a:spcPts val="600"/>
              </a:spcAft>
            </a:pPr>
            <a:r>
              <a:rPr sz="1200" b="0">
                <a:solidFill>
                  <a:srgbClr val="282828"/>
                </a:solidFill>
                <a:latin typeface="Arial"/>
              </a:rPr>
              <a:t>•  39-48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8549640"/>
        </p:xfrm>
        <a:graphic>
          <a:graphicData uri="http://schemas.openxmlformats.org/drawingml/2006/table">
            <a:tbl>
              <a:tblPr firstRow="1" bandRow="1">
                <a:tableStyleId>{5C22544A-7EE6-4342-B048-85BDC9FD1C3A}</a:tableStyleId>
              </a:tblPr>
              <a:tblGrid>
                <a:gridCol w="1962404"/>
                <a:gridCol w="5700809"/>
                <a:gridCol w="2180336"/>
                <a:gridCol w="509524"/>
                <a:gridCol w="101566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84582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103441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(modeled): shifts the transmitted beam 1.39 mm, which the compensator cannot undo; the interferometer's flat null rises from 0.13 to 20 nm and its reading is attenuated 13%, a cost in floor and SNR, not gain (differential rows 1.00-1.01, single actuator 0.989; capture unchanged); the sensors do not move</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84582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84582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84582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103441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103441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(7.5-7.8 mm as traced) 32 mm behind it</a:t>
                      </a:r>
                    </a:p>
                  </a:txBody>
                  <a:tcPr marL="54864" marR="54864" marT="18288" marB="18288">
                    <a:solidFill>
                      <a:srgbClr val="ECF1F6"/>
                    </a:solidFill>
                  </a:tcPr>
                </a:tc>
              </a:tr>
              <a:tr h="657225">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1155 raw pixels across the 7.5 mm pupil image, binned 3 to 385 or 6 to the modeled 193</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657225">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999439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520315"/>
        </p:xfrm>
        <a:graphic>
          <a:graphicData uri="http://schemas.openxmlformats.org/drawingml/2006/table">
            <a:tbl>
              <a:tblPr firstRow="1" bandRow="1">
                <a:tableStyleId>{5C22544A-7EE6-4342-B048-85BDC9FD1C3A}</a:tableStyleId>
              </a:tblPr>
              <a:tblGrid>
                <a:gridCol w="4350344"/>
                <a:gridCol w="1889760"/>
                <a:gridCol w="2875651"/>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280035">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01560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tg_psi_dm96_oap/REPORT_reflective.md (TO, 2026-09-16).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