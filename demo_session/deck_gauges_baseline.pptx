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Introduction: the three jobs and how they are scored</a:t>
            </a:r>
          </a:p>
          <a:p>
            <a:pPr>
              <a:spcAft>
                <a:spcPts val="600"/>
              </a:spcAft>
            </a:pPr>
            <a:r>
              <a:rPr sz="1200" b="0">
                <a:solidFill>
                  <a:srgbClr val="282828"/>
                </a:solidFill>
                <a:latin typeface="Arial"/>
              </a:rPr>
              <a:t>•  4 The bench layout</a:t>
            </a:r>
          </a:p>
          <a:p>
            <a:pPr>
              <a:spcAft>
                <a:spcPts val="600"/>
              </a:spcAft>
            </a:pPr>
            <a:r>
              <a:rPr sz="1200" b="0">
                <a:solidFill>
                  <a:srgbClr val="282828"/>
                </a:solidFill>
                <a:latin typeface="Arial"/>
              </a:rPr>
              <a:t>•  6 Parts</a:t>
            </a:r>
          </a:p>
          <a:p>
            <a:pPr>
              <a:spcAft>
                <a:spcPts val="600"/>
              </a:spcAft>
            </a:pPr>
            <a:r>
              <a:rPr sz="1200" b="0">
                <a:solidFill>
                  <a:srgbClr val="282828"/>
                </a:solidFill>
                <a:latin typeface="Arial"/>
              </a:rPr>
              <a:t>•  9 Twyman-Green interferometer</a:t>
            </a:r>
          </a:p>
          <a:p>
            <a:pPr>
              <a:spcAft>
                <a:spcPts val="600"/>
              </a:spcAft>
            </a:pPr>
            <a:r>
              <a:rPr sz="1200" b="0">
                <a:solidFill>
                  <a:srgbClr val="282828"/>
                </a:solidFill>
                <a:latin typeface="Arial"/>
              </a:rPr>
              <a:t>•  16 Zernike sensor</a:t>
            </a:r>
          </a:p>
          <a:p>
            <a:pPr>
              <a:spcAft>
                <a:spcPts val="600"/>
              </a:spcAft>
            </a:pPr>
            <a:r>
              <a:rPr sz="1200" b="0">
                <a:solidFill>
                  <a:srgbClr val="282828"/>
                </a:solidFill>
                <a:latin typeface="Arial"/>
              </a:rPr>
              <a:t>•  18 Vector Zernike sensor</a:t>
            </a:r>
          </a:p>
          <a:p>
            <a:pPr>
              <a:spcAft>
                <a:spcPts val="600"/>
              </a:spcAft>
            </a:pPr>
            <a:r>
              <a:rPr sz="1200" b="0">
                <a:solidFill>
                  <a:srgbClr val="282828"/>
                </a:solidFill>
                <a:latin typeface="Arial"/>
              </a:rPr>
              <a:t>•  21 Point-diffraction sensor</a:t>
            </a:r>
          </a:p>
          <a:p>
            <a:pPr>
              <a:spcAft>
                <a:spcPts val="600"/>
              </a:spcAft>
            </a:pPr>
            <a:r>
              <a:rPr sz="1200" b="0">
                <a:solidFill>
                  <a:srgbClr val="282828"/>
                </a:solidFill>
                <a:latin typeface="Arial"/>
              </a:rPr>
              <a:t>•  24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30 Lenses versus off-axis parabolas</a:t>
            </a:r>
          </a:p>
          <a:p>
            <a:pPr>
              <a:spcAft>
                <a:spcPts val="600"/>
              </a:spcAft>
            </a:pPr>
            <a:r>
              <a:rPr sz="1200" b="0">
                <a:solidFill>
                  <a:srgbClr val="282828"/>
                </a:solidFill>
                <a:latin typeface="Arial"/>
              </a:rPr>
              <a:t>•  31 The reflective front end and its performance</a:t>
            </a:r>
          </a:p>
          <a:p>
            <a:pPr>
              <a:spcAft>
                <a:spcPts val="600"/>
              </a:spcAft>
            </a:pPr>
            <a:r>
              <a:rPr sz="1200" b="0">
                <a:solidFill>
                  <a:srgbClr val="282828"/>
                </a:solidFill>
                <a:latin typeface="Arial"/>
              </a:rPr>
              <a:t>•  33 Comparison and recommendation</a:t>
            </a:r>
          </a:p>
          <a:p>
            <a:pPr>
              <a:spcAft>
                <a:spcPts val="600"/>
              </a:spcAft>
            </a:pPr>
            <a:r>
              <a:rPr sz="1200" b="0">
                <a:solidFill>
                  <a:srgbClr val="282828"/>
                </a:solidFill>
                <a:latin typeface="Arial"/>
              </a:rPr>
              <a:t>•  36 Measuring the complex amplitude</a:t>
            </a:r>
          </a:p>
          <a:p>
            <a:pPr>
              <a:spcAft>
                <a:spcPts val="600"/>
              </a:spcAft>
            </a:pPr>
            <a:r>
              <a:rPr sz="1200" b="0">
                <a:solidFill>
                  <a:srgbClr val="282828"/>
                </a:solidFill>
                <a:latin typeface="Arial"/>
              </a:rPr>
              <a:t>•  37 Summary and future work</a:t>
            </a:r>
          </a:p>
          <a:p>
            <a:pPr>
              <a:spcAft>
                <a:spcPts val="600"/>
              </a:spcAft>
            </a:pPr>
            <a:r>
              <a:rPr sz="1200" b="0">
                <a:solidFill>
                  <a:srgbClr val="282828"/>
                </a:solidFill>
                <a:latin typeface="Arial"/>
              </a:rPr>
              <a:t>•  42 Run it yourself</a:t>
            </a:r>
          </a:p>
          <a:p>
            <a:pPr>
              <a:spcAft>
                <a:spcPts val="600"/>
              </a:spcAft>
            </a:pPr>
            <a:r>
              <a:rPr sz="1200" b="0">
                <a:solidFill>
                  <a:srgbClr val="282828"/>
                </a:solidFill>
                <a:latin typeface="Arial"/>
              </a:rPr>
              <a:t>•  43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thicknesses are the scaled model's and are being made real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8549640"/>
        </p:xfrm>
        <a:graphic>
          <a:graphicData uri="http://schemas.openxmlformats.org/drawingml/2006/table">
            <a:tbl>
              <a:tblPr firstRow="1" bandRow="1">
                <a:tableStyleId>{5C22544A-7EE6-4342-B048-85BDC9FD1C3A}</a:tableStyleId>
              </a:tblPr>
              <a:tblGrid>
                <a:gridCol w="1962404"/>
                <a:gridCol w="5700809"/>
                <a:gridCol w="2180336"/>
                <a:gridCol w="509524"/>
                <a:gridCol w="1015661"/>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84582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1034415">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10 mm thick (modeled): shifts the transmitted beam 1.39 mm, which the compensator cannot undo; the interferometer's flat null rises from 0.13 to 20 nm and its reading is attenuated 13%, a cost in floor and SNR, not gain (differential rows 1.00-1.01, single actuator 0.989; capture unchanged); the sensors do not move</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84582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84582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84582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1034415">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1034415">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pupil (7.5-7.8 mm as traced) 32 mm behind it</a:t>
                      </a:r>
                    </a:p>
                  </a:txBody>
                  <a:tcPr marL="54864" marR="54864" marT="18288" marB="18288">
                    <a:solidFill>
                      <a:srgbClr val="ECF1F6"/>
                    </a:solidFill>
                  </a:tcPr>
                </a:tc>
              </a:tr>
              <a:tr h="657225">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(13.3 mm): 1155 raw pixels across the 7.5 mm pupil image, binned 3 to 385 or 6 to the modeled 193</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657225">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9994392"/>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noap_stations.png"/>
          <p:cNvPicPr>
            <a:picLocks noChangeAspect="1"/>
          </p:cNvPicPr>
          <p:nvPr/>
        </p:nvPicPr>
        <p:blipFill>
          <a:blip r:embed="rId2"/>
          <a:stretch>
            <a:fillRect/>
          </a:stretch>
        </p:blipFill>
        <p:spPr>
          <a:xfrm>
            <a:off x="2026767" y="1298448"/>
            <a:ext cx="8138160"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third of a pitch at the edge on lenses and most of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_lens_pupil.png"/>
          <p:cNvPicPr>
            <a:picLocks noChangeAspect="1"/>
          </p:cNvPicPr>
          <p:nvPr/>
        </p:nvPicPr>
        <p:blipFill>
          <a:blip r:embed="rId2"/>
          <a:stretch>
            <a:fillRect/>
          </a:stretch>
        </p:blipFill>
        <p:spPr>
          <a:xfrm>
            <a:off x="1366701" y="1298448"/>
            <a:ext cx="3895997" cy="1818132"/>
          </a:xfrm>
          <a:prstGeom prst="rect">
            <a:avLst/>
          </a:prstGeom>
        </p:spPr>
      </p:pic>
      <p:sp>
        <p:nvSpPr>
          <p:cNvPr id="5" name="TextBox 4"/>
          <p:cNvSpPr txBox="1"/>
          <p:nvPr/>
        </p:nvSpPr>
        <p:spPr>
          <a:xfrm>
            <a:off x="411480" y="3134868"/>
            <a:ext cx="580644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314450"/>
        </p:xfrm>
        <a:graphic>
          <a:graphicData uri="http://schemas.openxmlformats.org/drawingml/2006/table">
            <a:tbl>
              <a:tblPr firstRow="1" bandRow="1">
                <a:tableStyleId>{5C22544A-7EE6-4342-B048-85BDC9FD1C3A}</a:tableStyleId>
              </a:tblPr>
              <a:tblGrid>
                <a:gridCol w="3159202"/>
                <a:gridCol w="1098853"/>
                <a:gridCol w="1136903"/>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0.13 / 0.30</a:t>
                      </a:r>
                    </a:p>
                  </a:txBody>
                  <a:tcPr marL="54864" marR="54864" marT="18288" marB="18288">
                    <a:solidFill>
                      <a:srgbClr val="FFFFFF"/>
                    </a:solidFill>
                  </a:tcPr>
                </a:tc>
                <a:tc>
                  <a:txBody>
                    <a:bodyPr wrap="square"/>
                    <a:lstStyle/>
                    <a:p>
                      <a:r>
                        <a:rPr sz="1000" b="0">
                          <a:solidFill>
                            <a:srgbClr val="282828"/>
                          </a:solidFill>
                          <a:latin typeface="Arial"/>
                        </a:rPr>
                        <a:t>0.45 / 0.85</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0.023 / 0.060</a:t>
                      </a:r>
                    </a:p>
                  </a:txBody>
                  <a:tcPr marL="54864" marR="54864" marT="18288" marB="18288">
                    <a:solidFill>
                      <a:srgbClr val="ECF1F6"/>
                    </a:solidFill>
                  </a:tcPr>
                </a:tc>
                <a:tc>
                  <a:txBody>
                    <a:bodyPr wrap="square"/>
                    <a:lstStyle/>
                    <a:p>
                      <a:r>
                        <a:rPr sz="1000" b="0">
                          <a:solidFill>
                            <a:srgbClr val="282828"/>
                          </a:solidFill>
                          <a:latin typeface="Arial"/>
                        </a:rPr>
                        <a:t>0.032 / 0.093</a:t>
                      </a:r>
                    </a:p>
                  </a:txBody>
                  <a:tcPr marL="54864" marR="54864" marT="18288" marB="18288">
                    <a:solidFill>
                      <a:srgbClr val="ECF1F6"/>
                    </a:solidFill>
                  </a:tcPr>
                </a:tc>
              </a:tr>
              <a:tr h="262890">
                <a:tc>
                  <a:txBody>
                    <a:bodyPr wrap="square"/>
                    <a:lstStyle/>
                    <a:p>
                      <a:r>
                        <a:rPr sz="1000" b="0">
                          <a:solidFill>
                            <a:srgbClr val="282828"/>
                          </a:solidFill>
                          <a:latin typeface="Arial"/>
                        </a:rPr>
                        <a:t>image surface: defocus / tilt (mm of sag)</a:t>
                      </a:r>
                    </a:p>
                  </a:txBody>
                  <a:tcPr marL="54864" marR="54864" marT="18288" marB="18288">
                    <a:solidFill>
                      <a:srgbClr val="FFFFFF"/>
                    </a:solidFill>
                  </a:tcPr>
                </a:tc>
                <a:tc>
                  <a:txBody>
                    <a:bodyPr wrap="square"/>
                    <a:lstStyle/>
                    <a:p>
                      <a:r>
                        <a:rPr sz="1000" b="0">
                          <a:solidFill>
                            <a:srgbClr val="282828"/>
                          </a:solidFill>
                          <a:latin typeface="Arial"/>
                        </a:rPr>
                        <a:t>3.8 / 0.0</a:t>
                      </a:r>
                    </a:p>
                  </a:txBody>
                  <a:tcPr marL="54864" marR="54864" marT="18288" marB="18288">
                    <a:solidFill>
                      <a:srgbClr val="FFFFFF"/>
                    </a:solidFill>
                  </a:tcPr>
                </a:tc>
                <a:tc>
                  <a:txBody>
                    <a:bodyPr wrap="square"/>
                    <a:lstStyle/>
                    <a:p>
                      <a:r>
                        <a:rPr sz="1000" b="0">
                          <a:solidFill>
                            <a:srgbClr val="282828"/>
                          </a:solidFill>
                          <a:latin typeface="Arial"/>
                        </a:rPr>
                        <a:t>-0.5 / 0.45</a:t>
                      </a:r>
                    </a:p>
                  </a:txBody>
                  <a:tcPr marL="54864" marR="54864" marT="18288" marB="18288">
                    <a:solidFill>
                      <a:srgbClr val="FFFFFF"/>
                    </a:solidFill>
                  </a:tcPr>
                </a:tc>
              </a:tr>
              <a:tr h="26289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0.16 / 0.16 λF/D</a:t>
                      </a:r>
                    </a:p>
                  </a:txBody>
                  <a:tcPr marL="54864" marR="54864" marT="18288" marB="18288">
                    <a:solidFill>
                      <a:srgbClr val="ECF1F6"/>
                    </a:solidFill>
                  </a:tcPr>
                </a:tc>
                <a:tc>
                  <a:txBody>
                    <a:bodyPr wrap="square"/>
                    <a:lstStyle/>
                    <a:p>
                      <a:r>
                        <a:rPr sz="1000" b="0">
                          <a:solidFill>
                            <a:srgbClr val="282828"/>
                          </a:solidFill>
                          <a:latin typeface="Arial"/>
                        </a:rPr>
                        <a:t>0.00 / 2.3 λF/D</a:t>
                      </a:r>
                    </a:p>
                  </a:txBody>
                  <a:tcPr marL="54864" marR="54864" marT="18288" marB="18288">
                    <a:solidFill>
                      <a:srgbClr val="ECF1F6"/>
                    </a:solidFill>
                  </a:tcPr>
                </a:tc>
              </a:tr>
            </a:tbl>
          </a:graphicData>
        </a:graphic>
      </p:graphicFrame>
      <p:sp>
        <p:nvSpPr>
          <p:cNvPr id="7" name="TextBox 6"/>
          <p:cNvSpPr txBox="1"/>
          <p:nvPr/>
        </p:nvSpPr>
        <p:spPr>
          <a:xfrm>
            <a:off x="6400800" y="2759202"/>
            <a:ext cx="5394960" cy="274320"/>
          </a:xfrm>
          <a:prstGeom prst="rect">
            <a:avLst/>
          </a:prstGeom>
          <a:noFill/>
        </p:spPr>
        <p:txBody>
          <a:bodyPr wrap="square">
            <a:spAutoFit/>
          </a:bodyPr>
          <a:lstStyle/>
          <a:p>
            <a:pPr>
              <a:spcAft>
                <a:spcPts val="600"/>
              </a:spcAft>
            </a:pPr>
            <a:r>
              <a:rPr sz="1200" b="0">
                <a:solidFill>
                  <a:srgbClr val="282828"/>
                </a:solidFill>
                <a:latin typeface="Arial"/>
              </a:rPr>
              <a:t>•  Method: the DM declared the stop; the field a tilt about it (a spatial frequency on its surface); two traces a small field step apart cross at each zone's image at the camera; scored in DM millimeters against the 1 mm pitch and the 0.4 mm pixel.</a:t>
            </a:r>
          </a:p>
          <a:p>
            <a:pPr>
              <a:spcAft>
                <a:spcPts val="600"/>
              </a:spcAft>
            </a:pPr>
            <a:r>
              <a:rPr sz="1200" b="0">
                <a:solidFill>
                  <a:srgbClr val="282828"/>
                </a:solidFill>
                <a:latin typeface="Arial"/>
              </a:rPr>
              <a:t>•  The mirror rig's focus is perfect on axis and coma-limited off it (2.3 λF/D at the actuator-band tilt); not a pupil-image or mask-sensor cost, a number to know for any off-axis reading at the seat.</a:t>
            </a:r>
          </a:p>
        </p:txBody>
      </p:sp>
      <p:sp>
        <p:nvSpPr>
          <p:cNvPr id="8" name="TextBox 7"/>
          <p:cNvSpPr txBox="1"/>
          <p:nvPr/>
        </p:nvSpPr>
        <p:spPr>
          <a:xfrm>
            <a:off x="6400800" y="4463034"/>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pupilq_lens, pupilq_oap (tg96_pupilq, model 512); tg_psi_dm96_oap/REPORT_bench_realism.md section 6.  Requested by Fang Shi.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5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5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5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486765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is observable; the lens rig's camera is not at the pupil image, and 4 mm fixes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lens_gain.png"/>
          <p:cNvPicPr>
            <a:picLocks noChangeAspect="1"/>
          </p:cNvPicPr>
          <p:nvPr/>
        </p:nvPicPr>
        <p:blipFill>
          <a:blip r:embed="rId2"/>
          <a:stretch>
            <a:fillRect/>
          </a:stretch>
        </p:blipFill>
        <p:spPr>
          <a:xfrm>
            <a:off x="411480" y="1298448"/>
            <a:ext cx="5806440" cy="1935479"/>
          </a:xfrm>
          <a:prstGeom prst="rect">
            <a:avLst/>
          </a:prstGeom>
        </p:spPr>
      </p:pic>
      <p:sp>
        <p:nvSpPr>
          <p:cNvPr id="5" name="TextBox 4"/>
          <p:cNvSpPr txBox="1"/>
          <p:nvPr/>
        </p:nvSpPr>
        <p:spPr>
          <a:xfrm>
            <a:off x="411480" y="3252215"/>
            <a:ext cx="5806440"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6400800" y="1298448"/>
          <a:ext cx="5394959" cy="1051560"/>
        </p:xfrm>
        <a:graphic>
          <a:graphicData uri="http://schemas.openxmlformats.org/drawingml/2006/table">
            <a:tbl>
              <a:tblPr firstRow="1" bandRow="1">
                <a:tableStyleId>{5C22544A-7EE6-4342-B048-85BDC9FD1C3A}</a:tableStyleId>
              </a:tblPr>
              <a:tblGrid>
                <a:gridCol w="2481441"/>
                <a:gridCol w="542544"/>
                <a:gridCol w="476504"/>
                <a:gridCol w="476504"/>
                <a:gridCol w="1417966"/>
              </a:tblGrid>
              <a:tr h="26289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 camera as built</a:t>
                      </a:r>
                    </a:p>
                  </a:txBody>
                  <a:tcPr marL="54864" marR="54864" marT="18288" marB="18288">
                    <a:solidFill>
                      <a:srgbClr val="FFFFFF"/>
                    </a:solidFill>
                  </a:tcPr>
                </a:tc>
                <a:tc>
                  <a:txBody>
                    <a:bodyPr wrap="square"/>
                    <a:lstStyle/>
                    <a:p>
                      <a:r>
                        <a:rPr sz="1000" b="0">
                          <a:solidFill>
                            <a:srgbClr val="282828"/>
                          </a:solidFill>
                          <a:latin typeface="Arial"/>
                        </a:rPr>
                        <a:t>0.990</a:t>
                      </a:r>
                    </a:p>
                  </a:txBody>
                  <a:tcPr marL="54864" marR="54864" marT="18288" marB="18288">
                    <a:solidFill>
                      <a:srgbClr val="FFFFFF"/>
                    </a:solidFill>
                  </a:tcPr>
                </a:tc>
                <a:tc>
                  <a:txBody>
                    <a:bodyPr wrap="square"/>
                    <a:lstStyle/>
                    <a:p>
                      <a:r>
                        <a:rPr sz="1000" b="0">
                          <a:solidFill>
                            <a:srgbClr val="282828"/>
                          </a:solidFill>
                          <a:latin typeface="Arial"/>
                        </a:rPr>
                        <a:t>0.973</a:t>
                      </a:r>
                    </a:p>
                  </a:txBody>
                  <a:tcPr marL="54864" marR="54864" marT="18288" marB="18288">
                    <a:solidFill>
                      <a:srgbClr val="FFFFFF"/>
                    </a:solidFill>
                  </a:tcPr>
                </a:tc>
                <a:tc>
                  <a:txBody>
                    <a:bodyPr wrap="square"/>
                    <a:lstStyle/>
                    <a:p>
                      <a:r>
                        <a:rPr sz="1000" b="0">
                          <a:solidFill>
                            <a:srgbClr val="282828"/>
                          </a:solidFill>
                          <a:latin typeface="Arial"/>
                        </a:rPr>
                        <a:t>0.954</a:t>
                      </a:r>
                    </a:p>
                  </a:txBody>
                  <a:tcPr marL="54864" marR="54864" marT="18288" marB="18288">
                    <a:solidFill>
                      <a:srgbClr val="FFFFFF"/>
                    </a:solidFill>
                  </a:tcPr>
                </a:tc>
                <a:tc>
                  <a:txBody>
                    <a:bodyPr wrap="square"/>
                    <a:lstStyle/>
                    <a:p>
                      <a:r>
                        <a:rPr sz="1000" b="0">
                          <a:solidFill>
                            <a:srgbClr val="282828"/>
                          </a:solidFill>
                          <a:latin typeface="Arial"/>
                        </a:rPr>
                        <a:t>1.2 nm</a:t>
                      </a:r>
                    </a:p>
                  </a:txBody>
                  <a:tcPr marL="54864" marR="54864" marT="18288" marB="18288">
                    <a:solidFill>
                      <a:srgbClr val="FFFFFF"/>
                    </a:solidFill>
                  </a:tcPr>
                </a:tc>
              </a:tr>
              <a:tr h="262890">
                <a:tc>
                  <a:txBody>
                    <a:bodyPr wrap="square"/>
                    <a:lstStyle/>
                    <a:p>
                      <a:r>
                        <a:rPr sz="1000" b="0">
                          <a:solidFill>
                            <a:srgbClr val="282828"/>
                          </a:solidFill>
                          <a:latin typeface="Arial"/>
                        </a:rPr>
                        <a:t>lens rig, camera +4.3 mm</a:t>
                      </a:r>
                    </a:p>
                  </a:txBody>
                  <a:tcPr marL="54864" marR="54864" marT="18288" marB="18288">
                    <a:solidFill>
                      <a:srgbClr val="ECF1F6"/>
                    </a:solidFill>
                  </a:tcPr>
                </a:tc>
                <a:tc>
                  <a:txBody>
                    <a:bodyPr wrap="square"/>
                    <a:lstStyle/>
                    <a:p>
                      <a:r>
                        <a:rPr sz="1000" b="0">
                          <a:solidFill>
                            <a:srgbClr val="282828"/>
                          </a:solidFill>
                          <a:latin typeface="Arial"/>
                        </a:rPr>
                        <a:t>0.997</a:t>
                      </a:r>
                    </a:p>
                  </a:txBody>
                  <a:tcPr marL="54864" marR="54864" marT="18288" marB="18288">
                    <a:solidFill>
                      <a:srgbClr val="ECF1F6"/>
                    </a:solidFill>
                  </a:tcPr>
                </a:tc>
                <a:tc>
                  <a:txBody>
                    <a:bodyPr wrap="square"/>
                    <a:lstStyle/>
                    <a:p>
                      <a:r>
                        <a:rPr sz="1000" b="0">
                          <a:solidFill>
                            <a:srgbClr val="282828"/>
                          </a:solidFill>
                          <a:latin typeface="Arial"/>
                        </a:rPr>
                        <a:t>0.998</a:t>
                      </a:r>
                    </a:p>
                  </a:txBody>
                  <a:tcPr marL="54864" marR="54864" marT="18288" marB="18288">
                    <a:solidFill>
                      <a:srgbClr val="ECF1F6"/>
                    </a:solidFill>
                  </a:tcPr>
                </a:tc>
                <a:tc>
                  <a:txBody>
                    <a:bodyPr wrap="square"/>
                    <a:lstStyle/>
                    <a:p>
                      <a:r>
                        <a:rPr sz="1000" b="0">
                          <a:solidFill>
                            <a:srgbClr val="282828"/>
                          </a:solidFill>
                          <a:latin typeface="Arial"/>
                        </a:rPr>
                        <a:t>0.993</a:t>
                      </a:r>
                    </a:p>
                  </a:txBody>
                  <a:tcPr marL="54864" marR="54864" marT="18288" marB="18288">
                    <a:solidFill>
                      <a:srgbClr val="ECF1F6"/>
                    </a:solidFill>
                  </a:tcPr>
                </a:tc>
                <a:tc>
                  <a:txBody>
                    <a:bodyPr wrap="square"/>
                    <a:lstStyle/>
                    <a:p>
                      <a:r>
                        <a:rPr sz="1000" b="0">
                          <a:solidFill>
                            <a:srgbClr val="282828"/>
                          </a:solidFill>
                          <a:latin typeface="Arial"/>
                        </a:rPr>
                        <a:t>0.4 nm</a:t>
                      </a:r>
                    </a:p>
                  </a:txBody>
                  <a:tcPr marL="54864" marR="54864" marT="18288" marB="18288">
                    <a:solidFill>
                      <a:srgbClr val="ECF1F6"/>
                    </a:solidFill>
                  </a:tcPr>
                </a:tc>
              </a:tr>
              <a:tr h="262890">
                <a:tc>
                  <a:txBody>
                    <a:bodyPr wrap="square"/>
                    <a:lstStyle/>
                    <a:p>
                      <a:r>
                        <a:rPr sz="1000" b="0">
                          <a:solidFill>
                            <a:srgbClr val="282828"/>
                          </a:solidFill>
                          <a:latin typeface="Arial"/>
                        </a:rPr>
                        <a:t>mirror rig, as built</a:t>
                      </a:r>
                    </a:p>
                  </a:txBody>
                  <a:tcPr marL="54864" marR="54864" marT="18288" marB="18288">
                    <a:solidFill>
                      <a:srgbClr val="FFFFFF"/>
                    </a:solidFill>
                  </a:tcPr>
                </a:tc>
                <a:tc>
                  <a:txBody>
                    <a:bodyPr wrap="square"/>
                    <a:lstStyle/>
                    <a:p>
                      <a:r>
                        <a:rPr sz="1000" b="0">
                          <a:solidFill>
                            <a:srgbClr val="282828"/>
                          </a:solidFill>
                          <a:latin typeface="Arial"/>
                        </a:rPr>
                        <a:t>1.000</a:t>
                      </a:r>
                    </a:p>
                  </a:txBody>
                  <a:tcPr marL="54864" marR="54864" marT="18288" marB="18288">
                    <a:solidFill>
                      <a:srgbClr val="FFFFFF"/>
                    </a:solidFill>
                  </a:tcPr>
                </a:tc>
                <a:tc>
                  <a:txBody>
                    <a:bodyPr wrap="square"/>
                    <a:lstStyle/>
                    <a:p>
                      <a:r>
                        <a:rPr sz="1000" b="0">
                          <a:solidFill>
                            <a:srgbClr val="282828"/>
                          </a:solidFill>
                          <a:latin typeface="Arial"/>
                        </a:rPr>
                        <a:t>0.999</a:t>
                      </a:r>
                    </a:p>
                  </a:txBody>
                  <a:tcPr marL="54864" marR="54864" marT="18288" marB="18288">
                    <a:solidFill>
                      <a:srgbClr val="FFFFFF"/>
                    </a:solidFill>
                  </a:tcPr>
                </a:tc>
                <a:tc>
                  <a:txBody>
                    <a:bodyPr wrap="square"/>
                    <a:lstStyle/>
                    <a:p>
                      <a:r>
                        <a:rPr sz="1000" b="0">
                          <a:solidFill>
                            <a:srgbClr val="282828"/>
                          </a:solidFill>
                          <a:latin typeface="Arial"/>
                        </a:rPr>
                        <a:t>0.997</a:t>
                      </a:r>
                    </a:p>
                  </a:txBody>
                  <a:tcPr marL="54864" marR="54864" marT="18288" marB="18288">
                    <a:solidFill>
                      <a:srgbClr val="FFFFFF"/>
                    </a:solidFill>
                  </a:tcPr>
                </a:tc>
                <a:tc>
                  <a:txBody>
                    <a:bodyPr wrap="square"/>
                    <a:lstStyle/>
                    <a:p>
                      <a:r>
                        <a:rPr sz="1000" b="0">
                          <a:solidFill>
                            <a:srgbClr val="282828"/>
                          </a:solidFill>
                          <a:latin typeface="Arial"/>
                        </a:rPr>
                        <a:t>0.2 nm</a:t>
                      </a:r>
                    </a:p>
                  </a:txBody>
                  <a:tcPr marL="54864" marR="54864" marT="18288" marB="18288">
                    <a:solidFill>
                      <a:srgbClr val="FFFFFF"/>
                    </a:solidFill>
                  </a:tcPr>
                </a:tc>
              </a:tr>
            </a:tbl>
          </a:graphicData>
        </a:graphic>
      </p:graphicFrame>
      <p:sp>
        <p:nvSpPr>
          <p:cNvPr id="7" name="TextBox 6"/>
          <p:cNvSpPr txBox="1"/>
          <p:nvPr/>
        </p:nvSpPr>
        <p:spPr>
          <a:xfrm>
            <a:off x="6400800" y="2496312"/>
            <a:ext cx="5394960" cy="274320"/>
          </a:xfrm>
          <a:prstGeom prst="rect">
            <a:avLst/>
          </a:prstGeom>
          <a:noFill/>
        </p:spPr>
        <p:txBody>
          <a:bodyPr wrap="square">
            <a:spAutoFit/>
          </a:bodyPr>
          <a:lstStyle/>
          <a:p>
            <a:pPr>
              <a:spcAft>
                <a:spcPts val="600"/>
              </a:spcAft>
            </a:pPr>
            <a:r>
              <a:rPr sz="120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200" b="0">
                <a:solidFill>
                  <a:srgbClr val="282828"/>
                </a:solidFill>
                <a:latin typeface="Arial"/>
              </a:rPr>
              <a:t>•  The image is a bowl the camera sits ahead of on the lens rig: 2.6 mm on axis, 6 mm at the edge (the tail was tuned on the flat-mirror null, which cannot see pupil defocus).  The mirror rig's thin-lens seat is within 1.3 mm of its image.</a:t>
            </a:r>
          </a:p>
          <a:p>
            <a:pPr>
              <a:spcAft>
                <a:spcPts val="600"/>
              </a:spcAft>
            </a:pPr>
            <a:r>
              <a:rPr sz="120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6400800" y="533095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pupilsim_lens, pupilsim_oap (tg96_pupilsim;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520315"/>
        </p:xfrm>
        <a:graphic>
          <a:graphicData uri="http://schemas.openxmlformats.org/drawingml/2006/table">
            <a:tbl>
              <a:tblPr firstRow="1" bandRow="1">
                <a:tableStyleId>{5C22544A-7EE6-4342-B048-85BDC9FD1C3A}</a:tableStyleId>
              </a:tblPr>
              <a:tblGrid>
                <a:gridCol w="4350344"/>
                <a:gridCol w="1889760"/>
                <a:gridCol w="2875651"/>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280035">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5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01560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tg_psi_dm96_oap/REPORT_reflective.md (TO, 2026-09-16).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