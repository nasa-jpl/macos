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What the bench delivers</a:t>
            </a:r>
          </a:p>
          <a:p>
            <a:pPr>
              <a:spcAft>
                <a:spcPts val="600"/>
              </a:spcAft>
            </a:pPr>
            <a:r>
              <a:rPr sz="1200" b="0">
                <a:solidFill>
                  <a:srgbClr val="282828"/>
                </a:solidFill>
                <a:latin typeface="Arial"/>
              </a:rPr>
              <a:t>•  4 Introduction: the three jobs and how they are scored</a:t>
            </a:r>
          </a:p>
          <a:p>
            <a:pPr>
              <a:spcAft>
                <a:spcPts val="600"/>
              </a:spcAft>
            </a:pPr>
            <a:r>
              <a:rPr sz="1200" b="0">
                <a:solidFill>
                  <a:srgbClr val="282828"/>
                </a:solidFill>
                <a:latin typeface="Arial"/>
              </a:rPr>
              <a:t>•  5 The bench layout</a:t>
            </a:r>
          </a:p>
          <a:p>
            <a:pPr>
              <a:spcAft>
                <a:spcPts val="600"/>
              </a:spcAft>
            </a:pPr>
            <a:r>
              <a:rPr sz="1200" b="0">
                <a:solidFill>
                  <a:srgbClr val="282828"/>
                </a:solidFill>
                <a:latin typeface="Arial"/>
              </a:rPr>
              <a:t>•  7 Parts: the front end and the detector leg</a:t>
            </a:r>
          </a:p>
          <a:p>
            <a:pPr>
              <a:spcAft>
                <a:spcPts val="600"/>
              </a:spcAft>
            </a:pPr>
            <a:r>
              <a:rPr sz="1200" b="0">
                <a:solidFill>
                  <a:srgbClr val="282828"/>
                </a:solidFill>
                <a:latin typeface="Arial"/>
              </a:rPr>
              <a:t>•  9 Parts: the interferometer and the sensors</a:t>
            </a:r>
          </a:p>
          <a:p>
            <a:pPr>
              <a:spcAft>
                <a:spcPts val="600"/>
              </a:spcAft>
            </a:pPr>
            <a:r>
              <a:rPr sz="1200" b="0">
                <a:solidFill>
                  <a:srgbClr val="282828"/>
                </a:solidFill>
                <a:latin typeface="Arial"/>
              </a:rPr>
              <a:t>•  11 Twyman-Green interferometer</a:t>
            </a:r>
          </a:p>
          <a:p>
            <a:pPr>
              <a:spcAft>
                <a:spcPts val="600"/>
              </a:spcAft>
            </a:pPr>
            <a:r>
              <a:rPr sz="1200" b="0">
                <a:solidFill>
                  <a:srgbClr val="282828"/>
                </a:solidFill>
                <a:latin typeface="Arial"/>
              </a:rPr>
              <a:t>•  18 Zernike sensor</a:t>
            </a:r>
          </a:p>
          <a:p>
            <a:pPr>
              <a:spcAft>
                <a:spcPts val="600"/>
              </a:spcAft>
            </a:pPr>
            <a:r>
              <a:rPr sz="1200" b="0">
                <a:solidFill>
                  <a:srgbClr val="282828"/>
                </a:solidFill>
                <a:latin typeface="Arial"/>
              </a:rPr>
              <a:t>•  20 Vector Zernike sensor</a:t>
            </a:r>
          </a:p>
          <a:p>
            <a:pPr>
              <a:spcAft>
                <a:spcPts val="600"/>
              </a:spcAft>
            </a:pPr>
            <a:r>
              <a:rPr sz="1200" b="0">
                <a:solidFill>
                  <a:srgbClr val="282828"/>
                </a:solidFill>
                <a:latin typeface="Arial"/>
              </a:rPr>
              <a:t>•  23 Point-diffraction sensor</a:t>
            </a:r>
          </a:p>
          <a:p>
            <a:pPr>
              <a:spcAft>
                <a:spcPts val="600"/>
              </a:spcAft>
            </a:pPr>
            <a:r>
              <a:rPr sz="1200" b="0">
                <a:solidFill>
                  <a:srgbClr val="282828"/>
                </a:solidFill>
                <a:latin typeface="Arial"/>
              </a:rPr>
              <a:t>•  26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32 Lenses versus off-axis parabolas</a:t>
            </a:r>
          </a:p>
          <a:p>
            <a:pPr>
              <a:spcAft>
                <a:spcPts val="600"/>
              </a:spcAft>
            </a:pPr>
            <a:r>
              <a:rPr sz="1200" b="0">
                <a:solidFill>
                  <a:srgbClr val="282828"/>
                </a:solidFill>
                <a:latin typeface="Arial"/>
              </a:rPr>
              <a:t>•  33 The reflective front end and its performance</a:t>
            </a:r>
          </a:p>
          <a:p>
            <a:pPr>
              <a:spcAft>
                <a:spcPts val="600"/>
              </a:spcAft>
            </a:pPr>
            <a:r>
              <a:rPr sz="1200" b="0">
                <a:solidFill>
                  <a:srgbClr val="282828"/>
                </a:solidFill>
                <a:latin typeface="Arial"/>
              </a:rPr>
              <a:t>•  35 Comparison and recommendation</a:t>
            </a:r>
          </a:p>
          <a:p>
            <a:pPr>
              <a:spcAft>
                <a:spcPts val="600"/>
              </a:spcAft>
            </a:pPr>
            <a:r>
              <a:rPr sz="1200" b="0">
                <a:solidFill>
                  <a:srgbClr val="282828"/>
                </a:solidFill>
                <a:latin typeface="Arial"/>
              </a:rPr>
              <a:t>•  38 Measuring the complex amplitude</a:t>
            </a:r>
          </a:p>
          <a:p>
            <a:pPr>
              <a:spcAft>
                <a:spcPts val="600"/>
              </a:spcAft>
            </a:pPr>
            <a:r>
              <a:rPr sz="1200" b="0">
                <a:solidFill>
                  <a:srgbClr val="282828"/>
                </a:solidFill>
                <a:latin typeface="Arial"/>
              </a:rPr>
              <a:t>•  39 Summary and future work</a:t>
            </a:r>
          </a:p>
          <a:p>
            <a:pPr>
              <a:spcAft>
                <a:spcPts val="600"/>
              </a:spcAft>
            </a:pPr>
            <a:r>
              <a:rPr sz="1200" b="0">
                <a:solidFill>
                  <a:srgbClr val="282828"/>
                </a:solidFill>
                <a:latin typeface="Arial"/>
              </a:rPr>
              <a:t>•  45 Run it yourself</a:t>
            </a:r>
          </a:p>
          <a:p>
            <a:pPr>
              <a:spcAft>
                <a:spcPts val="600"/>
              </a:spcAft>
            </a:pPr>
            <a:r>
              <a:rPr sz="1200" b="0">
                <a:solidFill>
                  <a:srgbClr val="282828"/>
                </a:solidFill>
                <a:latin typeface="Arial"/>
              </a:rPr>
              <a:t>•  46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bench delivers</a:t>
            </a:r>
          </a:p>
          <a:p>
            <a:pPr>
              <a:spcAft>
                <a:spcPts val="0"/>
              </a:spcAft>
            </a:pPr>
            <a:r>
              <a:rPr sz="1250" b="0">
                <a:solidFill>
                  <a:srgbClr val="6E6E6E"/>
                </a:solidFill>
                <a:latin typeface="Arial"/>
              </a:rPr>
              <a:t>Accuracy, precision, repeatability and hold — measured on both front ends, on the bench as it will be built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0280"/>
        </p:xfrm>
        <a:graphic>
          <a:graphicData uri="http://schemas.openxmlformats.org/drawingml/2006/table">
            <a:tbl>
              <a:tblPr firstRow="1" bandRow="1">
                <a:tableStyleId>{5C22544A-7EE6-4342-B048-85BDC9FD1C3A}</a:tableStyleId>
              </a:tblPr>
              <a:tblGrid>
                <a:gridCol w="1090676"/>
                <a:gridCol w="7370267"/>
                <a:gridCol w="1453895"/>
                <a:gridCol w="1453895"/>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r h="280035">
                <a:tc>
                  <a:txBody>
                    <a:bodyPr wrap="square"/>
                    <a:lstStyle/>
                    <a:p>
                      <a:r>
                        <a:rPr sz="1100" b="0">
                          <a:solidFill>
                            <a:srgbClr val="282828"/>
                          </a:solidFill>
                          <a:latin typeface="Arial"/>
                        </a:rPr>
                        <a:t>differential</a:t>
                      </a:r>
                    </a:p>
                  </a:txBody>
                  <a:tcPr marL="54864" marR="54864" marT="18288" marB="18288">
                    <a:solidFill>
                      <a:srgbClr val="FFFFFF"/>
                    </a:solidFill>
                  </a:tcPr>
                </a:tc>
                <a:tc>
                  <a:txBody>
                    <a:bodyPr wrap="square"/>
                    <a:lstStyle/>
                    <a:p>
                      <a:r>
                        <a:rPr sz="1100" b="0">
                          <a:solidFill>
                            <a:srgbClr val="282828"/>
                          </a:solidFill>
                          <a:latin typeface="Arial"/>
                        </a:rPr>
                        <a:t>a 10 nm single-actuator change, read against truth</a:t>
                      </a:r>
                    </a:p>
                  </a:txBody>
                  <a:tcPr marL="54864" marR="54864" marT="18288" marB="18288">
                    <a:solidFill>
                      <a:srgbClr val="FFFFFF"/>
                    </a:solidFill>
                  </a:tcPr>
                </a:tc>
                <a:tc>
                  <a:txBody>
                    <a:bodyPr wrap="square"/>
                    <a:lstStyle/>
                    <a:p>
                      <a:r>
                        <a:rPr sz="1100" b="0">
                          <a:solidFill>
                            <a:srgbClr val="282828"/>
                          </a:solidFill>
                          <a:latin typeface="Arial"/>
                        </a:rPr>
                        <a:t>1.5 pm, gain 1.001</a:t>
                      </a:r>
                    </a:p>
                  </a:txBody>
                  <a:tcPr marL="54864" marR="54864" marT="18288" marB="18288">
                    <a:solidFill>
                      <a:srgbClr val="FFFFFF"/>
                    </a:solidFill>
                  </a:tcPr>
                </a:tc>
                <a:tc>
                  <a:txBody>
                    <a:bodyPr wrap="square"/>
                    <a:lstStyle/>
                    <a:p>
                      <a:r>
                        <a:rPr sz="1100" b="0">
                          <a:solidFill>
                            <a:srgbClr val="282828"/>
                          </a:solidFill>
                          <a:latin typeface="Arial"/>
                        </a:rPr>
                        <a:t>1.8 pm, gain 0.993</a:t>
                      </a:r>
                    </a:p>
                  </a:txBody>
                  <a:tcPr marL="54864" marR="54864" marT="18288" marB="18288">
                    <a:solidFill>
                      <a:srgbClr val="FFFFFF"/>
                    </a:solidFill>
                  </a:tcPr>
                </a:tc>
              </a:tr>
            </a:tbl>
          </a:graphicData>
        </a:graphic>
      </p:graphicFrame>
      <p:sp>
        <p:nvSpPr>
          <p:cNvPr id="5" name="TextBox 4"/>
          <p:cNvSpPr txBox="1"/>
          <p:nvPr/>
        </p:nvSpPr>
        <p:spPr>
          <a:xfrm>
            <a:off x="411480" y="3685032"/>
            <a:ext cx="11368735" cy="274320"/>
          </a:xfrm>
          <a:prstGeom prst="rect">
            <a:avLst/>
          </a:prstGeom>
          <a:noFill/>
        </p:spPr>
        <p:txBody>
          <a:bodyPr wrap="square">
            <a:spAutoFit/>
          </a:bodyPr>
          <a:lstStyle/>
          <a:p>
            <a:pPr>
              <a:spcAft>
                <a:spcPts val="600"/>
              </a:spcAft>
            </a:pPr>
            <a:r>
              <a:rPr sz="1500" b="0">
                <a:solidFill>
                  <a:srgbClr val="282828"/>
                </a:solidFill>
                <a:latin typeface="Arial"/>
              </a:rPr>
              <a:t>•  Picometer measurement is photon-limited, not bench-limited.  One measurement at 1e15 photons — 0.31 mJ, about 1.3 s of a 1 mW laser — is repeatable to 0.7 pm, and a servo fed at that rate holds the surface to under half a picometer.  Both front ends give the same answer to within 10 %.</a:t>
            </a:r>
          </a:p>
          <a:p>
            <a:pPr>
              <a:spcAft>
                <a:spcPts val="600"/>
              </a:spcAft>
            </a:pPr>
            <a:r>
              <a:rPr sz="1500" b="0">
                <a:solidFill>
                  <a:srgbClr val="282828"/>
                </a:solidFill>
                <a:latin typeface="Arial"/>
              </a:rPr>
              <a:t>•  The accuracy figure is systematic and proportional: it is a fraction of the figure being read, so a 30 nm working surface costs tens of picometers and a 200 nm capture figure costs hundreds.  It holds because the response matrix is measured on the surface rather than assumed geometric.</a:t>
            </a:r>
          </a:p>
          <a:p>
            <a:pPr>
              <a:spcAft>
                <a:spcPts val="600"/>
              </a:spcAft>
            </a:pPr>
            <a:r>
              <a:rPr sz="1500" b="0">
                <a:solidFill>
                  <a:srgbClr val="282828"/>
                </a:solidFill>
                <a:latin typeface="Arial"/>
              </a:rPr>
              <a:t>•  One disturbance is not photon-limited: under a 5 pm per cycle thermal ramp the loop lags at about 10 pm however many photons it is given.  That is a cadence and a thermal-control requirement, not a sensing one.</a:t>
            </a:r>
          </a:p>
        </p:txBody>
      </p:sp>
      <p:sp>
        <p:nvSpPr>
          <p:cNvPr id="6" name="TextBox 5"/>
          <p:cNvSpPr txBox="1"/>
          <p:nvPr/>
        </p:nvSpPr>
        <p:spPr>
          <a:xfrm>
            <a:off x="411480" y="6123432"/>
            <a:ext cx="11368735" cy="274320"/>
          </a:xfrm>
          <a:prstGeom prst="rect">
            <a:avLst/>
          </a:prstGeom>
          <a:noFill/>
        </p:spPr>
        <p:txBody>
          <a:bodyPr wrap="square">
            <a:spAutoFit/>
          </a:bodyPr>
          <a:lstStyle/>
          <a:p>
            <a:pPr>
              <a:spcAft>
                <a:spcPts val="600"/>
              </a:spcAft>
            </a:pPr>
            <a:r>
              <a:rPr sz="1050" b="0">
                <a:solidFill>
                  <a:srgbClr val="6E6E6E"/>
                </a:solidFill>
                <a:latin typeface="Arial"/>
              </a:rPr>
              <a:t>Every number on this slide is a committed run of the shared model; the run tags are on the provenance slide and each is repeated on the slide that derives it.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927811" y="1298448"/>
            <a:ext cx="2773776"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MgF2,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977765"/>
        </p:xfrm>
        <a:graphic>
          <a:graphicData uri="http://schemas.openxmlformats.org/drawingml/2006/table">
            <a:tbl>
              <a:tblPr firstRow="1" bandRow="1">
                <a:tableStyleId>{5C22544A-7EE6-4342-B048-85BDC9FD1C3A}</a:tableStyleId>
              </a:tblPr>
              <a:tblGrid>
                <a:gridCol w="2252980"/>
                <a:gridCol w="3029232"/>
                <a:gridCol w="2547765"/>
                <a:gridCol w="762323"/>
                <a:gridCol w="509524"/>
                <a:gridCol w="2266909"/>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845820">
                <a:tc>
                  <a:txBody>
                    <a:bodyPr wrap="square"/>
                    <a:lstStyle/>
                    <a:p>
                      <a:r>
                        <a:rPr sz="1100" b="0">
                          <a:solidFill>
                            <a:srgbClr val="282828"/>
                          </a:solidFill>
                          <a:latin typeface="Arial"/>
                        </a:rPr>
                        <a:t>vector Zernike,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vector Zernike,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r h="845820">
                <a:tc>
                  <a:txBody>
                    <a:bodyPr wrap="square"/>
                    <a:lstStyle/>
                    <a:p>
                      <a:r>
                        <a:rPr sz="1100" b="0">
                          <a:solidFill>
                            <a:srgbClr val="282828"/>
                          </a:solidFill>
                          <a:latin typeface="Arial"/>
                        </a:rPr>
                        <a:t>P/SRI (backup)</a:t>
                      </a:r>
                    </a:p>
                  </a:txBody>
                  <a:tcPr marL="54864" marR="54864" marT="18288" marB="18288">
                    <a:solidFill>
                      <a:srgbClr val="ECF1F6"/>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ECF1F6"/>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ECF1F6"/>
                    </a:solidFill>
                  </a:tcPr>
                </a:tc>
                <a:tc>
                  <a:txBody>
                    <a:bodyPr wrap="square"/>
                    <a:lstStyle/>
                    <a:p>
                      <a:r>
                        <a:rPr sz="1100" b="0">
                          <a:solidFill>
                            <a:srgbClr val="282828"/>
                          </a:solidFill>
                          <a:latin typeface="Arial"/>
                        </a:rPr>
                        <a:t>AR; protected-metal folds</a:t>
                      </a:r>
                    </a:p>
                  </a:txBody>
                  <a:tcPr marL="54864" marR="54864" marT="18288" marB="18288">
                    <a:solidFill>
                      <a:srgbClr val="ECF1F6"/>
                    </a:solidFill>
                  </a:tcPr>
                </a:tc>
                <a:tc>
                  <a:txBody>
                    <a:bodyPr wrap="square"/>
                    <a:lstStyle/>
                    <a:p>
                      <a:r>
                        <a:rPr sz="1100" b="0">
                          <a:solidFill>
                            <a:srgbClr val="282828"/>
                          </a:solidFill>
                          <a:latin typeface="Arial"/>
                        </a:rPr>
                        <a:t>9</a:t>
                      </a:r>
                    </a:p>
                  </a:txBody>
                  <a:tcPr marL="54864" marR="54864" marT="18288" marB="18288">
                    <a:solidFill>
                      <a:srgbClr val="ECF1F6"/>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ECF1F6"/>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own camera.  The Zernike, vector and pinhole plates share one substrate on the seat.  Full parts tables with vendors' classes are in each lane's README.  What the photonic reference is, and is not, in these numbers: the P/SRI arm's reference is modeled as the recollimated LP01 mode of a single-mode fiber, with the pickoff fraction, the coupling into the mode, and a miscalibration of the phase steps all priced.  The waveguide itself is not a traced element and the thermo-optic shifter is an ideal phase per frame, so the photonic option is costed as an ideal device on a real mode: its own loss, dispersion and thermal drift are the next thing to model, not something already in these numbers.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On the 30 nm surface, matrix measured on it: 10 nm on one actuator 0.991 / 2 pm / SNR 6076; 1 nm on 52 sites 0.990 / 1 pm; dense 10 nm 0.990, 168 pm.</a:t>
            </a:r>
          </a:p>
          <a:p>
            <a:pPr>
              <a:spcAft>
                <a:spcPts val="600"/>
              </a:spcAft>
            </a:pPr>
            <a:r>
              <a:rPr sz="15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on the redo bench, Mac cycle 3c, 2026-09-18).  The lens rig's figure exists but its residual panel reads 51 nm against the engine — a fold, not the pupil-image bowl the earlier hypothesis blamed: the bowl is gone and the residual barely moved (62 → 51 nm).  Under investigation, so it is not shown.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Pupil image quality supports picometer measurement on both rigs.  Carried through to a reading it costs 0.13 % of the figure on lenses and 0.29 % on mirrors — 42 and 92 pm on a 30 nm working surface — and 0.5 % / 0.9 %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Method: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The lens rig images the DM flat (0.5 µm of defocus across the pupil) and holds its mapping to a seventh of an actuator pitch.  The mirror rig trades mapping for the front end: the OAP pair distorts the image by more than a pitch at the edge, which the measured matrix absorbs and the numbers above already include.</a:t>
            </a:r>
          </a:p>
          <a:p>
            <a:pPr>
              <a:spcAft>
                <a:spcPts val="600"/>
              </a:spcAft>
            </a:pPr>
            <a:r>
              <a:rPr sz="1200" b="0">
                <a:solidFill>
                  <a:srgbClr val="282828"/>
                </a:solidFill>
                <a:latin typeface="Arial"/>
              </a:rPr>
              <a:t>•  The mirror rig's focus is perfect on axis and coma-limited off it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8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The camera is at the pupil image, and the best detector move from here is −0.00 mm: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The null tuner bought its 0.13 nm flat-mirror null with the pupil image: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 flattener behind the tuned tail is not an optic: its bowl is a 5 mm-radius surface in image space.  True collimation (the record's source sits 14 mm inside the hyperbolic collimator's focus)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On the 30 nm surface, matrix measured on it: 10 nm on one actuator 0.989 / 5 pm / SNR 2160; 1 nm on 47 sites 0.999 / 4 pm; dense 10 nm 0.984, 0.68 nm.</a:t>
            </a:r>
          </a:p>
          <a:p>
            <a:pPr>
              <a:spcAft>
                <a:spcPts val="600"/>
              </a:spcAft>
            </a:pPr>
            <a:r>
              <a:rPr sz="15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5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5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743325"/>
        </p:xfrm>
        <a:graphic>
          <a:graphicData uri="http://schemas.openxmlformats.org/drawingml/2006/table">
            <a:tbl>
              <a:tblPr firstRow="1" bandRow="1">
                <a:tableStyleId>{5C22544A-7EE6-4342-B048-85BDC9FD1C3A}</a:tableStyleId>
              </a:tblPr>
              <a:tblGrid>
                <a:gridCol w="3279973"/>
                <a:gridCol w="252646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r h="468630">
                <a:tc>
                  <a:txBody>
                    <a:bodyPr wrap="square"/>
                    <a:lstStyle/>
                    <a:p>
                      <a:r>
                        <a:rPr sz="1100" b="0">
                          <a:solidFill>
                            <a:srgbClr val="282828"/>
                          </a:solidFill>
                          <a:latin typeface="Arial"/>
                        </a:rPr>
                        <a:t>the sensors on the mirror rig, 385 px (Zernike stepped / vector / pinhole)</a:t>
                      </a:r>
                    </a:p>
                  </a:txBody>
                  <a:tcPr marL="54864" marR="54864" marT="18288" marB="18288">
                    <a:solidFill>
                      <a:srgbClr val="FFFFFF"/>
                    </a:solidFill>
                  </a:tcPr>
                </a:tc>
                <a:tc>
                  <a:txBody>
                    <a:bodyPr wrap="square"/>
                    <a:lstStyle/>
                    <a:p>
                      <a:r>
                        <a:rPr sz="1100" b="0">
                          <a:solidFill>
                            <a:srgbClr val="282828"/>
                          </a:solidFill>
                          <a:latin typeface="Arial"/>
                        </a:rPr>
                        <a:t>36 / 59 / 52 nm: the lens rig's numbers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5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The interferometer needs no recalibration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5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5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754880"/>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1143000" y="1554480"/>
            <a:ext cx="4343400" cy="3931920"/>
          </a:xfrm>
          <a:prstGeom prst="rect">
            <a:avLst/>
          </a:prstGeom>
        </p:spPr>
      </p:pic>
      <p:sp>
        <p:nvSpPr>
          <p:cNvPr id="5" name="TextBox 4"/>
          <p:cNvSpPr txBox="1"/>
          <p:nvPr/>
        </p:nvSpPr>
        <p:spPr>
          <a:xfrm>
            <a:off x="411480" y="5696712"/>
            <a:ext cx="4343400" cy="10546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31920"/>
        </p:xfrm>
        <a:graphic>
          <a:graphicData uri="http://schemas.openxmlformats.org/drawingml/2006/table">
            <a:tbl>
              <a:tblPr firstRow="1" bandRow="1">
                <a:tableStyleId>{5C22544A-7EE6-4342-B048-85BDC9FD1C3A}</a:tableStyleId>
              </a:tblPr>
              <a:tblGrid>
                <a:gridCol w="2369815"/>
                <a:gridCol w="1889760"/>
                <a:gridCol w="4856179"/>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468630">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468630">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468630">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468630">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468630">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r h="468630">
                <a:tc>
                  <a:txBody>
                    <a:bodyPr wrap="square"/>
                    <a:lstStyle/>
                    <a:p>
                      <a:r>
                        <a:rPr sz="1100" b="0">
                          <a:solidFill>
                            <a:srgbClr val="282828"/>
                          </a:solidFill>
                          <a:latin typeface="Arial"/>
                        </a:rPr>
                        <a:t>sensors' capture with unwrapping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 pm from 60 nm in 21 / 19 cycles; from 100 nm both diverge; the stepped reading never (its one-frame estimate past the fold)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374904" y="5212080"/>
            <a:ext cx="11368735" cy="274320"/>
          </a:xfrm>
          <a:prstGeom prst="rect">
            <a:avLst/>
          </a:prstGeom>
          <a:noFill/>
        </p:spPr>
        <p:txBody>
          <a:bodyPr wrap="square">
            <a:spAutoFit/>
          </a:bodyPr>
          <a:lstStyle/>
          <a:p>
            <a:pPr>
              <a:spcAft>
                <a:spcPts val="600"/>
              </a:spcAft>
            </a:pPr>
            <a:r>
              <a:rPr sz="12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2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32764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oapcap22 and oapsens385 (the Mac, 2026-09-16); tg_psi_dm96_oap/REPORT_reflective.md (TO, 2026-09-16).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5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5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Redesign the lenses as multi-element assemblies.</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the interferometer redone on the improved bench</a:t>
            </a:r>
          </a:p>
          <a:p>
            <a:pPr>
              <a:spcAft>
                <a:spcPts val="0"/>
              </a:spcAft>
            </a:pPr>
            <a:r>
              <a:rPr sz="1250" b="0">
                <a:solidFill>
                  <a:srgbClr val="6E6E6E"/>
                </a:solidFill>
                <a:latin typeface="Arial"/>
              </a:rPr>
              <a:t>Three defects of the modeled bench were found and fixed on 2026-09-17: the record's numbers describe a bench we will not build, so they are being redone on the one we will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beam is the DM now: the record's beam was the source cone, 77 mm on lenses and 82 on mirrors on a 96 mm mirror, the outer actuator rings unlit; the baffle is opened and the aperture sits on the DM.</a:t>
            </a:r>
          </a:p>
          <a:p>
            <a:pPr>
              <a:spcAft>
                <a:spcPts val="600"/>
              </a:spcAft>
            </a:pPr>
            <a:r>
              <a:rPr sz="1200" b="0">
                <a:solidFill>
                  <a:srgbClr val="282828"/>
                </a:solidFill>
                <a:latin typeface="Arial"/>
              </a:rPr>
              <a:t>•  The lens rig is collimated for real: the record's source sits 14 mm inside its collimator's focus (41 waves of curvature across the beam); the source moves to the focus and both lens figures are re-solved.</a:t>
            </a:r>
          </a:p>
          <a:p>
            <a:pPr>
              <a:spcAft>
                <a:spcPts val="600"/>
              </a:spcAft>
            </a:pPr>
            <a:r>
              <a:rPr sz="1200" b="0">
                <a:solidFill>
                  <a:srgbClr val="282828"/>
                </a:solidFill>
                <a:latin typeface="Arial"/>
              </a:rPr>
              <a:t>•  The detector leg keeps its pupil image: the field lens stays at the seed station, its figure and the camera trim tuned on the interferometer's own reading (the recovered surface), not on the flat-mirror null; the camera at the image surface's mean.</a:t>
            </a:r>
          </a:p>
          <a:p>
            <a:pPr>
              <a:spcAft>
                <a:spcPts val="600"/>
              </a:spcAft>
            </a:pPr>
            <a:r>
              <a:rPr sz="1200" b="0">
                <a:solidFill>
                  <a:srgbClr val="282828"/>
                </a:solidFill>
                <a:latin typeface="Arial"/>
              </a:rPr>
              <a:t>•  Substrates in every deck (previous slides), a larger-pixel camera priced.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Redone on both rigs, the Mac carrying the mirror rig: rows on the 30 nm surface, station figures, pupil image, capture ladders and their photon price, photons for 1 pm, servo, descent, window placement, alignment sensitivities, the plates and the polarization at the built angle, the vector pair; each gated against the record.</a:t>
            </a:r>
          </a:p>
          <a:p>
            <a:pPr>
              <a:spcAft>
                <a:spcPts val="600"/>
              </a:spcAft>
            </a:pPr>
            <a:r>
              <a:rPr sz="1200" b="0">
                <a:solidFill>
                  <a:srgbClr val="282828"/>
                </a:solidFill>
                <a:latin typeface="Arial"/>
              </a:rPr>
              <a:t>•  The engine's own plane-to-plane propagation of the detector leg (the coronagraph model's reference surfaces, every leg propagated) validated leg by leg on the collimated bench, then set beside the zone-PSF model on the pupil slides; once it holds it is the full physical model for the sensors' legs too.</a:t>
            </a:r>
          </a:p>
          <a:p>
            <a:pPr>
              <a:spcAft>
                <a:spcPts val="600"/>
              </a:spcAft>
            </a:pPr>
            <a:r>
              <a:rPr sz="1200" b="0">
                <a:solidFill>
                  <a:srgbClr val="282828"/>
                </a:solidFill>
                <a:latin typeface="Arial"/>
              </a:rPr>
              <a:t>•  The coronagraph field servo resumes after this (its prescription step corrected twice; the next steps unchanged).</a:t>
            </a:r>
          </a:p>
          <a:p>
            <a:pPr>
              <a:spcAft>
                <a:spcPts val="600"/>
              </a:spcAft>
            </a:pPr>
            <a:r>
              <a:rPr sz="1200" b="0">
                <a:solidFill>
                  <a:srgbClr val="282828"/>
                </a:solidFill>
                <a:latin typeface="Arial"/>
              </a:rPr>
              <a:t>•  Package A passed on both rigs (TO, 2026-09-17 13:30): collimated, re-tuned on the reading, re-emitted.  Nyquist gain 1.0000 (lens) / 0.9994 (mirrors) worst; the 30 nm surface recovered to 42 pm (lens, 29× the record's tuned tail) and 92 pm (mirrors); single pokes 0.9998 peak; the lens rig's amplitude cross-talk 0.005 (was a third); certified at twice the sampling the tunes ran at.  Distortion is a mapping, not a gate.</a:t>
            </a:r>
          </a:p>
        </p:txBody>
      </p:sp>
      <p:sp>
        <p:nvSpPr>
          <p:cNvPr id="6" name="TextBox 5"/>
          <p:cNvSpPr txBox="1"/>
          <p:nvPr/>
        </p:nvSpPr>
        <p:spPr>
          <a:xfrm>
            <a:off x="6400800" y="5462015"/>
            <a:ext cx="5394960" cy="274320"/>
          </a:xfrm>
          <a:prstGeom prst="rect">
            <a:avLst/>
          </a:prstGeom>
          <a:noFill/>
        </p:spPr>
        <p:txBody>
          <a:bodyPr wrap="square">
            <a:spAutoFit/>
          </a:bodyPr>
          <a:lstStyle/>
          <a:p>
            <a:pPr>
              <a:spcAft>
                <a:spcPts val="600"/>
              </a:spcAft>
            </a:pPr>
            <a:r>
              <a:rPr sz="1050" b="0">
                <a:solidFill>
                  <a:srgbClr val="6E6E6E"/>
                </a:solidFill>
                <a:latin typeface="Arial"/>
              </a:rPr>
              <a:t>The interim report of 2026-09-18 carries the current record, labeled; the redo lands in its next revision.  Package B (the engine's plane-to-plane chain) and C (the runs) follow; the Mac carries C's mirror side.  Plan: BRIEF_to_tg_redo.md (packages A0, A, B, C); tools tg96_pupilsim, tg96_pupil_options, tg96_pupil_s2s.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substrates in, the full beam, the seed tail (Mac cycle 3a-3b, 2026-09-17): the interferometer's rows</a:t>
            </a:r>
          </a:p>
          <a:p>
            <a:pPr>
              <a:spcAft>
                <a:spcPts val="0"/>
              </a:spcAft>
            </a:pPr>
            <a:r>
              <a:rPr sz="1250" b="0">
                <a:solidFill>
                  <a:srgbClr val="6E6E6E"/>
                </a:solidFill>
                <a:latin typeface="Arial"/>
              </a:rPr>
              <a:t>On the bench as it will be built but before the collimator fix, the mirror rig reads; the lens rig's flat null grows to 92 nm on the record's misfed collimator and the multi-site row breaks, which is the redo's package A in one number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31745"/>
        </p:xfrm>
        <a:graphic>
          <a:graphicData uri="http://schemas.openxmlformats.org/drawingml/2006/table">
            <a:tbl>
              <a:tblPr firstRow="1" bandRow="1">
                <a:tableStyleId>{5C22544A-7EE6-4342-B048-85BDC9FD1C3A}</a:tableStyleId>
              </a:tblPr>
              <a:tblGrid>
                <a:gridCol w="1822924"/>
                <a:gridCol w="1608462"/>
                <a:gridCol w="2398268"/>
                <a:gridCol w="1465488"/>
                <a:gridCol w="2107692"/>
                <a:gridCol w="1965899"/>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flat-mirror null</a:t>
                      </a:r>
                    </a:p>
                  </a:txBody>
                  <a:tcPr marL="54864" marR="54864" marT="18288" marB="18288">
                    <a:solidFill>
                      <a:srgbClr val="FFFFFF"/>
                    </a:solidFill>
                  </a:tcPr>
                </a:tc>
                <a:tc>
                  <a:txBody>
                    <a:bodyPr wrap="square"/>
                    <a:lstStyle/>
                    <a:p>
                      <a:r>
                        <a:rPr sz="1100" b="0">
                          <a:solidFill>
                            <a:srgbClr val="282828"/>
                          </a:solidFill>
                          <a:latin typeface="Arial"/>
                        </a:rPr>
                        <a:t>92.4 nm rms</a:t>
                      </a:r>
                    </a:p>
                  </a:txBody>
                  <a:tcPr marL="54864" marR="54864" marT="18288" marB="18288">
                    <a:solidFill>
                      <a:srgbClr val="FFFFFF"/>
                    </a:solidFill>
                  </a:tcPr>
                </a:tc>
                <a:tc>
                  <a:txBody>
                    <a:bodyPr wrap="square"/>
                    <a:lstStyle/>
                    <a:p>
                      <a:r>
                        <a:rPr sz="1100" b="0">
                          <a:solidFill>
                            <a:srgbClr val="282828"/>
                          </a:solidFill>
                          <a:latin typeface="Arial"/>
                        </a:rPr>
                        <a:t>59.3 nm</a:t>
                      </a:r>
                    </a:p>
                  </a:txBody>
                  <a:tcPr marL="54864" marR="54864" marT="18288" marB="18288">
                    <a:solidFill>
                      <a:srgbClr val="FFFFFF"/>
                    </a:solidFill>
                  </a:tcPr>
                </a:tc>
                <a:tc>
                  <a:txBody>
                    <a:bodyPr wrap="square"/>
                    <a:lstStyle/>
                    <a:p>
                      <a:r>
                        <a:rPr sz="1100" b="0">
                          <a:solidFill>
                            <a:srgbClr val="282828"/>
                          </a:solidFill>
                          <a:latin typeface="Arial"/>
                        </a:rPr>
                        <a:t>26.3 nm</a:t>
                      </a:r>
                    </a:p>
                  </a:txBody>
                  <a:tcPr marL="54864" marR="54864" marT="18288" marB="18288">
                    <a:solidFill>
                      <a:srgbClr val="FFFFFF"/>
                    </a:solidFill>
                  </a:tcPr>
                </a:tc>
                <a:tc>
                  <a:txBody>
                    <a:bodyPr wrap="square"/>
                    <a:lstStyle/>
                    <a:p>
                      <a:r>
                        <a:rPr sz="1100" b="0">
                          <a:solidFill>
                            <a:srgbClr val="282828"/>
                          </a:solidFill>
                          <a:latin typeface="Arial"/>
                        </a:rPr>
                        <a:t>26.5 nm</a:t>
                      </a:r>
                    </a:p>
                  </a:txBody>
                  <a:tcPr marL="54864" marR="54864" marT="18288" marB="18288">
                    <a:solidFill>
                      <a:srgbClr val="FFFFFF"/>
                    </a:solidFill>
                  </a:tcPr>
                </a:tc>
                <a:tc>
                  <a:txBody>
                    <a:bodyPr wrap="square"/>
                    <a:lstStyle/>
                    <a:p>
                      <a:r>
                        <a:rPr sz="1100" b="0">
                          <a:solidFill>
                            <a:srgbClr val="282828"/>
                          </a:solidFill>
                          <a:latin typeface="Arial"/>
                        </a:rPr>
                        <a:t>0.13 nm lens / 0.03 mirrors</a:t>
                      </a:r>
                    </a:p>
                  </a:txBody>
                  <a:tcPr marL="54864" marR="54864" marT="18288" marB="18288">
                    <a:solidFill>
                      <a:srgbClr val="FFFFFF"/>
                    </a:solidFill>
                  </a:tcPr>
                </a:tc>
              </a:tr>
              <a:tr h="468630">
                <a:tc>
                  <a:txBody>
                    <a:bodyPr wrap="square"/>
                    <a:lstStyle/>
                    <a:p>
                      <a:r>
                        <a:rPr sz="1100" b="0">
                          <a:solidFill>
                            <a:srgbClr val="282828"/>
                          </a:solidFill>
                          <a:latin typeface="Arial"/>
                        </a:rPr>
                        <a:t>10 nm on one actuator: gain / error / SNR</a:t>
                      </a:r>
                    </a:p>
                  </a:txBody>
                  <a:tcPr marL="54864" marR="54864" marT="18288" marB="18288">
                    <a:solidFill>
                      <a:srgbClr val="ECF1F6"/>
                    </a:solidFill>
                  </a:tcPr>
                </a:tc>
                <a:tc>
                  <a:txBody>
                    <a:bodyPr wrap="square"/>
                    <a:lstStyle/>
                    <a:p>
                      <a:r>
                        <a:rPr sz="1100" b="0">
                          <a:solidFill>
                            <a:srgbClr val="282828"/>
                          </a:solidFill>
                          <a:latin typeface="Arial"/>
                        </a:rPr>
                        <a:t>1.003 / 1 pm / 10645</a:t>
                      </a:r>
                    </a:p>
                  </a:txBody>
                  <a:tcPr marL="54864" marR="54864" marT="18288" marB="18288">
                    <a:solidFill>
                      <a:srgbClr val="ECF1F6"/>
                    </a:solidFill>
                  </a:tcPr>
                </a:tc>
                <a:tc>
                  <a:txBody>
                    <a:bodyPr wrap="square"/>
                    <a:lstStyle/>
                    <a:p>
                      <a:r>
                        <a:rPr sz="1100" b="0">
                          <a:solidFill>
                            <a:srgbClr val="282828"/>
                          </a:solidFill>
                          <a:latin typeface="Arial"/>
                        </a:rPr>
                        <a:t>1.004 / 1.4 pm / 7741</a:t>
                      </a:r>
                    </a:p>
                  </a:txBody>
                  <a:tcPr marL="54864" marR="54864" marT="18288" marB="18288">
                    <a:solidFill>
                      <a:srgbClr val="ECF1F6"/>
                    </a:solidFill>
                  </a:tcPr>
                </a:tc>
                <a:tc>
                  <a:txBody>
                    <a:bodyPr wrap="square"/>
                    <a:lstStyle/>
                    <a:p>
                      <a:r>
                        <a:rPr sz="1100" b="0">
                          <a:solidFill>
                            <a:srgbClr val="282828"/>
                          </a:solidFill>
                          <a:latin typeface="Arial"/>
                        </a:rPr>
                        <a:t>0.986 / 2.2 pm / 6472</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0.992 / 2.2 pm (lens), 0.992 / 2.4 (mirrors)</a:t>
                      </a:r>
                    </a:p>
                  </a:txBody>
                  <a:tcPr marL="54864" marR="54864" marT="18288" marB="18288">
                    <a:solidFill>
                      <a:srgbClr val="ECF1F6"/>
                    </a:solidFill>
                  </a:tcPr>
                </a:tc>
              </a:tr>
              <a:tr h="468630">
                <a:tc>
                  <a:txBody>
                    <a:bodyPr wrap="square"/>
                    <a:lstStyle/>
                    <a:p>
                      <a:r>
                        <a:rPr sz="1100" b="0">
                          <a:solidFill>
                            <a:srgbClr val="282828"/>
                          </a:solidFill>
                          <a:latin typeface="Arial"/>
                        </a:rPr>
                        <a:t>1 nm on the grid (112-120 sites)</a:t>
                      </a:r>
                    </a:p>
                  </a:txBody>
                  <a:tcPr marL="54864" marR="54864" marT="18288" marB="18288">
                    <a:solidFill>
                      <a:srgbClr val="FFFFFF"/>
                    </a:solidFill>
                  </a:tcPr>
                </a:tc>
                <a:tc>
                  <a:txBody>
                    <a:bodyPr wrap="square"/>
                    <a:lstStyle/>
                    <a:p>
                      <a:r>
                        <a:rPr sz="1100" b="0">
                          <a:solidFill>
                            <a:srgbClr val="282828"/>
                          </a:solidFill>
                          <a:latin typeface="Arial"/>
                        </a:rPr>
                        <a:t>0.754 / 61.5 pm / 135</a:t>
                      </a:r>
                    </a:p>
                  </a:txBody>
                  <a:tcPr marL="54864" marR="54864" marT="18288" marB="18288">
                    <a:solidFill>
                      <a:srgbClr val="FFFFFF"/>
                    </a:solidFill>
                  </a:tcPr>
                </a:tc>
                <a:tc>
                  <a:txBody>
                    <a:bodyPr wrap="square"/>
                    <a:lstStyle/>
                    <a:p>
                      <a:r>
                        <a:rPr sz="1100" b="0">
                          <a:solidFill>
                            <a:srgbClr val="282828"/>
                          </a:solidFill>
                          <a:latin typeface="Arial"/>
                        </a:rPr>
                        <a:t>0.993 / 10 pm / 246</a:t>
                      </a:r>
                    </a:p>
                  </a:txBody>
                  <a:tcPr marL="54864" marR="54864" marT="18288" marB="18288">
                    <a:solidFill>
                      <a:srgbClr val="FFFFFF"/>
                    </a:solidFill>
                  </a:tcPr>
                </a:tc>
                <a:tc>
                  <a:txBody>
                    <a:bodyPr wrap="square"/>
                    <a:lstStyle/>
                    <a:p>
                      <a:r>
                        <a:rPr sz="1100" b="0">
                          <a:solidFill>
                            <a:srgbClr val="282828"/>
                          </a:solidFill>
                          <a:latin typeface="Arial"/>
                        </a:rPr>
                        <a:t>0.981 / 4.5 pm / 309</a:t>
                      </a:r>
                    </a:p>
                  </a:txBody>
                  <a:tcPr marL="54864" marR="54864" marT="18288" marB="18288">
                    <a:solidFill>
                      <a:srgbClr val="FFFFFF"/>
                    </a:solidFill>
                  </a:tcPr>
                </a:tc>
                <a:tc>
                  <a:txBody>
                    <a:bodyPr wrap="square"/>
                    <a:lstStyle/>
                    <a:p>
                      <a:r>
                        <a:rPr sz="1100" b="0">
                          <a:solidFill>
                            <a:srgbClr val="282828"/>
                          </a:solidFill>
                          <a:latin typeface="Arial"/>
                        </a:rPr>
                        <a:t>0.981 / 4.4 pm / 310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r>
              <a:tr h="657225">
                <a:tc>
                  <a:txBody>
                    <a:bodyPr wrap="square"/>
                    <a:lstStyle/>
                    <a:p>
                      <a:r>
                        <a:rPr sz="1100" b="0">
                          <a:solidFill>
                            <a:srgbClr val="282828"/>
                          </a:solidFill>
                          <a:latin typeface="Arial"/>
                        </a:rPr>
                        <a:t>capture to 10%, single site / grid</a:t>
                      </a:r>
                    </a:p>
                  </a:txBody>
                  <a:tcPr marL="54864" marR="54864" marT="18288" marB="18288">
                    <a:solidFill>
                      <a:srgbClr val="ECF1F6"/>
                    </a:solidFill>
                  </a:tcPr>
                </a:tc>
                <a:tc>
                  <a:txBody>
                    <a:bodyPr wrap="square"/>
                    <a:lstStyle/>
                    <a:p>
                      <a:r>
                        <a:rPr sz="1100" b="0">
                          <a:solidFill>
                            <a:srgbClr val="282828"/>
                          </a:solidFill>
                          <a:latin typeface="Arial"/>
                        </a:rPr>
                        <a:t>480 nm and beyond / outside at the first rung</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480+ / 480+</a:t>
                      </a:r>
                    </a:p>
                  </a:txBody>
                  <a:tcPr marL="54864" marR="54864" marT="18288" marB="18288">
                    <a:solidFill>
                      <a:srgbClr val="ECF1F6"/>
                    </a:solidFill>
                  </a:tcPr>
                </a:tc>
                <a:tc>
                  <a:txBody>
                    <a:bodyPr wrap="square"/>
                    <a:lstStyle/>
                    <a:p>
                      <a:r>
                        <a:rPr sz="1100" b="0">
                          <a:solidFill>
                            <a:srgbClr val="282828"/>
                          </a:solidFill>
                          <a:latin typeface="Arial"/>
                        </a:rPr>
                        <a:t>322 / 480 and beyond</a:t>
                      </a:r>
                    </a:p>
                  </a:txBody>
                  <a:tcPr marL="54864" marR="54864" marT="18288" marB="18288">
                    <a:solidFill>
                      <a:srgbClr val="ECF1F6"/>
                    </a:solidFill>
                  </a:tcPr>
                </a:tc>
              </a:tr>
            </a:tbl>
          </a:graphicData>
        </a:graphic>
      </p:graphicFrame>
      <p:sp>
        <p:nvSpPr>
          <p:cNvPr id="5" name="TextBox 4"/>
          <p:cNvSpPr txBox="1"/>
          <p:nvPr/>
        </p:nvSpPr>
        <p:spPr>
          <a:xfrm>
            <a:off x="411480" y="3976497"/>
            <a:ext cx="11368735" cy="274320"/>
          </a:xfrm>
          <a:prstGeom prst="rect">
            <a:avLst/>
          </a:prstGeom>
          <a:noFill/>
        </p:spPr>
        <p:txBody>
          <a:bodyPr wrap="square">
            <a:spAutoFit/>
          </a:bodyPr>
          <a:lstStyle/>
          <a:p>
            <a:pPr>
              <a:spcAft>
                <a:spcPts val="600"/>
              </a:spcAft>
            </a:pPr>
            <a:r>
              <a:rPr sz="1500" b="0">
                <a:solidFill>
                  <a:srgbClr val="282828"/>
                </a:solidFill>
                <a:latin typeface="Arial"/>
              </a:rPr>
              <a:t>•  Read it as the redo's justification: with the 10 mm plates and the 2 mm windows in, the seed tail's null on the lens rig's misfed collimator reaches 92 nm, a third of a wave of wavefront, and the 112-site row at 1 nm falls to 0.75 through the fold, while one actuator still reads to 1 pm.  Package A (the collimator at its focus, the tail tuned on the reading) is what restores it; the mirror rig, already fed at its focus, holds its rows at 0.98 to 0.99 with a 26 nm fixed-pattern null the reference frame removes.</a:t>
            </a:r>
          </a:p>
          <a:p>
            <a:pPr>
              <a:spcAft>
                <a:spcPts val="600"/>
              </a:spcAft>
            </a:pPr>
            <a:r>
              <a:rPr sz="1500" b="0">
                <a:solidFill>
                  <a:srgbClr val="282828"/>
                </a:solidFill>
                <a:latin typeface="Arial"/>
              </a:rPr>
              <a:t>•  The redo bench restores the lens rig's grid row (0.754 to 0.993) and leaves a 59 nm null; the mirror rig is unchanged by design.  The null that remains on both rigs is the mask plate's spherical aberration in the F/4.2 beam (a 2 mm plate: about 0.1 wave rms), a fixed pattern the reference frame removes and the reading-tuned tail does not chase; TO's null decomposition prices it.</a:t>
            </a:r>
          </a:p>
        </p:txBody>
      </p:sp>
      <p:sp>
        <p:nvSpPr>
          <p:cNvPr id="6" name="TextBox 5"/>
          <p:cNvSpPr txBox="1"/>
          <p:nvPr/>
        </p:nvSpPr>
        <p:spPr>
          <a:xfrm>
            <a:off x="411480" y="6522339"/>
            <a:ext cx="11368735" cy="274320"/>
          </a:xfrm>
          <a:prstGeom prst="rect">
            <a:avLst/>
          </a:prstGeom>
          <a:noFill/>
        </p:spPr>
        <p:txBody>
          <a:bodyPr wrap="square">
            <a:spAutoFit/>
          </a:bodyPr>
          <a:lstStyle/>
          <a:p>
            <a:pPr>
              <a:spcAft>
                <a:spcPts val="600"/>
              </a:spcAft>
            </a:pPr>
            <a:r>
              <a:rPr sz="1050" b="0">
                <a:solidFill>
                  <a:srgbClr val="6E6E6E"/>
                </a:solidFill>
                <a:latin typeface="Arial"/>
              </a:rPr>
              <a:t>Run tags sub96_lens, sub96_oap (cycle 3a); redo96_lens, redo96_oap (cycle 3b); the Mac, 2026-09-17.  The pupil image and the sensors on these same decks are on the next slide.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same decks — the pupil image and the sensors</a:t>
            </a:r>
          </a:p>
          <a:p>
            <a:pPr>
              <a:spcAft>
                <a:spcPts val="0"/>
              </a:spcAft>
            </a:pPr>
            <a:r>
              <a:rPr sz="1250" b="0">
                <a:solidFill>
                  <a:srgbClr val="6E6E6E"/>
                </a:solidFill>
                <a:latin typeface="Arial"/>
              </a:rPr>
              <a:t>The imaging is not what limits either rig on the seed tail with the substrates in, and the mask plate costs the sensors a little capture and no gain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720340"/>
        </p:xfrm>
        <a:graphic>
          <a:graphicData uri="http://schemas.openxmlformats.org/drawingml/2006/table">
            <a:tbl>
              <a:tblPr firstRow="1" bandRow="1">
                <a:tableStyleId>{5C22544A-7EE6-4342-B048-85BDC9FD1C3A}</a:tableStyleId>
              </a:tblPr>
              <a:tblGrid>
                <a:gridCol w="3345345"/>
                <a:gridCol w="1223906"/>
                <a:gridCol w="1740667"/>
                <a:gridCol w="2203032"/>
                <a:gridCol w="1359896"/>
                <a:gridCol w="1495886"/>
              </a:tblGrid>
              <a:tr h="657225">
                <a:tc>
                  <a:txBody>
                    <a:bodyPr wrap="square"/>
                    <a:lstStyle/>
                    <a:p>
                      <a:r>
                        <a:rPr sz="1100" b="1">
                          <a:solidFill>
                            <a:srgbClr val="FFFFFF"/>
                          </a:solidFill>
                          <a:latin typeface="Arial"/>
                        </a:rPr>
                        <a:t>rows on the 30 nm surface, matrix on it (four-step)</a:t>
                      </a:r>
                    </a:p>
                  </a:txBody>
                  <a:tcPr marL="54864" marR="54864" marT="18288" marB="18288">
                    <a:solidFill>
                      <a:srgbClr val="1F4E79"/>
                    </a:solidFill>
                  </a:tcPr>
                </a:tc>
                <a:tc>
                  <a:txBody>
                    <a:bodyPr wrap="square"/>
                    <a:lstStyle/>
                    <a:p>
                      <a:r>
                        <a:rPr sz="1100" b="1">
                          <a:solidFill>
                            <a:srgbClr val="FFFFFF"/>
                          </a:solidFill>
                          <a:latin typeface="Arial"/>
                        </a:rPr>
                        <a:t>lens rig, seed tail, substrates in (cycle 3a)</a:t>
                      </a:r>
                    </a:p>
                  </a:txBody>
                  <a:tcPr marL="54864" marR="54864" marT="18288" marB="18288">
                    <a:solidFill>
                      <a:srgbClr val="1F4E79"/>
                    </a:solidFill>
                  </a:tcPr>
                </a:tc>
                <a:tc>
                  <a:txBody>
                    <a:bodyPr wrap="square"/>
                    <a:lstStyle/>
                    <a:p>
                      <a:r>
                        <a:rPr sz="1100" b="1">
                          <a:solidFill>
                            <a:srgbClr val="FFFFFF"/>
                          </a:solidFill>
                          <a:latin typeface="Arial"/>
                        </a:rPr>
                        <a:t>lens rig, redo bench (cycle 3b)</a:t>
                      </a:r>
                    </a:p>
                  </a:txBody>
                  <a:tcPr marL="54864" marR="54864" marT="18288" marB="18288">
                    <a:solidFill>
                      <a:srgbClr val="1F4E79"/>
                    </a:solidFill>
                  </a:tcPr>
                </a:tc>
                <a:tc>
                  <a:txBody>
                    <a:bodyPr wrap="square"/>
                    <a:lstStyle/>
                    <a:p>
                      <a:r>
                        <a:rPr sz="1100" b="1">
                          <a:solidFill>
                            <a:srgbClr val="FFFFFF"/>
                          </a:solidFill>
                          <a:latin typeface="Arial"/>
                        </a:rPr>
                        <a:t>mirror rig, seed tail, substrates in (3a)</a:t>
                      </a:r>
                    </a:p>
                  </a:txBody>
                  <a:tcPr marL="54864" marR="54864" marT="18288" marB="18288">
                    <a:solidFill>
                      <a:srgbClr val="1F4E79"/>
                    </a:solidFill>
                  </a:tcPr>
                </a:tc>
                <a:tc>
                  <a:txBody>
                    <a:bodyPr wrap="square"/>
                    <a:lstStyle/>
                    <a:p>
                      <a:r>
                        <a:rPr sz="1100" b="1">
                          <a:solidFill>
                            <a:srgbClr val="FFFFFF"/>
                          </a:solidFill>
                          <a:latin typeface="Arial"/>
                        </a:rPr>
                        <a:t>mirror rig, redo bench (3b)</a:t>
                      </a:r>
                    </a:p>
                  </a:txBody>
                  <a:tcPr marL="54864" marR="54864" marT="18288" marB="18288">
                    <a:solidFill>
                      <a:srgbClr val="1F4E79"/>
                    </a:solidFill>
                  </a:tcPr>
                </a:tc>
                <a:tc>
                  <a:txBody>
                    <a:bodyPr wrap="square"/>
                    <a:lstStyle/>
                    <a:p>
                      <a:r>
                        <a:rPr sz="1100" b="1">
                          <a:solidFill>
                            <a:srgbClr val="FFFFFF"/>
                          </a:solidFill>
                          <a:latin typeface="Arial"/>
                        </a:rPr>
                        <a:t>the record (tuned tail, no substrates, 77 / 82 mm beam)</a:t>
                      </a:r>
                    </a:p>
                  </a:txBody>
                  <a:tcPr marL="54864" marR="54864" marT="18288" marB="18288">
                    <a:solidFill>
                      <a:srgbClr val="1F4E79"/>
                    </a:solidFill>
                  </a:tcPr>
                </a:tc>
              </a:tr>
              <a:tr h="280035">
                <a:tc>
                  <a:txBody>
                    <a:bodyPr wrap="square"/>
                    <a:lstStyle/>
                    <a:p>
                      <a:r>
                        <a:rPr sz="1100" b="0">
                          <a:solidFill>
                            <a:srgbClr val="282828"/>
                          </a:solidFill>
                          <a:latin typeface="Arial"/>
                        </a:rPr>
                        <a:t>pupil image on the 96 mm beam</a:t>
                      </a:r>
                    </a:p>
                  </a:txBody>
                  <a:tcPr marL="54864" marR="54864" marT="18288" marB="18288">
                    <a:solidFill>
                      <a:srgbClr val="FFFFFF"/>
                    </a:solidFill>
                  </a:tcPr>
                </a:tc>
                <a:tc>
                  <a:txBody>
                    <a:bodyPr wrap="square"/>
                    <a:lstStyle/>
                    <a:p>
                      <a:r>
                        <a:rPr sz="1100" b="0">
                          <a:solidFill>
                            <a:srgbClr val="282828"/>
                          </a:solidFill>
                          <a:latin typeface="Arial"/>
                        </a:rPr>
                        <a:t>9.5 mm (341 px)</a:t>
                      </a:r>
                    </a:p>
                  </a:txBody>
                  <a:tcPr marL="54864" marR="54864" marT="18288" marB="18288">
                    <a:solidFill>
                      <a:srgbClr val="FFFFFF"/>
                    </a:solidFill>
                  </a:tcPr>
                </a:tc>
                <a:tc>
                  <a:txBody>
                    <a:bodyPr wrap="square"/>
                    <a:lstStyle/>
                    <a:p>
                      <a:r>
                        <a:rPr sz="1100" b="0">
                          <a:solidFill>
                            <a:srgbClr val="282828"/>
                          </a:solidFill>
                          <a:latin typeface="Arial"/>
                        </a:rPr>
                        <a:t>11.3 mm (384 px)</a:t>
                      </a:r>
                    </a:p>
                  </a:txBody>
                  <a:tcPr marL="54864" marR="54864" marT="18288" marB="18288">
                    <a:solidFill>
                      <a:srgbClr val="FFFFFF"/>
                    </a:solidFill>
                  </a:tcPr>
                </a:tc>
                <a:tc>
                  <a:txBody>
                    <a:bodyPr wrap="square"/>
                    <a:lstStyle/>
                    <a:p>
                      <a:r>
                        <a:rPr sz="1100" b="0">
                          <a:solidFill>
                            <a:srgbClr val="282828"/>
                          </a:solidFill>
                          <a:latin typeface="Arial"/>
                        </a:rPr>
                        <a:t>11.1 mm (384 px)</a:t>
                      </a:r>
                    </a:p>
                  </a:txBody>
                  <a:tcPr marL="54864" marR="54864" marT="18288" marB="18288">
                    <a:solidFill>
                      <a:srgbClr val="FFFFFF"/>
                    </a:solidFill>
                  </a:tcPr>
                </a:tc>
                <a:tc>
                  <a:txBody>
                    <a:bodyPr wrap="square"/>
                    <a:lstStyle/>
                    <a:p>
                      <a:r>
                        <a:rPr sz="1100" b="0">
                          <a:solidFill>
                            <a:srgbClr val="282828"/>
                          </a:solidFill>
                          <a:latin typeface="Arial"/>
                        </a:rPr>
                        <a:t>11.1 mm</a:t>
                      </a:r>
                    </a:p>
                  </a:txBody>
                  <a:tcPr marL="54864" marR="54864" marT="18288" marB="18288">
                    <a:solidFill>
                      <a:srgbClr val="FFFFFF"/>
                    </a:solidFill>
                  </a:tcPr>
                </a:tc>
                <a:tc>
                  <a:txBody>
                    <a:bodyPr wrap="square"/>
                    <a:lstStyle/>
                    <a:p>
                      <a:r>
                        <a:rPr sz="1100" b="0">
                          <a:solidFill>
                            <a:srgbClr val="282828"/>
                          </a:solidFill>
                          <a:latin typeface="Arial"/>
                        </a:rPr>
                        <a:t>7.8 / 8.0 mm</a:t>
                      </a:r>
                    </a:p>
                  </a:txBody>
                  <a:tcPr marL="54864" marR="54864" marT="18288" marB="18288">
                    <a:solidFill>
                      <a:srgbClr val="FFFFFF"/>
                    </a:solidFill>
                  </a:tcPr>
                </a:tc>
              </a:tr>
              <a:tr h="657225">
                <a:tc>
                  <a:txBody>
                    <a:bodyPr wrap="square"/>
                    <a:lstStyle/>
                    <a:p>
                      <a:r>
                        <a:rPr sz="1100" b="0">
                          <a:solidFill>
                            <a:srgbClr val="282828"/>
                          </a:solidFill>
                          <a:latin typeface="Arial"/>
                        </a:rPr>
                        <a:t>pupil imaging on these decks (tg96_pupilsim): image surface vs the camera / Nyquist gain / distortion / 30 nm surface error</a:t>
                      </a:r>
                    </a:p>
                  </a:txBody>
                  <a:tcPr marL="54864" marR="54864" marT="18288" marB="18288">
                    <a:solidFill>
                      <a:srgbClr val="ECF1F6"/>
                    </a:solidFill>
                  </a:tcPr>
                </a:tc>
                <a:tc>
                  <a:txBody>
                    <a:bodyPr wrap="square"/>
                    <a:lstStyle/>
                    <a:p>
                      <a:r>
                        <a:rPr sz="1100" b="0">
                          <a:solidFill>
                            <a:srgbClr val="282828"/>
                          </a:solidFill>
                          <a:latin typeface="Arial"/>
                        </a:rPr>
                        <a:t>within ±0.3 mm / 0.9999 / 0.008 mm / 0.08 nm</a:t>
                      </a:r>
                    </a:p>
                  </a:txBody>
                  <a:tcPr marL="54864" marR="54864" marT="18288" marB="18288">
                    <a:solidFill>
                      <a:srgbClr val="ECF1F6"/>
                    </a:solidFill>
                  </a:tcPr>
                </a:tc>
                <a:tc>
                  <a:txBody>
                    <a:bodyPr wrap="square"/>
                    <a:lstStyle/>
                    <a:p>
                      <a:r>
                        <a:rPr sz="1100" b="0">
                          <a:solidFill>
                            <a:srgbClr val="282828"/>
                          </a:solidFill>
                          <a:latin typeface="Arial"/>
                        </a:rPr>
                        <a:t>flat to 0.001 mm / 1.0000 / 0.04 mm / 0.04 nm (TO's gate record)</a:t>
                      </a:r>
                    </a:p>
                  </a:txBody>
                  <a:tcPr marL="54864" marR="54864" marT="18288" marB="18288">
                    <a:solidFill>
                      <a:srgbClr val="ECF1F6"/>
                    </a:solidFill>
                  </a:tcPr>
                </a:tc>
                <a:tc>
                  <a:txBody>
                    <a:bodyPr wrap="square"/>
                    <a:lstStyle/>
                    <a:p>
                      <a:r>
                        <a:rPr sz="1100" b="0">
                          <a:solidFill>
                            <a:srgbClr val="282828"/>
                          </a:solidFill>
                          <a:latin typeface="Arial"/>
                        </a:rPr>
                        <a:t>within −0.6 to +0.4 mm / 0.9996 / 0.72 mm (the parabola pair's mapping) / 0.10 nm</a:t>
                      </a:r>
                    </a:p>
                  </a:txBody>
                  <a:tcPr marL="54864" marR="54864" marT="18288" marB="18288">
                    <a:solidFill>
                      <a:srgbClr val="ECF1F6"/>
                    </a:solidFill>
                  </a:tcPr>
                </a:tc>
                <a:tc>
                  <a:txBody>
                    <a:bodyPr wrap="square"/>
                    <a:lstStyle/>
                    <a:p>
                      <a:r>
                        <a:rPr sz="1100" b="0">
                          <a:solidFill>
                            <a:srgbClr val="282828"/>
                          </a:solidFill>
                          <a:latin typeface="Arial"/>
                        </a:rPr>
                        <a:t>tilt 0.43, defocus −0.45 / 0.9994 / 0.72 / 0.09 nm</a:t>
                      </a:r>
                    </a:p>
                  </a:txBody>
                  <a:tcPr marL="54864" marR="54864" marT="18288" marB="18288">
                    <a:solidFill>
                      <a:srgbClr val="ECF1F6"/>
                    </a:solidFill>
                  </a:tcPr>
                </a:tc>
                <a:tc>
                  <a:txBody>
                    <a:bodyPr wrap="square"/>
                    <a:lstStyle/>
                    <a:p>
                      <a:r>
                        <a:rPr sz="1100" b="0">
                          <a:solidFill>
                            <a:srgbClr val="282828"/>
                          </a:solidFill>
                          <a:latin typeface="Arial"/>
                        </a:rPr>
                        <a:t>tuned tail: 2.6 to 6 mm / 0.954 / 0.27 mm / 1.2 nm</a:t>
                      </a:r>
                    </a:p>
                  </a:txBody>
                  <a:tcPr marL="54864" marR="54864" marT="18288" marB="18288">
                    <a:solidFill>
                      <a:srgbClr val="ECF1F6"/>
                    </a:solidFill>
                  </a:tcPr>
                </a:tc>
              </a:tr>
              <a:tr h="657225">
                <a:tc>
                  <a:txBody>
                    <a:bodyPr wrap="square"/>
                    <a:lstStyle/>
                    <a:p>
                      <a:r>
                        <a:rPr sz="1100" b="0">
                          <a:solidFill>
                            <a:srgbClr val="282828"/>
                          </a:solidFill>
                          <a:latin typeface="Arial"/>
                        </a:rPr>
                        <a:t>the sensors on the mirror rig at 385 px, substrates in: stepped-Zernike rows, single / grid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0.993 / 5 pm; 0.995 / 4 pm</a:t>
                      </a:r>
                    </a:p>
                  </a:txBody>
                  <a:tcPr marL="54864" marR="54864" marT="18288" marB="18288">
                    <a:solidFill>
                      <a:srgbClr val="FFFFFF"/>
                    </a:solidFill>
                  </a:tcPr>
                </a:tc>
                <a:tc>
                  <a:txBody>
                    <a:bodyPr wrap="square"/>
                    <a:lstStyle/>
                    <a:p>
                      <a:r>
                        <a:rPr sz="1100" b="0">
                          <a:solidFill>
                            <a:srgbClr val="282828"/>
                          </a:solidFill>
                          <a:latin typeface="Arial"/>
                        </a:rPr>
                        <a:t>identical (the sensor bench is the same)</a:t>
                      </a:r>
                    </a:p>
                  </a:txBody>
                  <a:tcPr marL="54864" marR="54864" marT="18288" marB="18288">
                    <a:solidFill>
                      <a:srgbClr val="FFFFFF"/>
                    </a:solidFill>
                  </a:tcPr>
                </a:tc>
                <a:tc>
                  <a:txBody>
                    <a:bodyPr wrap="square"/>
                    <a:lstStyle/>
                    <a:p>
                      <a:r>
                        <a:rPr sz="1100" b="0">
                          <a:solidFill>
                            <a:srgbClr val="282828"/>
                          </a:solidFill>
                          <a:latin typeface="Arial"/>
                        </a:rPr>
                        <a:t>0.991 / 4; 0.999 / 4 (no substrates)</a:t>
                      </a:r>
                    </a:p>
                  </a:txBody>
                  <a:tcPr marL="54864" marR="54864" marT="18288" marB="18288">
                    <a:solidFill>
                      <a:srgbClr val="FFFFFF"/>
                    </a:solidFill>
                  </a:tcPr>
                </a:tc>
              </a:tr>
              <a:tr h="468630">
                <a:tc>
                  <a:txBody>
                    <a:bodyPr wrap="square"/>
                    <a:lstStyle/>
                    <a:p>
                      <a:r>
                        <a:rPr sz="1100" b="0">
                          <a:solidFill>
                            <a:srgbClr val="282828"/>
                          </a:solidFill>
                          <a:latin typeface="Arial"/>
                        </a:rPr>
                        <a:t>the sensors' capture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c>
                  <a:txBody>
                    <a:bodyPr wrap="square"/>
                    <a:lstStyle/>
                    <a:p>
                      <a:r>
                        <a:rPr sz="1100" b="0">
                          <a:solidFill>
                            <a:srgbClr val="282828"/>
                          </a:solidFill>
                          <a:latin typeface="Arial"/>
                        </a:rPr>
                        <a:t>identical</a:t>
                      </a:r>
                    </a:p>
                  </a:txBody>
                  <a:tcPr marL="54864" marR="54864" marT="18288" marB="18288">
                    <a:solidFill>
                      <a:srgbClr val="ECF1F6"/>
                    </a:solidFill>
                  </a:tcPr>
                </a:tc>
                <a:tc>
                  <a:txBody>
                    <a:bodyPr wrap="square"/>
                    <a:lstStyle/>
                    <a:p>
                      <a:r>
                        <a:rPr sz="1100" b="0">
                          <a:solidFill>
                            <a:srgbClr val="282828"/>
                          </a:solidFill>
                          <a:latin typeface="Arial"/>
                        </a:rPr>
                        <a:t>36 / 59 / 52 nm (no substrates)</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500" b="0">
                <a:solidFill>
                  <a:srgbClr val="282828"/>
                </a:solidFill>
                <a:latin typeface="Arial"/>
              </a:rPr>
              <a:t>•  The pupil image is not what limits either rig: on the seed tail with the substrates in, the DM images within a third of a millimeter of the camera on lenses (0.9999 at the actuator Nyquist, 0.08 nm on the working surface) and within 0.6 mm on mirrors; the lens rig's 92 nm null is the plate's spherical aberration and the misfed collimator, not the imaging.  The mask plate costs the sensors a little capture (vector 59 to 51 nm, pinhole 52 to 42) and no gain.</a:t>
            </a:r>
          </a:p>
          <a:p>
            <a:pPr>
              <a:spcAft>
                <a:spcPts val="600"/>
              </a:spcAft>
            </a:pPr>
            <a:r>
              <a:rPr sz="1500" b="0">
                <a:solidFill>
                  <a:srgbClr val="282828"/>
                </a:solidFill>
                <a:latin typeface="Arial"/>
              </a:rPr>
              <a:t>•  One clearance line moved: with the thicker plates and the larger beam the compensator sits 16 mm from the source beam against the 25 mm rule; it moves down the DM leg in the redo.</a:t>
            </a:r>
          </a:p>
        </p:txBody>
      </p:sp>
      <p:sp>
        <p:nvSpPr>
          <p:cNvPr id="6" name="TextBox 5"/>
          <p:cNvSpPr txBox="1"/>
          <p:nvPr/>
        </p:nvSpPr>
        <p:spPr>
          <a:xfrm>
            <a:off x="411480" y="5967984"/>
            <a:ext cx="11368735" cy="274320"/>
          </a:xfrm>
          <a:prstGeom prst="rect">
            <a:avLst/>
          </a:prstGeom>
          <a:noFill/>
        </p:spPr>
        <p:txBody>
          <a:bodyPr wrap="square">
            <a:spAutoFit/>
          </a:bodyPr>
          <a:lstStyle/>
          <a:p>
            <a:pPr>
              <a:spcAft>
                <a:spcPts val="600"/>
              </a:spcAft>
            </a:pPr>
            <a:r>
              <a:rPr sz="1050" b="0">
                <a:solidFill>
                  <a:srgbClr val="6E6E6E"/>
                </a:solidFill>
                <a:latin typeface="Arial"/>
              </a:rPr>
              <a:t>Run tags pupilsim_sub96_lens, pupilsim_sub96_oap, sub96_oapsens (cycle 3a); redo96_oapsens (3b); the Mac, 2026-09-17.  The interferometer's rows on these decks are on the previous slide.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93192" y="1133856"/>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