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What the bench delivers</a:t>
            </a:r>
          </a:p>
          <a:p>
            <a:pPr>
              <a:spcAft>
                <a:spcPts val="600"/>
              </a:spcAft>
            </a:pPr>
            <a:r>
              <a:rPr sz="1200" b="0">
                <a:solidFill>
                  <a:srgbClr val="282828"/>
                </a:solidFill>
                <a:latin typeface="Arial"/>
              </a:rPr>
              <a:t>•  4 Introduction: the three jobs and how they are scored</a:t>
            </a:r>
          </a:p>
          <a:p>
            <a:pPr>
              <a:spcAft>
                <a:spcPts val="600"/>
              </a:spcAft>
            </a:pPr>
            <a:r>
              <a:rPr sz="1200" b="0">
                <a:solidFill>
                  <a:srgbClr val="282828"/>
                </a:solidFill>
                <a:latin typeface="Arial"/>
              </a:rPr>
              <a:t>•  5 The bench layout</a:t>
            </a:r>
          </a:p>
          <a:p>
            <a:pPr>
              <a:spcAft>
                <a:spcPts val="600"/>
              </a:spcAft>
            </a:pPr>
            <a:r>
              <a:rPr sz="1200" b="0">
                <a:solidFill>
                  <a:srgbClr val="282828"/>
                </a:solidFill>
                <a:latin typeface="Arial"/>
              </a:rPr>
              <a:t>•  7 Parts: the front end and the detector leg</a:t>
            </a:r>
          </a:p>
          <a:p>
            <a:pPr>
              <a:spcAft>
                <a:spcPts val="600"/>
              </a:spcAft>
            </a:pPr>
            <a:r>
              <a:rPr sz="1200" b="0">
                <a:solidFill>
                  <a:srgbClr val="282828"/>
                </a:solidFill>
                <a:latin typeface="Arial"/>
              </a:rPr>
              <a:t>•  9 Parts: the interferometer and the sensors</a:t>
            </a:r>
          </a:p>
          <a:p>
            <a:pPr>
              <a:spcAft>
                <a:spcPts val="600"/>
              </a:spcAft>
            </a:pPr>
            <a:r>
              <a:rPr sz="1200" b="0">
                <a:solidFill>
                  <a:srgbClr val="282828"/>
                </a:solidFill>
                <a:latin typeface="Arial"/>
              </a:rPr>
              <a:t>•  11 Twyman-Green interferometer</a:t>
            </a:r>
          </a:p>
          <a:p>
            <a:pPr>
              <a:spcAft>
                <a:spcPts val="600"/>
              </a:spcAft>
            </a:pPr>
            <a:r>
              <a:rPr sz="1200" b="0">
                <a:solidFill>
                  <a:srgbClr val="282828"/>
                </a:solidFill>
                <a:latin typeface="Arial"/>
              </a:rPr>
              <a:t>•  18 Zernike sensor</a:t>
            </a:r>
          </a:p>
          <a:p>
            <a:pPr>
              <a:spcAft>
                <a:spcPts val="600"/>
              </a:spcAft>
            </a:pPr>
            <a:r>
              <a:rPr sz="1200" b="0">
                <a:solidFill>
                  <a:srgbClr val="282828"/>
                </a:solidFill>
                <a:latin typeface="Arial"/>
              </a:rPr>
              <a:t>•  20 Vector Zernike sensor</a:t>
            </a:r>
          </a:p>
          <a:p>
            <a:pPr>
              <a:spcAft>
                <a:spcPts val="600"/>
              </a:spcAft>
            </a:pPr>
            <a:r>
              <a:rPr sz="1200" b="0">
                <a:solidFill>
                  <a:srgbClr val="282828"/>
                </a:solidFill>
                <a:latin typeface="Arial"/>
              </a:rPr>
              <a:t>•  23 Point-diffraction sensor</a:t>
            </a:r>
          </a:p>
          <a:p>
            <a:pPr>
              <a:spcAft>
                <a:spcPts val="600"/>
              </a:spcAft>
            </a:pPr>
            <a:r>
              <a:rPr sz="1200" b="0">
                <a:solidFill>
                  <a:srgbClr val="282828"/>
                </a:solidFill>
                <a:latin typeface="Arial"/>
              </a:rPr>
              <a:t>•  26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32 Lenses versus off-axis parabolas</a:t>
            </a:r>
          </a:p>
          <a:p>
            <a:pPr>
              <a:spcAft>
                <a:spcPts val="600"/>
              </a:spcAft>
            </a:pPr>
            <a:r>
              <a:rPr sz="1200" b="0">
                <a:solidFill>
                  <a:srgbClr val="282828"/>
                </a:solidFill>
                <a:latin typeface="Arial"/>
              </a:rPr>
              <a:t>•  33 The reflective front end and its performance</a:t>
            </a:r>
          </a:p>
          <a:p>
            <a:pPr>
              <a:spcAft>
                <a:spcPts val="600"/>
              </a:spcAft>
            </a:pPr>
            <a:r>
              <a:rPr sz="1200" b="0">
                <a:solidFill>
                  <a:srgbClr val="282828"/>
                </a:solidFill>
                <a:latin typeface="Arial"/>
              </a:rPr>
              <a:t>•  35 Comparison and recommendation</a:t>
            </a:r>
          </a:p>
          <a:p>
            <a:pPr>
              <a:spcAft>
                <a:spcPts val="600"/>
              </a:spcAft>
            </a:pPr>
            <a:r>
              <a:rPr sz="1200" b="0">
                <a:solidFill>
                  <a:srgbClr val="282828"/>
                </a:solidFill>
                <a:latin typeface="Arial"/>
              </a:rPr>
              <a:t>•  38 Measuring the complex amplitude</a:t>
            </a:r>
          </a:p>
          <a:p>
            <a:pPr>
              <a:spcAft>
                <a:spcPts val="600"/>
              </a:spcAft>
            </a:pPr>
            <a:r>
              <a:rPr sz="1200" b="0">
                <a:solidFill>
                  <a:srgbClr val="282828"/>
                </a:solidFill>
                <a:latin typeface="Arial"/>
              </a:rPr>
              <a:t>•  39 Summary and future work</a:t>
            </a:r>
          </a:p>
          <a:p>
            <a:pPr>
              <a:spcAft>
                <a:spcPts val="600"/>
              </a:spcAft>
            </a:pPr>
            <a:r>
              <a:rPr sz="1200" b="0">
                <a:solidFill>
                  <a:srgbClr val="282828"/>
                </a:solidFill>
                <a:latin typeface="Arial"/>
              </a:rPr>
              <a:t>•  45 Run it yourself</a:t>
            </a:r>
          </a:p>
          <a:p>
            <a:pPr>
              <a:spcAft>
                <a:spcPts val="600"/>
              </a:spcAft>
            </a:pPr>
            <a:r>
              <a:rPr sz="1200" b="0">
                <a:solidFill>
                  <a:srgbClr val="282828"/>
                </a:solidFill>
                <a:latin typeface="Arial"/>
              </a:rPr>
              <a:t>•  46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bench delivers</a:t>
            </a:r>
          </a:p>
          <a:p>
            <a:pPr>
              <a:spcAft>
                <a:spcPts val="0"/>
              </a:spcAft>
            </a:pPr>
            <a:r>
              <a:rPr sz="1250" b="0">
                <a:solidFill>
                  <a:srgbClr val="6E6E6E"/>
                </a:solidFill>
                <a:latin typeface="Arial"/>
              </a:rPr>
              <a:t>Accuracy, precision, repeatability and hold — measured on both front ends, on the bench as it will be built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1090676"/>
                <a:gridCol w="7951419"/>
                <a:gridCol w="1163320"/>
                <a:gridCol w="1163320"/>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Picometer measurement is photon-limited, not bench-limited.  One measurement at 1e15 photons — 0.31 mJ, about 1.3 s of a 1 mW laser — repeats to 0.7 pm, and a servo fed at that rate holds under half a picometer.  Both front ends agree to within 10 %.  For scale, Steeves et al. (2020, Optica 7, 1267) demonstrate 1.6 pm in 4.3 s on a real interferometer: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Accuracy is systematic and proportional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One disturbance is not photon-limited: under a 5 pm per cycle thermal ramp the loop lags at about 10 pm however many photons it is given — a cadence and thermal-control requirement, not a sensing one.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A 10 nm single-actuator change — what the servo actually corrects — reads against truth to 1.5 pm at gain 1.001 on lenses and 1.8 pm at 0.993 on mirrors.  Every number here is a committed run of the shared model; the run tags are on the provenance slide and each is repeated on the slide that derives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on the redo bench, Mac cycle 3c, 2026-09-18).  The lens rig's figure exists but its residual panel reads 51 nm against the engine — a fold, not the pupil-image bowl the earlier hypothesis blamed: the bowl is gone and the residual barely moved (62 → 51 nm).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Pupil image quality supports picometer measurement on both rigs.  Carried through to a reading it costs 0.13 % of the figure on lenses and 0.29 % on mirrors — 42 and 92 pm on a 30 nm working surface — and 0.5 % / 0.9 %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The lens rig images the DM flat (0.5 µm of defocus across the pupil) and holds its mapping to a seventh of an actuator pitch.  The mirror rig trades mapping for the front end: the OAP pair distorts the image by more than a pitch at the edge, which the measured matrix absorbs and the numbers above already include.</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camera is at the pupil image, and the best detector move from here is −0.00 mm: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1133856"/>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