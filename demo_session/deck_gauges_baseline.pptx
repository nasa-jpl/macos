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3</a:t>
            </a:r>
            <a:r>
              <a:rPr sz="1500" b="0">
                <a:solidFill>
                  <a:srgbClr val="282828"/>
                </a:solidFill>
                <a:latin typeface="Arial"/>
              </a:rPr>
              <a:t> One optical bench to demo 4 surface gauges, in mirror and lens forms</a:t>
            </a:r>
          </a:p>
          <a:p>
            <a:pPr>
              <a:spcAft>
                <a:spcPts val="600"/>
              </a:spcAft>
            </a:pPr>
            <a:r>
              <a:rPr sz="1500" b="0">
                <a:solidFill>
                  <a:srgbClr val="282828"/>
                </a:solidFill>
                <a:latin typeface="Arial"/>
              </a:rPr>
              <a:t>•  </a:t>
            </a:r>
            <a:r>
              <a:rPr sz="1500" b="1">
                <a:solidFill>
                  <a:srgbClr val="282828"/>
                </a:solidFill>
                <a:latin typeface="Arial"/>
              </a:rPr>
              <a:t>4</a:t>
            </a:r>
            <a:r>
              <a:rPr sz="1500" b="0">
                <a:solidFill>
                  <a:srgbClr val="282828"/>
                </a:solidFill>
                <a:latin typeface="Arial"/>
              </a:rPr>
              <a:t> Introduction: the three jobs and how they are scored</a:t>
            </a:r>
          </a:p>
          <a:p>
            <a:pPr>
              <a:spcAft>
                <a:spcPts val="600"/>
              </a:spcAft>
            </a:pPr>
            <a:r>
              <a:rPr sz="1500" b="0">
                <a:solidFill>
                  <a:srgbClr val="282828"/>
                </a:solidFill>
                <a:latin typeface="Arial"/>
              </a:rPr>
              <a:t>•  </a:t>
            </a:r>
            <a:r>
              <a:rPr sz="1500" b="1">
                <a:solidFill>
                  <a:srgbClr val="282828"/>
                </a:solidFill>
                <a:latin typeface="Arial"/>
              </a:rPr>
              <a:t>5</a:t>
            </a:r>
            <a:r>
              <a:rPr sz="1500" b="0">
                <a:solidFill>
                  <a:srgbClr val="282828"/>
                </a:solidFill>
                <a:latin typeface="Arial"/>
              </a:rPr>
              <a:t> The bench layout</a:t>
            </a:r>
          </a:p>
          <a:p>
            <a:pPr>
              <a:spcAft>
                <a:spcPts val="600"/>
              </a:spcAft>
            </a:pPr>
            <a:r>
              <a:rPr sz="1500" b="0">
                <a:solidFill>
                  <a:srgbClr val="282828"/>
                </a:solidFill>
                <a:latin typeface="Arial"/>
              </a:rPr>
              <a:t>•  </a:t>
            </a:r>
            <a:r>
              <a:rPr sz="1500" b="1">
                <a:solidFill>
                  <a:srgbClr val="282828"/>
                </a:solidFill>
                <a:latin typeface="Arial"/>
              </a:rPr>
              <a:t>7</a:t>
            </a:r>
            <a:r>
              <a:rPr sz="1500" b="0">
                <a:solidFill>
                  <a:srgbClr val="282828"/>
                </a:solidFill>
                <a:latin typeface="Arial"/>
              </a:rPr>
              <a:t> Parts: the front end and the detector leg</a:t>
            </a:r>
          </a:p>
          <a:p>
            <a:pPr>
              <a:spcAft>
                <a:spcPts val="600"/>
              </a:spcAft>
            </a:pPr>
            <a:r>
              <a:rPr sz="1500" b="0">
                <a:solidFill>
                  <a:srgbClr val="282828"/>
                </a:solidFill>
                <a:latin typeface="Arial"/>
              </a:rPr>
              <a:t>•  </a:t>
            </a:r>
            <a:r>
              <a:rPr sz="1500" b="1">
                <a:solidFill>
                  <a:srgbClr val="282828"/>
                </a:solidFill>
                <a:latin typeface="Arial"/>
              </a:rPr>
              <a:t>9</a:t>
            </a:r>
            <a:r>
              <a:rPr sz="1500" b="0">
                <a:solidFill>
                  <a:srgbClr val="282828"/>
                </a:solidFill>
                <a:latin typeface="Arial"/>
              </a:rPr>
              <a:t> Parts: the interferometer and the sensors</a:t>
            </a:r>
          </a:p>
          <a:p>
            <a:pPr>
              <a:spcAft>
                <a:spcPts val="600"/>
              </a:spcAft>
            </a:pPr>
            <a:r>
              <a:rPr sz="1500" b="0">
                <a:solidFill>
                  <a:srgbClr val="282828"/>
                </a:solidFill>
                <a:latin typeface="Arial"/>
              </a:rPr>
              <a:t>•  </a:t>
            </a:r>
            <a:r>
              <a:rPr sz="1500" b="1">
                <a:solidFill>
                  <a:srgbClr val="282828"/>
                </a:solidFill>
                <a:latin typeface="Arial"/>
              </a:rPr>
              <a:t>11</a:t>
            </a:r>
            <a:r>
              <a:rPr sz="1500" b="0">
                <a:solidFill>
                  <a:srgbClr val="282828"/>
                </a:solidFill>
                <a:latin typeface="Arial"/>
              </a:rPr>
              <a:t> Twyman-Green interferometer</a:t>
            </a:r>
          </a:p>
          <a:p>
            <a:pPr>
              <a:spcAft>
                <a:spcPts val="600"/>
              </a:spcAft>
            </a:pPr>
            <a:r>
              <a:rPr sz="1500" b="0">
                <a:solidFill>
                  <a:srgbClr val="282828"/>
                </a:solidFill>
                <a:latin typeface="Arial"/>
              </a:rPr>
              <a:t>•  </a:t>
            </a:r>
            <a:r>
              <a:rPr sz="1500" b="1">
                <a:solidFill>
                  <a:srgbClr val="282828"/>
                </a:solidFill>
                <a:latin typeface="Arial"/>
              </a:rPr>
              <a:t>17</a:t>
            </a:r>
            <a:r>
              <a:rPr sz="1500" b="0">
                <a:solidFill>
                  <a:srgbClr val="282828"/>
                </a:solidFill>
                <a:latin typeface="Arial"/>
              </a:rPr>
              <a:t> Zernike sensor</a:t>
            </a:r>
          </a:p>
          <a:p>
            <a:pPr>
              <a:spcAft>
                <a:spcPts val="600"/>
              </a:spcAft>
            </a:pPr>
            <a:r>
              <a:rPr sz="1500" b="0">
                <a:solidFill>
                  <a:srgbClr val="282828"/>
                </a:solidFill>
                <a:latin typeface="Arial"/>
              </a:rPr>
              <a:t>•  </a:t>
            </a:r>
            <a:r>
              <a:rPr sz="1500" b="1">
                <a:solidFill>
                  <a:srgbClr val="282828"/>
                </a:solidFill>
                <a:latin typeface="Arial"/>
              </a:rPr>
              <a:t>19</a:t>
            </a:r>
            <a:r>
              <a:rPr sz="1500" b="0">
                <a:solidFill>
                  <a:srgbClr val="282828"/>
                </a:solidFill>
                <a:latin typeface="Arial"/>
              </a:rPr>
              <a:t> Vector Zernike sensor</a:t>
            </a:r>
          </a:p>
          <a:p>
            <a:pPr>
              <a:spcAft>
                <a:spcPts val="600"/>
              </a:spcAft>
            </a:pPr>
            <a:r>
              <a:rPr sz="1500" b="0">
                <a:solidFill>
                  <a:srgbClr val="282828"/>
                </a:solidFill>
                <a:latin typeface="Arial"/>
              </a:rPr>
              <a:t>•  </a:t>
            </a:r>
            <a:r>
              <a:rPr sz="1500" b="1">
                <a:solidFill>
                  <a:srgbClr val="282828"/>
                </a:solidFill>
                <a:latin typeface="Arial"/>
              </a:rPr>
              <a:t>22</a:t>
            </a:r>
            <a:r>
              <a:rPr sz="1500" b="0">
                <a:solidFill>
                  <a:srgbClr val="282828"/>
                </a:solidFill>
                <a:latin typeface="Arial"/>
              </a:rPr>
              <a:t> Point-diffraction sensor</a:t>
            </a:r>
          </a:p>
          <a:p>
            <a:pPr>
              <a:spcAft>
                <a:spcPts val="600"/>
              </a:spcAft>
            </a:pPr>
            <a:r>
              <a:rPr sz="1500" b="0">
                <a:solidFill>
                  <a:srgbClr val="282828"/>
                </a:solidFill>
                <a:latin typeface="Arial"/>
              </a:rPr>
              <a:t>•  </a:t>
            </a:r>
            <a:r>
              <a:rPr sz="1500" b="1">
                <a:solidFill>
                  <a:srgbClr val="282828"/>
                </a:solidFill>
                <a:latin typeface="Arial"/>
              </a:rPr>
              <a:t>25</a:t>
            </a:r>
            <a:r>
              <a:rPr sz="1500" b="0">
                <a:solidFill>
                  <a:srgbClr val="282828"/>
                </a:solidFill>
                <a:latin typeface="Arial"/>
              </a:rPr>
              <a:t> Performance: rows, capture, photons, servo</a:t>
            </a:r>
          </a:p>
          <a:p>
            <a:pPr>
              <a:spcAft>
                <a:spcPts val="600"/>
              </a:spcAft>
            </a:pPr>
            <a:r>
              <a:rPr sz="1500" b="0">
                <a:solidFill>
                  <a:srgbClr val="282828"/>
                </a:solidFill>
                <a:latin typeface="Arial"/>
              </a:rPr>
              <a:t>•  </a:t>
            </a:r>
            <a:r>
              <a:rPr sz="1500" b="1">
                <a:solidFill>
                  <a:srgbClr val="282828"/>
                </a:solidFill>
                <a:latin typeface="Arial"/>
              </a:rPr>
              <a:t>31</a:t>
            </a:r>
            <a:r>
              <a:rPr sz="1500" b="0">
                <a:solidFill>
                  <a:srgbClr val="282828"/>
                </a:solidFill>
                <a:latin typeface="Arial"/>
              </a:rPr>
              <a:t> Lenses versus off-axis parabolas</a:t>
            </a:r>
          </a:p>
          <a:p>
            <a:pPr>
              <a:spcAft>
                <a:spcPts val="600"/>
              </a:spcAft>
            </a:pPr>
            <a:r>
              <a:rPr sz="1500" b="0">
                <a:solidFill>
                  <a:srgbClr val="282828"/>
                </a:solidFill>
                <a:latin typeface="Arial"/>
              </a:rPr>
              <a:t>•  </a:t>
            </a:r>
            <a:r>
              <a:rPr sz="1500" b="1">
                <a:solidFill>
                  <a:srgbClr val="282828"/>
                </a:solidFill>
                <a:latin typeface="Arial"/>
              </a:rPr>
              <a:t>32</a:t>
            </a:r>
            <a:r>
              <a:rPr sz="1500" b="0">
                <a:solidFill>
                  <a:srgbClr val="282828"/>
                </a:solidFill>
                <a:latin typeface="Arial"/>
              </a:rPr>
              <a:t> The reflective front end</a:t>
            </a:r>
          </a:p>
          <a:p>
            <a:pPr>
              <a:spcAft>
                <a:spcPts val="600"/>
              </a:spcAft>
            </a:pPr>
            <a:r>
              <a:rPr sz="1500" b="0">
                <a:solidFill>
                  <a:srgbClr val="282828"/>
                </a:solidFill>
                <a:latin typeface="Arial"/>
              </a:rPr>
              <a:t>•  </a:t>
            </a:r>
            <a:r>
              <a:rPr sz="1500" b="1">
                <a:solidFill>
                  <a:srgbClr val="282828"/>
                </a:solidFill>
                <a:latin typeface="Arial"/>
              </a:rPr>
              <a:t>33</a:t>
            </a:r>
            <a:r>
              <a:rPr sz="1500" b="0">
                <a:solidFill>
                  <a:srgbClr val="282828"/>
                </a:solidFill>
                <a:latin typeface="Arial"/>
              </a:rPr>
              <a:t> Comparison and recommendation</a:t>
            </a:r>
          </a:p>
          <a:p>
            <a:pPr>
              <a:spcAft>
                <a:spcPts val="600"/>
              </a:spcAft>
            </a:pPr>
            <a:r>
              <a:rPr sz="1500" b="0">
                <a:solidFill>
                  <a:srgbClr val="282828"/>
                </a:solidFill>
                <a:latin typeface="Arial"/>
              </a:rPr>
              <a:t>•  </a:t>
            </a:r>
            <a:r>
              <a:rPr sz="1500" b="1">
                <a:solidFill>
                  <a:srgbClr val="282828"/>
                </a:solidFill>
                <a:latin typeface="Arial"/>
              </a:rPr>
              <a:t>36</a:t>
            </a:r>
            <a:r>
              <a:rPr sz="1500" b="0">
                <a:solidFill>
                  <a:srgbClr val="282828"/>
                </a:solidFill>
                <a:latin typeface="Arial"/>
              </a:rPr>
              <a:t> Measuring the complex amplitude</a:t>
            </a:r>
          </a:p>
          <a:p>
            <a:pPr>
              <a:spcAft>
                <a:spcPts val="600"/>
              </a:spcAft>
            </a:pPr>
            <a:r>
              <a:rPr sz="1500" b="0">
                <a:solidFill>
                  <a:srgbClr val="282828"/>
                </a:solidFill>
                <a:latin typeface="Arial"/>
              </a:rPr>
              <a:t>•  </a:t>
            </a:r>
            <a:r>
              <a:rPr sz="1500" b="1">
                <a:solidFill>
                  <a:srgbClr val="282828"/>
                </a:solidFill>
                <a:latin typeface="Arial"/>
              </a:rPr>
              <a:t>37</a:t>
            </a:r>
            <a:r>
              <a:rPr sz="1500" b="0">
                <a:solidFill>
                  <a:srgbClr val="282828"/>
                </a:solidFill>
                <a:latin typeface="Arial"/>
              </a:rPr>
              <a:t> Summary and future work</a:t>
            </a:r>
          </a:p>
          <a:p>
            <a:pPr>
              <a:spcAft>
                <a:spcPts val="600"/>
              </a:spcAft>
            </a:pPr>
            <a:r>
              <a:rPr sz="1500" b="0">
                <a:solidFill>
                  <a:srgbClr val="282828"/>
                </a:solidFill>
                <a:latin typeface="Arial"/>
              </a:rPr>
              <a:t>•  </a:t>
            </a:r>
            <a:r>
              <a:rPr sz="1500" b="1">
                <a:solidFill>
                  <a:srgbClr val="282828"/>
                </a:solidFill>
                <a:latin typeface="Arial"/>
              </a:rPr>
              <a:t>42</a:t>
            </a:r>
            <a:r>
              <a:rPr sz="1500" b="0">
                <a:solidFill>
                  <a:srgbClr val="282828"/>
                </a:solidFill>
                <a:latin typeface="Arial"/>
              </a:rPr>
              <a:t> Run it yourself</a:t>
            </a:r>
          </a:p>
          <a:p>
            <a:pPr>
              <a:spcAft>
                <a:spcPts val="600"/>
              </a:spcAft>
            </a:pPr>
            <a:r>
              <a:rPr sz="1500" b="0">
                <a:solidFill>
                  <a:srgbClr val="282828"/>
                </a:solidFill>
                <a:latin typeface="Arial"/>
              </a:rPr>
              <a:t>•  </a:t>
            </a:r>
            <a:r>
              <a:rPr sz="1500" b="1">
                <a:solidFill>
                  <a:srgbClr val="282828"/>
                </a:solidFill>
                <a:latin typeface="Arial"/>
              </a:rPr>
              <a:t>43</a:t>
            </a:r>
            <a:r>
              <a:rPr sz="1500" b="0">
                <a:solidFill>
                  <a:srgbClr val="282828"/>
                </a:solidFill>
                <a:latin typeface="Arial"/>
              </a:rPr>
              <a:t>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06065"/>
        </p:xfrm>
        <a:graphic>
          <a:graphicData uri="http://schemas.openxmlformats.org/drawingml/2006/table">
            <a:tbl>
              <a:tblPr firstRow="1" bandRow="1">
                <a:tableStyleId>{5C22544A-7EE6-4342-B048-85BDC9FD1C3A}</a:tableStyleId>
              </a:tblPr>
              <a:tblGrid>
                <a:gridCol w="1450493"/>
                <a:gridCol w="6076392"/>
                <a:gridCol w="1920924"/>
                <a:gridCol w="1920924"/>
              </a:tblGrid>
              <a:tr h="468630">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468630">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a 10 nm change on one actuator, read through the matrix measured on the 30 nm surface: gain (error) / floor</a:t>
                      </a:r>
                    </a:p>
                  </a:txBody>
                  <a:tcPr marL="54864" marR="54864" marT="18288" marB="18288">
                    <a:solidFill>
                      <a:srgbClr val="FFFFFF"/>
                    </a:solidFill>
                  </a:tcPr>
                </a:tc>
                <a:tc>
                  <a:txBody>
                    <a:bodyPr wrap="square"/>
                    <a:lstStyle/>
                    <a:p>
                      <a:r>
                        <a:rPr sz="1100" b="0">
                          <a:solidFill>
                            <a:srgbClr val="282828"/>
                          </a:solidFill>
                          <a:latin typeface="Arial"/>
                        </a:rPr>
                        <a:t>1.004 (0.4 %) / 1.4 pm</a:t>
                      </a:r>
                    </a:p>
                  </a:txBody>
                  <a:tcPr marL="54864" marR="54864" marT="18288" marB="18288">
                    <a:solidFill>
                      <a:srgbClr val="FFFFFF"/>
                    </a:solidFill>
                  </a:tcPr>
                </a:tc>
                <a:tc>
                  <a:txBody>
                    <a:bodyPr wrap="square"/>
                    <a:lstStyle/>
                    <a:p>
                      <a:r>
                        <a:rPr sz="1100" b="0">
                          <a:solidFill>
                            <a:srgbClr val="282828"/>
                          </a:solidFill>
                          <a:latin typeface="Arial"/>
                        </a:rPr>
                        <a:t>0.986 (1.4 %) / 2.3 pm</a:t>
                      </a:r>
                    </a:p>
                  </a:txBody>
                  <a:tcPr marL="54864" marR="54864" marT="18288" marB="18288">
                    <a:solidFill>
                      <a:srgbClr val="FFFFFF"/>
                    </a:solidFill>
                  </a:tcPr>
                </a:tc>
              </a:tr>
              <a:tr h="468630">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raw map of the 30 nm surface against the engine's field at the camera, before any calibration: the polarization snapshot / the hybrid's piezo four-step</a:t>
                      </a:r>
                    </a:p>
                  </a:txBody>
                  <a:tcPr marL="54864" marR="54864" marT="18288" marB="18288">
                    <a:solidFill>
                      <a:srgbClr val="ECF1F6"/>
                    </a:solidFill>
                  </a:tcPr>
                </a:tc>
                <a:tc>
                  <a:txBody>
                    <a:bodyPr wrap="square"/>
                    <a:lstStyle/>
                    <a:p>
                      <a:r>
                        <a:rPr sz="1100" b="0">
                          <a:solidFill>
                            <a:srgbClr val="282828"/>
                          </a:solidFill>
                          <a:latin typeface="Arial"/>
                        </a:rPr>
                        <a:t>1.4 % (350 pm), gain 0.993 / 0.01 pm, gain 1.0000</a:t>
                      </a:r>
                    </a:p>
                  </a:txBody>
                  <a:tcPr marL="54864" marR="54864" marT="18288" marB="18288">
                    <a:solidFill>
                      <a:srgbClr val="ECF1F6"/>
                    </a:solidFill>
                  </a:tcPr>
                </a:tc>
                <a:tc>
                  <a:txBody>
                    <a:bodyPr wrap="square"/>
                    <a:lstStyle/>
                    <a:p>
                      <a:r>
                        <a:rPr sz="1100" b="0">
                          <a:solidFill>
                            <a:srgbClr val="282828"/>
                          </a:solidFill>
                          <a:latin typeface="Arial"/>
                        </a:rPr>
                        <a:t>1.5 % (463 pm), gain 0.987 / 0.01 pm, gain 1.0000</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of which the pupil imaging, piston and tilt removed; in the top spatial band</a:t>
                      </a:r>
                    </a:p>
                  </a:txBody>
                  <a:tcPr marL="54864" marR="54864" marT="18288" marB="18288">
                    <a:solidFill>
                      <a:srgbClr val="FFFFFF"/>
                    </a:solidFill>
                  </a:tcPr>
                </a:tc>
                <a:tc>
                  <a:txBody>
                    <a:bodyPr wrap="square"/>
                    <a:lstStyle/>
                    <a:p>
                      <a:r>
                        <a:rPr sz="1100" b="0">
                          <a:solidFill>
                            <a:srgbClr val="282828"/>
                          </a:solidFill>
                          <a:latin typeface="Arial"/>
                        </a:rPr>
                        <a:t>0.13 % (42 pm); 0.5 %</a:t>
                      </a:r>
                    </a:p>
                  </a:txBody>
                  <a:tcPr marL="54864" marR="54864" marT="18288" marB="18288">
                    <a:solidFill>
                      <a:srgbClr val="FFFFFF"/>
                    </a:solidFill>
                  </a:tcPr>
                </a:tc>
                <a:tc>
                  <a:txBody>
                    <a:bodyPr wrap="square"/>
                    <a:lstStyle/>
                    <a:p>
                      <a:r>
                        <a:rPr sz="1100" b="0">
                          <a:solidFill>
                            <a:srgbClr val="282828"/>
                          </a:solidFill>
                          <a:latin typeface="Arial"/>
                        </a:rPr>
                        <a:t>0.29 % (92 pm); 0.9 %</a:t>
                      </a:r>
                    </a:p>
                  </a:txBody>
                  <a:tcPr marL="54864" marR="54864" marT="18288" marB="18288">
                    <a:solidFill>
                      <a:srgbClr val="FFFFFF"/>
                    </a:solidFill>
                  </a:tcPr>
                </a:tc>
              </a:tr>
              <a:tr h="280035">
                <a:tc>
                  <a:txBody>
                    <a:bodyPr wrap="square"/>
                    <a:lstStyle/>
                    <a:p>
                      <a:r>
                        <a:rPr sz="1100" b="0">
                          <a:solidFill>
                            <a:srgbClr val="282828"/>
                          </a:solidFill>
                          <a:latin typeface="Arial"/>
                        </a:rPr>
                        <a:t>precision</a:t>
                      </a:r>
                    </a:p>
                  </a:txBody>
                  <a:tcPr marL="54864" marR="54864" marT="18288" marB="18288">
                    <a:solidFill>
                      <a:srgbClr val="ECF1F6"/>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ECF1F6"/>
                    </a:solidFill>
                  </a:tcPr>
                </a:tc>
                <a:tc>
                  <a:txBody>
                    <a:bodyPr wrap="square"/>
                    <a:lstStyle/>
                    <a:p>
                      <a:r>
                        <a:rPr sz="1100" b="0">
                          <a:solidFill>
                            <a:srgbClr val="282828"/>
                          </a:solidFill>
                          <a:latin typeface="Arial"/>
                        </a:rPr>
                        <a:t>2.3 / 0.7 pm</a:t>
                      </a:r>
                    </a:p>
                  </a:txBody>
                  <a:tcPr marL="54864" marR="54864" marT="18288" marB="18288">
                    <a:solidFill>
                      <a:srgbClr val="ECF1F6"/>
                    </a:solidFill>
                  </a:tcPr>
                </a:tc>
                <a:tc>
                  <a:txBody>
                    <a:bodyPr wrap="square"/>
                    <a:lstStyle/>
                    <a:p>
                      <a:r>
                        <a:rPr sz="1100" b="0">
                          <a:solidFill>
                            <a:srgbClr val="282828"/>
                          </a:solidFill>
                          <a:latin typeface="Arial"/>
                        </a:rPr>
                        <a:t>2.1 / 0.7 pm</a:t>
                      </a:r>
                    </a:p>
                  </a:txBody>
                  <a:tcPr marL="54864" marR="54864" marT="18288" marB="18288">
                    <a:solidFill>
                      <a:srgbClr val="ECF1F6"/>
                    </a:solidFill>
                  </a:tcPr>
                </a:tc>
              </a:tr>
              <a:tr h="280035">
                <a:tc>
                  <a:txBody>
                    <a:bodyPr wrap="square"/>
                    <a:lstStyle/>
                    <a:p>
                      <a:r>
                        <a:rPr sz="1100" b="0">
                          <a:solidFill>
                            <a:srgbClr val="282828"/>
                          </a:solidFill>
                          <a:latin typeface="Arial"/>
                        </a:rPr>
                        <a:t>repeatability</a:t>
                      </a:r>
                    </a:p>
                  </a:txBody>
                  <a:tcPr marL="54864" marR="54864" marT="18288" marB="18288">
                    <a:solidFill>
                      <a:srgbClr val="FFFFFF"/>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FFFFFF"/>
                    </a:solidFill>
                  </a:tcPr>
                </a:tc>
                <a:tc>
                  <a:txBody>
                    <a:bodyPr wrap="square"/>
                    <a:lstStyle/>
                    <a:p>
                      <a:r>
                        <a:rPr sz="1100" b="0">
                          <a:solidFill>
                            <a:srgbClr val="282828"/>
                          </a:solidFill>
                          <a:latin typeface="Arial"/>
                        </a:rPr>
                        <a:t>1.4 / 0.5 pm</a:t>
                      </a:r>
                    </a:p>
                  </a:txBody>
                  <a:tcPr marL="54864" marR="54864" marT="18288" marB="18288">
                    <a:solidFill>
                      <a:srgbClr val="FFFFFF"/>
                    </a:solidFill>
                  </a:tcPr>
                </a:tc>
                <a:tc>
                  <a:txBody>
                    <a:bodyPr wrap="square"/>
                    <a:lstStyle/>
                    <a:p>
                      <a:r>
                        <a:rPr sz="1100" b="0">
                          <a:solidFill>
                            <a:srgbClr val="282828"/>
                          </a:solidFill>
                          <a:latin typeface="Arial"/>
                        </a:rPr>
                        <a:t>1.3 / 0.4 pm</a:t>
                      </a:r>
                    </a:p>
                  </a:txBody>
                  <a:tcPr marL="54864" marR="54864" marT="18288" marB="18288">
                    <a:solidFill>
                      <a:srgbClr val="FFFFFF"/>
                    </a:solidFill>
                  </a:tcPr>
                </a:tc>
              </a:tr>
              <a:tr h="280035">
                <a:tc>
                  <a:txBody>
                    <a:bodyPr wrap="square"/>
                    <a:lstStyle/>
                    <a:p>
                      <a:r>
                        <a:rPr sz="1100" b="0">
                          <a:solidFill>
                            <a:srgbClr val="282828"/>
                          </a:solidFill>
                          <a:latin typeface="Arial"/>
                        </a:rPr>
                        <a:t>hold</a:t>
                      </a:r>
                    </a:p>
                  </a:txBody>
                  <a:tcPr marL="54864" marR="54864" marT="18288" marB="18288">
                    <a:solidFill>
                      <a:srgbClr val="ECF1F6"/>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6.6e13</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100" b="0">
                <a:solidFill>
                  <a:srgbClr val="282828"/>
                </a:solidFill>
                <a:latin typeface="Arial"/>
              </a:rPr>
              <a:t>•  </a:t>
            </a:r>
            <a:r>
              <a:rPr sz="1100" b="1">
                <a:solidFill>
                  <a:srgbClr val="282828"/>
                </a:solidFill>
                <a:latin typeface="Arial"/>
              </a:rPr>
              <a:t>Picometer measurement is photon-limited, not bench-limited.</a:t>
            </a:r>
            <a:r>
              <a:rPr sz="1100" b="0">
                <a:solidFill>
                  <a:srgbClr val="282828"/>
                </a:solidFill>
                <a:latin typeface="Arial"/>
              </a:rPr>
              <a:t>  One measurement at 1e15 photons — 0.31 mJ, 1.3 s of a 1 mW laser — repeats to 0.7 pm, and a servo fed at that rate holds under half a picometer; both front ends agree within 10 %.  For scale, </a:t>
            </a:r>
            <a:r>
              <a:rPr sz="1100" b="1">
                <a:solidFill>
                  <a:srgbClr val="282828"/>
                </a:solidFill>
                <a:latin typeface="Arial"/>
              </a:rPr>
              <a:t>Steeves et al. (2020, Optica 7, 1267) demonstrate 1.6 pm in 4.3 s on a real interferometer</a:t>
            </a:r>
            <a:r>
              <a:rPr sz="1100" b="0">
                <a:solidFill>
                  <a:srgbClr val="282828"/>
                </a:solidFill>
                <a:latin typeface="Arial"/>
              </a:rPr>
              <a:t>: ours is photon-limited only (no vibration, thermal drift or detector systematics), the floor this design allows rather than a prediction of the built bench; agreeing within a factor of two says the model is in the right regime.</a:t>
            </a:r>
          </a:p>
          <a:p>
            <a:pPr>
              <a:spcAft>
                <a:spcPts val="600"/>
              </a:spcAft>
            </a:pPr>
            <a:r>
              <a:rPr sz="1100" b="0">
                <a:solidFill>
                  <a:srgbClr val="282828"/>
                </a:solidFill>
                <a:latin typeface="Arial"/>
              </a:rPr>
              <a:t>•  </a:t>
            </a:r>
            <a:r>
              <a:rPr sz="1100" b="1">
                <a:solidFill>
                  <a:srgbClr val="282828"/>
                </a:solidFill>
                <a:latin typeface="Arial"/>
              </a:rPr>
              <a:t>Accuracy is a gain: systematic and proportional to the figure read.</a:t>
            </a:r>
            <a:r>
              <a:rPr sz="1100" b="0">
                <a:solidFill>
                  <a:srgbClr val="282828"/>
                </a:solidFill>
                <a:latin typeface="Arial"/>
              </a:rPr>
              <a:t>  Raw, the four-step reads the 30 nm surface 0.7 % low on lenses (350 pm) and 1.3 % low on mirrors (463 pm); through the matrix measured on the surface a 10 nm change reads at gain 1.004 on lenses and 0.986 on mirrors, with floors of 1.4 and 2.3 pm.  The gain is the polarization snapshot's -- the hybrid's piezo four-step reads the same surface at gain 1.0000 against the engine, which is what its absolute-calibration leg is for -- and the matrix measured on the surface carries it; the pupil imaging is the smaller part (0.13 % / 0.29 %).</a:t>
            </a:r>
          </a:p>
          <a:p>
            <a:pPr>
              <a:spcAft>
                <a:spcPts val="600"/>
              </a:spcAft>
            </a:pPr>
            <a:r>
              <a:rPr sz="1100" b="0">
                <a:solidFill>
                  <a:srgbClr val="282828"/>
                </a:solidFill>
                <a:latin typeface="Arial"/>
              </a:rPr>
              <a:t>•  </a:t>
            </a:r>
            <a:r>
              <a:rPr sz="1100" b="1">
                <a:solidFill>
                  <a:srgbClr val="282828"/>
                </a:solidFill>
                <a:latin typeface="Arial"/>
              </a:rPr>
              <a:t>One disturbance is not photon-limited:</a:t>
            </a:r>
            <a:r>
              <a:rPr sz="11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6327648"/>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(the side-by-side slide).  The raw-map rows are the station figures' (runs redo96_lensstn2, redo96_oapstn2), the snapshot's sign set by a +50 nm push: the two rigs' polarization inputs run the fringe opposite ways, which the matrix carries and an absolute map does not.  Run tags are on the provenance slide and on each slide that derives a number.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 measured: on the 30 nm surface the snapshot's raw map reads the engine's field at gain 0.993 (lenses) / 0.987 (mirrors), the piezo four-step at gain 1.0000, 0.01 pm (station figures) -- the piezo leg sets the snapshot's gain, the snapshot then reads every change without drift.</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226862" y="1298448"/>
            <a:ext cx="9737969"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(redo96_lensstn2) reads 350 pm at gain 0.993 once the four-step's sign is set by a +50 nm push: the two rigs' polarization inputs ('collimated' on lenses, at the source on mirrors) give opposite fringe directions with the analyzer, so the lens rig's raw map came out as the negative of the surface (the 51 nm residual of the 09-17 figure was 2 x the surface, not a fold); every differential row carries the sign in its matrix and never saw it.  The eighth column is the hybrid's piezo four-step on the same frames' fields: 0.01 pm, gain 1.0000 on both rigs -- the snapshot's gain is a polarization term and the piezo leg is its calibration.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what the camera sees, and what comes back;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5212080" y="1060704"/>
            <a:ext cx="6629400" cy="1124712"/>
          </a:xfrm>
          <a:prstGeom prst="rect">
            <a:avLst/>
          </a:prstGeom>
        </p:spPr>
      </p:pic>
      <p:sp>
        <p:nvSpPr>
          <p:cNvPr id="5" name="TextBox 4"/>
          <p:cNvSpPr txBox="1"/>
          <p:nvPr/>
        </p:nvSpPr>
        <p:spPr>
          <a:xfrm>
            <a:off x="228600" y="1170432"/>
            <a:ext cx="3931920" cy="8895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25.8 nm rms; the snapshot's raw map minus the engine's field, 463 pm, gain 0.987; the piezo four-step's, 0.01 pm, gain 1.0000.</a:t>
            </a:r>
          </a:p>
        </p:txBody>
      </p:sp>
      <p:pic>
        <p:nvPicPr>
          <p:cNvPr id="6" name="Picture 5" descr="crop_stations_row2_S.png"/>
          <p:cNvPicPr>
            <a:picLocks noChangeAspect="1"/>
          </p:cNvPicPr>
          <p:nvPr/>
        </p:nvPicPr>
        <p:blipFill>
          <a:blip r:embed="rId3"/>
          <a:stretch>
            <a:fillRect/>
          </a:stretch>
        </p:blipFill>
        <p:spPr>
          <a:xfrm>
            <a:off x="5212080" y="2240280"/>
            <a:ext cx="6629400" cy="1161288"/>
          </a:xfrm>
          <a:prstGeom prst="rect">
            <a:avLst/>
          </a:prstGeom>
        </p:spPr>
      </p:pic>
      <p:sp>
        <p:nvSpPr>
          <p:cNvPr id="7" name="TextBox 6"/>
          <p:cNvSpPr txBox="1"/>
          <p:nvPr/>
        </p:nvSpPr>
        <p:spPr>
          <a:xfrm>
            <a:off x="228600" y="2350008"/>
            <a:ext cx="3931920" cy="8895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tretch>
            <a:fillRect/>
          </a:stretch>
        </p:blipFill>
        <p:spPr>
          <a:xfrm>
            <a:off x="5212080" y="3456432"/>
            <a:ext cx="6629400" cy="1143000"/>
          </a:xfrm>
          <a:prstGeom prst="rect">
            <a:avLst/>
          </a:prstGeom>
        </p:spPr>
      </p:pic>
      <p:sp>
        <p:nvSpPr>
          <p:cNvPr id="9" name="TextBox 8"/>
          <p:cNvSpPr txBox="1"/>
          <p:nvPr/>
        </p:nvSpPr>
        <p:spPr>
          <a:xfrm>
            <a:off x="182880" y="3566160"/>
            <a:ext cx="3977639" cy="7244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tretch>
            <a:fillRect/>
          </a:stretch>
        </p:blipFill>
        <p:spPr>
          <a:xfrm>
            <a:off x="5212080" y="4654296"/>
            <a:ext cx="6629400" cy="1143000"/>
          </a:xfrm>
          <a:prstGeom prst="rect">
            <a:avLst/>
          </a:prstGeom>
        </p:spPr>
      </p:pic>
      <p:sp>
        <p:nvSpPr>
          <p:cNvPr id="11" name="TextBox 10"/>
          <p:cNvSpPr txBox="1"/>
          <p:nvPr/>
        </p:nvSpPr>
        <p:spPr>
          <a:xfrm>
            <a:off x="182880" y="4764024"/>
            <a:ext cx="3977639"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5897880"/>
            <a:ext cx="11384280" cy="274320"/>
          </a:xfrm>
          <a:prstGeom prst="rect">
            <a:avLst/>
          </a:prstGeom>
          <a:noFill/>
        </p:spPr>
        <p:txBody>
          <a:bodyPr wrap="square">
            <a:spAutoFit/>
          </a:bodyPr>
          <a:lstStyle/>
          <a:p>
            <a:pPr>
              <a:spcAft>
                <a:spcPts val="600"/>
              </a:spcAft>
            </a:pPr>
            <a:r>
              <a:rPr sz="1000" b="0">
                <a:solidFill>
                  <a:srgbClr val="282828"/>
                </a:solidFill>
                <a:latin typeface="Arial"/>
              </a:rPr>
              <a:t>•  </a:t>
            </a:r>
            <a:r>
              <a:rPr sz="1000" b="1">
                <a:solidFill>
                  <a:srgbClr val="282828"/>
                </a:solidFill>
                <a:latin typeface="Arial"/>
              </a:rPr>
              <a:t>The stepped Zernike's 7.1 nm is a gain error, not noise:</a:t>
            </a:r>
            <a:r>
              <a:rPr sz="1000" b="0">
                <a:solidFill>
                  <a:srgbClr val="282828"/>
                </a:solidFill>
                <a:latin typeface="Arial"/>
              </a:rPr>
              <a:t> its inversion takes the reference wave's amplitude from the flat; on the 30 nm surface the focal core is weaker, so the raw map reads 22 % low (gain 0.78), shaped like the surface, and the matrix measured on the surface absorbs it (5 pm calibrated).  The vector pair's two simultaneous frames need no amplitude from the flat: gain 0.993.</a:t>
            </a:r>
          </a:p>
        </p:txBody>
      </p:sp>
      <p:sp>
        <p:nvSpPr>
          <p:cNvPr id="13" name="TextBox 12"/>
          <p:cNvSpPr txBox="1"/>
          <p:nvPr/>
        </p:nvSpPr>
        <p:spPr>
          <a:xfrm>
            <a:off x="411480" y="6355080"/>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the same DM command in all four (30 nm rms over the lattice, seed 7); the full figures are in the backup.  The interferometer's camera sees 25.8 nm rms of it, the sensors' 31: the detector legs image the pupil differently (the pupil-image slide), and each matrix is measured through its own train.  Runs redo96_oapstn2, stations193_oap.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