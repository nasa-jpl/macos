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5532120"/>
        </p:xfrm>
        <a:graphic>
          <a:graphicData uri="http://schemas.openxmlformats.org/drawingml/2006/table">
            <a:tbl>
              <a:tblPr firstRow="1" bandRow="1">
                <a:tableStyleId>{5C22544A-7EE6-4342-B048-85BDC9FD1C3A}</a:tableStyleId>
              </a:tblPr>
              <a:tblGrid>
                <a:gridCol w="1962404"/>
                <a:gridCol w="4818338"/>
                <a:gridCol w="2180336"/>
                <a:gridCol w="509524"/>
                <a:gridCol w="1898133"/>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shifts the transmitted beam 1.39 mm, the flat null 0.13 → 20 nm, the reading attenuated 13% (floor, not gain; rows hold)</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65722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binned 4 to 377 px across the 9.8 mm image; or a 24 µm-pixel camera unbinned (408)</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97687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 2026-09-17)</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2050"/>
        </p:xfrm>
        <a:graphic>
          <a:graphicData uri="http://schemas.openxmlformats.org/drawingml/2006/table">
            <a:tbl>
              <a:tblPr firstRow="1" bandRow="1">
                <a:tableStyleId>{5C22544A-7EE6-4342-B048-85BDC9FD1C3A}</a:tableStyleId>
              </a:tblPr>
              <a:tblGrid>
                <a:gridCol w="3217820"/>
                <a:gridCol w="1177251"/>
                <a:gridCol w="2119052"/>
                <a:gridCol w="1308056"/>
                <a:gridCol w="2107692"/>
                <a:gridCol w="1438862"/>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468630">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657225">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c>
                  <a:txBody>
                    <a:bodyPr wrap="square"/>
                    <a:lstStyle/>
                    <a:p/>
                  </a:txBody>
                  <a:tcPr marL="54864" marR="54864" marT="18288" marB="18288">
                    <a:solidFill>
                      <a:srgbClr val="ECF1F6"/>
                    </a:solidFill>
                  </a:tcPr>
                </a:tc>
                <a:tc>
                  <a:txBody>
                    <a:bodyPr wrap="square"/>
                    <a:lstStyle/>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c>
                  <a:txBody>
                    <a:bodyPr wrap="square"/>
                    <a:lstStyle/>
                    <a:p/>
                  </a:txBody>
                  <a:tcPr marL="54864" marR="54864" marT="18288" marB="18288">
                    <a:solidFill>
                      <a:srgbClr val="FFFFFF"/>
                    </a:solidFill>
                  </a:tcPr>
                </a:tc>
                <a:tc>
                  <a:txBody>
                    <a:bodyPr wrap="square"/>
                    <a:lstStyle/>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c>
                  <a:txBody>
                    <a:bodyPr wrap="square"/>
                    <a:lstStyle/>
                    <a:p/>
                  </a:txBody>
                  <a:tcPr marL="54864" marR="54864" marT="18288" marB="18288">
                    <a:solidFill>
                      <a:srgbClr val="ECF1F6"/>
                    </a:solidFill>
                  </a:tcPr>
                </a:tc>
                <a:tc>
                  <a:txBody>
                    <a:bodyPr wrap="square"/>
                    <a:lstStyle/>
                    <a:p/>
                  </a:txBody>
                  <a:tcPr marL="54864" marR="54864" marT="18288" marB="18288">
                    <a:solidFill>
                      <a:srgbClr val="ECF1F6"/>
                    </a:solidFill>
                  </a:tcPr>
                </a:tc>
              </a:tr>
            </a:tbl>
          </a:graphicData>
        </a:graphic>
      </p:graphicFrame>
      <p:sp>
        <p:nvSpPr>
          <p:cNvPr id="5" name="TextBox 4"/>
          <p:cNvSpPr txBox="1"/>
          <p:nvPr/>
        </p:nvSpPr>
        <p:spPr>
          <a:xfrm>
            <a:off x="411480" y="6416802"/>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10728960"/>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pupilsim_sub96_lens, pupilsim_sub96_oap, sub96_oapsens (cycle 3a); redo96_lens, redo96_oap (cycle 3b); the Mac, 2026-09-17.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