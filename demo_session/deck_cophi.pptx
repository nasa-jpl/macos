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Not stated: the camera, the photon budget, the error terms, a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transfers from the gauge deck unchanged: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(both rigs), the 96 × 96 DM truth, the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 by construction: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record's interferometer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1330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7727" y="1298448"/>
            <a:ext cx="9016239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1052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Our implementation of Feng's four-frame method, one-color version, for the hold job.  Every box is a component of the TG96 DM Gauge bench; blue = RF/timing, red = PM fiber, green = free-space beam, gray = data (make_cophi_block_fig.py; the lock-in camera is the dashed alternative, slide 10).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 of it, and what the gate measured: the quarter-cycle integration costs 10 % of contrast, a step error is not cured by more frames, and the photon law carries read noise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"Integrating bucket"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through a quarter of the cycle.  Averaging a cosine over a window D = 2π/N keeps its phase (referred to the window's center ᾱ_k) and shrinks its amplitude by sinc(D/2): </a:t>
            </a:r>
            <a:r>
              <a:rPr sz="1200" b="1">
                <a:solidFill>
                  <a:srgbClr val="282828"/>
                </a:solidFill>
                <a:latin typeface="Arial"/>
              </a:rPr>
              <a:t>0.900 for four frames per beat</a:t>
            </a:r>
            <a:r>
              <a:rPr sz="1200" b="0">
                <a:solidFill>
                  <a:srgbClr val="282828"/>
                </a:solidFill>
                <a:latin typeface="Arial"/>
              </a:rPr>
              <a:t> — nothing else changes.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phase (3)</a:t>
            </a:r>
            <a:r>
              <a:rPr sz="1200" b="0">
                <a:solidFill>
                  <a:srgbClr val="282828"/>
                </a:solidFill>
                <a:latin typeface="Arial"/>
              </a:rPr>
              <a:t> is a least-squares fit of the N frames to a + b cos ᾱ_k + c sin ᾱ_k; for N = 4 it reduces exactly to the four-step atan2, the same algorithm as Feng's (his sign is for cos(φ + 2πft)).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step error (5)</a:t>
            </a:r>
            <a:r>
              <a:rPr sz="1200" b="0">
                <a:solidFill>
                  <a:srgbClr val="282828"/>
                </a:solidFill>
                <a:latin typeface="Arial"/>
              </a:rPr>
              <a:t> — every step D(1 + ε) — puts the textbook (ε/2) sin 2φ on the four-bucket phase.  </a:t>
            </a:r>
            <a:r>
              <a:rPr sz="1200" b="1">
                <a:solidFill>
                  <a:srgbClr val="282828"/>
                </a:solidFill>
                <a:latin typeface="Arial"/>
              </a:rPr>
              <a:t>Measured: more buckets do not cure it</a:t>
            </a:r>
            <a:r>
              <a:rPr sz="1200" b="0">
                <a:solidFill>
                  <a:srgbClr val="282828"/>
                </a:solidFill>
                <a:latin typeface="Arial"/>
              </a:rPr>
              <a:t> (the plain 8-bucket fit with the same per-step error is 1.43× worse; the ramp accumulates); </a:t>
            </a:r>
            <a:r>
              <a:rPr sz="1200" b="1">
                <a:solidFill>
                  <a:srgbClr val="282828"/>
                </a:solidFill>
                <a:latin typeface="Arial"/>
              </a:rPr>
              <a:t>knowing the steps does</a:t>
            </a:r>
            <a:r>
              <a:rPr sz="1200" b="0">
                <a:solidFill>
                  <a:srgbClr val="282828"/>
                </a:solidFill>
                <a:latin typeface="Arial"/>
              </a:rPr>
              <a:t> (the fit at the true ᾱ_k is exact) — a Rb-clocked scan knows them.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(slope −0.500 ± 0.02 over two decades), read noise in quadrature.  A fiber walk or trigger jitter within a scan is a fixed fraction of its size (0.13 w), no better with 8 buckets — no algorithmic cure.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598919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LO is a fiber tip and collimator with its powered face at the reference flat's seat; it registers on both rigs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587" y="1298448"/>
            <a:ext cx="3868224" cy="20924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409187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mirror rig from above with the LO arm in place: source arm red, LO arm purple (fiber tip at right, collimator at the reference flat's seat), test arm to the DM blue,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0507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covers the test pupil 1.000 and overfills it by 34 px (radius ratio 1.215), so an offset under that is a fill question, not a registration one.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 after piston, mostly tilt — the LO collimator's wavefront against the test arm, frozen into the null as the interferometer freezes its reference; its motion is the LO-drift row (slide 8).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an LO/test power ratio of 1.47, as 2√r/(1 + r) says; the vector-mode field phase measures −kW on both decks (the known conjugate).</a:t>
            </a:r>
          </a:p>
        </p:txBody>
      </p:sp>
      <p:pic>
        <p:nvPicPr>
          <p:cNvPr id="7" name="Picture 6" descr="cophi_layout_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0752" y="1298448"/>
            <a:ext cx="1955054" cy="20924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4091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node: the beamsplitter and compensator, the LO entering where the reference flat's return did, the recombination into the camera leg (the record's polarizing elements shown; the plain-splitter train is scored)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050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that matter for any traced LO:</a:t>
            </a:r>
            <a:r>
              <a:rPr sz="1200" b="0">
                <a:solidFill>
                  <a:srgbClr val="282828"/>
                </a:solidFill>
                <a:latin typeface="Arial"/>
              </a:rPr>
              <a:t> the geometric tail places the detector field by ray index, not camera position — the LO's own collimator makes the per-index null 681 nm where the by-position null is 0.45 nm, so the LO is placed on the test pixels by position; and the plain mirror train had inherited a source trim solved with the polarizer plate — without it OAP1 was fed off focus (an 84 nm defocus null), now trimmed to zero.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record's polarizing train (input polarizer, analyzer) and Feng's plain splitter.  Picometers identical — the camera is well-bound; the record's train costs light only (test throughput 0.271 vs 0.408, ×1.5 laser).  The plain splitter is the layout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5013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 = bench_oap_vlayout.png, the engine's own render),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 against the interferometer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seed, same 30 nm surface, same response matrix measured through each reading; the heterodyne reading matches the interferometer's floor, reads the mirror rig's random surface at half its error, and is exact where the record's reading was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2382"/>
                <a:gridCol w="3239816"/>
                <a:gridCol w="2325624"/>
                <a:gridCol w="247091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H,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interferometer I,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H,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interferometer I,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H,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H,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interferometer I,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interferometer I,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rows sit 0.5 % low for H on both rigs — and that is the estimator, not the reading:</a:t>
            </a:r>
            <a:r>
              <a:rPr sz="1500" b="0">
                <a:solidFill>
                  <a:srgbClr val="282828"/>
                </a:solidFill>
                <a:latin typeface="Arial"/>
              </a:rPr>
              <a:t> a synthetic 1.000 nm poke reads at slope 1.000000 at the pixel level; the LO placement, the vector sum, the polarizers and the mask each cleared; at λ_m = 10⁻⁵ the gain is 1.0007.  It is the one-step Tikhonov shrinkage at the record's λ_m = 10⁻³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Driven to convergence (the gauge's servo use), H reads exactly on the mirror rig; the interferometer then shows its polarization gain in the open:</a:t>
            </a:r>
            <a:r>
              <a:rPr sz="1500" b="0">
                <a:solidFill>
                  <a:srgbClr val="282828"/>
                </a:solidFill>
                <a:latin typeface="Arial"/>
              </a:rPr>
              <a:t> I/H = 1.006–1.009 on the lens rig and 0.989 on the mirror rig.  The record's lens-rig "1.000" was +0.5–1 % of polarization gain cancelling the 0.5 %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1560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 column = redo96_&lt;optics&gt;ph: tail md5, lit 6948, seed 7, the 64-state matrix on the surface); the gain probe (runs/gainprobe_lens); the converged estimator (dm_gauge_lib/dmg_converge, gate tConvergedEst 4/4; runs/conv_H_, tg_psi_dm96_oap/runs/conv_I_); the one-step rows reproduce the record to the digit.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2154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2444"/>
                <a:gridCol w="1516997"/>
                <a:gridCol w="1516997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59930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</a:t>
            </a:r>
            <a:r>
              <a:rPr sz="1200" b="0">
                <a:solidFill>
                  <a:srgbClr val="282828"/>
                </a:solidFill>
                <a:latin typeface="Arial"/>
              </a:rPr>
              <a:t> is the piston-free robust floor over the unpoked actuators (1.48 MAD, median of 12 draws): the raw single-actuator noise is mostly a common piston (165 vs 76 pm), unobservable and inert on a DM.  The composite deck puts every gauge on this metric.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200" b="0">
                <a:solidFill>
                  <a:srgbClr val="282828"/>
                </a:solidFill>
                <a:latin typeface="Arial"/>
              </a:rPr>
              <a:t> (σ_φ² ∝ I₀ + r²): the Photonfocus's 220 e⁻ costs ~22 % in σ at half well and it still wins on well × rate; the baseline's read noise is assumed (Feng's deck gives none).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per-pixel noise measured on the bench equals the tCophi formula to 1.000 ± 0.002</a:t>
            </a:r>
            <a:r>
              <a:rPr sz="1200" b="0">
                <a:solidFill>
                  <a:srgbClr val="282828"/>
                </a:solidFill>
                <a:latin typeface="Arial"/>
              </a:rPr>
              <a:t> on every camera, rig and train — the model and the bench agree.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Rolling-shutter sCMOS are out:</a:t>
            </a:r>
            <a:r>
              <a:rPr sz="120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image; true global shutter, hardware trigger from the Rb clock, streamable at full frame.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200" b="0">
                <a:solidFill>
                  <a:srgbClr val="282828"/>
                </a:solidFill>
                <a:latin typeface="Arial"/>
              </a:rPr>
              <a:t> a 1k camera oversamples the 96 × 96 lattice ten to one; well depth × frame rate is the budget (NOTE_detectors_survey).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27329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drifts; the baseline camera needs a 16 s cycle, the Photonfocus 1.6 s;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3086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4984"/>
                <a:gridCol w="226145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3.55 (+0.9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4.2 / 9.9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is read as the DM: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(a 1 nrad tilt reads as a surface tilt of 1.008 × θ/2), and the loop drives the DM to follow it.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pointing must hold ~10 prad per cycle — ~10 pm of fiber-tip motion at the collimator's focal length — or be referenced.</a:t>
            </a:r>
            <a:r>
              <a:rPr sz="1200" b="0">
                <a:solidFill>
                  <a:srgbClr val="282828"/>
                </a:solidFill>
                <a:latin typeface="Arial"/>
              </a:rPr>
              <a:t>  That is the architecture requirement the plain-splitter layout adds, beside the fiber's.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fiber is the term: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  Budget at the photon floor: </a:t>
            </a:r>
            <a:r>
              <a:rPr sz="1200" b="1">
                <a:solidFill>
                  <a:srgbClr val="282828"/>
                </a:solidFill>
                <a:latin typeface="Arial"/>
              </a:rPr>
              <a:t>3.5 × 10⁻³ rad per frame = 0.35 nm of differential OPD per 33 ms, ~10.6 nm/s, ~1 mK/s per meter of uncommon fiber</a:t>
            </a:r>
            <a:r>
              <a:rPr sz="1200" b="0">
                <a:solidFill>
                  <a:srgbClr val="282828"/>
                </a:solidFill>
                <a:latin typeface="Arial"/>
              </a:rPr>
              <a:t> — co-routed, thermally tied, or servoed.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2.9 × 10⁻³ rad, AOM drive ripple &lt; 1.8 × 10⁻³ — both easy with a Rb-locked DDS; latency one beat (133 ms at 7.5 Hz); the one-step and the converged estimator agree to 0.1 pm on every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72744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Capture: from 480 nm rms to the servo in one reading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Two colors frequency-multiplexed on the same eight frames put zero wrong fringe orders on the whole capture ladder; a single color wraps from 40 nm rms; the temporal unwrapping a continuous reading gets free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 at beats of 7.5 and 3.75 Hz — 4 and 8 frames in the same 30 fps, each color read by its own buckets (crosstalk 4 × 10⁻¹⁶ rad).  </a:t>
            </a:r>
            <a:r>
              <a:rPr sz="1200" b="1">
                <a:solidFill>
                  <a:srgbClr val="282828"/>
                </a:solidFill>
                <a:latin typeface="Arial"/>
              </a:rPr>
              <a:t>Zero wrong orders to 480 nm rms, noise-free and on both cameras</a:t>
            </a:r>
            <a:r>
              <a:rPr sz="1200" b="0">
                <a:solidFill>
                  <a:srgbClr val="282828"/>
                </a:solidFill>
                <a:latin typeface="Arial"/>
              </a:rPr>
              <a:t> (0.15 / 0.10 nm per pixel); the single color is 74 % wrong at 480.  </a:t>
            </a:r>
            <a:r>
              <a:rPr sz="1200" b="1">
                <a:solidFill>
                  <a:srgbClr val="282828"/>
                </a:solidFill>
                <a:latin typeface="Arial"/>
              </a:rPr>
              <a:t>A 200 nm rms figure is captured from cold in one multiplexed reading, 0.27 s.</a:t>
            </a:r>
            <a:r>
              <a:rPr sz="1200" b="0">
                <a:solidFill>
                  <a:srgbClr val="282828"/>
                </a:solidFill>
                <a:latin typeface="Arial"/>
              </a:rPr>
              <a:t>  Any Δλ from 1 to ~100 nm resolves (the fine requirement at Δλ = 20 nm is 1.7 nm against ~0.1 nm per pixel): the synthetic-wavelength ladder needs one rung for this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</p:txBody>
      </p:sp>
      <p:pic>
        <p:nvPicPr>
          <p:cNvPr id="5" name="Picture 4" descr="cophi_block_mul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6256" y="1298448"/>
            <a:ext cx="3764046" cy="2458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77494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Two colors: a second laser (tunable), AOM 3/4 at the second beat, WDM combiners into the same two fibers, all four synthesizers on one reference; the processing adds the synthetic-wavelength block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3708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Full resolution, faster: the lock-in camera class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reads the lattice in minutes; a per-pixel lock-in device reads it in a second — well-capped as surveyed, and 40× faster still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Ruling:</a:t>
            </a:r>
            <a:r>
              <a:rPr sz="1200" b="0">
                <a:solidFill>
                  <a:srgbClr val="282828"/>
                </a:solidFill>
                <a:latin typeface="Arial"/>
              </a:rPr>
              <a:t> every mode of interest (EFC probes among them) is commanded at full actuator resolution — no coarse or low-order sensor forms.  The second sensor class is a </a:t>
            </a:r>
            <a:r>
              <a:rPr sz="1200" b="1">
                <a:solidFill>
                  <a:srgbClr val="282828"/>
                </a:solidFill>
                <a:latin typeface="Arial"/>
              </a:rPr>
              <a:t>well-free, per-pixel demodulating reading at ≥ 1 element per actuator</a:t>
            </a:r>
            <a:r>
              <a:rPr sz="1200" b="0">
                <a:solidFill>
                  <a:srgbClr val="282828"/>
                </a:solidFill>
                <a:latin typeface="Arial"/>
              </a:rPr>
              <a:t>, assumed to exist at 1:1 or better.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Lock-in</a:t>
            </a:r>
            <a:r>
              <a:rPr sz="1200" b="0">
                <a:solidFill>
                  <a:srgbClr val="282828"/>
                </a:solidFill>
                <a:latin typeface="Arial"/>
              </a:rPr>
              <a:t> = synchronous detection inside each pixel: the photocurrent is steered into in-phase and quadrature stores by the external reference (our Rb-clocked beat), the DC never reaches the well, I/Q leave at the frame rate — COPHI's algorithm built into the sensor, with the beat at kHz.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200" b="0">
                <a:solidFill>
                  <a:srgbClr val="282828"/>
                </a:solidFill>
                <a:latin typeface="Arial"/>
              </a:rPr>
              <a:t> Heliotis heliCam C4 / C4M — 542 × 512 (1024 × 1102), in-pixel lock-in 1–250 kHz, 500 ke⁻ well, 2 × 10-bit I/Q, external reference input; four generations shipped, one vendor.  Also ranked: brute-force 128² CMOS at 20–40 kfps; iToF demodulators with the beat moved to MHz; digital-pixel ROICs (Lincoln DFPA); silicon-photonic coherent FPAs.  SPADs and Geiger-mode arrays are unfit (count-rate ceilings).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60" cy="1748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4096"/>
                <a:gridCol w="1070864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lock-in row (sheet: 512 sites = 5.45 per pitch, 500 ke, 1 kHz I/Q)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as surveyed, well-capped at the 1 kHz I/Q rate (34 pm per sample)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 at 10⁹ e⁻/s per element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0.29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 at 10¹⁰ e⁻/s per element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0.029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Photonfocus camera (slide 7)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Feng's baseline (slide 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19354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Even well-capped the lock-in is ~40× the Photonfocus and ~400× the baseline</a:t>
            </a:r>
            <a:r>
              <a:rPr sz="1200" b="0">
                <a:solidFill>
                  <a:srgbClr val="282828"/>
                </a:solidFill>
                <a:latin typeface="Arial"/>
              </a:rPr>
              <a:t>; a verified well-free device (continuous, or I/Q ≥ 10 kHz) adds 4–40×.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vendor question that decides it:</a:t>
            </a:r>
            <a:r>
              <a:rPr sz="1200" b="0">
                <a:solidFill>
                  <a:srgbClr val="282828"/>
                </a:solidFill>
                <a:latin typeface="Arial"/>
              </a:rPr>
              <a:t> per-pixel phase noise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9925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adds an RF chain, a fiber LO and three control loops of its own; the lock-in camera moves the demodulation on-chip; the Zernike sensor remains a camera and a mask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180336"/>
                <a:gridCol w="1422916"/>
                <a:gridCol w="1751282"/>
                <a:gridCol w="2590438"/>
                <a:gridCol w="1897222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interferometer (record)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Zernike sensor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piezo + HV driver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(mask stepper for the vector form)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+ settle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period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piezo nonlinearity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0.5 Gb/s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frame per reading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0.5 Gb/s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up to ~5 Gb/s if streamed at 1 kHz; decimate on-chip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first cut, from the layouts as drawn; parts counts and TRL to follow in the composite deck's architecture table (campaign brief sec. 9.1).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photons: the vector Zernike holds 3 pm from 2 × 10¹² photons per cycle, COPHI from ~1 × 10¹⁴ — but COPHI captures from cold, carries no reference-aging, and reads the surface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hold alone,</a:t>
            </a:r>
            <a:r>
              <a:rPr sz="1200" b="0">
                <a:solidFill>
                  <a:srgbClr val="282828"/>
                </a:solidFill>
                <a:latin typeface="Arial"/>
              </a:rPr>
              <a:t> the vector Zernike sensor is the cheaper sensor by ~50× in photons per cycle (gauge deck: 2.2 × 10¹² vs the interferometer class at 2 × 10¹³ — and COPHI at the baseline camera's cadence needs 120 readings per cycle).  Both hold 3 pm.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capture,</a:t>
            </a:r>
            <a:r>
              <a:rPr sz="1200" b="0">
                <a:solidFill>
                  <a:srgbClr val="282828"/>
                </a:solidFill>
                <a:latin typeface="Arial"/>
              </a:rPr>
              <a:t> the Zernike sensor's reference is the beam's own core and ages past 36–70 nm; COPHI with two colors captures 480 nm rms in one reading, with a reference that does not depend on the surface.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an absolute read,</a:t>
            </a:r>
            <a:r>
              <a:rPr sz="1200" b="0">
                <a:solidFill>
                  <a:srgbClr val="282828"/>
                </a:solidFill>
                <a:latin typeface="Arial"/>
              </a:rPr>
              <a:t> the Zernike sensor needs its reference iterated or a matrix re-measured; COPHI reads the surface against the LO, exactly (slope 1.000000 at the pixel) — the matrix's shrinkage is the estimator's, and converges away.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COPHI pays: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RF chain and the fiber LO (slide 11); the fiber-phase budget (0.35 nm per frame); the LO pointing (10 prad per cycle) — two stabilities the Zernike sensor never needs; and a camera chosen for well × rate.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decides it for a flight DM:</a:t>
            </a:r>
            <a:r>
              <a:rPr sz="1200" b="0">
                <a:solidFill>
                  <a:srgbClr val="282828"/>
                </a:solidFill>
                <a:latin typeface="Arial"/>
              </a:rPr>
              <a:t> if the hold loop is the only job, the Zernike sensor; if the same sensor must capture from cold and read absolutely, COPHI — and with a lock-in camera it is also the fastest full-lattice reading on the table.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hybrid Feng's purpose suggests:</a:t>
            </a:r>
            <a:r>
              <a:rPr sz="1200" b="0">
                <a:solidFill>
                  <a:srgbClr val="282828"/>
                </a:solidFill>
                <a:latin typeface="Arial"/>
              </a:rPr>
              <a:t> a Zernike sensor for the hold, COPHI's two-color read for capture and for the absolute figure at commissioning — one bench, two readings, one DM truth.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49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(redo96_*sens, zloop); the COPHI rows this deck's.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Recommendations, and what to develop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interferometer's floor, reads exactly, and captures from cold in one reading; its cost is the fiber and the LO, and its speed is the camera's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Score it in the composite deck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for every gauge and the piston-free photon metric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Price the plain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record's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verify the survey against the vendor sheets before a part is named.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Develop: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fiber-phase stabilization (co-routing, thermal tie, or a servo) to 0.35 nm per frame; the LO pointing to 10 prad per cycle or a referenced LO; the lock-in camera as the full-resolution fast reading — one vendor question away from a number.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chromatic refocus of the tail at Δλ = 20 nm (dispersive glass in the model); the LO referenced against the test arm's own flat; the electronics table's parts counts and TRL for all five gauges; Kent's ZWFS reconstruction when it arrives.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mirror-rig loop rows on the fixed feed (rerun in flight).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49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4395543"/>
                <a:gridCol w="544665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lock-in class: 1.1 s per pm well-capped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4510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