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phase; purpose: HOLD — each DM in a local loop against drift.  This deck answers: what does that read on our bench, and what does it cost.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camera; the stated purpose is drift sensing for a DM in a local control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</a:t>
            </a:r>
            <a:r>
              <a:rPr sz="1200" b="0">
                <a:solidFill>
                  <a:srgbClr val="282828"/>
                </a:solidFill>
                <a:latin typeface="Arial"/>
              </a:rPr>
              <a:t> DMs drift (material physics, "floating electrodes", ~2 %/K);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in our terms: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310" y="1298448"/>
            <a:ext cx="6977075" cy="4360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67740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color: the RF chain, the two PM fibers, the LO at the reference flat's seat, the bench, the camera, the four-bucket phase, the matrix estimator and the hold loop — every box a component of the bench or a stage of the gauge library; the model's error terms annotated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081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camera is the dashed alternative (slide 10).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integrating bucket costs 10 % of contrast; more buckets do not cure a step error, knowing the steps does; the photon law has read noise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Frames:</a:t>
            </a:r>
            <a:r>
              <a:rPr sz="1200" b="0">
                <a:solidFill>
                  <a:srgbClr val="282828"/>
                </a:solidFill>
                <a:latin typeface="Arial"/>
              </a:rPr>
              <a:t> I_k = I₀ [1 + γ sinc(π/N) cos(φ − α_k)], the bucket centers α_k; for N = 4 the contrast is γ × 0.900 — the "integrating bucket" penalty, nothing else changes.  The N-bucket least squares is the four-step atan2 for N = 4 (to 1e-12).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error:</a:t>
            </a:r>
            <a:r>
              <a:rPr sz="1200" b="0">
                <a:solidFill>
                  <a:srgbClr val="282828"/>
                </a:solidFill>
                <a:latin typeface="Arial"/>
              </a:rPr>
              <a:t> a 1° per-step error puts the textbook (ε/2) sin 2φ ripple on the four-bucket phase.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the plain 8-bucket least squares with the same per-step error is 1.43× worse</a:t>
            </a:r>
            <a:r>
              <a:rPr sz="1200" b="0">
                <a:solidFill>
                  <a:srgbClr val="282828"/>
                </a:solidFill>
                <a:latin typeface="Arial"/>
              </a:rPr>
              <a:t> (the ramp accumulates over seven steps);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is the cure</a:t>
            </a:r>
            <a:r>
              <a:rPr sz="1200" b="0">
                <a:solidFill>
                  <a:srgbClr val="282828"/>
                </a:solidFill>
                <a:latin typeface="Arial"/>
              </a:rPr>
              <a:t> (the LSQ with the true bucket centers is exact) — exactly what a Rb-clocked, frequency-set scan provides.  Feng's N-frame backup earns its keep against harmonics and noise, not step miscalibration.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Photons:</a:t>
            </a:r>
            <a:r>
              <a:rPr sz="1200" b="0">
                <a:solidFill>
                  <a:srgbClr val="282828"/>
                </a:solidFill>
                <a:latin typeface="Arial"/>
              </a:rPr>
              <a:t> per pixel, σ_φ² = 2 (I₀ + r²) / (N I₀² g′²) with I₀ the electrons per frame, r the read noise, g′ the bucket contrast: shot noise ∝ 1/√I₀ over two decades (slope −0.500 ± 0.02), read noise added in quadrature to the shot term.  Surface = φ λ/4π.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Within a scan:</a:t>
            </a:r>
            <a:r>
              <a:rPr sz="1200" b="0">
                <a:solidFill>
                  <a:srgbClr val="282828"/>
                </a:solidFill>
                <a:latin typeface="Arial"/>
              </a:rPr>
              <a:t> a differential fiber-phase walk or a trigger jitter is a phase-dependent error of a fixed fraction of its size (0.13 w rms over the map for w = 0.05 rad/frame), no better with 8 buckets — the intra-scan drift has no algorithmic cure.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Gate tCophi</a:t>
            </a:r>
            <a:r>
              <a:rPr sz="1200" b="0">
                <a:solidFill>
                  <a:srgbClr val="282828"/>
                </a:solidFill>
                <a:latin typeface="Arial"/>
              </a:rPr>
              <a:t> (8 tests, pure MATLAB, in the fast suite) pins every line above; the bench stages consume these routines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736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dm_gauge_lib/dmg_cophi_frames / _recon / _camera; the sign convention is the record interferometer's (I₀(1 + γ cos(φ − α))): Feng's atan2(I₄ − I₂, I₁ − I₃) is the same algorithm for cos(φ + 2πft).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bench with the LO arm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8).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79475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 against the interferometer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seed, same 30 nm surface, same response matrix measured through each reading; the heterodyne reading matches the interferometer's floor, reads the mirror rig's random surface at half its error, and is exact where the record's reading was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2382"/>
                <a:gridCol w="3239816"/>
                <a:gridCol w="2325624"/>
                <a:gridCol w="247091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H,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I,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H,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I,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H,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H,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I,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I,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 on both rigs — and that is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gauge's servo use), H reads exactly on the mirror rig; the interferometer then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I/H = 1.006–1.009 on the lens rig and 0.989 on the mirror rig.  The record's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156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 column = redo96_&lt;optics&gt;ph: tail md5, lit 6948, seed 7, the 64-state matrix on the surface); the gain probe (runs/gainprobe_lens); the converged estimator (dm_gauge_lib/dmg_converge, gate tConvergedEst 4/4; runs/conv_H_, tg_psi_dm96_oap/runs/conv_I_); the one-step rows reproduce the record to the digit.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2154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444"/>
                <a:gridCol w="1516997"/>
                <a:gridCol w="151699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9930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~22 % in σ at half well and it still wins on well × rate; the baseline's read noise is assumed (Feng's deck gives none).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732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308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4984"/>
                <a:gridCol w="226145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3.55 (+0.9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4.2 / 9.9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floor: </a:t>
            </a:r>
            <a:r>
              <a:rPr sz="1200" b="1">
                <a:solidFill>
                  <a:srgbClr val="282828"/>
                </a:solidFill>
                <a:latin typeface="Arial"/>
              </a:rPr>
              <a:t>3.5 × 10⁻³ rad per frame = 0.35 nm of differential OPD per 33 ms, ~10.6 nm/s, ~1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2.9 × 10⁻³ rad, AOM drive ripple &lt; 1.8 × 10⁻³ — both easy with a Rb-locked DDS; latency one beat (133 ms at 7.5 Hz); the one-step and the converged estimator agree to 0.1 pm on every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2744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Capture: from 480 nm rms to the servo in one reading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colors frequency-multiplexed on the same eight frames put zero wrong fringe orders on the whole capture ladder; a single color wraps from 40 nm rms;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 at beats of 7.5 and 3.75 Hz — 4 and 8 frames in the same 30 fps, each color read by its own buckets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</p:txBody>
      </p:sp>
      <p:pic>
        <p:nvPicPr>
          <p:cNvPr id="5" name="Picture 4" descr="cophi_block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414" y="1298448"/>
            <a:ext cx="3511731" cy="2458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7494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Two colors: a second laser (tunable), AOM 3/4 at the second beat, WDM combiners into the same two fibers, all four synthesizers on one reference; the processing adds the synthetic-wavelength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Full resolution, faster: the lock-in camera class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reads the lattice in minutes; a per-pixel lock-in device reads it in a second — well-capped as surveyed, and 40× faster still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sensor class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beat), the DC never reaches the well, I/Q leave at the frame rate — COPHI's algorithm built into the sensor, with the beat at kHz.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60" cy="1748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4096"/>
                <a:gridCol w="1070864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lock-in row (sheet: 512 sites = 5.45 per pitch, 500 ke, 1 kHz I/Q)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as surveyed, well-capped at the 1 kHz I/Q rate (34 pm per sample)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10⁹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10¹⁰ e⁻/s per element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Photonfocus camera (slide 7)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Feng's baseline (slide 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19354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~40× the Photonfocus and ~400× the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; a verified well-free device (continuous, or I/Q ≥ 10 kHz) adds 4–40×.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9925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adds an RF chain, a fiber LO and three control loops of its own; the lock-in camera moves the demodulation on-chip; the Zernike sensor remains a camera and a mask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180336"/>
                <a:gridCol w="1422916"/>
                <a:gridCol w="1751282"/>
                <a:gridCol w="2590438"/>
                <a:gridCol w="189722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interferometer (record)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Zernike sensor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piezo + HV driver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(mask stepper for the vector form)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+ settle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period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piezo nonlinearity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frame per reading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up to ~5 Gb/s if streamed at 1 kHz; decimate on-chip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first cut, from the layouts as drawn; parts counts and TRL to follow in the composite deck's architecture table (campaign brief sec. 9.1).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photons: the vector Zernike holds 3 pm from 2 × 10¹² photons per cycle, COPHI from ~1 × 10¹⁴ — but COPHI captures from cold, carries no reference-aging, and reads the surface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vector Zernike sensor is the cheaper sensor by ~50× in photons per cycle (gauge deck: 2.2 × 10¹² vs the interferometer class at 2 × 10¹³ — and COPHI at the baseline camera's cadence needs 120 readings per cycle).  Both hold 3 pm.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capture,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sensor's reference is the beam's own core and ages past 36–70 nm; COPHI with two colors captures 480 nm rms in one reading, with a reference that does not depend on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an absolute read,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 needs its reference iterated or a matrix re-measured; COPHI reads the surface against the LO, exactly (slope 1.000000 at the pixel) — the matrix's shrinkage is the estimator's, and converges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COPHI pays: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RF chain and the fiber LO (slide 11); the fiber-phase budget (0.35 nm per frame); the LO pointing (10 prad per cycle) — two stabilities the Zernike sensor never needs; and a camera chosen for well × 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200" b="0">
                <a:solidFill>
                  <a:srgbClr val="282828"/>
                </a:solidFill>
                <a:latin typeface="Arial"/>
              </a:rPr>
              <a:t> if the hold loop is the only job, the Zernike sensor; if the same sensor must capture from cold and read absolutely, COPHI — and with a lock-in camera it is also the fastest full-lattice reading on the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hybrid Feng's purpose suggests:</a:t>
            </a:r>
            <a:r>
              <a:rPr sz="1200" b="0">
                <a:solidFill>
                  <a:srgbClr val="282828"/>
                </a:solidFill>
                <a:latin typeface="Arial"/>
              </a:rPr>
              <a:t> a Zernike sensor for the hold, COPHI's two-color read for capture and for the absolute figure at commissioning — one bench, two readings, one DM truth.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(redo96_*sens, zloop); the COPHI rows this deck's.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Recommendations, and what to develop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interferometer's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Develop: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fiber-phase stabilization (co-routing, thermal tie, or a servo) to 0.35 nm per frame; the LO pointing to 10 prad per cycle or a referenced LO; the lock-in camera as the full-resolution fast reading — one vendor question away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mirror-rig loop rows on the fixed feed (rerun in flight).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4395543"/>
                <a:gridCol w="544665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class: 1.1 s per pm well-capped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