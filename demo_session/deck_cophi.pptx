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4400" y="1225296"/>
            <a:ext cx="10552176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35331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14)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15);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Heliotis heliCam C4 / C4M (vendor data, 2026-10-28):</a:t>
            </a:r>
            <a:r>
              <a:rPr sz="1400" b="0">
                <a:solidFill>
                  <a:srgbClr val="282828"/>
                </a:solidFill>
                <a:latin typeface="Arial"/>
              </a:rPr>
              <a:t> 542 × 512 (1024 × 1102) px of 24 µm (12), 305 Hz–134 kHz, 500 ke⁻ per internal image, 2 × 10-bit X/Y at 460 e⁻ per count, quarter-period trigger, QE 73 % at 633 nm, 4960 frames/s; ~USD 22k / 27.5k, 4 weeks.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Vendor answers (Heliotis, 2026-10-28: datasheets, manual, noise calculator):</a:t>
            </a:r>
            <a:r>
              <a:rPr sz="1400" b="0">
                <a:solidFill>
                  <a:srgbClr val="282828"/>
                </a:solidFill>
                <a:latin typeface="Arial"/>
              </a:rPr>
              <a:t> the well is per internal image; at AC/DC ≈ 1 the X/Y output's full scale (±512 × 460 e⁻ = 236 ke⁻ per frame) binds first; read 489 e⁻ per frame; frames averaged on the FPGA, ~20 images/s over GigE.  </a:t>
            </a:r>
            <a:r>
              <a:rPr sz="1400" b="1">
                <a:solidFill>
                  <a:srgbClr val="282828"/>
                </a:solidFill>
                <a:latin typeface="Arial"/>
              </a:rPr>
              <a:t>Confirmed 2026-10-29:</a:t>
            </a:r>
            <a:r>
              <a:rPr sz="1400" b="0">
                <a:solidFill>
                  <a:srgbClr val="282828"/>
                </a:solidFill>
                <a:latin typeface="Arial"/>
              </a:rPr>
              <a:t> the FPGA averages frames at the sensor's 4960 frames/s; the output gain is fixed (X/Y signed ±512 by default); background suppression off, as the row has it (on, it doubles the noise).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040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668"/>
                <a:gridCol w="913900"/>
                <a:gridCol w="3213391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(305 Hz–134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pixel, one frame per beat period (4960/s), averaged on the camera to ~20 images/s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61.8 / 67.2 pm per 0.2 ms frame, mirror / lens (read 489 e⁻ in the row)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0.77 / 0.91 (mirror / lens; the output's full scale at 4960 frames/s;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averaged image, ~50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4851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is ~55× the Photonfocus and ~500×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 (seconds per pm 42 / 0.77 and 385 / 0.77).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bound is the output's full scale, not the well: 1.2 × 10⁹ e⁻/s per pixel, read noise equal to shot noise at full scale; no adjustable output gain (vendor 2026-10-29): the sensor's 'sensitivity' setting only shortens the internal exposure, the same as dimming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the lock-in rows runs/c4_noise_{oap,lens}; NOTE_lockin_arrays_survey.md (web survey; the heliCam row verified by its vendor).  Also ranked there: 128² CMOS at 20–40 kfps, time-of-flight demodulators, digital-pixel ROICs, coherent photonic arrays.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28600" y="1188720"/>
            <a:ext cx="11905488" cy="4599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788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20 kHz square wave (0–5 V; four pulses per beat period f_b = |f₁ − f₂| = 5 kHz; the camera's DivideBy4 input gates the pixels directly, delay stable for hours — vendor), locked to the AOMs through the Rb clock — one clock; software does only atan2(Q, I).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ADC is on chip:</a:t>
            </a:r>
            <a:r>
              <a:rPr sz="1200" b="0">
                <a:solidFill>
                  <a:srgbClr val="282828"/>
                </a:solidFill>
                <a:latin typeface="Arial"/>
              </a:rPr>
              <a:t> readouts are digital I and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5788152"/>
            <a:ext cx="5733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1 sample per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one beat period per 0.2 ms frame, the frame's I/Q at the output's full scale: 1.2 × 10⁹ e⁻/s per pixel usable vs the Photonfocus's 3 × 10⁷ (200 ke × 150 fps); that 40× in photons is most of 42 → 0.77 s per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its quarter-period trigger goes to the camera's reference input; no bucket; I/Q frames, averaged on the camera,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57400" y="1499616"/>
            <a:ext cx="9948672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500" b="0">
                <a:solidFill>
                  <a:srgbClr val="282828"/>
                </a:solidFill>
                <a:latin typeface="Arial"/>
              </a:rPr>
              <a:t> synthesizer 2 at 80 MHz + 5 kHz; the 20 kHz trigger to the pixels' gates; the camera is one pixel's chain (slide 6), frames averaged on its FPGA; atan2(Q, I) per image.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057400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1052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0292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15)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8497"/>
                <a:gridCol w="1817116"/>
                <a:gridCol w="2398268"/>
                <a:gridCol w="1453895"/>
                <a:gridCol w="229095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67.2 / 61.8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0.91 / 0.77 (full scale at 4960 frames/s)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about the same (4× pixels, 1390 frames/s)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20):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  The lock-in rows carry ×1.11 in σ for square-wave (two-tap) demodulation.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sweep (run on the survey's row) costs the lock-in the same 1.6–1.9× at 2 / 1.5 px that it costs every reading; on the vendor's row that is 0.77 / 1.2 / 1.4 s per pm (scaled by the sweep's ratios) — 55×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4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4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722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under a second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4131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305"/>
                <a:gridCol w="1316705"/>
                <a:gridCol w="669902"/>
                <a:gridCol w="531302"/>
                <a:gridCol w="900903"/>
                <a:gridCol w="1163320"/>
              </a:tblGrid>
              <a:tr h="8458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 (vendor data)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489 (1.41)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67.2 / 61.8 per frame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0.91 / 0.77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~1.5 / 1.3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57669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(runs/noise_{lens,oap}[_plain]; the lock-in rows runs/c4_noise_{oap,lens}: 236 ke⁻ per 0.2 ms frame at 4960 frames/s, ×1.23 in time for two-tap demodulation),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~30 ms (record 3.20 pm at 25 ms cycles, 1.44 at 0.125 s;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6829"/>
                <a:gridCol w="310961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(620 frames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1.44 (converged 1.46); at 125 frames (25 ms cycles) 3.20 (converged 3.25)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1.91 (+0.5 pm)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1.44 / 1.44 = its noise-only hold: a per-frame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29.3: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per-frame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0.77 s per pm is 500× fewer than Feng's camera — 22×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0.40;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0.75 at 0.7 s — the fast reading holds a drift under a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5449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c4_noise; camI_oap, camS_oap); the lag from stage loop's thermal row; the markers are the loop records (lock-in: c4_loop_oap, c4_loop_oap_m125).  A budget, no new runs.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l="730" r="4660" t="1510"/>
          <a:stretch>
            <a:fillRect/>
          </a:stretch>
        </p:blipFill>
        <p:spPr>
          <a:xfrm>
            <a:off x="3182112" y="1188720"/>
            <a:ext cx="90068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beats 7.5 and 3.75 Hz = 4 and 8 frames per beat at the same 30 fps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each color demodulated at its own bucket centers from the same frames; no interference (THz apart)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lock-in form: time-multiplexed, one color per 0.2 ms frame (slide 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02920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2025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two colors take alternate 0.2 ms frames, each color's AOM pair gated on for its frame, so ONE color is on the sensor at a time (2480 frames/s per color, 0.4 ms per pair) — zero wrong orders to 480 nm rms, 0.13 nm per pixel; temporal unwrapping at 4960 frames/s tolerates 785 µm/s.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pair of accumulators: both colors on at once would put the second beat and the second color's DC into A−B and C−D.  That form works only with beats an integer number of frame rates apart (the cross term then integrates to zero over the frame, square-wave harmonics included) and costs √2 in shot noise and half the well per color; not modeled.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bench, five sensors: COPHI's LO beside the record gauges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testbed keeps every sensor: the LO collimator at the flat's seat, an insertable reference flat in the LO path for the IFO, and a pick-off behind the splitter that feeds the scalar and vector Zernike and pinhole arms from the test beam alone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multisensor.png"/>
          <p:cNvPicPr>
            <a:picLocks noChangeAspect="1"/>
          </p:cNvPicPr>
          <p:nvPr/>
        </p:nvPicPr>
        <p:blipFill>
          <a:blip r:embed="rId2"/>
          <a:srcRect r="10130" t="1380"/>
          <a:stretch>
            <a:fillRect/>
          </a:stretch>
        </p:blipFill>
        <p:spPr>
          <a:xfrm>
            <a:off x="0" y="1307592"/>
            <a:ext cx="8778240" cy="55504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37160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COPHI:</a:t>
            </a:r>
            <a:r>
              <a:rPr sz="1100" b="0">
                <a:solidFill>
                  <a:srgbClr val="282828"/>
                </a:solidFill>
                <a:latin typeface="Arial"/>
              </a:rPr>
              <a:t> LO on, flat out — the beat on the pupil camera; </a:t>
            </a:r>
            <a:r>
              <a:rPr sz="1100" b="1">
                <a:solidFill>
                  <a:srgbClr val="282828"/>
                </a:solidFill>
                <a:latin typeface="Arial"/>
              </a:rPr>
              <a:t>IFO:</a:t>
            </a:r>
            <a:r>
              <a:rPr sz="1100" b="0">
                <a:solidFill>
                  <a:srgbClr val="282828"/>
                </a:solidFill>
                <a:latin typeface="Arial"/>
              </a:rPr>
              <a:t> flat in (flip mount), LO shuttered — the record's four-step on the SAME camera and pixels, one registration for both.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ZWFS and pinhole / P-SRI:</a:t>
            </a:r>
            <a:r>
              <a:rPr sz="1100" b="0">
                <a:solidFill>
                  <a:srgbClr val="282828"/>
                </a:solidFill>
                <a:latin typeface="Arial"/>
              </a:rPr>
              <a:t> a 10–30 % pick-off on the camera port, taken before the LO joins the test beam, so each reads the DM alone; the pick-off costs the pupil camera that fraction of its photons (seconds per pm × 1.1–1.4).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77656" y="3538728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The DM Gauge testbed:</a:t>
            </a:r>
            <a:r>
              <a:rPr sz="1100" b="0">
                <a:solidFill>
                  <a:srgbClr val="282828"/>
                </a:solidFill>
                <a:latin typeface="Arial"/>
              </a:rPr>
              <a:t> 5 sensors provide an independent hold cross-check, each gauge's own systematics on the same surface at the same time, and the Zernike's photon economy for a hold-only mode.  Capture from cold stays COPHI's two colors (slide 18): the Zernike captures 62 nm (vector) / 39 nm (stepped) to 10 % and has its own piston null.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Costs:</a:t>
            </a:r>
            <a:r>
              <a:rPr sz="1100" b="0">
                <a:solidFill>
                  <a:srgbClr val="282828"/>
                </a:solidFill>
                <a:latin typeface="Arial"/>
              </a:rPr>
              <a:t> two more cameras with their own registrations; the flip flat's repeatability enters the IFO's null only (COPHI never sees it).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0350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make_cophi_multisensor_fig.py; the Zernike capture rows are zwfs_dm96/runs/an193_* (capture range to 10 %); nothing in the model moves.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25296"/>
          <a:ext cx="11368733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5310"/>
                <a:gridCol w="2245325"/>
                <a:gridCol w="2728496"/>
                <a:gridCol w="1364248"/>
                <a:gridCol w="2017950"/>
                <a:gridCol w="1307404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averaged image (~50 ms); a frame is 0.2 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(61.8 pm per 0.2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0.77 / 0.91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in under a second,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454859"/>
                <a:gridCol w="1293346"/>
                <a:gridCol w="1817116"/>
                <a:gridCol w="1695720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vendor data)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 × 10¹³ (125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~30 ms (3.20 pm at 25 ms; 1.44 at 0.125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0.77 / 0.91 (×1.23 for two-tap)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frames;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per-frame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(~30 ms)</a:t>
            </a:r>
            <a:r>
              <a:rPr sz="1100" b="0">
                <a:solidFill>
                  <a:srgbClr val="282828"/>
                </a:solidFill>
                <a:latin typeface="Arial"/>
              </a:rPr>
              <a:t> on the vendor's numbers.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60–2000×).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— stays the conservative answer until the loaner confirms the vendor's numbers on the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63367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on the vendor's row (runs/c4_).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0.77 s per pm on the vendor's numbers, 3 pm held in ~30 ms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two open items are answered (2026-10-29: averaging at 4960 frames/s, no gain); next the offered loaner on the bench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19).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452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bench, 20 kHz trigger, on-camera averaging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55× the Photonfocus's speed on the vendor's numbers (0.77 s per pm); the vendor's answers in hand (2026-10-29)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offered loaner on the bench, reading class H unchanged; noise / loop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" y="638251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the vendor's data and stages c4_noise / c4_loop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sourced; the heliCam row verified by its vendor, the others not;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245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165266"/>
                <a:gridCol w="51684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305 Hz–134 kHz, 500 ke⁻ per internal image, 2 × 10-bit X/Y at 460 e⁻ per count, read 489 e⁻ per frame, 4960 frames/s, 20 kHz quarter-period trigger, QE 73 % at 633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VERIFIED by the vendor 2026-10-28 (datasheets, user manual, noise calculator); 2026-10-29: no adjustable gain (X/Y signed ±512; 0–1023 by API), FPGA averaging at the sensor's 4960 frames/s, DivideBy4 confirmed, background suppression off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6907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00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465"/>
                <a:gridCol w="6868610"/>
                <a:gridCol w="288165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as a reading on the vendor's row: runs/c4_ (noise both rigs, loop at 0.125 s and 25 ms, capture); the survey-row runs runs/lockin_ (battery: the reading is exact)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0.77 / 0.91 s per pm; 1.44 pm held at 0.125 s, 3.20 at 25 ms;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453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