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Not stated: the camera, the photon budget, the error terms, a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transfers from the gauge deck unchanged: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(both rigs), the 96 × 96 DM truth, the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 by construction: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record's interferometer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1330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994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full lattice in a second — the parallel implementation, same optics, same RF chain; its rows run through every results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Ruling:</a:t>
            </a:r>
            <a:r>
              <a:rPr sz="1200" b="0">
                <a:solidFill>
                  <a:srgbClr val="282828"/>
                </a:solidFill>
                <a:latin typeface="Arial"/>
              </a:rPr>
              <a:t> every mode of interest (EFC probes among them) is commanded at full actuator resolution — no coarse or low-order sensor forms.  The second implementation is a </a:t>
            </a:r>
            <a:r>
              <a:rPr sz="1200" b="1">
                <a:solidFill>
                  <a:srgbClr val="282828"/>
                </a:solidFill>
                <a:latin typeface="Arial"/>
              </a:rPr>
              <a:t>well-free, per-pixel demodulating reading at ≥ 1 element per actuator</a:t>
            </a:r>
            <a:r>
              <a:rPr sz="1200" b="0">
                <a:solidFill>
                  <a:srgbClr val="282828"/>
                </a:solidFill>
                <a:latin typeface="Arial"/>
              </a:rPr>
              <a:t>, assumed to exist at 1:1 or better.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Lock-in</a:t>
            </a:r>
            <a:r>
              <a:rPr sz="1200" b="0">
                <a:solidFill>
                  <a:srgbClr val="282828"/>
                </a:solidFill>
                <a:latin typeface="Arial"/>
              </a:rPr>
              <a:t> = synchronous detection inside each pixel: the photocurrent is steered into in-phase and quadrature stores by the external reference (our Rb-clocked beat, now at kHz), the DC never reaches the well, I and Q leave at the frame rate — the four-bucket replaced by thousands of cycles integrated on-chip.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200" b="0">
                <a:solidFill>
                  <a:srgbClr val="282828"/>
                </a:solidFill>
                <a:latin typeface="Arial"/>
              </a:rPr>
              <a:t> Heliotis heliCam C4 / C4M — 542 × 512 (1024 × 1102), in-pixel lock-in 1–250 kHz, 500 ke⁻ well, 2 × 10-bit I/Q, external reference input; four generations shipped, one vendor.  Also ranked: brute-force 128² CMOS at 20–40 kfps; iToF demodulators with the beat moved to MHz; digital-pixel ROICs (Lincoln DFPA); silicon-photonic coherent FPAs.  SPADs and Geiger-mode arrays are unfit (count-rate ceilings).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3646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4535"/>
                <a:gridCol w="720878"/>
                <a:gridCol w="3069546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I/Q sample, mirror / lens (63 / 66 at an assumed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(read 0, mirror / lens; 4.0 / 4.4 at read 100 assumed); ×1.11 for square-wave demodulation —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 (the sheet's own 2.5 × 10⁹)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s at 2.5 × 10⁹) — analytic, one store per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509092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Even well-capped the lock-in is ~12× the Photonfocus and ~110× Feng's baseline</a:t>
            </a:r>
            <a:r>
              <a:rPr sz="1200" b="0">
                <a:solidFill>
                  <a:srgbClr val="282828"/>
                </a:solidFill>
                <a:latin typeface="Arial"/>
              </a:rPr>
              <a:t> (the format stage's first 1.1 s counted four full wells per sample; a true I/Q sample integrates into one store — corrected by the lock-in reading itself); a verified well-free device (continuous, or I/Q ≥ 10 kHz) at the sheet's own 2.5 × 10⁹ e⁻/s per element would be ~18 pm per sample, ~0.34 s per pm — 10× the capped form; that is what the vendor question decides.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vendor question that decides it:</a:t>
            </a:r>
            <a:r>
              <a:rPr sz="1200" b="0">
                <a:solidFill>
                  <a:srgbClr val="282828"/>
                </a:solidFill>
                <a:latin typeface="Arial"/>
              </a:rPr>
              <a:t> per-pixel phase noise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38911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laser, fibers, LO and bench; the beat moves to 5 kHz; the mixer gives the beat itself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51960" y="12344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beat reference; the camera is the lock-in device; the processing is atan2(Q, I) per I/Q frame, decimated to the loop rate.  Fiber, LO and the hold loop are the same — and so are their requirements.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 of it, and what the gate measured: the quarter-cycle integration costs 10 % of contrast, a step error is not cured by more frames, and the photon law carries read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"Integrating bucket"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through a quarter of the cycle.  Averaging a cosine over a window D = 2π/N keeps its phase (referred to the window's center ᾱ_k) and shrinks its amplitude by sinc(D/2): </a:t>
            </a:r>
            <a:r>
              <a:rPr sz="1200" b="1">
                <a:solidFill>
                  <a:srgbClr val="282828"/>
                </a:solidFill>
                <a:latin typeface="Arial"/>
              </a:rPr>
              <a:t>0.900 for four frames per beat</a:t>
            </a:r>
            <a:r>
              <a:rPr sz="1200" b="0">
                <a:solidFill>
                  <a:srgbClr val="282828"/>
                </a:solidFill>
                <a:latin typeface="Arial"/>
              </a:rPr>
              <a:t> — nothing else changes.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phase (3)</a:t>
            </a:r>
            <a:r>
              <a:rPr sz="1200" b="0">
                <a:solidFill>
                  <a:srgbClr val="282828"/>
                </a:solidFill>
                <a:latin typeface="Arial"/>
              </a:rPr>
              <a:t> is a least-squares fit of the N frames to a + b cos ᾱ_k + c sin ᾱ_k; for N = 4 it reduces exactly to the four-step atan2, the same algorithm as Feng's (his sign is for cos(φ + 2πft)).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if every step is D(1 + ε) instead of D, the four-bucket phase comes out wrong by (ε/2) sin 2φ — the classical phase-shifting result (Schwider 1983, Creath 1988): an error that oscillates twice per fringe, so a flat surface reads as a ripple at twice the fringe frequency with amplitude ε/2.  </a:t>
            </a:r>
            <a:r>
              <a:rPr sz="1200" b="1">
                <a:solidFill>
                  <a:srgbClr val="282828"/>
                </a:solidFill>
                <a:latin typeface="Arial"/>
              </a:rPr>
              <a:t>Measured: more buckets do not cure it</a:t>
            </a:r>
            <a:r>
              <a:rPr sz="1200" b="0">
                <a:solidFill>
                  <a:srgbClr val="282828"/>
                </a:solidFill>
                <a:latin typeface="Arial"/>
              </a:rPr>
              <a:t> (the plain 8-bucket fit with the same per-step error is 1.43× worse; the ramp accumulates); </a:t>
            </a:r>
            <a:r>
              <a:rPr sz="1200" b="1">
                <a:solidFill>
                  <a:srgbClr val="282828"/>
                </a:solidFill>
                <a:latin typeface="Arial"/>
              </a:rPr>
              <a:t>knowing the steps does</a:t>
            </a:r>
            <a:r>
              <a:rPr sz="1200" b="0">
                <a:solidFill>
                  <a:srgbClr val="282828"/>
                </a:solidFill>
                <a:latin typeface="Arial"/>
              </a:rPr>
              <a:t> (the fit at the true ᾱ_k is exact) — a Rb-clocked scan knows them.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(slope −0.500 ± 0.02 over two decades), read noise in quadrature.  A fiber walk or trigger jitter within a scan is a fixed fraction of its size (0.13 w), no better with 8 buckets — no algorithmic cure.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193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LO is a fiber tip and collimator with its powered face at the reference flat's seat; it registers on both rigs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587" y="1298448"/>
            <a:ext cx="3868224" cy="20924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09187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mirror rig from above with the LO arm in place: source arm red, LO arm purple (fiber tip at right, collimator at the reference flat's seat), test arm to the DM blue,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0507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covers the test pupil 1.000 and overfills it by 34 px (radius ratio 1.215), so an offset under that is a fill question, not a registration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 after piston, mostly tilt — the LO collimator's wavefront against the test arm, frozen into the null as the interferometer freezes its reference; its motion is the LO-drift row (slide 12).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an LO/test power ratio of 1.47, as 2√r/(1 + r) says; the vector-mode field phase measures −kW on both decks (the known conjugate).</a:t>
            </a:r>
          </a:p>
        </p:txBody>
      </p:sp>
      <p:pic>
        <p:nvPicPr>
          <p:cNvPr id="7" name="Picture 6" descr="cophi_layout_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752" y="1298448"/>
            <a:ext cx="1955054" cy="20924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that matter for any traced LO:</a:t>
            </a:r>
            <a:r>
              <a:rPr sz="1200" b="0">
                <a:solidFill>
                  <a:srgbClr val="282828"/>
                </a:solidFill>
                <a:latin typeface="Arial"/>
              </a:rPr>
              <a:t> the geometric tail places the detector field by ray index, not camera position — the LO's own collimator makes the per-index null 681 nm where the by-position null is 0.45 nm, so the LO is placed on the test pixels by position; and the plain mirror train had inherited a source trim solved with the polarizer plate — without it OAP1 was fed off focus (an 84 nm defocus null), now trimmed to zero.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record's polarizing train (input polarizer, analyzer) and Feng's plain splitter.  Picometers identical — the camera is well-bound; the record's train costs light only (test throughput 0.271 vs 0.408, ×1.5 laser).  The plain splitter is the layout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5013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of what is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the model's camera grid is 1024 × 1024 with the pupil 315 px across (radius 157.45 px)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pixels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pixels); every real camera on the table samples finer (5–21 px per actuator, slide 9).  What resolution buys, and what it costs each gauge, is slide 16.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81253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set by well depth × frame rate, not by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1 : 1</a:t>
            </a:r>
            <a:r>
              <a:rPr sz="1500" b="0">
                <a:solidFill>
                  <a:srgbClr val="282828"/>
                </a:solidFill>
                <a:latin typeface="Arial"/>
              </a:rPr>
              <a:t> (ruling: every mode of interest is commanded at full actuator resolution, so nothing coarser is modeled): a camera's photons per second are pixels × well × rate over the pupil, and binning finer pixels onto the lattice changes nothing but the read noise per sample.  Below ~1.5 pixels per actuator the actuator-space fit collapses (the blur demo's box kernel), which is why 5 pixels per actuator is the floor on this table.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photons,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3089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same 30 nm surface, same response matrix measured through each reading: HET matches the IFO's floor, reads the mirror rig's random surface at half its error, and is exact where the IFO's reading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62356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one-step rows sit 0.5 % low for HET on both rigs — and that is the estimator, not the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a synthetic 1.000 nm poke reads at slope 1.000000 at the pixel level; the LO placement, the vector sum, the polarizers and the mask each cleared; at λ_m = 10⁻⁵ the gain is 1.0007.  It is the one-step Tikhonov shrinkage at the record's λ_m = 10⁻³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Driven to convergence (the gauge's servo use), HET reads exactly on the mirror rig; the IFO then shows its polarization gain in the open:</a:t>
            </a:r>
            <a:r>
              <a:rPr sz="1200" b="0">
                <a:solidFill>
                  <a:srgbClr val="282828"/>
                </a:solidFill>
                <a:latin typeface="Arial"/>
              </a:rPr>
              <a:t> IFO/HET = 1.006–1.009 on the lens rig and 0.989 on the mirror rig.  The IFO's lens-rig "1.000" was +0.5–1 % of polarization gain cancelling the 0.5 %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129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320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460"/>
                <a:gridCol w="1010520"/>
                <a:gridCol w="868693"/>
                <a:gridCol w="407754"/>
                <a:gridCol w="957335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76529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piston-free robust floor over the unpoked actuators (1.48 MAD, median of 12 draws): the raw single-actuator noise is mostly a common piston (165 vs 76 pm), unobservable and inert on a DM.  The composite deck puts every gauge on this metric.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20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rate; the baseline's and the C-RED's read noise are assumed (not in Feng's deck; the survey's low-gain value unconfirmed).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  A hold loop never needs SNR 10 in one measurement: it integrates readings (next slide).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per-pixel noise measured on the bench equals the tCophi formula to 1.000 ± 0.002</a:t>
            </a:r>
            <a:r>
              <a:rPr sz="1200" b="0">
                <a:solidFill>
                  <a:srgbClr val="282828"/>
                </a:solidFill>
                <a:latin typeface="Arial"/>
              </a:rPr>
              <a:t> on every camera, rig and train — the model and the bench agree.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Rolling-shutter sCMOS are out:</a:t>
            </a:r>
            <a:r>
              <a:rPr sz="120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image; true global shutter, hardware trigger from the Rb clock, streamable at full frame.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200" b="0">
                <a:solidFill>
                  <a:srgbClr val="282828"/>
                </a:solidFill>
                <a:latin typeface="Arial"/>
              </a:rPr>
              <a:t> a 1k camera oversamples the 96 × 96 lattice ten to one; well depth × frame rate is the budget (NOTE_detectors_survey).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40410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drifts; the baseline camera needs a 16 s cycle, the Photonfocus 1.6 s;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is read as the DM: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(a 1 nrad tilt reads as a surface tilt of 1.008 × θ/2), and the loop drives the DM to follow it.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pointing must hold ~10 prad per cycle — ~10 pm of fiber-tip motion at the collimator's focal length — or be referenced.</a:t>
            </a:r>
            <a:r>
              <a:rPr sz="1200" b="0">
                <a:solidFill>
                  <a:srgbClr val="282828"/>
                </a:solidFill>
                <a:latin typeface="Arial"/>
              </a:rPr>
              <a:t>  That is the architecture requirement the plain-splitter layout adds, beside the fiber's.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fiber is the term: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  Budget at the photon floor (mirror rig, median-fill convention): </a:t>
            </a:r>
            <a:r>
              <a:rPr sz="1200" b="1">
                <a:solidFill>
                  <a:srgbClr val="282828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200" b="0">
                <a:solidFill>
                  <a:srgbClr val="282828"/>
                </a:solidFill>
                <a:latin typeface="Arial"/>
              </a:rPr>
              <a:t> — co-routed, thermally tied, or servoed.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  <a:r>
              <a:rPr sz="1200" b="0">
                <a:solidFill>
                  <a:srgbClr val="282828"/>
                </a:solidFill>
                <a:latin typeface="Arial"/>
              </a:rPr>
              <a:t> the estimator's regularization (λ_m) is a spatial low-pass over the response matrix's small-singular-value directions, where photon and read noise live — it trades a 0.5 % gain for a lower floor (the converged estimator removes the bias but admits ×2.1 the white noise if run to a zero update); and the loop itself averages across cycles at gain g (steady state σ_n √(g/(2 − g)), plus M readings per cycle).  In the loop the one-step and the converged estimator agree to 0.1 pm on every row, so the bias costs nothing there; the converged mode is for the open-loop absolute read.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6507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the temporal unwrapping a continuous reading gets free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read by its own buckets per color (crosstalk 4 × 10⁻¹⁶ rad).  </a:t>
            </a:r>
            <a:r>
              <a:rPr sz="1200" b="1">
                <a:solidFill>
                  <a:srgbClr val="282828"/>
                </a:solidFill>
                <a:latin typeface="Arial"/>
              </a:rPr>
              <a:t>Zero wrong orders to 480 nm rms, noise-free and on both cameras</a:t>
            </a:r>
            <a:r>
              <a:rPr sz="1200" b="0">
                <a:solidFill>
                  <a:srgbClr val="282828"/>
                </a:solidFill>
                <a:latin typeface="Arial"/>
              </a:rPr>
              <a:t> (0.15 / 0.10 nm per pixel); the single color is 74 % wrong at 480.  </a:t>
            </a:r>
            <a:r>
              <a:rPr sz="1200" b="1">
                <a:solidFill>
                  <a:srgbClr val="282828"/>
                </a:solidFill>
                <a:latin typeface="Arial"/>
              </a:rPr>
              <a:t>A 200 nm rms figure is captured from cold in one multiplexed reading, 0.27 s.</a:t>
            </a:r>
            <a:r>
              <a:rPr sz="1200" b="0">
                <a:solidFill>
                  <a:srgbClr val="282828"/>
                </a:solidFill>
                <a:latin typeface="Arial"/>
              </a:rPr>
              <a:t>  Any Δλ from 1 to ~100 nm resolves (the fine requirement at Δλ = 20 nm is 1.7 nm against ~0.1 nm per pixel): the synthetic-wavelength ladder needs one rung for this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are read on alternate I/Q samples (2 ms per pair) — zero wrong orders to 480 nm rms, 0.12 nm per pixel; temporal unwrapping at 1 kHz tolerates 158 µm/s at the peak pixel.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21792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are TO's records on an IMX250MZR-class camera (2448 × 2048, 75 fps; well ~10 ke⁻ and read 2.4 e⁻ unconfirmed; the IFO's four analyzer frames in one exposure; S and P on the mono variant at 18.8 readings/s).  The sensors are 10–40× slower than photons ÷ full-sensor rate would say: the ZWFS image's bright core sets the exposure (dynamic range), the frame mean sits at half well, and two polarization orientations go unused — the IFO's uniform pupil does not pay those.  Parts counts and TRL to follow (campaign brief sec. 9.1).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Pricing resolution: IFO, vector ZWFS, HET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Pixels per actuator above ~2 are free in photons and hold, cost data and processing, and buy the single-actuator scale; between 1 and 1.5 the actuator fit collapses; the three approaches pay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1" cy="2811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8354"/>
                <a:gridCol w="3669907"/>
                <a:gridCol w="917476"/>
                <a:gridCol w="877586"/>
                <a:gridCol w="1874844"/>
                <a:gridCol w="1196708"/>
                <a:gridCol w="1116928"/>
                <a:gridCol w="1116928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px per actuator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fit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 at 3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speed, s per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complexity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IFO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ZWFS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HET camera / lock-in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modes only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least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modeled (ruling 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– 1.5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collapses (fewer readings than lit actuators; a registration error reads the wrong actuator)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fails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blur demo: box-kernel collapse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complete; blur and registration absorbed by the matrix measured on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held (records at 3.3–4)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unchanged (well-bound)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0.04 Mpx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(record, 4 px)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floor; lock-in C4 = 5.3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– 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 actuators resolved with margin; ±1 px = ±0.1 pitch registration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0.25–1 Mpx, ~0.5 Gb/s; per-pixel solve ∝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1k²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two images per pol.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 9.4; C4M 10.6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gauge gain; read noise per sample ↑ (binning restores it)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Mpx, 2–5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GS 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653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Measured vs inferred:</a:t>
            </a:r>
            <a:r>
              <a:rPr sz="1500" b="0">
                <a:solidFill>
                  <a:srgbClr val="282828"/>
                </a:solidFill>
                <a:latin typeface="Arial"/>
              </a:rPr>
              <a:t> every record is at 3.3–4 px per actuator (the IFO's mirror-rig image, distorted by more than a pitch at the edge, reads to 2 pm there); the collapse band is the blur demo's; the 5–20 rows follow from the well-bound photon rule and the data rates.  </a:t>
            </a:r>
            <a:r>
              <a:rPr sz="1500" b="1">
                <a:solidFill>
                  <a:srgbClr val="282828"/>
                </a:solidFill>
                <a:latin typeface="Arial"/>
              </a:rPr>
              <a:t>A per-gauge sweep at 1, 1.5, 2, 4 px per actuator is a one-day format run — the item that turns this table into records.</a:t>
            </a:r>
            <a:r>
              <a:rPr sz="1500" b="0">
                <a:solidFill>
                  <a:srgbClr val="282828"/>
                </a:solidFill>
                <a:latin typeface="Arial"/>
              </a:rPr>
              <a:t>  Where the three differ: the IFO and HET read against a reference and are indifferent above 2; the vector ZWFS solves pixel by pixel from two images, wants ≥ 4, and pays processing for more; the lock-in fixes HET's sampling at the device (5.3 / 10.6) with the processing on-chip.  Regularization and calibration do not change with pixel count above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668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Blur demo (pupil_blur_demo, REPORT_pupil_blur); gauge deck (IFO, vZWFS); stages noise and format (HET); ruling 6 (2026-10-11).  Data rates: pixels × 16 bit × frame rate.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9150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5624"/>
                <a:gridCol w="4124927"/>
                <a:gridCol w="1189883"/>
                <a:gridCol w="713929"/>
                <a:gridCol w="3014370"/>
              </a:tblGrid>
              <a:tr h="84582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polarization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 (1k², 60 ke, 30 fps)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 (200 ke, 150 fps)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cycle to hold 3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 at the capped 250 ke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polarization camera (519 s per pm ÷ 9; its 10 ke⁻ well, the core's dynamic range and two unused orientations — the gauge deck's photon count stands,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(polarization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(×1.11 for square-wave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yes: 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yes: two colors on alternate I/Q samples, zero wrong orders to 480 nm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needs the reference iterated or a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through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phase 0.39 nm per frame; LO pointing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pointing the same (29.4 pm); fiber walk a piston per sample — inert: the loop at the budget and at 3× reads its noise-only hold to the digit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electronics it adds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chain, fiber LO, two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kHz; demodulation on-chip; I/Q data at 1 kHz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resolution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pixel-by-pixel from two images, wants ≥ 4 px per actuator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 px per actuator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735977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For hold alone,</a:t>
            </a:r>
            <a:r>
              <a:rPr sz="1500" b="0">
                <a:solidFill>
                  <a:srgbClr val="282828"/>
                </a:solidFill>
                <a:latin typeface="Arial"/>
              </a:rPr>
              <a:t> the vector Zernike sensor is the cheapest in photons by ~50× and needs no stabilities of its own — but on the assumed polarization camera (10 ke⁻ well) it is the slowest in time, ~60 s per 3 pm cycle; Feng's camera makes COPHI slow (16 s cycles); the Photonfocus makes it fast (1.6 s); </a:t>
            </a:r>
            <a:r>
              <a:rPr sz="1500" b="1">
                <a:solidFill>
                  <a:srgbClr val="282828"/>
                </a:solidFill>
                <a:latin typeface="Arial"/>
              </a:rPr>
              <a:t>the lock-in makes COPHI the fastest reading on the table</a:t>
            </a:r>
            <a:r>
              <a:rPr sz="1500" b="0">
                <a:solidFill>
                  <a:srgbClr val="282828"/>
                </a:solidFill>
                <a:latin typeface="Arial"/>
              </a:rPr>
              <a:t> (0.125 s cycles at 3.09 pm, 3.35 s per pm; records) — if its well behaves as surveyed — and its fiber term is a per-sample piston, inert (record).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For capture and the absolute figure,</a:t>
            </a:r>
            <a:r>
              <a:rPr sz="1500" b="0">
                <a:solidFill>
                  <a:srgbClr val="282828"/>
                </a:solidFill>
                <a:latin typeface="Arial"/>
              </a:rPr>
              <a:t> COPHI in either form: a reference that does not depend on the surface, two colors for 480 nm rms in one reading.  </a:t>
            </a:r>
            <a:r>
              <a:rPr sz="1500" b="1">
                <a:solidFill>
                  <a:srgbClr val="282828"/>
                </a:solidFill>
                <a:latin typeface="Arial"/>
              </a:rPr>
              <a:t>What decides it for a flight DM:</a:t>
            </a:r>
            <a:r>
              <a:rPr sz="1500" b="0">
                <a:solidFill>
                  <a:srgbClr val="282828"/>
                </a:solidFill>
                <a:latin typeface="Arial"/>
              </a:rPr>
              <a:t> hold only and photons scarce → the Zernike sensor, with a camera chosen for it; hold + capture + absolute, or speed → COPHI, and with the lock-in camera it is the fastest by 20–500×; </a:t>
            </a:r>
            <a:r>
              <a:rPr sz="1500" b="1">
                <a:solidFill>
                  <a:srgbClr val="282828"/>
                </a:solidFill>
                <a:latin typeface="Arial"/>
              </a:rPr>
              <a:t>the hybrid Feng's purpose suggests</a:t>
            </a:r>
            <a:r>
              <a:rPr sz="1500" b="0">
                <a:solidFill>
                  <a:srgbClr val="282828"/>
                </a:solidFill>
                <a:latin typeface="Arial"/>
              </a:rPr>
              <a:t> — a Zernike sensor for the hold, COPHI's two-color read for capture and commissioning — remains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15326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and its speed is the camera's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Score it in the composite deck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for every gauge and the piston-free photon metric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Price the plain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record's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verify the survey against the vendor sheets before a part is named.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</a:t>
            </a:r>
            <a:r>
              <a:rPr sz="1200" b="0">
                <a:solidFill>
                  <a:srgbClr val="282828"/>
                </a:solidFill>
                <a:latin typeface="Arial"/>
              </a:rPr>
              <a:t> (1.1 s per pm as surveyed) — one vendor question from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per-gauge resolution sweep (slide 16); the polarization-camera timings through the noise hook (slide 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chromatic refocus of the tail at Δλ = 20 nm (dispersive glass in the model); the LO referenced against the test arm's own flat; the electronics table's parts counts and TRL for all five gauges; Kent's ZWFS reconstruction when it arrives.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002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