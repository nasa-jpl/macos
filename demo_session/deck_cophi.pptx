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COPHI as the Fifth DM Gauge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 — and a faster alternative using lock-in detectors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proposal, in one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camera, and an array detector providing many parallel channels to resolve 96 × 96 actuators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layout:</a:t>
            </a:r>
            <a:r>
              <a:rPr sz="1200" b="0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algorithm:</a:t>
            </a:r>
            <a:r>
              <a:rPr sz="1200" b="0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purpose: stabilize the DM!</a:t>
            </a:r>
            <a:r>
              <a:rPr sz="1200" b="0">
                <a:solidFill>
                  <a:srgbClr val="282828"/>
                </a:solidFill>
                <a:latin typeface="Arial"/>
              </a:rPr>
              <a:t>  Run each DM in a local loop to hold it — our job 3.  Not stated: the camera, the photon budget, the error terms, a number.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transfers from the gauge deck unchanged: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bench (both rigs), the 96 × 96 DM truth, the 30 nm working surface, the response matrix measured through the reading, the hold loop, the capture ladder, the photon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new: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LO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absent by construction: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record's interferometer carries (0.983–1.004) does not exist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1330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single.png"/>
          <p:cNvPicPr>
            <a:picLocks noChangeAspect="1"/>
          </p:cNvPicPr>
          <p:nvPr/>
        </p:nvPicPr>
        <p:blipFill>
          <a:blip r:embed="rId2"/>
          <a:srcRect t="3660" b="2840"/>
          <a:stretch>
            <a:fillRect/>
          </a:stretch>
        </p:blipFill>
        <p:spPr>
          <a:xfrm>
            <a:off x="914400" y="1408176"/>
            <a:ext cx="9994392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475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Feng's four-frame method, one-color version, for the hold job.</a:t>
            </a:r>
            <a:r>
              <a:rPr sz="1500" b="0">
                <a:solidFill>
                  <a:srgbClr val="282828"/>
                </a:solidFill>
                <a:latin typeface="Arial"/>
              </a:rPr>
              <a:t>  Every box is a component of the TG96 DM Gauge bench.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1426464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994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camera rows name the surveyed parts; the lock-in alternative has its own diagram (slide 5).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lock-in camera: COPHI's algorithm built into the sensor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camera takes four frames per beat and the computer demodulates; a lock-in camera demodulates in every pixel at a kHz beat and reads the full lattice in a second — the parallel implementation, same optics, same RF chain; its rows run through every results table that follows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Ruling:</a:t>
            </a:r>
            <a:r>
              <a:rPr sz="1200" b="0">
                <a:solidFill>
                  <a:srgbClr val="282828"/>
                </a:solidFill>
                <a:latin typeface="Arial"/>
              </a:rPr>
              <a:t> every mode of interest (EFC probes among them) is commanded at full actuator resolution — no coarse or low-order sensor forms.  The second implementation is a </a:t>
            </a:r>
            <a:r>
              <a:rPr sz="1200" b="1">
                <a:solidFill>
                  <a:srgbClr val="282828"/>
                </a:solidFill>
                <a:latin typeface="Arial"/>
              </a:rPr>
              <a:t>well-free, per-pixel demodulating reading at ≥ 1 element per actuator</a:t>
            </a:r>
            <a:r>
              <a:rPr sz="1200" b="0">
                <a:solidFill>
                  <a:srgbClr val="282828"/>
                </a:solidFill>
                <a:latin typeface="Arial"/>
              </a:rPr>
              <a:t>, assumed to exist at 1:1 or better.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Lock-in</a:t>
            </a:r>
            <a:r>
              <a:rPr sz="1200" b="0">
                <a:solidFill>
                  <a:srgbClr val="282828"/>
                </a:solidFill>
                <a:latin typeface="Arial"/>
              </a:rPr>
              <a:t> = synchronous detection inside each pixel: the photocurrent is steered into in-phase and quadrature stores by the external reference (our Rb-clocked beat, now at kHz), the DC never reaches the well, I and Q leave at the frame rate — the four-bucket replaced by thousands of cycles integrated on-chip.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Surveyed (unverified):</a:t>
            </a:r>
            <a:r>
              <a:rPr sz="1200" b="0">
                <a:solidFill>
                  <a:srgbClr val="282828"/>
                </a:solidFill>
                <a:latin typeface="Arial"/>
              </a:rPr>
              <a:t> Heliotis heliCam C4 / C4M — 542 × 512 (1024 × 1102), in-pixel lock-in 1–250 kHz, 500 ke⁻ well, 2 × 10-bit I/Q, external reference input; four generations shipped, one vendor.  Also ranked: brute-force 128² CMOS at 20–40 kfps; iToF demodulators with the beat moved to MHz; digital-pixel ROICs (Lincoln DFPA); silicon-photonic coherent FPAs.  SPADs and Geiger-mode arrays are unfit (count-rate ceilings).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8" cy="36461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3754"/>
                <a:gridCol w="823860"/>
                <a:gridCol w="2737344"/>
              </a:tblGrid>
              <a:tr h="6057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 two implementations, same optics and RF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Feng's camera (Photonfocus row)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 kHz (1–250 kHz)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what leaves the sensor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 frames per beat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I/Q per pixel at 1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pixels per actuator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per-reading noise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39.5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58 pm per 1 ms I/Q sample (63 at an assumed 100 e⁻ read)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seconds per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3.4 (read 0) / 4.0 (read 100 assumed); ×1.11 for square-wave demodulation — well-capped at the I/Q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if well-free: 10⁹ / 10¹⁰ e⁻/s per element (the sheet's own 2.5 × 10⁹)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0.84 / 0.084 s (0.34 s at 2.5 × 10⁹) — analytic, one store per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loop latency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beat, 133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I/Q frame, 1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509092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Even well-capped the lock-in is ~12× the Photonfocus and ~110× Feng's baseline</a:t>
            </a:r>
            <a:r>
              <a:rPr sz="1200" b="0">
                <a:solidFill>
                  <a:srgbClr val="282828"/>
                </a:solidFill>
                <a:latin typeface="Arial"/>
              </a:rPr>
              <a:t> (the format stage's first 1.1 s counted four full wells per sample; a true I/Q sample integrates into one store — corrected by the lock-in reading itself); a verified well-free device (continuous, or I/Q ≥ 10 kHz) at the sheet's own 2.5 × 10⁹ e⁻/s per element would be ~18 pm per sample, ~0.34 s per pm — 10× the capped form; that is what the vendor question decides.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vendor question that decides it:</a:t>
            </a:r>
            <a:r>
              <a:rPr sz="1200" b="0">
                <a:solidFill>
                  <a:srgbClr val="282828"/>
                </a:solidFill>
                <a:latin typeface="Arial"/>
              </a:rPr>
              <a:t> per-pixel phase noise vs flux at t_c = 100 ms, and whether the full well bounds each internal 1 MSa/s sample or the 5.6 kSa/s output — for Heliotis, through Dave.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38911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format (runs/format_lens_plain); NOTE_lockin_arrays_survey.md (web survey, every number sourced, none verified by us).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with a lock-in camera: the block diagram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laser, fibers, LO and bench; the beat moves to 5 kHz; the mixer gives the beat itself to the camera's reference input; no frame trigger, no bucket; I/Q frames at 1 kHz go straight to the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lockin.png"/>
          <p:cNvPicPr>
            <a:picLocks noChangeAspect="1"/>
          </p:cNvPicPr>
          <p:nvPr/>
        </p:nvPicPr>
        <p:blipFill>
          <a:blip r:embed="rId2"/>
          <a:srcRect t="3010" b="2600"/>
          <a:stretch>
            <a:fillRect/>
          </a:stretch>
        </p:blipFill>
        <p:spPr>
          <a:xfrm>
            <a:off x="740664" y="1106424"/>
            <a:ext cx="10296144" cy="56144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51960" y="1234440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changes from slide 3:</a:t>
            </a:r>
            <a:r>
              <a:rPr sz="1200" b="0">
                <a:solidFill>
                  <a:srgbClr val="282828"/>
                </a:solidFill>
                <a:latin typeface="Arial"/>
              </a:rPr>
              <a:t> synthesizer 2 at 80 MHz + 5 kHz; the ×4 / 30 Hz trigger chain becomes the 5 kHz beat reference; the camera is the lock-in device; the processing is atan2(Q, I) per I/Q frame, decimated to the loop rate.  Fiber, LO and the hold loop are the same — and so are their requirements.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2286000"/>
            <a:ext cx="6080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6611112"/>
            <a:ext cx="5650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 (lock-in variant); the well-free device is the dashed alternative.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reading's algebra, pinned before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the camera records, how the phase and the surface come out of it, and what the gate measured: the quarter-cycle integration costs 10 % of contrast, a step error is not cured by more frames, and the photon law carries read noise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847" y="1298448"/>
            <a:ext cx="106680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4988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"Integrating bucket" (1)–(2):</a:t>
            </a:r>
            <a:r>
              <a:rPr sz="1200" b="0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through a quarter of the cycle.  Averaging a cosine over a window D = 2π/N keeps its phase (referred to the window's center ᾱ_k) and shrinks its amplitude by sinc(D/2): </a:t>
            </a:r>
            <a:r>
              <a:rPr sz="1200" b="1">
                <a:solidFill>
                  <a:srgbClr val="282828"/>
                </a:solidFill>
                <a:latin typeface="Arial"/>
              </a:rPr>
              <a:t>0.900 for four frames per beat</a:t>
            </a:r>
            <a:r>
              <a:rPr sz="1200" b="0">
                <a:solidFill>
                  <a:srgbClr val="282828"/>
                </a:solidFill>
                <a:latin typeface="Arial"/>
              </a:rPr>
              <a:t> — nothing else changes.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phase (3)</a:t>
            </a:r>
            <a:r>
              <a:rPr sz="1200" b="0">
                <a:solidFill>
                  <a:srgbClr val="282828"/>
                </a:solidFill>
                <a:latin typeface="Arial"/>
              </a:rPr>
              <a:t> is a least-squares fit of the N frames to a + b cos ᾱ_k + c sin ᾱ_k; for N = 4 it reduces exactly to the four-step atan2, the same algorithm as Feng's (his sign is for cos(φ + 2πft)).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4988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 step error (5):</a:t>
            </a:r>
            <a:r>
              <a:rPr sz="1200" b="0">
                <a:solidFill>
                  <a:srgbClr val="282828"/>
                </a:solidFill>
                <a:latin typeface="Arial"/>
              </a:rPr>
              <a:t> if every step is D(1 + ε) instead of D, the four-bucket phase comes out wrong by (ε/2) sin 2φ — the classical phase-shifting result (Schwider 1983, Creath 1988): an error that oscillates twice per fringe, so a flat surface reads as a ripple at twice the fringe frequency with amplitude ε/2.  </a:t>
            </a:r>
            <a:r>
              <a:rPr sz="1200" b="1">
                <a:solidFill>
                  <a:srgbClr val="282828"/>
                </a:solidFill>
                <a:latin typeface="Arial"/>
              </a:rPr>
              <a:t>Measured: more buckets do not cure it</a:t>
            </a:r>
            <a:r>
              <a:rPr sz="1200" b="0">
                <a:solidFill>
                  <a:srgbClr val="282828"/>
                </a:solidFill>
                <a:latin typeface="Arial"/>
              </a:rPr>
              <a:t> (the plain 8-bucket fit with the same per-step error is 1.43× worse; the ramp accumulates); </a:t>
            </a:r>
            <a:r>
              <a:rPr sz="1200" b="1">
                <a:solidFill>
                  <a:srgbClr val="282828"/>
                </a:solidFill>
                <a:latin typeface="Arial"/>
              </a:rPr>
              <a:t>knowing the steps does</a:t>
            </a:r>
            <a:r>
              <a:rPr sz="1200" b="0">
                <a:solidFill>
                  <a:srgbClr val="282828"/>
                </a:solidFill>
                <a:latin typeface="Arial"/>
              </a:rPr>
              <a:t> (the fit at the true ᾱ_k is exact) — a Rb-clocked scan knows them.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Photons (6):</a:t>
            </a:r>
            <a:r>
              <a:rPr sz="1200" b="0">
                <a:solidFill>
                  <a:srgbClr val="282828"/>
                </a:solidFill>
                <a:latin typeface="Arial"/>
              </a:rPr>
              <a:t> shot noise ∝ 1/√I₀ (slope −0.500 ± 0.02 over two decades), read noise in quadrature.  A fiber walk or trigger jitter within a scan is a fixed fraction of its size (0.13 w), no better with 8 buckets — no algorithmic cure.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1932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LO is a fiber tip and collimator with its powered face at the reference flat's seat; it registers on both rigs to a pixel and the flat-DM null is sub-nanometer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ayout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587" y="1298448"/>
            <a:ext cx="3868224" cy="20924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409187"/>
            <a:ext cx="580644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mirror rig from above with the LO arm in place: source arm red, LO arm purple (fiber tip at right, collimator at the reference flat's seat), test arm to the DM blue, camera leg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00507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Registration: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chief ray 0.000 px on both rigs; the LO covers the test pupil 1.000 and overfills it by 34 px (radius ratio 1.215), so an offset under that is a fill question, not a registration one.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Null on the flat DM:</a:t>
            </a:r>
            <a:r>
              <a:rPr sz="1200" b="0">
                <a:solidFill>
                  <a:srgbClr val="282828"/>
                </a:solidFill>
                <a:latin typeface="Arial"/>
              </a:rPr>
              <a:t> lens rig 0.000 nm; mirror rig 0.746 nm rms after piston, mostly tilt — the LO collimator's wavefront against the test arm, frozen into the null as the interferometer freezes its reference; its motion is the LO-drift row (slide 12).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Contrast:</a:t>
            </a:r>
            <a:r>
              <a:rPr sz="1200" b="0">
                <a:solidFill>
                  <a:srgbClr val="282828"/>
                </a:solidFill>
                <a:latin typeface="Arial"/>
              </a:rPr>
              <a:t> 0.982 at an LO/test power ratio of 1.47, as 2√r/(1 + r) says; the vector-mode field phase measures −kW on both decks (the known conjugate).</a:t>
            </a:r>
          </a:p>
        </p:txBody>
      </p:sp>
      <p:pic>
        <p:nvPicPr>
          <p:cNvPr id="7" name="Picture 6" descr="cophi_layout_n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0752" y="1298448"/>
            <a:ext cx="1955054" cy="20924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409187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node: the beamsplitter and compensator, the LO entering where the reference flat's return did, the recombination into the camera leg (the record's polarizing elements shown; the plain-splitter train is scored)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0050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findings that matter for any traced LO:</a:t>
            </a:r>
            <a:r>
              <a:rPr sz="1200" b="0">
                <a:solidFill>
                  <a:srgbClr val="282828"/>
                </a:solidFill>
                <a:latin typeface="Arial"/>
              </a:rPr>
              <a:t> the geometric tail places the detector field by ray index, not camera position — the LO's own collimator makes the per-index null 681 nm where the by-position null is 0.45 nm, so the LO is placed on the test pixels by position; and the plain mirror train had inherited a source trim solved with the polarizer plate — without it OAP1 was fed off focus (an 84 nm defocus null), now trimmed to zero.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trains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record's polarizing train (input polarizer, analyzer) and Feng's plain splitter.  Picometers identical — the camera is well-bound; the record's train costs light only (test throughput 0.271 vs 0.408, ×1.5 laser).  The plain splitter is the layout scored.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50138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bench (runs/bench_{lens,oap}; the layout = bench_oap_vlayout.png, the engine's own render), gate tCophiBench 9/9 (registration, poke 1.001 converged, LO tilt, no-fringe refused by name, dark camera refused).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stations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71" y="1298448"/>
            <a:ext cx="9604553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of what is shown:</a:t>
            </a:r>
            <a:r>
              <a:rPr sz="1500" b="0">
                <a:solidFill>
                  <a:srgbClr val="282828"/>
                </a:solidFill>
                <a:latin typeface="Arial"/>
              </a:rPr>
              <a:t> the model's camera grid is 1024 × 1024 with the pupil 315 px across (radius 157.45 px) — </a:t>
            </a:r>
            <a:r>
              <a:rPr sz="1500" b="1">
                <a:solidFill>
                  <a:srgbClr val="282828"/>
                </a:solidFill>
                <a:latin typeface="Arial"/>
              </a:rPr>
              <a:t>3.3 pixels per actuator across, ~11 pixels per actuator in area</a:t>
            </a:r>
            <a:r>
              <a:rPr sz="1500" b="0">
                <a:solidFill>
                  <a:srgbClr val="282828"/>
                </a:solidFill>
                <a:latin typeface="Arial"/>
              </a:rPr>
              <a:t> (6948 lit actuators on ~77,900 pupil pixels); every real camera on the table samples finer (5–21 px per actuator, slide 9).  What resolution buys, and what it costs each gauge, is slide 16.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81253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Resolution and timing,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model samples the pupil at 3.3 pixels per actuator; every camera on the table oversamples the 96 × 96 lattice, so resolution costs no photons — the time to a picometer is set by well depth × frame rate, not by pixel 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3183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400"/>
                <a:gridCol w="1436708"/>
                <a:gridCol w="1936432"/>
                <a:gridCol w="1374242"/>
                <a:gridCol w="2810951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sensor /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across the pupil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per actuator (96 across)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per pm (SNR 1 at 1 pm)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model's grid (both rigs, 1024 grid; the station figure)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Feng's camera, 1k², 60 ke, 30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Photonfocus 1024², 200 ke, 150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pco.edge 5.5 in GS mode, 2560 × 2160, 30 ke, 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at 1.3 µm, C-RED 2, 640 × 512 (placeholder at 632.8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~480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C4, 542 × 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58 per 1 ms I/Q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3.4 (well-capped at 1 kHz; ×1.11 square-wave)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C4M, 1024 × 1102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(C4 pixel assumed)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3.4 (same well × rate per element)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6280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is free down to 1 : 1</a:t>
            </a:r>
            <a:r>
              <a:rPr sz="1500" b="0">
                <a:solidFill>
                  <a:srgbClr val="282828"/>
                </a:solidFill>
                <a:latin typeface="Arial"/>
              </a:rPr>
              <a:t> (ruling: every mode of interest is commanded at full actuator resolution, so nothing coarser is modeled): a camera's photons per second are pixels × well × rate over the pupil, and binning finer pixels onto the lattice changes nothing but the read noise per sample.  Below ~1.5 pixels per actuator the actuator-space fit collapses (the blur demo's box kernel), which is why 5 pixels per actuator is the floor on this table.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cameras were put on the model grid by binning</a:t>
            </a:r>
            <a:r>
              <a:rPr sz="1500" b="0">
                <a:solidFill>
                  <a:srgbClr val="282828"/>
                </a:solidFill>
                <a:latin typeface="Arial"/>
              </a:rPr>
              <a:t> (well × k², read × k): the pm-per-reading rows are the full camera's photons, at the model's sampling.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30899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and format; the pupil in pixels is the camera's short side filled by the pupil image (the tail's magnification is set for it); the model's 315 px = 157.45 px radius (stage bench).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side by side: HET against the IFO on the same surface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HET = the heterodyne (COPHI) reading; IFO = the record's Twyman-Green polarization interferometer.  Same seed, same 30 nm surface, same response matrix measured through each reading: HET matches the IFO's floor, reads the mirror rig's random surface at half its error, and is exact where the IFO's reading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4686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7668"/>
                <a:gridCol w="5134530"/>
                <a:gridCol w="2325624"/>
                <a:gridCol w="2470912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 (COPHI), lens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(Twyman-Green), lens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lock-in camera (both rigs)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 gains as HET above — the reading is the same algebra, exact at the pixel; floor at its own photon rate: not yet run (TO)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13105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one-step rows sit 0.5 % low for HET on both rigs — and that is the estimator, not the reading:</a:t>
            </a:r>
            <a:r>
              <a:rPr sz="1500" b="0">
                <a:solidFill>
                  <a:srgbClr val="282828"/>
                </a:solidFill>
                <a:latin typeface="Arial"/>
              </a:rPr>
              <a:t> a synthetic 1.000 nm poke reads at slope 1.000000 at the pixel level; the LO placement, the vector sum, the polarizers and the mask each cleared; at λ_m = 10⁻⁵ the gain is 1.0007.  It is the one-step Tikhonov shrinkage at the record's λ_m = 10⁻³ — the "matrix bias" every gauge carries, now a number.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Driven to convergence (the gauge's servo use), HET reads exactly on the mirror rig; the IFO then shows its polarization gain in the open:</a:t>
            </a:r>
            <a:r>
              <a:rPr sz="1500" b="0">
                <a:solidFill>
                  <a:srgbClr val="282828"/>
                </a:solidFill>
                <a:latin typeface="Arial"/>
              </a:rPr>
              <a:t> IFO/HET = 1.006–1.009 on the lens rig and 0.989 on the mirror rig.  The IFO's lens-rig "1.000" was +0.5–1 % of polarization gain cancelling the 0.5 % shrinkage.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18159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battery (runs/battery_{lens,oap}, the IFO column = redo96_&lt;optics&gt;ph: tail md5, lit 6948, seed 7, the 64-state matrix on the surface); the gain probe (runs/gainprobe_lens); the converged estimator (dm_gauge_lib/dmg_converge, gate tConvergedEst 4/4; runs/conv_H_, tg_psi_dm96_oap/runs/conv_I_; H and I are the reading-class letters in the records); the one-step rows reproduce the record to the digit.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Photons for 1 pm,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8" cy="45091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5418"/>
                <a:gridCol w="999251"/>
                <a:gridCol w="964189"/>
                <a:gridCol w="403206"/>
                <a:gridCol w="683698"/>
                <a:gridCol w="1090676"/>
              </a:tblGrid>
              <a:tr h="103441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 noise r, e⁻ (σ penalty √((I₀ + r²)/I₀) at half well)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SNR at 1 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to SNR 1 at 1 pm,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SNR 10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assumed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 / 11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220 (1.22)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 / 60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 / 3.3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 assumed (1.001)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0.051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heliCam C4, 500 ke, I/Q at 1 kHz (the lock-in reading, mirror rig; well-capped)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n/s: run at 0 and at 100 assumed (1.09)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58 (read 0) / 63 (read 100) per 1 ms sample; 1.8 in 1 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 per sample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3.4 / 4.0 (×1.11 square-wave)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5.7 / 6.7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53887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metric</a:t>
            </a:r>
            <a:r>
              <a:rPr sz="1200" b="0">
                <a:solidFill>
                  <a:srgbClr val="282828"/>
                </a:solidFill>
                <a:latin typeface="Arial"/>
              </a:rPr>
              <a:t> is the piston-free robust floor over the unpoked actuators (1.48 MAD, median of 12 draws): the raw single-actuator noise is mostly a common piston (165 vs 76 pm), unobservable and inert on a DM.  The composite deck puts every gauge on this metric.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sz="1200" b="0">
                <a:solidFill>
                  <a:srgbClr val="282828"/>
                </a:solidFill>
                <a:latin typeface="Arial"/>
              </a:rPr>
              <a:t> (σ_φ² ∝ I₀ + r²): the Photonfocus's 220 e⁻ costs 22 % in σ at half well and it still wins on well × rate; the baseline's and the C-RED's read noise are assumed (not in Feng's deck; the survey's low-gain value unconfirmed).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SNR at the 1 pm target: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reading gives SNR 0.02–0.05; SNR 1 takes (pm per reading)² readings — the seconds-per-pm column; SNR 10 takes 100× that.  A hold loop never needs SNR 10 in one measurement: it integrates readings (next slide).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per-pixel noise measured on the bench equals the tCophi formula to 1.000 ± 0.002</a:t>
            </a:r>
            <a:r>
              <a:rPr sz="1200" b="0">
                <a:solidFill>
                  <a:srgbClr val="282828"/>
                </a:solidFill>
                <a:latin typeface="Arial"/>
              </a:rPr>
              <a:t> on every camera, rig and train — the model and the bench agree.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Rolling-shutter sCMOS are out:</a:t>
            </a:r>
            <a:r>
              <a:rPr sz="1200" b="0">
                <a:solidFill>
                  <a:srgbClr val="282828"/>
                </a:solidFill>
                <a:latin typeface="Arial"/>
              </a:rPr>
              <a:t> rows exposed in sequence see different beat phases — a phase ramp across the image; true global shutter, hardware trigger from the Rb clock, streamable at full frame.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sz="1200" b="0">
                <a:solidFill>
                  <a:srgbClr val="282828"/>
                </a:solidFill>
                <a:latin typeface="Arial"/>
              </a:rPr>
              <a:t> a 1k camera oversamples the 96 × 96 lattice ten to one; well depth × frame rate is the budget (NOTE_detectors_survey).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40410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(runs/noise_{lens,oap}[_plain]), 12 draws, cameras binned onto the model grid (well × k², read × k, frame mean at half well).  Mask convention from the lock-in runs on: the LO-only annulus (no test light) is filled with the fringe pixels' median, not zero — a zero there made any common phase a pupil-edge step the edge actuators fit; the bucket camera's electronics rows move ≤ 9 % under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Holding 3 pm: the servo at the camera's cadence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holds 3 pm against the record's drifts; the baseline camera needs a 16 s cycle, the Photonfocus 1.6 s; the LO's pointing is the term the loop cannot see past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463"/>
                <a:gridCol w="2290976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2.75 / 2.67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2.60 / 2.52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lock-in camera (I/Q samples at 1 kHz; ~130 samples per cycle, a 0.13 s cycle)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~2.6 (derived from 58 pm per sample; the loop run pending)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3.60 / 3.53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10.3 / 10.3 (the lag rate/gG — every gauge)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beat; one I/Q frame for the lock-in)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3.65 / 3.54 (+0.9 pm); lock-in: 1 ms, negligible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 (baseline 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3.95 / 9.2 (mirror); Photonfocus 4.8 / 12.7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29.6 / 29.4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 is read as the DM: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matrix takes an LO tilt as a DM tilt one-for-one (a 1 nrad tilt reads as a surface tilt of 1.008 × θ/2), and the loop drives the DM to follow it.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 pointing must hold ~10 prad per cycle — ~10 pm of fiber-tip motion at the collimator's focal length — or be referenced.</a:t>
            </a:r>
            <a:r>
              <a:rPr sz="1200" b="0">
                <a:solidFill>
                  <a:srgbClr val="282828"/>
                </a:solidFill>
                <a:latin typeface="Arial"/>
              </a:rPr>
              <a:t>  That is the architecture requirement the plain-splitter layout adds, beside the fiber's.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fiber is the term: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  Budget at the photon floor (mirror rig, median-fill convention): </a:t>
            </a:r>
            <a:r>
              <a:rPr sz="1200" b="1">
                <a:solidFill>
                  <a:srgbClr val="282828"/>
                </a:solidFill>
                <a:latin typeface="Arial"/>
              </a:rPr>
              <a:t>3.9 × 10⁻³ rad per frame = 0.39 nm of differential OPD per 33 ms, ~12 nm/s, ~1.2 mK/s per meter of uncommon fiber</a:t>
            </a:r>
            <a:r>
              <a:rPr sz="1200" b="0">
                <a:solidFill>
                  <a:srgbClr val="282828"/>
                </a:solidFill>
                <a:latin typeface="Arial"/>
              </a:rPr>
              <a:t> — co-routed, thermally tied, or servoed.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How the loop reaches 3 pm from 55 pm readings — two integrators:</a:t>
            </a:r>
            <a:r>
              <a:rPr sz="1200" b="0">
                <a:solidFill>
                  <a:srgbClr val="282828"/>
                </a:solidFill>
                <a:latin typeface="Arial"/>
              </a:rPr>
              <a:t> the estimator's regularization (λ_m) is a spatial low-pass over the response matrix's small-singular-value directions, where photon and read noise live — it trades a 0.5 % gain for a lower floor (the converged estimator removes the bias but admits ×2.1 the white noise if run to a zero update); and the loop itself averages across cycles at gain g (steady state σ_n √(g/(2 − g)), plus M readings per cycle).  In the loop the one-step and the converged estimator agree to 0.1 pm on every row, so the bias costs nothing there; the converged mode is for the open-loop absolute read.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sz="1200" b="0">
                <a:solidFill>
                  <a:srgbClr val="282828"/>
                </a:solidFill>
                <a:latin typeface="Arial"/>
              </a:rPr>
              <a:t> trigger jitter &lt; 2.8 × 10⁻³ rad, AOM drive ripple &lt; 1.8 × 10⁻³ — both easy with a Rb-locked DDS; latency one beat (133 ms at 7.5 Hz).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65073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mirror rig on the fixed feed (SRC_TRIM 0; every row within 0.02 pm of the mis-fed run, kept in runs/oap_plain_misfed); the fiber rows at the corrected budget (3.5 × 10⁻³ rad/frame as run; 3.9 × 10⁻³ under the median-fill convention); the noise stage's first fiber number was 2.3× low (a 12-draw Monte Carlo of three random numbers) and is replaced by the exact expectation.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cold: two colors frequency-multiplexed on one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laser at λ₂, its own AOM pair at a second beat, WDM combiners into the same two fibers; all four synthesizers on one reference; the processing adds the synthetic-wavelength block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multi.png"/>
          <p:cNvPicPr>
            <a:picLocks noChangeAspect="1"/>
          </p:cNvPicPr>
          <p:nvPr/>
        </p:nvPicPr>
        <p:blipFill>
          <a:blip r:embed="rId2"/>
          <a:srcRect t="3060" b="2370"/>
          <a:stretch>
            <a:fillRect/>
          </a:stretch>
        </p:blipFill>
        <p:spPr>
          <a:xfrm>
            <a:off x="731520" y="1179576"/>
            <a:ext cx="9098280" cy="5623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0" y="115214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camera, one 8-frame set:</a:t>
            </a:r>
            <a:r>
              <a:rPr sz="1200" b="0">
                <a:solidFill>
                  <a:srgbClr val="282828"/>
                </a:solidFill>
                <a:latin typeface="Arial"/>
              </a:rPr>
              <a:t> beats of 7.5 Hz and 3.75 Hz are 4 and 8 frames at the same 30 fps, so each color is demodulated at its own bucket centers from the same frames; the colors do not interfere (THz apart).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57800" y="246888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sequential form — one tunable laser switched on alternate beats — uses the one-color hardware and half the cadence.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cold: the numbers, and the parts it adds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Zero wrong fringe orders on the whole capture ladder to 480 nm rms; a single color wraps from 40 nm; the temporal unwrapping a continuous reading gets free holds a running loop, not a cold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632.8 + 652.8 nm (synthetic Λ = 20.65 µm, range ±5.2 µm), read by its own buckets per color (crosstalk 4 × 10⁻¹⁶ rad).  </a:t>
            </a:r>
            <a:r>
              <a:rPr sz="1200" b="1">
                <a:solidFill>
                  <a:srgbClr val="282828"/>
                </a:solidFill>
                <a:latin typeface="Arial"/>
              </a:rPr>
              <a:t>Zero wrong orders to 480 nm rms, noise-free and on both cameras</a:t>
            </a:r>
            <a:r>
              <a:rPr sz="1200" b="0">
                <a:solidFill>
                  <a:srgbClr val="282828"/>
                </a:solidFill>
                <a:latin typeface="Arial"/>
              </a:rPr>
              <a:t> (0.15 / 0.10 nm per pixel); the single color is 74 % wrong at 480.  </a:t>
            </a:r>
            <a:r>
              <a:rPr sz="1200" b="1">
                <a:solidFill>
                  <a:srgbClr val="282828"/>
                </a:solidFill>
                <a:latin typeface="Arial"/>
              </a:rPr>
              <a:t>A 200 nm rms figure is captured from cold in one multiplexed reading, 0.27 s.</a:t>
            </a:r>
            <a:r>
              <a:rPr sz="1200" b="0">
                <a:solidFill>
                  <a:srgbClr val="282828"/>
                </a:solidFill>
                <a:latin typeface="Arial"/>
              </a:rPr>
              <a:t>  Any Δλ from 1 to ~100 nm resolves (the fine requirement at Δλ = 20 nm is 1.7 nm against ~0.1 nm per pixel): the synthetic-wavelength ladder needs one rung for this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Temporal unwrapping:</a:t>
            </a:r>
            <a:r>
              <a:rPr sz="1200" b="0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With the lock-in 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reference at a time, so the two colors are read on alternate I/Q samples (2 ms per pair) — the same synthetic-wavelength capture, sequential; temporal unwrapping at 1 kHz tolerates 0.9 × λ/4 per ms ≈ 140 µm/s at the peak pixel (derived from the frame rate; not yet run).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2526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9863"/>
                <a:gridCol w="674624"/>
                <a:gridCol w="1790472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part added for the second color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laser 2 at λ₂ (tunable ECDL at 633 ± Δλ, or a telecom tunable at 1.3 µm)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only costly part at 633; cheap at 1.3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1×2 PM coupler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AOMs 3 and 4 + drivers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 + 2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second beat 3.75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synthesizers 3 and 4 on the same Rb reference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beats coherent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WDM combiners (test fiber, LO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both colors in the same two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processing: the second demodulation + the synthetic-wavelength unwrap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dmg_cophi_recon twice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97078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IFO and the vector Zernike sensor read with a polarization camera in one frame; COPHI adds an RF chain, a fiber LO and three control loops of its own; the lock-in camera moves the demodulation on-chip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2" cy="534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6066"/>
                <a:gridCol w="2140987"/>
                <a:gridCol w="1978380"/>
                <a:gridCol w="1300853"/>
                <a:gridCol w="1924178"/>
                <a:gridCol w="2398268"/>
              </a:tblGrid>
              <a:tr h="65722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TG96 IFO (polarization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stepped / vector Zernike (vector: 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for the snapshot (piezo + HV driver for the four-step calibration only)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(vector); mask stepper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sCMOS (micro-polarizer array 0/45/90/135)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/ polarization sCMOS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 (vector) / 4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I/Q frame (ms)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gain (0.98–1.01, calibrated by the four-step)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(gauge deck, 30 nm surface)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 × 10¹⁴ (mirror) – 1 × 10¹⁵ (lens)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1.2 × 10¹⁴ stepped / 4.6 × 10¹³ vector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1.5 × 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(this deck: 57.7 pm per reading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(34 pm per 1 ms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 (SNR 10 = 100×)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189 / 160 s (lens / mirror; IMX250MZR-class polarization camera, record camI_*)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TO's rerun pending (a first cut was optimistic by ~2.5× and is withdrawn)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pending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(Feng's camera) / 42 (Photonfocus)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3.4 / 4.0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7939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IFO timing is TO's record (the four analyzer frames in one exposure on an IMX250MZR-class camera, 2448 × 2048, 75 fps; well ~10 ke⁻ and read 2.4 e⁻ unconfirmed); the sensors' timings follow when TO's rerun lands.  Parts counts and TRL to follow (campaign brief sec. 9.1).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Pricing resolution: IFO, vector ZWFS, HET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Pixels per actuator above ~2 are free in photons and hold, cost data and processing, and buy the single-actuator scale; between 1 and 1.5 the actuator fit collapses; the three approaches pay differently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1" cy="2811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8354"/>
                <a:gridCol w="3669907"/>
                <a:gridCol w="917476"/>
                <a:gridCol w="877586"/>
                <a:gridCol w="1874844"/>
                <a:gridCol w="1196708"/>
                <a:gridCol w="1116928"/>
                <a:gridCol w="1116928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px per actuator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fit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 at 3 pm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speed, s per pm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complexity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IFO (pol.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ZWFS (pol.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HET camera / lock-in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&lt; 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modes only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least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a gauge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a gauge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modeled (ruling 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– 1.5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collapses (fewer readings than lit actuators; a registration error reads the wrong actuator)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fails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blur demo: box-kernel collapse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complete; blur and registration absorbed by the matrix measured on the surface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held (records at 3.3–4)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unchanged (well-bound)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0.04 Mpx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 (record, 4 px)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 (record)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floor; lock-in C4 = 5.3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– 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 actuators resolved with margin; ±1 px = ±0.1 pitch registration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0.25–1 Mpx, ~0.5 Gb/s; per-pixel solve ∝ pixels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✓ 1k²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✓ two images per pol.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 9.4; C4M 10.6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gauge gain; read noise per sample ↑ (binning restores it)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Mpx, 2–5 Gb/s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class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GS 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25653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Measured vs inferred:</a:t>
            </a:r>
            <a:r>
              <a:rPr sz="1500" b="0">
                <a:solidFill>
                  <a:srgbClr val="282828"/>
                </a:solidFill>
                <a:latin typeface="Arial"/>
              </a:rPr>
              <a:t> every record is at 3.3–4 px per actuator (the IFO's mirror-rig image, distorted by more than a pitch at the edge, reads to 2 pm there); the collapse band is the blur demo's; the 5–20 rows follow from the well-bound photon rule and the data rates.  </a:t>
            </a:r>
            <a:r>
              <a:rPr sz="1500" b="1">
                <a:solidFill>
                  <a:srgbClr val="282828"/>
                </a:solidFill>
                <a:latin typeface="Arial"/>
              </a:rPr>
              <a:t>A per-gauge sweep at 1, 1.5, 2, 4 px per actuator is a one-day format run — the item that turns this table into records.</a:t>
            </a:r>
            <a:r>
              <a:rPr sz="1500" b="0">
                <a:solidFill>
                  <a:srgbClr val="282828"/>
                </a:solidFill>
                <a:latin typeface="Arial"/>
              </a:rPr>
              <a:t>  Where the three differ: the IFO and HET read against a reference and are indifferent above 2; the vector ZWFS solves pixel by pixel from two images, wants ≥ 4, and pays processing for more; the lock-in fixes HET's sampling at the device (5.3 / 10.6) with the processing on-chip.  Regularization and calibration do not change with pixel count above 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1668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Blur demo (pupil_blur_demo, REPORT_pupil_blur); gauge deck (IFO, vZWFS); stages noise and format (HET); ruling 6 (2026-10-11).  Data rates: pixels × 16 bit × frame rate.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deck poses this comparison; on our bench the answer is photons and time: the vector Zernike holds 3 pm from 2 × 10¹² photons per cycle, COPHI with Feng's camera from ~1 × 10¹⁴ — and COPHI with a lock-in camera reaches a picometer faster than any of them, captures from cold, and reads absolutely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1606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5624"/>
                <a:gridCol w="1840919"/>
                <a:gridCol w="1937809"/>
                <a:gridCol w="1162685"/>
                <a:gridCol w="4101696"/>
              </a:tblGrid>
              <a:tr h="65722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Zernike (dedicated laser, polarization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 (1k², 60 ke, 30 fps)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Photonfocus (200 ke, 150 fps)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cycle to hold 3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× 10¹² (gauge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(120 readings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(60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~130 samples at the well-capped rate (≈ 9 × 10¹² e⁻ per cycle: 2.8 × 10⁵ elements × 250 ke per sample × 130) — loop run pending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time per 3 pm hold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s class (one frame; gauge deck)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~0.13 s (derived; loop run pending)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cut withdrawn (TO's rerun pending)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3.4 / 4.0 (read 0 / 100; ×1.11 for square-wave demodulation)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no: the reference ages past 36–70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yes: two colors, one 0.27 s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yes: two colors on alternate I/Q samples (2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absolute read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needs the reference iterated or a matrix re-measured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 (slope 1.000000) through the LO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its own stabilities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beyond the bench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phase 0.39 nm per frame; LO pointing 10 prad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pointing the same; fiber walk a piston per sample — inert (to be confirmed by the loop)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electronics it adds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RF chain, fiber LO, two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kHz; demodulation on-chip; I/Q data at 1 kHz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resolution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pixel-by-pixel from two images, wants ≥ 4 px per actuator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 px per actuator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60539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For hold alone,</a:t>
            </a:r>
            <a:r>
              <a:rPr sz="1500" b="0">
                <a:solidFill>
                  <a:srgbClr val="282828"/>
                </a:solidFill>
                <a:latin typeface="Arial"/>
              </a:rPr>
              <a:t> the vector Zernike sensor is the cheapest in photons by ~50× and needs no stabilities of its own; Feng's camera makes COPHI slow (16 s cycles); the Photonfocus makes it comparable (1.6 s); </a:t>
            </a:r>
            <a:r>
              <a:rPr sz="1500" b="1">
                <a:solidFill>
                  <a:srgbClr val="282828"/>
                </a:solidFill>
                <a:latin typeface="Arial"/>
              </a:rPr>
              <a:t>the lock-in makes COPHI the fastest reading on the table</a:t>
            </a:r>
            <a:r>
              <a:rPr sz="1500" b="0">
                <a:solidFill>
                  <a:srgbClr val="282828"/>
                </a:solidFill>
                <a:latin typeface="Arial"/>
              </a:rPr>
              <a:t> (0.13 s cycles, 3.4 s per pm) — if its well behaves as surveyed, and with the fiber term reduced to a piston.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For capture and the absolute figure,</a:t>
            </a:r>
            <a:r>
              <a:rPr sz="1500" b="0">
                <a:solidFill>
                  <a:srgbClr val="282828"/>
                </a:solidFill>
                <a:latin typeface="Arial"/>
              </a:rPr>
              <a:t> COPHI in either form: a reference that does not depend on the surface, two colors for 480 nm rms in one reading.  </a:t>
            </a:r>
            <a:r>
              <a:rPr sz="1500" b="1">
                <a:solidFill>
                  <a:srgbClr val="282828"/>
                </a:solidFill>
                <a:latin typeface="Arial"/>
              </a:rPr>
              <a:t>What decides it for a flight DM:</a:t>
            </a:r>
            <a:r>
              <a:rPr sz="1500" b="0">
                <a:solidFill>
                  <a:srgbClr val="282828"/>
                </a:solidFill>
                <a:latin typeface="Arial"/>
              </a:rPr>
              <a:t> hold only → the Zernike sensor; hold + capture + absolute → COPHI, and with the lock-in camera it is also the fastest; </a:t>
            </a:r>
            <a:r>
              <a:rPr sz="1500" b="1">
                <a:solidFill>
                  <a:srgbClr val="282828"/>
                </a:solidFill>
                <a:latin typeface="Arial"/>
              </a:rPr>
              <a:t>the hybrid Feng's purpose suggests</a:t>
            </a:r>
            <a:r>
              <a:rPr sz="1500" b="0">
                <a:solidFill>
                  <a:srgbClr val="282828"/>
                </a:solidFill>
                <a:latin typeface="Arial"/>
              </a:rPr>
              <a:t> — a Zernike sensor for the hold, COPHI's two-color read for capture and commissioning — remains the conservative answer until the lock-in's vendor numbers are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9151239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Zernike rows are the gauge deck's (redo96_*sens, zloop; the polarization-camera timing a first cut, TO's noise-hook run pending); the COPHI rows this deck's; the lock-in's loop / capture rows derived from the format stage until TO's runs land.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Recommendations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is a credible fifth gauge: it matches the IFO's floor, reads exactly, and captures from cold in one reading; its cost is the fiber and the LO, and its speed is the camera's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Score it in the composite deck</a:t>
            </a:r>
            <a:r>
              <a:rPr sz="1200" b="0">
                <a:solidFill>
                  <a:srgbClr val="282828"/>
                </a:solidFill>
                <a:latin typeface="Arial"/>
              </a:rPr>
              <a:t> as the fifth column, with the converged estimator for every gauge and the piston-free photon metric (both found here, both apply to the record).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Price the plain splitter</a:t>
            </a:r>
            <a:r>
              <a:rPr sz="1200" b="0">
                <a:solidFill>
                  <a:srgbClr val="282828"/>
                </a:solidFill>
                <a:latin typeface="Arial"/>
              </a:rPr>
              <a:t> (Feng's layout); the record's polarizing train costs ×1.5 of laser and nothing else.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s); verify the survey against the vendor sheets before a part is named.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 camera is the fast form</a:t>
            </a:r>
            <a:r>
              <a:rPr sz="1200" b="0">
                <a:solidFill>
                  <a:srgbClr val="282828"/>
                </a:solidFill>
                <a:latin typeface="Arial"/>
              </a:rPr>
              <a:t> (1.1 s per pm as surveyed) — one vendor question from a number.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 from the start:</a:t>
            </a:r>
            <a:r>
              <a:rPr sz="1200" b="0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Open in the record: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lens rig's +0.1–0.2 % converged gain (a matrix-model term); the per-gauge resolution sweep (slide 16); the polarization-camera timings through the noise hook (slide 15).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next: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chromatic refocus of the tail at Δλ = 20 nm (dispersive glass in the model); the LO referenced against the test arm's own flat; the electronics table's parts counts and TRL for all five gauges; Kent's ZWFS reconstruction when it arrives.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0022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to develop: what, why, how, how long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items, each a requirement this deck put a number on; durations are estimates for a bench team with the parts in hand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45091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2746659"/>
                <a:gridCol w="2117216"/>
                <a:gridCol w="4234432"/>
                <a:gridCol w="743886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 (the number)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 long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Fiber phase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two PM fibers' differential OPD held to 0.39 nm per 33 ms frame (~12 nm/s; ~1.2 mK/s per m of uncommon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term the four-step cannot cancel: 66 pm per 0.01 rad/frame; 3× the budget doubles the hold floor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 first: one coupler, co-routed in one jacket, &lt; 1 m uncommon, one thermal mount; then a pickoff between the fiber ends and a stretcher servo (SIM-MET style); the lock-in's 1 ms frame relaxes the per-frame budget 30×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passive: weeks; servo: 2–4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LO pointing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 collimator's tilt held to ~10 prad per cycle (~10 pm of fiber-tip motion), or measured and removed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loop reads LO drift as DM drift one-for-one: 0.1 nrad per cycle = 29 pm of hold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monolithic collimator mount on the splitter block, thermally tied; or a referenced LO: a quad cell on an LO pickoff, or a flat on the DM mount read by the same frames (the next model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mount: weeks; referenced LO: 1–2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Lock-in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heliCam C4 at a 5 kHz beat on the record bench; per-pixel phase noise vs flux 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~12× the Photonfocus's speed as surveyed (3.4 s per pm); the well-free question is the next factor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vendor question (phase noise vs flux at t_c 100 ms; what the well bounds); a loaner on the bench, reading class H unchanged; format re-run on measured numbers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question: days; bench: 1–3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Two-color source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2 (ECDL at 633 ± 20 nm, or a 1.3 µm telecom tunable), 2 AOMs + drivers, 2 synthesizers, 2 WDM combiners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 in one 0.27 s reading, zero wrong orders to 480 nm rms; temporal unwrapping cannot start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633: an ECDL (costly, a few nm); 1.3 µm: cheap PM-native tunables but an InGaAs camera and a refocused tail — model the 1.3 µm stage first, then choose the 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model: 2–3 weeks; hardware: 3–6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Chromatic refocus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dispersive glass in the model (today n = 1.5 fixed); the ~0.5 mm focuser travel at Δλ = 20 nm traced; its effect on the pupil image and the null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caveat on the capture result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in the engine (GlassElt=): re-emit the lens rig with real glass, re-trace at λ₂, re-run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1–2 weeks (model)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5388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Numbers from stages noise and loop (1–2), format and the survey (3), capture (4–5).  "How long" is an engineering estimate, not a record.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N-frame algebra, and ours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Feng: I = I₀(1 + γ cos(φ + 2πf_h t)), α_k = 0, π/2, π, 3π/2; φ = atan2(I₄ − I₂, I₁ − I₃).  N frames: the linear least squares for (I₀, I₀γ cos φ, I₀γ sin φ).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detector survey, and its caveats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Web surveys, every number sourced, none verified by us; the rows the deck uses and the question each needs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868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4757169"/>
                <a:gridCol w="457651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1–250 kHz, 500 ke⁻, 2 × 10-bit I/Q, external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noise; whether the well bounds the internal sample or the output; price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3135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tags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in this deck, where it came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9889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3813850"/>
                <a:gridCol w="6028344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format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runs/format_lens_plain; corrected by runs/lockin_noise_oap_med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lock-in class: 3.4 s per pm well-capped (the format stage's 1.1 counted four wells per sample)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43369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