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 Bench Sensor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same scoring:</a:t>
            </a:r>
            <a:r>
              <a:rPr sz="1200" b="0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507492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2103120"/>
            <a:ext cx="4343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4977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1828"/>
                <a:gridCol w="1533107"/>
                <a:gridCol w="6094103"/>
                <a:gridCol w="2069695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14–15)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424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we care about (EFC probes included) is commanded at full actuator resolution.  So the second implementation is a per-pixel demodulating reading at ≥ 1 element per actuator,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photocurrent is multiplied by the beat reference and by its 90°-shifted copy, and integrated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two stores are I = I₀γ cos φ (in-phase) and Q = I₀γ sin φ (quadrature) — not intensities; φ = atan2(Q, I)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DC term never reaches the well; thousands of cycles integrate on-chip; I and Q leave at the frame rate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 pixels, lock-in at 1–250 kHz, 500 ke⁻ well, 2 × 10-bit I/Q, external reference input; four generations shipped, one vendor.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also ranked: 128² CMOS at 20–40 kfps; time-of-flight demodulators with the beat at MHz; digital-pixel ROICs (Lincoln DFPA); coherent photonic arrays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not fit: SPAD and Geiger-mode arrays (count-rate ceilings)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4535"/>
                <a:gridCol w="720878"/>
                <a:gridCol w="3069546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093208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a well-free device (continuous, or I/Q ≥ 10 kHz) at 2.5 × 10⁹ e⁻/s per element: ~18 pm per sample, ~0.34 s per pm — 10× better again; that is what the vendor question decides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vendor question:</a:t>
            </a:r>
            <a:r>
              <a:rPr sz="1500" b="0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phase is kept (referred to the bucket center ᾱ_k); the amplitude shrinks by sinc(π/4) = </a:t>
            </a:r>
            <a:r>
              <a:rPr sz="1050" b="1">
                <a:solidFill>
                  <a:srgbClr val="6E6E6E"/>
                </a:solidFill>
                <a:latin typeface="Arial"/>
              </a:rPr>
              <a:t>0.900</a:t>
            </a:r>
            <a:r>
              <a:rPr sz="1050" b="0">
                <a:solidFill>
                  <a:srgbClr val="6E6E6E"/>
                </a:solidFill>
                <a:latin typeface="Arial"/>
              </a:rPr>
              <a:t>; nothing else changes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Phase (3):</a:t>
            </a:r>
            <a:r>
              <a:rPr sz="1200" b="0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for N = 4 it is Feng's atan2 exactly (his sign is for cos(φ + 2πft))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more buckets do not cure it: an 8-bucket fit with the same step error is 1.43× worse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knowing the steps does: the fit at the true ᾱ_k is exact, and a Rb-clocked scan knows them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fiber walk or trigger jitter within a scan passes through at 0.13 of its size, with 4 or 8 buckets alike — no algorithmic cure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229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fiber tip and collimator,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4904" y="1298448"/>
            <a:ext cx="4399591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 collimator's own wavefront, frozen into the null as the IFO freezes its reference; its motion is the LO-drift row (slide 13)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for any traced LO: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geometric tail places the detector field by ray index, not camera position: per-index null 681 nm, by position 0.45 nm — the LO is placed by position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plain mirror train had kept a source trim solved with the polarizer plate; without it OAP1 was fed off focus (84 nm of defocus) — now trimmed to zero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and Feng's plain splitter read the same picometers (the camera is well-bound); the polarizing train costs light only (throughput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60781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every real camera on the table samples finer (5–21 px per actuator, slide 10); what resolution buys and costs is slide 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659373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4888"/>
                <a:gridCol w="1313974"/>
                <a:gridCol w="1771009"/>
                <a:gridCol w="1771009"/>
                <a:gridCol w="3027854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sz="1500" b="0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below ~1.5 px per actuator the actuator fit collapses (the blur demo's box kernel) — 5 px per actuator is the floor on this table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nothing coarser is modeled (ruling: every mode of interest is commanded at full actuator resolution)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83450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68734" cy="28003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5461"/>
                <a:gridCol w="2682278"/>
                <a:gridCol w="2325624"/>
                <a:gridCol w="3295371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13537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59382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3205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1460"/>
                <a:gridCol w="1010520"/>
                <a:gridCol w="868693"/>
                <a:gridCol w="407754"/>
                <a:gridCol w="957335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76529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raw single-actuator noise is mostly a common piston (165 vs 76 pm) — unobservable and inert on a DM; the composite deck puts every gauge on this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baseline's and the C-RED's read noise are assumed (not in Feng's deck; the survey's value unconfirmed)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 hold loop never needs SNR 10 in one measurement: it integrates readings (next slide)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36194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29027"/>
                <a:gridCol w="32774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sz="1050" b="0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budget at the photon floor (mirror rig): </a:t>
            </a:r>
            <a:r>
              <a:rPr sz="1050" b="1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sz="1050" b="0">
                <a:solidFill>
                  <a:srgbClr val="6E6E6E"/>
                </a:solidFill>
                <a:latin typeface="Arial"/>
              </a:rPr>
              <a:t> — co-routed, thermally tied, or servoed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with the lock-in camera the walk is a per-sample piston: inert (record)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the loop averages across cycles at gain g (steady state σ_n √(g/(2 − g)), plus M readings per cycle); in the loop the one-step and converged estimators agree to 0.1 pm on every row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91680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sz="1050" b="0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any Δλ from 1 to ~100 nm works (the fine requirement at Δλ = 20 nm is 1.7 nm against ~0.1 nm per pixel): one rung of the synthetic-wavelength ladder is enough here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0418"/>
                <a:gridCol w="2001883"/>
                <a:gridCol w="2432669"/>
                <a:gridCol w="1216334"/>
                <a:gridCol w="1799161"/>
                <a:gridCol w="239826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Camera timings: TO's records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</a:p>
          <a:p>
            <a:pPr marL="594360" indent="-137160">
              <a:spcAft>
                <a:spcPts val="5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–  </a:t>
            </a:r>
            <a:r>
              <a:rPr sz="1300" b="1">
                <a:solidFill>
                  <a:srgbClr val="6E6E6E"/>
                </a:solidFill>
                <a:latin typeface="Arial"/>
              </a:rPr>
              <a:t>a per-gauge sweep at 1, 1.5, 2 and 4 px per actuator is a one-day format run — the item that turns this table into records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sz="1500" b="0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015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0347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7692"/>
                <a:gridCol w="4370487"/>
                <a:gridCol w="1268851"/>
                <a:gridCol w="1817116"/>
                <a:gridCol w="1804588"/>
              </a:tblGrid>
              <a:tr h="468630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25780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sz="1100" b="0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sz="1100" b="1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sz="1100" b="0">
                <a:solidFill>
                  <a:srgbClr val="282828"/>
                </a:solidFill>
                <a:latin typeface="Arial"/>
              </a:rPr>
              <a:t> if its well is as surveyed.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sz="1100" b="0">
                <a:solidFill>
                  <a:srgbClr val="282828"/>
                </a:solidFill>
                <a:latin typeface="Arial"/>
              </a:rPr>
              <a:t> COPHI in either form.</a:t>
            </a:r>
          </a:p>
          <a:p>
            <a:pPr>
              <a:spcAft>
                <a:spcPts val="600"/>
              </a:spcAft>
            </a:pPr>
            <a:r>
              <a:rPr sz="1100" b="0">
                <a:solidFill>
                  <a:srgbClr val="282828"/>
                </a:solidFill>
                <a:latin typeface="Arial"/>
              </a:rPr>
              <a:t>•  </a:t>
            </a:r>
            <a:r>
              <a:rPr sz="1100" b="1">
                <a:solidFill>
                  <a:srgbClr val="282828"/>
                </a:solidFill>
                <a:latin typeface="Arial"/>
              </a:rPr>
              <a:t>For a flight DM:</a:t>
            </a:r>
            <a:r>
              <a:rPr sz="1100" b="0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sz="1100" b="1">
                <a:solidFill>
                  <a:srgbClr val="282828"/>
                </a:solidFill>
                <a:latin typeface="Arial"/>
              </a:rPr>
              <a:t>The hybrid</a:t>
            </a:r>
            <a:r>
              <a:rPr sz="1100" b="0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986270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s).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verify the survey against the vendor sheets before a part is named</a:t>
            </a:r>
          </a:p>
          <a:p>
            <a:pPr marL="594360" indent="-137160"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–  </a:t>
            </a:r>
            <a:r>
              <a:rPr sz="1050" b="1">
                <a:solidFill>
                  <a:srgbClr val="6E6E6E"/>
                </a:solidFill>
                <a:latin typeface="Arial"/>
              </a:rPr>
              <a:t>the lock-in camera is the fast form</a:t>
            </a:r>
            <a:r>
              <a:rPr sz="1050" b="0">
                <a:solidFill>
                  <a:srgbClr val="6E6E6E"/>
                </a:solidFill>
                <a:latin typeface="Arial"/>
              </a:rPr>
              <a:t> (3.4 s per pm as surveyed, 0.125 s cycles) — one vendor question from a number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17); the polarization-camera timings through the noise hook (slide 16).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2635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426842"/>
                <a:gridCol w="1870691"/>
                <a:gridCol w="4887391"/>
                <a:gridCol w="65726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082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3457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4975"/>
                <a:gridCol w="4340789"/>
                <a:gridCol w="533297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90232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