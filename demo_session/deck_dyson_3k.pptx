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Spectrometer Design Challenge</a:t>
            </a:r>
          </a:p>
          <a:p>
            <a:pPr>
              <a:spcAft>
                <a:spcPts val="1400"/>
              </a:spcAft>
            </a:pPr>
            <a:r>
              <a:rPr sz="2200" b="0">
                <a:solidFill>
                  <a:srgbClr val="282828"/>
                </a:solidFill>
                <a:latin typeface="Arial"/>
              </a:rPr>
              <a:t>A VSWIR imaging spectrometer for a 180 km swath at 30 m pixels, designed end to end by ray trace: a Dyson spectrometer and a freeform three-mirror telescope per module, two module sizes, both at the pixel — smile 0.02, CRF 1.2 px, 0.85–0.97 of the energy in one pixel — and the telescope design flow made a reusable template.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challenge was posed by Joe Green and Jim McGuire (JPL) as a test of MACOS and its design layer; this is its second round.  The first (2026-10-06) brought the spectrometers to the pixel and left the larger telescope short; their answers and the project's published design set this round's course.</a:t>
            </a:r>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challenge and the approach;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specification, and how a design is scored against it</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The challenge: two module sizes, a spectrometer and a telescope in each</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3k telescope solution provides a template; the template run on the 1.5k</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optimization "ladder" was set: six rungs,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end to end: the specification read two ways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speed of the light at the slit: the specification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Spectrometer tolerances,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specification, and how a design is scored against it</a:t>
            </a:r>
          </a:p>
          <a:p>
            <a:pPr>
              <a:spcAft>
                <a:spcPts val="0"/>
              </a:spcAft>
            </a:pPr>
            <a:r>
              <a:rPr sz="1250" b="0">
                <a:solidFill>
                  <a:srgbClr val="6E6E6E"/>
                </a:solidFill>
                <a:latin typeface="Arial"/>
              </a:rPr>
              <a:t>The challenge's numbers beside a published design (the SBG VSWIR paper), in common terms (micrometers at the detector)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589145"/>
        </p:xfrm>
        <a:graphic>
          <a:graphicData uri="http://schemas.openxmlformats.org/drawingml/2006/table">
            <a:tbl>
              <a:tblPr firstRow="1" bandRow="1">
                <a:tableStyleId>{5C22544A-7EE6-4342-B048-85BDC9FD1C3A}</a:tableStyleId>
              </a:tblPr>
              <a:tblGrid>
                <a:gridCol w="1512945"/>
                <a:gridCol w="1512945"/>
                <a:gridCol w="2780548"/>
              </a:tblGrid>
              <a:tr h="468630">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the challenge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468630">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(the 3k module); 4.7° (the 1.5k)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challenge: two module sizes, a spectrometer and a telescope in each</a:t>
            </a:r>
          </a:p>
          <a:p>
            <a:pPr>
              <a:spcAft>
                <a:spcPts val="0"/>
              </a:spcAft>
            </a:pPr>
            <a:r>
              <a:rPr sz="1250" b="0">
                <a:solidFill>
                  <a:srgbClr val="6E6E6E"/>
                </a:solidFill>
                <a:latin typeface="Arial"/>
              </a:rPr>
              <a:t>6000 cross-track pixels over a 180 km swath, 380–2500 nm, F/1.8, at the pixel in smile, keystone and response width; two 3k modules or four 1.5k; every number a MACOS ray trace of a committed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instrument:</a:t>
            </a:r>
            <a:r>
              <a:rPr sz="1200" b="0">
                <a:solidFill>
                  <a:srgbClr val="282828"/>
                </a:solidFill>
                <a:latin typeface="Arial"/>
              </a:rPr>
              <a:t> a push-broom imaging spectrometer — a straight slit imaged on the ground, swept along the track; the spectrometer disperses the slit across a 500-pixel band at 18 µm pixels.  The challenge fixes F/1.8, a 330 mm focal length, a 183 mm aperture, and the image-quality bounds of slide 3.</a:t>
            </a:r>
          </a:p>
          <a:p>
            <a:pPr>
              <a:spcAft>
                <a:spcPts val="600"/>
              </a:spcAft>
            </a:pPr>
            <a:r>
              <a:rPr sz="1200" b="0">
                <a:solidFill>
                  <a:srgbClr val="282828"/>
                </a:solidFill>
                <a:latin typeface="Arial"/>
              </a:rPr>
              <a:t>•  </a:t>
            </a:r>
            <a:r>
              <a:rPr sz="1200" b="1">
                <a:solidFill>
                  <a:srgbClr val="282828"/>
                </a:solidFill>
                <a:latin typeface="Arial"/>
              </a:rPr>
              <a:t>The two module sizes.</a:t>
            </a:r>
            <a:r>
              <a:rPr sz="1200" b="0">
                <a:solidFill>
                  <a:srgbClr val="282828"/>
                </a:solidFill>
                <a:latin typeface="Arial"/>
              </a:rPr>
              <a:t>  A </a:t>
            </a:r>
            <a:r>
              <a:rPr sz="1200" b="1">
                <a:solidFill>
                  <a:srgbClr val="282828"/>
                </a:solidFill>
                <a:latin typeface="Arial"/>
              </a:rPr>
              <a:t>3k module</a:t>
            </a:r>
            <a:r>
              <a:rPr sz="1200" b="0">
                <a:solidFill>
                  <a:srgbClr val="282828"/>
                </a:solidFill>
                <a:latin typeface="Arial"/>
              </a:rPr>
              <a:t> has a 3000-pixel, 54 mm slit and needs a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block; two of them cover the swath.  A </a:t>
            </a:r>
            <a:r>
              <a:rPr sz="1200" b="1">
                <a:solidFill>
                  <a:srgbClr val="282828"/>
                </a:solidFill>
                <a:latin typeface="Arial"/>
              </a:rPr>
              <a:t>1.5k module</a:t>
            </a:r>
            <a:r>
              <a:rPr sz="1200" b="0">
                <a:solidFill>
                  <a:srgbClr val="282828"/>
                </a:solidFill>
                <a:latin typeface="Arial"/>
              </a:rPr>
              <a:t> has a 1500-pixel, 27 mm slit and a 130 mm fused-silica block; four are needed.  Which to build is the trade the challenge asks for.</a:t>
            </a:r>
          </a:p>
          <a:p>
            <a:pPr>
              <a:spcAft>
                <a:spcPts val="600"/>
              </a:spcAft>
            </a:pPr>
            <a:r>
              <a:rPr sz="1200" b="0">
                <a:solidFill>
                  <a:srgbClr val="282828"/>
                </a:solidFill>
                <a:latin typeface="Arial"/>
              </a:rPr>
              <a:t>•  </a:t>
            </a:r>
            <a:r>
              <a:rPr sz="1200" b="1">
                <a:solidFill>
                  <a:srgbClr val="282828"/>
                </a:solidFill>
                <a:latin typeface="Arial"/>
              </a:rPr>
              <a:t>Each module is a Dyson spectrometer and a telescope.</a:t>
            </a:r>
            <a:r>
              <a:rPr sz="1200" b="0">
                <a:solidFill>
                  <a:srgbClr val="282828"/>
                </a:solidFill>
                <a:latin typeface="Arial"/>
              </a:rPr>
              <a:t>  The Dyson (a concentric block with a concave grating on its curved face) was designed first and brought to the pixel in the first round; the telescope images a strip of sky onto the slit, telecentric there, with no marginal ray faster than the spectrometer accepts.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Where the first round left it (2026-10-06):</a:t>
            </a:r>
            <a:r>
              <a:rPr sz="1200" b="0">
                <a:solidFill>
                  <a:srgbClr val="282828"/>
                </a:solidFill>
                <a:latin typeface="Arial"/>
              </a:rPr>
              <a:t> both Dysons at the pixel; the 1.5k telescope (three off-axis aspheres) near it; the 3k telescope not — CRF 4 px, 4–10 % of the energy in a pixel, marginal rays at F/1.2 into an F/1.8 spectrometer.</a:t>
            </a:r>
          </a:p>
          <a:p>
            <a:pPr>
              <a:spcAft>
                <a:spcPts val="600"/>
              </a:spcAft>
            </a:pPr>
            <a:r>
              <a:rPr sz="1200" b="0">
                <a:solidFill>
                  <a:srgbClr val="282828"/>
                </a:solidFill>
                <a:latin typeface="Arial"/>
              </a:rPr>
              <a:t>•  </a:t>
            </a:r>
            <a:r>
              <a:rPr sz="1200" b="1">
                <a:solidFill>
                  <a:srgbClr val="282828"/>
                </a:solidFill>
                <a:latin typeface="Arial"/>
              </a:rPr>
              <a:t>The answers that set this round's course:</a:t>
            </a:r>
            <a:r>
              <a:rPr sz="1200" b="0">
                <a:solidFill>
                  <a:srgbClr val="282828"/>
                </a:solidFill>
                <a:latin typeface="Arial"/>
              </a:rPr>
              <a:t> two modules, not four — integration, test and calibration are the cost, not mass or glass, and 3k × 0.5k detectors are a standard format where 1.5k × 0.5k is not; design the telescope separately, telecentric at the slit, a little faster than the spectrometer, no F/1.2 rays; the detector window is an order-sorting filter in air; tailor the coatings and the grating's blaze to the photon-starved long end.</a:t>
            </a:r>
          </a:p>
          <a:p>
            <a:pPr>
              <a:spcAft>
                <a:spcPts val="600"/>
              </a:spcAft>
            </a:pPr>
            <a:r>
              <a:rPr sz="1200" b="0">
                <a:solidFill>
                  <a:srgbClr val="282828"/>
                </a:solidFill>
                <a:latin typeface="Arial"/>
              </a:rPr>
              <a:t>•  </a:t>
            </a:r>
            <a:r>
              <a:rPr sz="1200" b="1">
                <a:solidFill>
                  <a:srgbClr val="282828"/>
                </a:solidFill>
                <a:latin typeface="Arial"/>
              </a:rPr>
              <a:t>The project's published design</a:t>
            </a:r>
            <a:r>
              <a:rPr sz="1200" b="0">
                <a:solidFill>
                  <a:srgbClr val="282828"/>
                </a:solidFill>
                <a:latin typeface="Arial"/>
              </a:rPr>
              <a:t> (Bradley et al., ICSO 2024): a freeform zig-zag three-mirror telescope at f 345 mm, 192 mm, 8.9°, with a small convex M2 at the stop and no intermediate focus, optimized alone for small spots along the slit; a Dyson with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and a conic grating (their Option B); its bounds in micrometers (smile and keystone 1.8 µm; SRF 64.8 µm; CRF and ARF 50.4 µm).</a:t>
            </a:r>
          </a:p>
        </p:txBody>
      </p:sp>
      <p:sp>
        <p:nvSpPr>
          <p:cNvPr id="6" name="TextBox 5"/>
          <p:cNvSpPr txBox="1"/>
          <p:nvPr/>
        </p:nvSpPr>
        <p:spPr>
          <a:xfrm>
            <a:off x="6400800" y="5123687"/>
            <a:ext cx="5394960" cy="274320"/>
          </a:xfrm>
          <a:prstGeom prst="rect">
            <a:avLst/>
          </a:prstGeom>
          <a:noFill/>
        </p:spPr>
        <p:txBody>
          <a:bodyPr wrap="square">
            <a:spAutoFit/>
          </a:bodyPr>
          <a:lstStyle/>
          <a:p>
            <a:pPr>
              <a:spcAft>
                <a:spcPts val="600"/>
              </a:spcAft>
            </a:pPr>
            <a:r>
              <a:rPr sz="1050" b="0">
                <a:solidFill>
                  <a:srgbClr val="6E6E6E"/>
                </a:solidFill>
                <a:latin typeface="Arial"/>
              </a:rPr>
              <a:t>The challenge and the first-round answers are recorded in BRIEF_to_dyson5.md (addenda 47–49); the first round's deck is deck_dyson_record (the spectrometers' design record).  The paper: Tables 1–3, Figs. 1 and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telescope solution provides a template; the template run on the 1.5k</a:t>
            </a:r>
          </a:p>
          <a:p>
            <a:pPr>
              <a:spcAft>
                <a:spcPts val="0"/>
              </a:spcAft>
            </a:pPr>
            <a:r>
              <a:rPr sz="1250" b="0">
                <a:solidFill>
                  <a:srgbClr val="6E6E6E"/>
                </a:solidFill>
                <a:latin typeface="Arial"/>
              </a:rPr>
              <a:t>The published form became a parameterized design flow whose default run is the 3k module; at the 1.5k spec it reached the pixel in five rungs with one new row; the slides that follow are those two runs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3k telescope (slides 8–14)</a:t>
            </a:r>
          </a:p>
          <a:p>
            <a:pPr marL="594360" indent="-137160">
              <a:spcAft>
                <a:spcPts val="500"/>
              </a:spcAft>
            </a:pPr>
            <a:r>
              <a:rPr sz="1050" b="0">
                <a:solidFill>
                  <a:srgbClr val="6E6E6E"/>
                </a:solidFill>
                <a:latin typeface="Arial"/>
              </a:rPr>
              <a:t>–  seed: the published layout, scaled to f 330 mm</a:t>
            </a:r>
          </a:p>
          <a:p>
            <a:pPr marL="594360" indent="-137160">
              <a:spcAft>
                <a:spcPts val="500"/>
              </a:spcAft>
            </a:pPr>
            <a:r>
              <a:rPr sz="1050" b="0">
                <a:solidFill>
                  <a:srgbClr val="6E6E6E"/>
                </a:solidFill>
                <a:latin typeface="Arial"/>
              </a:rPr>
              <a:t>–  first order: telecentric in closed form, the stop at M2, no intermediate focus</a:t>
            </a:r>
          </a:p>
          <a:p>
            <a:pPr marL="594360" indent="-137160">
              <a:spcAft>
                <a:spcPts val="500"/>
              </a:spcAft>
            </a:pPr>
            <a:r>
              <a:rPr sz="1050" b="0">
                <a:solidFill>
                  <a:srgbClr val="6E6E6E"/>
                </a:solidFill>
                <a:latin typeface="Arial"/>
              </a:rPr>
              <a:t>–  three off-axis conic sections carry it; a degree 3–6 polynomial on each mirror brings every field to a 1.02-pixel spot with the speed bounded</a:t>
            </a:r>
          </a:p>
          <a:p>
            <a:pPr marL="594360" indent="-137160">
              <a:spcAft>
                <a:spcPts val="500"/>
              </a:spcAft>
            </a:pPr>
            <a:r>
              <a:rPr sz="1050" b="0">
                <a:solidFill>
                  <a:srgbClr val="6E6E6E"/>
                </a:solidFill>
                <a:latin typeface="Arial"/>
              </a:rPr>
              <a:t>–  joined to the 240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Dyson: at the pixel end to end</a:t>
            </a:r>
          </a:p>
          <a:p>
            <a:pPr marL="594360" indent="-137160">
              <a:spcAft>
                <a:spcPts val="500"/>
              </a:spcAft>
            </a:pPr>
            <a:r>
              <a:rPr sz="1050" b="0">
                <a:solidFill>
                  <a:srgbClr val="6E6E6E"/>
                </a:solidFill>
                <a:latin typeface="Arial"/>
              </a:rPr>
              <a:t>–  six rungs set the weights and rows the flow now carries; the last 0.1 px of "smile" was the scorer's convention, not the optics</a:t>
            </a:r>
          </a:p>
          <a:p>
            <a:pPr>
              <a:spcAft>
                <a:spcPts val="600"/>
              </a:spcAft>
            </a:pPr>
            <a:r>
              <a:rPr sz="1200" b="0">
                <a:solidFill>
                  <a:srgbClr val="282828"/>
                </a:solidFill>
                <a:latin typeface="Arial"/>
              </a:rPr>
              <a:t>•  </a:t>
            </a:r>
            <a:r>
              <a:rPr sz="1200" b="1">
                <a:solidFill>
                  <a:srgbClr val="282828"/>
                </a:solidFill>
                <a:latin typeface="Arial"/>
              </a:rPr>
              <a:t>Made a template</a:t>
            </a:r>
            <a:r>
              <a:rPr sz="1200" b="0">
                <a:solidFill>
                  <a:srgbClr val="282828"/>
                </a:solidFill>
                <a:latin typeface="Arial"/>
              </a:rPr>
              <a:t> (templates/10_telescopes/tma_longslit/)</a:t>
            </a:r>
          </a:p>
          <a:p>
            <a:pPr marL="594360" indent="-137160">
              <a:spcAft>
                <a:spcPts val="500"/>
              </a:spcAft>
            </a:pPr>
            <a:r>
              <a:rPr sz="1050" b="0">
                <a:solidFill>
                  <a:srgbClr val="6E6E6E"/>
                </a:solidFill>
                <a:latin typeface="Arial"/>
              </a:rPr>
              <a:t>–  one parameter file: spec, seed legs and angles, bounds, weights, field set, the ladder, the spectrometer to join</a:t>
            </a:r>
          </a:p>
          <a:p>
            <a:pPr marL="594360" indent="-137160">
              <a:spcAft>
                <a:spcPts val="500"/>
              </a:spcAft>
            </a:pPr>
            <a:r>
              <a:rPr sz="1050" b="0">
                <a:solidFill>
                  <a:srgbClr val="6E6E6E"/>
                </a:solidFill>
                <a:latin typeface="Arial"/>
              </a:rPr>
              <a:t>–  four stages: first_order → section → figure (the ladder of engine-traced solves) → e2e (joined, both launches)</a:t>
            </a:r>
          </a:p>
          <a:p>
            <a:pPr marL="594360" indent="-137160">
              <a:spcAft>
                <a:spcPts val="500"/>
              </a:spcAft>
            </a:pPr>
            <a:r>
              <a:rPr sz="1050" b="0">
                <a:solidFill>
                  <a:srgbClr val="6E6E6E"/>
                </a:solidFill>
                <a:latin typeface="Arial"/>
              </a:rPr>
              <a:t>–  each stage writes its table, record and prescription; a test re-scores the deck of record by name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constraints that make it a long-slit front end</a:t>
            </a:r>
          </a:p>
          <a:p>
            <a:pPr marL="594360" indent="-137160">
              <a:spcAft>
                <a:spcPts val="500"/>
              </a:spcAft>
            </a:pPr>
            <a:r>
              <a:rPr sz="1050" b="0">
                <a:solidFill>
                  <a:srgbClr val="6E6E6E"/>
                </a:solidFill>
                <a:latin typeface="Arial"/>
              </a:rPr>
              <a:t>–  spot size along the slit (weighted); plate scale</a:t>
            </a:r>
          </a:p>
          <a:p>
            <a:pPr marL="594360" indent="-137160">
              <a:spcAft>
                <a:spcPts val="500"/>
              </a:spcAft>
            </a:pPr>
            <a:r>
              <a:rPr sz="1050" b="0">
                <a:solidFill>
                  <a:srgbClr val="6E6E6E"/>
                </a:solidFill>
                <a:latin typeface="Arial"/>
              </a:rPr>
              <a:t>–  the chief ray's and the centroid's across-slit position</a:t>
            </a:r>
          </a:p>
          <a:p>
            <a:pPr marL="594360" indent="-137160">
              <a:spcAft>
                <a:spcPts val="500"/>
              </a:spcAft>
            </a:pPr>
            <a:r>
              <a:rPr sz="1050" b="0">
                <a:solidFill>
                  <a:srgbClr val="6E6E6E"/>
                </a:solidFill>
                <a:latin typeface="Arial"/>
              </a:rPr>
              <a:t>–  the chief ray's angle to the slit normal (telecentric)</a:t>
            </a:r>
          </a:p>
          <a:p>
            <a:pPr marL="594360" indent="-137160">
              <a:spcAft>
                <a:spcPts val="500"/>
              </a:spcAft>
            </a:pPr>
            <a:r>
              <a:rPr sz="1050" b="0">
                <a:solidFill>
                  <a:srgbClr val="6E6E6E"/>
                </a:solidFill>
                <a:latin typeface="Arial"/>
              </a:rPr>
              <a:t>–  a penalty on any marginal ray faster than the spectrometer accepts, along and across the slit</a:t>
            </a:r>
          </a:p>
          <a:p>
            <a:pPr marL="594360" indent="-137160">
              <a:spcAft>
                <a:spcPts val="500"/>
              </a:spcAft>
            </a:pPr>
            <a:r>
              <a:rPr sz="1050" b="0">
                <a:solidFill>
                  <a:srgbClr val="6E6E6E"/>
                </a:solidFill>
                <a:latin typeface="Arial"/>
              </a:rPr>
              <a:t>–  the chief − centroid offset at the slit; working distance; since the 1.5k run, a clearance wall</a:t>
            </a:r>
          </a:p>
          <a:p>
            <a:pPr marL="594360" indent="-137160">
              <a:spcAft>
                <a:spcPts val="500"/>
              </a:spcAft>
            </a:pPr>
            <a:r>
              <a:rPr sz="1050" b="0">
                <a:solidFill>
                  <a:srgbClr val="6E6E6E"/>
                </a:solidFill>
                <a:latin typeface="Arial"/>
              </a:rPr>
              <a:t>–  the first order is re-derived at every iterate, never penalized</a:t>
            </a:r>
          </a:p>
          <a:p>
            <a:pPr>
              <a:spcAft>
                <a:spcPts val="600"/>
              </a:spcAft>
            </a:pPr>
            <a:r>
              <a:rPr sz="1200" b="0">
                <a:solidFill>
                  <a:srgbClr val="282828"/>
                </a:solidFill>
                <a:latin typeface="Arial"/>
              </a:rPr>
              <a:t>•  </a:t>
            </a:r>
            <a:r>
              <a:rPr sz="1200" b="1">
                <a:solidFill>
                  <a:srgbClr val="282828"/>
                </a:solidFill>
                <a:latin typeface="Arial"/>
              </a:rPr>
              <a:t>The template on the 1.5k (slide 17)</a:t>
            </a:r>
          </a:p>
          <a:p>
            <a:pPr marL="594360" indent="-137160">
              <a:spcAft>
                <a:spcPts val="500"/>
              </a:spcAft>
            </a:pPr>
            <a:r>
              <a:rPr sz="1050" b="0">
                <a:solidFill>
                  <a:srgbClr val="6E6E6E"/>
                </a:solidFill>
                <a:latin typeface="Arial"/>
              </a:rPr>
              <a:t>–  same seed, rows and weights; strip ±2.35°, slit 27 mm; joined to the 130 mm silica Dyson</a:t>
            </a:r>
          </a:p>
          <a:p>
            <a:pPr marL="594360" indent="-137160">
              <a:spcAft>
                <a:spcPts val="500"/>
              </a:spcAft>
            </a:pPr>
            <a:r>
              <a:rPr sz="1050" b="0">
                <a:solidFill>
                  <a:srgbClr val="6E6E6E"/>
                </a:solidFill>
                <a:latin typeface="Arial"/>
              </a:rPr>
              <a:t>–  1.02 px at every field in five rungs</a:t>
            </a:r>
          </a:p>
          <a:p>
            <a:pPr marL="594360" indent="-137160">
              <a:spcAft>
                <a:spcPts val="500"/>
              </a:spcAft>
            </a:pPr>
            <a:r>
              <a:rPr sz="1050" b="0">
                <a:solidFill>
                  <a:srgbClr val="6E6E6E"/>
                </a:solidFill>
                <a:latin typeface="Arial"/>
              </a:rPr>
              <a:t>–  one deviation: the first rung at the floor put the M3 → slit beam 0.3 mm inside M2; a clearance wall bought +2.4 mm</a:t>
            </a:r>
          </a:p>
          <a:p>
            <a:pPr marL="594360" indent="-137160">
              <a:spcAft>
                <a:spcPts val="500"/>
              </a:spcAft>
            </a:pPr>
            <a:r>
              <a:rPr sz="1050" b="0">
                <a:solidFill>
                  <a:srgbClr val="6E6E6E"/>
                </a:solidFill>
                <a:latin typeface="Arial"/>
              </a:rPr>
              <a:t>–  end to end: smile 0.009, CRF 1.03, 0.97 of the energy in a pixel</a:t>
            </a:r>
          </a:p>
          <a:p>
            <a:pPr>
              <a:spcAft>
                <a:spcPts val="600"/>
              </a:spcAft>
            </a:pPr>
            <a:r>
              <a:rPr sz="1200" b="0">
                <a:solidFill>
                  <a:srgbClr val="282828"/>
                </a:solidFill>
                <a:latin typeface="Arial"/>
              </a:rPr>
              <a:t>•  </a:t>
            </a:r>
            <a:r>
              <a:rPr sz="1200" b="1">
                <a:solidFill>
                  <a:srgbClr val="282828"/>
                </a:solidFill>
                <a:latin typeface="Arial"/>
              </a:rPr>
              <a:t>Then (slides 15–18):</a:t>
            </a:r>
            <a:r>
              <a:rPr sz="1200" b="0">
                <a:solidFill>
                  <a:srgbClr val="282828"/>
                </a:solidFill>
                <a:latin typeface="Arial"/>
              </a:rPr>
              <a:t> the spectrometer toleranced and its Option B, throughput by band, the trade restated</a:t>
            </a:r>
          </a:p>
        </p:txBody>
      </p:sp>
      <p:sp>
        <p:nvSpPr>
          <p:cNvPr id="6" name="TextBox 5"/>
          <p:cNvSpPr txBox="1"/>
          <p:nvPr/>
        </p:nvSpPr>
        <p:spPr>
          <a:xfrm>
            <a:off x="6400800" y="625017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 REPORT_dyson5_cprime.md; the template README.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published layout digitized and scaled to the challenge's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the challenge's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challenge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 slit-limited</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optimization "ladder" was set: six rungs,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point-source placement on the slit</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7158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end to end: the specification read two ways</a:t>
            </a:r>
          </a:p>
          <a:p>
            <a:pPr>
              <a:spcAft>
                <a:spcPts val="0"/>
              </a:spcAft>
            </a:pPr>
            <a:r>
              <a:rPr sz="1250" b="0">
                <a:solidFill>
                  <a:srgbClr val="6E6E6E"/>
                </a:solidFill>
                <a:latin typeface="Arial"/>
              </a:rPr>
              <a:t>Smile is the spectrometer's sideways drift of a wavelength's image along the slit; scored end to end it depends on where each field point is placed on the slit, and one placement adds the telescope's coma</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40" cy="1868805"/>
        </p:xfrm>
        <a:graphic>
          <a:graphicData uri="http://schemas.openxmlformats.org/drawingml/2006/table">
            <a:tbl>
              <a:tblPr firstRow="1" bandRow="1">
                <a:tableStyleId>{5C22544A-7EE6-4342-B048-85BDC9FD1C3A}</a:tableStyleId>
              </a:tblPr>
              <a:tblGrid>
                <a:gridCol w="3477768"/>
                <a:gridCol w="582168"/>
                <a:gridCol w="727456"/>
                <a:gridCol w="509524"/>
                <a:gridCol w="509524"/>
              </a:tblGrid>
              <a:tr h="468630">
                <a:tc>
                  <a:txBody>
                    <a:bodyPr wrap="square"/>
                    <a:lstStyle/>
                    <a:p>
                      <a:r>
                        <a:rPr sz="1100" b="1">
                          <a:solidFill>
                            <a:srgbClr val="FFFFFF"/>
                          </a:solidFill>
                          <a:latin typeface="Arial"/>
                        </a:rPr>
                        <a:t>Dyson alone, each slit point's input ray tilted by the telescope's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tilt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tilt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31355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first suspect, cleared:</a:t>
            </a:r>
            <a:r>
              <a:rPr sz="1200" b="0">
                <a:solidFill>
                  <a:srgbClr val="282828"/>
                </a:solidFill>
                <a:latin typeface="Arial"/>
              </a:rPr>
              <a:t> the telescope's chief rays reach the slit up to 0.5 mrad off its normal, in a pattern shaped like smile.  Feeding the spectrometer alone with those angles moves keystone a little and smile not at all, even at twice the angle.</a:t>
            </a:r>
          </a:p>
        </p:txBody>
      </p:sp>
      <p:graphicFrame>
        <p:nvGraphicFramePr>
          <p:cNvPr id="6" name="Table 5"/>
          <p:cNvGraphicFramePr>
            <a:graphicFrameLocks noGrp="1"/>
          </p:cNvGraphicFramePr>
          <p:nvPr/>
        </p:nvGraphicFramePr>
        <p:xfrm>
          <a:off x="6400800" y="1298448"/>
          <a:ext cx="5394959" cy="1748790"/>
        </p:xfrm>
        <a:graphic>
          <a:graphicData uri="http://schemas.openxmlformats.org/drawingml/2006/table">
            <a:tbl>
              <a:tblPr firstRow="1" bandRow="1">
                <a:tableStyleId>{5C22544A-7EE6-4342-B048-85BDC9FD1C3A}</a:tableStyleId>
              </a:tblPr>
              <a:tblGrid>
                <a:gridCol w="410464"/>
                <a:gridCol w="2863433"/>
                <a:gridCol w="2121062"/>
              </a:tblGrid>
              <a:tr h="43434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chief − centroid offset</a:t>
                      </a:r>
                    </a:p>
                  </a:txBody>
                  <a:tcPr marL="54864" marR="54864" marT="18288" marB="18288">
                    <a:solidFill>
                      <a:srgbClr val="1F4E79"/>
                    </a:solidFill>
                  </a:tcPr>
                </a:tc>
                <a:tc>
                  <a:txBody>
                    <a:bodyPr wrap="square"/>
                    <a:lstStyle/>
                    <a:p>
                      <a:r>
                        <a:rPr sz="1000" b="1">
                          <a:solidFill>
                            <a:srgbClr val="FFFFFF"/>
                          </a:solidFill>
                          <a:latin typeface="Arial"/>
                        </a:rPr>
                        <a:t>smile end to end, point-source placement</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1935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cause:</a:t>
            </a:r>
            <a:r>
              <a:rPr sz="1200" b="0">
                <a:solidFill>
                  <a:srgbClr val="282828"/>
                </a:solidFill>
                <a:latin typeface="Arial"/>
              </a:rPr>
              <a:t> the telescope's image of a point is slightly comatic, so its center of light sits a little across the slit from its chief ray (on R7: 0 / 0.2 / 0.7 / 1.4 / 2.4 µm at 0 / 1.2 / 2.4 / 3.5 / 4.7° of field).  Place each field's chief ray on the slit line and that offset varies along the slit exactly as a smile would; its spread predicts every rung's number.</a:t>
            </a:r>
          </a:p>
          <a:p>
            <a:pPr>
              <a:spcAft>
                <a:spcPts val="600"/>
              </a:spcAft>
            </a:pPr>
            <a:r>
              <a:rPr sz="1200" b="0">
                <a:solidFill>
                  <a:srgbClr val="282828"/>
                </a:solidFill>
                <a:latin typeface="Arial"/>
              </a:rPr>
              <a:t>•  </a:t>
            </a:r>
            <a:r>
              <a:rPr sz="1200" b="1">
                <a:solidFill>
                  <a:srgbClr val="282828"/>
                </a:solidFill>
                <a:latin typeface="Arial"/>
              </a:rPr>
              <a:t>Two placements, both reported.</a:t>
            </a:r>
            <a:r>
              <a:rPr sz="1200" b="0">
                <a:solidFill>
                  <a:srgbClr val="282828"/>
                </a:solidFill>
                <a:latin typeface="Arial"/>
              </a:rPr>
              <a:t>  Slit-filled — an extended scene fills the slit, so each field's center of light is on the slit line; this is the spectrometer's own smile and the paper's convention: 0.022 px.  Point-source — a star's chief ray on the slit line: where its spectrum lands, 0.016 px on R9 (0.14 on R7).  R9's added constraint on the offset closed the second without touching the first.</a:t>
            </a:r>
          </a:p>
        </p:txBody>
      </p:sp>
      <p:sp>
        <p:nvSpPr>
          <p:cNvPr id="8" name="TextBox 7"/>
          <p:cNvSpPr txBox="1"/>
          <p:nvPr/>
        </p:nvSpPr>
        <p:spPr>
          <a:xfrm>
            <a:off x="6400800" y="5887973"/>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each input tilted per field); the join scorer dyson5_t5f carries both placements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speed of the light at the slit, and the paper's larger beam</a:t>
            </a:r>
          </a:p>
          <a:p>
            <a:pPr>
              <a:spcAft>
                <a:spcPts val="0"/>
              </a:spcAft>
            </a:pPr>
            <a:r>
              <a:rPr sz="1250" b="0">
                <a:solidFill>
                  <a:srgbClr val="6E6E6E"/>
                </a:solidFill>
                <a:latin typeface="Arial"/>
              </a:rPr>
              <a:t>The marginal rays reach the slit between F/1.80 and F/1.89 in the two directions, none faster than F/1.7; the F/1.89 along the slit follows from the challenge's own aperture and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had to be constrained:</a:t>
            </a:r>
            <a:r>
              <a:rPr sz="1200" b="0">
                <a:solidFill>
                  <a:srgbClr val="282828"/>
                </a:solidFill>
                <a:latin typeface="Arial"/>
              </a:rPr>
              <a:t> the first round's 3k solve let some rays reach the slit at F/1.19 — faster than the F/1.8 spectrometer accepts — so its grating, sized for F/1.8, passed only 95–98 % of the light, and nothing in the figure of merit knew.  The paper constrains the same thing (its "F/# anamorphicity" — the F-number must be the same along and across the slit).</a:t>
            </a:r>
          </a:p>
          <a:p>
            <a:pPr>
              <a:spcAft>
                <a:spcPts val="600"/>
              </a:spcAft>
            </a:pPr>
            <a:r>
              <a:rPr sz="1200" b="0">
                <a:solidFill>
                  <a:srgbClr val="282828"/>
                </a:solidFill>
                <a:latin typeface="Arial"/>
              </a:rPr>
              <a:t>•  </a:t>
            </a:r>
            <a:r>
              <a:rPr sz="1200" b="1">
                <a:solidFill>
                  <a:srgbClr val="282828"/>
                </a:solidFill>
                <a:latin typeface="Arial"/>
              </a:rPr>
              <a:t>The constraint:</a:t>
            </a:r>
            <a:r>
              <a:rPr sz="1200" b="0">
                <a:solidFill>
                  <a:srgbClr val="282828"/>
                </a:solidFill>
                <a:latin typeface="Arial"/>
              </a:rPr>
              <a:t> in every rung, a penalty on the F-number of the marginal rays at the slit, along and across, whenever it falls outside 1.7–1.8.  R9: F/1.889–1.894 along the slit, F/1.797–1.806 across; the grating admits 98.9 % of the light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F/1.8, and that is the specification:</a:t>
            </a:r>
            <a:r>
              <a:rPr sz="1200" b="0">
                <a:solidFill>
                  <a:srgbClr val="282828"/>
                </a:solidFill>
                <a:latin typeface="Arial"/>
              </a:rPr>
              <a:t> a 183 mm aperture at 330 mm is F/1.80 on axis; the telescope "a little faster than the spectrometer" that the first-round answers asked for needs a larger entrance beam — the paper's 192 mm.  A question for the challenge's authors (slide 19), not for the solve; the telescope holds the numbers given.</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light arrives at F/1.80; the slit truncates the image in that direction, and the across-slit image width (the paper's ARF) is 1.02 px against its 2.8 px bound.</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F-number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Spectrometer tolerances,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a:t>
            </a:r>
          </a:p>
          <a:p>
            <a:pPr>
              <a:spcAft>
                <a:spcPts val="0"/>
              </a:spcAft>
            </a:pPr>
            <a:r>
              <a:rPr sz="1250" b="0">
                <a:solidFill>
                  <a:srgbClr val="6E6E6E"/>
                </a:solidFill>
                <a:latin typeface="Arial"/>
              </a:rPr>
              <a:t>Both modules image at the pixel end to end; the trade is labor, detectors and integration, not optics or glass.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light reaches the slit at F/1.89 along it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More on 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speed bound at the slit,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speed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737610"/>
        </p:xfrm>
        <a:graphic>
          <a:graphicData uri="http://schemas.openxmlformats.org/drawingml/2006/table">
            <a:tbl>
              <a:tblPr firstRow="1" bandRow="1">
                <a:tableStyleId>{5C22544A-7EE6-4342-B048-85BDC9FD1C3A}</a:tableStyleId>
              </a:tblPr>
              <a:tblGrid>
                <a:gridCol w="654812"/>
                <a:gridCol w="10713923"/>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468630">
                <a:tc>
                  <a:txBody>
                    <a:bodyPr wrap="square"/>
                    <a:lstStyle/>
                    <a:p>
                      <a:r>
                        <a:rPr sz="1100" b="0">
                          <a:solidFill>
                            <a:srgbClr val="282828"/>
                          </a:solidFill>
                          <a:latin typeface="Arial"/>
                        </a:rPr>
                        <a:t>3, 4, 5</a:t>
                      </a:r>
                    </a:p>
                  </a:txBody>
                  <a:tcPr marL="54864" marR="54864" marT="18288" marB="18288">
                    <a:solidFill>
                      <a:srgbClr val="FFFFFF"/>
                    </a:solidFill>
                  </a:tcPr>
                </a:tc>
                <a:tc>
                  <a:txBody>
                    <a:bodyPr wrap="square"/>
                    <a:lstStyle/>
                    <a:p>
                      <a:r>
                        <a:rPr sz="1100" b="0">
                          <a:solidFill>
                            <a:srgbClr val="282828"/>
                          </a:solidFill>
                          <a:latin typeface="Arial"/>
                        </a:rPr>
                        <a:t>BRIEF_to_dyson5.md addenda 47–49; templates/10_telescopes/tma_longslit/ (README, tma_longslit_params.m, tma_longslit_run.m);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518236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