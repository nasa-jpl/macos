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Long-Slit Spectrometer Design Challenge</a:t>
            </a:r>
          </a:p>
          <a:p>
            <a:pPr>
              <a:spcAft>
                <a:spcPts val="1400"/>
              </a:spcAft>
            </a:pPr>
            <a:r>
              <a:rPr sz="2200" b="0">
                <a:solidFill>
                  <a:srgbClr val="282828"/>
                </a:solidFill>
                <a:latin typeface="Arial"/>
              </a:rPr>
              <a:t>A VSWIR imaging spectrometer for a 180 km swath at 30 m pixels, designed end to end by ray trace: a Dyson spectrometer and a freeform three-mirror telescope per module, two module sizes, both at the pixel — smile 0.02, CRF 1.2 px, 0.85–0.97 of the energy in one pixel — and the telescope design flow made a reusable template.</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The challenge was posed by Joe Green and Jim McGuire (JPL) as a test of MACOS and its design layer; this is its second round.  The first (2026-10-06) brought the spectrometers to the pixel and left the larger telescope short; their answers and the project's published design set this round's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challenge and the approach; the pair of 3k modules; the template's default run — seed, telescope of record, the module scored, how the ladder was set, the two smile conventions, the cone; the spectrometer; the template applied to the 1.5k;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specification, and how a design is scored against it</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The challenge: two module sizes, a spectrometer and a telescope in each</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The 3k telescope solution provides a template; the template run on the 1.5k</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Two 3k modules fill the swath</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two strips on the ground, and the two focal planes</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The 3k module, end to end</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How the optimization "ladder" was set: six rungs, three lessons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Smile end to end: the specification read two ways</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The speed of the light at the slit: the specification and the paper's beam</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Spectrometer tolerances, and a conic grating for margin</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Throughput by band, and the blaze</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The template applied: the 1.5k module, with the deviations as they occurred</a:t>
            </a:r>
          </a:p>
          <a:p>
            <a:pPr>
              <a:spcAft>
                <a:spcPts val="600"/>
              </a:spcAft>
            </a:pPr>
            <a:r>
              <a:rPr sz="1200" b="0">
                <a:solidFill>
                  <a:srgbClr val="282828"/>
                </a:solidFill>
                <a:latin typeface="Arial"/>
              </a:rPr>
              <a:t>•  </a:t>
            </a:r>
            <a:r>
              <a:rPr sz="1200" b="1">
                <a:solidFill>
                  <a:srgbClr val="282828"/>
                </a:solidFill>
                <a:latin typeface="Arial"/>
              </a:rPr>
              <a:t>18</a:t>
            </a:r>
            <a:r>
              <a:rPr sz="1200" b="0">
                <a:solidFill>
                  <a:srgbClr val="282828"/>
                </a:solidFill>
                <a:latin typeface="Arial"/>
              </a:rPr>
              <a:t> Two of 3k or four of 1.5k?</a:t>
            </a:r>
          </a:p>
          <a:p>
            <a:pPr>
              <a:spcAft>
                <a:spcPts val="600"/>
              </a:spcAft>
            </a:pPr>
            <a:r>
              <a:rPr sz="1200" b="0">
                <a:solidFill>
                  <a:srgbClr val="282828"/>
                </a:solidFill>
                <a:latin typeface="Arial"/>
              </a:rPr>
              <a:t>•  </a:t>
            </a:r>
            <a:r>
              <a:rPr sz="1200" b="1">
                <a:solidFill>
                  <a:srgbClr val="282828"/>
                </a:solidFill>
                <a:latin typeface="Arial"/>
              </a:rPr>
              <a:t>19</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20</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21</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22</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specification, and how a design is scored against it</a:t>
            </a:r>
          </a:p>
          <a:p>
            <a:pPr>
              <a:spcAft>
                <a:spcPts val="0"/>
              </a:spcAft>
            </a:pPr>
            <a:r>
              <a:rPr sz="1250" b="0">
                <a:solidFill>
                  <a:srgbClr val="6E6E6E"/>
                </a:solidFill>
                <a:latin typeface="Arial"/>
              </a:rPr>
              <a:t>The challenge's numbers beside a published design (the SBG VSWIR paper), in common terms (micrometers at the detector)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589145"/>
        </p:xfrm>
        <a:graphic>
          <a:graphicData uri="http://schemas.openxmlformats.org/drawingml/2006/table">
            <a:tbl>
              <a:tblPr firstRow="1" bandRow="1">
                <a:tableStyleId>{5C22544A-7EE6-4342-B048-85BDC9FD1C3A}</a:tableStyleId>
              </a:tblPr>
              <a:tblGrid>
                <a:gridCol w="1512945"/>
                <a:gridCol w="1512945"/>
                <a:gridCol w="2780548"/>
              </a:tblGrid>
              <a:tr h="468630">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the challenge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468630">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(the 3k module); 4.7° (the 1.5k)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13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challenge: two module sizes, a spectrometer and a telescope in each</a:t>
            </a:r>
          </a:p>
          <a:p>
            <a:pPr>
              <a:spcAft>
                <a:spcPts val="0"/>
              </a:spcAft>
            </a:pPr>
            <a:r>
              <a:rPr sz="1250" b="0">
                <a:solidFill>
                  <a:srgbClr val="6E6E6E"/>
                </a:solidFill>
                <a:latin typeface="Arial"/>
              </a:rPr>
              <a:t>6000 cross-track pixels over a 180 km swath, 380–2500 nm, F/1.8, at the pixel in smile, keystone and response width; two 3k modules or four 1.5k; every number a MACOS ray trace of a committed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instrument:</a:t>
            </a:r>
            <a:r>
              <a:rPr sz="1200" b="0">
                <a:solidFill>
                  <a:srgbClr val="282828"/>
                </a:solidFill>
                <a:latin typeface="Arial"/>
              </a:rPr>
              <a:t> a push-broom imaging spectrometer — a straight slit imaged on the ground, swept along the track; the spectrometer disperses the slit across a 500-pixel band at 18 µm pixels.  The challenge fixes F/1.8, a 330 mm focal length, a 183 mm aperture, and the image-quality bounds of slide 3.</a:t>
            </a:r>
          </a:p>
          <a:p>
            <a:pPr>
              <a:spcAft>
                <a:spcPts val="600"/>
              </a:spcAft>
            </a:pPr>
            <a:r>
              <a:rPr sz="1200" b="0">
                <a:solidFill>
                  <a:srgbClr val="282828"/>
                </a:solidFill>
                <a:latin typeface="Arial"/>
              </a:rPr>
              <a:t>•  </a:t>
            </a:r>
            <a:r>
              <a:rPr sz="1200" b="1">
                <a:solidFill>
                  <a:srgbClr val="282828"/>
                </a:solidFill>
                <a:latin typeface="Arial"/>
              </a:rPr>
              <a:t>The two module sizes.</a:t>
            </a:r>
            <a:r>
              <a:rPr sz="1200" b="0">
                <a:solidFill>
                  <a:srgbClr val="282828"/>
                </a:solidFill>
                <a:latin typeface="Arial"/>
              </a:rPr>
              <a:t>  A </a:t>
            </a:r>
            <a:r>
              <a:rPr sz="1200" b="1">
                <a:solidFill>
                  <a:srgbClr val="282828"/>
                </a:solidFill>
                <a:latin typeface="Arial"/>
              </a:rPr>
              <a:t>3k module</a:t>
            </a:r>
            <a:r>
              <a:rPr sz="1200" b="0">
                <a:solidFill>
                  <a:srgbClr val="282828"/>
                </a:solidFill>
                <a:latin typeface="Arial"/>
              </a:rPr>
              <a:t> has a 3000-pixel, 54 mm slit and needs a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block; two of them cover the swath.  A </a:t>
            </a:r>
            <a:r>
              <a:rPr sz="1200" b="1">
                <a:solidFill>
                  <a:srgbClr val="282828"/>
                </a:solidFill>
                <a:latin typeface="Arial"/>
              </a:rPr>
              <a:t>1.5k module</a:t>
            </a:r>
            <a:r>
              <a:rPr sz="1200" b="0">
                <a:solidFill>
                  <a:srgbClr val="282828"/>
                </a:solidFill>
                <a:latin typeface="Arial"/>
              </a:rPr>
              <a:t> has a 1500-pixel, 27 mm slit and a 130 mm fused-silica block; four are needed.  Which to build is the trade the challenge asks for.</a:t>
            </a:r>
          </a:p>
          <a:p>
            <a:pPr>
              <a:spcAft>
                <a:spcPts val="600"/>
              </a:spcAft>
            </a:pPr>
            <a:r>
              <a:rPr sz="1200" b="0">
                <a:solidFill>
                  <a:srgbClr val="282828"/>
                </a:solidFill>
                <a:latin typeface="Arial"/>
              </a:rPr>
              <a:t>•  </a:t>
            </a:r>
            <a:r>
              <a:rPr sz="1200" b="1">
                <a:solidFill>
                  <a:srgbClr val="282828"/>
                </a:solidFill>
                <a:latin typeface="Arial"/>
              </a:rPr>
              <a:t>Each module is a Dyson spectrometer and a telescope.</a:t>
            </a:r>
            <a:r>
              <a:rPr sz="1200" b="0">
                <a:solidFill>
                  <a:srgbClr val="282828"/>
                </a:solidFill>
                <a:latin typeface="Arial"/>
              </a:rPr>
              <a:t>  The Dyson (a concentric block with a concave grating on its curved face) was designed first and brought to the pixel in the first round; the telescope images a strip of sky onto the slit, telecentric there, with no marginal ray faster than the spectrometer accepts.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Where the first round left it (2026-10-06):</a:t>
            </a:r>
            <a:r>
              <a:rPr sz="1200" b="0">
                <a:solidFill>
                  <a:srgbClr val="282828"/>
                </a:solidFill>
                <a:latin typeface="Arial"/>
              </a:rPr>
              <a:t> both Dysons at the pixel; the 1.5k telescope (three off-axis aspheres) near it; the 3k telescope not — CRF 4 px, 4–10 % of the energy in a pixel, marginal rays at F/1.2 into an F/1.8 spectrometer.</a:t>
            </a:r>
          </a:p>
          <a:p>
            <a:pPr>
              <a:spcAft>
                <a:spcPts val="600"/>
              </a:spcAft>
            </a:pPr>
            <a:r>
              <a:rPr sz="1200" b="0">
                <a:solidFill>
                  <a:srgbClr val="282828"/>
                </a:solidFill>
                <a:latin typeface="Arial"/>
              </a:rPr>
              <a:t>•  </a:t>
            </a:r>
            <a:r>
              <a:rPr sz="1200" b="1">
                <a:solidFill>
                  <a:srgbClr val="282828"/>
                </a:solidFill>
                <a:latin typeface="Arial"/>
              </a:rPr>
              <a:t>The answers that set this round's course:</a:t>
            </a:r>
            <a:r>
              <a:rPr sz="1200" b="0">
                <a:solidFill>
                  <a:srgbClr val="282828"/>
                </a:solidFill>
                <a:latin typeface="Arial"/>
              </a:rPr>
              <a:t> two modules, not four — integration, test and calibration are the cost, not mass or glass, and 3k × 0.5k detectors are a standard format where 1.5k × 0.5k is not; design the telescope separately, telecentric at the slit, a little faster than the spectrometer, no F/1.2 rays; the detector window is an order-sorting filter in air; tailor the coatings and the grating's blaze to the photon-starved long end.</a:t>
            </a:r>
          </a:p>
          <a:p>
            <a:pPr>
              <a:spcAft>
                <a:spcPts val="600"/>
              </a:spcAft>
            </a:pPr>
            <a:r>
              <a:rPr sz="1200" b="0">
                <a:solidFill>
                  <a:srgbClr val="282828"/>
                </a:solidFill>
                <a:latin typeface="Arial"/>
              </a:rPr>
              <a:t>•  </a:t>
            </a:r>
            <a:r>
              <a:rPr sz="1200" b="1">
                <a:solidFill>
                  <a:srgbClr val="282828"/>
                </a:solidFill>
                <a:latin typeface="Arial"/>
              </a:rPr>
              <a:t>The project's published design</a:t>
            </a:r>
            <a:r>
              <a:rPr sz="1200" b="0">
                <a:solidFill>
                  <a:srgbClr val="282828"/>
                </a:solidFill>
                <a:latin typeface="Arial"/>
              </a:rPr>
              <a:t> (Bradley et al., ICSO 2024): a freeform zig-zag three-mirror telescope at f 345 mm, 192 mm, 8.9°, with a small convex M2 at the stop and no intermediate focus, optimized alone for small spots along the slit; a Dyson with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lens and a conic grating (their Option B); its bounds in micrometers (smile and keystone 1.8 µm; SRF 64.8 µm; CRF and ARF 50.4 µm).</a:t>
            </a:r>
          </a:p>
        </p:txBody>
      </p:sp>
      <p:sp>
        <p:nvSpPr>
          <p:cNvPr id="6" name="TextBox 5"/>
          <p:cNvSpPr txBox="1"/>
          <p:nvPr/>
        </p:nvSpPr>
        <p:spPr>
          <a:xfrm>
            <a:off x="6400800" y="5123687"/>
            <a:ext cx="5394960" cy="274320"/>
          </a:xfrm>
          <a:prstGeom prst="rect">
            <a:avLst/>
          </a:prstGeom>
          <a:noFill/>
        </p:spPr>
        <p:txBody>
          <a:bodyPr wrap="square">
            <a:spAutoFit/>
          </a:bodyPr>
          <a:lstStyle/>
          <a:p>
            <a:pPr>
              <a:spcAft>
                <a:spcPts val="600"/>
              </a:spcAft>
            </a:pPr>
            <a:r>
              <a:rPr sz="1050" b="0">
                <a:solidFill>
                  <a:srgbClr val="6E6E6E"/>
                </a:solidFill>
                <a:latin typeface="Arial"/>
              </a:rPr>
              <a:t>The challenge and the first-round answers are recorded in BRIEF_to_dyson5.md (addenda 47–49); the first round's deck is deck_dyson_record (the spectrometers' design record).  The paper: Tables 1–3, Figs. 1 and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telescope solution provides a template; the template run on the 1.5k</a:t>
            </a:r>
          </a:p>
          <a:p>
            <a:pPr>
              <a:spcAft>
                <a:spcPts val="0"/>
              </a:spcAft>
            </a:pPr>
            <a:r>
              <a:rPr sz="1250" b="0">
                <a:solidFill>
                  <a:srgbClr val="6E6E6E"/>
                </a:solidFill>
                <a:latin typeface="Arial"/>
              </a:rPr>
              <a:t>The published form became a parameterized design flow whose default run is the 3k module; at the 1.5k spec it reached the pixel in five rungs with one new row; the slides that follow are those two runs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3k telescope (slides 8–14)</a:t>
            </a:r>
          </a:p>
          <a:p>
            <a:pPr marL="594360" indent="-137160">
              <a:spcAft>
                <a:spcPts val="500"/>
              </a:spcAft>
            </a:pPr>
            <a:r>
              <a:rPr sz="1050" b="0">
                <a:solidFill>
                  <a:srgbClr val="6E6E6E"/>
                </a:solidFill>
                <a:latin typeface="Arial"/>
              </a:rPr>
              <a:t>–  seed: the published layout, scaled to f 330 mm</a:t>
            </a:r>
          </a:p>
          <a:p>
            <a:pPr marL="594360" indent="-137160">
              <a:spcAft>
                <a:spcPts val="500"/>
              </a:spcAft>
            </a:pPr>
            <a:r>
              <a:rPr sz="1050" b="0">
                <a:solidFill>
                  <a:srgbClr val="6E6E6E"/>
                </a:solidFill>
                <a:latin typeface="Arial"/>
              </a:rPr>
              <a:t>–  first order: telecentric in closed form, the stop at M2, no intermediate focus</a:t>
            </a:r>
          </a:p>
          <a:p>
            <a:pPr marL="594360" indent="-137160">
              <a:spcAft>
                <a:spcPts val="500"/>
              </a:spcAft>
            </a:pPr>
            <a:r>
              <a:rPr sz="1050" b="0">
                <a:solidFill>
                  <a:srgbClr val="6E6E6E"/>
                </a:solidFill>
                <a:latin typeface="Arial"/>
              </a:rPr>
              <a:t>–  three off-axis conic sections carry it; a degree 3–6 polynomial on each mirror brings every field to a 1.02-pixel spot with the speed bounded</a:t>
            </a:r>
          </a:p>
          <a:p>
            <a:pPr marL="594360" indent="-137160">
              <a:spcAft>
                <a:spcPts val="500"/>
              </a:spcAft>
            </a:pPr>
            <a:r>
              <a:rPr sz="1050" b="0">
                <a:solidFill>
                  <a:srgbClr val="6E6E6E"/>
                </a:solidFill>
                <a:latin typeface="Arial"/>
              </a:rPr>
              <a:t>–  joined to the 240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Dyson: at the pixel end to end</a:t>
            </a:r>
          </a:p>
          <a:p>
            <a:pPr marL="594360" indent="-137160">
              <a:spcAft>
                <a:spcPts val="500"/>
              </a:spcAft>
            </a:pPr>
            <a:r>
              <a:rPr sz="1050" b="0">
                <a:solidFill>
                  <a:srgbClr val="6E6E6E"/>
                </a:solidFill>
                <a:latin typeface="Arial"/>
              </a:rPr>
              <a:t>–  six rungs set the weights and rows the flow now carries; the last 0.1 px of "smile" was the scorer's convention, not the optics</a:t>
            </a:r>
          </a:p>
          <a:p>
            <a:pPr>
              <a:spcAft>
                <a:spcPts val="600"/>
              </a:spcAft>
            </a:pPr>
            <a:r>
              <a:rPr sz="1200" b="0">
                <a:solidFill>
                  <a:srgbClr val="282828"/>
                </a:solidFill>
                <a:latin typeface="Arial"/>
              </a:rPr>
              <a:t>•  </a:t>
            </a:r>
            <a:r>
              <a:rPr sz="1200" b="1">
                <a:solidFill>
                  <a:srgbClr val="282828"/>
                </a:solidFill>
                <a:latin typeface="Arial"/>
              </a:rPr>
              <a:t>Made a template</a:t>
            </a:r>
            <a:r>
              <a:rPr sz="1200" b="0">
                <a:solidFill>
                  <a:srgbClr val="282828"/>
                </a:solidFill>
                <a:latin typeface="Arial"/>
              </a:rPr>
              <a:t> (templates/10_telescopes/tma_longslit/)</a:t>
            </a:r>
          </a:p>
          <a:p>
            <a:pPr marL="594360" indent="-137160">
              <a:spcAft>
                <a:spcPts val="500"/>
              </a:spcAft>
            </a:pPr>
            <a:r>
              <a:rPr sz="1050" b="0">
                <a:solidFill>
                  <a:srgbClr val="6E6E6E"/>
                </a:solidFill>
                <a:latin typeface="Arial"/>
              </a:rPr>
              <a:t>–  one parameter file: spec, seed legs and angles, bounds, weights, field set, the ladder, the spectrometer to join</a:t>
            </a:r>
          </a:p>
          <a:p>
            <a:pPr marL="594360" indent="-137160">
              <a:spcAft>
                <a:spcPts val="500"/>
              </a:spcAft>
            </a:pPr>
            <a:r>
              <a:rPr sz="1050" b="0">
                <a:solidFill>
                  <a:srgbClr val="6E6E6E"/>
                </a:solidFill>
                <a:latin typeface="Arial"/>
              </a:rPr>
              <a:t>–  four stages: first_order → section → figure (the ladder of engine-traced solves) → e2e (joined, both launches)</a:t>
            </a:r>
          </a:p>
          <a:p>
            <a:pPr marL="594360" indent="-137160">
              <a:spcAft>
                <a:spcPts val="500"/>
              </a:spcAft>
            </a:pPr>
            <a:r>
              <a:rPr sz="1050" b="0">
                <a:solidFill>
                  <a:srgbClr val="6E6E6E"/>
                </a:solidFill>
                <a:latin typeface="Arial"/>
              </a:rPr>
              <a:t>–  each stage writes its table, record and prescription; a test re-scores the deck of record by name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constraints that make it a long-slit front end</a:t>
            </a:r>
          </a:p>
          <a:p>
            <a:pPr marL="594360" indent="-137160">
              <a:spcAft>
                <a:spcPts val="500"/>
              </a:spcAft>
            </a:pPr>
            <a:r>
              <a:rPr sz="1050" b="0">
                <a:solidFill>
                  <a:srgbClr val="6E6E6E"/>
                </a:solidFill>
                <a:latin typeface="Arial"/>
              </a:rPr>
              <a:t>–  spot size along the slit (weighted); plate scale</a:t>
            </a:r>
          </a:p>
          <a:p>
            <a:pPr marL="594360" indent="-137160">
              <a:spcAft>
                <a:spcPts val="500"/>
              </a:spcAft>
            </a:pPr>
            <a:r>
              <a:rPr sz="1050" b="0">
                <a:solidFill>
                  <a:srgbClr val="6E6E6E"/>
                </a:solidFill>
                <a:latin typeface="Arial"/>
              </a:rPr>
              <a:t>–  the chief ray's and the centroid's across-slit position</a:t>
            </a:r>
          </a:p>
          <a:p>
            <a:pPr marL="594360" indent="-137160">
              <a:spcAft>
                <a:spcPts val="500"/>
              </a:spcAft>
            </a:pPr>
            <a:r>
              <a:rPr sz="1050" b="0">
                <a:solidFill>
                  <a:srgbClr val="6E6E6E"/>
                </a:solidFill>
                <a:latin typeface="Arial"/>
              </a:rPr>
              <a:t>–  the chief ray's angle to the slit normal (telecentric)</a:t>
            </a:r>
          </a:p>
          <a:p>
            <a:pPr marL="594360" indent="-137160">
              <a:spcAft>
                <a:spcPts val="500"/>
              </a:spcAft>
            </a:pPr>
            <a:r>
              <a:rPr sz="1050" b="0">
                <a:solidFill>
                  <a:srgbClr val="6E6E6E"/>
                </a:solidFill>
                <a:latin typeface="Arial"/>
              </a:rPr>
              <a:t>–  a penalty on any marginal ray faster than the spectrometer accepts, along and across the slit</a:t>
            </a:r>
          </a:p>
          <a:p>
            <a:pPr marL="594360" indent="-137160">
              <a:spcAft>
                <a:spcPts val="500"/>
              </a:spcAft>
            </a:pPr>
            <a:r>
              <a:rPr sz="1050" b="0">
                <a:solidFill>
                  <a:srgbClr val="6E6E6E"/>
                </a:solidFill>
                <a:latin typeface="Arial"/>
              </a:rPr>
              <a:t>–  the chief − centroid offset at the slit; working distance; since the 1.5k run, a clearance wall</a:t>
            </a:r>
          </a:p>
          <a:p>
            <a:pPr marL="594360" indent="-137160">
              <a:spcAft>
                <a:spcPts val="500"/>
              </a:spcAft>
            </a:pPr>
            <a:r>
              <a:rPr sz="1050" b="0">
                <a:solidFill>
                  <a:srgbClr val="6E6E6E"/>
                </a:solidFill>
                <a:latin typeface="Arial"/>
              </a:rPr>
              <a:t>–  the first order is re-derived at every iterate, never penalized</a:t>
            </a:r>
          </a:p>
          <a:p>
            <a:pPr>
              <a:spcAft>
                <a:spcPts val="600"/>
              </a:spcAft>
            </a:pPr>
            <a:r>
              <a:rPr sz="1200" b="0">
                <a:solidFill>
                  <a:srgbClr val="282828"/>
                </a:solidFill>
                <a:latin typeface="Arial"/>
              </a:rPr>
              <a:t>•  </a:t>
            </a:r>
            <a:r>
              <a:rPr sz="1200" b="1">
                <a:solidFill>
                  <a:srgbClr val="282828"/>
                </a:solidFill>
                <a:latin typeface="Arial"/>
              </a:rPr>
              <a:t>The template on the 1.5k (slide 17)</a:t>
            </a:r>
          </a:p>
          <a:p>
            <a:pPr marL="594360" indent="-137160">
              <a:spcAft>
                <a:spcPts val="500"/>
              </a:spcAft>
            </a:pPr>
            <a:r>
              <a:rPr sz="1050" b="0">
                <a:solidFill>
                  <a:srgbClr val="6E6E6E"/>
                </a:solidFill>
                <a:latin typeface="Arial"/>
              </a:rPr>
              <a:t>–  same seed, rows and weights; strip ±2.35°, slit 27 mm; joined to the 130 mm silica Dyson</a:t>
            </a:r>
          </a:p>
          <a:p>
            <a:pPr marL="594360" indent="-137160">
              <a:spcAft>
                <a:spcPts val="500"/>
              </a:spcAft>
            </a:pPr>
            <a:r>
              <a:rPr sz="1050" b="0">
                <a:solidFill>
                  <a:srgbClr val="6E6E6E"/>
                </a:solidFill>
                <a:latin typeface="Arial"/>
              </a:rPr>
              <a:t>–  1.02 px at every field in five rungs</a:t>
            </a:r>
          </a:p>
          <a:p>
            <a:pPr marL="594360" indent="-137160">
              <a:spcAft>
                <a:spcPts val="500"/>
              </a:spcAft>
            </a:pPr>
            <a:r>
              <a:rPr sz="1050" b="0">
                <a:solidFill>
                  <a:srgbClr val="6E6E6E"/>
                </a:solidFill>
                <a:latin typeface="Arial"/>
              </a:rPr>
              <a:t>–  one deviation: the first rung at the floor put the M3 → slit beam 0.3 mm inside M2; a clearance wall bought +2.4 mm</a:t>
            </a:r>
          </a:p>
          <a:p>
            <a:pPr marL="594360" indent="-137160">
              <a:spcAft>
                <a:spcPts val="500"/>
              </a:spcAft>
            </a:pPr>
            <a:r>
              <a:rPr sz="1050" b="0">
                <a:solidFill>
                  <a:srgbClr val="6E6E6E"/>
                </a:solidFill>
                <a:latin typeface="Arial"/>
              </a:rPr>
              <a:t>–  end to end: smile 0.009, CRF 1.03, 0.97 of the energy in a pixel</a:t>
            </a:r>
          </a:p>
          <a:p>
            <a:pPr>
              <a:spcAft>
                <a:spcPts val="600"/>
              </a:spcAft>
            </a:pPr>
            <a:r>
              <a:rPr sz="1200" b="0">
                <a:solidFill>
                  <a:srgbClr val="282828"/>
                </a:solidFill>
                <a:latin typeface="Arial"/>
              </a:rPr>
              <a:t>•  </a:t>
            </a:r>
            <a:r>
              <a:rPr sz="1200" b="1">
                <a:solidFill>
                  <a:srgbClr val="282828"/>
                </a:solidFill>
                <a:latin typeface="Arial"/>
              </a:rPr>
              <a:t>Then (slides 15–18):</a:t>
            </a:r>
            <a:r>
              <a:rPr sz="1200" b="0">
                <a:solidFill>
                  <a:srgbClr val="282828"/>
                </a:solidFill>
                <a:latin typeface="Arial"/>
              </a:rPr>
              <a:t> the spectrometer toleranced and its Option B, throughput by band, the trade restated</a:t>
            </a:r>
          </a:p>
        </p:txBody>
      </p:sp>
      <p:sp>
        <p:nvSpPr>
          <p:cNvPr id="6" name="TextBox 5"/>
          <p:cNvSpPr txBox="1"/>
          <p:nvPr/>
        </p:nvSpPr>
        <p:spPr>
          <a:xfrm>
            <a:off x="6400800" y="6250178"/>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 REPORT_dyson5_cprime.md; the template README.  The dyson5 join (dyson5_t5f) is the spectrometer side's scorer; the template calls it, it does not own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3k modules fill the swath</a:t>
            </a:r>
          </a:p>
          <a:p>
            <a:pPr>
              <a:spcAft>
                <a:spcPts val="0"/>
              </a:spcAft>
            </a:pPr>
            <a:r>
              <a:rPr sz="1250" b="0">
                <a:solidFill>
                  <a:srgbClr val="6E6E6E"/>
                </a:solidFill>
                <a:latin typeface="Arial"/>
              </a:rPr>
              <a:t>Side by side across the track at a 324 mm pitch, each canted ±4.68° to its own strip: no body touches another and no body sits in the other's sky beam; the pair is 0.75 × 0.60 × 1.36 m, 609 L, with 39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views_rc.png"/>
          <p:cNvPicPr>
            <a:picLocks noChangeAspect="1"/>
          </p:cNvPicPr>
          <p:nvPr/>
        </p:nvPicPr>
        <p:blipFill>
          <a:blip r:embed="rId2"/>
          <a:stretch>
            <a:fillRect/>
          </a:stretch>
        </p:blipFill>
        <p:spPr>
          <a:xfrm>
            <a:off x="3172968" y="1051560"/>
            <a:ext cx="5852160" cy="3291840"/>
          </a:xfrm>
          <a:prstGeom prst="rect">
            <a:avLst/>
          </a:prstGeom>
        </p:spPr>
      </p:pic>
      <p:sp>
        <p:nvSpPr>
          <p:cNvPr id="5" name="TextBox 4"/>
          <p:cNvSpPr txBox="1"/>
          <p:nvPr/>
        </p:nvSpPr>
        <p:spPr>
          <a:xfrm>
            <a:off x="3172968" y="4361688"/>
            <a:ext cx="5852160" cy="559307"/>
          </a:xfrm>
          <a:prstGeom prst="rect">
            <a:avLst/>
          </a:prstGeom>
          <a:noFill/>
        </p:spPr>
        <p:txBody>
          <a:bodyPr wrap="square">
            <a:spAutoFit/>
          </a:bodyPr>
          <a:lstStyle/>
          <a:p>
            <a:pPr algn="ctr">
              <a:spcAft>
                <a:spcPts val="0"/>
              </a:spcAft>
            </a:pPr>
            <a:r>
              <a:rPr sz="1000" b="0">
                <a:solidFill>
                  <a:srgbClr val="6E6E6E"/>
                </a:solidFill>
                <a:latin typeface="Arial"/>
              </a:rPr>
              <a:t>The two modules as the engine traces them, each the 3k module of record moved rigidly: cants ±4.68° about the axis normal to the track and the line of sight.  Left: 3-D; right: looking along the cant axis, light entering from below.  The rays the grating stops are red.</a:t>
            </a:r>
          </a:p>
        </p:txBody>
      </p:sp>
      <p:graphicFrame>
        <p:nvGraphicFramePr>
          <p:cNvPr id="6" name="Table 5"/>
          <p:cNvGraphicFramePr>
            <a:graphicFrameLocks noGrp="1"/>
          </p:cNvGraphicFramePr>
          <p:nvPr/>
        </p:nvGraphicFramePr>
        <p:xfrm>
          <a:off x="411480" y="4937760"/>
          <a:ext cx="11368734" cy="1120140"/>
        </p:xfrm>
        <a:graphic>
          <a:graphicData uri="http://schemas.openxmlformats.org/drawingml/2006/table">
            <a:tbl>
              <a:tblPr firstRow="1" bandRow="1">
                <a:tableStyleId>{5C22544A-7EE6-4342-B048-85BDC9FD1C3A}</a:tableStyleId>
              </a:tblPr>
              <a:tblGrid>
                <a:gridCol w="2785716"/>
                <a:gridCol w="858301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324 mm (module 319 mm + 20 mm gap, in 5 mm steps); body to body +24 mm, body in the other's 183 mm sky beam +36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pair</a:t>
                      </a:r>
                    </a:p>
                  </a:txBody>
                  <a:tcPr marL="54864" marR="54864" marT="18288" marB="18288">
                    <a:solidFill>
                      <a:srgbClr val="ECF1F6"/>
                    </a:solidFill>
                  </a:tcPr>
                </a:tc>
                <a:tc>
                  <a:txBody>
                    <a:bodyPr wrap="square"/>
                    <a:lstStyle/>
                    <a:p>
                      <a:r>
                        <a:rPr sz="1100" b="0">
                          <a:solidFill>
                            <a:srgbClr val="282828"/>
                          </a:solidFill>
                          <a:latin typeface="Arial"/>
                        </a:rPr>
                        <a:t>746 × 598 × 1363 mm, 609 L (the four 1.5k modules: 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19.5 kg (block 14.3, three mirrors 2.9, grating 2.3); 39.0 kg (the four 1.5k modules: 14.6 kg)</a:t>
                      </a:r>
                    </a:p>
                  </a:txBody>
                  <a:tcPr marL="54864" marR="54864" marT="18288" marB="18288">
                    <a:solidFill>
                      <a:srgbClr val="FFFFFF"/>
                    </a:solidFill>
                  </a:tcPr>
                </a:tc>
              </a:tr>
            </a:tbl>
          </a:graphicData>
        </a:graphic>
      </p:graphicFrame>
      <p:sp>
        <p:nvSpPr>
          <p:cNvPr id="7" name="TextBox 6"/>
          <p:cNvSpPr txBox="1"/>
          <p:nvPr/>
        </p:nvSpPr>
        <p:spPr>
          <a:xfrm>
            <a:off x="411480" y="6204204"/>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(Zerodur, silica),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block from dyson5_jim_3a.txt.  Not included: structure, detectors and their cooling, electronics, baffles.  Each module's internal clearances are the record's by construction.  Record dyson5_block2_3k.txt; tool dyson5_block4.m (nmod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strips on the ground, and the two focal planes</a:t>
            </a:r>
          </a:p>
          <a:p>
            <a:pPr>
              <a:spcAft>
                <a:spcPts val="0"/>
              </a:spcAft>
            </a:pPr>
            <a:r>
              <a:rPr sz="1250" b="0">
                <a:solidFill>
                  <a:srgbClr val="6E6E6E"/>
                </a:solidFill>
                <a:latin typeface="Arial"/>
              </a:rPr>
              <a:t>Each module's slit admits ±4.691°, 3000 pixels; canted ±4.68° the strips overlap by 10 pixels at the join and cover 18.7°, 181 km from 550 km, with no along-track offset; each detector holds its strip across 3000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swath_rc.png"/>
          <p:cNvPicPr>
            <a:picLocks noChangeAspect="1"/>
          </p:cNvPicPr>
          <p:nvPr/>
        </p:nvPicPr>
        <p:blipFill>
          <a:blip r:embed="rId2"/>
          <a:stretch>
            <a:fillRect/>
          </a:stretch>
        </p:blipFill>
        <p:spPr>
          <a:xfrm>
            <a:off x="2587752" y="1051560"/>
            <a:ext cx="7022592" cy="3657600"/>
          </a:xfrm>
          <a:prstGeom prst="rect">
            <a:avLst/>
          </a:prstGeom>
        </p:spPr>
      </p:pic>
      <p:sp>
        <p:nvSpPr>
          <p:cNvPr id="5" name="TextBox 4"/>
          <p:cNvSpPr txBox="1"/>
          <p:nvPr/>
        </p:nvSpPr>
        <p:spPr>
          <a:xfrm>
            <a:off x="2587752" y="4727448"/>
            <a:ext cx="7022592" cy="724408"/>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 the 10-pixel overlap, the arrow the along-track sweep.  Bottom: the two 3000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48843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One join instead of three.</a:t>
            </a:r>
            <a:r>
              <a:rPr sz="1500" b="0">
                <a:solidFill>
                  <a:srgbClr val="282828"/>
                </a:solidFill>
                <a:latin typeface="Arial"/>
              </a:rPr>
              <a:t>  The plate scale puts 3000 pixels over 9.381°; abutting at 9.4° would leave a 6-pixel gap, so the cants give 10 pixels of overlap.  </a:t>
            </a:r>
            <a:r>
              <a:rPr sz="1500" b="1">
                <a:solidFill>
                  <a:srgbClr val="282828"/>
                </a:solidFill>
                <a:latin typeface="Arial"/>
              </a:rPr>
              <a:t>No along-track offset:</a:t>
            </a:r>
            <a:r>
              <a:rPr sz="1500" b="0">
                <a:solidFill>
                  <a:srgbClr val="282828"/>
                </a:solidFill>
                <a:latin typeface="Arial"/>
              </a:rPr>
              <a:t> both lines of sight lie in one cross-track plane, so the strips image the same ground line at the same time.  </a:t>
            </a:r>
            <a:r>
              <a:rPr sz="1500" b="1">
                <a:solidFill>
                  <a:srgbClr val="282828"/>
                </a:solidFill>
                <a:latin typeface="Arial"/>
              </a:rPr>
              <a:t>Unique pixels:</a:t>
            </a:r>
            <a:r>
              <a:rPr sz="1500" b="0">
                <a:solidFill>
                  <a:srgbClr val="282828"/>
                </a:solidFill>
                <a:latin typeface="Arial"/>
              </a:rPr>
              <a:t> 5990 over 18.73°, 30.1 m at nadir; the detector is the paper's 3072 × 512.</a:t>
            </a:r>
          </a:p>
        </p:txBody>
      </p:sp>
      <p:sp>
        <p:nvSpPr>
          <p:cNvPr id="7" name="TextBox 6"/>
          <p:cNvSpPr txBox="1"/>
          <p:nvPr/>
        </p:nvSpPr>
        <p:spPr>
          <a:xfrm>
            <a:off x="411480" y="6655815"/>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dyson5_block2_3k.txt (strip edges per module, overlap, swath); the admitted strip from dyson5_t5f_cprime_centroid_roll000.txt.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published layout digitized and scaled to the challenge's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The template's default run.  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13).</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the challenge's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challenge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 slit-limited</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optimization "ladder" was set: six rungs, three lessons</a:t>
            </a:r>
          </a:p>
          <a:p>
            <a:pPr>
              <a:spcAft>
                <a:spcPts val="0"/>
              </a:spcAft>
            </a:pPr>
            <a:r>
              <a:rPr sz="1250" b="0">
                <a:solidFill>
                  <a:srgbClr val="6E6E6E"/>
                </a:solidFill>
                <a:latin typeface="Arial"/>
              </a:rPr>
              <a:t>The 3k run fixed the template's weights and rows: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point-source placement on the slit</a:t>
            </a:r>
            <a:r>
              <a:rPr sz="1500" b="0">
                <a:solidFill>
                  <a:srgbClr val="282828"/>
                </a:solidFill>
                <a:latin typeface="Arial"/>
              </a:rPr>
              <a:t> (slide 13), and the row that removed its cause cost nothing at the pixel.  </a:t>
            </a:r>
            <a:r>
              <a:rPr sz="1500" b="1">
                <a:solidFill>
                  <a:srgbClr val="282828"/>
                </a:solidFill>
                <a:latin typeface="Arial"/>
              </a:rPr>
              <a:t>What the template carries forward from this:</a:t>
            </a:r>
            <a:r>
              <a:rPr sz="1500" b="0">
                <a:solidFill>
                  <a:srgbClr val="282828"/>
                </a:solidFill>
                <a:latin typeface="Arial"/>
              </a:rPr>
              <a:t> R9's weights and rows (along-slit ×3, outer fields ×2–3, the bow rows, OFF ×1000) from the first rung, and a ladder without the detours — slide 17 runs it that way.</a:t>
            </a:r>
          </a:p>
        </p:txBody>
      </p:sp>
      <p:sp>
        <p:nvSpPr>
          <p:cNvPr id="6" name="TextBox 5"/>
          <p:cNvSpPr txBox="1"/>
          <p:nvPr/>
        </p:nvSpPr>
        <p:spPr>
          <a:xfrm>
            <a:off x="411480" y="671588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end to end: the specification read two ways</a:t>
            </a:r>
          </a:p>
          <a:p>
            <a:pPr>
              <a:spcAft>
                <a:spcPts val="0"/>
              </a:spcAft>
            </a:pPr>
            <a:r>
              <a:rPr sz="1250" b="0">
                <a:solidFill>
                  <a:srgbClr val="6E6E6E"/>
                </a:solidFill>
                <a:latin typeface="Arial"/>
              </a:rPr>
              <a:t>Smile is the spectrometer's sideways drift of a wavelength's image along the slit; scored end to end it depends on where each field point is placed on the slit, and one placement adds the telescope's coma</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40" cy="1868805"/>
        </p:xfrm>
        <a:graphic>
          <a:graphicData uri="http://schemas.openxmlformats.org/drawingml/2006/table">
            <a:tbl>
              <a:tblPr firstRow="1" bandRow="1">
                <a:tableStyleId>{5C22544A-7EE6-4342-B048-85BDC9FD1C3A}</a:tableStyleId>
              </a:tblPr>
              <a:tblGrid>
                <a:gridCol w="3477768"/>
                <a:gridCol w="582168"/>
                <a:gridCol w="727456"/>
                <a:gridCol w="509524"/>
                <a:gridCol w="509524"/>
              </a:tblGrid>
              <a:tr h="468630">
                <a:tc>
                  <a:txBody>
                    <a:bodyPr wrap="square"/>
                    <a:lstStyle/>
                    <a:p>
                      <a:r>
                        <a:rPr sz="1100" b="1">
                          <a:solidFill>
                            <a:srgbClr val="FFFFFF"/>
                          </a:solidFill>
                          <a:latin typeface="Arial"/>
                        </a:rPr>
                        <a:t>Dyson alone, each slit point's input ray tilted by the telescope's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tilt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tilt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31355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first suspect, cleared:</a:t>
            </a:r>
            <a:r>
              <a:rPr sz="1200" b="0">
                <a:solidFill>
                  <a:srgbClr val="282828"/>
                </a:solidFill>
                <a:latin typeface="Arial"/>
              </a:rPr>
              <a:t> the telescope's chief rays reach the slit up to 0.5 mrad off its normal, in a pattern shaped like smile.  Feeding the spectrometer alone with those angles moves keystone a little and smile not at all, even at twice the angle.</a:t>
            </a:r>
          </a:p>
        </p:txBody>
      </p:sp>
      <p:graphicFrame>
        <p:nvGraphicFramePr>
          <p:cNvPr id="6" name="Table 5"/>
          <p:cNvGraphicFramePr>
            <a:graphicFrameLocks noGrp="1"/>
          </p:cNvGraphicFramePr>
          <p:nvPr/>
        </p:nvGraphicFramePr>
        <p:xfrm>
          <a:off x="6400800" y="1298448"/>
          <a:ext cx="5394959" cy="1748790"/>
        </p:xfrm>
        <a:graphic>
          <a:graphicData uri="http://schemas.openxmlformats.org/drawingml/2006/table">
            <a:tbl>
              <a:tblPr firstRow="1" bandRow="1">
                <a:tableStyleId>{5C22544A-7EE6-4342-B048-85BDC9FD1C3A}</a:tableStyleId>
              </a:tblPr>
              <a:tblGrid>
                <a:gridCol w="410464"/>
                <a:gridCol w="2863433"/>
                <a:gridCol w="2121062"/>
              </a:tblGrid>
              <a:tr h="43434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chief − centroid offset</a:t>
                      </a:r>
                    </a:p>
                  </a:txBody>
                  <a:tcPr marL="54864" marR="54864" marT="18288" marB="18288">
                    <a:solidFill>
                      <a:srgbClr val="1F4E79"/>
                    </a:solidFill>
                  </a:tcPr>
                </a:tc>
                <a:tc>
                  <a:txBody>
                    <a:bodyPr wrap="square"/>
                    <a:lstStyle/>
                    <a:p>
                      <a:r>
                        <a:rPr sz="1000" b="1">
                          <a:solidFill>
                            <a:srgbClr val="FFFFFF"/>
                          </a:solidFill>
                          <a:latin typeface="Arial"/>
                        </a:rPr>
                        <a:t>smile end to end, point-source placement</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1935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cause:</a:t>
            </a:r>
            <a:r>
              <a:rPr sz="1200" b="0">
                <a:solidFill>
                  <a:srgbClr val="282828"/>
                </a:solidFill>
                <a:latin typeface="Arial"/>
              </a:rPr>
              <a:t> the telescope's image of a point is slightly comatic, so its center of light sits a little across the slit from its chief ray (on R7: 0 / 0.2 / 0.7 / 1.4 / 2.4 µm at 0 / 1.2 / 2.4 / 3.5 / 4.7° of field).  Place each field's chief ray on the slit line and that offset varies along the slit exactly as a smile would; its spread predicts every rung's number.</a:t>
            </a:r>
          </a:p>
          <a:p>
            <a:pPr>
              <a:spcAft>
                <a:spcPts val="600"/>
              </a:spcAft>
            </a:pPr>
            <a:r>
              <a:rPr sz="1200" b="0">
                <a:solidFill>
                  <a:srgbClr val="282828"/>
                </a:solidFill>
                <a:latin typeface="Arial"/>
              </a:rPr>
              <a:t>•  </a:t>
            </a:r>
            <a:r>
              <a:rPr sz="1200" b="1">
                <a:solidFill>
                  <a:srgbClr val="282828"/>
                </a:solidFill>
                <a:latin typeface="Arial"/>
              </a:rPr>
              <a:t>Two placements, both reported.</a:t>
            </a:r>
            <a:r>
              <a:rPr sz="1200" b="0">
                <a:solidFill>
                  <a:srgbClr val="282828"/>
                </a:solidFill>
                <a:latin typeface="Arial"/>
              </a:rPr>
              <a:t>  Slit-filled — an extended scene fills the slit, so each field's center of light is on the slit line; this is the spectrometer's own smile and the paper's convention: 0.022 px.  Point-source — a star's chief ray on the slit line: where its spectrum lands, 0.016 px on R9 (0.14 on R7).  R9's added constraint on the offset closed the second without touching the first.</a:t>
            </a:r>
          </a:p>
        </p:txBody>
      </p:sp>
      <p:sp>
        <p:nvSpPr>
          <p:cNvPr id="8" name="TextBox 7"/>
          <p:cNvSpPr txBox="1"/>
          <p:nvPr/>
        </p:nvSpPr>
        <p:spPr>
          <a:xfrm>
            <a:off x="6400800" y="5887973"/>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each input tilted per field); the join scorer dyson5_t5f carries both placements (tel5f_launch chief | centroid); the record's rows reproduce under the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speed of the light at the slit, and the paper's larger beam</a:t>
            </a:r>
          </a:p>
          <a:p>
            <a:pPr>
              <a:spcAft>
                <a:spcPts val="0"/>
              </a:spcAft>
            </a:pPr>
            <a:r>
              <a:rPr sz="1250" b="0">
                <a:solidFill>
                  <a:srgbClr val="6E6E6E"/>
                </a:solidFill>
                <a:latin typeface="Arial"/>
              </a:rPr>
              <a:t>The marginal rays reach the slit between F/1.80 and F/1.89 in the two directions, none faster than F/1.7; the F/1.89 along the slit follows from the challenge's own aperture and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had to be constrained:</a:t>
            </a:r>
            <a:r>
              <a:rPr sz="1200" b="0">
                <a:solidFill>
                  <a:srgbClr val="282828"/>
                </a:solidFill>
                <a:latin typeface="Arial"/>
              </a:rPr>
              <a:t> the first round's 3k solve let some rays reach the slit at F/1.19 — faster than the F/1.8 spectrometer accepts — so its grating, sized for F/1.8, passed only 95–98 % of the light, and nothing in the figure of merit knew.  The paper constrains the same thing (its "F/# anamorphicity" — the F-number must be the same along and across the slit).</a:t>
            </a:r>
          </a:p>
          <a:p>
            <a:pPr>
              <a:spcAft>
                <a:spcPts val="600"/>
              </a:spcAft>
            </a:pPr>
            <a:r>
              <a:rPr sz="1200" b="0">
                <a:solidFill>
                  <a:srgbClr val="282828"/>
                </a:solidFill>
                <a:latin typeface="Arial"/>
              </a:rPr>
              <a:t>•  </a:t>
            </a:r>
            <a:r>
              <a:rPr sz="1200" b="1">
                <a:solidFill>
                  <a:srgbClr val="282828"/>
                </a:solidFill>
                <a:latin typeface="Arial"/>
              </a:rPr>
              <a:t>The constraint:</a:t>
            </a:r>
            <a:r>
              <a:rPr sz="1200" b="0">
                <a:solidFill>
                  <a:srgbClr val="282828"/>
                </a:solidFill>
                <a:latin typeface="Arial"/>
              </a:rPr>
              <a:t> in every rung, a penalty on the F-number of the marginal rays at the slit, along and across, whenever it falls outside 1.7–1.8.  R9: F/1.889–1.894 along the slit, F/1.797–1.806 across; the grating admits 98.9 % of the light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F/1.8, and that is the specification:</a:t>
            </a:r>
            <a:r>
              <a:rPr sz="1200" b="0">
                <a:solidFill>
                  <a:srgbClr val="282828"/>
                </a:solidFill>
                <a:latin typeface="Arial"/>
              </a:rPr>
              <a:t> a 183 mm aperture at 330 mm is F/1.80 on axis; the telescope "a little faster than the spectrometer" that the first-round answers asked for needs a larger entrance beam — the paper's 192 mm.  A question for the challenge's authors (slide 19), not for the solve; the telescope holds the numbers given.</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light arrives at F/1.80; the slit truncates the image in that direction, and the across-slit image width (the paper's ARF) is 1.02 px against its 2.8 px bound.</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F-number from the marginal rays as 1/(2 sin 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Spectrometer tolerances,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Throughput by band, and the blaze</a:t>
            </a:r>
          </a:p>
          <a:p>
            <a:pPr>
              <a:spcAft>
                <a:spcPts val="0"/>
              </a:spcAft>
            </a:pPr>
            <a:r>
              <a:rPr sz="1250" b="0">
                <a:solidFill>
                  <a:srgbClr val="6E6E6E"/>
                </a:solidFill>
                <a:latin typeface="Arial"/>
              </a:rPr>
              <a:t>Six air-glass crossings pass 0.82 uncoated in every band; a single quarter-wave </a:t>
            </a:r>
            <a:r>
              <a:rPr sz="1250" b="0">
                <a:solidFill>
                  <a:srgbClr val="6E6E6E"/>
                </a:solidFill>
                <a:latin typeface="Arial"/>
              </a:rPr>
              <a:t>MgF</a:t>
            </a:r>
            <a:r>
              <a:rPr sz="1250" b="0" baseline="-25000">
                <a:solidFill>
                  <a:srgbClr val="6E6E6E"/>
                </a:solidFill>
                <a:latin typeface="Arial"/>
              </a:rPr>
              <a:t>2</a:t>
            </a:r>
            <a:r>
              <a:rPr sz="1250" b="0">
                <a:solidFill>
                  <a:srgbClr val="6E6E6E"/>
                </a:solidFill>
                <a:latin typeface="Arial"/>
              </a:rPr>
              <a:t> centered at 2.2 µm lifts the long band to 0.87 and costs nothing elsewhere, where a two-layer tuned to 1 µm trades the band ends for the middle; the grating's blaze is the lever that moves photons to the long end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960245"/>
        </p:xfrm>
        <a:graphic>
          <a:graphicData uri="http://schemas.openxmlformats.org/drawingml/2006/table">
            <a:tbl>
              <a:tblPr firstRow="1" bandRow="1">
                <a:tableStyleId>{5C22544A-7EE6-4342-B048-85BDC9FD1C3A}</a:tableStyleId>
              </a:tblPr>
              <a:tblGrid>
                <a:gridCol w="5916371"/>
                <a:gridCol w="1453895"/>
                <a:gridCol w="1453895"/>
                <a:gridCol w="1453895"/>
                <a:gridCol w="1090676"/>
              </a:tblGrid>
              <a:tr h="280035">
                <a:tc>
                  <a:txBody>
                    <a:bodyPr wrap="square"/>
                    <a:lstStyle/>
                    <a:p>
                      <a:r>
                        <a:rPr sz="1100" b="1">
                          <a:solidFill>
                            <a:srgbClr val="FFFFFF"/>
                          </a:solidFill>
                          <a:latin typeface="Arial"/>
                        </a:rPr>
                        <a:t>module, coating on all six crossings</a:t>
                      </a:r>
                    </a:p>
                  </a:txBody>
                  <a:tcPr marL="54864" marR="54864" marT="18288" marB="18288">
                    <a:solidFill>
                      <a:srgbClr val="1F4E79"/>
                    </a:solidFill>
                  </a:tcPr>
                </a:tc>
                <a:tc>
                  <a:txBody>
                    <a:bodyPr wrap="square"/>
                    <a:lstStyle/>
                    <a:p>
                      <a:r>
                        <a:rPr sz="1100" b="1">
                          <a:solidFill>
                            <a:srgbClr val="FFFFFF"/>
                          </a:solidFill>
                          <a:latin typeface="Arial"/>
                        </a:rPr>
                        <a:t>380–700 nm</a:t>
                      </a:r>
                    </a:p>
                  </a:txBody>
                  <a:tcPr marL="54864" marR="54864" marT="18288" marB="18288">
                    <a:solidFill>
                      <a:srgbClr val="1F4E79"/>
                    </a:solidFill>
                  </a:tcPr>
                </a:tc>
                <a:tc>
                  <a:txBody>
                    <a:bodyPr wrap="square"/>
                    <a:lstStyle/>
                    <a:p>
                      <a:r>
                        <a:rPr sz="1100" b="1">
                          <a:solidFill>
                            <a:srgbClr val="FFFFFF"/>
                          </a:solidFill>
                          <a:latin typeface="Arial"/>
                        </a:rPr>
                        <a:t>700–1300 nm</a:t>
                      </a:r>
                    </a:p>
                  </a:txBody>
                  <a:tcPr marL="54864" marR="54864" marT="18288" marB="18288">
                    <a:solidFill>
                      <a:srgbClr val="1F4E79"/>
                    </a:solidFill>
                  </a:tcPr>
                </a:tc>
                <a:tc>
                  <a:txBody>
                    <a:bodyPr wrap="square"/>
                    <a:lstStyle/>
                    <a:p>
                      <a:r>
                        <a:rPr sz="1100" b="1">
                          <a:solidFill>
                            <a:srgbClr val="FFFFFF"/>
                          </a:solidFill>
                          <a:latin typeface="Arial"/>
                        </a:rPr>
                        <a:t>1300–2500 nm</a:t>
                      </a:r>
                    </a:p>
                  </a:txBody>
                  <a:tcPr marL="54864" marR="54864" marT="18288" marB="18288">
                    <a:solidFill>
                      <a:srgbClr val="1F4E79"/>
                    </a:solidFill>
                  </a:tcPr>
                </a:tc>
                <a:tc>
                  <a:txBody>
                    <a:bodyPr wrap="square"/>
                    <a:lstStyle/>
                    <a:p>
                      <a:r>
                        <a:rPr sz="1100" b="1">
                          <a:solidFill>
                            <a:srgbClr val="FFFFFF"/>
                          </a:solidFill>
                          <a:latin typeface="Arial"/>
                        </a:rPr>
                        <a:t>380–2500 mean</a:t>
                      </a:r>
                    </a:p>
                  </a:txBody>
                  <a:tcPr marL="54864" marR="54864" marT="18288" marB="18288">
                    <a:solidFill>
                      <a:srgbClr val="1F4E79"/>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uncoated</a:t>
                      </a:r>
                    </a:p>
                  </a:txBody>
                  <a:tcPr marL="54864" marR="54864" marT="18288" marB="18288">
                    <a:solidFill>
                      <a:srgbClr val="FFFFFF"/>
                    </a:solidFill>
                  </a:tcPr>
                </a:tc>
                <a:tc>
                  <a:txBody>
                    <a:bodyPr wrap="square"/>
                    <a:lstStyle/>
                    <a:p>
                      <a:r>
                        <a:rPr sz="1100" b="0">
                          <a:solidFill>
                            <a:srgbClr val="282828"/>
                          </a:solidFill>
                          <a:latin typeface="Arial"/>
                        </a:rPr>
                        <a:t>0.817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c>
                  <a:txBody>
                    <a:bodyPr wrap="square"/>
                    <a:lstStyle/>
                    <a:p>
                      <a:r>
                        <a:rPr sz="1100" b="0">
                          <a:solidFill>
                            <a:srgbClr val="282828"/>
                          </a:solidFill>
                          <a:latin typeface="Arial"/>
                        </a:rPr>
                        <a:t>0.827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quarter wave at 2.2 µm</a:t>
                      </a:r>
                    </a:p>
                  </a:txBody>
                  <a:tcPr marL="54864" marR="54864" marT="18288" marB="18288">
                    <a:solidFill>
                      <a:srgbClr val="ECF1F6"/>
                    </a:solidFill>
                  </a:tcPr>
                </a:tc>
                <a:tc>
                  <a:txBody>
                    <a:bodyPr wrap="square"/>
                    <a:lstStyle/>
                    <a:p>
                      <a:r>
                        <a:rPr sz="1100" b="0">
                          <a:solidFill>
                            <a:srgbClr val="282828"/>
                          </a:solidFill>
                          <a:latin typeface="Arial"/>
                        </a:rPr>
                        <a:t>0.852</a:t>
                      </a:r>
                    </a:p>
                  </a:txBody>
                  <a:tcPr marL="54864" marR="54864" marT="18288" marB="18288">
                    <a:solidFill>
                      <a:srgbClr val="ECF1F6"/>
                    </a:solidFill>
                  </a:tcPr>
                </a:tc>
                <a:tc>
                  <a:txBody>
                    <a:bodyPr wrap="square"/>
                    <a:lstStyle/>
                    <a:p>
                      <a:r>
                        <a:rPr sz="1100" b="0">
                          <a:solidFill>
                            <a:srgbClr val="282828"/>
                          </a:solidFill>
                          <a:latin typeface="Arial"/>
                        </a:rPr>
                        <a:t>0.844</a:t>
                      </a:r>
                    </a:p>
                  </a:txBody>
                  <a:tcPr marL="54864" marR="54864" marT="18288" marB="18288">
                    <a:solidFill>
                      <a:srgbClr val="ECF1F6"/>
                    </a:solidFill>
                  </a:tcPr>
                </a:tc>
                <a:tc>
                  <a:txBody>
                    <a:bodyPr wrap="square"/>
                    <a:lstStyle/>
                    <a:p>
                      <a:r>
                        <a:rPr sz="1100" b="0">
                          <a:solidFill>
                            <a:srgbClr val="282828"/>
                          </a:solidFill>
                          <a:latin typeface="Arial"/>
                        </a:rPr>
                        <a:t>0.869</a:t>
                      </a:r>
                    </a:p>
                  </a:txBody>
                  <a:tcPr marL="54864" marR="54864" marT="18288" marB="18288">
                    <a:solidFill>
                      <a:srgbClr val="ECF1F6"/>
                    </a:solidFill>
                  </a:tcPr>
                </a:tc>
                <a:tc>
                  <a:txBody>
                    <a:bodyPr wrap="square"/>
                    <a:lstStyle/>
                    <a:p>
                      <a:r>
                        <a:rPr sz="1100" b="0">
                          <a:solidFill>
                            <a:srgbClr val="282828"/>
                          </a:solidFill>
                          <a:latin typeface="Arial"/>
                        </a:rPr>
                        <a:t>0.855</a:t>
                      </a:r>
                    </a:p>
                  </a:txBody>
                  <a:tcPr marL="54864" marR="54864" marT="18288" marB="18288">
                    <a:solidFill>
                      <a:srgbClr val="ECF1F6"/>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2.2 µm</a:t>
                      </a:r>
                    </a:p>
                  </a:txBody>
                  <a:tcPr marL="54864" marR="54864" marT="18288" marB="18288">
                    <a:solidFill>
                      <a:srgbClr val="FFFFFF"/>
                    </a:solidFill>
                  </a:tcPr>
                </a:tc>
                <a:tc>
                  <a:txBody>
                    <a:bodyPr wrap="square"/>
                    <a:lstStyle/>
                    <a:p>
                      <a:r>
                        <a:rPr sz="1100" b="0">
                          <a:solidFill>
                            <a:srgbClr val="282828"/>
                          </a:solidFill>
                          <a:latin typeface="Arial"/>
                        </a:rPr>
                        <a:t>0.797</a:t>
                      </a:r>
                    </a:p>
                  </a:txBody>
                  <a:tcPr marL="54864" marR="54864" marT="18288" marB="18288">
                    <a:solidFill>
                      <a:srgbClr val="FFFFFF"/>
                    </a:solidFill>
                  </a:tcPr>
                </a:tc>
                <a:tc>
                  <a:txBody>
                    <a:bodyPr wrap="square"/>
                    <a:lstStyle/>
                    <a:p>
                      <a:r>
                        <a:rPr sz="1100" b="0">
                          <a:solidFill>
                            <a:srgbClr val="282828"/>
                          </a:solidFill>
                          <a:latin typeface="Arial"/>
                        </a:rPr>
                        <a:t>0.801</a:t>
                      </a:r>
                    </a:p>
                  </a:txBody>
                  <a:tcPr marL="54864" marR="54864" marT="18288" marB="18288">
                    <a:solidFill>
                      <a:srgbClr val="FFFFFF"/>
                    </a:solidFill>
                  </a:tcPr>
                </a:tc>
                <a:tc>
                  <a:txBody>
                    <a:bodyPr wrap="square"/>
                    <a:lstStyle/>
                    <a:p>
                      <a:r>
                        <a:rPr sz="1100" b="0">
                          <a:solidFill>
                            <a:srgbClr val="282828"/>
                          </a:solidFill>
                          <a:latin typeface="Arial"/>
                        </a:rPr>
                        <a:t>0.880</a:t>
                      </a:r>
                    </a:p>
                  </a:txBody>
                  <a:tcPr marL="54864" marR="54864" marT="18288" marB="18288">
                    <a:solidFill>
                      <a:srgbClr val="FFFFFF"/>
                    </a:solidFill>
                  </a:tcPr>
                </a:tc>
                <a:tc>
                  <a:txBody>
                    <a:bodyPr wrap="square"/>
                    <a:lstStyle/>
                    <a:p>
                      <a:r>
                        <a:rPr sz="1100" b="0">
                          <a:solidFill>
                            <a:srgbClr val="282828"/>
                          </a:solidFill>
                          <a:latin typeface="Arial"/>
                        </a:rPr>
                        <a:t>0.826</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1.0 µm</a:t>
                      </a:r>
                    </a:p>
                  </a:txBody>
                  <a:tcPr marL="54864" marR="54864" marT="18288" marB="18288">
                    <a:solidFill>
                      <a:srgbClr val="ECF1F6"/>
                    </a:solidFill>
                  </a:tcPr>
                </a:tc>
                <a:tc>
                  <a:txBody>
                    <a:bodyPr wrap="square"/>
                    <a:lstStyle/>
                    <a:p>
                      <a:r>
                        <a:rPr sz="1100" b="0">
                          <a:solidFill>
                            <a:srgbClr val="282828"/>
                          </a:solidFill>
                          <a:latin typeface="Arial"/>
                        </a:rPr>
                        <a:t>0.749</a:t>
                      </a:r>
                    </a:p>
                  </a:txBody>
                  <a:tcPr marL="54864" marR="54864" marT="18288" marB="18288">
                    <a:solidFill>
                      <a:srgbClr val="ECF1F6"/>
                    </a:solidFill>
                  </a:tcPr>
                </a:tc>
                <a:tc>
                  <a:txBody>
                    <a:bodyPr wrap="square"/>
                    <a:lstStyle/>
                    <a:p>
                      <a:r>
                        <a:rPr sz="1100" b="0">
                          <a:solidFill>
                            <a:srgbClr val="282828"/>
                          </a:solidFill>
                          <a:latin typeface="Arial"/>
                        </a:rPr>
                        <a:t>0.920</a:t>
                      </a:r>
                    </a:p>
                  </a:txBody>
                  <a:tcPr marL="54864" marR="54864" marT="18288" marB="18288">
                    <a:solidFill>
                      <a:srgbClr val="ECF1F6"/>
                    </a:solidFill>
                  </a:tcPr>
                </a:tc>
                <a:tc>
                  <a:txBody>
                    <a:bodyPr wrap="square"/>
                    <a:lstStyle/>
                    <a:p>
                      <a:r>
                        <a:rPr sz="1100" b="0">
                          <a:solidFill>
                            <a:srgbClr val="282828"/>
                          </a:solidFill>
                          <a:latin typeface="Arial"/>
                        </a:rPr>
                        <a:t>0.736</a:t>
                      </a:r>
                    </a:p>
                  </a:txBody>
                  <a:tcPr marL="54864" marR="54864" marT="18288" marB="18288">
                    <a:solidFill>
                      <a:srgbClr val="ECF1F6"/>
                    </a:solidFill>
                  </a:tcPr>
                </a:tc>
                <a:tc>
                  <a:txBody>
                    <a:bodyPr wrap="square"/>
                    <a:lstStyle/>
                    <a:p>
                      <a:r>
                        <a:rPr sz="1100" b="0">
                          <a:solidFill>
                            <a:srgbClr val="282828"/>
                          </a:solidFill>
                          <a:latin typeface="Arial"/>
                        </a:rPr>
                        <a:t>0.802</a:t>
                      </a:r>
                    </a:p>
                  </a:txBody>
                  <a:tcPr marL="54864" marR="54864" marT="18288" marB="18288">
                    <a:solidFill>
                      <a:srgbClr val="ECF1F6"/>
                    </a:solidFill>
                  </a:tcPr>
                </a:tc>
              </a:tr>
              <a:tr h="280035">
                <a:tc>
                  <a:txBody>
                    <a:bodyPr wrap="square"/>
                    <a:lstStyle/>
                    <a:p>
                      <a:r>
                        <a:rPr sz="1100" b="0">
                          <a:solidFill>
                            <a:srgbClr val="282828"/>
                          </a:solidFill>
                          <a:latin typeface="Arial"/>
                        </a:rPr>
                        <a:t>1.5k silica, uncoated /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at 2.2 µm</a:t>
                      </a:r>
                    </a:p>
                  </a:txBody>
                  <a:tcPr marL="54864" marR="54864" marT="18288" marB="18288">
                    <a:solidFill>
                      <a:srgbClr val="FFFFFF"/>
                    </a:solidFill>
                  </a:tcPr>
                </a:tc>
                <a:tc>
                  <a:txBody>
                    <a:bodyPr wrap="square"/>
                    <a:lstStyle/>
                    <a:p>
                      <a:r>
                        <a:rPr sz="1100" b="0">
                          <a:solidFill>
                            <a:srgbClr val="282828"/>
                          </a:solidFill>
                          <a:latin typeface="Arial"/>
                        </a:rPr>
                        <a:t>0.807 / 0.851</a:t>
                      </a:r>
                    </a:p>
                  </a:txBody>
                  <a:tcPr marL="54864" marR="54864" marT="18288" marB="18288">
                    <a:solidFill>
                      <a:srgbClr val="FFFFFF"/>
                    </a:solidFill>
                  </a:tcPr>
                </a:tc>
                <a:tc>
                  <a:txBody>
                    <a:bodyPr wrap="square"/>
                    <a:lstStyle/>
                    <a:p>
                      <a:r>
                        <a:rPr sz="1100" b="0">
                          <a:solidFill>
                            <a:srgbClr val="282828"/>
                          </a:solidFill>
                          <a:latin typeface="Arial"/>
                        </a:rPr>
                        <a:t>0.814 / 0.840</a:t>
                      </a:r>
                    </a:p>
                  </a:txBody>
                  <a:tcPr marL="54864" marR="54864" marT="18288" marB="18288">
                    <a:solidFill>
                      <a:srgbClr val="FFFFFF"/>
                    </a:solidFill>
                  </a:tcPr>
                </a:tc>
                <a:tc>
                  <a:txBody>
                    <a:bodyPr wrap="square"/>
                    <a:lstStyle/>
                    <a:p>
                      <a:r>
                        <a:rPr sz="1100" b="0">
                          <a:solidFill>
                            <a:srgbClr val="282828"/>
                          </a:solidFill>
                          <a:latin typeface="Arial"/>
                        </a:rPr>
                        <a:t>0.821 / 0.872</a:t>
                      </a:r>
                    </a:p>
                  </a:txBody>
                  <a:tcPr marL="54864" marR="54864" marT="18288" marB="18288">
                    <a:solidFill>
                      <a:srgbClr val="FFFFFF"/>
                    </a:solidFill>
                  </a:tcPr>
                </a:tc>
                <a:tc>
                  <a:txBody>
                    <a:bodyPr wrap="square"/>
                    <a:lstStyle/>
                    <a:p>
                      <a:r>
                        <a:rPr sz="1100" b="0">
                          <a:solidFill>
                            <a:srgbClr val="282828"/>
                          </a:solidFill>
                          <a:latin typeface="Arial"/>
                        </a:rPr>
                        <a:t>0.814 / 0.854</a:t>
                      </a:r>
                    </a:p>
                  </a:txBody>
                  <a:tcPr marL="54864" marR="54864" marT="18288" marB="18288">
                    <a:solidFill>
                      <a:srgbClr val="FFFFFF"/>
                    </a:solidFill>
                  </a:tcPr>
                </a:tc>
              </a:tr>
              <a:tr h="280035">
                <a:tc>
                  <a:txBody>
                    <a:bodyPr wrap="square"/>
                    <a:lstStyle/>
                    <a:p>
                      <a:r>
                        <a:rPr sz="1100" b="0">
                          <a:solidFill>
                            <a:srgbClr val="282828"/>
                          </a:solidFill>
                          <a:latin typeface="Arial"/>
                        </a:rPr>
                        <a:t>grating, scalar blaze at 1.0 / 1.4 / 1.8 µm</a:t>
                      </a:r>
                    </a:p>
                  </a:txBody>
                  <a:tcPr marL="54864" marR="54864" marT="18288" marB="18288">
                    <a:solidFill>
                      <a:srgbClr val="ECF1F6"/>
                    </a:solidFill>
                  </a:tcPr>
                </a:tc>
                <a:tc>
                  <a:txBody>
                    <a:bodyPr wrap="square"/>
                    <a:lstStyle/>
                    <a:p>
                      <a:r>
                        <a:rPr sz="1100" b="0">
                          <a:solidFill>
                            <a:srgbClr val="282828"/>
                          </a:solidFill>
                          <a:latin typeface="Arial"/>
                        </a:rPr>
                        <a:t>0.14 / 0.02 / 0.01</a:t>
                      </a:r>
                    </a:p>
                  </a:txBody>
                  <a:tcPr marL="54864" marR="54864" marT="18288" marB="18288">
                    <a:solidFill>
                      <a:srgbClr val="ECF1F6"/>
                    </a:solidFill>
                  </a:tcPr>
                </a:tc>
                <a:tc>
                  <a:txBody>
                    <a:bodyPr wrap="square"/>
                    <a:lstStyle/>
                    <a:p>
                      <a:r>
                        <a:rPr sz="1100" b="0">
                          <a:solidFill>
                            <a:srgbClr val="282828"/>
                          </a:solidFill>
                          <a:latin typeface="Arial"/>
                        </a:rPr>
                        <a:t>0.89 / 0.53 / 0.17</a:t>
                      </a:r>
                    </a:p>
                  </a:txBody>
                  <a:tcPr marL="54864" marR="54864" marT="18288" marB="18288">
                    <a:solidFill>
                      <a:srgbClr val="ECF1F6"/>
                    </a:solidFill>
                  </a:tcPr>
                </a:tc>
                <a:tc>
                  <a:txBody>
                    <a:bodyPr wrap="square"/>
                    <a:lstStyle/>
                    <a:p>
                      <a:r>
                        <a:rPr sz="1100" b="0">
                          <a:solidFill>
                            <a:srgbClr val="282828"/>
                          </a:solidFill>
                          <a:latin typeface="Arial"/>
                        </a:rPr>
                        <a:t>0.48 / 0.78 / 0.89</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crossings:</a:t>
            </a:r>
            <a:r>
              <a:rPr sz="1500" b="0">
                <a:solidFill>
                  <a:srgbClr val="282828"/>
                </a:solidFill>
                <a:latin typeface="Arial"/>
              </a:rPr>
              <a:t> the slit face in, the block's convex face out to the grating's air gap and back in, the exit face — four on the block — and two on the detector's order-sorting filter, which sits in air (Jim: it cannot be bonded to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Each entry is the mean over the band of the product of the six transmittances, the block's index from its Sellmeier equation at every wavelength.</a:t>
            </a:r>
          </a:p>
          <a:p>
            <a:pPr>
              <a:spcAft>
                <a:spcPts val="600"/>
              </a:spcAft>
            </a:pPr>
            <a:r>
              <a:rPr sz="1500" b="0">
                <a:solidFill>
                  <a:srgbClr val="282828"/>
                </a:solidFill>
                <a:latin typeface="Arial"/>
              </a:rPr>
              <a:t>•  </a:t>
            </a:r>
            <a:r>
              <a:rPr sz="1500" b="1">
                <a:solidFill>
                  <a:srgbClr val="282828"/>
                </a:solidFill>
                <a:latin typeface="Arial"/>
              </a:rPr>
              <a:t>Where to spend the coating:</a:t>
            </a:r>
            <a:r>
              <a:rPr sz="1500" b="0">
                <a:solidFill>
                  <a:srgbClr val="282828"/>
                </a:solidFill>
                <a:latin typeface="Arial"/>
              </a:rPr>
              <a:t> on a 1.43–1.45 substrate a single </a:t>
            </a:r>
            <a:r>
              <a:rPr sz="1500" b="0">
                <a:solidFill>
                  <a:srgbClr val="282828"/>
                </a:solidFill>
                <a:latin typeface="Arial"/>
              </a:rPr>
              <a:t>MgF</a:t>
            </a:r>
            <a:r>
              <a:rPr sz="1500" b="0" baseline="-25000">
                <a:solidFill>
                  <a:srgbClr val="282828"/>
                </a:solidFill>
                <a:latin typeface="Arial"/>
              </a:rPr>
              <a:t>2</a:t>
            </a:r>
            <a:r>
              <a:rPr sz="1500" b="0">
                <a:solidFill>
                  <a:srgbClr val="282828"/>
                </a:solidFill>
                <a:latin typeface="Arial"/>
              </a:rPr>
              <a:t> layer is never a good match, but centered at 2.2 µm it helps most where the photons are scarcest (+0.04–0.05 in the long band) and still helps at the short end; the two-layer tuned to 1 µm is the better coating in the middle of the band (0.92) and the worse one at both ends.  Jim's rule, in numbers.</a:t>
            </a:r>
          </a:p>
          <a:p>
            <a:pPr>
              <a:spcAft>
                <a:spcPts val="600"/>
              </a:spcAft>
            </a:pPr>
            <a:r>
              <a:rPr sz="1500" b="0">
                <a:solidFill>
                  <a:srgbClr val="282828"/>
                </a:solidFill>
                <a:latin typeface="Arial"/>
              </a:rPr>
              <a:t>•  </a:t>
            </a:r>
            <a:r>
              <a:rPr sz="1500" b="1">
                <a:solidFill>
                  <a:srgbClr val="282828"/>
                </a:solidFill>
                <a:latin typeface="Arial"/>
              </a:rPr>
              <a:t>The blaze does the real work at the long end:</a:t>
            </a:r>
            <a:r>
              <a:rPr sz="1500" b="0">
                <a:solidFill>
                  <a:srgbClr val="282828"/>
                </a:solidFill>
                <a:latin typeface="Arial"/>
              </a:rPr>
              <a:t> a 1.8 µm blaze puts 0.89 of first-order efficiency in the long band against 0.48 for a 1 µm blaze, at the price of the short band, where the photons are plentiful.  The scalar estimate says where the light goes, not the absolute efficiency; a vector grating calculation is the next step there.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dyson5_throughput_band.txt (dyson5_throughput_band.m, thinfilm_rt); route 2 of the record = the 1.0 µm two-layer row.  No detector QE, slit loss or mirrors.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template applied: the 1.5k module, with the deviations as they occurred</a:t>
            </a:r>
          </a:p>
          <a:p>
            <a:pPr>
              <a:spcAft>
                <a:spcPts val="0"/>
              </a:spcAft>
            </a:pPr>
            <a:r>
              <a:rPr sz="1250" b="0">
                <a:solidFill>
                  <a:srgbClr val="6E6E6E"/>
                </a:solidFill>
                <a:latin typeface="Arial"/>
              </a:rPr>
              <a:t>The same seed, rows and weights at the 1.5k spec (±2.35°, 27 mm slit) reach the pixel in five rungs; one deviation forced a new row — the first rung at the floor entered M2's body by 0.3 mm, and a clearance wall bought +2.4 mm with the floor held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1960245"/>
        </p:xfrm>
        <a:graphic>
          <a:graphicData uri="http://schemas.openxmlformats.org/drawingml/2006/table">
            <a:tbl>
              <a:tblPr firstRow="1" bandRow="1">
                <a:tableStyleId>{5C22544A-7EE6-4342-B048-85BDC9FD1C3A}</a:tableStyleId>
              </a:tblPr>
              <a:tblGrid>
                <a:gridCol w="1722535"/>
                <a:gridCol w="2411549"/>
                <a:gridCol w="1492864"/>
                <a:gridCol w="1722535"/>
                <a:gridCol w="2411549"/>
                <a:gridCol w="1607699"/>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worst FWHM (px)</a:t>
                      </a:r>
                    </a:p>
                  </a:txBody>
                  <a:tcPr marL="54864" marR="54864" marT="18288" marB="18288">
                    <a:solidFill>
                      <a:srgbClr val="1F4E79"/>
                    </a:solidFill>
                  </a:tcPr>
                </a:tc>
                <a:tc>
                  <a:txBody>
                    <a:bodyPr wrap="square"/>
                    <a:lstStyle/>
                    <a:p>
                      <a:r>
                        <a:rPr sz="1100" b="1">
                          <a:solidFill>
                            <a:srgbClr val="FFFFFF"/>
                          </a:solidFill>
                          <a:latin typeface="Arial"/>
                        </a:rPr>
                        <a:t>min energy in a pixel</a:t>
                      </a:r>
                    </a:p>
                  </a:txBody>
                  <a:tcPr marL="54864" marR="54864" marT="18288" marB="18288">
                    <a:solidFill>
                      <a:srgbClr val="1F4E79"/>
                    </a:solidFill>
                  </a:tcPr>
                </a:tc>
                <a:tc>
                  <a:txBody>
                    <a:bodyPr wrap="square"/>
                    <a:lstStyle/>
                    <a:p>
                      <a:r>
                        <a:rPr sz="1100" b="1">
                          <a:solidFill>
                            <a:srgbClr val="FFFFFF"/>
                          </a:solidFill>
                          <a:latin typeface="Arial"/>
                        </a:rPr>
                        <a:t>clearance (mm)</a:t>
                      </a:r>
                    </a:p>
                  </a:txBody>
                  <a:tcPr marL="54864" marR="54864" marT="18288" marB="18288">
                    <a:solidFill>
                      <a:srgbClr val="1F4E79"/>
                    </a:solidFill>
                  </a:tcPr>
                </a:tc>
              </a:tr>
              <a:tr h="280035">
                <a:tc>
                  <a:txBody>
                    <a:bodyPr wrap="square"/>
                    <a:lstStyle/>
                    <a:p>
                      <a:r>
                        <a:rPr sz="1100" b="0">
                          <a:solidFill>
                            <a:srgbClr val="282828"/>
                          </a:solidFill>
                          <a:latin typeface="Arial"/>
                        </a:rPr>
                        <a:t>R0 seed</a:t>
                      </a:r>
                    </a:p>
                  </a:txBody>
                  <a:tcPr marL="54864" marR="54864" marT="18288" marB="18288">
                    <a:solidFill>
                      <a:srgbClr val="FFFFFF"/>
                    </a:solidFill>
                  </a:tcPr>
                </a:tc>
                <a:tc>
                  <a:txBody>
                    <a:bodyPr wrap="square"/>
                    <a:lstStyle/>
                    <a:p>
                      <a:r>
                        <a:rPr sz="1100" b="0">
                          <a:solidFill>
                            <a:srgbClr val="282828"/>
                          </a:solidFill>
                          <a:latin typeface="Arial"/>
                        </a:rPr>
                        <a:t>first order</a:t>
                      </a:r>
                    </a:p>
                  </a:txBody>
                  <a:tcPr marL="54864" marR="54864" marT="18288" marB="18288">
                    <a:solidFill>
                      <a:srgbClr val="FFFFFF"/>
                    </a:solidFill>
                  </a:tcPr>
                </a:tc>
                <a:tc>
                  <a:txBody>
                    <a:bodyPr wrap="square"/>
                    <a:lstStyle/>
                    <a:p>
                      <a:r>
                        <a:rPr sz="1100" b="0">
                          <a:solidFill>
                            <a:srgbClr val="282828"/>
                          </a:solidFill>
                          <a:latin typeface="Arial"/>
                        </a:rPr>
                        <a:t>1876–1968</a:t>
                      </a:r>
                    </a:p>
                  </a:txBody>
                  <a:tcPr marL="54864" marR="54864" marT="18288" marB="18288">
                    <a:solidFill>
                      <a:srgbClr val="FFFFFF"/>
                    </a:solidFill>
                  </a:tcPr>
                </a:tc>
                <a:tc>
                  <a:txBody>
                    <a:bodyPr wrap="square"/>
                    <a:lstStyle/>
                    <a:p>
                      <a:r>
                        <a:rPr sz="1100" b="0">
                          <a:solidFill>
                            <a:srgbClr val="282828"/>
                          </a:solidFill>
                          <a:latin typeface="Arial"/>
                        </a:rPr>
                        <a:t>15.6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+10.1</a:t>
                      </a:r>
                    </a:p>
                  </a:txBody>
                  <a:tcPr marL="54864" marR="54864" marT="18288" marB="18288">
                    <a:solidFill>
                      <a:srgbClr val="FFFFFF"/>
                    </a:solidFill>
                  </a:tcPr>
                </a:tc>
              </a:tr>
              <a:tr h="280035">
                <a:tc>
                  <a:txBody>
                    <a:bodyPr wrap="square"/>
                    <a:lstStyle/>
                    <a:p>
                      <a:r>
                        <a:rPr sz="1100" b="0">
                          <a:solidFill>
                            <a:srgbClr val="282828"/>
                          </a:solidFill>
                          <a:latin typeface="Arial"/>
                        </a:rPr>
                        <a:t>R1 conic</a:t>
                      </a:r>
                    </a:p>
                  </a:txBody>
                  <a:tcPr marL="54864" marR="54864" marT="18288" marB="18288">
                    <a:solidFill>
                      <a:srgbClr val="ECF1F6"/>
                    </a:solidFill>
                  </a:tcPr>
                </a:tc>
                <a:tc>
                  <a:txBody>
                    <a:bodyPr wrap="square"/>
                    <a:lstStyle/>
                    <a:p>
                      <a:r>
                        <a:rPr sz="1100" b="0">
                          <a:solidFill>
                            <a:srgbClr val="282828"/>
                          </a:solidFill>
                          <a:latin typeface="Arial"/>
                        </a:rPr>
                        <a:t>θ, slit focus</a:t>
                      </a:r>
                    </a:p>
                  </a:txBody>
                  <a:tcPr marL="54864" marR="54864" marT="18288" marB="18288">
                    <a:solidFill>
                      <a:srgbClr val="ECF1F6"/>
                    </a:solidFill>
                  </a:tcPr>
                </a:tc>
                <a:tc>
                  <a:txBody>
                    <a:bodyPr wrap="square"/>
                    <a:lstStyle/>
                    <a:p>
                      <a:r>
                        <a:rPr sz="1100" b="0">
                          <a:solidFill>
                            <a:srgbClr val="282828"/>
                          </a:solidFill>
                          <a:latin typeface="Arial"/>
                        </a:rPr>
                        <a:t>151–187</a:t>
                      </a:r>
                    </a:p>
                  </a:txBody>
                  <a:tcPr marL="54864" marR="54864" marT="18288" marB="18288">
                    <a:solidFill>
                      <a:srgbClr val="ECF1F6"/>
                    </a:solidFill>
                  </a:tcPr>
                </a:tc>
                <a:tc>
                  <a:txBody>
                    <a:bodyPr wrap="square"/>
                    <a:lstStyle/>
                    <a:p>
                      <a:r>
                        <a:rPr sz="1100" b="0">
                          <a:solidFill>
                            <a:srgbClr val="282828"/>
                          </a:solidFill>
                          <a:latin typeface="Arial"/>
                        </a:rPr>
                        <a:t>10.8</a:t>
                      </a:r>
                    </a:p>
                  </a:txBody>
                  <a:tcPr marL="54864" marR="54864" marT="18288" marB="18288">
                    <a:solidFill>
                      <a:srgbClr val="ECF1F6"/>
                    </a:solidFill>
                  </a:tcPr>
                </a:tc>
                <a:tc>
                  <a:txBody>
                    <a:bodyPr wrap="square"/>
                    <a:lstStyle/>
                    <a:p>
                      <a:r>
                        <a:rPr sz="1100" b="0">
                          <a:solidFill>
                            <a:srgbClr val="282828"/>
                          </a:solidFill>
                          <a:latin typeface="Arial"/>
                        </a:rPr>
                        <a:t>0.00</a:t>
                      </a:r>
                    </a:p>
                  </a:txBody>
                  <a:tcPr marL="54864" marR="54864" marT="18288" marB="18288">
                    <a:solidFill>
                      <a:srgbClr val="ECF1F6"/>
                    </a:solidFill>
                  </a:tcPr>
                </a:tc>
                <a:tc>
                  <a:txBody>
                    <a:bodyPr wrap="square"/>
                    <a:lstStyle/>
                    <a:p>
                      <a:r>
                        <a:rPr sz="1100" b="0">
                          <a:solidFill>
                            <a:srgbClr val="282828"/>
                          </a:solidFill>
                          <a:latin typeface="Arial"/>
                        </a:rPr>
                        <a:t>+17.1</a:t>
                      </a:r>
                    </a:p>
                  </a:txBody>
                  <a:tcPr marL="54864" marR="54864" marT="18288" marB="18288">
                    <a:solidFill>
                      <a:srgbClr val="ECF1F6"/>
                    </a:solidFill>
                  </a:tcPr>
                </a:tc>
              </a:tr>
              <a:tr h="280035">
                <a:tc>
                  <a:txBody>
                    <a:bodyPr wrap="square"/>
                    <a:lstStyle/>
                    <a:p>
                      <a:r>
                        <a:rPr sz="1100" b="0">
                          <a:solidFill>
                            <a:srgbClr val="282828"/>
                          </a:solidFill>
                          <a:latin typeface="Arial"/>
                        </a:rPr>
                        <a:t>R2 asphere</a:t>
                      </a:r>
                    </a:p>
                  </a:txBody>
                  <a:tcPr marL="54864" marR="54864" marT="18288" marB="18288">
                    <a:solidFill>
                      <a:srgbClr val="FFFFFF"/>
                    </a:solidFill>
                  </a:tcPr>
                </a:tc>
                <a:tc>
                  <a:txBody>
                    <a:bodyPr wrap="square"/>
                    <a:lstStyle/>
                    <a:p>
                      <a:r>
                        <a:rPr sz="1100" b="0">
                          <a:solidFill>
                            <a:srgbClr val="282828"/>
                          </a:solidFill>
                          <a:latin typeface="Arial"/>
                        </a:rPr>
                        <a:t>+ h⁴, h⁶</a:t>
                      </a:r>
                    </a:p>
                  </a:txBody>
                  <a:tcPr marL="54864" marR="54864" marT="18288" marB="18288">
                    <a:solidFill>
                      <a:srgbClr val="FFFFFF"/>
                    </a:solidFill>
                  </a:tcPr>
                </a:tc>
                <a:tc>
                  <a:txBody>
                    <a:bodyPr wrap="square"/>
                    <a:lstStyle/>
                    <a:p>
                      <a:r>
                        <a:rPr sz="1100" b="0">
                          <a:solidFill>
                            <a:srgbClr val="282828"/>
                          </a:solidFill>
                          <a:latin typeface="Arial"/>
                        </a:rPr>
                        <a:t>57–152</a:t>
                      </a:r>
                    </a:p>
                  </a:txBody>
                  <a:tcPr marL="54864" marR="54864" marT="18288" marB="18288">
                    <a:solidFill>
                      <a:srgbClr val="FFFFFF"/>
                    </a:solidFill>
                  </a:tcPr>
                </a:tc>
                <a:tc>
                  <a:txBody>
                    <a:bodyPr wrap="square"/>
                    <a:lstStyle/>
                    <a:p>
                      <a:r>
                        <a:rPr sz="1100" b="0">
                          <a:solidFill>
                            <a:srgbClr val="282828"/>
                          </a:solidFill>
                          <a:latin typeface="Arial"/>
                        </a:rPr>
                        <a:t>14.7</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c>
                  <a:txBody>
                    <a:bodyPr wrap="square"/>
                    <a:lstStyle/>
                    <a:p>
                      <a:r>
                        <a:rPr sz="1100" b="0">
                          <a:solidFill>
                            <a:srgbClr val="282828"/>
                          </a:solidFill>
                          <a:latin typeface="Arial"/>
                        </a:rPr>
                        <a:t>+13.9</a:t>
                      </a:r>
                    </a:p>
                  </a:txBody>
                  <a:tcPr marL="54864" marR="54864" marT="18288" marB="18288">
                    <a:solidFill>
                      <a:srgbClr val="FFFFFF"/>
                    </a:solidFill>
                  </a:tcPr>
                </a:tc>
              </a:tr>
              <a:tr h="280035">
                <a:tc>
                  <a:txBody>
                    <a:bodyPr wrap="square"/>
                    <a:lstStyle/>
                    <a:p>
                      <a:r>
                        <a:rPr sz="1100" b="0">
                          <a:solidFill>
                            <a:srgbClr val="282828"/>
                          </a:solidFill>
                          <a:latin typeface="Arial"/>
                        </a:rPr>
                        <a:t>R3 freeform 3–4</a:t>
                      </a:r>
                    </a:p>
                  </a:txBody>
                  <a:tcPr marL="54864" marR="54864" marT="18288" marB="18288">
                    <a:solidFill>
                      <a:srgbClr val="ECF1F6"/>
                    </a:solidFill>
                  </a:tcPr>
                </a:tc>
                <a:tc>
                  <a:txBody>
                    <a:bodyPr wrap="square"/>
                    <a:lstStyle/>
                    <a:p>
                      <a:r>
                        <a:rPr sz="1100" b="0">
                          <a:solidFill>
                            <a:srgbClr val="282828"/>
                          </a:solidFill>
                          <a:latin typeface="Arial"/>
                        </a:rPr>
                        <a:t>pole-frame polynomial</a:t>
                      </a:r>
                    </a:p>
                  </a:txBody>
                  <a:tcPr marL="54864" marR="54864" marT="18288" marB="18288">
                    <a:solidFill>
                      <a:srgbClr val="ECF1F6"/>
                    </a:solidFill>
                  </a:tcPr>
                </a:tc>
                <a:tc>
                  <a:txBody>
                    <a:bodyPr wrap="square"/>
                    <a:lstStyle/>
                    <a:p>
                      <a:r>
                        <a:rPr sz="1100" b="0">
                          <a:solidFill>
                            <a:srgbClr val="282828"/>
                          </a:solidFill>
                          <a:latin typeface="Arial"/>
                        </a:rPr>
                        <a:t>17–21</a:t>
                      </a:r>
                    </a:p>
                  </a:txBody>
                  <a:tcPr marL="54864" marR="54864" marT="18288" marB="18288">
                    <a:solidFill>
                      <a:srgbClr val="ECF1F6"/>
                    </a:solidFill>
                  </a:tcPr>
                </a:tc>
                <a:tc>
                  <a:txBody>
                    <a:bodyPr wrap="square"/>
                    <a:lstStyle/>
                    <a:p>
                      <a:r>
                        <a:rPr sz="1100" b="0">
                          <a:solidFill>
                            <a:srgbClr val="282828"/>
                          </a:solidFill>
                          <a:latin typeface="Arial"/>
                        </a:rPr>
                        <a:t>1.92</a:t>
                      </a:r>
                    </a:p>
                  </a:txBody>
                  <a:tcPr marL="54864" marR="54864" marT="18288" marB="18288">
                    <a:solidFill>
                      <a:srgbClr val="ECF1F6"/>
                    </a:solidFill>
                  </a:tcPr>
                </a:tc>
                <a:tc>
                  <a:txBody>
                    <a:bodyPr wrap="square"/>
                    <a:lstStyle/>
                    <a:p>
                      <a:r>
                        <a:rPr sz="1100" b="0">
                          <a:solidFill>
                            <a:srgbClr val="282828"/>
                          </a:solidFill>
                          <a:latin typeface="Arial"/>
                        </a:rPr>
                        <a:t>0.22</a:t>
                      </a:r>
                    </a:p>
                  </a:txBody>
                  <a:tcPr marL="54864" marR="54864" marT="18288" marB="18288">
                    <a:solidFill>
                      <a:srgbClr val="ECF1F6"/>
                    </a:solidFill>
                  </a:tcPr>
                </a:tc>
                <a:tc>
                  <a:txBody>
                    <a:bodyPr wrap="square"/>
                    <a:lstStyle/>
                    <a:p>
                      <a:r>
                        <a:rPr sz="1100" b="0">
                          <a:solidFill>
                            <a:srgbClr val="282828"/>
                          </a:solidFill>
                          <a:latin typeface="Arial"/>
                        </a:rPr>
                        <a:t>+1.2</a:t>
                      </a:r>
                    </a:p>
                  </a:txBody>
                  <a:tcPr marL="54864" marR="54864" marT="18288" marB="18288">
                    <a:solidFill>
                      <a:srgbClr val="ECF1F6"/>
                    </a:solidFill>
                  </a:tcPr>
                </a:tc>
              </a:tr>
              <a:tr h="280035">
                <a:tc>
                  <a:txBody>
                    <a:bodyPr wrap="square"/>
                    <a:lstStyle/>
                    <a:p>
                      <a:r>
                        <a:rPr sz="1100" b="0">
                          <a:solidFill>
                            <a:srgbClr val="282828"/>
                          </a:solidFill>
                          <a:latin typeface="Arial"/>
                        </a:rPr>
                        <a:t>R4 freeform 3–6</a:t>
                      </a:r>
                    </a:p>
                  </a:txBody>
                  <a:tcPr marL="54864" marR="54864" marT="18288" marB="18288">
                    <a:solidFill>
                      <a:srgbClr val="FFFFFF"/>
                    </a:solidFill>
                  </a:tcPr>
                </a:tc>
                <a:tc>
                  <a:txBody>
                    <a:bodyPr wrap="square"/>
                    <a:lstStyle/>
                    <a:p>
                      <a:r>
                        <a:rPr sz="1100" b="0">
                          <a:solidFill>
                            <a:srgbClr val="282828"/>
                          </a:solidFill>
                          <a:latin typeface="Arial"/>
                        </a:rPr>
                        <a:t>degree 3–6</a:t>
                      </a:r>
                    </a:p>
                  </a:txBody>
                  <a:tcPr marL="54864" marR="54864" marT="18288" marB="18288">
                    <a:solidFill>
                      <a:srgbClr val="FFFFFF"/>
                    </a:solidFill>
                  </a:tcPr>
                </a:tc>
                <a:tc>
                  <a:txBody>
                    <a:bodyPr wrap="square"/>
                    <a:lstStyle/>
                    <a:p>
                      <a:r>
                        <a:rPr sz="1100" b="0">
                          <a:solidFill>
                            <a:srgbClr val="282828"/>
                          </a:solidFill>
                          <a:latin typeface="Arial"/>
                        </a:rPr>
                        <a:t>0.73–0.98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r h="280035">
                <a:tc>
                  <a:txBody>
                    <a:bodyPr wrap="square"/>
                    <a:lstStyle/>
                    <a:p>
                      <a:r>
                        <a:rPr sz="1100" b="0">
                          <a:solidFill>
                            <a:srgbClr val="282828"/>
                          </a:solidFill>
                          <a:latin typeface="Arial"/>
                        </a:rPr>
                        <a:t>R5 ffc</a:t>
                      </a:r>
                    </a:p>
                  </a:txBody>
                  <a:tcPr marL="54864" marR="54864" marT="18288" marB="18288">
                    <a:solidFill>
                      <a:srgbClr val="ECF1F6"/>
                    </a:solidFill>
                  </a:tcPr>
                </a:tc>
                <a:tc>
                  <a:txBody>
                    <a:bodyPr wrap="square"/>
                    <a:lstStyle/>
                    <a:p>
                      <a:r>
                        <a:rPr sz="1100" b="0">
                          <a:solidFill>
                            <a:srgbClr val="282828"/>
                          </a:solidFill>
                          <a:latin typeface="Arial"/>
                        </a:rPr>
                        <a:t>R4 + the CLEAR wall</a:t>
                      </a:r>
                    </a:p>
                  </a:txBody>
                  <a:tcPr marL="54864" marR="54864" marT="18288" marB="18288">
                    <a:solidFill>
                      <a:srgbClr val="ECF1F6"/>
                    </a:solidFill>
                  </a:tcPr>
                </a:tc>
                <a:tc>
                  <a:txBody>
                    <a:bodyPr wrap="square"/>
                    <a:lstStyle/>
                    <a:p>
                      <a:r>
                        <a:rPr sz="1100" b="0">
                          <a:solidFill>
                            <a:srgbClr val="282828"/>
                          </a:solidFill>
                          <a:latin typeface="Arial"/>
                        </a:rPr>
                        <a:t>0.76–0.96</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+2.4</a:t>
                      </a:r>
                    </a:p>
                  </a:txBody>
                  <a:tcPr marL="54864" marR="54864" marT="18288" marB="18288">
                    <a:solidFill>
                      <a:srgbClr val="ECF1F6"/>
                    </a:solidFill>
                  </a:tcPr>
                </a:tc>
              </a:tr>
            </a:tbl>
          </a:graphicData>
        </a:graphic>
      </p:graphicFrame>
      <p:sp>
        <p:nvSpPr>
          <p:cNvPr id="5" name="TextBox 4"/>
          <p:cNvSpPr txBox="1"/>
          <p:nvPr/>
        </p:nvSpPr>
        <p:spPr>
          <a:xfrm>
            <a:off x="411480" y="340499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same:</a:t>
            </a:r>
            <a:r>
              <a:rPr sz="1200" b="0">
                <a:solidFill>
                  <a:srgbClr val="282828"/>
                </a:solidFill>
                <a:latin typeface="Arial"/>
              </a:rPr>
              <a:t> f, D, F/1.8; the seed's legs and incidences; the rows and weights the 3k ladder settled (slide 12), from R1 on — no equal-weight detour, no test rung.  </a:t>
            </a:r>
            <a:r>
              <a:rPr sz="1200" b="1">
                <a:solidFill>
                  <a:srgbClr val="282828"/>
                </a:solidFill>
                <a:latin typeface="Arial"/>
              </a:rPr>
              <a:t>Changed by parameter only:</a:t>
            </a:r>
            <a:r>
              <a:rPr sz="1200" b="0">
                <a:solidFill>
                  <a:srgbClr val="282828"/>
                </a:solidFill>
                <a:latin typeface="Arial"/>
              </a:rPr>
              <a:t> the strip, the slit, and the spectrometer joined (the 130 mm silica Dyson of record).</a:t>
            </a:r>
          </a:p>
          <a:p>
            <a:pPr>
              <a:spcAft>
                <a:spcPts val="600"/>
              </a:spcAft>
            </a:pPr>
            <a:r>
              <a:rPr sz="1200" b="0">
                <a:solidFill>
                  <a:srgbClr val="282828"/>
                </a:solidFill>
                <a:latin typeface="Arial"/>
              </a:rPr>
              <a:t>•  </a:t>
            </a:r>
            <a:r>
              <a:rPr sz="1200" b="1">
                <a:solidFill>
                  <a:srgbClr val="282828"/>
                </a:solidFill>
                <a:latin typeface="Arial"/>
              </a:rPr>
              <a:t>Deviation 1, expected:</a:t>
            </a:r>
            <a:r>
              <a:rPr sz="1200" b="0">
                <a:solidFill>
                  <a:srgbClr val="282828"/>
                </a:solidFill>
                <a:latin typeface="Arial"/>
              </a:rPr>
              <a:t> aspheres are not enough at 1.5k either (R2 57–152 µm); the pixel needs the freeform, as on the 3k.</a:t>
            </a:r>
          </a:p>
          <a:p>
            <a:pPr>
              <a:spcAft>
                <a:spcPts val="600"/>
              </a:spcAft>
            </a:pPr>
            <a:r>
              <a:rPr sz="1200" b="0">
                <a:solidFill>
                  <a:srgbClr val="282828"/>
                </a:solidFill>
                <a:latin typeface="Arial"/>
              </a:rPr>
              <a:t>•  </a:t>
            </a:r>
            <a:r>
              <a:rPr sz="1200" b="1">
                <a:solidFill>
                  <a:srgbClr val="282828"/>
                </a:solidFill>
                <a:latin typeface="Arial"/>
              </a:rPr>
              <a:t>Deviation 2, the new row:</a:t>
            </a:r>
            <a:r>
              <a:rPr sz="1200" b="0">
                <a:solidFill>
                  <a:srgbClr val="282828"/>
                </a:solidFill>
                <a:latin typeface="Arial"/>
              </a:rPr>
              <a:t> R4 reached 1.02 px at every field with its M3 → slit leg 0.3 mm inside M2's body (the 3k never came near: +12 mm).  CLEAR scores the clearance rule every iterate, a hinge to 2 mm at merit scale (weight 3000): R5 clears by +2.4 mm and keeps the floor.  The row is now in the template.</a:t>
            </a:r>
          </a:p>
        </p:txBody>
      </p:sp>
      <p:sp>
        <p:nvSpPr>
          <p:cNvPr id="6" name="TextBox 5"/>
          <p:cNvSpPr txBox="1"/>
          <p:nvPr/>
        </p:nvSpPr>
        <p:spPr>
          <a:xfrm>
            <a:off x="6400800" y="3404997"/>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Deviation 3, an absence:</a:t>
            </a:r>
            <a:r>
              <a:rPr sz="1200" b="0">
                <a:solidFill>
                  <a:srgbClr val="282828"/>
                </a:solidFill>
                <a:latin typeface="Arial"/>
              </a:rPr>
              <a:t> the two launches agree to 0.001 px.  With the OFF rows in from the first rung the chief − centroid offset that gave the 3k its 0.14 px never appeared; the 3k's R9 step was not needed.</a:t>
            </a:r>
          </a:p>
          <a:p>
            <a:pPr>
              <a:spcAft>
                <a:spcPts val="600"/>
              </a:spcAft>
            </a:pPr>
            <a:r>
              <a:rPr sz="1200" b="0">
                <a:solidFill>
                  <a:srgbClr val="282828"/>
                </a:solidFill>
                <a:latin typeface="Arial"/>
              </a:rPr>
              <a:t>•  </a:t>
            </a:r>
            <a:r>
              <a:rPr sz="1200" b="1">
                <a:solidFill>
                  <a:srgbClr val="282828"/>
                </a:solidFill>
                <a:latin typeface="Arial"/>
              </a:rPr>
              <a:t>Telescope alone (R5):</a:t>
            </a:r>
            <a:r>
              <a:rPr sz="1200" b="0">
                <a:solidFill>
                  <a:srgbClr val="282828"/>
                </a:solidFill>
                <a:latin typeface="Arial"/>
              </a:rPr>
              <a:t> plate 329.98 / 329.75 mm, chiefs within 0.008° of the slit normal, F/1.89 along, 1.80 across.</a:t>
            </a:r>
          </a:p>
          <a:p>
            <a:pPr>
              <a:spcAft>
                <a:spcPts val="600"/>
              </a:spcAft>
            </a:pPr>
            <a:r>
              <a:rPr sz="1200" b="0">
                <a:solidFill>
                  <a:srgbClr val="282828"/>
                </a:solidFill>
                <a:latin typeface="Arial"/>
              </a:rPr>
              <a:t>•  </a:t>
            </a:r>
            <a:r>
              <a:rPr sz="1200" b="1">
                <a:solidFill>
                  <a:srgbClr val="282828"/>
                </a:solidFill>
                <a:latin typeface="Arial"/>
              </a:rPr>
              <a:t>End to end, roll 0 / 180:</a:t>
            </a:r>
            <a:r>
              <a:rPr sz="1200" b="0">
                <a:solidFill>
                  <a:srgbClr val="282828"/>
                </a:solidFill>
                <a:latin typeface="Arial"/>
              </a:rPr>
              <a:t> smile 0.009 / 0.011, keystone 0.009 / 0.012, CRF 1.03, SRF 2.024 (the floor), energy in a pixel 0.97 / 0.99, grating admits 0.987, clearance +0.6 mm.  Joe's spec met under both launches except SRF, at the floor; the paper's five pass.  Against the three-asphere 1.5k (smile 0.08 / 0.50 point-source, SRF 2.21, energy 0.30–0.39) every line improves but keystone at roll 180: 0.012 against 0.009, a tenth of the bound.</a:t>
            </a:r>
          </a:p>
        </p:txBody>
      </p:sp>
      <p:sp>
        <p:nvSpPr>
          <p:cNvPr id="7" name="TextBox 6"/>
          <p:cNvSpPr txBox="1"/>
          <p:nvPr/>
        </p:nvSpPr>
        <p:spPr>
          <a:xfrm>
            <a:off x="6400800" y="6437757"/>
            <a:ext cx="5394960" cy="274320"/>
          </a:xfrm>
          <a:prstGeom prst="rect">
            <a:avLst/>
          </a:prstGeom>
          <a:noFill/>
        </p:spPr>
        <p:txBody>
          <a:bodyPr wrap="square">
            <a:spAutoFit/>
          </a:bodyPr>
          <a:lstStyle/>
          <a:p>
            <a:pPr>
              <a:spcAft>
                <a:spcPts val="600"/>
              </a:spcAft>
            </a:pPr>
            <a:r>
              <a:rPr sz="1050" b="0">
                <a:solidFill>
                  <a:srgbClr val="6E6E6E"/>
                </a:solidFill>
                <a:latin typeface="Arial"/>
              </a:rPr>
              <a:t>tma_longslit_1k5.m; tls1k5_figure.txt, tls1k5_e2e.txt, dyson5_cprime_1k5.in (pinned by tTmaLongslit), dyson5_rescore_1k5_launch.txt; model 256, nine fields.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a:t>
            </a:r>
          </a:p>
          <a:p>
            <a:pPr>
              <a:spcAft>
                <a:spcPts val="0"/>
              </a:spcAft>
            </a:pPr>
            <a:r>
              <a:rPr sz="1250" b="0">
                <a:solidFill>
                  <a:srgbClr val="6E6E6E"/>
                </a:solidFill>
                <a:latin typeface="Arial"/>
              </a:rPr>
              <a:t>Both modules image at the pixel end to end; the trade is labor, detectors and integration, not optics or glass.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2025"/>
        </p:xfrm>
        <a:graphic>
          <a:graphicData uri="http://schemas.openxmlformats.org/drawingml/2006/table">
            <a:tbl>
              <a:tblPr firstRow="1" bandRow="1">
                <a:tableStyleId>{5C22544A-7EE6-4342-B048-85BDC9FD1C3A}</a:tableStyleId>
              </a:tblPr>
              <a:tblGrid>
                <a:gridCol w="2668172"/>
                <a:gridCol w="3634901"/>
                <a:gridCol w="506566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the template's default run (R9): 1.02 px at every field</a:t>
                      </a:r>
                    </a:p>
                  </a:txBody>
                  <a:tcPr marL="54864" marR="54864" marT="18288" marB="18288">
                    <a:solidFill>
                      <a:srgbClr val="FFFFFF"/>
                    </a:solidFill>
                  </a:tcPr>
                </a:tc>
                <a:tc>
                  <a:txBody>
                    <a:bodyPr wrap="square"/>
                    <a:lstStyle/>
                    <a:p>
                      <a:r>
                        <a:rPr sz="1100" b="0">
                          <a:solidFill>
                            <a:srgbClr val="282828"/>
                          </a:solidFill>
                          <a:latin typeface="Arial"/>
                        </a:rPr>
                        <a:t>the template at the 1.5k spec (R5 ffc, slide 17): 1.02 px at every field</a:t>
                      </a:r>
                    </a:p>
                  </a:txBody>
                  <a:tcPr marL="54864" marR="54864" marT="18288" marB="18288">
                    <a:solidFill>
                      <a:srgbClr val="FFFFFF"/>
                    </a:solidFill>
                  </a:tcPr>
                </a:tc>
              </a:tr>
              <a:tr h="468630">
                <a:tc>
                  <a:txBody>
                    <a:bodyPr wrap="square"/>
                    <a:lstStyle/>
                    <a:p>
                      <a:r>
                        <a:rPr sz="1100" b="0">
                          <a:solidFill>
                            <a:srgbClr val="282828"/>
                          </a:solidFill>
                          <a:latin typeface="Arial"/>
                        </a:rPr>
                        <a:t>end to end: smile (slit-filled / point-source) / keystone / CRF / SRF</a:t>
                      </a:r>
                    </a:p>
                  </a:txBody>
                  <a:tcPr marL="54864" marR="54864" marT="18288" marB="18288">
                    <a:solidFill>
                      <a:srgbClr val="ECF1F6"/>
                    </a:solidFill>
                  </a:tcPr>
                </a:tc>
                <a:tc>
                  <a:txBody>
                    <a:bodyPr wrap="square"/>
                    <a:lstStyle/>
                    <a:p>
                      <a:r>
                        <a:rPr sz="1100" b="0">
                          <a:solidFill>
                            <a:srgbClr val="282828"/>
                          </a:solidFill>
                          <a:latin typeface="Arial"/>
                        </a:rPr>
                        <a:t>0.02 / 0.02 / 0.006 / 1.17 / 2.025 px</a:t>
                      </a:r>
                    </a:p>
                  </a:txBody>
                  <a:tcPr marL="54864" marR="54864" marT="18288" marB="18288">
                    <a:solidFill>
                      <a:srgbClr val="ECF1F6"/>
                    </a:solidFill>
                  </a:tcPr>
                </a:tc>
                <a:tc>
                  <a:txBody>
                    <a:bodyPr wrap="square"/>
                    <a:lstStyle/>
                    <a:p>
                      <a:r>
                        <a:rPr sz="1100" b="0">
                          <a:solidFill>
                            <a:srgbClr val="282828"/>
                          </a:solidFill>
                          <a:latin typeface="Arial"/>
                        </a:rPr>
                        <a:t>0.009 / 0.009 / 0.009 / 1.03 / 2.024 px</a:t>
                      </a:r>
                    </a:p>
                  </a:txBody>
                  <a:tcPr marL="54864" marR="54864" marT="18288" marB="18288">
                    <a:solidFill>
                      <a:srgbClr val="ECF1F6"/>
                    </a:solidFill>
                  </a:tcPr>
                </a:tc>
              </a:tr>
              <a:tr h="468630">
                <a:tc>
                  <a:txBody>
                    <a:bodyPr wrap="square"/>
                    <a:lstStyle/>
                    <a:p>
                      <a:r>
                        <a:rPr sz="1100" b="0">
                          <a:solidFill>
                            <a:srgbClr val="282828"/>
                          </a:solidFill>
                          <a:latin typeface="Arial"/>
                        </a:rPr>
                        <a:t>end to end: energy in one pixel, worst field</a:t>
                      </a:r>
                    </a:p>
                  </a:txBody>
                  <a:tcPr marL="54864" marR="54864" marT="18288" marB="18288">
                    <a:solidFill>
                      <a:srgbClr val="FFFFFF"/>
                    </a:solidFill>
                  </a:tcPr>
                </a:tc>
                <a:tc>
                  <a:txBody>
                    <a:bodyPr wrap="square"/>
                    <a:lstStyle/>
                    <a:p>
                      <a:r>
                        <a:rPr sz="1100" b="0">
                          <a:solidFill>
                            <a:srgbClr val="282828"/>
                          </a:solidFill>
                          <a:latin typeface="Arial"/>
                        </a:rPr>
                        <a:t>0.85</a:t>
                      </a:r>
                    </a:p>
                  </a:txBody>
                  <a:tcPr marL="54864" marR="54864" marT="18288" marB="18288">
                    <a:solidFill>
                      <a:srgbClr val="FFFFFF"/>
                    </a:solidFill>
                  </a:tcPr>
                </a:tc>
                <a:tc>
                  <a:txBody>
                    <a:bodyPr wrap="square"/>
                    <a:lstStyle/>
                    <a:p>
                      <a:r>
                        <a:rPr sz="1100" b="0">
                          <a:solidFill>
                            <a:srgbClr val="282828"/>
                          </a:solidFill>
                          <a:latin typeface="Arial"/>
                        </a:rPr>
                        <a:t>0.97</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98.7 %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+0.6 mm (the same pair); telescope alone +2.4 mm</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468630">
                <a:tc>
                  <a:txBody>
                    <a:bodyPr wrap="square"/>
                    <a:lstStyle/>
                    <a:p>
                      <a:r>
                        <a:rPr sz="1100" b="0">
                          <a:solidFill>
                            <a:srgbClr val="282828"/>
                          </a:solidFill>
                          <a:latin typeface="Arial"/>
                        </a:rPr>
                        <a:t>the block of modules: envelope; optics</a:t>
                      </a:r>
                    </a:p>
                  </a:txBody>
                  <a:tcPr marL="54864" marR="54864" marT="18288" marB="18288">
                    <a:solidFill>
                      <a:srgbClr val="FFFFFF"/>
                    </a:solidFill>
                  </a:tcPr>
                </a:tc>
                <a:tc>
                  <a:txBody>
                    <a:bodyPr wrap="square"/>
                    <a:lstStyle/>
                    <a:p>
                      <a:r>
                        <a:rPr sz="1100" b="0">
                          <a:solidFill>
                            <a:srgbClr val="282828"/>
                          </a:solidFill>
                          <a:latin typeface="Arial"/>
                        </a:rPr>
                        <a:t>0.75 × 0.60 × 1.36 m, 609 L; 39 kg</a:t>
                      </a:r>
                    </a:p>
                  </a:txBody>
                  <a:tcPr marL="54864" marR="54864" marT="18288" marB="18288">
                    <a:solidFill>
                      <a:srgbClr val="FFFFFF"/>
                    </a:solidFill>
                  </a:tcPr>
                </a:tc>
                <a:tc>
                  <a:txBody>
                    <a:bodyPr wrap="square"/>
                    <a:lstStyle/>
                    <a:p>
                      <a:r>
                        <a:rPr sz="1100" b="0">
                          <a:solidFill>
                            <a:srgbClr val="282828"/>
                          </a:solidFill>
                          <a:latin typeface="Arial"/>
                        </a:rPr>
                        <a:t>1.01 × 0.53 × 0.92 m, 494 L; 21.4 kg (the three-asphere record's block: 300 L, 14.6 kg — the zig-zag's M2 and M3 are full aperture)</a:t>
                      </a:r>
                    </a:p>
                  </a:txBody>
                  <a:tcPr marL="54864" marR="54864" marT="18288" marB="18288">
                    <a:solidFill>
                      <a:srgbClr val="FFFFFF"/>
                    </a:solidFill>
                  </a:tcPr>
                </a:tc>
              </a:tr>
              <a:tr h="468630">
                <a:tc>
                  <a:txBody>
                    <a:bodyPr wrap="square"/>
                    <a:lstStyle/>
                    <a:p>
                      <a:r>
                        <a:rPr sz="1100" b="0">
                          <a:solidFill>
                            <a:srgbClr val="282828"/>
                          </a:solidFill>
                          <a:latin typeface="Arial"/>
                        </a:rPr>
                        <a:t>telescopes / spectrometers / detectors</a:t>
                      </a:r>
                    </a:p>
                  </a:txBody>
                  <a:tcPr marL="54864" marR="54864" marT="18288" marB="18288">
                    <a:solidFill>
                      <a:srgbClr val="ECF1F6"/>
                    </a:solidFill>
                  </a:tcPr>
                </a:tc>
                <a:tc>
                  <a:txBody>
                    <a:bodyPr wrap="square"/>
                    <a:lstStyle/>
                    <a:p>
                      <a:r>
                        <a:rPr sz="1100" b="0">
                          <a:solidFill>
                            <a:srgbClr val="282828"/>
                          </a:solidFill>
                          <a:latin typeface="Arial"/>
                        </a:rPr>
                        <a:t>2 / 2 / 2 × (3072 × 512, a standard format)</a:t>
                      </a:r>
                    </a:p>
                  </a:txBody>
                  <a:tcPr marL="54864" marR="54864" marT="18288" marB="18288">
                    <a:solidFill>
                      <a:srgbClr val="ECF1F6"/>
                    </a:solidFill>
                  </a:tcPr>
                </a:tc>
                <a:tc>
                  <a:txBody>
                    <a:bodyPr wrap="square"/>
                    <a:lstStyle/>
                    <a:p>
                      <a:r>
                        <a:rPr sz="1100" b="0">
                          <a:solidFill>
                            <a:srgbClr val="282828"/>
                          </a:solidFill>
                          <a:latin typeface="Arial"/>
                        </a:rPr>
                        <a:t>4 / 4 / 4 × (1.5k × 0.5k, NRE)</a:t>
                      </a:r>
                    </a:p>
                  </a:txBody>
                  <a:tcPr marL="54864" marR="54864" marT="18288" marB="18288">
                    <a:solidFill>
                      <a:srgbClr val="ECF1F6"/>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FFFFFF"/>
                    </a:solidFill>
                  </a:tcPr>
                </a:tc>
                <a:tc>
                  <a:txBody>
                    <a:bodyPr wrap="square"/>
                    <a:lstStyle/>
                    <a:p>
                      <a:r>
                        <a:rPr sz="1100" b="0">
                          <a:solidFill>
                            <a:srgbClr val="282828"/>
                          </a:solidFill>
                          <a:latin typeface="Arial"/>
                        </a:rPr>
                        <a:t>two of each</a:t>
                      </a:r>
                    </a:p>
                  </a:txBody>
                  <a:tcPr marL="54864" marR="54864" marT="18288" marB="18288">
                    <a:solidFill>
                      <a:srgbClr val="FFFFFF"/>
                    </a:solidFill>
                  </a:tcPr>
                </a:tc>
                <a:tc>
                  <a:txBody>
                    <a:bodyPr wrap="square"/>
                    <a:lstStyle/>
                    <a:p>
                      <a:r>
                        <a:rPr sz="1100" b="0">
                          <a:solidFill>
                            <a:srgbClr val="282828"/>
                          </a:solidFill>
                          <a:latin typeface="Arial"/>
                        </a:rPr>
                        <a:t>four of each (Jim: the cost that dominates)</a:t>
                      </a:r>
                    </a:p>
                  </a:txBody>
                  <a:tcPr marL="54864" marR="54864" marT="18288" marB="18288">
                    <a:solidFill>
                      <a:srgbClr val="FFFFFF"/>
                    </a:solidFill>
                  </a:tcPr>
                </a:tc>
              </a:tr>
              <a:tr h="280035">
                <a:tc>
                  <a:txBody>
                    <a:bodyPr wrap="square"/>
                    <a:lstStyle/>
                    <a:p>
                      <a:r>
                        <a:rPr sz="1100" b="0">
                          <a:solidFill>
                            <a:srgbClr val="282828"/>
                          </a:solidFill>
                          <a:latin typeface="Arial"/>
                        </a:rPr>
                        <a:t>materials</a:t>
                      </a:r>
                    </a:p>
                  </a:txBody>
                  <a:tcPr marL="54864" marR="54864" marT="18288" marB="18288">
                    <a:solidFill>
                      <a:srgbClr val="ECF1F6"/>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ECF1F6"/>
                    </a:solidFill>
                  </a:tcPr>
                </a:tc>
                <a:tc>
                  <a:txBody>
                    <a:bodyPr wrap="square"/>
                    <a:lstStyle/>
                    <a:p>
                      <a:r>
                        <a:rPr sz="1100" b="0">
                          <a:solidFill>
                            <a:srgbClr val="282828"/>
                          </a:solidFill>
                          <a:latin typeface="Arial"/>
                        </a:rPr>
                        <a:t>the same</a:t>
                      </a:r>
                    </a:p>
                  </a:txBody>
                  <a:tcPr marL="54864" marR="54864" marT="18288" marB="18288">
                    <a:solidFill>
                      <a:srgbClr val="ECF1F6"/>
                    </a:solidFill>
                  </a:tcPr>
                </a:tc>
              </a:tr>
            </a:tbl>
          </a:graphicData>
        </a:graphic>
      </p:graphicFrame>
      <p:sp>
        <p:nvSpPr>
          <p:cNvPr id="5" name="TextBox 4"/>
          <p:cNvSpPr txBox="1"/>
          <p:nvPr/>
        </p:nvSpPr>
        <p:spPr>
          <a:xfrm>
            <a:off x="411480" y="6216777"/>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dyson5_t5f_cprime_centroid_roll000.txt, dyson5_block2_3k.txt; tls1k5_e2e.txt, dyson5_block4_cprime1k5.txt.  The three-asphere 1.5k of the last deck is superseded (slide 17); its smaller block is the fallback.  The air gap at the window stands on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light reaches the slit at F/1.89 along it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More on 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a vector grating efficiency to replace the scalar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and the 1.5k R5 (mirror decenter, tilt, figure; the slit's position); the mirrors sized with mounts and baffles (the blocks on slides 6 and 18 carry 10 mm blanks); the zig-zag's full-aperture M2 and M3 against the three-asphere 1.5k's smaller mirrors, if the four-module form returns.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speed bound at the slit, working distance, the seed legs); its default run is this module, tma_longslit_1k5 the other.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2822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016" b="0">
                <a:solidFill>
                  <a:srgbClr val="282828"/>
                </a:solidFill>
                <a:latin typeface="Consolas"/>
              </a:rPr>
              <a:t>cd &lt;path&gt;/MACOS_resources/mmacos                   % the mmacos folder of the repository (the engine is built already)</a:t>
            </a:r>
          </a:p>
          <a:p>
            <a:pPr algn="l">
              <a:spcAft>
                <a:spcPts val="100"/>
              </a:spcAft>
            </a:pPr>
            <a:r>
              <a:rPr sz="1016" b="0">
                <a:solidFill>
                  <a:srgbClr val="282828"/>
                </a:solidFill>
                <a:latin typeface="Consolas"/>
              </a:rPr>
              <a:t>matlab</a:t>
            </a:r>
          </a:p>
          <a:p>
            <a:pPr algn="l">
              <a:spcAft>
                <a:spcPts val="100"/>
              </a:spcAft>
            </a:pPr>
            <a:r>
              <a:rPr sz="1016" b="0">
                <a:solidFill>
                  <a:srgbClr val="282828"/>
                </a:solidFill>
                <a:latin typeface="Consolas"/>
              </a:rPr>
              <a:t>&gt;&gt; run('mmacos_setup.m');</a:t>
            </a:r>
          </a:p>
          <a:p>
            <a:pPr algn="l">
              <a:spcAft>
                <a:spcPts val="100"/>
              </a:spcAft>
            </a:pPr>
            <a:r>
              <a:rPr sz="1016" b="0">
                <a:solidFill>
                  <a:srgbClr val="282828"/>
                </a:solidFill>
                <a:latin typeface="Consolas"/>
              </a:rPr>
              <a:t>&gt;&gt; addpath('templates/10_telescopes/tma_longslit');  addpath('challenges/dyson5');</a:t>
            </a:r>
          </a:p>
          <a:p>
            <a:pPr algn="l">
              <a:spcAft>
                <a:spcPts val="100"/>
              </a:spcAft>
            </a:pPr>
            <a:r>
              <a:rPr sz="1016" b="0">
                <a:solidFill>
                  <a:srgbClr val="282828"/>
                </a:solidFill>
                <a:latin typeface="Consolas"/>
              </a:rPr>
              <a:t>&gt;&gt; P = tma_longslit_params;                        % f, D, F/#, strip, slit, pixel, the telecentric and speed bounds, the seed legs</a:t>
            </a:r>
          </a:p>
          <a:p>
            <a:pPr algn="l">
              <a:spcAft>
                <a:spcPts val="100"/>
              </a:spcAft>
            </a:pPr>
            <a:r>
              <a:rPr sz="1016" b="0">
                <a:solidFill>
                  <a:srgbClr val="282828"/>
                </a:solidFill>
                <a:latin typeface="Consolas"/>
              </a:rPr>
              <a:t>&gt;&gt; OUT = tma_longslit_run({'first_order','section','figure','score','e2e'}, P);   % the ladder to the deck of record, then the join</a:t>
            </a:r>
          </a:p>
          <a:p>
            <a:pPr algn="l">
              <a:spcAft>
                <a:spcPts val="100"/>
              </a:spcAft>
            </a:pPr>
            <a:r>
              <a:rPr sz="1016" b="0">
                <a:solidFill>
                  <a:srgbClr val="282828"/>
                </a:solidFill>
                <a:latin typeface="Consolas"/>
              </a:rPr>
              <a:t>&gt;&gt; OUT = dyson5_run(struct('stages', {{'t5f'}}, 'tel5f_deck', 'dyson5_cprime_3k.in'));   % the 3k module end to end, both launches</a:t>
            </a:r>
          </a:p>
          <a:p>
            <a:pPr algn="l">
              <a:spcAft>
                <a:spcPts val="100"/>
              </a:spcAft>
            </a:pPr>
            <a:r>
              <a:rPr sz="1016" b="0">
                <a:solidFill>
                  <a:srgbClr val="282828"/>
                </a:solidFill>
                <a:latin typeface="Consolas"/>
              </a:rPr>
              <a:t>&gt;&gt; OUT = tma_longslit_1k5;                          % the same ladder at the 1.5k spec (strip 4.7 deg, 27 mm slit), joined to the 130 mm Dyson</a:t>
            </a:r>
          </a:p>
        </p:txBody>
      </p:sp>
      <p:sp>
        <p:nvSpPr>
          <p:cNvPr id="5" name="TextBox 4"/>
          <p:cNvSpPr txBox="1"/>
          <p:nvPr/>
        </p:nvSpPr>
        <p:spPr>
          <a:xfrm>
            <a:off x="411480" y="293639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13's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737610"/>
        </p:xfrm>
        <a:graphic>
          <a:graphicData uri="http://schemas.openxmlformats.org/drawingml/2006/table">
            <a:tbl>
              <a:tblPr firstRow="1" bandRow="1">
                <a:tableStyleId>{5C22544A-7EE6-4342-B048-85BDC9FD1C3A}</a:tableStyleId>
              </a:tblPr>
              <a:tblGrid>
                <a:gridCol w="654812"/>
                <a:gridCol w="10713923"/>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468630">
                <a:tc>
                  <a:txBody>
                    <a:bodyPr wrap="square"/>
                    <a:lstStyle/>
                    <a:p>
                      <a:r>
                        <a:rPr sz="1100" b="0">
                          <a:solidFill>
                            <a:srgbClr val="282828"/>
                          </a:solidFill>
                          <a:latin typeface="Arial"/>
                        </a:rPr>
                        <a:t>3, 4, 5</a:t>
                      </a:r>
                    </a:p>
                  </a:txBody>
                  <a:tcPr marL="54864" marR="54864" marT="18288" marB="18288">
                    <a:solidFill>
                      <a:srgbClr val="FFFFFF"/>
                    </a:solidFill>
                  </a:tcPr>
                </a:tc>
                <a:tc>
                  <a:txBody>
                    <a:bodyPr wrap="square"/>
                    <a:lstStyle/>
                    <a:p>
                      <a:r>
                        <a:rPr sz="1100" b="0">
                          <a:solidFill>
                            <a:srgbClr val="282828"/>
                          </a:solidFill>
                          <a:latin typeface="Arial"/>
                        </a:rPr>
                        <a:t>BRIEF_to_dyson5.md addenda 47–49; templates/10_telescopes/tma_longslit/ (README, tma_longslit_params.m, tma_longslit_run.m);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6, 7</a:t>
                      </a:r>
                    </a:p>
                  </a:txBody>
                  <a:tcPr marL="54864" marR="54864" marT="18288" marB="18288">
                    <a:solidFill>
                      <a:srgbClr val="ECF1F6"/>
                    </a:solidFill>
                  </a:tcPr>
                </a:tc>
                <a:tc>
                  <a:txBody>
                    <a:bodyPr wrap="square"/>
                    <a:lstStyle/>
                    <a:p>
                      <a:r>
                        <a:rPr sz="1100" b="0">
                          <a:solidFill>
                            <a:srgbClr val="282828"/>
                          </a:solidFill>
                          <a:latin typeface="Arial"/>
                        </a:rPr>
                        <a:t>dyson5_block2_3k.txt, _views.png, _swath.png (tool dyson5_block4.m, nmod 2)</a:t>
                      </a:r>
                    </a:p>
                  </a:txBody>
                  <a:tcPr marL="54864" marR="54864" marT="18288" marB="18288">
                    <a:solidFill>
                      <a:srgbClr val="ECF1F6"/>
                    </a:solidFill>
                  </a:tcPr>
                </a:tc>
              </a:tr>
              <a:tr h="280035">
                <a:tc>
                  <a:txBody>
                    <a:bodyPr wrap="square"/>
                    <a:lstStyle/>
                    <a:p>
                      <a:r>
                        <a:rPr sz="1100" b="0">
                          <a:solidFill>
                            <a:srgbClr val="282828"/>
                          </a:solidFill>
                          <a:latin typeface="Arial"/>
                        </a:rPr>
                        <a:t>8</a:t>
                      </a:r>
                    </a:p>
                  </a:txBody>
                  <a:tcPr marL="54864" marR="54864" marT="18288" marB="18288">
                    <a:solidFill>
                      <a:srgbClr val="FFFFFF"/>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FFFFFF"/>
                    </a:solidFill>
                  </a:tcPr>
                </a:tc>
              </a:tr>
              <a:tr h="280035">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ECF1F6"/>
                    </a:solidFill>
                  </a:tcPr>
                </a:tc>
              </a:tr>
              <a:tr h="280035">
                <a:tc>
                  <a:txBody>
                    <a:bodyPr wrap="square"/>
                    <a:lstStyle/>
                    <a:p>
                      <a:r>
                        <a:rPr sz="1100" b="0">
                          <a:solidFill>
                            <a:srgbClr val="282828"/>
                          </a:solidFill>
                          <a:latin typeface="Arial"/>
                        </a:rPr>
                        <a:t>10, 11</a:t>
                      </a:r>
                    </a:p>
                  </a:txBody>
                  <a:tcPr marL="54864" marR="54864" marT="18288" marB="18288">
                    <a:solidFill>
                      <a:srgbClr val="FFFFFF"/>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FFFFFF"/>
                    </a:solidFill>
                  </a:tcPr>
                </a:tc>
              </a:tr>
              <a:tr h="280035">
                <a:tc>
                  <a:txBody>
                    <a:bodyPr wrap="square"/>
                    <a:lstStyle/>
                    <a:p>
                      <a:r>
                        <a:rPr sz="1100" b="0">
                          <a:solidFill>
                            <a:srgbClr val="282828"/>
                          </a:solidFill>
                          <a:latin typeface="Arial"/>
                        </a:rPr>
                        <a:t>12, 13</a:t>
                      </a:r>
                    </a:p>
                  </a:txBody>
                  <a:tcPr marL="54864" marR="54864" marT="18288" marB="18288">
                    <a:solidFill>
                      <a:srgbClr val="ECF1F6"/>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ECF1F6"/>
                    </a:solidFill>
                  </a:tcPr>
                </a:tc>
              </a:tr>
              <a:tr h="280035">
                <a:tc>
                  <a:txBody>
                    <a:bodyPr wrap="square"/>
                    <a:lstStyle/>
                    <a:p>
                      <a:r>
                        <a:rPr sz="1100" b="0">
                          <a:solidFill>
                            <a:srgbClr val="282828"/>
                          </a:solidFill>
                          <a:latin typeface="Arial"/>
                        </a:rPr>
                        <a:t>14</a:t>
                      </a:r>
                    </a:p>
                  </a:txBody>
                  <a:tcPr marL="54864" marR="54864" marT="18288" marB="18288">
                    <a:solidFill>
                      <a:srgbClr val="FFFFFF"/>
                    </a:solidFill>
                  </a:tcPr>
                </a:tc>
                <a:tc>
                  <a:txBody>
                    <a:bodyPr wrap="square"/>
                    <a:lstStyle/>
                    <a:p>
                      <a:r>
                        <a:rPr sz="1100" b="0">
                          <a:solidFill>
                            <a:srgbClr val="282828"/>
                          </a:solidFill>
                          <a:latin typeface="Arial"/>
                        </a:rPr>
                        <a:t>R9 per-field table (REPORT_dyson5_cprime.md)</a:t>
                      </a:r>
                    </a:p>
                  </a:txBody>
                  <a:tcPr marL="54864" marR="54864" marT="18288" marB="18288">
                    <a:solidFill>
                      <a:srgbClr val="FFFFFF"/>
                    </a:solidFill>
                  </a:tcPr>
                </a:tc>
              </a:tr>
              <a:tr h="280035">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ECF1F6"/>
                    </a:solidFill>
                  </a:tcPr>
                </a:tc>
              </a:tr>
              <a:tr h="280035">
                <a:tc>
                  <a:txBody>
                    <a:bodyPr wrap="square"/>
                    <a:lstStyle/>
                    <a:p>
                      <a:r>
                        <a:rPr sz="1100" b="0">
                          <a:solidFill>
                            <a:srgbClr val="282828"/>
                          </a:solidFill>
                          <a:latin typeface="Arial"/>
                        </a:rPr>
                        <a:t>16</a:t>
                      </a:r>
                    </a:p>
                  </a:txBody>
                  <a:tcPr marL="54864" marR="54864" marT="18288" marB="18288">
                    <a:solidFill>
                      <a:srgbClr val="FFFFFF"/>
                    </a:solidFill>
                  </a:tcPr>
                </a:tc>
                <a:tc>
                  <a:txBody>
                    <a:bodyPr wrap="square"/>
                    <a:lstStyle/>
                    <a:p>
                      <a:r>
                        <a:rPr sz="1100" b="0">
                          <a:solidFill>
                            <a:srgbClr val="282828"/>
                          </a:solidFill>
                          <a:latin typeface="Arial"/>
                        </a:rPr>
                        <a:t>dyson5_throughput_band.txt (tool dyson5_throughput_band.m); dyson5_jim_3b.txt route 2</a:t>
                      </a:r>
                    </a:p>
                  </a:txBody>
                  <a:tcPr marL="54864" marR="54864" marT="18288" marB="18288">
                    <a:solidFill>
                      <a:srgbClr val="FFFFFF"/>
                    </a:solidFill>
                  </a:tcPr>
                </a:tc>
              </a:tr>
              <a:tr h="280035">
                <a:tc>
                  <a:txBody>
                    <a:bodyPr wrap="square"/>
                    <a:lstStyle/>
                    <a:p>
                      <a:r>
                        <a:rPr sz="1100" b="0">
                          <a:solidFill>
                            <a:srgbClr val="282828"/>
                          </a:solidFill>
                          <a:latin typeface="Arial"/>
                        </a:rPr>
                        <a:t>17</a:t>
                      </a:r>
                    </a:p>
                  </a:txBody>
                  <a:tcPr marL="54864" marR="54864" marT="18288" marB="18288">
                    <a:solidFill>
                      <a:srgbClr val="ECF1F6"/>
                    </a:solidFill>
                  </a:tcPr>
                </a:tc>
                <a:tc>
                  <a:txBody>
                    <a:bodyPr wrap="square"/>
                    <a:lstStyle/>
                    <a:p>
                      <a:r>
                        <a:rPr sz="1100" b="0">
                          <a:solidFill>
                            <a:srgbClr val="282828"/>
                          </a:solidFill>
                          <a:latin typeface="Arial"/>
                        </a:rPr>
                        <a:t>tma_longslit_1k5.m; tls1k5_figure.txt, tls1k5_e2e.txt, tls1k5_R5_ffc.in = dyson5_cprime_1k5.in; dyson5_rescore_1k5_launch.txt</a:t>
                      </a:r>
                    </a:p>
                  </a:txBody>
                  <a:tcPr marL="54864" marR="54864" marT="18288" marB="18288">
                    <a:solidFill>
                      <a:srgbClr val="ECF1F6"/>
                    </a:solidFill>
                  </a:tcPr>
                </a:tc>
              </a:tr>
              <a:tr h="468630">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dyson5_jim_3a.txt, dyson5_block2_3k.txt, dyson5_block4_cprime1k5.txt; the superseded three-asphere 1.5k: dyson5_rescore_1k5_launch.txt, dyson5_block4.txt</a:t>
                      </a:r>
                    </a:p>
                  </a:txBody>
                  <a:tcPr marL="54864" marR="54864" marT="18288" marB="18288">
                    <a:solidFill>
                      <a:srgbClr val="FFFFFF"/>
                    </a:solidFill>
                  </a:tcPr>
                </a:tc>
              </a:tr>
            </a:tbl>
          </a:graphicData>
        </a:graphic>
      </p:graphicFrame>
      <p:sp>
        <p:nvSpPr>
          <p:cNvPr id="5" name="TextBox 4"/>
          <p:cNvSpPr txBox="1"/>
          <p:nvPr/>
        </p:nvSpPr>
        <p:spPr>
          <a:xfrm>
            <a:off x="411480" y="5182362"/>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