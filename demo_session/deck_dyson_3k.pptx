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Long-Slit Spectrometer Design Challenge</a:t>
            </a:r>
          </a:p>
          <a:p>
            <a:pPr>
              <a:spcAft>
                <a:spcPts val="1400"/>
              </a:spcAft>
            </a:pPr>
            <a:r>
              <a:rPr sz="2200" b="0">
                <a:solidFill>
                  <a:srgbClr val="282828"/>
                </a:solidFill>
                <a:latin typeface="Arial"/>
              </a:rPr>
              <a:t>A VSWIR imaging spectrometer for a 180 km swath at 30 m pixels, designed end to end by ray trace: a Dyson spectrometer and a freeform three-mirror telescope per module, two module sizes, both at the pixel — smile 0.02, CRF 1.2 px, 0.85–0.97 of the energy in one pixel — and the telescope flow made a reusable template.</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pending review.</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The challenge was posed by Joe Green and Jim McGuire (JPL) as a test of MACOS and its design layer; this is its second round.  The first (2026-10-06) brought the spectrometers to the pixel and left the larger telescope short; their answers and the project's published design set this round's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challenge and the approach; the pair of 3k modules; the template's default run — seed, telescope of record, the module scored, how the ladder was set, the two smile conventions, the cone; the spectrometer; the template applied to the 1.5k;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specification, and how a design is scored against it</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The challenge: two module sizes, a spectrometer and a telescope in each</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The approach: the 3k telescope solved as a template, the template run on the 1.5k</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Two 3k modules fill the swath</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two strips on the ground, and the two focal planes</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The 3k module, end to end</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How the optimization "ladder" was set: six rungs, three lessons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Smile is a convention: the launch, not the optics</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The cone, the spec and the paper's beam</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The spectrometer: toleranced, and a conic grating for margin</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Throughput by band, and the blaze</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The template applied: the 1.5k module, with the deviations as they occurred</a:t>
            </a:r>
          </a:p>
          <a:p>
            <a:pPr>
              <a:spcAft>
                <a:spcPts val="600"/>
              </a:spcAft>
            </a:pPr>
            <a:r>
              <a:rPr sz="1200" b="0">
                <a:solidFill>
                  <a:srgbClr val="282828"/>
                </a:solidFill>
                <a:latin typeface="Arial"/>
              </a:rPr>
              <a:t>•  </a:t>
            </a:r>
            <a:r>
              <a:rPr sz="1200" b="1">
                <a:solidFill>
                  <a:srgbClr val="282828"/>
                </a:solidFill>
                <a:latin typeface="Arial"/>
              </a:rPr>
              <a:t>18</a:t>
            </a:r>
            <a:r>
              <a:rPr sz="1200" b="0">
                <a:solidFill>
                  <a:srgbClr val="282828"/>
                </a:solidFill>
                <a:latin typeface="Arial"/>
              </a:rPr>
              <a:t> Two of 3k or four of 1.5k, updated</a:t>
            </a:r>
          </a:p>
          <a:p>
            <a:pPr>
              <a:spcAft>
                <a:spcPts val="600"/>
              </a:spcAft>
            </a:pPr>
            <a:r>
              <a:rPr sz="1200" b="0">
                <a:solidFill>
                  <a:srgbClr val="282828"/>
                </a:solidFill>
                <a:latin typeface="Arial"/>
              </a:rPr>
              <a:t>•  </a:t>
            </a:r>
            <a:r>
              <a:rPr sz="1200" b="1">
                <a:solidFill>
                  <a:srgbClr val="282828"/>
                </a:solidFill>
                <a:latin typeface="Arial"/>
              </a:rPr>
              <a:t>19</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20</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21</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22</a:t>
            </a:r>
            <a:r>
              <a:rPr sz="1200" b="0">
                <a:solidFill>
                  <a:srgbClr val="282828"/>
                </a:solidFill>
                <a:latin typeface="Arial"/>
              </a:rPr>
              <a:t> Backup: the first order by the numbers; the rungs per field; the chief-tilt diagnostic; the tolerance ladder by the numbers;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specification, and how a design is scored against it</a:t>
            </a:r>
          </a:p>
          <a:p>
            <a:pPr>
              <a:spcAft>
                <a:spcPts val="0"/>
              </a:spcAft>
            </a:pPr>
            <a:r>
              <a:rPr sz="1250" b="0">
                <a:solidFill>
                  <a:srgbClr val="6E6E6E"/>
                </a:solidFill>
                <a:latin typeface="Arial"/>
              </a:rPr>
              <a:t>The challenge's numbers beside the project's published design (the SBG VSWIR paper), the metrics defined once, the paper's bounds restated in detector pixels of 18 µm, where the paper mixes micrometers and co-added 2-pixel bins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589145"/>
        </p:xfrm>
        <a:graphic>
          <a:graphicData uri="http://schemas.openxmlformats.org/drawingml/2006/table">
            <a:tbl>
              <a:tblPr firstRow="1" bandRow="1">
                <a:tableStyleId>{5C22544A-7EE6-4342-B048-85BDC9FD1C3A}</a:tableStyleId>
              </a:tblPr>
              <a:tblGrid>
                <a:gridCol w="1512945"/>
                <a:gridCol w="1512945"/>
                <a:gridCol w="2780548"/>
              </a:tblGrid>
              <a:tr h="468630">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the challenge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468630">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(the 3k module); 4.7° (the 1.5k)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13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challenge: two module sizes, a spectrometer and a telescope in each</a:t>
            </a:r>
          </a:p>
          <a:p>
            <a:pPr>
              <a:spcAft>
                <a:spcPts val="0"/>
              </a:spcAft>
            </a:pPr>
            <a:r>
              <a:rPr sz="1250" b="0">
                <a:solidFill>
                  <a:srgbClr val="6E6E6E"/>
                </a:solidFill>
                <a:latin typeface="Arial"/>
              </a:rPr>
              <a:t>6000 cross-track pixels over a 180 km swath, 380–2500 nm, F/1.8, at the pixel in smile, keystone and response width; two 3k modules or four 1.5k; every number a MACOS ray trace of a committed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instrument:</a:t>
            </a:r>
            <a:r>
              <a:rPr sz="1200" b="0">
                <a:solidFill>
                  <a:srgbClr val="282828"/>
                </a:solidFill>
                <a:latin typeface="Arial"/>
              </a:rPr>
              <a:t> a push-broom imaging spectrometer — a straight slit imaged on the ground, swept along the track; the spectrometer disperses the slit across a 500-pixel band at 18 µm pixels.  The challenge fixes F/1.8, a 330 mm focal length, a 183 mm aperture, and the image-quality bounds of slide 3.</a:t>
            </a:r>
          </a:p>
          <a:p>
            <a:pPr>
              <a:spcAft>
                <a:spcPts val="600"/>
              </a:spcAft>
            </a:pPr>
            <a:r>
              <a:rPr sz="1200" b="0">
                <a:solidFill>
                  <a:srgbClr val="282828"/>
                </a:solidFill>
                <a:latin typeface="Arial"/>
              </a:rPr>
              <a:t>•  </a:t>
            </a:r>
            <a:r>
              <a:rPr sz="1200" b="1">
                <a:solidFill>
                  <a:srgbClr val="282828"/>
                </a:solidFill>
                <a:latin typeface="Arial"/>
              </a:rPr>
              <a:t>The two module sizes.</a:t>
            </a:r>
            <a:r>
              <a:rPr sz="1200" b="0">
                <a:solidFill>
                  <a:srgbClr val="282828"/>
                </a:solidFill>
                <a:latin typeface="Arial"/>
              </a:rPr>
              <a:t>  A </a:t>
            </a:r>
            <a:r>
              <a:rPr sz="1200" b="1">
                <a:solidFill>
                  <a:srgbClr val="282828"/>
                </a:solidFill>
                <a:latin typeface="Arial"/>
              </a:rPr>
              <a:t>3k module</a:t>
            </a:r>
            <a:r>
              <a:rPr sz="1200" b="0">
                <a:solidFill>
                  <a:srgbClr val="282828"/>
                </a:solidFill>
                <a:latin typeface="Arial"/>
              </a:rPr>
              <a:t> has a 3000-pixel, 54 mm slit and needs a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block; two of them cover the swath.  A </a:t>
            </a:r>
            <a:r>
              <a:rPr sz="1200" b="1">
                <a:solidFill>
                  <a:srgbClr val="282828"/>
                </a:solidFill>
                <a:latin typeface="Arial"/>
              </a:rPr>
              <a:t>1.5k module</a:t>
            </a:r>
            <a:r>
              <a:rPr sz="1200" b="0">
                <a:solidFill>
                  <a:srgbClr val="282828"/>
                </a:solidFill>
                <a:latin typeface="Arial"/>
              </a:rPr>
              <a:t> has a 1500-pixel, 27 mm slit and a 130 mm fused-silica block; four are needed.  Which to build is the trade the challenge asks for.</a:t>
            </a:r>
          </a:p>
          <a:p>
            <a:pPr>
              <a:spcAft>
                <a:spcPts val="600"/>
              </a:spcAft>
            </a:pPr>
            <a:r>
              <a:rPr sz="1200" b="0">
                <a:solidFill>
                  <a:srgbClr val="282828"/>
                </a:solidFill>
                <a:latin typeface="Arial"/>
              </a:rPr>
              <a:t>•  </a:t>
            </a:r>
            <a:r>
              <a:rPr sz="1200" b="1">
                <a:solidFill>
                  <a:srgbClr val="282828"/>
                </a:solidFill>
                <a:latin typeface="Arial"/>
              </a:rPr>
              <a:t>Each module is a Dyson spectrometer and a telescope.</a:t>
            </a:r>
            <a:r>
              <a:rPr sz="1200" b="0">
                <a:solidFill>
                  <a:srgbClr val="282828"/>
                </a:solidFill>
                <a:latin typeface="Arial"/>
              </a:rPr>
              <a:t>  The Dyson (a concentric block with a concave grating on its curved face) was designed first and brought to the pixel in the first round; the telescope images a strip of sky onto the slit, telecentric there, with no marginal ray faster than the spectrometer accepts.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Where the first round left it (2026-10-06):</a:t>
            </a:r>
            <a:r>
              <a:rPr sz="1200" b="0">
                <a:solidFill>
                  <a:srgbClr val="282828"/>
                </a:solidFill>
                <a:latin typeface="Arial"/>
              </a:rPr>
              <a:t> both Dysons at the pixel; the 1.5k telescope (three off-axis aspheres) near it; the 3k telescope not — CRF 4 px, 4–10 % of the energy in a pixel, marginal rays at F/1.2 into an F/1.8 spectrometer.</a:t>
            </a:r>
          </a:p>
          <a:p>
            <a:pPr>
              <a:spcAft>
                <a:spcPts val="600"/>
              </a:spcAft>
            </a:pPr>
            <a:r>
              <a:rPr sz="1200" b="0">
                <a:solidFill>
                  <a:srgbClr val="282828"/>
                </a:solidFill>
                <a:latin typeface="Arial"/>
              </a:rPr>
              <a:t>•  </a:t>
            </a:r>
            <a:r>
              <a:rPr sz="1200" b="1">
                <a:solidFill>
                  <a:srgbClr val="282828"/>
                </a:solidFill>
                <a:latin typeface="Arial"/>
              </a:rPr>
              <a:t>The answers that set this round's course:</a:t>
            </a:r>
            <a:r>
              <a:rPr sz="1200" b="0">
                <a:solidFill>
                  <a:srgbClr val="282828"/>
                </a:solidFill>
                <a:latin typeface="Arial"/>
              </a:rPr>
              <a:t> two modules, not four — integration, test and calibration are the cost, not mass or glass, and 3k × 0.5k detectors are a standard format where 1.5k × 0.5k is not; design the telescope separately, telecentric at the slit, a little faster than the spectrometer, no F/1.2 rays; the detector window is an order-sorting filter in air; tailor the coatings and the grating's blaze to the photon-starved long end.</a:t>
            </a:r>
          </a:p>
          <a:p>
            <a:pPr>
              <a:spcAft>
                <a:spcPts val="600"/>
              </a:spcAft>
            </a:pPr>
            <a:r>
              <a:rPr sz="1200" b="0">
                <a:solidFill>
                  <a:srgbClr val="282828"/>
                </a:solidFill>
                <a:latin typeface="Arial"/>
              </a:rPr>
              <a:t>•  </a:t>
            </a:r>
            <a:r>
              <a:rPr sz="1200" b="1">
                <a:solidFill>
                  <a:srgbClr val="282828"/>
                </a:solidFill>
                <a:latin typeface="Arial"/>
              </a:rPr>
              <a:t>The project's published design</a:t>
            </a:r>
            <a:r>
              <a:rPr sz="1200" b="0">
                <a:solidFill>
                  <a:srgbClr val="282828"/>
                </a:solidFill>
                <a:latin typeface="Arial"/>
              </a:rPr>
              <a:t> (Bradley et al., ICSO 2024): a freeform zig-zag three-mirror telescope at f 345 mm, 192 mm, 8.9°, with a small convex M2 at the stop and no intermediate focus, optimized alone for small spots along the slit; a Dyson with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lens and a conic grating (their Option B); its bounds in micrometers (smile and keystone 1.8 µm; SRF 64.8 µm; CRF and ARF 50.4 µm).</a:t>
            </a:r>
          </a:p>
        </p:txBody>
      </p:sp>
      <p:sp>
        <p:nvSpPr>
          <p:cNvPr id="6" name="TextBox 5"/>
          <p:cNvSpPr txBox="1"/>
          <p:nvPr/>
        </p:nvSpPr>
        <p:spPr>
          <a:xfrm>
            <a:off x="6400800" y="5123687"/>
            <a:ext cx="5394960" cy="274320"/>
          </a:xfrm>
          <a:prstGeom prst="rect">
            <a:avLst/>
          </a:prstGeom>
          <a:noFill/>
        </p:spPr>
        <p:txBody>
          <a:bodyPr wrap="square">
            <a:spAutoFit/>
          </a:bodyPr>
          <a:lstStyle/>
          <a:p>
            <a:pPr>
              <a:spcAft>
                <a:spcPts val="600"/>
              </a:spcAft>
            </a:pPr>
            <a:r>
              <a:rPr sz="1050" b="0">
                <a:solidFill>
                  <a:srgbClr val="6E6E6E"/>
                </a:solidFill>
                <a:latin typeface="Arial"/>
              </a:rPr>
              <a:t>The challenge and the first-round answers are recorded in BRIEF_to_dyson5.md (addenda 47–49); the first round's deck is deck_dyson_record (the spectrometers' design record).  The paper: Tables 1–3, Figs. 1 and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approach: the 3k telescope solved as a template, the template run on the 1.5k</a:t>
            </a:r>
          </a:p>
          <a:p>
            <a:pPr>
              <a:spcAft>
                <a:spcPts val="0"/>
              </a:spcAft>
            </a:pPr>
            <a:r>
              <a:rPr sz="1250" b="0">
                <a:solidFill>
                  <a:srgbClr val="6E6E6E"/>
                </a:solidFill>
                <a:latin typeface="Arial"/>
              </a:rPr>
              <a:t>The published form became a parameterized design flow — one parameter file, four stages, the constraint rows a slit-fed spectrometer needs — whose default run is the 3k module; run at the 1.5k spec it reached the pixel in five rungs with one new row; the slides that follow are those two runs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3k telescope (slides 8–14):</a:t>
            </a:r>
            <a:r>
              <a:rPr sz="1200" b="0">
                <a:solidFill>
                  <a:srgbClr val="282828"/>
                </a:solidFill>
                <a:latin typeface="Arial"/>
              </a:rPr>
              <a:t> the published layout digitized and scaled to the challenge's focal length is the seed; the first order is closed-form telecentric with the stop at M2; three off-axis conic sections carry it; a pole-frame polynomial of degree 3–6 on each mirror brings every field of the 9.4° strip to a 1.02-pixel spot with the cone bounded; joined to the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it images at the pixel end to end.  Six rungs taught the weights and rows the flow now carries; the last tenth of a pixel of "smile" was the scorer's launch convention, not the optics.</a:t>
            </a:r>
          </a:p>
          <a:p>
            <a:pPr>
              <a:spcAft>
                <a:spcPts val="600"/>
              </a:spcAft>
            </a:pPr>
            <a:r>
              <a:rPr sz="1200" b="0">
                <a:solidFill>
                  <a:srgbClr val="282828"/>
                </a:solidFill>
                <a:latin typeface="Arial"/>
              </a:rPr>
              <a:t>•  </a:t>
            </a:r>
            <a:r>
              <a:rPr sz="1200" b="1">
                <a:solidFill>
                  <a:srgbClr val="282828"/>
                </a:solidFill>
                <a:latin typeface="Arial"/>
              </a:rPr>
              <a:t>Made a template</a:t>
            </a:r>
            <a:r>
              <a:rPr sz="1200" b="0">
                <a:solidFill>
                  <a:srgbClr val="282828"/>
                </a:solidFill>
                <a:latin typeface="Arial"/>
              </a:rPr>
              <a:t> (templates/10_telescopes/tma_longslit/): the spec, the seed legs and incidences, the bounds, the weights, the field set, the ladder and the spectrometer to join live in one parameter file; four stages — first_order (closed form), section (the conics on the chief, measured per field), figure (the ladder, each rung an engine-traced solve warm from the last), e2e (the best clear rung joined to the spectrometer under both launches) — each writing its table, record and prescription; the deck of record pinned by a test that re-scores it by name.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rows that make it a long-slit front end:</a:t>
            </a:r>
            <a:r>
              <a:rPr sz="1200" b="0">
                <a:solidFill>
                  <a:srgbClr val="282828"/>
                </a:solidFill>
                <a:latin typeface="Arial"/>
              </a:rPr>
              <a:t> spot size along the slit (weighted); plate scale; the chief's and the centroid's across-slit bow; the chief angle to the slit normal (telecentric); a hinge on the marginal F/# outside the bound, per axis (the cone); the chief − centroid offset at the slit; working distance; and, since the 1.5k run, a clearance wall.  The first order is re-derived at every iterate, never penalized, so focal length, back focus and telecentricity hold exactly under the figure.</a:t>
            </a:r>
          </a:p>
          <a:p>
            <a:pPr>
              <a:spcAft>
                <a:spcPts val="600"/>
              </a:spcAft>
            </a:pPr>
            <a:r>
              <a:rPr sz="1200" b="0">
                <a:solidFill>
                  <a:srgbClr val="282828"/>
                </a:solidFill>
                <a:latin typeface="Arial"/>
              </a:rPr>
              <a:t>•  </a:t>
            </a:r>
            <a:r>
              <a:rPr sz="1200" b="1">
                <a:solidFill>
                  <a:srgbClr val="282828"/>
                </a:solidFill>
                <a:latin typeface="Arial"/>
              </a:rPr>
              <a:t>The template on the 1.5k (slide 17):</a:t>
            </a:r>
            <a:r>
              <a:rPr sz="1200" b="0">
                <a:solidFill>
                  <a:srgbClr val="282828"/>
                </a:solidFill>
                <a:latin typeface="Arial"/>
              </a:rPr>
              <a:t> the same seed, rows and weights at a ±2.35° strip and a 27 mm slit, joined to the 130 mm silica Dyson: 1.02 px at every field in five rungs; one deviation on the way — the first rung at the floor put the M3 → slit beam 0.3 mm inside M2, and a clearance wall row bought +2.4 mm with the floor held; end to end smile 0.009, CRF 1.03, 0.97 of the energy in a pixel.</a:t>
            </a:r>
          </a:p>
          <a:p>
            <a:pPr>
              <a:spcAft>
                <a:spcPts val="600"/>
              </a:spcAft>
            </a:pPr>
            <a:r>
              <a:rPr sz="1200" b="0">
                <a:solidFill>
                  <a:srgbClr val="282828"/>
                </a:solidFill>
                <a:latin typeface="Arial"/>
              </a:rPr>
              <a:t>•  </a:t>
            </a:r>
            <a:r>
              <a:rPr sz="1200" b="1">
                <a:solidFill>
                  <a:srgbClr val="282828"/>
                </a:solidFill>
                <a:latin typeface="Arial"/>
              </a:rPr>
              <a:t>Then (slides 15–18):</a:t>
            </a:r>
            <a:r>
              <a:rPr sz="1200" b="0">
                <a:solidFill>
                  <a:srgbClr val="282828"/>
                </a:solidFill>
                <a:latin typeface="Arial"/>
              </a:rPr>
              <a:t> the spectrometer toleranced and its Option B assessed, throughput by band, and the two-of-3k trade restated with both modules at the pixel.</a:t>
            </a:r>
          </a:p>
        </p:txBody>
      </p:sp>
      <p:sp>
        <p:nvSpPr>
          <p:cNvPr id="6" name="TextBox 5"/>
          <p:cNvSpPr txBox="1"/>
          <p:nvPr/>
        </p:nvSpPr>
        <p:spPr>
          <a:xfrm>
            <a:off x="6400800" y="5123688"/>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 REPORT_dyson5_cprime.md; the template README.  The dyson5 join (dyson5_t5f) is the spectrometer side's scorer; the template calls it, it does not own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3k modules fill the swath</a:t>
            </a:r>
          </a:p>
          <a:p>
            <a:pPr>
              <a:spcAft>
                <a:spcPts val="0"/>
              </a:spcAft>
            </a:pPr>
            <a:r>
              <a:rPr sz="1250" b="0">
                <a:solidFill>
                  <a:srgbClr val="6E6E6E"/>
                </a:solidFill>
                <a:latin typeface="Arial"/>
              </a:rPr>
              <a:t>Side by side across the track at a 324 mm pitch, each canted ±4.68° to its own strip: no body touches another and no body sits in the other's sky beam; the pair is 0.75 × 0.60 × 1.36 m, 609 L, with 39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views_rc.png"/>
          <p:cNvPicPr>
            <a:picLocks noChangeAspect="1"/>
          </p:cNvPicPr>
          <p:nvPr/>
        </p:nvPicPr>
        <p:blipFill>
          <a:blip r:embed="rId2"/>
          <a:stretch>
            <a:fillRect/>
          </a:stretch>
        </p:blipFill>
        <p:spPr>
          <a:xfrm>
            <a:off x="3172968" y="1051560"/>
            <a:ext cx="5852160" cy="3291840"/>
          </a:xfrm>
          <a:prstGeom prst="rect">
            <a:avLst/>
          </a:prstGeom>
        </p:spPr>
      </p:pic>
      <p:sp>
        <p:nvSpPr>
          <p:cNvPr id="5" name="TextBox 4"/>
          <p:cNvSpPr txBox="1"/>
          <p:nvPr/>
        </p:nvSpPr>
        <p:spPr>
          <a:xfrm>
            <a:off x="3172968" y="4361688"/>
            <a:ext cx="5852160" cy="559307"/>
          </a:xfrm>
          <a:prstGeom prst="rect">
            <a:avLst/>
          </a:prstGeom>
          <a:noFill/>
        </p:spPr>
        <p:txBody>
          <a:bodyPr wrap="square">
            <a:spAutoFit/>
          </a:bodyPr>
          <a:lstStyle/>
          <a:p>
            <a:pPr algn="ctr">
              <a:spcAft>
                <a:spcPts val="0"/>
              </a:spcAft>
            </a:pPr>
            <a:r>
              <a:rPr sz="1000" b="0">
                <a:solidFill>
                  <a:srgbClr val="6E6E6E"/>
                </a:solidFill>
                <a:latin typeface="Arial"/>
              </a:rPr>
              <a:t>The two modules as the engine traces them, each the 3k module of record moved rigidly: cants ±4.68° about the axis normal to the track and the line of sight.  Left: 3-D; right: looking along the cant axis, light entering from below.  The rays the grating stops are red.</a:t>
            </a:r>
          </a:p>
        </p:txBody>
      </p:sp>
      <p:graphicFrame>
        <p:nvGraphicFramePr>
          <p:cNvPr id="6" name="Table 5"/>
          <p:cNvGraphicFramePr>
            <a:graphicFrameLocks noGrp="1"/>
          </p:cNvGraphicFramePr>
          <p:nvPr/>
        </p:nvGraphicFramePr>
        <p:xfrm>
          <a:off x="411480" y="4937760"/>
          <a:ext cx="11368734" cy="1120140"/>
        </p:xfrm>
        <a:graphic>
          <a:graphicData uri="http://schemas.openxmlformats.org/drawingml/2006/table">
            <a:tbl>
              <a:tblPr firstRow="1" bandRow="1">
                <a:tableStyleId>{5C22544A-7EE6-4342-B048-85BDC9FD1C3A}</a:tableStyleId>
              </a:tblPr>
              <a:tblGrid>
                <a:gridCol w="2785716"/>
                <a:gridCol w="858301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324 mm (module 319 mm + 20 mm gap, in 5 mm steps); body to body +24 mm, body in the other's 183 mm sky beam +36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pair</a:t>
                      </a:r>
                    </a:p>
                  </a:txBody>
                  <a:tcPr marL="54864" marR="54864" marT="18288" marB="18288">
                    <a:solidFill>
                      <a:srgbClr val="ECF1F6"/>
                    </a:solidFill>
                  </a:tcPr>
                </a:tc>
                <a:tc>
                  <a:txBody>
                    <a:bodyPr wrap="square"/>
                    <a:lstStyle/>
                    <a:p>
                      <a:r>
                        <a:rPr sz="1100" b="0">
                          <a:solidFill>
                            <a:srgbClr val="282828"/>
                          </a:solidFill>
                          <a:latin typeface="Arial"/>
                        </a:rPr>
                        <a:t>746 × 598 × 1363 mm, 609 L (the four 1.5k modules: 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19.5 kg (block 14.3, three mirrors 2.9, grating 2.3); 39.0 kg (the four 1.5k modules: 14.6 kg)</a:t>
                      </a:r>
                    </a:p>
                  </a:txBody>
                  <a:tcPr marL="54864" marR="54864" marT="18288" marB="18288">
                    <a:solidFill>
                      <a:srgbClr val="FFFFFF"/>
                    </a:solidFill>
                  </a:tcPr>
                </a:tc>
              </a:tr>
            </a:tbl>
          </a:graphicData>
        </a:graphic>
      </p:graphicFrame>
      <p:sp>
        <p:nvSpPr>
          <p:cNvPr id="7" name="TextBox 6"/>
          <p:cNvSpPr txBox="1"/>
          <p:nvPr/>
        </p:nvSpPr>
        <p:spPr>
          <a:xfrm>
            <a:off x="411480" y="6204204"/>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(Zerodur, silica),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block from dyson5_jim_3a.txt.  Not included: structure, detectors and their cooling, electronics, baffles.  Each module's internal clearances are the record's by construction.  Record dyson5_block2_3k.txt; tool dyson5_block4.m (nmod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strips on the ground, and the two focal planes</a:t>
            </a:r>
          </a:p>
          <a:p>
            <a:pPr>
              <a:spcAft>
                <a:spcPts val="0"/>
              </a:spcAft>
            </a:pPr>
            <a:r>
              <a:rPr sz="1250" b="0">
                <a:solidFill>
                  <a:srgbClr val="6E6E6E"/>
                </a:solidFill>
                <a:latin typeface="Arial"/>
              </a:rPr>
              <a:t>Each module's slit admits ±4.691°, 3000 pixels; canted ±4.68° the strips overlap by 10 pixels at the join and cover 18.7°, 181 km from 550 km, with no along-track offset; each detector holds its strip across 3000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swath_rc.png"/>
          <p:cNvPicPr>
            <a:picLocks noChangeAspect="1"/>
          </p:cNvPicPr>
          <p:nvPr/>
        </p:nvPicPr>
        <p:blipFill>
          <a:blip r:embed="rId2"/>
          <a:stretch>
            <a:fillRect/>
          </a:stretch>
        </p:blipFill>
        <p:spPr>
          <a:xfrm>
            <a:off x="2587752" y="1051560"/>
            <a:ext cx="7022592" cy="3657600"/>
          </a:xfrm>
          <a:prstGeom prst="rect">
            <a:avLst/>
          </a:prstGeom>
        </p:spPr>
      </p:pic>
      <p:sp>
        <p:nvSpPr>
          <p:cNvPr id="5" name="TextBox 4"/>
          <p:cNvSpPr txBox="1"/>
          <p:nvPr/>
        </p:nvSpPr>
        <p:spPr>
          <a:xfrm>
            <a:off x="2587752" y="4727448"/>
            <a:ext cx="7022592" cy="724408"/>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 the 10-pixel overlap, the arrow the along-track sweep.  Bottom: the two 3000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48843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One join instead of three.</a:t>
            </a:r>
            <a:r>
              <a:rPr sz="1500" b="0">
                <a:solidFill>
                  <a:srgbClr val="282828"/>
                </a:solidFill>
                <a:latin typeface="Arial"/>
              </a:rPr>
              <a:t>  The plate scale puts 3000 pixels over 9.381°; abutting at 9.4° would leave a 6-pixel gap, so the cants give 10 pixels of overlap.  </a:t>
            </a:r>
            <a:r>
              <a:rPr sz="1500" b="1">
                <a:solidFill>
                  <a:srgbClr val="282828"/>
                </a:solidFill>
                <a:latin typeface="Arial"/>
              </a:rPr>
              <a:t>No along-track offset:</a:t>
            </a:r>
            <a:r>
              <a:rPr sz="1500" b="0">
                <a:solidFill>
                  <a:srgbClr val="282828"/>
                </a:solidFill>
                <a:latin typeface="Arial"/>
              </a:rPr>
              <a:t> both lines of sight lie in one cross-track plane, so the strips image the same ground line at the same time.  </a:t>
            </a:r>
            <a:r>
              <a:rPr sz="1500" b="1">
                <a:solidFill>
                  <a:srgbClr val="282828"/>
                </a:solidFill>
                <a:latin typeface="Arial"/>
              </a:rPr>
              <a:t>Unique pixels:</a:t>
            </a:r>
            <a:r>
              <a:rPr sz="1500" b="0">
                <a:solidFill>
                  <a:srgbClr val="282828"/>
                </a:solidFill>
                <a:latin typeface="Arial"/>
              </a:rPr>
              <a:t> 5990 over 18.73°, 30.1 m at nadir; the detector is the paper's 3072 × 512.</a:t>
            </a:r>
          </a:p>
        </p:txBody>
      </p:sp>
      <p:sp>
        <p:nvSpPr>
          <p:cNvPr id="7" name="TextBox 6"/>
          <p:cNvSpPr txBox="1"/>
          <p:nvPr/>
        </p:nvSpPr>
        <p:spPr>
          <a:xfrm>
            <a:off x="411480" y="6655815"/>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dyson5_block2_3k.txt (strip edges per module, overlap, swath); the admitted strip from dyson5_t5f_cprime_centroid_roll000.txt.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published layout digitized and scaled to the challenge's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The template's default run.  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13).</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the challenge's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challenge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 slit-limited</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optimization "ladder" was set: six rungs, three lessons</a:t>
            </a:r>
          </a:p>
          <a:p>
            <a:pPr>
              <a:spcAft>
                <a:spcPts val="0"/>
              </a:spcAft>
            </a:pPr>
            <a:r>
              <a:rPr sz="1250" b="0">
                <a:solidFill>
                  <a:srgbClr val="6E6E6E"/>
                </a:solidFill>
                <a:latin typeface="Arial"/>
              </a:rPr>
              <a:t>The 3k run fixed the template's weights and rows: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launch convention</a:t>
            </a:r>
            <a:r>
              <a:rPr sz="1500" b="0">
                <a:solidFill>
                  <a:srgbClr val="282828"/>
                </a:solidFill>
                <a:latin typeface="Arial"/>
              </a:rPr>
              <a:t> (slide 13), and the row that removed its cause cost nothing at the pixel.  </a:t>
            </a:r>
            <a:r>
              <a:rPr sz="1500" b="1">
                <a:solidFill>
                  <a:srgbClr val="282828"/>
                </a:solidFill>
                <a:latin typeface="Arial"/>
              </a:rPr>
              <a:t>What the template carries forward from this:</a:t>
            </a:r>
            <a:r>
              <a:rPr sz="1500" b="0">
                <a:solidFill>
                  <a:srgbClr val="282828"/>
                </a:solidFill>
                <a:latin typeface="Arial"/>
              </a:rPr>
              <a:t> R9's weights and rows (along-slit ×3, outer fields ×2–3, the bow rows, OFF ×1000) from the first rung, and a ladder without the detours — slide 17 runs it that way.</a:t>
            </a:r>
          </a:p>
        </p:txBody>
      </p:sp>
      <p:sp>
        <p:nvSpPr>
          <p:cNvPr id="6" name="TextBox 5"/>
          <p:cNvSpPr txBox="1"/>
          <p:nvPr/>
        </p:nvSpPr>
        <p:spPr>
          <a:xfrm>
            <a:off x="411480" y="646823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is a convention: the launch, not the optics</a:t>
            </a:r>
          </a:p>
          <a:p>
            <a:pPr>
              <a:spcAft>
                <a:spcPts val="0"/>
              </a:spcAft>
            </a:pPr>
            <a:r>
              <a:rPr sz="1250" b="0">
                <a:solidFill>
                  <a:srgbClr val="6E6E6E"/>
                </a:solidFill>
                <a:latin typeface="Arial"/>
              </a:rPr>
              <a:t>The join lands each field's chief ray on the slit line and scores the centroid, so the telescope's coma — the chief-minus-centroid offset across the slit — read as smile; the Dyson fed with the telescope's chief angles does not 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057400"/>
        </p:xfrm>
        <a:graphic>
          <a:graphicData uri="http://schemas.openxmlformats.org/drawingml/2006/table">
            <a:tbl>
              <a:tblPr firstRow="1" bandRow="1">
                <a:tableStyleId>{5C22544A-7EE6-4342-B048-85BDC9FD1C3A}</a:tableStyleId>
              </a:tblPr>
              <a:tblGrid>
                <a:gridCol w="3477767"/>
                <a:gridCol w="582168"/>
                <a:gridCol w="727456"/>
                <a:gridCol w="509524"/>
                <a:gridCol w="509524"/>
              </a:tblGrid>
              <a:tr h="468630">
                <a:tc>
                  <a:txBody>
                    <a:bodyPr wrap="square"/>
                    <a:lstStyle/>
                    <a:p>
                      <a:r>
                        <a:rPr sz="1100" b="1">
                          <a:solidFill>
                            <a:srgbClr val="FFFFFF"/>
                          </a:solidFill>
                          <a:latin typeface="Arial"/>
                        </a:rPr>
                        <a:t>Dyson alone, each slit point's chief tilted by R7's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468630">
                <a:tc>
                  <a:txBody>
                    <a:bodyPr wrap="square"/>
                    <a:lstStyle/>
                    <a:p>
                      <a:r>
                        <a:rPr sz="1100" b="0">
                          <a:solidFill>
                            <a:srgbClr val="282828"/>
                          </a:solidFill>
                          <a:latin typeface="Arial"/>
                        </a:rPr>
                        <a:t>along-track component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component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50215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chief angle is not the cause:</a:t>
            </a:r>
            <a:r>
              <a:rPr sz="1200" b="0">
                <a:solidFill>
                  <a:srgbClr val="282828"/>
                </a:solidFill>
                <a:latin typeface="Arial"/>
              </a:rPr>
              <a:t> keystone moves (the hook is live), smile does not, even at twice the angle.</a:t>
            </a:r>
          </a:p>
        </p:txBody>
      </p:sp>
      <p:graphicFrame>
        <p:nvGraphicFramePr>
          <p:cNvPr id="6" name="Table 5"/>
          <p:cNvGraphicFramePr>
            <a:graphicFrameLocks noGrp="1"/>
          </p:cNvGraphicFramePr>
          <p:nvPr/>
        </p:nvGraphicFramePr>
        <p:xfrm>
          <a:off x="6400800" y="1298448"/>
          <a:ext cx="5394959" cy="1577340"/>
        </p:xfrm>
        <a:graphic>
          <a:graphicData uri="http://schemas.openxmlformats.org/drawingml/2006/table">
            <a:tbl>
              <a:tblPr firstRow="1" bandRow="1">
                <a:tableStyleId>{5C22544A-7EE6-4342-B048-85BDC9FD1C3A}</a:tableStyleId>
              </a:tblPr>
              <a:tblGrid>
                <a:gridCol w="410464"/>
                <a:gridCol w="3073772"/>
                <a:gridCol w="1910723"/>
              </a:tblGrid>
              <a:tr h="26289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offset</a:t>
                      </a:r>
                    </a:p>
                  </a:txBody>
                  <a:tcPr marL="54864" marR="54864" marT="18288" marB="18288">
                    <a:solidFill>
                      <a:srgbClr val="1F4E79"/>
                    </a:solidFill>
                  </a:tcPr>
                </a:tc>
                <a:tc>
                  <a:txBody>
                    <a:bodyPr wrap="square"/>
                    <a:lstStyle/>
                    <a:p>
                      <a:r>
                        <a:rPr sz="1000" b="1">
                          <a:solidFill>
                            <a:srgbClr val="FFFFFF"/>
                          </a:solidFill>
                          <a:latin typeface="Arial"/>
                        </a:rPr>
                        <a:t>e2e smile, chief launch</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02209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offset predicts every rung:</a:t>
            </a:r>
            <a:r>
              <a:rPr sz="1200" b="0">
                <a:solidFill>
                  <a:srgbClr val="282828"/>
                </a:solidFill>
                <a:latin typeface="Arial"/>
              </a:rPr>
              <a:t> on R7 the chief sits 0 / 0.2 / 0.7 / 1.4 / 2.4 µm from the centroid across the slit at 0 / 1.2 / 2.4 / 3.5 / 4.7°; the spread of that offset is the e2e smile.</a:t>
            </a:r>
          </a:p>
          <a:p>
            <a:pPr>
              <a:spcAft>
                <a:spcPts val="600"/>
              </a:spcAft>
            </a:pPr>
            <a:r>
              <a:rPr sz="1200" b="0">
                <a:solidFill>
                  <a:srgbClr val="282828"/>
                </a:solidFill>
                <a:latin typeface="Arial"/>
              </a:rPr>
              <a:t>•  </a:t>
            </a:r>
            <a:r>
              <a:rPr sz="1200" b="1">
                <a:solidFill>
                  <a:srgbClr val="282828"/>
                </a:solidFill>
                <a:latin typeface="Arial"/>
              </a:rPr>
              <a:t>Two conventions, both reported.</a:t>
            </a:r>
            <a:r>
              <a:rPr sz="1200" b="0">
                <a:solidFill>
                  <a:srgbClr val="282828"/>
                </a:solidFill>
                <a:latin typeface="Arial"/>
              </a:rPr>
              <a:t>  Slit-filled (the paper's: its telescope-fed smile equals its spectrometer-alone smile): each field's centroid on the slit line — the spectrometer's smile, 0.022 px.  Point-source: the chief on the slit line — where a star's spectrum lands, 0.016 px on R9 (0.14 on R7).  R9's row on the offset closed the second without touching the first.</a:t>
            </a:r>
          </a:p>
        </p:txBody>
      </p:sp>
      <p:sp>
        <p:nvSpPr>
          <p:cNvPr id="8" name="TextBox 7"/>
          <p:cNvSpPr txBox="1"/>
          <p:nvPr/>
        </p:nvSpPr>
        <p:spPr>
          <a:xfrm>
            <a:off x="6400800" y="5122164"/>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the launch tilted per field); the join scorer dyson5_t5f now carries both launches (tel5f_launch chief | centroid), the record's rows reproduce under the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cone, the spec and the paper's beam</a:t>
            </a:r>
          </a:p>
          <a:p>
            <a:pPr>
              <a:spcAft>
                <a:spcPts val="0"/>
              </a:spcAft>
            </a:pPr>
            <a:r>
              <a:rPr sz="1250" b="0">
                <a:solidFill>
                  <a:srgbClr val="6E6E6E"/>
                </a:solidFill>
                <a:latin typeface="Arial"/>
              </a:rPr>
              <a:t>The marginal rays leave the telescope between F/1.80 and F/1.89 in the two directions, none below F/1.7; the along-slit F/1.89 is Joe's own aperture at Joe's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is a row:</a:t>
            </a:r>
            <a:r>
              <a:rPr sz="1200" b="0">
                <a:solidFill>
                  <a:srgbClr val="282828"/>
                </a:solidFill>
                <a:latin typeface="Arial"/>
              </a:rPr>
              <a:t> the last deck's 3k solve let its marginal rays run to F/1.19 into an F/1.8 spectrometer; the grating, sized for F/1.8, passed 95–98 % of the light, and nothing in the merit knew.  Jim: "I don't see why some rays correspond to an f/1.2 cone."  The paper constrains the F/# anamorphicity.</a:t>
            </a:r>
          </a:p>
          <a:p>
            <a:pPr>
              <a:spcAft>
                <a:spcPts val="600"/>
              </a:spcAft>
            </a:pPr>
            <a:r>
              <a:rPr sz="1200" b="0">
                <a:solidFill>
                  <a:srgbClr val="282828"/>
                </a:solidFill>
                <a:latin typeface="Arial"/>
              </a:rPr>
              <a:t>•  </a:t>
            </a:r>
            <a:r>
              <a:rPr sz="1200" b="1">
                <a:solidFill>
                  <a:srgbClr val="282828"/>
                </a:solidFill>
                <a:latin typeface="Arial"/>
              </a:rPr>
              <a:t>The row:</a:t>
            </a:r>
            <a:r>
              <a:rPr sz="1200" b="0">
                <a:solidFill>
                  <a:srgbClr val="282828"/>
                </a:solidFill>
                <a:latin typeface="Arial"/>
              </a:rPr>
              <a:t> a hinge on the working F/# of the marginal rays at the slit, along and across, outside [1.7, 1.8], in every rung.  R9: F/1.889–1.894 along the slit, F/1.797–1.806 across; the grating admits 98.9 %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1.8, and that is the specification:</a:t>
            </a:r>
            <a:r>
              <a:rPr sz="1200" b="0">
                <a:solidFill>
                  <a:srgbClr val="282828"/>
                </a:solidFill>
                <a:latin typeface="Arial"/>
              </a:rPr>
              <a:t> D 183 mm at f 330 mm is F/1.803; a cone a little faster than the spectrometer's — Jim's "a little faster" — needs a larger entrance beam, the paper's 192 mm.  A spec question for Jim and Joe, not a solve question; the telescope holds Joe's numbers.</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cone is F/1.80: the slit truncates the image in that direction, and the across-slit FWHM (the paper's ARF) is 1.02 px against its 2.8 px bound.</a:t>
            </a:r>
          </a:p>
        </p:txBody>
      </p:sp>
      <p:sp>
        <p:nvSpPr>
          <p:cNvPr id="6" name="TextBox 5"/>
          <p:cNvSpPr txBox="1"/>
          <p:nvPr/>
        </p:nvSpPr>
        <p:spPr>
          <a:xfrm>
            <a:off x="6400800" y="320039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 from the marginal rays as 1/(2 sin 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toleranced, and a conic grating for margin</a:t>
            </a:r>
          </a:p>
          <a:p>
            <a:pPr>
              <a:spcAft>
                <a:spcPts val="0"/>
              </a:spcAft>
            </a:pPr>
            <a:r>
              <a:rPr sz="1250" b="0">
                <a:solidFill>
                  <a:srgbClr val="6E6E6E"/>
                </a:solidFill>
                <a:latin typeface="Arial"/>
              </a:rPr>
              <a:t>SRF sits at the two-pixel slit's floor; every large tolerance is a focus term the detector's focus removes; keystone sets the alignment tolerances at 26 µm and 35 µrad; a conic on the grating takes the energy in a pixel from 0.82 to 0.99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Slit ⊗ LSF ⊗ pixel ⊗ Airy for a perfect spectrometer is 2.010 px at 380 nm and 2.023 at 2500 nm; the Dyson of record sits 0.0001–0.0015 px above that at every wavelength, alone and behind the telescope.  In the paper's units 36.5 µm against 64.8.  Joe's "1.5–2.0" is met at its floor; 1.5 would need a narrower slit.</a:t>
            </a:r>
          </a:p>
          <a:p>
            <a:pPr>
              <a:spcAft>
                <a:spcPts val="600"/>
              </a:spcAft>
            </a:pPr>
            <a:r>
              <a:rPr sz="1200" b="0">
                <a:solidFill>
                  <a:srgbClr val="282828"/>
                </a:solidFill>
                <a:latin typeface="Arial"/>
              </a:rPr>
              <a:t>•  </a:t>
            </a:r>
            <a:r>
              <a:rPr sz="1200" b="1">
                <a:solidFill>
                  <a:srgbClr val="282828"/>
                </a:solidFill>
                <a:latin typeface="Arial"/>
              </a:rPr>
              <a:t>The Dyson of record is the paper's Option A:</a:t>
            </a:r>
            <a:r>
              <a:rPr sz="1200" b="0">
                <a:solidFill>
                  <a:srgbClr val="282828"/>
                </a:solidFill>
                <a:latin typeface="Arial"/>
              </a:rPr>
              <a:t>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an aspheric lens (K 0.043 with h⁴, h⁶) and a spherical grating, no meniscus; smile 0.005, keystone 0.006, CRF 1.21, 0.82 of the energy in a pixel; 4.5 L, 14.3 kg.</a:t>
            </a:r>
          </a:p>
          <a:p>
            <a:pPr>
              <a:spcAft>
                <a:spcPts val="600"/>
              </a:spcAft>
            </a:pPr>
            <a:r>
              <a:rPr sz="1200" b="0">
                <a:solidFill>
                  <a:srgbClr val="282828"/>
                </a:solidFill>
                <a:latin typeface="Arial"/>
              </a:rPr>
              <a:t>•  </a:t>
            </a:r>
            <a:r>
              <a:rPr sz="1200" b="1">
                <a:solidFill>
                  <a:srgbClr val="282828"/>
                </a:solidFill>
                <a:latin typeface="Arial"/>
              </a:rPr>
              <a:t>Toleranced, 21 rows, alone and through the join:</a:t>
            </a:r>
            <a:r>
              <a:rPr sz="1200" b="0">
                <a:solidFill>
                  <a:srgbClr val="282828"/>
                </a:solidFill>
                <a:latin typeface="Arial"/>
              </a:rPr>
              <a:t> every large sensitivity is a focus term — lens radius and thickness, the air space, slit and detector defocus, grating radius (the strongest: dR/R 10⁻⁴ costs CRF +1.9 px uncompensated, and a 76 µm detector refocus removes it to 0.006).  One-axis detector focus is the compensator; x/y adds nothing.  Smile is loose (≥ 300 µm or µrad).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Keystone sets the tolerances, and no compensator helps</a:t>
            </a:r>
            <a:r>
              <a:rPr sz="1200" b="0">
                <a:solidFill>
                  <a:srgbClr val="282828"/>
                </a:solidFill>
                <a:latin typeface="Arial"/>
              </a:rPr>
              <a:t> (it is lateral color).  For the paper's as-built keystone (1.03 µm = 0.057 px): lens and grating decenter along the slit 26 µm, grating tilt 35 µrad, clocking 88 µrad; for Joe's 0.1 px: 47 µm, 47 µm, 64 µrad, 162 µrad.  The 1.5k Dyson is twice as sensitive (13 µm).  Linear where it matters (keystone vs decenter 1.10; CRF vs grating radius 1.03).</a:t>
            </a:r>
          </a:p>
          <a:p>
            <a:pPr>
              <a:spcAft>
                <a:spcPts val="600"/>
              </a:spcAft>
            </a:pPr>
            <a:r>
              <a:rPr sz="1200" b="0">
                <a:solidFill>
                  <a:srgbClr val="282828"/>
                </a:solidFill>
                <a:latin typeface="Arial"/>
              </a:rPr>
              <a:t>•  </a:t>
            </a:r>
            <a:r>
              <a:rPr sz="1200" b="1">
                <a:solidFill>
                  <a:srgbClr val="282828"/>
                </a:solidFill>
                <a:latin typeface="Arial"/>
              </a:rPr>
              <a:t>Thermal:</a:t>
            </a:r>
            <a:r>
              <a:rPr sz="1200" b="0">
                <a:solidFill>
                  <a:srgbClr val="282828"/>
                </a:solidFill>
                <a:latin typeface="Arial"/>
              </a:rPr>
              <a:t> 1 K of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index is negligible (CRF +0.001);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's radius and thickness terms cancel (+0.050 / −0.051 px per K); the open terms are the aluminum air space (−0.22 px per K) and the N-BK7 grating radius (+0.14) — focus terms, refocus-compensable, which is the paper's "CRF limits the spectrometer's temperature requirements."</a:t>
            </a:r>
          </a:p>
          <a:p>
            <a:pPr>
              <a:spcAft>
                <a:spcPts val="600"/>
              </a:spcAft>
            </a:pPr>
            <a:r>
              <a:rPr sz="1200" b="0">
                <a:solidFill>
                  <a:srgbClr val="282828"/>
                </a:solidFill>
                <a:latin typeface="Arial"/>
              </a:rPr>
              <a:t>•  </a:t>
            </a:r>
            <a:r>
              <a:rPr sz="1200" b="1">
                <a:solidFill>
                  <a:srgbClr val="282828"/>
                </a:solidFill>
                <a:latin typeface="Arial"/>
              </a:rPr>
              <a:t>Option B — a conic on the grating (K −0.004) with the lens re-solved:</a:t>
            </a:r>
            <a:r>
              <a:rPr sz="1200" b="0">
                <a:solidFill>
                  <a:srgbClr val="282828"/>
                </a:solidFill>
                <a:latin typeface="Arial"/>
              </a:rPr>
              <a:t> alone CRF 1.03 (1.21), energy in a pixel 0.99 (0.82), keystone 0.002 (0.006); behind R9: CRF 1.06, energy 0.955, smile 0.012; SRF the floor in both.  Its keystone sensitivities are 6–45 % higher than A's (clocking most): </a:t>
            </a:r>
            <a:r>
              <a:rPr sz="1200" b="1">
                <a:solidFill>
                  <a:srgbClr val="282828"/>
                </a:solidFill>
                <a:latin typeface="Arial"/>
              </a:rPr>
              <a:t>it buys nominal margin, not alignment insensitivity</a:t>
            </a:r>
            <a:r>
              <a:rPr sz="1200" b="0">
                <a:solidFill>
                  <a:srgbClr val="282828"/>
                </a:solidFill>
                <a:latin typeface="Arial"/>
              </a:rPr>
              <a:t> — the paper's preference for B on tolerances is not reproduced by alignment alone (its as-built numbers include fabrication and thermal, not modeled here).  Recommended as the spectrometer candidate for its margin.</a:t>
            </a:r>
          </a:p>
        </p:txBody>
      </p:sp>
      <p:sp>
        <p:nvSpPr>
          <p:cNvPr id="6" name="TextBox 5"/>
          <p:cNvSpPr txBox="1"/>
          <p:nvPr/>
        </p:nvSpPr>
        <p:spPr>
          <a:xfrm>
            <a:off x="6400800" y="5519928"/>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REPORT_dyson5_spec.md (the ladder, 3k and 1.5k, Option B and its ladder); spectrometer_sens, gate tSpectrometerSens.  The compensator residuals are given for detector focus alone and focus + x/y.  A full every-CTE soak is the next row.  Throughput by band: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Throughput by band, and the blaze</a:t>
            </a:r>
          </a:p>
          <a:p>
            <a:pPr>
              <a:spcAft>
                <a:spcPts val="0"/>
              </a:spcAft>
            </a:pPr>
            <a:r>
              <a:rPr sz="1250" b="0">
                <a:solidFill>
                  <a:srgbClr val="6E6E6E"/>
                </a:solidFill>
                <a:latin typeface="Arial"/>
              </a:rPr>
              <a:t>Six air-glass crossings pass 0.82 uncoated in every band; a single quarter-wave </a:t>
            </a:r>
            <a:r>
              <a:rPr sz="1250" b="0">
                <a:solidFill>
                  <a:srgbClr val="6E6E6E"/>
                </a:solidFill>
                <a:latin typeface="Arial"/>
              </a:rPr>
              <a:t>MgF</a:t>
            </a:r>
            <a:r>
              <a:rPr sz="1250" b="0" baseline="-25000">
                <a:solidFill>
                  <a:srgbClr val="6E6E6E"/>
                </a:solidFill>
                <a:latin typeface="Arial"/>
              </a:rPr>
              <a:t>2</a:t>
            </a:r>
            <a:r>
              <a:rPr sz="1250" b="0">
                <a:solidFill>
                  <a:srgbClr val="6E6E6E"/>
                </a:solidFill>
                <a:latin typeface="Arial"/>
              </a:rPr>
              <a:t> centered at 2.2 µm lifts the long band to 0.87 and costs nothing elsewhere, where a two-layer tuned to 1 µm trades the band ends for the middle; the grating's blaze is the lever that moves photons to the long end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960245"/>
        </p:xfrm>
        <a:graphic>
          <a:graphicData uri="http://schemas.openxmlformats.org/drawingml/2006/table">
            <a:tbl>
              <a:tblPr firstRow="1" bandRow="1">
                <a:tableStyleId>{5C22544A-7EE6-4342-B048-85BDC9FD1C3A}</a:tableStyleId>
              </a:tblPr>
              <a:tblGrid>
                <a:gridCol w="5916371"/>
                <a:gridCol w="1453895"/>
                <a:gridCol w="1453895"/>
                <a:gridCol w="1453895"/>
                <a:gridCol w="1090676"/>
              </a:tblGrid>
              <a:tr h="280035">
                <a:tc>
                  <a:txBody>
                    <a:bodyPr wrap="square"/>
                    <a:lstStyle/>
                    <a:p>
                      <a:r>
                        <a:rPr sz="1100" b="1">
                          <a:solidFill>
                            <a:srgbClr val="FFFFFF"/>
                          </a:solidFill>
                          <a:latin typeface="Arial"/>
                        </a:rPr>
                        <a:t>module, coating on all six crossings</a:t>
                      </a:r>
                    </a:p>
                  </a:txBody>
                  <a:tcPr marL="54864" marR="54864" marT="18288" marB="18288">
                    <a:solidFill>
                      <a:srgbClr val="1F4E79"/>
                    </a:solidFill>
                  </a:tcPr>
                </a:tc>
                <a:tc>
                  <a:txBody>
                    <a:bodyPr wrap="square"/>
                    <a:lstStyle/>
                    <a:p>
                      <a:r>
                        <a:rPr sz="1100" b="1">
                          <a:solidFill>
                            <a:srgbClr val="FFFFFF"/>
                          </a:solidFill>
                          <a:latin typeface="Arial"/>
                        </a:rPr>
                        <a:t>380–700 nm</a:t>
                      </a:r>
                    </a:p>
                  </a:txBody>
                  <a:tcPr marL="54864" marR="54864" marT="18288" marB="18288">
                    <a:solidFill>
                      <a:srgbClr val="1F4E79"/>
                    </a:solidFill>
                  </a:tcPr>
                </a:tc>
                <a:tc>
                  <a:txBody>
                    <a:bodyPr wrap="square"/>
                    <a:lstStyle/>
                    <a:p>
                      <a:r>
                        <a:rPr sz="1100" b="1">
                          <a:solidFill>
                            <a:srgbClr val="FFFFFF"/>
                          </a:solidFill>
                          <a:latin typeface="Arial"/>
                        </a:rPr>
                        <a:t>700–1300 nm</a:t>
                      </a:r>
                    </a:p>
                  </a:txBody>
                  <a:tcPr marL="54864" marR="54864" marT="18288" marB="18288">
                    <a:solidFill>
                      <a:srgbClr val="1F4E79"/>
                    </a:solidFill>
                  </a:tcPr>
                </a:tc>
                <a:tc>
                  <a:txBody>
                    <a:bodyPr wrap="square"/>
                    <a:lstStyle/>
                    <a:p>
                      <a:r>
                        <a:rPr sz="1100" b="1">
                          <a:solidFill>
                            <a:srgbClr val="FFFFFF"/>
                          </a:solidFill>
                          <a:latin typeface="Arial"/>
                        </a:rPr>
                        <a:t>1300–2500 nm</a:t>
                      </a:r>
                    </a:p>
                  </a:txBody>
                  <a:tcPr marL="54864" marR="54864" marT="18288" marB="18288">
                    <a:solidFill>
                      <a:srgbClr val="1F4E79"/>
                    </a:solidFill>
                  </a:tcPr>
                </a:tc>
                <a:tc>
                  <a:txBody>
                    <a:bodyPr wrap="square"/>
                    <a:lstStyle/>
                    <a:p>
                      <a:r>
                        <a:rPr sz="1100" b="1">
                          <a:solidFill>
                            <a:srgbClr val="FFFFFF"/>
                          </a:solidFill>
                          <a:latin typeface="Arial"/>
                        </a:rPr>
                        <a:t>380–2500 mean</a:t>
                      </a:r>
                    </a:p>
                  </a:txBody>
                  <a:tcPr marL="54864" marR="54864" marT="18288" marB="18288">
                    <a:solidFill>
                      <a:srgbClr val="1F4E79"/>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uncoated</a:t>
                      </a:r>
                    </a:p>
                  </a:txBody>
                  <a:tcPr marL="54864" marR="54864" marT="18288" marB="18288">
                    <a:solidFill>
                      <a:srgbClr val="FFFFFF"/>
                    </a:solidFill>
                  </a:tcPr>
                </a:tc>
                <a:tc>
                  <a:txBody>
                    <a:bodyPr wrap="square"/>
                    <a:lstStyle/>
                    <a:p>
                      <a:r>
                        <a:rPr sz="1100" b="0">
                          <a:solidFill>
                            <a:srgbClr val="282828"/>
                          </a:solidFill>
                          <a:latin typeface="Arial"/>
                        </a:rPr>
                        <a:t>0.817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c>
                  <a:txBody>
                    <a:bodyPr wrap="square"/>
                    <a:lstStyle/>
                    <a:p>
                      <a:r>
                        <a:rPr sz="1100" b="0">
                          <a:solidFill>
                            <a:srgbClr val="282828"/>
                          </a:solidFill>
                          <a:latin typeface="Arial"/>
                        </a:rPr>
                        <a:t>0.827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quarter wave at 2.2 µm</a:t>
                      </a:r>
                    </a:p>
                  </a:txBody>
                  <a:tcPr marL="54864" marR="54864" marT="18288" marB="18288">
                    <a:solidFill>
                      <a:srgbClr val="ECF1F6"/>
                    </a:solidFill>
                  </a:tcPr>
                </a:tc>
                <a:tc>
                  <a:txBody>
                    <a:bodyPr wrap="square"/>
                    <a:lstStyle/>
                    <a:p>
                      <a:r>
                        <a:rPr sz="1100" b="0">
                          <a:solidFill>
                            <a:srgbClr val="282828"/>
                          </a:solidFill>
                          <a:latin typeface="Arial"/>
                        </a:rPr>
                        <a:t>0.852</a:t>
                      </a:r>
                    </a:p>
                  </a:txBody>
                  <a:tcPr marL="54864" marR="54864" marT="18288" marB="18288">
                    <a:solidFill>
                      <a:srgbClr val="ECF1F6"/>
                    </a:solidFill>
                  </a:tcPr>
                </a:tc>
                <a:tc>
                  <a:txBody>
                    <a:bodyPr wrap="square"/>
                    <a:lstStyle/>
                    <a:p>
                      <a:r>
                        <a:rPr sz="1100" b="0">
                          <a:solidFill>
                            <a:srgbClr val="282828"/>
                          </a:solidFill>
                          <a:latin typeface="Arial"/>
                        </a:rPr>
                        <a:t>0.844</a:t>
                      </a:r>
                    </a:p>
                  </a:txBody>
                  <a:tcPr marL="54864" marR="54864" marT="18288" marB="18288">
                    <a:solidFill>
                      <a:srgbClr val="ECF1F6"/>
                    </a:solidFill>
                  </a:tcPr>
                </a:tc>
                <a:tc>
                  <a:txBody>
                    <a:bodyPr wrap="square"/>
                    <a:lstStyle/>
                    <a:p>
                      <a:r>
                        <a:rPr sz="1100" b="0">
                          <a:solidFill>
                            <a:srgbClr val="282828"/>
                          </a:solidFill>
                          <a:latin typeface="Arial"/>
                        </a:rPr>
                        <a:t>0.869</a:t>
                      </a:r>
                    </a:p>
                  </a:txBody>
                  <a:tcPr marL="54864" marR="54864" marT="18288" marB="18288">
                    <a:solidFill>
                      <a:srgbClr val="ECF1F6"/>
                    </a:solidFill>
                  </a:tcPr>
                </a:tc>
                <a:tc>
                  <a:txBody>
                    <a:bodyPr wrap="square"/>
                    <a:lstStyle/>
                    <a:p>
                      <a:r>
                        <a:rPr sz="1100" b="0">
                          <a:solidFill>
                            <a:srgbClr val="282828"/>
                          </a:solidFill>
                          <a:latin typeface="Arial"/>
                        </a:rPr>
                        <a:t>0.855</a:t>
                      </a:r>
                    </a:p>
                  </a:txBody>
                  <a:tcPr marL="54864" marR="54864" marT="18288" marB="18288">
                    <a:solidFill>
                      <a:srgbClr val="ECF1F6"/>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2.2 µm</a:t>
                      </a:r>
                    </a:p>
                  </a:txBody>
                  <a:tcPr marL="54864" marR="54864" marT="18288" marB="18288">
                    <a:solidFill>
                      <a:srgbClr val="FFFFFF"/>
                    </a:solidFill>
                  </a:tcPr>
                </a:tc>
                <a:tc>
                  <a:txBody>
                    <a:bodyPr wrap="square"/>
                    <a:lstStyle/>
                    <a:p>
                      <a:r>
                        <a:rPr sz="1100" b="0">
                          <a:solidFill>
                            <a:srgbClr val="282828"/>
                          </a:solidFill>
                          <a:latin typeface="Arial"/>
                        </a:rPr>
                        <a:t>0.797</a:t>
                      </a:r>
                    </a:p>
                  </a:txBody>
                  <a:tcPr marL="54864" marR="54864" marT="18288" marB="18288">
                    <a:solidFill>
                      <a:srgbClr val="FFFFFF"/>
                    </a:solidFill>
                  </a:tcPr>
                </a:tc>
                <a:tc>
                  <a:txBody>
                    <a:bodyPr wrap="square"/>
                    <a:lstStyle/>
                    <a:p>
                      <a:r>
                        <a:rPr sz="1100" b="0">
                          <a:solidFill>
                            <a:srgbClr val="282828"/>
                          </a:solidFill>
                          <a:latin typeface="Arial"/>
                        </a:rPr>
                        <a:t>0.801</a:t>
                      </a:r>
                    </a:p>
                  </a:txBody>
                  <a:tcPr marL="54864" marR="54864" marT="18288" marB="18288">
                    <a:solidFill>
                      <a:srgbClr val="FFFFFF"/>
                    </a:solidFill>
                  </a:tcPr>
                </a:tc>
                <a:tc>
                  <a:txBody>
                    <a:bodyPr wrap="square"/>
                    <a:lstStyle/>
                    <a:p>
                      <a:r>
                        <a:rPr sz="1100" b="0">
                          <a:solidFill>
                            <a:srgbClr val="282828"/>
                          </a:solidFill>
                          <a:latin typeface="Arial"/>
                        </a:rPr>
                        <a:t>0.880</a:t>
                      </a:r>
                    </a:p>
                  </a:txBody>
                  <a:tcPr marL="54864" marR="54864" marT="18288" marB="18288">
                    <a:solidFill>
                      <a:srgbClr val="FFFFFF"/>
                    </a:solidFill>
                  </a:tcPr>
                </a:tc>
                <a:tc>
                  <a:txBody>
                    <a:bodyPr wrap="square"/>
                    <a:lstStyle/>
                    <a:p>
                      <a:r>
                        <a:rPr sz="1100" b="0">
                          <a:solidFill>
                            <a:srgbClr val="282828"/>
                          </a:solidFill>
                          <a:latin typeface="Arial"/>
                        </a:rPr>
                        <a:t>0.826</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1.0 µm</a:t>
                      </a:r>
                    </a:p>
                  </a:txBody>
                  <a:tcPr marL="54864" marR="54864" marT="18288" marB="18288">
                    <a:solidFill>
                      <a:srgbClr val="ECF1F6"/>
                    </a:solidFill>
                  </a:tcPr>
                </a:tc>
                <a:tc>
                  <a:txBody>
                    <a:bodyPr wrap="square"/>
                    <a:lstStyle/>
                    <a:p>
                      <a:r>
                        <a:rPr sz="1100" b="0">
                          <a:solidFill>
                            <a:srgbClr val="282828"/>
                          </a:solidFill>
                          <a:latin typeface="Arial"/>
                        </a:rPr>
                        <a:t>0.749</a:t>
                      </a:r>
                    </a:p>
                  </a:txBody>
                  <a:tcPr marL="54864" marR="54864" marT="18288" marB="18288">
                    <a:solidFill>
                      <a:srgbClr val="ECF1F6"/>
                    </a:solidFill>
                  </a:tcPr>
                </a:tc>
                <a:tc>
                  <a:txBody>
                    <a:bodyPr wrap="square"/>
                    <a:lstStyle/>
                    <a:p>
                      <a:r>
                        <a:rPr sz="1100" b="0">
                          <a:solidFill>
                            <a:srgbClr val="282828"/>
                          </a:solidFill>
                          <a:latin typeface="Arial"/>
                        </a:rPr>
                        <a:t>0.920</a:t>
                      </a:r>
                    </a:p>
                  </a:txBody>
                  <a:tcPr marL="54864" marR="54864" marT="18288" marB="18288">
                    <a:solidFill>
                      <a:srgbClr val="ECF1F6"/>
                    </a:solidFill>
                  </a:tcPr>
                </a:tc>
                <a:tc>
                  <a:txBody>
                    <a:bodyPr wrap="square"/>
                    <a:lstStyle/>
                    <a:p>
                      <a:r>
                        <a:rPr sz="1100" b="0">
                          <a:solidFill>
                            <a:srgbClr val="282828"/>
                          </a:solidFill>
                          <a:latin typeface="Arial"/>
                        </a:rPr>
                        <a:t>0.736</a:t>
                      </a:r>
                    </a:p>
                  </a:txBody>
                  <a:tcPr marL="54864" marR="54864" marT="18288" marB="18288">
                    <a:solidFill>
                      <a:srgbClr val="ECF1F6"/>
                    </a:solidFill>
                  </a:tcPr>
                </a:tc>
                <a:tc>
                  <a:txBody>
                    <a:bodyPr wrap="square"/>
                    <a:lstStyle/>
                    <a:p>
                      <a:r>
                        <a:rPr sz="1100" b="0">
                          <a:solidFill>
                            <a:srgbClr val="282828"/>
                          </a:solidFill>
                          <a:latin typeface="Arial"/>
                        </a:rPr>
                        <a:t>0.802</a:t>
                      </a:r>
                    </a:p>
                  </a:txBody>
                  <a:tcPr marL="54864" marR="54864" marT="18288" marB="18288">
                    <a:solidFill>
                      <a:srgbClr val="ECF1F6"/>
                    </a:solidFill>
                  </a:tcPr>
                </a:tc>
              </a:tr>
              <a:tr h="280035">
                <a:tc>
                  <a:txBody>
                    <a:bodyPr wrap="square"/>
                    <a:lstStyle/>
                    <a:p>
                      <a:r>
                        <a:rPr sz="1100" b="0">
                          <a:solidFill>
                            <a:srgbClr val="282828"/>
                          </a:solidFill>
                          <a:latin typeface="Arial"/>
                        </a:rPr>
                        <a:t>1.5k silica, uncoated /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at 2.2 µm</a:t>
                      </a:r>
                    </a:p>
                  </a:txBody>
                  <a:tcPr marL="54864" marR="54864" marT="18288" marB="18288">
                    <a:solidFill>
                      <a:srgbClr val="FFFFFF"/>
                    </a:solidFill>
                  </a:tcPr>
                </a:tc>
                <a:tc>
                  <a:txBody>
                    <a:bodyPr wrap="square"/>
                    <a:lstStyle/>
                    <a:p>
                      <a:r>
                        <a:rPr sz="1100" b="0">
                          <a:solidFill>
                            <a:srgbClr val="282828"/>
                          </a:solidFill>
                          <a:latin typeface="Arial"/>
                        </a:rPr>
                        <a:t>0.807 / 0.851</a:t>
                      </a:r>
                    </a:p>
                  </a:txBody>
                  <a:tcPr marL="54864" marR="54864" marT="18288" marB="18288">
                    <a:solidFill>
                      <a:srgbClr val="FFFFFF"/>
                    </a:solidFill>
                  </a:tcPr>
                </a:tc>
                <a:tc>
                  <a:txBody>
                    <a:bodyPr wrap="square"/>
                    <a:lstStyle/>
                    <a:p>
                      <a:r>
                        <a:rPr sz="1100" b="0">
                          <a:solidFill>
                            <a:srgbClr val="282828"/>
                          </a:solidFill>
                          <a:latin typeface="Arial"/>
                        </a:rPr>
                        <a:t>0.814 / 0.840</a:t>
                      </a:r>
                    </a:p>
                  </a:txBody>
                  <a:tcPr marL="54864" marR="54864" marT="18288" marB="18288">
                    <a:solidFill>
                      <a:srgbClr val="FFFFFF"/>
                    </a:solidFill>
                  </a:tcPr>
                </a:tc>
                <a:tc>
                  <a:txBody>
                    <a:bodyPr wrap="square"/>
                    <a:lstStyle/>
                    <a:p>
                      <a:r>
                        <a:rPr sz="1100" b="0">
                          <a:solidFill>
                            <a:srgbClr val="282828"/>
                          </a:solidFill>
                          <a:latin typeface="Arial"/>
                        </a:rPr>
                        <a:t>0.821 / 0.872</a:t>
                      </a:r>
                    </a:p>
                  </a:txBody>
                  <a:tcPr marL="54864" marR="54864" marT="18288" marB="18288">
                    <a:solidFill>
                      <a:srgbClr val="FFFFFF"/>
                    </a:solidFill>
                  </a:tcPr>
                </a:tc>
                <a:tc>
                  <a:txBody>
                    <a:bodyPr wrap="square"/>
                    <a:lstStyle/>
                    <a:p>
                      <a:r>
                        <a:rPr sz="1100" b="0">
                          <a:solidFill>
                            <a:srgbClr val="282828"/>
                          </a:solidFill>
                          <a:latin typeface="Arial"/>
                        </a:rPr>
                        <a:t>0.814 / 0.854</a:t>
                      </a:r>
                    </a:p>
                  </a:txBody>
                  <a:tcPr marL="54864" marR="54864" marT="18288" marB="18288">
                    <a:solidFill>
                      <a:srgbClr val="FFFFFF"/>
                    </a:solidFill>
                  </a:tcPr>
                </a:tc>
              </a:tr>
              <a:tr h="280035">
                <a:tc>
                  <a:txBody>
                    <a:bodyPr wrap="square"/>
                    <a:lstStyle/>
                    <a:p>
                      <a:r>
                        <a:rPr sz="1100" b="0">
                          <a:solidFill>
                            <a:srgbClr val="282828"/>
                          </a:solidFill>
                          <a:latin typeface="Arial"/>
                        </a:rPr>
                        <a:t>grating, scalar blaze at 1.0 / 1.4 / 1.8 µm</a:t>
                      </a:r>
                    </a:p>
                  </a:txBody>
                  <a:tcPr marL="54864" marR="54864" marT="18288" marB="18288">
                    <a:solidFill>
                      <a:srgbClr val="ECF1F6"/>
                    </a:solidFill>
                  </a:tcPr>
                </a:tc>
                <a:tc>
                  <a:txBody>
                    <a:bodyPr wrap="square"/>
                    <a:lstStyle/>
                    <a:p>
                      <a:r>
                        <a:rPr sz="1100" b="0">
                          <a:solidFill>
                            <a:srgbClr val="282828"/>
                          </a:solidFill>
                          <a:latin typeface="Arial"/>
                        </a:rPr>
                        <a:t>0.14 / 0.02 / 0.01</a:t>
                      </a:r>
                    </a:p>
                  </a:txBody>
                  <a:tcPr marL="54864" marR="54864" marT="18288" marB="18288">
                    <a:solidFill>
                      <a:srgbClr val="ECF1F6"/>
                    </a:solidFill>
                  </a:tcPr>
                </a:tc>
                <a:tc>
                  <a:txBody>
                    <a:bodyPr wrap="square"/>
                    <a:lstStyle/>
                    <a:p>
                      <a:r>
                        <a:rPr sz="1100" b="0">
                          <a:solidFill>
                            <a:srgbClr val="282828"/>
                          </a:solidFill>
                          <a:latin typeface="Arial"/>
                        </a:rPr>
                        <a:t>0.89 / 0.53 / 0.17</a:t>
                      </a:r>
                    </a:p>
                  </a:txBody>
                  <a:tcPr marL="54864" marR="54864" marT="18288" marB="18288">
                    <a:solidFill>
                      <a:srgbClr val="ECF1F6"/>
                    </a:solidFill>
                  </a:tcPr>
                </a:tc>
                <a:tc>
                  <a:txBody>
                    <a:bodyPr wrap="square"/>
                    <a:lstStyle/>
                    <a:p>
                      <a:r>
                        <a:rPr sz="1100" b="0">
                          <a:solidFill>
                            <a:srgbClr val="282828"/>
                          </a:solidFill>
                          <a:latin typeface="Arial"/>
                        </a:rPr>
                        <a:t>0.48 / 0.78 / 0.89</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crossings:</a:t>
            </a:r>
            <a:r>
              <a:rPr sz="1500" b="0">
                <a:solidFill>
                  <a:srgbClr val="282828"/>
                </a:solidFill>
                <a:latin typeface="Arial"/>
              </a:rPr>
              <a:t> the slit face in, the block's convex face out to the grating's air gap and back in, the exit face — four on the block — and two on the detector's order-sorting filter, which sits in air (Jim: it cannot be bonded to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Each entry is the mean over the band of the product of the six transmittances, the block's index from its Sellmeier equation at every wavelength.</a:t>
            </a:r>
          </a:p>
          <a:p>
            <a:pPr>
              <a:spcAft>
                <a:spcPts val="600"/>
              </a:spcAft>
            </a:pPr>
            <a:r>
              <a:rPr sz="1500" b="0">
                <a:solidFill>
                  <a:srgbClr val="282828"/>
                </a:solidFill>
                <a:latin typeface="Arial"/>
              </a:rPr>
              <a:t>•  </a:t>
            </a:r>
            <a:r>
              <a:rPr sz="1500" b="1">
                <a:solidFill>
                  <a:srgbClr val="282828"/>
                </a:solidFill>
                <a:latin typeface="Arial"/>
              </a:rPr>
              <a:t>Where to spend the coating:</a:t>
            </a:r>
            <a:r>
              <a:rPr sz="1500" b="0">
                <a:solidFill>
                  <a:srgbClr val="282828"/>
                </a:solidFill>
                <a:latin typeface="Arial"/>
              </a:rPr>
              <a:t> on a 1.43–1.45 substrate a single </a:t>
            </a:r>
            <a:r>
              <a:rPr sz="1500" b="0">
                <a:solidFill>
                  <a:srgbClr val="282828"/>
                </a:solidFill>
                <a:latin typeface="Arial"/>
              </a:rPr>
              <a:t>MgF</a:t>
            </a:r>
            <a:r>
              <a:rPr sz="1500" b="0" baseline="-25000">
                <a:solidFill>
                  <a:srgbClr val="282828"/>
                </a:solidFill>
                <a:latin typeface="Arial"/>
              </a:rPr>
              <a:t>2</a:t>
            </a:r>
            <a:r>
              <a:rPr sz="1500" b="0">
                <a:solidFill>
                  <a:srgbClr val="282828"/>
                </a:solidFill>
                <a:latin typeface="Arial"/>
              </a:rPr>
              <a:t> layer is never a good match, but centered at 2.2 µm it helps most where the photons are scarcest (+0.04–0.05 in the long band) and still helps at the short end; the two-layer tuned to 1 µm is the better coating in the middle of the band (0.92) and the worse one at both ends.  Jim's rule, in numbers.</a:t>
            </a:r>
          </a:p>
          <a:p>
            <a:pPr>
              <a:spcAft>
                <a:spcPts val="600"/>
              </a:spcAft>
            </a:pPr>
            <a:r>
              <a:rPr sz="1500" b="0">
                <a:solidFill>
                  <a:srgbClr val="282828"/>
                </a:solidFill>
                <a:latin typeface="Arial"/>
              </a:rPr>
              <a:t>•  </a:t>
            </a:r>
            <a:r>
              <a:rPr sz="1500" b="1">
                <a:solidFill>
                  <a:srgbClr val="282828"/>
                </a:solidFill>
                <a:latin typeface="Arial"/>
              </a:rPr>
              <a:t>The blaze does the real work at the long end:</a:t>
            </a:r>
            <a:r>
              <a:rPr sz="1500" b="0">
                <a:solidFill>
                  <a:srgbClr val="282828"/>
                </a:solidFill>
                <a:latin typeface="Arial"/>
              </a:rPr>
              <a:t> a 1.8 µm blaze puts 0.89 of first-order efficiency in the long band against 0.48 for a 1 µm blaze, at the price of the short band, where the photons are plentiful.  The scalar estimate says where the light goes, not the absolute efficiency; a vector grating calculation is the next step there.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dyson5_throughput_band.txt (dyson5_throughput_band.m, thinfilm_rt); route 2 of the record = the 1.0 µm two-layer row.  No detector QE, slit loss or mirrors.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template applied: the 1.5k module, with the deviations as they occurred</a:t>
            </a:r>
          </a:p>
          <a:p>
            <a:pPr>
              <a:spcAft>
                <a:spcPts val="0"/>
              </a:spcAft>
            </a:pPr>
            <a:r>
              <a:rPr sz="1250" b="0">
                <a:solidFill>
                  <a:srgbClr val="6E6E6E"/>
                </a:solidFill>
                <a:latin typeface="Arial"/>
              </a:rPr>
              <a:t>The same seed, rows and weights at the 1.5k spec (±2.35°, 27 mm slit) reach the pixel in five rungs; one deviation forced a new row — the first rung at the floor entered M2's body by 0.3 mm, and a clearance wall bought +2.4 mm with the floor held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1960245"/>
        </p:xfrm>
        <a:graphic>
          <a:graphicData uri="http://schemas.openxmlformats.org/drawingml/2006/table">
            <a:tbl>
              <a:tblPr firstRow="1" bandRow="1">
                <a:tableStyleId>{5C22544A-7EE6-4342-B048-85BDC9FD1C3A}</a:tableStyleId>
              </a:tblPr>
              <a:tblGrid>
                <a:gridCol w="1722535"/>
                <a:gridCol w="2411549"/>
                <a:gridCol w="1492864"/>
                <a:gridCol w="1722535"/>
                <a:gridCol w="2411549"/>
                <a:gridCol w="1607699"/>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worst FWHM (px)</a:t>
                      </a:r>
                    </a:p>
                  </a:txBody>
                  <a:tcPr marL="54864" marR="54864" marT="18288" marB="18288">
                    <a:solidFill>
                      <a:srgbClr val="1F4E79"/>
                    </a:solidFill>
                  </a:tcPr>
                </a:tc>
                <a:tc>
                  <a:txBody>
                    <a:bodyPr wrap="square"/>
                    <a:lstStyle/>
                    <a:p>
                      <a:r>
                        <a:rPr sz="1100" b="1">
                          <a:solidFill>
                            <a:srgbClr val="FFFFFF"/>
                          </a:solidFill>
                          <a:latin typeface="Arial"/>
                        </a:rPr>
                        <a:t>min energy in a pixel</a:t>
                      </a:r>
                    </a:p>
                  </a:txBody>
                  <a:tcPr marL="54864" marR="54864" marT="18288" marB="18288">
                    <a:solidFill>
                      <a:srgbClr val="1F4E79"/>
                    </a:solidFill>
                  </a:tcPr>
                </a:tc>
                <a:tc>
                  <a:txBody>
                    <a:bodyPr wrap="square"/>
                    <a:lstStyle/>
                    <a:p>
                      <a:r>
                        <a:rPr sz="1100" b="1">
                          <a:solidFill>
                            <a:srgbClr val="FFFFFF"/>
                          </a:solidFill>
                          <a:latin typeface="Arial"/>
                        </a:rPr>
                        <a:t>clearance (mm)</a:t>
                      </a:r>
                    </a:p>
                  </a:txBody>
                  <a:tcPr marL="54864" marR="54864" marT="18288" marB="18288">
                    <a:solidFill>
                      <a:srgbClr val="1F4E79"/>
                    </a:solidFill>
                  </a:tcPr>
                </a:tc>
              </a:tr>
              <a:tr h="280035">
                <a:tc>
                  <a:txBody>
                    <a:bodyPr wrap="square"/>
                    <a:lstStyle/>
                    <a:p>
                      <a:r>
                        <a:rPr sz="1100" b="0">
                          <a:solidFill>
                            <a:srgbClr val="282828"/>
                          </a:solidFill>
                          <a:latin typeface="Arial"/>
                        </a:rPr>
                        <a:t>R0 seed</a:t>
                      </a:r>
                    </a:p>
                  </a:txBody>
                  <a:tcPr marL="54864" marR="54864" marT="18288" marB="18288">
                    <a:solidFill>
                      <a:srgbClr val="FFFFFF"/>
                    </a:solidFill>
                  </a:tcPr>
                </a:tc>
                <a:tc>
                  <a:txBody>
                    <a:bodyPr wrap="square"/>
                    <a:lstStyle/>
                    <a:p>
                      <a:r>
                        <a:rPr sz="1100" b="0">
                          <a:solidFill>
                            <a:srgbClr val="282828"/>
                          </a:solidFill>
                          <a:latin typeface="Arial"/>
                        </a:rPr>
                        <a:t>first order</a:t>
                      </a:r>
                    </a:p>
                  </a:txBody>
                  <a:tcPr marL="54864" marR="54864" marT="18288" marB="18288">
                    <a:solidFill>
                      <a:srgbClr val="FFFFFF"/>
                    </a:solidFill>
                  </a:tcPr>
                </a:tc>
                <a:tc>
                  <a:txBody>
                    <a:bodyPr wrap="square"/>
                    <a:lstStyle/>
                    <a:p>
                      <a:r>
                        <a:rPr sz="1100" b="0">
                          <a:solidFill>
                            <a:srgbClr val="282828"/>
                          </a:solidFill>
                          <a:latin typeface="Arial"/>
                        </a:rPr>
                        <a:t>1876–1968</a:t>
                      </a:r>
                    </a:p>
                  </a:txBody>
                  <a:tcPr marL="54864" marR="54864" marT="18288" marB="18288">
                    <a:solidFill>
                      <a:srgbClr val="FFFFFF"/>
                    </a:solidFill>
                  </a:tcPr>
                </a:tc>
                <a:tc>
                  <a:txBody>
                    <a:bodyPr wrap="square"/>
                    <a:lstStyle/>
                    <a:p>
                      <a:r>
                        <a:rPr sz="1100" b="0">
                          <a:solidFill>
                            <a:srgbClr val="282828"/>
                          </a:solidFill>
                          <a:latin typeface="Arial"/>
                        </a:rPr>
                        <a:t>15.6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+10.1</a:t>
                      </a:r>
                    </a:p>
                  </a:txBody>
                  <a:tcPr marL="54864" marR="54864" marT="18288" marB="18288">
                    <a:solidFill>
                      <a:srgbClr val="FFFFFF"/>
                    </a:solidFill>
                  </a:tcPr>
                </a:tc>
              </a:tr>
              <a:tr h="280035">
                <a:tc>
                  <a:txBody>
                    <a:bodyPr wrap="square"/>
                    <a:lstStyle/>
                    <a:p>
                      <a:r>
                        <a:rPr sz="1100" b="0">
                          <a:solidFill>
                            <a:srgbClr val="282828"/>
                          </a:solidFill>
                          <a:latin typeface="Arial"/>
                        </a:rPr>
                        <a:t>R1 conic</a:t>
                      </a:r>
                    </a:p>
                  </a:txBody>
                  <a:tcPr marL="54864" marR="54864" marT="18288" marB="18288">
                    <a:solidFill>
                      <a:srgbClr val="ECF1F6"/>
                    </a:solidFill>
                  </a:tcPr>
                </a:tc>
                <a:tc>
                  <a:txBody>
                    <a:bodyPr wrap="square"/>
                    <a:lstStyle/>
                    <a:p>
                      <a:r>
                        <a:rPr sz="1100" b="0">
                          <a:solidFill>
                            <a:srgbClr val="282828"/>
                          </a:solidFill>
                          <a:latin typeface="Arial"/>
                        </a:rPr>
                        <a:t>θ, slit focus</a:t>
                      </a:r>
                    </a:p>
                  </a:txBody>
                  <a:tcPr marL="54864" marR="54864" marT="18288" marB="18288">
                    <a:solidFill>
                      <a:srgbClr val="ECF1F6"/>
                    </a:solidFill>
                  </a:tcPr>
                </a:tc>
                <a:tc>
                  <a:txBody>
                    <a:bodyPr wrap="square"/>
                    <a:lstStyle/>
                    <a:p>
                      <a:r>
                        <a:rPr sz="1100" b="0">
                          <a:solidFill>
                            <a:srgbClr val="282828"/>
                          </a:solidFill>
                          <a:latin typeface="Arial"/>
                        </a:rPr>
                        <a:t>151–187</a:t>
                      </a:r>
                    </a:p>
                  </a:txBody>
                  <a:tcPr marL="54864" marR="54864" marT="18288" marB="18288">
                    <a:solidFill>
                      <a:srgbClr val="ECF1F6"/>
                    </a:solidFill>
                  </a:tcPr>
                </a:tc>
                <a:tc>
                  <a:txBody>
                    <a:bodyPr wrap="square"/>
                    <a:lstStyle/>
                    <a:p>
                      <a:r>
                        <a:rPr sz="1100" b="0">
                          <a:solidFill>
                            <a:srgbClr val="282828"/>
                          </a:solidFill>
                          <a:latin typeface="Arial"/>
                        </a:rPr>
                        <a:t>10.8</a:t>
                      </a:r>
                    </a:p>
                  </a:txBody>
                  <a:tcPr marL="54864" marR="54864" marT="18288" marB="18288">
                    <a:solidFill>
                      <a:srgbClr val="ECF1F6"/>
                    </a:solidFill>
                  </a:tcPr>
                </a:tc>
                <a:tc>
                  <a:txBody>
                    <a:bodyPr wrap="square"/>
                    <a:lstStyle/>
                    <a:p>
                      <a:r>
                        <a:rPr sz="1100" b="0">
                          <a:solidFill>
                            <a:srgbClr val="282828"/>
                          </a:solidFill>
                          <a:latin typeface="Arial"/>
                        </a:rPr>
                        <a:t>0.00</a:t>
                      </a:r>
                    </a:p>
                  </a:txBody>
                  <a:tcPr marL="54864" marR="54864" marT="18288" marB="18288">
                    <a:solidFill>
                      <a:srgbClr val="ECF1F6"/>
                    </a:solidFill>
                  </a:tcPr>
                </a:tc>
                <a:tc>
                  <a:txBody>
                    <a:bodyPr wrap="square"/>
                    <a:lstStyle/>
                    <a:p>
                      <a:r>
                        <a:rPr sz="1100" b="0">
                          <a:solidFill>
                            <a:srgbClr val="282828"/>
                          </a:solidFill>
                          <a:latin typeface="Arial"/>
                        </a:rPr>
                        <a:t>+17.1</a:t>
                      </a:r>
                    </a:p>
                  </a:txBody>
                  <a:tcPr marL="54864" marR="54864" marT="18288" marB="18288">
                    <a:solidFill>
                      <a:srgbClr val="ECF1F6"/>
                    </a:solidFill>
                  </a:tcPr>
                </a:tc>
              </a:tr>
              <a:tr h="280035">
                <a:tc>
                  <a:txBody>
                    <a:bodyPr wrap="square"/>
                    <a:lstStyle/>
                    <a:p>
                      <a:r>
                        <a:rPr sz="1100" b="0">
                          <a:solidFill>
                            <a:srgbClr val="282828"/>
                          </a:solidFill>
                          <a:latin typeface="Arial"/>
                        </a:rPr>
                        <a:t>R2 asphere</a:t>
                      </a:r>
                    </a:p>
                  </a:txBody>
                  <a:tcPr marL="54864" marR="54864" marT="18288" marB="18288">
                    <a:solidFill>
                      <a:srgbClr val="FFFFFF"/>
                    </a:solidFill>
                  </a:tcPr>
                </a:tc>
                <a:tc>
                  <a:txBody>
                    <a:bodyPr wrap="square"/>
                    <a:lstStyle/>
                    <a:p>
                      <a:r>
                        <a:rPr sz="1100" b="0">
                          <a:solidFill>
                            <a:srgbClr val="282828"/>
                          </a:solidFill>
                          <a:latin typeface="Arial"/>
                        </a:rPr>
                        <a:t>+ h⁴, h⁶</a:t>
                      </a:r>
                    </a:p>
                  </a:txBody>
                  <a:tcPr marL="54864" marR="54864" marT="18288" marB="18288">
                    <a:solidFill>
                      <a:srgbClr val="FFFFFF"/>
                    </a:solidFill>
                  </a:tcPr>
                </a:tc>
                <a:tc>
                  <a:txBody>
                    <a:bodyPr wrap="square"/>
                    <a:lstStyle/>
                    <a:p>
                      <a:r>
                        <a:rPr sz="1100" b="0">
                          <a:solidFill>
                            <a:srgbClr val="282828"/>
                          </a:solidFill>
                          <a:latin typeface="Arial"/>
                        </a:rPr>
                        <a:t>57–152</a:t>
                      </a:r>
                    </a:p>
                  </a:txBody>
                  <a:tcPr marL="54864" marR="54864" marT="18288" marB="18288">
                    <a:solidFill>
                      <a:srgbClr val="FFFFFF"/>
                    </a:solidFill>
                  </a:tcPr>
                </a:tc>
                <a:tc>
                  <a:txBody>
                    <a:bodyPr wrap="square"/>
                    <a:lstStyle/>
                    <a:p>
                      <a:r>
                        <a:rPr sz="1100" b="0">
                          <a:solidFill>
                            <a:srgbClr val="282828"/>
                          </a:solidFill>
                          <a:latin typeface="Arial"/>
                        </a:rPr>
                        <a:t>14.7</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+13.9</a:t>
                      </a:r>
                    </a:p>
                  </a:txBody>
                  <a:tcPr marL="54864" marR="54864" marT="18288" marB="18288">
                    <a:solidFill>
                      <a:srgbClr val="FFFFFF"/>
                    </a:solidFill>
                  </a:tcPr>
                </a:tc>
              </a:tr>
              <a:tr h="280035">
                <a:tc>
                  <a:txBody>
                    <a:bodyPr wrap="square"/>
                    <a:lstStyle/>
                    <a:p>
                      <a:r>
                        <a:rPr sz="1100" b="0">
                          <a:solidFill>
                            <a:srgbClr val="282828"/>
                          </a:solidFill>
                          <a:latin typeface="Arial"/>
                        </a:rPr>
                        <a:t>R3 freeform 3–4</a:t>
                      </a:r>
                    </a:p>
                  </a:txBody>
                  <a:tcPr marL="54864" marR="54864" marT="18288" marB="18288">
                    <a:solidFill>
                      <a:srgbClr val="ECF1F6"/>
                    </a:solidFill>
                  </a:tcPr>
                </a:tc>
                <a:tc>
                  <a:txBody>
                    <a:bodyPr wrap="square"/>
                    <a:lstStyle/>
                    <a:p>
                      <a:r>
                        <a:rPr sz="1100" b="0">
                          <a:solidFill>
                            <a:srgbClr val="282828"/>
                          </a:solidFill>
                          <a:latin typeface="Arial"/>
                        </a:rPr>
                        <a:t>pole-frame polynomial</a:t>
                      </a:r>
                    </a:p>
                  </a:txBody>
                  <a:tcPr marL="54864" marR="54864" marT="18288" marB="18288">
                    <a:solidFill>
                      <a:srgbClr val="ECF1F6"/>
                    </a:solidFill>
                  </a:tcPr>
                </a:tc>
                <a:tc>
                  <a:txBody>
                    <a:bodyPr wrap="square"/>
                    <a:lstStyle/>
                    <a:p>
                      <a:r>
                        <a:rPr sz="1100" b="0">
                          <a:solidFill>
                            <a:srgbClr val="282828"/>
                          </a:solidFill>
                          <a:latin typeface="Arial"/>
                        </a:rPr>
                        <a:t>17–21</a:t>
                      </a:r>
                    </a:p>
                  </a:txBody>
                  <a:tcPr marL="54864" marR="54864" marT="18288" marB="18288">
                    <a:solidFill>
                      <a:srgbClr val="ECF1F6"/>
                    </a:solidFill>
                  </a:tcPr>
                </a:tc>
                <a:tc>
                  <a:txBody>
                    <a:bodyPr wrap="square"/>
                    <a:lstStyle/>
                    <a:p>
                      <a:r>
                        <a:rPr sz="1100" b="0">
                          <a:solidFill>
                            <a:srgbClr val="282828"/>
                          </a:solidFill>
                          <a:latin typeface="Arial"/>
                        </a:rPr>
                        <a:t>1.92</a:t>
                      </a:r>
                    </a:p>
                  </a:txBody>
                  <a:tcPr marL="54864" marR="54864" marT="18288" marB="18288">
                    <a:solidFill>
                      <a:srgbClr val="ECF1F6"/>
                    </a:solidFill>
                  </a:tcPr>
                </a:tc>
                <a:tc>
                  <a:txBody>
                    <a:bodyPr wrap="square"/>
                    <a:lstStyle/>
                    <a:p>
                      <a:r>
                        <a:rPr sz="1100" b="0">
                          <a:solidFill>
                            <a:srgbClr val="282828"/>
                          </a:solidFill>
                          <a:latin typeface="Arial"/>
                        </a:rPr>
                        <a:t>0.22</a:t>
                      </a:r>
                    </a:p>
                  </a:txBody>
                  <a:tcPr marL="54864" marR="54864" marT="18288" marB="18288">
                    <a:solidFill>
                      <a:srgbClr val="ECF1F6"/>
                    </a:solidFill>
                  </a:tcPr>
                </a:tc>
                <a:tc>
                  <a:txBody>
                    <a:bodyPr wrap="square"/>
                    <a:lstStyle/>
                    <a:p>
                      <a:r>
                        <a:rPr sz="1100" b="0">
                          <a:solidFill>
                            <a:srgbClr val="282828"/>
                          </a:solidFill>
                          <a:latin typeface="Arial"/>
                        </a:rPr>
                        <a:t>+1.2</a:t>
                      </a:r>
                    </a:p>
                  </a:txBody>
                  <a:tcPr marL="54864" marR="54864" marT="18288" marB="18288">
                    <a:solidFill>
                      <a:srgbClr val="ECF1F6"/>
                    </a:solidFill>
                  </a:tcPr>
                </a:tc>
              </a:tr>
              <a:tr h="280035">
                <a:tc>
                  <a:txBody>
                    <a:bodyPr wrap="square"/>
                    <a:lstStyle/>
                    <a:p>
                      <a:r>
                        <a:rPr sz="1100" b="0">
                          <a:solidFill>
                            <a:srgbClr val="282828"/>
                          </a:solidFill>
                          <a:latin typeface="Arial"/>
                        </a:rPr>
                        <a:t>R4 freeform 3–6</a:t>
                      </a:r>
                    </a:p>
                  </a:txBody>
                  <a:tcPr marL="54864" marR="54864" marT="18288" marB="18288">
                    <a:solidFill>
                      <a:srgbClr val="FFFFFF"/>
                    </a:solidFill>
                  </a:tcPr>
                </a:tc>
                <a:tc>
                  <a:txBody>
                    <a:bodyPr wrap="square"/>
                    <a:lstStyle/>
                    <a:p>
                      <a:r>
                        <a:rPr sz="1100" b="0">
                          <a:solidFill>
                            <a:srgbClr val="282828"/>
                          </a:solidFill>
                          <a:latin typeface="Arial"/>
                        </a:rPr>
                        <a:t>degree 3–6</a:t>
                      </a:r>
                    </a:p>
                  </a:txBody>
                  <a:tcPr marL="54864" marR="54864" marT="18288" marB="18288">
                    <a:solidFill>
                      <a:srgbClr val="FFFFFF"/>
                    </a:solidFill>
                  </a:tcPr>
                </a:tc>
                <a:tc>
                  <a:txBody>
                    <a:bodyPr wrap="square"/>
                    <a:lstStyle/>
                    <a:p>
                      <a:r>
                        <a:rPr sz="1100" b="0">
                          <a:solidFill>
                            <a:srgbClr val="282828"/>
                          </a:solidFill>
                          <a:latin typeface="Arial"/>
                        </a:rPr>
                        <a:t>0.73–0.98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r h="280035">
                <a:tc>
                  <a:txBody>
                    <a:bodyPr wrap="square"/>
                    <a:lstStyle/>
                    <a:p>
                      <a:r>
                        <a:rPr sz="1100" b="0">
                          <a:solidFill>
                            <a:srgbClr val="282828"/>
                          </a:solidFill>
                          <a:latin typeface="Arial"/>
                        </a:rPr>
                        <a:t>R5 ffc</a:t>
                      </a:r>
                    </a:p>
                  </a:txBody>
                  <a:tcPr marL="54864" marR="54864" marT="18288" marB="18288">
                    <a:solidFill>
                      <a:srgbClr val="ECF1F6"/>
                    </a:solidFill>
                  </a:tcPr>
                </a:tc>
                <a:tc>
                  <a:txBody>
                    <a:bodyPr wrap="square"/>
                    <a:lstStyle/>
                    <a:p>
                      <a:r>
                        <a:rPr sz="1100" b="0">
                          <a:solidFill>
                            <a:srgbClr val="282828"/>
                          </a:solidFill>
                          <a:latin typeface="Arial"/>
                        </a:rPr>
                        <a:t>R4 + the CLEAR wall</a:t>
                      </a:r>
                    </a:p>
                  </a:txBody>
                  <a:tcPr marL="54864" marR="54864" marT="18288" marB="18288">
                    <a:solidFill>
                      <a:srgbClr val="ECF1F6"/>
                    </a:solidFill>
                  </a:tcPr>
                </a:tc>
                <a:tc>
                  <a:txBody>
                    <a:bodyPr wrap="square"/>
                    <a:lstStyle/>
                    <a:p>
                      <a:r>
                        <a:rPr sz="1100" b="0">
                          <a:solidFill>
                            <a:srgbClr val="282828"/>
                          </a:solidFill>
                          <a:latin typeface="Arial"/>
                        </a:rPr>
                        <a:t>0.76–0.96</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+2.4</a:t>
                      </a:r>
                    </a:p>
                  </a:txBody>
                  <a:tcPr marL="54864" marR="54864" marT="18288" marB="18288">
                    <a:solidFill>
                      <a:srgbClr val="ECF1F6"/>
                    </a:solidFill>
                  </a:tcPr>
                </a:tc>
              </a:tr>
            </a:tbl>
          </a:graphicData>
        </a:graphic>
      </p:graphicFrame>
      <p:sp>
        <p:nvSpPr>
          <p:cNvPr id="5" name="TextBox 4"/>
          <p:cNvSpPr txBox="1"/>
          <p:nvPr/>
        </p:nvSpPr>
        <p:spPr>
          <a:xfrm>
            <a:off x="411480" y="340499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same:</a:t>
            </a:r>
            <a:r>
              <a:rPr sz="1200" b="0">
                <a:solidFill>
                  <a:srgbClr val="282828"/>
                </a:solidFill>
                <a:latin typeface="Arial"/>
              </a:rPr>
              <a:t> f, D, F/1.8; the seed's legs and incidences; the rows and weights the 3k ladder settled (slide 12), from R1 on — no equal-weight detour, no test rung.  </a:t>
            </a:r>
            <a:r>
              <a:rPr sz="1200" b="1">
                <a:solidFill>
                  <a:srgbClr val="282828"/>
                </a:solidFill>
                <a:latin typeface="Arial"/>
              </a:rPr>
              <a:t>Changed by parameter only:</a:t>
            </a:r>
            <a:r>
              <a:rPr sz="1200" b="0">
                <a:solidFill>
                  <a:srgbClr val="282828"/>
                </a:solidFill>
                <a:latin typeface="Arial"/>
              </a:rPr>
              <a:t> the strip, the slit, and the spectrometer joined (the 130 mm silica Dyson of record).</a:t>
            </a:r>
          </a:p>
          <a:p>
            <a:pPr>
              <a:spcAft>
                <a:spcPts val="600"/>
              </a:spcAft>
            </a:pPr>
            <a:r>
              <a:rPr sz="1200" b="0">
                <a:solidFill>
                  <a:srgbClr val="282828"/>
                </a:solidFill>
                <a:latin typeface="Arial"/>
              </a:rPr>
              <a:t>•  </a:t>
            </a:r>
            <a:r>
              <a:rPr sz="1200" b="1">
                <a:solidFill>
                  <a:srgbClr val="282828"/>
                </a:solidFill>
                <a:latin typeface="Arial"/>
              </a:rPr>
              <a:t>Deviation 1, expected:</a:t>
            </a:r>
            <a:r>
              <a:rPr sz="1200" b="0">
                <a:solidFill>
                  <a:srgbClr val="282828"/>
                </a:solidFill>
                <a:latin typeface="Arial"/>
              </a:rPr>
              <a:t> aspheres are not enough at 1.5k either (R2 57–152 µm); the pixel needs the freeform, as on the 3k.</a:t>
            </a:r>
          </a:p>
          <a:p>
            <a:pPr>
              <a:spcAft>
                <a:spcPts val="600"/>
              </a:spcAft>
            </a:pPr>
            <a:r>
              <a:rPr sz="1200" b="0">
                <a:solidFill>
                  <a:srgbClr val="282828"/>
                </a:solidFill>
                <a:latin typeface="Arial"/>
              </a:rPr>
              <a:t>•  </a:t>
            </a:r>
            <a:r>
              <a:rPr sz="1200" b="1">
                <a:solidFill>
                  <a:srgbClr val="282828"/>
                </a:solidFill>
                <a:latin typeface="Arial"/>
              </a:rPr>
              <a:t>Deviation 2, the new row:</a:t>
            </a:r>
            <a:r>
              <a:rPr sz="1200" b="0">
                <a:solidFill>
                  <a:srgbClr val="282828"/>
                </a:solidFill>
                <a:latin typeface="Arial"/>
              </a:rPr>
              <a:t> R4 reached 1.02 px at every field with its M3 → slit leg 0.3 mm inside M2's body (the 3k never came near: +12 mm).  CLEAR scores the clearance rule every iterate, a hinge to 2 mm at merit scale (weight 3000): R5 clears by +2.4 mm and keeps the floor.  The row is now in the template.</a:t>
            </a:r>
          </a:p>
        </p:txBody>
      </p:sp>
      <p:sp>
        <p:nvSpPr>
          <p:cNvPr id="6" name="TextBox 5"/>
          <p:cNvSpPr txBox="1"/>
          <p:nvPr/>
        </p:nvSpPr>
        <p:spPr>
          <a:xfrm>
            <a:off x="6400800" y="3404997"/>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Deviation 3, an absence:</a:t>
            </a:r>
            <a:r>
              <a:rPr sz="1200" b="0">
                <a:solidFill>
                  <a:srgbClr val="282828"/>
                </a:solidFill>
                <a:latin typeface="Arial"/>
              </a:rPr>
              <a:t> the two launches agree to 0.001 px.  With the OFF rows in from the first rung the chief − centroid offset that gave the 3k its 0.14 px never appeared; the 3k's R9 step was not needed.</a:t>
            </a:r>
          </a:p>
          <a:p>
            <a:pPr>
              <a:spcAft>
                <a:spcPts val="600"/>
              </a:spcAft>
            </a:pPr>
            <a:r>
              <a:rPr sz="1200" b="0">
                <a:solidFill>
                  <a:srgbClr val="282828"/>
                </a:solidFill>
                <a:latin typeface="Arial"/>
              </a:rPr>
              <a:t>•  </a:t>
            </a:r>
            <a:r>
              <a:rPr sz="1200" b="1">
                <a:solidFill>
                  <a:srgbClr val="282828"/>
                </a:solidFill>
                <a:latin typeface="Arial"/>
              </a:rPr>
              <a:t>Telescope alone (R5):</a:t>
            </a:r>
            <a:r>
              <a:rPr sz="1200" b="0">
                <a:solidFill>
                  <a:srgbClr val="282828"/>
                </a:solidFill>
                <a:latin typeface="Arial"/>
              </a:rPr>
              <a:t> plate 329.98 / 329.75 mm, chiefs within 0.008° of the slit normal, F/1.89 along, 1.80 across.</a:t>
            </a:r>
          </a:p>
          <a:p>
            <a:pPr>
              <a:spcAft>
                <a:spcPts val="600"/>
              </a:spcAft>
            </a:pPr>
            <a:r>
              <a:rPr sz="1200" b="0">
                <a:solidFill>
                  <a:srgbClr val="282828"/>
                </a:solidFill>
                <a:latin typeface="Arial"/>
              </a:rPr>
              <a:t>•  </a:t>
            </a:r>
            <a:r>
              <a:rPr sz="1200" b="1">
                <a:solidFill>
                  <a:srgbClr val="282828"/>
                </a:solidFill>
                <a:latin typeface="Arial"/>
              </a:rPr>
              <a:t>End to end, roll 0 / 180:</a:t>
            </a:r>
            <a:r>
              <a:rPr sz="1200" b="0">
                <a:solidFill>
                  <a:srgbClr val="282828"/>
                </a:solidFill>
                <a:latin typeface="Arial"/>
              </a:rPr>
              <a:t> smile 0.009 / 0.011, keystone 0.009 / 0.012, CRF 1.03, SRF 2.024 (the floor), energy in a pixel 0.97 / 0.99, grating admits 0.987, clearance +0.6 mm.  Joe's spec met under both launches except SRF, at the floor; the paper's five pass.  Against the three-asphere 1.5k (smile 0.08 / 0.50 point-source, SRF 2.21, energy 0.30–0.39) every line improves but keystone at roll 180: 0.012 against 0.009, a tenth of the bound.</a:t>
            </a:r>
          </a:p>
        </p:txBody>
      </p:sp>
      <p:sp>
        <p:nvSpPr>
          <p:cNvPr id="7" name="TextBox 6"/>
          <p:cNvSpPr txBox="1"/>
          <p:nvPr/>
        </p:nvSpPr>
        <p:spPr>
          <a:xfrm>
            <a:off x="6400800" y="6437757"/>
            <a:ext cx="5394960" cy="274320"/>
          </a:xfrm>
          <a:prstGeom prst="rect">
            <a:avLst/>
          </a:prstGeom>
          <a:noFill/>
        </p:spPr>
        <p:txBody>
          <a:bodyPr wrap="square">
            <a:spAutoFit/>
          </a:bodyPr>
          <a:lstStyle/>
          <a:p>
            <a:pPr>
              <a:spcAft>
                <a:spcPts val="600"/>
              </a:spcAft>
            </a:pPr>
            <a:r>
              <a:rPr sz="1050" b="0">
                <a:solidFill>
                  <a:srgbClr val="6E6E6E"/>
                </a:solidFill>
                <a:latin typeface="Arial"/>
              </a:rPr>
              <a:t>tma_longslit_1k5.m; tls1k5_figure.txt, tls1k5_e2e.txt, dyson5_cprime_1k5.in (pinned by tTmaLongslit), dyson5_rescore_1k5_launch.txt; model 256, nine fields.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 updated</a:t>
            </a:r>
          </a:p>
          <a:p>
            <a:pPr>
              <a:spcAft>
                <a:spcPts val="0"/>
              </a:spcAft>
            </a:pPr>
            <a:r>
              <a:rPr sz="1250" b="0">
                <a:solidFill>
                  <a:srgbClr val="6E6E6E"/>
                </a:solidFill>
                <a:latin typeface="Arial"/>
              </a:rPr>
              <a:t>Both modules now image at the pixel end to end; the trade is labor, detectors and integration, not optics or glass — and Jim's and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2025"/>
        </p:xfrm>
        <a:graphic>
          <a:graphicData uri="http://schemas.openxmlformats.org/drawingml/2006/table">
            <a:tbl>
              <a:tblPr firstRow="1" bandRow="1">
                <a:tableStyleId>{5C22544A-7EE6-4342-B048-85BDC9FD1C3A}</a:tableStyleId>
              </a:tblPr>
              <a:tblGrid>
                <a:gridCol w="2668172"/>
                <a:gridCol w="3634901"/>
                <a:gridCol w="506566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the template's default run (R9): 1.02 px at every field</a:t>
                      </a:r>
                    </a:p>
                  </a:txBody>
                  <a:tcPr marL="54864" marR="54864" marT="18288" marB="18288">
                    <a:solidFill>
                      <a:srgbClr val="FFFFFF"/>
                    </a:solidFill>
                  </a:tcPr>
                </a:tc>
                <a:tc>
                  <a:txBody>
                    <a:bodyPr wrap="square"/>
                    <a:lstStyle/>
                    <a:p>
                      <a:r>
                        <a:rPr sz="1100" b="0">
                          <a:solidFill>
                            <a:srgbClr val="282828"/>
                          </a:solidFill>
                          <a:latin typeface="Arial"/>
                        </a:rPr>
                        <a:t>the template at the 1.5k spec (R5 ffc, slide 17): 1.02 px at every field</a:t>
                      </a:r>
                    </a:p>
                  </a:txBody>
                  <a:tcPr marL="54864" marR="54864" marT="18288" marB="18288">
                    <a:solidFill>
                      <a:srgbClr val="FFFFFF"/>
                    </a:solidFill>
                  </a:tcPr>
                </a:tc>
              </a:tr>
              <a:tr h="468630">
                <a:tc>
                  <a:txBody>
                    <a:bodyPr wrap="square"/>
                    <a:lstStyle/>
                    <a:p>
                      <a:r>
                        <a:rPr sz="1100" b="0">
                          <a:solidFill>
                            <a:srgbClr val="282828"/>
                          </a:solidFill>
                          <a:latin typeface="Arial"/>
                        </a:rPr>
                        <a:t>end to end: smile (slit-filled / point-source) / keystone / CRF / SRF</a:t>
                      </a:r>
                    </a:p>
                  </a:txBody>
                  <a:tcPr marL="54864" marR="54864" marT="18288" marB="18288">
                    <a:solidFill>
                      <a:srgbClr val="ECF1F6"/>
                    </a:solidFill>
                  </a:tcPr>
                </a:tc>
                <a:tc>
                  <a:txBody>
                    <a:bodyPr wrap="square"/>
                    <a:lstStyle/>
                    <a:p>
                      <a:r>
                        <a:rPr sz="1100" b="0">
                          <a:solidFill>
                            <a:srgbClr val="282828"/>
                          </a:solidFill>
                          <a:latin typeface="Arial"/>
                        </a:rPr>
                        <a:t>0.02 / 0.02 / 0.006 / 1.17 / 2.025 px</a:t>
                      </a:r>
                    </a:p>
                  </a:txBody>
                  <a:tcPr marL="54864" marR="54864" marT="18288" marB="18288">
                    <a:solidFill>
                      <a:srgbClr val="ECF1F6"/>
                    </a:solidFill>
                  </a:tcPr>
                </a:tc>
                <a:tc>
                  <a:txBody>
                    <a:bodyPr wrap="square"/>
                    <a:lstStyle/>
                    <a:p>
                      <a:r>
                        <a:rPr sz="1100" b="0">
                          <a:solidFill>
                            <a:srgbClr val="282828"/>
                          </a:solidFill>
                          <a:latin typeface="Arial"/>
                        </a:rPr>
                        <a:t>0.009 / 0.009 / 0.009 / 1.03 / 2.024 px</a:t>
                      </a:r>
                    </a:p>
                  </a:txBody>
                  <a:tcPr marL="54864" marR="54864" marT="18288" marB="18288">
                    <a:solidFill>
                      <a:srgbClr val="ECF1F6"/>
                    </a:solidFill>
                  </a:tcPr>
                </a:tc>
              </a:tr>
              <a:tr h="468630">
                <a:tc>
                  <a:txBody>
                    <a:bodyPr wrap="square"/>
                    <a:lstStyle/>
                    <a:p>
                      <a:r>
                        <a:rPr sz="1100" b="0">
                          <a:solidFill>
                            <a:srgbClr val="282828"/>
                          </a:solidFill>
                          <a:latin typeface="Arial"/>
                        </a:rPr>
                        <a:t>end to end: energy in one pixel, worst field</a:t>
                      </a:r>
                    </a:p>
                  </a:txBody>
                  <a:tcPr marL="54864" marR="54864" marT="18288" marB="18288">
                    <a:solidFill>
                      <a:srgbClr val="FFFFFF"/>
                    </a:solidFill>
                  </a:tcPr>
                </a:tc>
                <a:tc>
                  <a:txBody>
                    <a:bodyPr wrap="square"/>
                    <a:lstStyle/>
                    <a:p>
                      <a:r>
                        <a:rPr sz="1100" b="0">
                          <a:solidFill>
                            <a:srgbClr val="282828"/>
                          </a:solidFill>
                          <a:latin typeface="Arial"/>
                        </a:rPr>
                        <a:t>0.85</a:t>
                      </a:r>
                    </a:p>
                  </a:txBody>
                  <a:tcPr marL="54864" marR="54864" marT="18288" marB="18288">
                    <a:solidFill>
                      <a:srgbClr val="FFFFFF"/>
                    </a:solidFill>
                  </a:tcPr>
                </a:tc>
                <a:tc>
                  <a:txBody>
                    <a:bodyPr wrap="square"/>
                    <a:lstStyle/>
                    <a:p>
                      <a:r>
                        <a:rPr sz="1100" b="0">
                          <a:solidFill>
                            <a:srgbClr val="282828"/>
                          </a:solidFill>
                          <a:latin typeface="Arial"/>
                        </a:rPr>
                        <a:t>0.97</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98.7 %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+0.6 mm (the same pair); telescope alone +2.4 mm</a:t>
                      </a:r>
                    </a:p>
                  </a:txBody>
                  <a:tcPr marL="54864" marR="54864" marT="18288" marB="18288">
                    <a:solidFill>
                      <a:srgbClr val="FFFFFF"/>
                    </a:solidFill>
                  </a:tcPr>
                </a:tc>
              </a:tr>
              <a:tr h="280035">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468630">
                <a:tc>
                  <a:txBody>
                    <a:bodyPr wrap="square"/>
                    <a:lstStyle/>
                    <a:p>
                      <a:r>
                        <a:rPr sz="1100" b="0">
                          <a:solidFill>
                            <a:srgbClr val="282828"/>
                          </a:solidFill>
                          <a:latin typeface="Arial"/>
                        </a:rPr>
                        <a:t>the block of modules: envelope; optics</a:t>
                      </a:r>
                    </a:p>
                  </a:txBody>
                  <a:tcPr marL="54864" marR="54864" marT="18288" marB="18288">
                    <a:solidFill>
                      <a:srgbClr val="FFFFFF"/>
                    </a:solidFill>
                  </a:tcPr>
                </a:tc>
                <a:tc>
                  <a:txBody>
                    <a:bodyPr wrap="square"/>
                    <a:lstStyle/>
                    <a:p>
                      <a:r>
                        <a:rPr sz="1100" b="0">
                          <a:solidFill>
                            <a:srgbClr val="282828"/>
                          </a:solidFill>
                          <a:latin typeface="Arial"/>
                        </a:rPr>
                        <a:t>0.75 × 0.60 × 1.36 m, 609 L; 39 kg</a:t>
                      </a:r>
                    </a:p>
                  </a:txBody>
                  <a:tcPr marL="54864" marR="54864" marT="18288" marB="18288">
                    <a:solidFill>
                      <a:srgbClr val="FFFFFF"/>
                    </a:solidFill>
                  </a:tcPr>
                </a:tc>
                <a:tc>
                  <a:txBody>
                    <a:bodyPr wrap="square"/>
                    <a:lstStyle/>
                    <a:p>
                      <a:r>
                        <a:rPr sz="1100" b="0">
                          <a:solidFill>
                            <a:srgbClr val="282828"/>
                          </a:solidFill>
                          <a:latin typeface="Arial"/>
                        </a:rPr>
                        <a:t>1.01 × 0.53 × 0.92 m, 494 L; 21.4 kg (the three-asphere record's block: 300 L, 14.6 kg — the zig-zag's M2 and M3 are full aperture)</a:t>
                      </a:r>
                    </a:p>
                  </a:txBody>
                  <a:tcPr marL="54864" marR="54864" marT="18288" marB="18288">
                    <a:solidFill>
                      <a:srgbClr val="FFFFFF"/>
                    </a:solidFill>
                  </a:tcPr>
                </a:tc>
              </a:tr>
              <a:tr h="468630">
                <a:tc>
                  <a:txBody>
                    <a:bodyPr wrap="square"/>
                    <a:lstStyle/>
                    <a:p>
                      <a:r>
                        <a:rPr sz="1100" b="0">
                          <a:solidFill>
                            <a:srgbClr val="282828"/>
                          </a:solidFill>
                          <a:latin typeface="Arial"/>
                        </a:rPr>
                        <a:t>telescopes / spectrometers / detectors</a:t>
                      </a:r>
                    </a:p>
                  </a:txBody>
                  <a:tcPr marL="54864" marR="54864" marT="18288" marB="18288">
                    <a:solidFill>
                      <a:srgbClr val="ECF1F6"/>
                    </a:solidFill>
                  </a:tcPr>
                </a:tc>
                <a:tc>
                  <a:txBody>
                    <a:bodyPr wrap="square"/>
                    <a:lstStyle/>
                    <a:p>
                      <a:r>
                        <a:rPr sz="1100" b="0">
                          <a:solidFill>
                            <a:srgbClr val="282828"/>
                          </a:solidFill>
                          <a:latin typeface="Arial"/>
                        </a:rPr>
                        <a:t>2 / 2 / 2 × (3072 × 512, a standard format)</a:t>
                      </a:r>
                    </a:p>
                  </a:txBody>
                  <a:tcPr marL="54864" marR="54864" marT="18288" marB="18288">
                    <a:solidFill>
                      <a:srgbClr val="ECF1F6"/>
                    </a:solidFill>
                  </a:tcPr>
                </a:tc>
                <a:tc>
                  <a:txBody>
                    <a:bodyPr wrap="square"/>
                    <a:lstStyle/>
                    <a:p>
                      <a:r>
                        <a:rPr sz="1100" b="0">
                          <a:solidFill>
                            <a:srgbClr val="282828"/>
                          </a:solidFill>
                          <a:latin typeface="Arial"/>
                        </a:rPr>
                        <a:t>4 / 4 / 4 × (1.5k × 0.5k, NRE)</a:t>
                      </a:r>
                    </a:p>
                  </a:txBody>
                  <a:tcPr marL="54864" marR="54864" marT="18288" marB="18288">
                    <a:solidFill>
                      <a:srgbClr val="ECF1F6"/>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FFFFFF"/>
                    </a:solidFill>
                  </a:tcPr>
                </a:tc>
                <a:tc>
                  <a:txBody>
                    <a:bodyPr wrap="square"/>
                    <a:lstStyle/>
                    <a:p>
                      <a:r>
                        <a:rPr sz="1100" b="0">
                          <a:solidFill>
                            <a:srgbClr val="282828"/>
                          </a:solidFill>
                          <a:latin typeface="Arial"/>
                        </a:rPr>
                        <a:t>two of each</a:t>
                      </a:r>
                    </a:p>
                  </a:txBody>
                  <a:tcPr marL="54864" marR="54864" marT="18288" marB="18288">
                    <a:solidFill>
                      <a:srgbClr val="FFFFFF"/>
                    </a:solidFill>
                  </a:tcPr>
                </a:tc>
                <a:tc>
                  <a:txBody>
                    <a:bodyPr wrap="square"/>
                    <a:lstStyle/>
                    <a:p>
                      <a:r>
                        <a:rPr sz="1100" b="0">
                          <a:solidFill>
                            <a:srgbClr val="282828"/>
                          </a:solidFill>
                          <a:latin typeface="Arial"/>
                        </a:rPr>
                        <a:t>four of each (Jim: the cost that dominates)</a:t>
                      </a:r>
                    </a:p>
                  </a:txBody>
                  <a:tcPr marL="54864" marR="54864" marT="18288" marB="18288">
                    <a:solidFill>
                      <a:srgbClr val="FFFFFF"/>
                    </a:solidFill>
                  </a:tcPr>
                </a:tc>
              </a:tr>
              <a:tr h="280035">
                <a:tc>
                  <a:txBody>
                    <a:bodyPr wrap="square"/>
                    <a:lstStyle/>
                    <a:p>
                      <a:r>
                        <a:rPr sz="1100" b="0">
                          <a:solidFill>
                            <a:srgbClr val="282828"/>
                          </a:solidFill>
                          <a:latin typeface="Arial"/>
                        </a:rPr>
                        <a:t>materials</a:t>
                      </a:r>
                    </a:p>
                  </a:txBody>
                  <a:tcPr marL="54864" marR="54864" marT="18288" marB="18288">
                    <a:solidFill>
                      <a:srgbClr val="ECF1F6"/>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ECF1F6"/>
                    </a:solidFill>
                  </a:tcPr>
                </a:tc>
                <a:tc>
                  <a:txBody>
                    <a:bodyPr wrap="square"/>
                    <a:lstStyle/>
                    <a:p>
                      <a:r>
                        <a:rPr sz="1100" b="0">
                          <a:solidFill>
                            <a:srgbClr val="282828"/>
                          </a:solidFill>
                          <a:latin typeface="Arial"/>
                        </a:rPr>
                        <a:t>the same</a:t>
                      </a:r>
                    </a:p>
                  </a:txBody>
                  <a:tcPr marL="54864" marR="54864" marT="18288" marB="18288">
                    <a:solidFill>
                      <a:srgbClr val="ECF1F6"/>
                    </a:solidFill>
                  </a:tcPr>
                </a:tc>
              </a:tr>
            </a:tbl>
          </a:graphicData>
        </a:graphic>
      </p:graphicFrame>
      <p:sp>
        <p:nvSpPr>
          <p:cNvPr id="5" name="TextBox 4"/>
          <p:cNvSpPr txBox="1"/>
          <p:nvPr/>
        </p:nvSpPr>
        <p:spPr>
          <a:xfrm>
            <a:off x="411480" y="6216777"/>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dyson5_t5f_cprime_centroid_roll000.txt, dyson5_block2_3k.txt; tls1k5_e2e.txt, dyson5_block4_cprime1k5.txt.  The three-asphere 1.5k of the last deck is superseded (slide 17); its smaller block is the fallback.  The air gap at the window stands on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telescope's cone along the slit is F/1.89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Our Dyson of record is the paper's Option A and meets the specification; its Option B (the conic grating) buys energy in a pixel 0.82 → 0.99 here but not alignment insensitivity.  What drove B in the build — fabrication, thermal, or the margin?</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a:t>
            </a:r>
            <a:r>
              <a:rPr sz="1200" b="0">
                <a:solidFill>
                  <a:srgbClr val="282828"/>
                </a:solidFill>
                <a:latin typeface="Arial"/>
              </a:rPr>
              <a:t> the every-CTE thermal soak row; fabrication terms (figure, the grating's period and groove errors) in the ladder; a vector grating efficiency to replace the scalar blaze; Option B as the candidate, its keystone tolerances (25 µm, 33 µrad) stated beside its margin.</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and the 1.5k R5 (mirror decenter, tilt, figure; the slit's position); the mirrors sized with mounts and baffles (the blocks on slides 6 and 18 carry 10 mm blanks); the zig-zag's full-aperture M2 and M3 against the three-asphere 1.5k's smaller mirrors, if the four-module form returns.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cone bound, working distance, the seed legs); its default run is this module, tma_longslit_1k5 the other.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2822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016" b="0">
                <a:solidFill>
                  <a:srgbClr val="282828"/>
                </a:solidFill>
                <a:latin typeface="Consolas"/>
              </a:rPr>
              <a:t>cd &lt;path&gt;/MACOS_resources/mmacos                   % the mmacos folder of the repository (the engine is built already)</a:t>
            </a:r>
          </a:p>
          <a:p>
            <a:pPr algn="l">
              <a:spcAft>
                <a:spcPts val="100"/>
              </a:spcAft>
            </a:pPr>
            <a:r>
              <a:rPr sz="1016" b="0">
                <a:solidFill>
                  <a:srgbClr val="282828"/>
                </a:solidFill>
                <a:latin typeface="Consolas"/>
              </a:rPr>
              <a:t>matlab</a:t>
            </a:r>
          </a:p>
          <a:p>
            <a:pPr algn="l">
              <a:spcAft>
                <a:spcPts val="100"/>
              </a:spcAft>
            </a:pPr>
            <a:r>
              <a:rPr sz="1016" b="0">
                <a:solidFill>
                  <a:srgbClr val="282828"/>
                </a:solidFill>
                <a:latin typeface="Consolas"/>
              </a:rPr>
              <a:t>&gt;&gt; run('mmacos_setup.m');</a:t>
            </a:r>
          </a:p>
          <a:p>
            <a:pPr algn="l">
              <a:spcAft>
                <a:spcPts val="100"/>
              </a:spcAft>
            </a:pPr>
            <a:r>
              <a:rPr sz="1016" b="0">
                <a:solidFill>
                  <a:srgbClr val="282828"/>
                </a:solidFill>
                <a:latin typeface="Consolas"/>
              </a:rPr>
              <a:t>&gt;&gt; addpath('templates/10_telescopes/tma_longslit');  addpath('challenges/dyson5');</a:t>
            </a:r>
          </a:p>
          <a:p>
            <a:pPr algn="l">
              <a:spcAft>
                <a:spcPts val="100"/>
              </a:spcAft>
            </a:pPr>
            <a:r>
              <a:rPr sz="1016" b="0">
                <a:solidFill>
                  <a:srgbClr val="282828"/>
                </a:solidFill>
                <a:latin typeface="Consolas"/>
              </a:rPr>
              <a:t>&gt;&gt; P = tma_longslit_params;                        % f, D, F/#, strip, slit, pixel, the telecentric and cone bounds, the seed legs</a:t>
            </a:r>
          </a:p>
          <a:p>
            <a:pPr algn="l">
              <a:spcAft>
                <a:spcPts val="100"/>
              </a:spcAft>
            </a:pPr>
            <a:r>
              <a:rPr sz="1016" b="0">
                <a:solidFill>
                  <a:srgbClr val="282828"/>
                </a:solidFill>
                <a:latin typeface="Consolas"/>
              </a:rPr>
              <a:t>&gt;&gt; OUT = tma_longslit_run({'first_order','section','figure','score','e2e'}, P);   % the ladder to the deck of record, then the join</a:t>
            </a:r>
          </a:p>
          <a:p>
            <a:pPr algn="l">
              <a:spcAft>
                <a:spcPts val="100"/>
              </a:spcAft>
            </a:pPr>
            <a:r>
              <a:rPr sz="1016" b="0">
                <a:solidFill>
                  <a:srgbClr val="282828"/>
                </a:solidFill>
                <a:latin typeface="Consolas"/>
              </a:rPr>
              <a:t>&gt;&gt; OUT = dyson5_run(struct('stages', {{'t5f'}}, 'tel5f_deck', 'dyson5_cprime_3k.in'));   % the 3k module end to end, both launches</a:t>
            </a:r>
          </a:p>
          <a:p>
            <a:pPr algn="l">
              <a:spcAft>
                <a:spcPts val="100"/>
              </a:spcAft>
            </a:pPr>
            <a:r>
              <a:rPr sz="1016" b="0">
                <a:solidFill>
                  <a:srgbClr val="282828"/>
                </a:solidFill>
                <a:latin typeface="Consolas"/>
              </a:rPr>
              <a:t>&gt;&gt; OUT = tma_longslit_1k5;                          % the same ladder at the 1.5k spec (strip 4.7 deg, 27 mm slit), joined to the 130 mm Dyson</a:t>
            </a:r>
          </a:p>
        </p:txBody>
      </p:sp>
      <p:sp>
        <p:nvSpPr>
          <p:cNvPr id="5" name="TextBox 4"/>
          <p:cNvSpPr txBox="1"/>
          <p:nvPr/>
        </p:nvSpPr>
        <p:spPr>
          <a:xfrm>
            <a:off x="411480" y="293639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13's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tolerance ladder by the numbers</a:t>
            </a:r>
          </a:p>
          <a:p>
            <a:pPr>
              <a:spcAft>
                <a:spcPts val="0"/>
              </a:spcAft>
            </a:pPr>
            <a:r>
              <a:rPr sz="1250" b="0">
                <a:solidFill>
                  <a:srgbClr val="6E6E6E"/>
                </a:solidFill>
                <a:latin typeface="Arial"/>
              </a:rPr>
              <a:t>One perturbation at a time on the 3k Dyson of record, scored alone and through the R9 join; the compensator is the detector's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366135"/>
        </p:xfrm>
        <a:graphic>
          <a:graphicData uri="http://schemas.openxmlformats.org/drawingml/2006/table">
            <a:tbl>
              <a:tblPr firstRow="1" bandRow="1">
                <a:tableStyleId>{5C22544A-7EE6-4342-B048-85BDC9FD1C3A}</a:tableStyleId>
              </a:tblPr>
              <a:tblGrid>
                <a:gridCol w="3104034"/>
                <a:gridCol w="1817116"/>
                <a:gridCol w="2035048"/>
                <a:gridCol w="1090676"/>
                <a:gridCol w="3321861"/>
              </a:tblGrid>
              <a:tr h="468630">
                <a:tc>
                  <a:txBody>
                    <a:bodyPr wrap="square"/>
                    <a:lstStyle/>
                    <a:p>
                      <a:r>
                        <a:rPr sz="1100" b="1">
                          <a:solidFill>
                            <a:srgbClr val="FFFFFF"/>
                          </a:solidFill>
                          <a:latin typeface="Arial"/>
                        </a:rPr>
                        <a:t>perturbation (unit)</a:t>
                      </a:r>
                    </a:p>
                  </a:txBody>
                  <a:tcPr marL="54864" marR="54864" marT="18288" marB="18288">
                    <a:solidFill>
                      <a:srgbClr val="1F4E79"/>
                    </a:solidFill>
                  </a:tcPr>
                </a:tc>
                <a:tc>
                  <a:txBody>
                    <a:bodyPr wrap="square"/>
                    <a:lstStyle/>
                    <a:p>
                      <a:r>
                        <a:rPr sz="1100" b="1">
                          <a:solidFill>
                            <a:srgbClr val="FFFFFF"/>
                          </a:solidFill>
                          <a:latin typeface="Arial"/>
                        </a:rPr>
                        <a:t>CRF, uncompensated (px)</a:t>
                      </a:r>
                    </a:p>
                  </a:txBody>
                  <a:tcPr marL="54864" marR="54864" marT="18288" marB="18288">
                    <a:solidFill>
                      <a:srgbClr val="1F4E79"/>
                    </a:solidFill>
                  </a:tcPr>
                </a:tc>
                <a:tc>
                  <a:txBody>
                    <a:bodyPr wrap="square"/>
                    <a:lstStyle/>
                    <a:p>
                      <a:r>
                        <a:rPr sz="1100" b="1">
                          <a:solidFill>
                            <a:srgbClr val="FFFFFF"/>
                          </a:solidFill>
                          <a:latin typeface="Arial"/>
                        </a:rPr>
                        <a:t>CRF after detector refocus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the tolerance for the paper's keystone CBE / for Joe's 0.1 px</a:t>
                      </a:r>
                    </a:p>
                  </a:txBody>
                  <a:tcPr marL="54864" marR="54864" marT="18288" marB="18288">
                    <a:solidFill>
                      <a:srgbClr val="1F4E79"/>
                    </a:solidFill>
                  </a:tcPr>
                </a:tc>
              </a:tr>
              <a:tr h="280035">
                <a:tc>
                  <a:txBody>
                    <a:bodyPr wrap="square"/>
                    <a:lstStyle/>
                    <a:p>
                      <a:r>
                        <a:rPr sz="1100" b="0">
                          <a:solidFill>
                            <a:srgbClr val="282828"/>
                          </a:solidFill>
                          <a:latin typeface="Arial"/>
                        </a:rPr>
                        <a:t>lens decenter along the slit, 10 µm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0.0099</a:t>
                      </a:r>
                    </a:p>
                  </a:txBody>
                  <a:tcPr marL="54864" marR="54864" marT="18288" marB="18288">
                    <a:solidFill>
                      <a:srgbClr val="FFFFFF"/>
                    </a:solidFill>
                  </a:tcPr>
                </a:tc>
                <a:tc>
                  <a:txBody>
                    <a:bodyPr wrap="square"/>
                    <a:lstStyle/>
                    <a:p>
                      <a:r>
                        <a:rPr sz="1100" b="0">
                          <a:solidFill>
                            <a:srgbClr val="282828"/>
                          </a:solidFill>
                          <a:latin typeface="Arial"/>
                        </a:rPr>
                        <a:t>26 µm / 47 µm</a:t>
                      </a:r>
                    </a:p>
                  </a:txBody>
                  <a:tcPr marL="54864" marR="54864" marT="18288" marB="18288">
                    <a:solidFill>
                      <a:srgbClr val="FFFFFF"/>
                    </a:solidFill>
                  </a:tcPr>
                </a:tc>
              </a:tr>
              <a:tr h="280035">
                <a:tc>
                  <a:txBody>
                    <a:bodyPr wrap="square"/>
                    <a:lstStyle/>
                    <a:p>
                      <a:r>
                        <a:rPr sz="1100" b="0">
                          <a:solidFill>
                            <a:srgbClr val="282828"/>
                          </a:solidFill>
                          <a:latin typeface="Arial"/>
                        </a:rPr>
                        <a:t>grating decenter along the slit, 10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0.0099</a:t>
                      </a:r>
                    </a:p>
                  </a:txBody>
                  <a:tcPr marL="54864" marR="54864" marT="18288" marB="18288">
                    <a:solidFill>
                      <a:srgbClr val="ECF1F6"/>
                    </a:solidFill>
                  </a:tcPr>
                </a:tc>
                <a:tc>
                  <a:txBody>
                    <a:bodyPr wrap="square"/>
                    <a:lstStyle/>
                    <a:p>
                      <a:r>
                        <a:rPr sz="1100" b="0">
                          <a:solidFill>
                            <a:srgbClr val="282828"/>
                          </a:solidFill>
                          <a:latin typeface="Arial"/>
                        </a:rPr>
                        <a:t>26 µm / 47 µm</a:t>
                      </a:r>
                    </a:p>
                  </a:txBody>
                  <a:tcPr marL="54864" marR="54864" marT="18288" marB="18288">
                    <a:solidFill>
                      <a:srgbClr val="ECF1F6"/>
                    </a:solidFill>
                  </a:tcPr>
                </a:tc>
              </a:tr>
              <a:tr h="280035">
                <a:tc>
                  <a:txBody>
                    <a:bodyPr wrap="square"/>
                    <a:lstStyle/>
                    <a:p>
                      <a:r>
                        <a:rPr sz="1100" b="0">
                          <a:solidFill>
                            <a:srgbClr val="282828"/>
                          </a:solidFill>
                          <a:latin typeface="Arial"/>
                        </a:rPr>
                        <a:t>grating tilt about the slit,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0.0074</a:t>
                      </a:r>
                    </a:p>
                  </a:txBody>
                  <a:tcPr marL="54864" marR="54864" marT="18288" marB="18288">
                    <a:solidFill>
                      <a:srgbClr val="FFFFFF"/>
                    </a:solidFill>
                  </a:tcPr>
                </a:tc>
                <a:tc>
                  <a:txBody>
                    <a:bodyPr wrap="square"/>
                    <a:lstStyle/>
                    <a:p>
                      <a:r>
                        <a:rPr sz="1100" b="0">
                          <a:solidFill>
                            <a:srgbClr val="282828"/>
                          </a:solidFill>
                          <a:latin typeface="Arial"/>
                        </a:rPr>
                        <a:t>35 µrad / 64 µrad</a:t>
                      </a:r>
                    </a:p>
                  </a:txBody>
                  <a:tcPr marL="54864" marR="54864" marT="18288" marB="18288">
                    <a:solidFill>
                      <a:srgbClr val="FFFFFF"/>
                    </a:solidFill>
                  </a:tcPr>
                </a:tc>
              </a:tr>
              <a:tr h="280035">
                <a:tc>
                  <a:txBody>
                    <a:bodyPr wrap="square"/>
                    <a:lstStyle/>
                    <a:p>
                      <a:r>
                        <a:rPr sz="1100" b="0">
                          <a:solidFill>
                            <a:srgbClr val="282828"/>
                          </a:solidFill>
                          <a:latin typeface="Arial"/>
                        </a:rPr>
                        <a:t>grating clocking,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0.0029</a:t>
                      </a:r>
                    </a:p>
                  </a:txBody>
                  <a:tcPr marL="54864" marR="54864" marT="18288" marB="18288">
                    <a:solidFill>
                      <a:srgbClr val="ECF1F6"/>
                    </a:solidFill>
                  </a:tcPr>
                </a:tc>
                <a:tc>
                  <a:txBody>
                    <a:bodyPr wrap="square"/>
                    <a:lstStyle/>
                    <a:p>
                      <a:r>
                        <a:rPr sz="1100" b="0">
                          <a:solidFill>
                            <a:srgbClr val="282828"/>
                          </a:solidFill>
                          <a:latin typeface="Arial"/>
                        </a:rPr>
                        <a:t>88 µrad / 162 µrad</a:t>
                      </a:r>
                    </a:p>
                  </a:txBody>
                  <a:tcPr marL="54864" marR="54864" marT="18288" marB="18288">
                    <a:solidFill>
                      <a:srgbClr val="ECF1F6"/>
                    </a:solidFill>
                  </a:tcPr>
                </a:tc>
              </a:tr>
              <a:tr h="280035">
                <a:tc>
                  <a:txBody>
                    <a:bodyPr wrap="square"/>
                    <a:lstStyle/>
                    <a:p>
                      <a:r>
                        <a:rPr sz="1100" b="0">
                          <a:solidFill>
                            <a:srgbClr val="282828"/>
                          </a:solidFill>
                          <a:latin typeface="Arial"/>
                        </a:rPr>
                        <a:t>grating radius dR/R 10⁻⁴</a:t>
                      </a:r>
                    </a:p>
                  </a:txBody>
                  <a:tcPr marL="54864" marR="54864" marT="18288" marB="18288">
                    <a:solidFill>
                      <a:srgbClr val="FFFFFF"/>
                    </a:solidFill>
                  </a:tcPr>
                </a:tc>
                <a:tc>
                  <a:txBody>
                    <a:bodyPr wrap="square"/>
                    <a:lstStyle/>
                    <a:p>
                      <a:r>
                        <a:rPr sz="1100" b="0">
                          <a:solidFill>
                            <a:srgbClr val="282828"/>
                          </a:solidFill>
                          <a:latin typeface="Arial"/>
                        </a:rPr>
                        <a:t>+1.93</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focus-compensated</a:t>
                      </a:r>
                    </a:p>
                  </a:txBody>
                  <a:tcPr marL="54864" marR="54864" marT="18288" marB="18288">
                    <a:solidFill>
                      <a:srgbClr val="FFFFFF"/>
                    </a:solidFill>
                  </a:tcPr>
                </a:tc>
              </a:tr>
              <a:tr h="468630">
                <a:tc>
                  <a:txBody>
                    <a:bodyPr wrap="square"/>
                    <a:lstStyle/>
                    <a:p>
                      <a:r>
                        <a:rPr sz="1100" b="0">
                          <a:solidFill>
                            <a:srgbClr val="282828"/>
                          </a:solidFill>
                          <a:latin typeface="Arial"/>
                        </a:rPr>
                        <a:t>lens radius, thickness; air space; slit, detector defocus</a:t>
                      </a:r>
                    </a:p>
                  </a:txBody>
                  <a:tcPr marL="54864" marR="54864" marT="18288" marB="18288">
                    <a:solidFill>
                      <a:srgbClr val="ECF1F6"/>
                    </a:solidFill>
                  </a:tcPr>
                </a:tc>
                <a:tc>
                  <a:txBody>
                    <a:bodyPr wrap="square"/>
                    <a:lstStyle/>
                    <a:p>
                      <a:r>
                        <a:rPr sz="1100" b="0">
                          <a:solidFill>
                            <a:srgbClr val="282828"/>
                          </a:solidFill>
                          <a:latin typeface="Arial"/>
                        </a:rPr>
                        <a:t>focus terms</a:t>
                      </a:r>
                    </a:p>
                  </a:txBody>
                  <a:tcPr marL="54864" marR="54864" marT="18288" marB="18288">
                    <a:solidFill>
                      <a:srgbClr val="ECF1F6"/>
                    </a:solidFill>
                  </a:tcPr>
                </a:tc>
                <a:tc>
                  <a:txBody>
                    <a:bodyPr wrap="square"/>
                    <a:lstStyle/>
                    <a:p>
                      <a:r>
                        <a:rPr sz="1100" b="0">
                          <a:solidFill>
                            <a:srgbClr val="282828"/>
                          </a:solidFill>
                          <a:latin typeface="Arial"/>
                        </a:rPr>
                        <a:t>≤ 0.006</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focus-compensated</a:t>
                      </a:r>
                    </a:p>
                  </a:txBody>
                  <a:tcPr marL="54864" marR="54864" marT="18288" marB="18288">
                    <a:solidFill>
                      <a:srgbClr val="ECF1F6"/>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index, 10⁻⁵ (1 K)</a:t>
                      </a:r>
                    </a:p>
                  </a:txBody>
                  <a:tcPr marL="54864" marR="54864" marT="18288" marB="18288">
                    <a:solidFill>
                      <a:srgbClr val="FFFFFF"/>
                    </a:solidFill>
                  </a:tcPr>
                </a:tc>
                <a:tc>
                  <a:txBody>
                    <a:bodyPr wrap="square"/>
                    <a:lstStyle/>
                    <a:p>
                      <a:r>
                        <a:rPr sz="1100" b="0">
                          <a:solidFill>
                            <a:srgbClr val="282828"/>
                          </a:solidFill>
                          <a:latin typeface="Arial"/>
                        </a:rPr>
                        <a:t>+0.0014</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negligible</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radius + thickness per K (CTE)</a:t>
                      </a:r>
                    </a:p>
                  </a:txBody>
                  <a:tcPr marL="54864" marR="54864" marT="18288" marB="18288">
                    <a:solidFill>
                      <a:srgbClr val="ECF1F6"/>
                    </a:solidFill>
                  </a:tcPr>
                </a:tc>
                <a:tc>
                  <a:txBody>
                    <a:bodyPr wrap="square"/>
                    <a:lstStyle/>
                    <a:p>
                      <a:r>
                        <a:rPr sz="1100" b="0">
                          <a:solidFill>
                            <a:srgbClr val="282828"/>
                          </a:solidFill>
                          <a:latin typeface="Arial"/>
                        </a:rPr>
                        <a:t>+0.050 − 0.051</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cancel</a:t>
                      </a:r>
                    </a:p>
                  </a:txBody>
                  <a:tcPr marL="54864" marR="54864" marT="18288" marB="18288">
                    <a:solidFill>
                      <a:srgbClr val="ECF1F6"/>
                    </a:solidFill>
                  </a:tcPr>
                </a:tc>
              </a:tr>
              <a:tr h="468630">
                <a:tc>
                  <a:txBody>
                    <a:bodyPr wrap="square"/>
                    <a:lstStyle/>
                    <a:p>
                      <a:r>
                        <a:rPr sz="1100" b="0">
                          <a:solidFill>
                            <a:srgbClr val="282828"/>
                          </a:solidFill>
                          <a:latin typeface="Arial"/>
                        </a:rPr>
                        <a:t>aluminum air space per K; N-BK7 grating radius per K</a:t>
                      </a:r>
                    </a:p>
                  </a:txBody>
                  <a:tcPr marL="54864" marR="54864" marT="18288" marB="18288">
                    <a:solidFill>
                      <a:srgbClr val="FFFFFF"/>
                    </a:solidFill>
                  </a:tcPr>
                </a:tc>
                <a:tc>
                  <a:txBody>
                    <a:bodyPr wrap="square"/>
                    <a:lstStyle/>
                    <a:p>
                      <a:r>
                        <a:rPr sz="1100" b="0">
                          <a:solidFill>
                            <a:srgbClr val="282828"/>
                          </a:solidFill>
                          <a:latin typeface="Arial"/>
                        </a:rPr>
                        <a:t>−0.22; +0.14</a:t>
                      </a:r>
                    </a:p>
                  </a:txBody>
                  <a:tcPr marL="54864" marR="54864" marT="18288" marB="18288">
                    <a:solidFill>
                      <a:srgbClr val="FFFFFF"/>
                    </a:solidFill>
                  </a:tcPr>
                </a:tc>
                <a:tc>
                  <a:txBody>
                    <a:bodyPr wrap="square"/>
                    <a:lstStyle/>
                    <a:p>
                      <a:r>
                        <a:rPr sz="1100" b="0">
                          <a:solidFill>
                            <a:srgbClr val="282828"/>
                          </a:solidFill>
                          <a:latin typeface="Arial"/>
                        </a:rPr>
                        <a:t>focus terms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refocus-compensated</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Keystone is lateral color: no compensator touches it.</a:t>
            </a:r>
            <a:r>
              <a:rPr sz="1500" b="0">
                <a:solidFill>
                  <a:srgbClr val="282828"/>
                </a:solidFill>
                <a:latin typeface="Arial"/>
              </a:rPr>
              <a:t>  Smile is loose everywhere (≥ 300 µm or µrad).  Linearity at 2×: keystone vs decenter 1.10, CRF vs grating radius 1.03, SRF 2.6 (quadratic, and at the floor).</a:t>
            </a:r>
          </a:p>
          <a:p>
            <a:pPr>
              <a:spcAft>
                <a:spcPts val="600"/>
              </a:spcAft>
            </a:pPr>
            <a:r>
              <a:rPr sz="1500" b="0">
                <a:solidFill>
                  <a:srgbClr val="282828"/>
                </a:solidFill>
                <a:latin typeface="Arial"/>
              </a:rPr>
              <a:t>•  </a:t>
            </a:r>
            <a:r>
              <a:rPr sz="1500" b="1">
                <a:solidFill>
                  <a:srgbClr val="282828"/>
                </a:solidFill>
                <a:latin typeface="Arial"/>
              </a:rPr>
              <a:t>The 1.5k Dyson</a:t>
            </a:r>
            <a:r>
              <a:rPr sz="1500" b="0">
                <a:solidFill>
                  <a:srgbClr val="282828"/>
                </a:solidFill>
                <a:latin typeface="Arial"/>
              </a:rPr>
              <a:t> has the same pattern at twice the keystone sensitivity (1.82 × 10⁻³ px per µm: 13 µm for the paper's CBE, 25 µm for Joe).  </a:t>
            </a:r>
            <a:r>
              <a:rPr sz="1500" b="1">
                <a:solidFill>
                  <a:srgbClr val="282828"/>
                </a:solidFill>
                <a:latin typeface="Arial"/>
              </a:rPr>
              <a:t>Option B</a:t>
            </a:r>
            <a:r>
              <a:rPr sz="1500" b="0">
                <a:solidFill>
                  <a:srgbClr val="282828"/>
                </a:solidFill>
                <a:latin typeface="Arial"/>
              </a:rPr>
              <a:t> raises the keystone sensitivities 6–45 % (clocking most): 25 µm, 33 µrad, 64 µrad.</a:t>
            </a:r>
          </a:p>
        </p:txBody>
      </p:sp>
      <p:sp>
        <p:nvSpPr>
          <p:cNvPr id="6" name="TextBox 5"/>
          <p:cNvSpPr txBox="1"/>
          <p:nvPr/>
        </p:nvSpPr>
        <p:spPr>
          <a:xfrm>
            <a:off x="411480" y="6118479"/>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REPORT_dyson5_spec.md; 21 rows; the paper's Option A as-built keystone 5.7 % of a pixel = 1.03 µm (Table 2).  Compensator residuals for focus alone and focus + x/y are both in the report (x/y adds nothing: the metrics are relative).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737610"/>
        </p:xfrm>
        <a:graphic>
          <a:graphicData uri="http://schemas.openxmlformats.org/drawingml/2006/table">
            <a:tbl>
              <a:tblPr firstRow="1" bandRow="1">
                <a:tableStyleId>{5C22544A-7EE6-4342-B048-85BDC9FD1C3A}</a:tableStyleId>
              </a:tblPr>
              <a:tblGrid>
                <a:gridCol w="654812"/>
                <a:gridCol w="10713923"/>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468630">
                <a:tc>
                  <a:txBody>
                    <a:bodyPr wrap="square"/>
                    <a:lstStyle/>
                    <a:p>
                      <a:r>
                        <a:rPr sz="1100" b="0">
                          <a:solidFill>
                            <a:srgbClr val="282828"/>
                          </a:solidFill>
                          <a:latin typeface="Arial"/>
                        </a:rPr>
                        <a:t>3, 4, 5</a:t>
                      </a:r>
                    </a:p>
                  </a:txBody>
                  <a:tcPr marL="54864" marR="54864" marT="18288" marB="18288">
                    <a:solidFill>
                      <a:srgbClr val="FFFFFF"/>
                    </a:solidFill>
                  </a:tcPr>
                </a:tc>
                <a:tc>
                  <a:txBody>
                    <a:bodyPr wrap="square"/>
                    <a:lstStyle/>
                    <a:p>
                      <a:r>
                        <a:rPr sz="1100" b="0">
                          <a:solidFill>
                            <a:srgbClr val="282828"/>
                          </a:solidFill>
                          <a:latin typeface="Arial"/>
                        </a:rPr>
                        <a:t>BRIEF_to_dyson5.md addenda 47–49; templates/10_telescopes/tma_longslit/ (README, tma_longslit_params.m, tma_longslit_run.m);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6, 7</a:t>
                      </a:r>
                    </a:p>
                  </a:txBody>
                  <a:tcPr marL="54864" marR="54864" marT="18288" marB="18288">
                    <a:solidFill>
                      <a:srgbClr val="ECF1F6"/>
                    </a:solidFill>
                  </a:tcPr>
                </a:tc>
                <a:tc>
                  <a:txBody>
                    <a:bodyPr wrap="square"/>
                    <a:lstStyle/>
                    <a:p>
                      <a:r>
                        <a:rPr sz="1100" b="0">
                          <a:solidFill>
                            <a:srgbClr val="282828"/>
                          </a:solidFill>
                          <a:latin typeface="Arial"/>
                        </a:rPr>
                        <a:t>dyson5_block2_3k.txt, _views.png, _swath.png (tool dyson5_block4.m, nmod 2)</a:t>
                      </a:r>
                    </a:p>
                  </a:txBody>
                  <a:tcPr marL="54864" marR="54864" marT="18288" marB="18288">
                    <a:solidFill>
                      <a:srgbClr val="ECF1F6"/>
                    </a:solidFill>
                  </a:tcPr>
                </a:tc>
              </a:tr>
              <a:tr h="280035">
                <a:tc>
                  <a:txBody>
                    <a:bodyPr wrap="square"/>
                    <a:lstStyle/>
                    <a:p>
                      <a:r>
                        <a:rPr sz="1100" b="0">
                          <a:solidFill>
                            <a:srgbClr val="282828"/>
                          </a:solidFill>
                          <a:latin typeface="Arial"/>
                        </a:rPr>
                        <a:t>8</a:t>
                      </a:r>
                    </a:p>
                  </a:txBody>
                  <a:tcPr marL="54864" marR="54864" marT="18288" marB="18288">
                    <a:solidFill>
                      <a:srgbClr val="FFFFFF"/>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FFFFFF"/>
                    </a:solidFill>
                  </a:tcPr>
                </a:tc>
              </a:tr>
              <a:tr h="280035">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ECF1F6"/>
                    </a:solidFill>
                  </a:tcPr>
                </a:tc>
              </a:tr>
              <a:tr h="280035">
                <a:tc>
                  <a:txBody>
                    <a:bodyPr wrap="square"/>
                    <a:lstStyle/>
                    <a:p>
                      <a:r>
                        <a:rPr sz="1100" b="0">
                          <a:solidFill>
                            <a:srgbClr val="282828"/>
                          </a:solidFill>
                          <a:latin typeface="Arial"/>
                        </a:rPr>
                        <a:t>10, 11</a:t>
                      </a:r>
                    </a:p>
                  </a:txBody>
                  <a:tcPr marL="54864" marR="54864" marT="18288" marB="18288">
                    <a:solidFill>
                      <a:srgbClr val="FFFFFF"/>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FFFFFF"/>
                    </a:solidFill>
                  </a:tcPr>
                </a:tc>
              </a:tr>
              <a:tr h="280035">
                <a:tc>
                  <a:txBody>
                    <a:bodyPr wrap="square"/>
                    <a:lstStyle/>
                    <a:p>
                      <a:r>
                        <a:rPr sz="1100" b="0">
                          <a:solidFill>
                            <a:srgbClr val="282828"/>
                          </a:solidFill>
                          <a:latin typeface="Arial"/>
                        </a:rPr>
                        <a:t>12, 13</a:t>
                      </a:r>
                    </a:p>
                  </a:txBody>
                  <a:tcPr marL="54864" marR="54864" marT="18288" marB="18288">
                    <a:solidFill>
                      <a:srgbClr val="ECF1F6"/>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ECF1F6"/>
                    </a:solidFill>
                  </a:tcPr>
                </a:tc>
              </a:tr>
              <a:tr h="280035">
                <a:tc>
                  <a:txBody>
                    <a:bodyPr wrap="square"/>
                    <a:lstStyle/>
                    <a:p>
                      <a:r>
                        <a:rPr sz="1100" b="0">
                          <a:solidFill>
                            <a:srgbClr val="282828"/>
                          </a:solidFill>
                          <a:latin typeface="Arial"/>
                        </a:rPr>
                        <a:t>14</a:t>
                      </a:r>
                    </a:p>
                  </a:txBody>
                  <a:tcPr marL="54864" marR="54864" marT="18288" marB="18288">
                    <a:solidFill>
                      <a:srgbClr val="FFFFFF"/>
                    </a:solidFill>
                  </a:tcPr>
                </a:tc>
                <a:tc>
                  <a:txBody>
                    <a:bodyPr wrap="square"/>
                    <a:lstStyle/>
                    <a:p>
                      <a:r>
                        <a:rPr sz="1100" b="0">
                          <a:solidFill>
                            <a:srgbClr val="282828"/>
                          </a:solidFill>
                          <a:latin typeface="Arial"/>
                        </a:rPr>
                        <a:t>R9 per-field table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dyson5_jim_3a.txt; REPORT_dyson5_spec.md; spectrometer_sens, tSpectrometerSens; BRIEF_to_dyson5.md addendum 49</a:t>
                      </a:r>
                    </a:p>
                  </a:txBody>
                  <a:tcPr marL="54864" marR="54864" marT="18288" marB="18288">
                    <a:solidFill>
                      <a:srgbClr val="ECF1F6"/>
                    </a:solidFill>
                  </a:tcPr>
                </a:tc>
              </a:tr>
              <a:tr h="280035">
                <a:tc>
                  <a:txBody>
                    <a:bodyPr wrap="square"/>
                    <a:lstStyle/>
                    <a:p>
                      <a:r>
                        <a:rPr sz="1100" b="0">
                          <a:solidFill>
                            <a:srgbClr val="282828"/>
                          </a:solidFill>
                          <a:latin typeface="Arial"/>
                        </a:rPr>
                        <a:t>16</a:t>
                      </a:r>
                    </a:p>
                  </a:txBody>
                  <a:tcPr marL="54864" marR="54864" marT="18288" marB="18288">
                    <a:solidFill>
                      <a:srgbClr val="FFFFFF"/>
                    </a:solidFill>
                  </a:tcPr>
                </a:tc>
                <a:tc>
                  <a:txBody>
                    <a:bodyPr wrap="square"/>
                    <a:lstStyle/>
                    <a:p>
                      <a:r>
                        <a:rPr sz="1100" b="0">
                          <a:solidFill>
                            <a:srgbClr val="282828"/>
                          </a:solidFill>
                          <a:latin typeface="Arial"/>
                        </a:rPr>
                        <a:t>dyson5_throughput_band.txt (tool dyson5_throughput_band.m); dyson5_jim_3b.txt route 2</a:t>
                      </a:r>
                    </a:p>
                  </a:txBody>
                  <a:tcPr marL="54864" marR="54864" marT="18288" marB="18288">
                    <a:solidFill>
                      <a:srgbClr val="FFFFFF"/>
                    </a:solidFill>
                  </a:tcPr>
                </a:tc>
              </a:tr>
              <a:tr h="280035">
                <a:tc>
                  <a:txBody>
                    <a:bodyPr wrap="square"/>
                    <a:lstStyle/>
                    <a:p>
                      <a:r>
                        <a:rPr sz="1100" b="0">
                          <a:solidFill>
                            <a:srgbClr val="282828"/>
                          </a:solidFill>
                          <a:latin typeface="Arial"/>
                        </a:rPr>
                        <a:t>17</a:t>
                      </a:r>
                    </a:p>
                  </a:txBody>
                  <a:tcPr marL="54864" marR="54864" marT="18288" marB="18288">
                    <a:solidFill>
                      <a:srgbClr val="ECF1F6"/>
                    </a:solidFill>
                  </a:tcPr>
                </a:tc>
                <a:tc>
                  <a:txBody>
                    <a:bodyPr wrap="square"/>
                    <a:lstStyle/>
                    <a:p>
                      <a:r>
                        <a:rPr sz="1100" b="0">
                          <a:solidFill>
                            <a:srgbClr val="282828"/>
                          </a:solidFill>
                          <a:latin typeface="Arial"/>
                        </a:rPr>
                        <a:t>tma_longslit_1k5.m; tls1k5_figure.txt, tls1k5_e2e.txt, tls1k5_R5_ffc.in = dyson5_cprime_1k5.in; dyson5_rescore_1k5_launch.txt</a:t>
                      </a:r>
                    </a:p>
                  </a:txBody>
                  <a:tcPr marL="54864" marR="54864" marT="18288" marB="18288">
                    <a:solidFill>
                      <a:srgbClr val="ECF1F6"/>
                    </a:solidFill>
                  </a:tcPr>
                </a:tc>
              </a:tr>
              <a:tr h="468630">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dyson5_jim_3a.txt, dyson5_block2_3k.txt, dyson5_block4_cprime1k5.txt; the superseded three-asphere 1.5k: dyson5_rescore_1k5_launch.txt, dyson5_block4.txt</a:t>
                      </a:r>
                    </a:p>
                  </a:txBody>
                  <a:tcPr marL="54864" marR="54864" marT="18288" marB="18288">
                    <a:solidFill>
                      <a:srgbClr val="FFFFFF"/>
                    </a:solidFill>
                  </a:tcPr>
                </a:tc>
              </a:tr>
            </a:tbl>
          </a:graphicData>
        </a:graphic>
      </p:graphicFrame>
      <p:sp>
        <p:nvSpPr>
          <p:cNvPr id="5" name="TextBox 4"/>
          <p:cNvSpPr txBox="1"/>
          <p:nvPr/>
        </p:nvSpPr>
        <p:spPr>
          <a:xfrm>
            <a:off x="411480" y="5182362"/>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