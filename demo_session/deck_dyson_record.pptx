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The 1.5k module has a spectrometer of record and a first telescope that together image at the pixel end to end: smile 0.50, keystone 0.01, CRF 1.22, SRF 2.20 pixels, every clearance positive; four such modules carry 6000 pixels in 6.6 kg of fused silica.  The telescope is not finished and the 3k module's resolution is not yet at the pixel level (CRF 4.0 pixels); the deck asks for help with both.</a:t>
            </a:r>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3</a:t>
            </a:r>
            <a:r>
              <a:rPr sz="1400" b="0">
                <a:solidFill>
                  <a:srgbClr val="282828"/>
                </a:solidFill>
                <a:latin typeface="Arial"/>
              </a:rPr>
              <a:t> The target and how it is scored</a:t>
            </a:r>
          </a:p>
          <a:p>
            <a:pPr>
              <a:spcAft>
                <a:spcPts val="600"/>
              </a:spcAft>
            </a:pPr>
            <a:r>
              <a:rPr sz="1400" b="0">
                <a:solidFill>
                  <a:srgbClr val="282828"/>
                </a:solidFill>
                <a:latin typeface="Arial"/>
              </a:rPr>
              <a:t>•  </a:t>
            </a:r>
            <a:r>
              <a:rPr sz="1400" b="1">
                <a:solidFill>
                  <a:srgbClr val="282828"/>
                </a:solidFill>
                <a:latin typeface="Arial"/>
              </a:rPr>
              <a:t>4</a:t>
            </a:r>
            <a:r>
              <a:rPr sz="1400" b="0">
                <a:solidFill>
                  <a:srgbClr val="282828"/>
                </a:solidFill>
                <a:latin typeface="Arial"/>
              </a:rPr>
              <a:t> What the instrument does, and two ways to build it</a:t>
            </a:r>
          </a:p>
          <a:p>
            <a:pPr>
              <a:spcAft>
                <a:spcPts val="600"/>
              </a:spcAft>
            </a:pPr>
            <a:r>
              <a:rPr sz="1400" b="0">
                <a:solidFill>
                  <a:srgbClr val="282828"/>
                </a:solidFill>
                <a:latin typeface="Arial"/>
              </a:rPr>
              <a:t>•  </a:t>
            </a:r>
            <a:r>
              <a:rPr sz="1400" b="1">
                <a:solidFill>
                  <a:srgbClr val="282828"/>
                </a:solidFill>
                <a:latin typeface="Arial"/>
              </a:rPr>
              <a:t>5</a:t>
            </a:r>
            <a:r>
              <a:rPr sz="1400" b="0">
                <a:solidFill>
                  <a:srgbClr val="282828"/>
                </a:solidFill>
                <a:latin typeface="Arial"/>
              </a:rPr>
              <a:t> Four 1.5k modules fill the swath</a:t>
            </a:r>
          </a:p>
          <a:p>
            <a:pPr>
              <a:spcAft>
                <a:spcPts val="600"/>
              </a:spcAft>
            </a:pPr>
            <a:r>
              <a:rPr sz="1400" b="0">
                <a:solidFill>
                  <a:srgbClr val="282828"/>
                </a:solidFill>
                <a:latin typeface="Arial"/>
              </a:rPr>
              <a:t>•  </a:t>
            </a:r>
            <a:r>
              <a:rPr sz="1400" b="1">
                <a:solidFill>
                  <a:srgbClr val="282828"/>
                </a:solidFill>
                <a:latin typeface="Arial"/>
              </a:rPr>
              <a:t>6</a:t>
            </a:r>
            <a:r>
              <a:rPr sz="1400" b="0">
                <a:solidFill>
                  <a:srgbClr val="282828"/>
                </a:solidFill>
                <a:latin typeface="Arial"/>
              </a:rPr>
              <a:t> The four strips on the ground</a:t>
            </a:r>
          </a:p>
          <a:p>
            <a:pPr>
              <a:spcAft>
                <a:spcPts val="600"/>
              </a:spcAft>
            </a:pPr>
            <a:r>
              <a:rPr sz="1400" b="0">
                <a:solidFill>
                  <a:srgbClr val="282828"/>
                </a:solidFill>
                <a:latin typeface="Arial"/>
              </a:rPr>
              <a:t>•  </a:t>
            </a:r>
            <a:r>
              <a:rPr sz="1400" b="1">
                <a:solidFill>
                  <a:srgbClr val="282828"/>
                </a:solidFill>
                <a:latin typeface="Arial"/>
              </a:rPr>
              <a:t>7</a:t>
            </a:r>
            <a:r>
              <a:rPr sz="1400" b="0">
                <a:solidFill>
                  <a:srgbClr val="282828"/>
                </a:solidFill>
                <a:latin typeface="Arial"/>
              </a:rPr>
              <a:t> The 1.5k module, scored: spectrometer, telescope, and the two together</a:t>
            </a:r>
          </a:p>
          <a:p>
            <a:pPr>
              <a:spcAft>
                <a:spcPts val="600"/>
              </a:spcAft>
            </a:pPr>
            <a:r>
              <a:rPr sz="1400" b="0">
                <a:solidFill>
                  <a:srgbClr val="282828"/>
                </a:solidFill>
                <a:latin typeface="Arial"/>
              </a:rPr>
              <a:t>•  </a:t>
            </a:r>
            <a:r>
              <a:rPr sz="1400" b="1">
                <a:solidFill>
                  <a:srgbClr val="282828"/>
                </a:solidFill>
                <a:latin typeface="Arial"/>
              </a:rPr>
              <a:t>8</a:t>
            </a:r>
            <a:r>
              <a:rPr sz="1400" b="0">
                <a:solidFill>
                  <a:srgbClr val="282828"/>
                </a:solidFill>
                <a:latin typeface="Arial"/>
              </a:rPr>
              <a:t> The 1.5k module, end to end</a:t>
            </a:r>
          </a:p>
          <a:p>
            <a:pPr>
              <a:spcAft>
                <a:spcPts val="600"/>
              </a:spcAft>
            </a:pPr>
            <a:r>
              <a:rPr sz="1400" b="0">
                <a:solidFill>
                  <a:srgbClr val="282828"/>
                </a:solidFill>
                <a:latin typeface="Arial"/>
              </a:rPr>
              <a:t>•  </a:t>
            </a:r>
            <a:r>
              <a:rPr sz="1400" b="1">
                <a:solidFill>
                  <a:srgbClr val="282828"/>
                </a:solidFill>
                <a:latin typeface="Arial"/>
              </a:rPr>
              <a:t>9</a:t>
            </a:r>
            <a:r>
              <a:rPr sz="1400" b="0">
                <a:solidFill>
                  <a:srgbClr val="282828"/>
                </a:solidFill>
                <a:latin typeface="Arial"/>
              </a:rPr>
              <a:t>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spectrometer of record for the 1.5k module</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To fill the swath: two of 3k pixels in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or four of 1.5k in silica?</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3k Dyson module: where it stands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Alternatives to the Dyson for the 3k slit</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how the telescope reached the pixel; the Dyson design ladder; the 54 mm design; the block-size trade; the methods and the checks; fourteen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in pixels from ray centroids.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the literature's design rule is 0.75.</a:t>
            </a:r>
          </a:p>
          <a:p>
            <a:pPr>
              <a:spcAft>
                <a:spcPts val="600"/>
              </a:spcAft>
            </a:pPr>
            <a:r>
              <a:rPr sz="1200" b="0">
                <a:solidFill>
                  <a:srgbClr val="282828"/>
                </a:solidFill>
                <a:latin typeface="Arial"/>
              </a:rPr>
              <a:t>•  </a:t>
            </a:r>
            <a:r>
              <a:rPr sz="1200" b="1">
                <a:solidFill>
                  <a:srgbClr val="282828"/>
                </a:solidFill>
                <a:latin typeface="Arial"/>
              </a:rPr>
              <a:t>A module</a:t>
            </a:r>
            <a:r>
              <a:rPr sz="1200" b="0">
                <a:solidFill>
                  <a:srgbClr val="282828"/>
                </a:solidFill>
                <a:latin typeface="Arial"/>
              </a:rPr>
              <a:t> is one telescope, one spectrometer and one detector;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a:t>
            </a:r>
          </a:p>
          <a:p>
            <a:pPr>
              <a:spcAft>
                <a:spcPts val="600"/>
              </a:spcAft>
            </a:pPr>
            <a:r>
              <a:rPr sz="1200" b="0">
                <a:solidFill>
                  <a:srgbClr val="282828"/>
                </a:solidFill>
                <a:latin typeface="Arial"/>
              </a:rPr>
              <a:t>•  </a:t>
            </a:r>
            <a:r>
              <a:rPr sz="1200" b="1">
                <a:solidFill>
                  <a:srgbClr val="282828"/>
                </a:solidFill>
                <a:latin typeface="Arial"/>
              </a:rPr>
              <a:t>As-built realism (Jim):</a:t>
            </a:r>
            <a:r>
              <a:rPr sz="1200" b="0">
                <a:solidFill>
                  <a:srgbClr val="282828"/>
                </a:solidFill>
                <a:latin typeface="Arial"/>
              </a:rPr>
              <a:t>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What it does:</a:t>
            </a:r>
            <a:r>
              <a:rPr sz="1400" b="0">
                <a:solidFill>
                  <a:srgbClr val="282828"/>
                </a:solidFill>
                <a:latin typeface="Arial"/>
              </a:rPr>
              <a:t>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1400"/>
              </a:spcAft>
            </a:pPr>
            <a:r>
              <a:rPr sz="1400" b="0">
                <a:solidFill>
                  <a:srgbClr val="282828"/>
                </a:solidFill>
                <a:latin typeface="Arial"/>
              </a:rPr>
              <a:t>•  </a:t>
            </a:r>
            <a:r>
              <a:rPr sz="1400" b="1">
                <a:solidFill>
                  <a:srgbClr val="282828"/>
                </a:solidFill>
                <a:latin typeface="Arial"/>
              </a:rPr>
              <a:t>A module</a:t>
            </a:r>
            <a:r>
              <a:rPr sz="1400" b="0">
                <a:solidFill>
                  <a:srgbClr val="282828"/>
                </a:solidFill>
                <a:latin typeface="Arial"/>
              </a:rPr>
              <a:t> is one telescope, one slit, one spectrometer, one detector.  The swath is divided among the modules; each telescope points at its own strip and the strips abut.  The spec is met module by module, and the whole swath is the sum.</a:t>
            </a:r>
          </a:p>
          <a:p>
            <a:pPr>
              <a:spcAft>
                <a:spcPts val="1400"/>
              </a:spcAft>
            </a:pPr>
            <a:r>
              <a:rPr sz="1400" b="0">
                <a:solidFill>
                  <a:srgbClr val="282828"/>
                </a:solidFill>
                <a:latin typeface="Arial"/>
              </a:rPr>
              <a:t>•  </a:t>
            </a:r>
            <a:r>
              <a:rPr sz="1400" b="1">
                <a:solidFill>
                  <a:srgbClr val="282828"/>
                </a:solidFill>
                <a:latin typeface="Arial"/>
              </a:rPr>
              <a:t>Two ways to cut it:</a:t>
            </a:r>
            <a:r>
              <a:rPr sz="1400" b="0">
                <a:solidFill>
                  <a:srgbClr val="282828"/>
                </a:solidFill>
                <a:latin typeface="Arial"/>
              </a:rPr>
              <a: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a:t>
                      </a:r>
                      <a:r>
                        <a:rPr sz="1000" b="0" baseline="-25000">
                          <a:solidFill>
                            <a:srgbClr val="282828"/>
                          </a:solidFill>
                          <a:latin typeface="Arial"/>
                        </a:rPr>
                        <a:t>2</a:t>
                      </a:r>
                      <a:r>
                        <a:rPr sz="1000" b="0">
                          <a:solidFill>
                            <a:srgbClr val="282828"/>
                          </a:solidFill>
                          <a:latin typeface="Arial"/>
                        </a:rPr>
                        <a:t>,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10): halving the slit halves the block's thickness and drops the meniscus and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61724" y="1298448"/>
            <a:ext cx="8068246"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±2.32° and ±6.97°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four strips on the ground, and the four focal planes</a:t>
            </a:r>
          </a:p>
          <a:p>
            <a:pPr>
              <a:spcAft>
                <a:spcPts val="0"/>
              </a:spcAft>
            </a:pPr>
            <a:r>
              <a:rPr sz="1250" b="0">
                <a:solidFill>
                  <a:srgbClr val="6E6E6E"/>
                </a:solidFill>
                <a:latin typeface="Arial"/>
              </a:rPr>
              <a:t>Each module's slit admits ±2.338°, 1500 pixels; canted ±2.32° and ±6.97° the strips overlap by 10 pixels at each join and cover 18.6°, 180 km from 550 km, with no along-track offset; each detector holds its strip across 1500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swath_rc.png"/>
          <p:cNvPicPr>
            <a:picLocks noChangeAspect="1"/>
          </p:cNvPicPr>
          <p:nvPr/>
        </p:nvPicPr>
        <p:blipFill>
          <a:blip r:embed="rId2"/>
          <a:stretch>
            <a:fillRect/>
          </a:stretch>
        </p:blipFill>
        <p:spPr>
          <a:xfrm>
            <a:off x="2760834" y="1298448"/>
            <a:ext cx="6670026" cy="3464052"/>
          </a:xfrm>
          <a:prstGeom prst="rect">
            <a:avLst/>
          </a:prstGeom>
        </p:spPr>
      </p:pic>
      <p:sp>
        <p:nvSpPr>
          <p:cNvPr id="5" name="TextBox 4"/>
          <p:cNvSpPr txBox="1"/>
          <p:nvPr/>
        </p:nvSpPr>
        <p:spPr>
          <a:xfrm>
            <a:off x="411480" y="4780788"/>
            <a:ext cx="11368735"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bands the 10-pixel overlaps, the arrow the along-track sweep.  Bottom: the four 1500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overlap is needed:</a:t>
            </a:r>
            <a:r>
              <a:rPr sz="1500" b="0">
                <a:solidFill>
                  <a:srgbClr val="282828"/>
                </a:solidFill>
                <a:latin typeface="Arial"/>
              </a:rPr>
              <a:t> the telescope's plate scale puts 1500 pixels over 4.676°, not the 4.7° of the first-order layout; abutting at 4.7° would leave an 8-pixel gap (230 m) at each join.  </a:t>
            </a:r>
            <a:r>
              <a:rPr sz="1500" b="1">
                <a:solidFill>
                  <a:srgbClr val="282828"/>
                </a:solidFill>
                <a:latin typeface="Arial"/>
              </a:rPr>
              <a:t>No along-track offset:</a:t>
            </a:r>
            <a:r>
              <a:rPr sz="1500" b="0">
                <a:solidFill>
                  <a:srgbClr val="282828"/>
                </a:solidFill>
                <a:latin typeface="Arial"/>
              </a:rPr>
              <a:t> the four lines of sight lie in one cross-track plane, so the strips image the same ground line at the same time; a staggered module arrangement would shift a line by the stagger over the altitude, under a microradian.  </a:t>
            </a:r>
            <a:r>
              <a:rPr sz="1500" b="1">
                <a:solidFill>
                  <a:srgbClr val="282828"/>
                </a:solidFill>
                <a:latin typeface="Arial"/>
              </a:rPr>
              <a:t>Unique pixels:</a:t>
            </a:r>
            <a:r>
              <a:rPr sz="1500" b="0">
                <a:solidFill>
                  <a:srgbClr val="282828"/>
                </a:solidFill>
                <a:latin typeface="Arial"/>
              </a:rPr>
              <a:t> 5970 over 18.6°, 29.9 m per pixel at nadir, 30.7 m at the edge.</a:t>
            </a:r>
          </a:p>
        </p:txBody>
      </p:sp>
      <p:sp>
        <p:nvSpPr>
          <p:cNvPr id="7" name="TextBox 6"/>
          <p:cNvSpPr txBox="1"/>
          <p:nvPr/>
        </p:nvSpPr>
        <p:spPr>
          <a:xfrm>
            <a:off x="411480" y="6791706"/>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dyson5_block4.txt (strip edges per module, overlaps, swath); the admitted strip from dyson5_t5f_GM_1k5_bAs.txt.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0.50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99 %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dyson5_t5f_GM_1k5_bAs_ap.txt, 7 fields × 7 wavelengths.  No coatings, no tolerances in any column.  The 3k module's columns: slide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0.50, keystone 0.01, CRF 1.22, SRF 2.20 px over the whole strip; 99 % of the light admitted at every field;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ap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dyson5_t5f_GM_1k5_bAs_ap.txt (re-scored 2026-10-06 with the grating's aperture enforced; 1 % of the sky beam falls outside the grating); prescription dyson5_t5f_GM_1k5_bAs_e2e.in, 11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a:t>
            </a:r>
            <a:r>
              <a:rPr sz="1200" b="1">
                <a:solidFill>
                  <a:srgbClr val="282828"/>
                </a:solidFill>
                <a:latin typeface="Arial"/>
              </a:rPr>
              <a:t>Image as placed:</a:t>
            </a:r>
            <a:r>
              <a:rPr sz="1200" b="0">
                <a:solidFill>
                  <a:srgbClr val="282828"/>
                </a:solidFill>
                <a:latin typeface="Arial"/>
              </a:rPr>
              <a:t>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14).</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block follows the slit.</a:t>
            </a:r>
            <a:r>
              <a:rPr sz="1200" b="0">
                <a:solidFill>
                  <a:srgbClr val="282828"/>
                </a:solidFill>
                <a:latin typeface="Arial"/>
              </a:rPr>
              <a: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a:t>
            </a:r>
            <a:r>
              <a:rPr sz="1200" b="1">
                <a:solidFill>
                  <a:srgbClr val="282828"/>
                </a:solidFill>
                <a:latin typeface="Arial"/>
              </a:rPr>
              <a:t>The 27 mm module, at 130 mm:</a:t>
            </a:r>
            <a:r>
              <a:rPr sz="1200" b="0">
                <a:solidFill>
                  <a:srgbClr val="282828"/>
                </a:solidFill>
                <a:latin typeface="Arial"/>
              </a:rPr>
              <a:t>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a:t>
            </a:r>
            <a:r>
              <a:rPr sz="1200" b="1">
                <a:solidFill>
                  <a:srgbClr val="282828"/>
                </a:solidFill>
                <a:latin typeface="Arial"/>
              </a:rPr>
              <a:t>The 54 mm single module, for comparison:</a:t>
            </a:r>
            <a:r>
              <a:rPr sz="1200" b="0">
                <a:solidFill>
                  <a:srgbClr val="282828"/>
                </a:solidFill>
                <a:latin typeface="Arial"/>
              </a:rPr>
              <a:t> silica needs the 220 mm block and a 4 mm meniscus (CRF 1.33 px, 0.76 in one pixel, eight crossings, 8.2 kg);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a:t>
            </a:r>
            <a:r>
              <a:rPr sz="2400" b="1">
                <a:solidFill>
                  <a:srgbClr val="1F4E79"/>
                </a:solidFill>
                <a:latin typeface="Arial"/>
              </a:rPr>
              <a:t>CaF</a:t>
            </a:r>
            <a:r>
              <a:rPr sz="2400" b="1" baseline="-25000">
                <a:solidFill>
                  <a:srgbClr val="1F4E79"/>
                </a:solidFill>
                <a:latin typeface="Arial"/>
              </a:rPr>
              <a:t>2</a:t>
            </a:r>
            <a:r>
              <a:rPr sz="2400" b="1">
                <a:solidFill>
                  <a:srgbClr val="1F4E79"/>
                </a:solidFill>
                <a:latin typeface="Arial"/>
              </a:rPr>
              <a:t>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200525"/>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9)</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1.64 / 0.05 / 4.02 / 4.99 px</a:t>
                      </a:r>
                    </a:p>
                  </a:txBody>
                  <a:tcPr marL="54864" marR="54864" marT="18288" marB="18288">
                    <a:solidFill>
                      <a:srgbClr val="FFFFFF"/>
                    </a:solidFill>
                  </a:tcPr>
                </a:tc>
                <a:tc>
                  <a:txBody>
                    <a:bodyPr wrap="square"/>
                    <a:lstStyle/>
                    <a:p>
                      <a:r>
                        <a:rPr sz="1100" b="0">
                          <a:solidFill>
                            <a:srgbClr val="282828"/>
                          </a:solidFill>
                          <a:latin typeface="Arial"/>
                        </a:rPr>
                        <a:t>0.50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0.04–0.10</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95–98 %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is not priced here.  A cold detector adds a dewar window to every row alike; cementing it to the block keeps the count at four.  The 3k telescope is the freeform solve of 2026-10-05, scored before its next layout step (slide 12).  Records dyson5_jim_3a.txt, dyson5_t5f_GM_1k5_bAs_ap.txt, dyson5_t5f_GM_3k_c_ap.txt.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2.2–4.0 px, 4–10 % of the energy in one pixel, 95–98 % of the light through the grating,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Dyson as the engine traces it (meters): the beam overfills the grating (E7); the rays it stops are drawn in red and end there, the rays it passes in green.</a:t>
            </a:r>
          </a:p>
        </p:txBody>
      </p:sp>
      <p:sp>
        <p:nvSpPr>
          <p:cNvPr id="6" name="TextBox 5"/>
          <p:cNvSpPr txBox="1"/>
          <p:nvPr/>
        </p:nvSpPr>
        <p:spPr>
          <a:xfrm>
            <a:off x="411480" y="5001768"/>
            <a:ext cx="667512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solve gave:</a:t>
            </a:r>
            <a:r>
              <a:rPr sz="1200" b="0">
                <a:solidFill>
                  <a:srgbClr val="282828"/>
                </a:solidFill>
                <a:latin typeface="Arial"/>
              </a:rPr>
              <a:t> Zernike freeform terms on all three mirrors (M2 carries 1.7 mm of departure at 126 mrad of slope) with the same merit and geometry freedoms as the 1.5k: smile 1.64, keystone 0.05, CRF 4.02, SRF 4.99 px.  Its marginal rays leave at up to F/1.2, so the grating, sized for F/1.8, passes 95–98 % of the light; the beam between M2 and M3 passes the block's face by 0.06 mm.</a:t>
            </a:r>
          </a:p>
          <a:p>
            <a:pPr>
              <a:spcAft>
                <a:spcPts val="600"/>
              </a:spcAft>
            </a:pPr>
            <a:r>
              <a:rPr sz="1200" b="0">
                <a:solidFill>
                  <a:srgbClr val="282828"/>
                </a:solidFill>
                <a:latin typeface="Arial"/>
              </a:rPr>
              <a:t>•  </a:t>
            </a:r>
            <a:r>
              <a:rPr sz="1200" b="1">
                <a:solidFill>
                  <a:srgbClr val="282828"/>
                </a:solidFill>
                <a:latin typeface="Arial"/>
              </a:rPr>
              <a:t>Why it stalls:</a:t>
            </a:r>
            <a:r>
              <a:rPr sz="1200" b="0">
                <a:solidFill>
                  <a:srgbClr val="282828"/>
                </a:solidFill>
                <a:latin typeface="Arial"/>
              </a:rPr>
              <a:t> on this section the figure terms and the mirror positions work against each other (the freeform norm grows as the geometry moves), which points at the stop's position.  </a:t>
            </a:r>
            <a:r>
              <a:rPr sz="1200" b="1">
                <a:solidFill>
                  <a:srgbClr val="282828"/>
                </a:solidFill>
                <a:latin typeface="Arial"/>
              </a:rPr>
              <a:t>Next:</a:t>
            </a:r>
            <a:r>
              <a:rPr sz="1200" b="0">
                <a:solidFill>
                  <a:srgbClr val="282828"/>
                </a:solidFill>
                <a:latin typeface="Arial"/>
              </a:rPr>
              <a:t> the stop at M2 instead of M1; an asphere-only solve from the same seed; the field weighting across the strip as a project ruling.</a:t>
            </a:r>
          </a:p>
        </p:txBody>
      </p:sp>
      <p:pic>
        <p:nvPicPr>
          <p:cNvPr id="7" name="Picture 6" descr="dyson5_t5f_GM_3k_c_ap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772400" y="5239512"/>
            <a:ext cx="41148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2.2–2.6 px at mid-strip and 3.8–4.0 px at the center and the ends, the signature of a solve that traded under equal field weights.</a:t>
            </a:r>
          </a:p>
        </p:txBody>
      </p:sp>
      <p:sp>
        <p:nvSpPr>
          <p:cNvPr id="9" name="TextBox 8"/>
          <p:cNvSpPr txBox="1"/>
          <p:nvPr/>
        </p:nvSpPr>
        <p:spPr>
          <a:xfrm>
            <a:off x="7882127" y="5833872"/>
            <a:ext cx="40233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dyson5_t5f_GM_3k_c_ap.txt (the grating's aperture enforced; Backup); prescription dyson5_t5f_GM_3k_c_e2e.in.  The solve ran to the 1.5k's evaluation budget and is not converged in the optimizer's sense.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Offner (concave sphere used twice, convex grating at the stop): tried at F/1.8 and 54 mm, out.</a:t>
            </a:r>
            <a:r>
              <a:rPr sz="1400" b="0">
                <a:solidFill>
                  <a:srgbClr val="282828"/>
                </a:solidFill>
                <a:latin typeface="Arial"/>
              </a:rPr>
              <a:t>  All-reflective, no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1400"/>
              </a:spcAft>
            </a:pPr>
            <a:r>
              <a:rPr sz="1400" b="0">
                <a:solidFill>
                  <a:srgbClr val="282828"/>
                </a:solidFill>
                <a:latin typeface="Arial"/>
              </a:rPr>
              <a:t>•  </a:t>
            </a:r>
            <a:r>
              <a:rPr sz="1400" b="1">
                <a:solidFill>
                  <a:srgbClr val="282828"/>
                </a:solidFill>
                <a:latin typeface="Arial"/>
              </a:rPr>
              <a:t>The prism Dyson (the review's BPDS, 3200 px, 18 µm, F/2, 57.6 mm slit):</a:t>
            </a:r>
            <a:r>
              <a:rPr sz="1400" b="0">
                <a:solidFill>
                  <a:srgbClr val="282828"/>
                </a:solidFill>
                <a:latin typeface="Arial"/>
              </a:rPr>
              <a:t> a freeform prism in place of the grating, 54 cm long with a 19 cm prism; achieved smile 3 % and keystone 1 % of a pixel.  It is the published answer in this regime, and its size is the price.</a:t>
            </a:r>
          </a:p>
          <a:p>
            <a:pPr>
              <a:spcAft>
                <a:spcPts val="1400"/>
              </a:spcAft>
            </a:pPr>
            <a:r>
              <a:rPr sz="1400" b="0">
                <a:solidFill>
                  <a:srgbClr val="282828"/>
                </a:solidFill>
                <a:latin typeface="Arial"/>
              </a:rPr>
              <a:t>•  </a:t>
            </a:r>
            <a:r>
              <a:rPr sz="1400" b="1">
                <a:solidFill>
                  <a:srgbClr val="282828"/>
                </a:solidFill>
                <a:latin typeface="Arial"/>
              </a:rPr>
              <a:t>A long-slit Dyson with a separate mirror and a meniscus</a:t>
            </a:r>
            <a:r>
              <a:rPr sz="1400" b="0">
                <a:solidFill>
                  <a:srgbClr val="282828"/>
                </a:solidFill>
                <a:latin typeface="Arial"/>
              </a:rPr>
              <a:t>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Split the slit, keep one telescope.</a:t>
            </a:r>
            <a:r>
              <a:rPr sz="1400" b="0">
                <a:solidFill>
                  <a:srgbClr val="282828"/>
                </a:solidFill>
                <a:latin typeface="Arial"/>
              </a:rPr>
              <a:t>  The record's own finding is that at 3k the spectrometer closes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at 240 mm, or silica with the meniscus) and the telescope does not.  A 3k telescope feeding two 1.5k Dysons through a split slit keeps two telescopes and four small silica blocks, but it needs the 3k telescope, which is the open item.</a:t>
            </a:r>
          </a:p>
          <a:p>
            <a:pPr>
              <a:spcAft>
                <a:spcPts val="1400"/>
              </a:spcAft>
            </a:pPr>
            <a:r>
              <a:rPr sz="1400" b="0">
                <a:solidFill>
                  <a:srgbClr val="282828"/>
                </a:solidFill>
                <a:latin typeface="Arial"/>
              </a:rPr>
              <a:t>•  </a:t>
            </a:r>
            <a:r>
              <a:rPr sz="1400" b="1">
                <a:solidFill>
                  <a:srgbClr val="282828"/>
                </a:solidFill>
                <a:latin typeface="Arial"/>
              </a:rPr>
              <a:t>What the ray trace can settle next:</a:t>
            </a:r>
            <a:r>
              <a:rPr sz="1400" b="0">
                <a:solidFill>
                  <a:srgbClr val="282828"/>
                </a:solidFill>
                <a:latin typeface="Arial"/>
              </a:rPr>
              <a: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361180"/>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Are four modules acceptable?</a:t>
            </a:r>
            <a:r>
              <a:rPr sz="1500" b="0">
                <a:solidFill>
                  <a:srgbClr val="282828"/>
                </a:solidFill>
                <a:latin typeface="Arial"/>
              </a:rPr>
              <a:t>  The 1.5k module now has a telescope at the pixel end to end (slides 7–9); the 3k module does not yet (slide 12).  At the same 6000 cross-track pixels, four telescopes, spectrometers and detectors in 6.6 kg of fused silica against two in 28.5 kg of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is four a packaging the project would entertain?</a:t>
            </a:r>
          </a:p>
          <a:p>
            <a:pPr>
              <a:spcAft>
                <a:spcPts val="600"/>
              </a:spcAft>
            </a:pPr>
            <a:r>
              <a:rPr sz="1500" b="0">
                <a:solidFill>
                  <a:srgbClr val="282828"/>
                </a:solidFill>
                <a:latin typeface="Arial"/>
              </a:rPr>
              <a:t>•  </a:t>
            </a:r>
            <a:r>
              <a:rPr sz="1500" b="1">
                <a:solidFill>
                  <a:srgbClr val="282828"/>
                </a:solidFill>
                <a:latin typeface="Arial"/>
              </a:rPr>
              <a:t>Is </a:t>
            </a:r>
            <a:r>
              <a:rPr sz="1500" b="1">
                <a:solidFill>
                  <a:srgbClr val="282828"/>
                </a:solidFill>
                <a:latin typeface="Arial"/>
              </a:rPr>
              <a:t>CaF</a:t>
            </a:r>
            <a:r>
              <a:rPr sz="1500" b="1" baseline="-25000">
                <a:solidFill>
                  <a:srgbClr val="282828"/>
                </a:solidFill>
                <a:latin typeface="Arial"/>
              </a:rPr>
              <a:t>2</a:t>
            </a:r>
            <a:r>
              <a:rPr sz="1500" b="1">
                <a:solidFill>
                  <a:srgbClr val="282828"/>
                </a:solidFill>
                <a:latin typeface="Arial"/>
              </a:rPr>
              <a:t> a realistic option for the 3,000 option?</a:t>
            </a:r>
            <a:r>
              <a:rPr sz="1500" b="0">
                <a:solidFill>
                  <a:srgbClr val="282828"/>
                </a:solidFill>
                <a:latin typeface="Arial"/>
              </a:rPr>
              <a:t>  Two 240 mm blocks need 12.4 L of single-crystal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a:t>
            </a:r>
            <a:r>
              <a:rPr sz="1500" b="1">
                <a:solidFill>
                  <a:srgbClr val="282828"/>
                </a:solidFill>
                <a:latin typeface="Arial"/>
              </a:rPr>
              <a:t>The telescope is a first design, and does not meet all inferred requirements:</a:t>
            </a:r>
            <a:r>
              <a:rPr sz="1500" b="0">
                <a:solidFill>
                  <a:srgbClr val="282828"/>
                </a:solidFill>
                <a:latin typeface="Arial"/>
              </a:rPr>
              <a:t> the strip ends at 0.8 px, 2 mm of aspheric departure on M1, no tolerancing.</a:t>
            </a:r>
          </a:p>
          <a:p>
            <a:pPr>
              <a:spcAft>
                <a:spcPts val="600"/>
              </a:spcAft>
            </a:pPr>
            <a:r>
              <a:rPr sz="1500" b="0">
                <a:solidFill>
                  <a:srgbClr val="282828"/>
                </a:solidFill>
                <a:latin typeface="Arial"/>
              </a:rPr>
              <a:t>•  </a:t>
            </a:r>
            <a:r>
              <a:rPr sz="1500" b="1">
                <a:solidFill>
                  <a:srgbClr val="282828"/>
                </a:solidFill>
                <a:latin typeface="Arial"/>
              </a:rPr>
              <a:t>We ask for help in bringing it home:</a:t>
            </a:r>
            <a:r>
              <a:rPr sz="1500" b="0">
                <a:solidFill>
                  <a:srgbClr val="282828"/>
                </a:solidFill>
                <a:latin typeface="Arial"/>
              </a:rPr>
              <a:t>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3k telescope:</a:t>
            </a:r>
            <a:r>
              <a:rPr sz="1400" b="0">
                <a:solidFill>
                  <a:srgbClr val="282828"/>
                </a:solidFill>
                <a:latin typeface="Arial"/>
              </a:rPr>
              <a:t> the stop at M2; an asphere-only solve from the freeform seed; a merit written on the response-function width for the final step; the field weighting across the strip as a ruling.</a:t>
            </a:r>
          </a:p>
          <a:p>
            <a:pPr>
              <a:spcAft>
                <a:spcPts val="1400"/>
              </a:spcAft>
            </a:pPr>
            <a:r>
              <a:rPr sz="1400" b="0">
                <a:solidFill>
                  <a:srgbClr val="282828"/>
                </a:solidFill>
                <a:latin typeface="Arial"/>
              </a:rPr>
              <a:t>•  </a:t>
            </a:r>
            <a:r>
              <a:rPr sz="1400" b="1">
                <a:solidFill>
                  <a:srgbClr val="282828"/>
                </a:solidFill>
                <a:latin typeface="Arial"/>
              </a:rPr>
              <a:t>The 1.5k module's package:</a:t>
            </a:r>
            <a:r>
              <a:rPr sz="1400" b="0">
                <a:solidFill>
                  <a:srgbClr val="282828"/>
                </a:solidFill>
                <a:latin typeface="Arial"/>
              </a:rPr>
              <a:t> the cold window cemented as the block's exit face with the shield as the detector housing behind it, under the same clearance check; the 1.5 mm of working distance the 130 mm module tolerates is where it goes.</a:t>
            </a:r>
          </a:p>
          <a:p>
            <a:pPr>
              <a:spcAft>
                <a:spcPts val="1400"/>
              </a:spcAft>
            </a:pPr>
            <a:r>
              <a:rPr sz="1400" b="0">
                <a:solidFill>
                  <a:srgbClr val="282828"/>
                </a:solidFill>
                <a:latin typeface="Arial"/>
              </a:rPr>
              <a:t>•  </a:t>
            </a:r>
            <a:r>
              <a:rPr sz="1400" b="1">
                <a:solidFill>
                  <a:srgbClr val="282828"/>
                </a:solidFill>
                <a:latin typeface="Arial"/>
              </a:rPr>
              <a:t>The radiometric chain against the band:</a:t>
            </a:r>
            <a:r>
              <a:rPr sz="1400" b="0">
                <a:solidFill>
                  <a:srgbClr val="282828"/>
                </a:solidFill>
                <a:latin typeface="Arial"/>
              </a:rPr>
              <a:t>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In the engine:</a:t>
            </a:r>
            <a:r>
              <a:rPr sz="1400" b="0">
                <a:solidFill>
                  <a:srgbClr val="282828"/>
                </a:solidFill>
                <a:latin typeface="Arial"/>
              </a:rPr>
              <a:t> a fixed-station reference sphere for the wavefront merit on telecentric designs; an asphere-plus-Zernike surface in one declaration; a short-line guard for every multi-value prescription keyword.</a:t>
            </a:r>
          </a:p>
          <a:p>
            <a:pPr>
              <a:spcAft>
                <a:spcPts val="1400"/>
              </a:spcAft>
            </a:pPr>
            <a:r>
              <a:rPr sz="1400" b="0">
                <a:solidFill>
                  <a:srgbClr val="282828"/>
                </a:solidFill>
                <a:latin typeface="Arial"/>
              </a:rPr>
              <a:t>•  </a:t>
            </a:r>
            <a:r>
              <a:rPr sz="1400" b="1">
                <a:solidFill>
                  <a:srgbClr val="282828"/>
                </a:solidFill>
                <a:latin typeface="Arial"/>
              </a:rPr>
              <a:t>Later, once the design of record is stable:</a:t>
            </a:r>
            <a:r>
              <a:rPr sz="1400" b="0">
                <a:solidFill>
                  <a:srgbClr val="282828"/>
                </a:solidFill>
                <a:latin typeface="Arial"/>
              </a:rPr>
              <a:t>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design parameters live in one file, dyson5_params.m:</a:t>
            </a:r>
            <a:r>
              <a:rPr sz="1500" b="0">
                <a:solidFill>
                  <a:srgbClr val="282828"/>
                </a:solidFill>
                <a:latin typeface="Arial"/>
              </a:rPr>
              <a:t>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tSpectrometerRx tTelescopeRx and the grating, glass, propagation and root-pick classes, all in the fast suite (536 pass, 0 fail, 2026-10-05).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pupil is a first-order condition.</a:t>
            </a:r>
            <a:r>
              <a:rPr sz="1200" b="0">
                <a:solidFill>
                  <a:srgbClr val="282828"/>
                </a:solidFill>
                <a:latin typeface="Arial"/>
              </a:rPr>
              <a:t>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a:t>
            </a:r>
            <a:r>
              <a:rPr sz="1200" b="1">
                <a:solidFill>
                  <a:srgbClr val="282828"/>
                </a:solidFill>
                <a:latin typeface="Arial"/>
              </a:rPr>
              <a:t>It was not focus or the mirrors' power split:</a:t>
            </a:r>
            <a:r>
              <a:rPr sz="1200" b="0">
                <a:solidFill>
                  <a:srgbClr val="282828"/>
                </a:solidFill>
                <a:latin typeface="Arial"/>
              </a:rPr>
              <a: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a:t>
            </a:r>
            <a:r>
              <a:rPr sz="1200" b="1">
                <a:solidFill>
                  <a:srgbClr val="282828"/>
                </a:solidFill>
                <a:latin typeface="Arial"/>
              </a:rPr>
              <a:t>Figure terms alone trade the center for the edge:</a:t>
            </a:r>
            <a:r>
              <a:rPr sz="1200" b="0">
                <a:solidFill>
                  <a:srgbClr val="282828"/>
                </a:solidFill>
                <a:latin typeface="Arial"/>
              </a:rPr>
              <a:t>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a:t>
            </a:r>
            <a:r>
              <a:rPr sz="1200" b="1">
                <a:solidFill>
                  <a:srgbClr val="282828"/>
                </a:solidFill>
                <a:latin typeface="Arial"/>
              </a:rPr>
              <a:t>Two levers removed it, neither a figure term:</a:t>
            </a:r>
            <a:r>
              <a:rPr sz="1200" b="0">
                <a:solidFill>
                  <a:srgbClr val="282828"/>
                </a:solidFill>
                <a:latin typeface="Arial"/>
              </a:rPr>
              <a:t>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Eleven surfaces:</a:t>
            </a:r>
            <a:r>
              <a:rPr sz="1200" b="0">
                <a:solidFill>
                  <a:srgbClr val="282828"/>
                </a:solidFill>
                <a:latin typeface="Arial"/>
              </a:rPr>
              <a:t>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a:t>
            </a:r>
            <a:r>
              <a:rPr sz="1200" b="1">
                <a:solidFill>
                  <a:srgbClr val="282828"/>
                </a:solidFill>
                <a:latin typeface="Arial"/>
              </a:rPr>
              <a:t>Decentering the block solves the distortion; the meniscus buys the blur.</a:t>
            </a:r>
            <a:r>
              <a:rPr sz="1200" b="0">
                <a:solidFill>
                  <a:srgbClr val="282828"/>
                </a:solidFill>
                <a:latin typeface="Arial"/>
              </a:rPr>
              <a:t>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a:t>
            </a:r>
            <a:r>
              <a:rPr sz="1200" b="1">
                <a:solidFill>
                  <a:srgbClr val="282828"/>
                </a:solidFill>
                <a:latin typeface="Arial"/>
              </a:rPr>
              <a:t>Checked by propagation:</a:t>
            </a:r>
            <a:r>
              <a:rPr sz="1200" b="0">
                <a:solidFill>
                  <a:srgbClr val="282828"/>
                </a:solidFill>
                <a:latin typeface="Arial"/>
              </a:rPr>
              <a:t> the point-spread function's centroid equals the ray centroid to 0.002 px at every slit position and wavelength.</a:t>
            </a:r>
          </a:p>
          <a:p>
            <a:pPr>
              <a:spcAft>
                <a:spcPts val="600"/>
              </a:spcAft>
            </a:pPr>
            <a:r>
              <a:rPr sz="1200" b="0">
                <a:solidFill>
                  <a:srgbClr val="282828"/>
                </a:solidFill>
                <a:latin typeface="Arial"/>
              </a:rPr>
              <a:t>•  </a:t>
            </a:r>
            <a:r>
              <a:rPr sz="1200" b="1">
                <a:solidFill>
                  <a:srgbClr val="282828"/>
                </a:solidFill>
                <a:latin typeface="Arial"/>
              </a:rPr>
              <a:t>A cold shield cannot be bought in this form:</a:t>
            </a:r>
            <a:r>
              <a:rPr sz="1200" b="0">
                <a:solidFill>
                  <a:srgbClr val="282828"/>
                </a:solidFill>
                <a:latin typeface="Arial"/>
              </a:rPr>
              <a:t>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meniscus was paying for the long slit.</a:t>
            </a:r>
            <a:r>
              <a:rPr sz="1500" b="0">
                <a:solidFill>
                  <a:srgbClr val="282828"/>
                </a:solidFill>
                <a:latin typeface="Arial"/>
              </a:rPr>
              <a:t>  With one 54 mm slit, silica closes only with the meniscus; without one, a single module closes only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at 240 mm.  With two modules the plain block matches R4 from 220 mm down to 100 mm in silica and 80 mm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a:t>
            </a:r>
            <a:r>
              <a:rPr sz="1500" b="1">
                <a:solidFill>
                  <a:srgbClr val="282828"/>
                </a:solidFill>
                <a:latin typeface="Arial"/>
              </a:rPr>
              <a:t>Throughput routes measured on the 130 mm module:</a:t>
            </a:r>
            <a:r>
              <a:rPr sz="1500" b="0">
                <a:solidFill>
                  <a:srgbClr val="282828"/>
                </a:solidFill>
                <a:latin typeface="Arial"/>
              </a:rPr>
              <a:t>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Ray tracing (MACOS):</a:t>
            </a:r>
            <a:r>
              <a:rPr sz="1300" b="0">
                <a:solidFill>
                  <a:srgbClr val="282828"/>
                </a:solidFill>
                <a:latin typeface="Arial"/>
              </a:rPr>
              <a:t>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1400"/>
              </a:spcAft>
            </a:pPr>
            <a:r>
              <a:rPr sz="1300" b="0">
                <a:solidFill>
                  <a:srgbClr val="282828"/>
                </a:solidFill>
                <a:latin typeface="Arial"/>
              </a:rPr>
              <a:t>•  </a:t>
            </a:r>
            <a:r>
              <a:rPr sz="1300" b="1">
                <a:solidFill>
                  <a:srgbClr val="282828"/>
                </a:solidFill>
                <a:latin typeface="Arial"/>
              </a:rPr>
              <a:t>Wave propagation:</a:t>
            </a:r>
            <a:r>
              <a:rPr sz="1300" b="0">
                <a:solidFill>
                  <a:srgbClr val="282828"/>
                </a:solidFill>
                <a:latin typeface="Arial"/>
              </a:rPr>
              <a:t>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1400"/>
              </a:spcAft>
            </a:pPr>
            <a:r>
              <a:rPr sz="1300" b="0">
                <a:solidFill>
                  <a:srgbClr val="282828"/>
                </a:solidFill>
                <a:latin typeface="Arial"/>
              </a:rPr>
              <a:t>•  </a:t>
            </a:r>
            <a:r>
              <a:rPr sz="1300" b="1">
                <a:solidFill>
                  <a:srgbClr val="282828"/>
                </a:solidFill>
                <a:latin typeface="Arial"/>
              </a:rPr>
              <a:t>Two programs, one prescription:</a:t>
            </a:r>
            <a:r>
              <a:rPr sz="1300" b="0">
                <a:solidFill>
                  <a:srgbClr val="282828"/>
                </a:solidFill>
                <a:latin typeface="Arial"/>
              </a:rPr>
              <a:t>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The optimizer:</a:t>
            </a:r>
            <a:r>
              <a:rPr sz="1300" b="0">
                <a:solidFill>
                  <a:srgbClr val="282828"/>
                </a:solidFill>
                <a:latin typeface="Arial"/>
              </a:rPr>
              <a:t>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1400"/>
              </a:spcAft>
            </a:pPr>
            <a:r>
              <a:rPr sz="1300" b="0">
                <a:solidFill>
                  <a:srgbClr val="282828"/>
                </a:solidFill>
                <a:latin typeface="Arial"/>
              </a:rPr>
              <a:t>•  </a:t>
            </a:r>
            <a:r>
              <a:rPr sz="1300" b="1">
                <a:solidFill>
                  <a:srgbClr val="282828"/>
                </a:solidFill>
                <a:latin typeface="Arial"/>
              </a:rPr>
              <a:t>Clearance:</a:t>
            </a:r>
            <a:r>
              <a:rPr sz="1300" b="0">
                <a:solidFill>
                  <a:srgbClr val="282828"/>
                </a:solidFill>
                <a:latin typeface="Arial"/>
              </a:rPr>
              <a:t> every design passes a check of each beam leg against every body (mirror blanks on their best-fit spheres, the block, the slit mask, the detector package with a 5 mm carrier); the number quoted is the worst pair's margin.</a:t>
            </a:r>
          </a:p>
          <a:p>
            <a:pPr>
              <a:spcAft>
                <a:spcPts val="1400"/>
              </a:spcAft>
            </a:pPr>
            <a:r>
              <a:rPr sz="1300" b="0">
                <a:solidFill>
                  <a:srgbClr val="282828"/>
                </a:solidFill>
                <a:latin typeface="Arial"/>
              </a:rPr>
              <a:t>•  </a:t>
            </a:r>
            <a:r>
              <a:rPr sz="1300" b="1">
                <a:solidFill>
                  <a:srgbClr val="282828"/>
                </a:solidFill>
                <a:latin typeface="Arial"/>
              </a:rPr>
              <a:t>Slit diffraction loss:</a:t>
            </a:r>
            <a:r>
              <a:rPr sz="1300" b="0">
                <a:solidFill>
                  <a:srgbClr val="282828"/>
                </a:solidFill>
                <a:latin typeface="Arial"/>
              </a:rPr>
              <a:t>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Six more findings: the eccentric section, the Offner, the 3k join</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846195"/>
        </p:xfrm>
        <a:graphic>
          <a:graphicData uri="http://schemas.openxmlformats.org/drawingml/2006/table">
            <a:tbl>
              <a:tblPr firstRow="1" bandRow="1">
                <a:tableStyleId>{5C22544A-7EE6-4342-B048-85BDC9FD1C3A}</a:tableStyleId>
              </a:tblPr>
              <a:tblGrid>
                <a:gridCol w="1317284"/>
                <a:gridCol w="6529147"/>
                <a:gridCol w="352230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657225">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657225">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a grating never vignetted by its aperture</a:t>
                      </a:r>
                    </a:p>
                  </a:txBody>
                  <a:tcPr marL="54864" marR="54864" marT="18288" marB="18288">
                    <a:solidFill>
                      <a:srgbClr val="FFFFFF"/>
                    </a:solidFill>
                  </a:tcPr>
                </a:tc>
                <a:tc>
                  <a:txBody>
                    <a:bodyPr wrap="square"/>
                    <a:lstStyle/>
                    <a:p>
                      <a:r>
                        <a:rPr sz="1100" b="0">
                          <a:solidFill>
                            <a:srgbClr val="282828"/>
                          </a:solidFill>
                          <a:latin typeface="Arial"/>
                        </a:rPr>
                        <a:t>the 3k end-to-end deck passed 21 % of its center-field rays 154–213 mm from the grating's axis against a 154 mm declared aperture; four grating routines computed the aperture verdict and then overwrote it with an unrelated check</a:t>
                      </a:r>
                    </a:p>
                  </a:txBody>
                  <a:tcPr marL="54864" marR="54864" marT="18288" marB="18288">
                    <a:solidFill>
                      <a:srgbClr val="FFFFFF"/>
                    </a:solidFill>
                  </a:tcPr>
                </a:tc>
                <a:tc>
                  <a:txBody>
                    <a:bodyPr wrap="square"/>
                    <a:lstStyle/>
                    <a:p>
                      <a:r>
                        <a:rPr sz="1100" b="0">
                          <a:solidFill>
                            <a:srgbClr val="282828"/>
                          </a:solidFill>
                          <a:latin typeface="Arial"/>
                        </a:rPr>
                        <a:t>the verdict is kept; the 1.5k row moves by 0.01 px, the 3k row by 0.4 px of smile</a:t>
                      </a:r>
                    </a:p>
                  </a:txBody>
                  <a:tcPr marL="54864" marR="54864" marT="18288" marB="18288">
                    <a:solidFill>
                      <a:srgbClr val="FFFFFF"/>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ECF1F6"/>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ECF1F6"/>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tGratingAperture (3), tSpectrometerRx/test_clearance_sees_a_beam_through_a_body.  Each passed every existing check; what exposed the first four was a section whose beam is 190 mm from its parent's vertex, the fifth a telescope whose cone overfills the spectrometer's stop, the sixth a form whose stop sits in its own beams.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 dyson5_block4_swath.png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