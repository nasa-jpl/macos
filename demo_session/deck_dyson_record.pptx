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for review, 2026-10-06.  The 1.5k module (1500 cross-track pixels, a 27 mm slit) has a spectrometer of record and a first telescope that together image at the pixel end to end: smile 0.51, keystone 0.01, CRF 1.22, SRF 2.20 pixels, every clearance positive; four such modules carry 6000 pixels in 6.6 kg of fused silica.  The telescope is not finished and the 3k module's is not yet at the pixel (CRF 4.2 pixels); the deck asks Jim's help with both.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What the instrument does, and two ways to build it</a:t>
            </a:r>
          </a:p>
          <a:p>
            <a:pPr>
              <a:spcAft>
                <a:spcPts val="600"/>
              </a:spcAft>
            </a:pPr>
            <a:r>
              <a:rPr sz="1200" b="0">
                <a:solidFill>
                  <a:srgbClr val="282828"/>
                </a:solidFill>
                <a:latin typeface="Arial"/>
              </a:rPr>
              <a:t>•  5 Four 1.5k modules fill the swath</a:t>
            </a:r>
          </a:p>
          <a:p>
            <a:pPr>
              <a:spcAft>
                <a:spcPts val="600"/>
              </a:spcAft>
            </a:pPr>
            <a:r>
              <a:rPr sz="1200" b="0">
                <a:solidFill>
                  <a:srgbClr val="282828"/>
                </a:solidFill>
                <a:latin typeface="Arial"/>
              </a:rPr>
              <a:t>•  6 The 1.5k module, scored: spectrometer, telescope, and the two together</a:t>
            </a:r>
          </a:p>
          <a:p>
            <a:pPr>
              <a:spcAft>
                <a:spcPts val="600"/>
              </a:spcAft>
            </a:pPr>
            <a:r>
              <a:rPr sz="1200" b="0">
                <a:solidFill>
                  <a:srgbClr val="282828"/>
                </a:solidFill>
                <a:latin typeface="Arial"/>
              </a:rPr>
              <a:t>•  7 The 1.5k module, end to end</a:t>
            </a:r>
          </a:p>
          <a:p>
            <a:pPr>
              <a:spcAft>
                <a:spcPts val="600"/>
              </a:spcAft>
            </a:pPr>
            <a:r>
              <a:rPr sz="1200" b="0">
                <a:solidFill>
                  <a:srgbClr val="282828"/>
                </a:solidFill>
                <a:latin typeface="Arial"/>
              </a:rPr>
              <a:t>•  8 The telescope so far: three off-axis aspheres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9 The spectrometer of record for the 1.5k module</a:t>
            </a:r>
          </a:p>
          <a:p>
            <a:pPr>
              <a:spcAft>
                <a:spcPts val="600"/>
              </a:spcAft>
            </a:pPr>
            <a:r>
              <a:rPr sz="1200" b="0">
                <a:solidFill>
                  <a:srgbClr val="282828"/>
                </a:solidFill>
                <a:latin typeface="Arial"/>
              </a:rPr>
              <a:t>•  10 Two of 3k in CaF2 or four of 1.5k in silica</a:t>
            </a:r>
          </a:p>
          <a:p>
            <a:pPr>
              <a:spcAft>
                <a:spcPts val="600"/>
              </a:spcAft>
            </a:pPr>
            <a:r>
              <a:rPr sz="1200" b="0">
                <a:solidFill>
                  <a:srgbClr val="282828"/>
                </a:solidFill>
                <a:latin typeface="Arial"/>
              </a:rPr>
              <a:t>•  11 The 3k module: where it stands</a:t>
            </a:r>
          </a:p>
          <a:p>
            <a:pPr>
              <a:spcAft>
                <a:spcPts val="600"/>
              </a:spcAft>
            </a:pPr>
            <a:r>
              <a:rPr sz="1200" b="0">
                <a:solidFill>
                  <a:srgbClr val="282828"/>
                </a:solidFill>
                <a:latin typeface="Arial"/>
              </a:rPr>
              <a:t>•  12 Alternatives to the Dyson for the 3k slit</a:t>
            </a:r>
          </a:p>
          <a:p>
            <a:pPr>
              <a:spcAft>
                <a:spcPts val="600"/>
              </a:spcAft>
            </a:pPr>
            <a:r>
              <a:rPr sz="1200" b="0">
                <a:solidFill>
                  <a:srgbClr val="282828"/>
                </a:solidFill>
                <a:latin typeface="Arial"/>
              </a:rPr>
              <a:t>•  13 Questions</a:t>
            </a:r>
          </a:p>
          <a:p>
            <a:pPr>
              <a:spcAft>
                <a:spcPts val="600"/>
              </a:spcAft>
            </a:pPr>
            <a:r>
              <a:rPr sz="1200" b="0">
                <a:solidFill>
                  <a:srgbClr val="282828"/>
                </a:solidFill>
                <a:latin typeface="Arial"/>
              </a:rPr>
              <a:t>•  14 Next steps</a:t>
            </a:r>
          </a:p>
          <a:p>
            <a:pPr>
              <a:spcAft>
                <a:spcPts val="600"/>
              </a:spcAft>
            </a:pPr>
            <a:r>
              <a:rPr sz="1200" b="0">
                <a:solidFill>
                  <a:srgbClr val="282828"/>
                </a:solidFill>
                <a:latin typeface="Arial"/>
              </a:rPr>
              <a:t>•  15 Run it yourself</a:t>
            </a:r>
          </a:p>
          <a:p>
            <a:pPr>
              <a:spcAft>
                <a:spcPts val="600"/>
              </a:spcAft>
            </a:pPr>
            <a:r>
              <a:rPr sz="1200" b="0">
                <a:solidFill>
                  <a:srgbClr val="282828"/>
                </a:solidFill>
                <a:latin typeface="Arial"/>
              </a:rPr>
              <a:t>•  16 Backup: how the telescope reached the pixel; the Dyson design ladder; the 54 mm design; the block-size trade; the methods and the checks; thirteen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Energy in one pixel: the fraction of a point image inside one 18 µm pixel; the literature's design rule is 0.75.</a:t>
            </a:r>
          </a:p>
          <a:p>
            <a:pPr>
              <a:spcAft>
                <a:spcPts val="600"/>
              </a:spcAft>
            </a:pPr>
            <a:r>
              <a:rPr sz="1200" b="0">
                <a:solidFill>
                  <a:srgbClr val="282828"/>
                </a:solidFill>
                <a:latin typeface="Arial"/>
              </a:rPr>
              <a:t>•  A module is one telescope, one spectrometer and one detector; end to end is one prescription from the sky to the detector, the grating its stop, scored by the spectrometer's own scorer.</a:t>
            </a:r>
          </a:p>
          <a:p>
            <a:pPr>
              <a:spcAft>
                <a:spcPts val="600"/>
              </a:spcAft>
            </a:pPr>
            <a:r>
              <a:rPr sz="1200" b="0">
                <a:solidFill>
                  <a:srgbClr val="282828"/>
                </a:solidFill>
                <a:latin typeface="Arial"/>
              </a:rPr>
              <a:t>•  As-built realism (Jim):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What it does: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600"/>
              </a:spcAft>
            </a:pPr>
            <a:r>
              <a:rPr sz="1200" b="0">
                <a:solidFill>
                  <a:srgbClr val="282828"/>
                </a:solidFill>
                <a:latin typeface="Arial"/>
              </a:rPr>
              <a:t>•  A module is one telescope, one slit, one spectrometer, one detector.  The swath is divided among the modules; each telescope points at its own strip and the strips abut.  The spec is met module by module, and the whole swath is the sum.</a:t>
            </a:r>
          </a:p>
          <a:p>
            <a:pPr>
              <a:spcAft>
                <a:spcPts val="600"/>
              </a:spcAft>
            </a:pPr>
            <a:r>
              <a:rPr sz="1200" b="0">
                <a:solidFill>
                  <a:srgbClr val="282828"/>
                </a:solidFill>
                <a:latin typeface="Arial"/>
              </a:rPr>
              <a:t>•  Two ways to cut it: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CaF2,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9): halving the slit halves the block's thickness and drops the meniscus and the CaF2;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1.5k modules fill the swath</a:t>
            </a:r>
          </a:p>
          <a:p>
            <a:pPr>
              <a:spcAft>
                <a:spcPts val="0"/>
              </a:spcAft>
            </a:pPr>
            <a:r>
              <a:rPr sz="1250" b="0">
                <a:solidFill>
                  <a:srgbClr val="6E6E6E"/>
                </a:solidFill>
                <a:latin typeface="Arial"/>
              </a:rPr>
              <a:t>Side by side across the track at a 234 mm pitch, each canted to its own 4.7° strip: no body touches another and no body sits in another's sky beam; the block of four is 0.97 × 0.41 × 0.76 m, 300 L, with 14.6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views_rc.png"/>
          <p:cNvPicPr>
            <a:picLocks noChangeAspect="1"/>
          </p:cNvPicPr>
          <p:nvPr/>
        </p:nvPicPr>
        <p:blipFill>
          <a:blip r:embed="rId2"/>
          <a:stretch>
            <a:fillRect/>
          </a:stretch>
        </p:blipFill>
        <p:spPr>
          <a:xfrm>
            <a:off x="2055648" y="1298448"/>
            <a:ext cx="8080397" cy="2989072"/>
          </a:xfrm>
          <a:prstGeom prst="rect">
            <a:avLst/>
          </a:prstGeom>
        </p:spPr>
      </p:pic>
      <p:sp>
        <p:nvSpPr>
          <p:cNvPr id="5" name="TextBox 4"/>
          <p:cNvSpPr txBox="1"/>
          <p:nvPr/>
        </p:nvSpPr>
        <p:spPr>
          <a:xfrm>
            <a:off x="411480" y="43058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four modules as the engine traces them, each the 1.5k module of record moved rigidly: cants −7.05°, −2.35°, +2.35°, +7.05° about the axis normal to the track and the line of sight.  Left: 3-D; right: looking along the cant axis, light entering from below.</a:t>
            </a:r>
          </a:p>
        </p:txBody>
      </p:sp>
      <p:graphicFrame>
        <p:nvGraphicFramePr>
          <p:cNvPr id="6" name="Table 5"/>
          <p:cNvGraphicFramePr>
            <a:graphicFrameLocks noGrp="1"/>
          </p:cNvGraphicFramePr>
          <p:nvPr/>
        </p:nvGraphicFramePr>
        <p:xfrm>
          <a:off x="411480" y="4736592"/>
          <a:ext cx="11368734" cy="1120140"/>
        </p:xfrm>
        <a:graphic>
          <a:graphicData uri="http://schemas.openxmlformats.org/drawingml/2006/table">
            <a:tbl>
              <a:tblPr firstRow="1" bandRow="1">
                <a:tableStyleId>{5C22544A-7EE6-4342-B048-85BDC9FD1C3A}</a:tableStyleId>
              </a:tblPr>
              <a:tblGrid>
                <a:gridCol w="3139128"/>
                <a:gridCol w="822960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234 mm (module 204 mm + 20 mm gap); body to body +25 mm, body in another's 183 mm sky beam +29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four</a:t>
                      </a:r>
                    </a:p>
                  </a:txBody>
                  <a:tcPr marL="54864" marR="54864" marT="18288" marB="18288">
                    <a:solidFill>
                      <a:srgbClr val="ECF1F6"/>
                    </a:solidFill>
                  </a:tcPr>
                </a:tc>
                <a:tc>
                  <a:txBody>
                    <a:bodyPr wrap="square"/>
                    <a:lstStyle/>
                    <a:p>
                      <a:r>
                        <a:rPr sz="1100" b="0">
                          <a:solidFill>
                            <a:srgbClr val="282828"/>
                          </a:solidFill>
                          <a:latin typeface="Arial"/>
                        </a:rPr>
                        <a:t>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3.65 kg (block 1.6, three mirrors 1.4, grating 0.6); 14.6 kg</a:t>
                      </a:r>
                    </a:p>
                  </a:txBody>
                  <a:tcPr marL="54864" marR="54864" marT="18288" marB="18288">
                    <a:solidFill>
                      <a:srgbClr val="FFFFFF"/>
                    </a:solidFill>
                  </a:tcPr>
                </a:tc>
              </a:tr>
            </a:tbl>
          </a:graphicData>
        </a:graphic>
      </p:graphicFrame>
      <p:sp>
        <p:nvSpPr>
          <p:cNvPr id="7" name="TextBox 6"/>
          <p:cNvSpPr txBox="1"/>
          <p:nvPr/>
        </p:nvSpPr>
        <p:spPr>
          <a:xfrm>
            <a:off x="411480" y="6003036"/>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the block from dyson5_size.txt.  Not included: structure, detectors and their cooling, electronics, baffles.  Each module's internal clearances are the record's by construction.  Record dyson5_block4.txt; tool dyson5_block4.m.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0.51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100 %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dyson5_t5f_GM_1k5_bAs.txt, 7 fields × 7 wavelengths.  No coatings, no tolerances in any column.  The 3k module's columns: slide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0.51, keystone 0.01, CRF 1.22, SRF 2.20 px over the whole strip; every field admitted;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dyson5_t5f_GM_1k5_bAs.txt; prescription dyson5_t5f_GM_1k5_bAs_e2e.in, 11 elements.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Geometry: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Image as placed: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Not done: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13).</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ct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The block follows the slit.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The 27 mm module, at 130 mm: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The 54 mm single module, for comparison: silica needs the 220 mm block and a 4 mm meniscus (CRF 1.33 px, 0.76 in one pixel, eight crossings, 8.2 kg); CaF2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in CaF2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20490"/>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CaF2,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CaF2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8)</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2.05 / 0.05 / 4.22 / 4.90 px</a:t>
                      </a:r>
                    </a:p>
                  </a:txBody>
                  <a:tcPr marL="54864" marR="54864" marT="18288" marB="18288">
                    <a:solidFill>
                      <a:srgbClr val="FFFFFF"/>
                    </a:solidFill>
                  </a:tcPr>
                </a:tc>
                <a:tc>
                  <a:txBody>
                    <a:bodyPr wrap="square"/>
                    <a:lstStyle/>
                    <a:p>
                      <a:r>
                        <a:rPr sz="1100" b="0">
                          <a:solidFill>
                            <a:srgbClr val="282828"/>
                          </a:solidFill>
                          <a:latin typeface="Arial"/>
                        </a:rPr>
                        <a:t>0.51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0.05–0.09</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bl>
          </a:graphicData>
        </a:graphic>
      </p:graphicFrame>
      <p:sp>
        <p:nvSpPr>
          <p:cNvPr id="5" name="TextBox 4"/>
          <p:cNvSpPr txBox="1"/>
          <p:nvPr/>
        </p:nvSpPr>
        <p:spPr>
          <a:xfrm>
            <a:off x="411480" y="5365242"/>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CaF2 is not priced here.  A cold detector adds a dewar window to every row alike; cementing it to the block keeps the count at four.  The 3k telescope is the freeform solve of 2026-10-05, scored before its next layout step (slide 11).  Records dyson5_jim_3a.txt, dyson5_t5f_GM_1k5_bAs.txt, dyson5_t5f_GM_3k_c.txt.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where it stands</a:t>
            </a:r>
          </a:p>
          <a:p>
            <a:pPr>
              <a:spcAft>
                <a:spcPts val="0"/>
              </a:spcAft>
            </a:pPr>
            <a:r>
              <a:rPr sz="1250" b="0">
                <a:solidFill>
                  <a:srgbClr val="6E6E6E"/>
                </a:solidFill>
                <a:latin typeface="Arial"/>
              </a:rPr>
              <a:t>The same parent with a 9.4° strip needs freeform mirrors and is not yet at the pixel: CRF 2.3–4.2 px, 5–9 % of the energy in one pixel,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00791" y="1298448"/>
            <a:ext cx="3027817" cy="2348992"/>
          </a:xfrm>
          <a:prstGeom prst="rect">
            <a:avLst/>
          </a:prstGeom>
        </p:spPr>
      </p:pic>
      <p:sp>
        <p:nvSpPr>
          <p:cNvPr id="5" name="TextBox 4"/>
          <p:cNvSpPr txBox="1"/>
          <p:nvPr/>
        </p:nvSpPr>
        <p:spPr>
          <a:xfrm>
            <a:off x="411480" y="3665727"/>
            <a:ext cx="580644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CaF2 Dyson as the engine traces it (meters): the same arrangement as the 1.5k module at twice the strip.</a:t>
            </a:r>
          </a:p>
        </p:txBody>
      </p:sp>
      <p:sp>
        <p:nvSpPr>
          <p:cNvPr id="6" name="TextBox 5"/>
          <p:cNvSpPr txBox="1"/>
          <p:nvPr/>
        </p:nvSpPr>
        <p:spPr>
          <a:xfrm>
            <a:off x="411480" y="4096511"/>
            <a:ext cx="5806440" cy="274320"/>
          </a:xfrm>
          <a:prstGeom prst="rect">
            <a:avLst/>
          </a:prstGeom>
          <a:noFill/>
        </p:spPr>
        <p:txBody>
          <a:bodyPr wrap="square">
            <a:spAutoFit/>
          </a:bodyPr>
          <a:lstStyle/>
          <a:p>
            <a:pPr>
              <a:spcAft>
                <a:spcPts val="600"/>
              </a:spcAft>
            </a:pPr>
            <a:r>
              <a:rPr sz="1200" b="0">
                <a:solidFill>
                  <a:srgbClr val="282828"/>
                </a:solidFill>
                <a:latin typeface="Arial"/>
              </a:rPr>
              <a:t>•  What the solve gave: Zernike freeform terms on all three mirrors (M2 carries 1.7 mm of departure at 126 mrad of slope) with the same merit and geometry freedoms as the 1.5k: smile 2.05, keystone 0.05, CRF 4.22, SRF 4.90 px; 98 % of the light admitted at the strip ends; the beam between M2 and M3 passes the block's face by 0.06 mm.</a:t>
            </a:r>
          </a:p>
          <a:p>
            <a:pPr>
              <a:spcAft>
                <a:spcPts val="600"/>
              </a:spcAft>
            </a:pPr>
            <a:r>
              <a:rPr sz="1200" b="0">
                <a:solidFill>
                  <a:srgbClr val="282828"/>
                </a:solidFill>
                <a:latin typeface="Arial"/>
              </a:rPr>
              <a:t>•  Why it stalls: on this section the figure terms and the mirror positions work against each other (the freeform norm grows as the geometry moves), which points at the stop's position.  Next: the stop at M2 instead of M1; an asphere-only solve from the same seed; the field weighting across the strip as a project ruling.</a:t>
            </a:r>
          </a:p>
        </p:txBody>
      </p:sp>
      <p:pic>
        <p:nvPicPr>
          <p:cNvPr id="7" name="Picture 6" descr="dyson5_t5f_GM_3k_c_maps_rc.png"/>
          <p:cNvPicPr>
            <a:picLocks noChangeAspect="1"/>
          </p:cNvPicPr>
          <p:nvPr/>
        </p:nvPicPr>
        <p:blipFill>
          <a:blip r:embed="rId3"/>
          <a:stretch>
            <a:fillRect/>
          </a:stretch>
        </p:blipFill>
        <p:spPr>
          <a:xfrm>
            <a:off x="7199490" y="1298448"/>
            <a:ext cx="3797579" cy="3372612"/>
          </a:xfrm>
          <a:prstGeom prst="rect">
            <a:avLst/>
          </a:prstGeom>
        </p:spPr>
      </p:pic>
      <p:sp>
        <p:nvSpPr>
          <p:cNvPr id="8" name="TextBox 7"/>
          <p:cNvSpPr txBox="1"/>
          <p:nvPr/>
        </p:nvSpPr>
        <p:spPr>
          <a:xfrm>
            <a:off x="6400800" y="4689348"/>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2.3–3.7 px off center and 4.0–4.2 px at the strip center, the signature of a solve that traded the center for the ends under equal field weights.</a:t>
            </a:r>
          </a:p>
        </p:txBody>
      </p:sp>
      <p:sp>
        <p:nvSpPr>
          <p:cNvPr id="9" name="TextBox 8"/>
          <p:cNvSpPr txBox="1"/>
          <p:nvPr/>
        </p:nvSpPr>
        <p:spPr>
          <a:xfrm>
            <a:off x="6400800" y="5285231"/>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dyson5_t5f_GM_3k_c.txt; prescription dyson5_t5f_GM_3k_c_e2e.in.  The 3k solve ran to the same evaluation budget as the 1.5k and is not converged in the optimizer's sense.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the literature offers three other forms at a 54 mm slit, and the record's own result points at a fourth; the Offner was tried at F/1.8 and is out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Offner (concave sphere used twice, convex grating at the stop): tried at F/1.8 and 54 mm, out.  All-reflective, no CaF2, no air-glass crossings, a cold shield for free; the review's long-slit example is F/2.8, 48 mm, 30 µm pixels.  At F/1.8 the grating is 0.28 R across and the slit must sit at 0.29–0.32 R to pass beside it.  With the classical corrections and the ring free, the best point (R = 0.5 m, 0.5 m long, 4.8 kg of blanks) reaches smile 0.17, keystone 0.18 and CRF 2.24 px, but the spectral blur is 7–9 px rms at every R to 1.25 m: an aberration along the dispersion the corrections do not touch (3–6 px, wavelength-independent) plus the grating's term at F/1.8 (+2–4 px by 2500 nm).  Energy in a pixel 0.01.  The next form of that family is the Offner–Chrisp (a third mirror), not tried.</a:t>
            </a:r>
          </a:p>
          <a:p>
            <a:pPr>
              <a:spcAft>
                <a:spcPts val="600"/>
              </a:spcAft>
            </a:pPr>
            <a:r>
              <a:rPr sz="1200" b="0">
                <a:solidFill>
                  <a:srgbClr val="282828"/>
                </a:solidFill>
                <a:latin typeface="Arial"/>
              </a:rPr>
              <a:t>•  The prism Dyson (the review's BPDS, 3200 px, 18 µm, F/2, 57.6 mm slit): a freeform prism in place of the grating, 54 cm long with a 19 cm prism; achieved smile 3 % and keystone 1 % of a pixel.  It is the published answer in this regime, and its size is the price.</a:t>
            </a:r>
          </a:p>
          <a:p>
            <a:pPr>
              <a:spcAft>
                <a:spcPts val="600"/>
              </a:spcAft>
            </a:pPr>
            <a:r>
              <a:rPr sz="1200" b="0">
                <a:solidFill>
                  <a:srgbClr val="282828"/>
                </a:solidFill>
                <a:latin typeface="Arial"/>
              </a:rPr>
              <a:t>•  A long-slit Dyson with a separate mirror and a meniscus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Split the slit, keep one telescope.  The record's own finding is that at 3k the spectrometer closes (CaF2 at 240 mm, or silica with the meniscus) and the telescope does not.  A 3k telescope feeding two 1.5k Dysons through a split slit keeps two telescopes and four small silica blocks, but it needs the 3k telescope, which is the open item.</a:t>
            </a:r>
          </a:p>
          <a:p>
            <a:pPr>
              <a:spcAft>
                <a:spcPts val="600"/>
              </a:spcAft>
            </a:pPr>
            <a:r>
              <a:rPr sz="1200" b="0">
                <a:solidFill>
                  <a:srgbClr val="282828"/>
                </a:solidFill>
                <a:latin typeface="Arial"/>
              </a:rPr>
              <a:t>•  What the ray trace can settle next: the prism Dyson needs a dispersing prism added to the layout chain (the engine traces one already); the Offner–Chrisp needs a three-mirror layout solver.  Each is a few days; whether either is worth it is a question for Jim and Joe.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Offner at F/1.8: dyson5_off18.txt, BRIEF_dyson5_jim.md 3c (seed, fixed-ring and free-ring rows at R = 0.5–1.25 m; mass as 10 mm Zerodur blanks).  The prism Dyson and the Offner–Chrisp are not traced here.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modules or four.  The 1.5k module now has a telescope at the pixel end to end (slides 6–8); the 3k module does not yet (slide 11).  At the same 6000 cross-track pixels, four telescopes, spectrometers and detectors in 6.6 kg of fused silica against two in 28.5 kg of CaF2: is four a packaging the project would entertain?</a:t>
            </a:r>
          </a:p>
          <a:p>
            <a:pPr>
              <a:spcAft>
                <a:spcPts val="600"/>
              </a:spcAft>
            </a:pPr>
            <a:r>
              <a:rPr sz="1500" b="0">
                <a:solidFill>
                  <a:srgbClr val="282828"/>
                </a:solidFill>
                <a:latin typeface="Arial"/>
              </a:rPr>
              <a:t>•  The CaF2 volume.  Two 240 mm blocks need 12.4 L of single-crystal CaF2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The telescope, and the tricks.  The telescope is a first design: the strip ends at 0.8 px, 2 mm of aspheric departure on M1, no tolerancing.  Help in bringing it home is asked for: the forms that have worked at 183 mm, F/1.8 and a 4.7–9.4° strip into a telecentric slit; and, more generally, the tricks for throughput (beyond cementing the window and a two-layer coating, 0.81 → 0.91) and for performance that the public record does not show.</a:t>
            </a:r>
          </a:p>
        </p:txBody>
      </p:sp>
      <p:sp>
        <p:nvSpPr>
          <p:cNvPr id="5" name="TextBox 4"/>
          <p:cNvSpPr txBox="1"/>
          <p:nvPr/>
        </p:nvSpPr>
        <p:spPr>
          <a:xfrm>
            <a:off x="411480" y="4232148"/>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3k telescope: the stop at M2; an asphere-only solve from the freeform seed; a merit written on the response-function width for the final step; the field weighting across the strip as a ruling.</a:t>
            </a:r>
          </a:p>
          <a:p>
            <a:pPr>
              <a:spcAft>
                <a:spcPts val="600"/>
              </a:spcAft>
            </a:pPr>
            <a:r>
              <a:rPr sz="1200" b="0">
                <a:solidFill>
                  <a:srgbClr val="282828"/>
                </a:solidFill>
                <a:latin typeface="Arial"/>
              </a:rPr>
              <a:t>•  The 1.5k module's package: the cold window cemented as the block's exit face with the shield as the detector housing behind it, under the same clearance check; the 1.5 mm of working distance the 130 mm module tolerates is where it goes.</a:t>
            </a:r>
          </a:p>
          <a:p>
            <a:pPr>
              <a:spcAft>
                <a:spcPts val="600"/>
              </a:spcAft>
            </a:pPr>
            <a:r>
              <a:rPr sz="1200" b="0">
                <a:solidFill>
                  <a:srgbClr val="282828"/>
                </a:solidFill>
                <a:latin typeface="Arial"/>
              </a:rPr>
              <a:t>•  The radiometric chain against the band: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In the engine: a fixed-station reference sphere for the wavefront merit on telecentric designs; an asphere-plus-Zernike surface in one declaration; a short-line guard for every multi-value prescription keyword.</a:t>
            </a:r>
          </a:p>
          <a:p>
            <a:pPr>
              <a:spcAft>
                <a:spcPts val="600"/>
              </a:spcAft>
            </a:pPr>
            <a:r>
              <a:rPr sz="1200" b="0">
                <a:solidFill>
                  <a:srgbClr val="282828"/>
                </a:solidFill>
                <a:latin typeface="Arial"/>
              </a:rPr>
              <a:t>•  Later, once the design of record is stable: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Checks: ./run_mmacos_tests.sh tSpectrometerRx tTelescopeRx and the grating, glass, propagation and root-pick classes, all in the fast suite (536 pass, 0 fail, 2026-10-05).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pupil is a first-order condition.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It was not focus or the mirrors' power split: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Figure terms alone trade the center for the edge: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Two levers removed it, neither a figure term: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Eleven surfaces: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Decentering the block solves the distortion; the meniscus buys the blur.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Checked by propagation: the point-spread function's centroid equals the ray centroid to 0.002 px at every slit position and wavelength.</a:t>
            </a:r>
          </a:p>
          <a:p>
            <a:pPr>
              <a:spcAft>
                <a:spcPts val="600"/>
              </a:spcAft>
            </a:pPr>
            <a:r>
              <a:rPr sz="1200" b="0">
                <a:solidFill>
                  <a:srgbClr val="282828"/>
                </a:solidFill>
                <a:latin typeface="Arial"/>
              </a:rPr>
              <a:t>•  A cold shield cannot be bought in this form: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without one, a single module closes only in CaF2 at 240 mm.  With two modules the plain block matches R4 from 220 mm down to 100 mm in silica and 80 mm in CaF2,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Throughput routes measured on the 130 mm module: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300" b="0">
                <a:solidFill>
                  <a:srgbClr val="282828"/>
                </a:solidFill>
                <a:latin typeface="Arial"/>
              </a:rPr>
              <a:t>•  Ray tracing (MACOS):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600"/>
              </a:spcAft>
            </a:pPr>
            <a:r>
              <a:rPr sz="1300" b="0">
                <a:solidFill>
                  <a:srgbClr val="282828"/>
                </a:solidFill>
                <a:latin typeface="Arial"/>
              </a:rPr>
              <a:t>•  Wave propagation: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600"/>
              </a:spcAft>
            </a:pPr>
            <a:r>
              <a:rPr sz="1300" b="0">
                <a:solidFill>
                  <a:srgbClr val="282828"/>
                </a:solidFill>
                <a:latin typeface="Arial"/>
              </a:rPr>
              <a:t>•  Two programs, one prescription: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300" b="0">
                <a:solidFill>
                  <a:srgbClr val="282828"/>
                </a:solidFill>
                <a:latin typeface="Arial"/>
              </a:rPr>
              <a:t>•  The optimizer: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600"/>
              </a:spcAft>
            </a:pPr>
            <a:r>
              <a:rPr sz="1300" b="0">
                <a:solidFill>
                  <a:srgbClr val="282828"/>
                </a:solidFill>
                <a:latin typeface="Arial"/>
              </a:rPr>
              <a:t>•  Clearance: every design passes a check of each beam leg against every body (mirror blanks on their best-fit spheres, the block, the slit mask, the detector package with a 5 mm carrier); the number quoted is the worst pair's margin.</a:t>
            </a:r>
          </a:p>
          <a:p>
            <a:pPr>
              <a:spcAft>
                <a:spcPts val="600"/>
              </a:spcAft>
            </a:pPr>
            <a:r>
              <a:rPr sz="1300" b="0">
                <a:solidFill>
                  <a:srgbClr val="282828"/>
                </a:solidFill>
                <a:latin typeface="Arial"/>
              </a:rPr>
              <a:t>•  Slit diffraction loss: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more findings from the telescope's eccentric section and the Offner</a:t>
            </a:r>
          </a:p>
          <a:p>
            <a:pPr>
              <a:spcAft>
                <a:spcPts val="0"/>
              </a:spcAft>
            </a:pPr>
            <a:r>
              <a:rPr sz="1250" b="0">
                <a:solidFill>
                  <a:srgbClr val="6E6E6E"/>
                </a:solidFill>
                <a:latin typeface="Arial"/>
              </a:rPr>
              <a:t>Found 2026-10-04 to 10-06, each invisible on the designs before it,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1780"/>
        </p:xfrm>
        <a:graphic>
          <a:graphicData uri="http://schemas.openxmlformats.org/drawingml/2006/table">
            <a:tbl>
              <a:tblPr firstRow="1" bandRow="1">
                <a:tableStyleId>{5C22544A-7EE6-4342-B048-85BDC9FD1C3A}</a:tableStyleId>
              </a:tblPr>
              <a:tblGrid>
                <a:gridCol w="1551815"/>
                <a:gridCol w="5667500"/>
                <a:gridCol w="4149419"/>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468630">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r h="657225">
                <a:tc>
                  <a:txBody>
                    <a:bodyPr wrap="square"/>
                    <a:lstStyle/>
                    <a:p>
                      <a:r>
                        <a:rPr sz="1100" b="0">
                          <a:solidFill>
                            <a:srgbClr val="282828"/>
                          </a:solidFill>
                          <a:latin typeface="Arial"/>
                        </a:rPr>
                        <a:t>clearance check blind to a beam through a disc</a:t>
                      </a:r>
                    </a:p>
                  </a:txBody>
                  <a:tcPr marL="54864" marR="54864" marT="18288" marB="18288">
                    <a:solidFill>
                      <a:srgbClr val="FFFFFF"/>
                    </a:solidFill>
                  </a:tcPr>
                </a:tc>
                <a:tc>
                  <a:txBody>
                    <a:bodyPr wrap="square"/>
                    <a:lstStyle/>
                    <a:p>
                      <a:r>
                        <a:rPr sz="1100" b="0">
                          <a:solidFill>
                            <a:srgbClr val="282828"/>
                          </a:solidFill>
                          <a:latin typeface="Arial"/>
                        </a:rPr>
                        <a:t>the check measured distance to body samples, which cannot go negative for a mirror or grating disc: an F/1.8 Offner beam through its grating read +0.2 mm (it is −33 mm)</a:t>
                      </a:r>
                    </a:p>
                  </a:txBody>
                  <a:tcPr marL="54864" marR="54864" marT="18288" marB="18288">
                    <a:solidFill>
                      <a:srgbClr val="FFFFFF"/>
                    </a:solidFill>
                  </a:tcPr>
                </a:tc>
                <a:tc>
                  <a:txBody>
                    <a:bodyPr wrap="square"/>
                    <a:lstStyle/>
                    <a:p>
                      <a:r>
                        <a:rPr sz="1100" b="0">
                          <a:solidFill>
                            <a:srgbClr val="282828"/>
                          </a:solidFill>
                          <a:latin typeface="Arial"/>
                        </a:rPr>
                        <a:t>every beam segment is tested against the surface inside its aperture and mount; all 54 Dyson records re-check bit-identical</a:t>
                      </a:r>
                    </a:p>
                  </a:txBody>
                  <a:tcPr marL="54864" marR="54864" marT="18288" marB="18288">
                    <a:solidFill>
                      <a:srgbClr val="FFFFFF"/>
                    </a:solidFill>
                  </a:tcPr>
                </a:tc>
              </a:tr>
            </a:tbl>
          </a:graphicData>
        </a:graphic>
      </p:graphicFrame>
      <p:sp>
        <p:nvSpPr>
          <p:cNvPr id="5" name="TextBox 4"/>
          <p:cNvSpPr txBox="1"/>
          <p:nvPr/>
        </p:nvSpPr>
        <p:spPr>
          <a:xfrm>
            <a:off x="411480" y="4256532"/>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tSpectrometerRx/test_clearance_sees_a_beam_through_a_body.  Each passed every existing check (rays passed, solves converged, decks loaded); what exposed the first four was a section whose beam is 190 mm from its parent's vertex, the fifth a form whose stop sits in its own beams.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12051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four modules fill the swath</a:t>
                      </a:r>
                    </a:p>
                  </a:txBody>
                  <a:tcPr marL="54864" marR="54864" marT="18288" marB="18288">
                    <a:solidFill>
                      <a:srgbClr val="FFFFFF"/>
                    </a:solidFill>
                  </a:tcPr>
                </a:tc>
                <a:tc>
                  <a:txBody>
                    <a:bodyPr wrap="square"/>
                    <a:lstStyle/>
                    <a:p>
                      <a:r>
                        <a:rPr sz="1100" b="0">
                          <a:solidFill>
                            <a:srgbClr val="282828"/>
                          </a:solidFill>
                          <a:latin typeface="Arial"/>
                        </a:rPr>
                        <a:t>dyson5_block4.m</a:t>
                      </a:r>
                    </a:p>
                  </a:txBody>
                  <a:tcPr marL="54864" marR="54864" marT="18288" marB="18288">
                    <a:solidFill>
                      <a:srgbClr val="FFFFFF"/>
                    </a:solidFill>
                  </a:tcPr>
                </a:tc>
                <a:tc>
                  <a:txBody>
                    <a:bodyPr wrap="square"/>
                    <a:lstStyle/>
                    <a:p>
                      <a:r>
                        <a:rPr sz="1100" b="0">
                          <a:solidFill>
                            <a:srgbClr val="282828"/>
                          </a:solidFill>
                          <a:latin typeface="Arial"/>
                        </a:rPr>
                        <a:t>dyson5_block4.txt, dyson5_block4_views.png</a:t>
                      </a:r>
                    </a:p>
                  </a:txBody>
                  <a:tcPr marL="54864" marR="54864" marT="18288" marB="18288">
                    <a:solidFill>
                      <a:srgbClr val="FFFFFF"/>
                    </a:solidFill>
                  </a:tcPr>
                </a:tc>
                <a:tc>
                  <a:txBody>
                    <a:bodyPr wrap="square"/>
                    <a:lstStyle/>
                    <a:p>
                      <a:r>
                        <a:rPr sz="1100" b="0">
                          <a:solidFill>
                            <a:srgbClr val="282828"/>
                          </a:solidFill>
                          <a:latin typeface="Arial"/>
                        </a:rPr>
                        <a:t>the e2e deck moved rigidly four times; macos.view_rx; surface-hit margins</a:t>
                      </a:r>
                    </a:p>
                  </a:txBody>
                  <a:tcPr marL="54864" marR="54864" marT="18288" marB="18288">
                    <a:solidFill>
                      <a:srgbClr val="FFFFFF"/>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comparison for Jim</a:t>
                      </a:r>
                    </a:p>
                  </a:txBody>
                  <a:tcPr marL="54864" marR="54864" marT="18288" marB="18288">
                    <a:solidFill>
                      <a:srgbClr val="FFFFFF"/>
                    </a:solidFill>
                  </a:tcPr>
                </a:tc>
                <a:tc>
                  <a:txBody>
                    <a:bodyPr wrap="square"/>
                    <a:lstStyle/>
                    <a:p>
                      <a:r>
                        <a:rPr sz="1100" b="0">
                          <a:solidFill>
                            <a:srgbClr val="282828"/>
                          </a:solidFill>
                          <a:latin typeface="Arial"/>
                        </a:rPr>
                        <a:t>dyson5_jim.m ('3a', '3b')</a:t>
                      </a:r>
                    </a:p>
                  </a:txBody>
                  <a:tcPr marL="54864" marR="54864" marT="18288" marB="18288">
                    <a:solidFill>
                      <a:srgbClr val="FFFFFF"/>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FFFFFF"/>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FFFFFF"/>
                    </a:solidFill>
                  </a:tcPr>
                </a:tc>
              </a:tr>
              <a:tr h="468630">
                <a:tc>
                  <a:txBody>
                    <a:bodyPr wrap="square"/>
                    <a:lstStyle/>
                    <a:p>
                      <a:r>
                        <a:rPr sz="1100" b="0">
                          <a:solidFill>
                            <a:srgbClr val="282828"/>
                          </a:solidFill>
                          <a:latin typeface="Arial"/>
                        </a:rPr>
                        <a:t>design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a:t>
                      </a:r>
                    </a:p>
                  </a:txBody>
                  <a:tcPr marL="54864" marR="54864" marT="18288" marB="18288">
                    <a:solidFill>
                      <a:srgbClr val="FFFFFF"/>
                    </a:solidFill>
                  </a:tcPr>
                </a:tc>
                <a:tc>
                  <a:txBody>
                    <a:bodyPr wrap="square"/>
                    <a:lstStyle/>
                    <a:p>
                      <a:r>
                        <a:rPr sz="1100" b="0">
                          <a:solidFill>
                            <a:srgbClr val="282828"/>
                          </a:solidFill>
                          <a:latin typeface="Arial"/>
                        </a:rPr>
                        <a:t>spectrometer_geom.m (form dyson_fold)</a:t>
                      </a:r>
                    </a:p>
                  </a:txBody>
                  <a:tcPr marL="54864" marR="54864" marT="18288" marB="18288">
                    <a:solidFill>
                      <a:srgbClr val="FFFFFF"/>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ECF1F6"/>
                    </a:solidFill>
                  </a:tcPr>
                </a:tc>
                <a:tc>
                  <a:txBody>
                    <a:bodyPr wrap="square"/>
                    <a:lstStyle/>
                    <a:p>
                      <a:r>
                        <a:rPr sz="1100" b="0">
                          <a:solidFill>
                            <a:srgbClr val="282828"/>
                          </a:solidFill>
                          <a:latin typeface="Arial"/>
                        </a:rPr>
                        <a:t>gate; s2w; s2l</a:t>
                      </a:r>
                    </a:p>
                  </a:txBody>
                  <a:tcPr marL="54864" marR="54864" marT="18288" marB="18288">
                    <a:solidFill>
                      <a:srgbClr val="ECF1F6"/>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ECF1F6"/>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ECF1F6"/>
                    </a:solidFill>
                  </a:tcPr>
                </a:tc>
              </a:tr>
              <a:tr h="280035">
                <a:tc>
                  <a:txBody>
                    <a:bodyPr wrap="square"/>
                    <a:lstStyle/>
                    <a:p>
                      <a:r>
                        <a:rPr sz="1100" b="0">
                          <a:solidFill>
                            <a:srgbClr val="282828"/>
                          </a:solidFill>
                          <a:latin typeface="Arial"/>
                        </a:rPr>
                        <a:t>engine renders</a:t>
                      </a:r>
                    </a:p>
                  </a:txBody>
                  <a:tcPr marL="54864" marR="54864" marT="18288" marB="18288">
                    <a:solidFill>
                      <a:srgbClr val="FFFFFF"/>
                    </a:solidFill>
                  </a:tcPr>
                </a:tc>
                <a:tc>
                  <a:txBody>
                    <a:bodyPr wrap="square"/>
                    <a:lstStyle/>
                    <a:p>
                      <a:r>
                        <a:rPr sz="1100" b="0">
                          <a:solidFill>
                            <a:srgbClr val="282828"/>
                          </a:solidFill>
                          <a:latin typeface="Arial"/>
                        </a:rPr>
                        <a:t>dyson5_view_figs.m</a:t>
                      </a:r>
                    </a:p>
                  </a:txBody>
                  <a:tcPr marL="54864" marR="54864" marT="18288" marB="18288">
                    <a:solidFill>
                      <a:srgbClr val="FFFFFF"/>
                    </a:solidFill>
                  </a:tcPr>
                </a:tc>
                <a:tc>
                  <a:txBody>
                    <a:bodyPr wrap="square"/>
                    <a:lstStyle/>
                    <a:p>
                      <a:r>
                        <a:rPr sz="1100" b="0">
                          <a:solidFill>
                            <a:srgbClr val="282828"/>
                          </a:solidFill>
                          <a:latin typeface="Arial"/>
                        </a:rPr>
                        <a:t>_view3d.png, _viewyz.png</a:t>
                      </a:r>
                    </a:p>
                  </a:txBody>
                  <a:tcPr marL="54864" marR="54864" marT="18288" marB="18288">
                    <a:solidFill>
                      <a:srgbClr val="FFFFFF"/>
                    </a:solidFill>
                  </a:tcPr>
                </a:tc>
                <a:tc>
                  <a:txBody>
                    <a:bodyPr wrap="square"/>
                    <a:lstStyle/>
                    <a:p>
                      <a:r>
                        <a:rPr sz="1100" b="0">
                          <a:solidFill>
                            <a:srgbClr val="282828"/>
                          </a:solidFill>
                          <a:latin typeface="Arial"/>
                        </a:rPr>
                        <a:t>macos.view_rx on the prescription</a:t>
                      </a:r>
                    </a:p>
                  </a:txBody>
                  <a:tcPr marL="54864" marR="54864" marT="18288" marB="18288">
                    <a:solidFill>
                      <a:srgbClr val="FFFFFF"/>
                    </a:solidFill>
                  </a:tcPr>
                </a:tc>
              </a:tr>
            </a:tbl>
          </a:graphicData>
        </a:graphic>
      </p:graphicFrame>
      <p:sp>
        <p:nvSpPr>
          <p:cNvPr id="5" name="TextBox 4"/>
          <p:cNvSpPr txBox="1"/>
          <p:nvPr/>
        </p:nvSpPr>
        <p:spPr>
          <a:xfrm>
            <a:off x="411480" y="556526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